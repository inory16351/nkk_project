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7"/>
    <p:sldId id="259" r:id="rId6"/>
    <p:sldId id="260" r:id="rId5"/>
    <p:sldId id="261" r:id="rId4"/>
    <p:sldId id="262" r:id="rId3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같은 등급 n번째 승급의 필요 마릿수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(일반~전설)</c:v>
                </c:pt>
              </c:strCache>
            </c:strRef>
          </c:tx>
          <c:spPr>
            <a:ln w="28575">
              <a:solidFill>
                <a:srgbClr val="B5A89A"/>
              </a:solidFill>
              <a:prstDash val="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10</c:v>
                </c:pt>
                <c:pt idx="10">
                  <c:v>10</c:v>
                </c:pt>
                <c:pt idx="11">
                  <c:v>11</c:v>
                </c:pt>
                <c:pt idx="12">
                  <c:v>11</c:v>
                </c:pt>
                <c:pt idx="13">
                  <c:v>12</c:v>
                </c:pt>
                <c:pt idx="14">
                  <c:v>12</c:v>
                </c:pt>
                <c:pt idx="15">
                  <c:v>13</c:v>
                </c:pt>
                <c:pt idx="16">
                  <c:v>13</c:v>
                </c:pt>
                <c:pt idx="17">
                  <c:v>14</c:v>
                </c:pt>
                <c:pt idx="18">
                  <c:v>15</c:v>
                </c:pt>
                <c:pt idx="19">
                  <c:v>15</c:v>
                </c:pt>
                <c:pt idx="20">
                  <c:v>16</c:v>
                </c:pt>
                <c:pt idx="21">
                  <c:v>17</c:v>
                </c:pt>
                <c:pt idx="22">
                  <c:v>18</c:v>
                </c:pt>
                <c:pt idx="23">
                  <c:v>18</c:v>
                </c:pt>
                <c:pt idx="24">
                  <c:v>19</c:v>
                </c:pt>
                <c:pt idx="25">
                  <c:v>20</c:v>
                </c:pt>
                <c:pt idx="26">
                  <c:v>21</c:v>
                </c:pt>
                <c:pt idx="27">
                  <c:v>22</c:v>
                </c:pt>
                <c:pt idx="28">
                  <c:v>23</c:v>
                </c:pt>
                <c:pt idx="29">
                  <c:v>25</c:v>
                </c:pt>
                <c:pt idx="30">
                  <c:v>26</c:v>
                </c:pt>
                <c:pt idx="31">
                  <c:v>27</c:v>
                </c:pt>
                <c:pt idx="32">
                  <c:v>28</c:v>
                </c:pt>
                <c:pt idx="33">
                  <c:v>30</c:v>
                </c:pt>
                <c:pt idx="34">
                  <c:v>31</c:v>
                </c:pt>
                <c:pt idx="35">
                  <c:v>33</c:v>
                </c:pt>
                <c:pt idx="36">
                  <c:v>34</c:v>
                </c:pt>
                <c:pt idx="37">
                  <c:v>36</c:v>
                </c:pt>
                <c:pt idx="38">
                  <c:v>38</c:v>
                </c:pt>
                <c:pt idx="39">
                  <c:v>40</c:v>
                </c:pt>
                <c:pt idx="40">
                  <c:v>42</c:v>
                </c:pt>
                <c:pt idx="41">
                  <c:v>44</c:v>
                </c:pt>
                <c:pt idx="42">
                  <c:v>46</c:v>
                </c:pt>
                <c:pt idx="43">
                  <c:v>48</c:v>
                </c:pt>
                <c:pt idx="44">
                  <c:v>51</c:v>
                </c:pt>
                <c:pt idx="45">
                  <c:v>53</c:v>
                </c:pt>
                <c:pt idx="46">
                  <c:v>56</c:v>
                </c:pt>
                <c:pt idx="47">
                  <c:v>59</c:v>
                </c:pt>
                <c:pt idx="48">
                  <c:v>61</c:v>
                </c:pt>
                <c:pt idx="49">
                  <c:v>64</c:v>
                </c:pt>
                <c:pt idx="50">
                  <c:v>68</c:v>
                </c:pt>
                <c:pt idx="51">
                  <c:v>71</c:v>
                </c:pt>
                <c:pt idx="52">
                  <c:v>75</c:v>
                </c:pt>
                <c:pt idx="53">
                  <c:v>78</c:v>
                </c:pt>
                <c:pt idx="54">
                  <c:v>82</c:v>
                </c:pt>
                <c:pt idx="55">
                  <c:v>86</c:v>
                </c:pt>
                <c:pt idx="56">
                  <c:v>91</c:v>
                </c:pt>
                <c:pt idx="57">
                  <c:v>95</c:v>
                </c:pt>
                <c:pt idx="58">
                  <c:v>100</c:v>
                </c:pt>
                <c:pt idx="59">
                  <c:v>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제안 (일반~전설)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13</c:v>
                </c:pt>
                <c:pt idx="20">
                  <c:v>13</c:v>
                </c:pt>
                <c:pt idx="21">
                  <c:v>14</c:v>
                </c:pt>
                <c:pt idx="22">
                  <c:v>14</c:v>
                </c:pt>
                <c:pt idx="23">
                  <c:v>15</c:v>
                </c:pt>
                <c:pt idx="24">
                  <c:v>15</c:v>
                </c:pt>
                <c:pt idx="25">
                  <c:v>16</c:v>
                </c:pt>
                <c:pt idx="26">
                  <c:v>16</c:v>
                </c:pt>
                <c:pt idx="27">
                  <c:v>17</c:v>
                </c:pt>
                <c:pt idx="28">
                  <c:v>17</c:v>
                </c:pt>
                <c:pt idx="29">
                  <c:v>18</c:v>
                </c:pt>
                <c:pt idx="30">
                  <c:v>19</c:v>
                </c:pt>
                <c:pt idx="31">
                  <c:v>19</c:v>
                </c:pt>
                <c:pt idx="32">
                  <c:v>20</c:v>
                </c:pt>
                <c:pt idx="33">
                  <c:v>20</c:v>
                </c:pt>
                <c:pt idx="34">
                  <c:v>21</c:v>
                </c:pt>
                <c:pt idx="35">
                  <c:v>22</c:v>
                </c:pt>
                <c:pt idx="36">
                  <c:v>23</c:v>
                </c:pt>
                <c:pt idx="37">
                  <c:v>23</c:v>
                </c:pt>
                <c:pt idx="38">
                  <c:v>24</c:v>
                </c:pt>
                <c:pt idx="39">
                  <c:v>25</c:v>
                </c:pt>
                <c:pt idx="40">
                  <c:v>26</c:v>
                </c:pt>
                <c:pt idx="41">
                  <c:v>27</c:v>
                </c:pt>
                <c:pt idx="42">
                  <c:v>28</c:v>
                </c:pt>
                <c:pt idx="43">
                  <c:v>29</c:v>
                </c:pt>
                <c:pt idx="44">
                  <c:v>30</c:v>
                </c:pt>
                <c:pt idx="45">
                  <c:v>31</c:v>
                </c:pt>
                <c:pt idx="46">
                  <c:v>32</c:v>
                </c:pt>
                <c:pt idx="47">
                  <c:v>33</c:v>
                </c:pt>
                <c:pt idx="48">
                  <c:v>34</c:v>
                </c:pt>
                <c:pt idx="49">
                  <c:v>35</c:v>
                </c:pt>
                <c:pt idx="50">
                  <c:v>36</c:v>
                </c:pt>
                <c:pt idx="51">
                  <c:v>38</c:v>
                </c:pt>
                <c:pt idx="52">
                  <c:v>39</c:v>
                </c:pt>
                <c:pt idx="53">
                  <c:v>40</c:v>
                </c:pt>
                <c:pt idx="54">
                  <c:v>42</c:v>
                </c:pt>
                <c:pt idx="55">
                  <c:v>43</c:v>
                </c:pt>
                <c:pt idx="56">
                  <c:v>45</c:v>
                </c:pt>
                <c:pt idx="57">
                  <c:v>46</c:v>
                </c:pt>
                <c:pt idx="58">
                  <c:v>48</c:v>
                </c:pt>
                <c:pt idx="59">
                  <c:v>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제안 (신화→초월)</c:v>
                </c:pt>
              </c:strCache>
            </c:strRef>
          </c:tx>
          <c:spPr>
            <a:ln w="28575">
              <a:solidFill>
                <a:srgbClr val="1A9C8E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  <c:pt idx="18">
                  <c:v>24</c:v>
                </c:pt>
                <c:pt idx="19">
                  <c:v>25</c:v>
                </c:pt>
                <c:pt idx="20">
                  <c:v>27</c:v>
                </c:pt>
                <c:pt idx="21">
                  <c:v>28</c:v>
                </c:pt>
                <c:pt idx="22">
                  <c:v>29</c:v>
                </c:pt>
                <c:pt idx="23">
                  <c:v>31</c:v>
                </c:pt>
                <c:pt idx="24">
                  <c:v>32</c:v>
                </c:pt>
                <c:pt idx="25">
                  <c:v>34</c:v>
                </c:pt>
                <c:pt idx="26">
                  <c:v>35</c:v>
                </c:pt>
                <c:pt idx="27">
                  <c:v>37</c:v>
                </c:pt>
                <c:pt idx="28">
                  <c:v>39</c:v>
                </c:pt>
                <c:pt idx="29">
                  <c:v>41</c:v>
                </c:pt>
                <c:pt idx="30">
                  <c:v>43</c:v>
                </c:pt>
                <c:pt idx="31">
                  <c:v>45</c:v>
                </c:pt>
                <c:pt idx="32">
                  <c:v>47</c:v>
                </c:pt>
                <c:pt idx="33">
                  <c:v>50</c:v>
                </c:pt>
                <c:pt idx="34">
                  <c:v>52</c:v>
                </c:pt>
                <c:pt idx="35">
                  <c:v>55</c:v>
                </c:pt>
                <c:pt idx="36">
                  <c:v>57</c:v>
                </c:pt>
                <c:pt idx="37">
                  <c:v>60</c:v>
                </c:pt>
                <c:pt idx="38">
                  <c:v>63</c:v>
                </c:pt>
                <c:pt idx="39">
                  <c:v>66</c:v>
                </c:pt>
                <c:pt idx="40">
                  <c:v>70</c:v>
                </c:pt>
                <c:pt idx="41">
                  <c:v>73</c:v>
                </c:pt>
                <c:pt idx="42">
                  <c:v>77</c:v>
                </c:pt>
                <c:pt idx="43">
                  <c:v>80</c:v>
                </c:pt>
                <c:pt idx="44">
                  <c:v>84</c:v>
                </c:pt>
                <c:pt idx="45">
                  <c:v>89</c:v>
                </c:pt>
                <c:pt idx="46">
                  <c:v>93</c:v>
                </c:pt>
                <c:pt idx="47">
                  <c:v>98</c:v>
                </c:pt>
                <c:pt idx="48">
                  <c:v>103</c:v>
                </c:pt>
                <c:pt idx="49">
                  <c:v>108</c:v>
                </c:pt>
                <c:pt idx="50">
                  <c:v>113</c:v>
                </c:pt>
                <c:pt idx="51">
                  <c:v>119</c:v>
                </c:pt>
                <c:pt idx="52">
                  <c:v>125</c:v>
                </c:pt>
                <c:pt idx="53">
                  <c:v>131</c:v>
                </c:pt>
                <c:pt idx="54">
                  <c:v>137</c:v>
                </c:pt>
                <c:pt idx="55">
                  <c:v>144</c:v>
                </c:pt>
                <c:pt idx="56">
                  <c:v>151</c:v>
                </c:pt>
                <c:pt idx="57">
                  <c:v>159</c:v>
                </c:pt>
                <c:pt idx="58">
                  <c:v>167</c:v>
                </c:pt>
                <c:pt idx="59">
                  <c:v>175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같은 등급 승급 횟수 (번째)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필요 수 (마리)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훈장 조건: 최고 층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1~8훈장</c:v>
                </c:pt>
              </c:strCache>
            </c:strRef>
          </c:tx>
          <c:spPr>
            <a:ln w="28575">
              <a:solidFill>
                <a:srgbClr val="3C2D23"/>
              </a:solidFill>
            </a:ln>
          </c:spPr>
          <c:marker>
            <c:size val="5"/>
            <c:spPr>
              <a:solidFill>
                <a:srgbClr val="3C2D23"/>
              </a:solidFill>
              <a:ln>
                <a:solidFill>
                  <a:srgbClr val="3C2D23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6.0</c:v>
                </c:pt>
                <c:pt idx="2">
                  <c:v>9.0</c:v>
                </c:pt>
                <c:pt idx="3">
                  <c:v>11.0</c:v>
                </c:pt>
                <c:pt idx="4">
                  <c:v>14.0</c:v>
                </c:pt>
                <c:pt idx="5">
                  <c:v>16.0</c:v>
                </c:pt>
                <c:pt idx="6">
                  <c:v>18.0</c:v>
                </c:pt>
                <c:pt idx="7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제안 9~16훈장</c:v>
                </c:pt>
              </c:strCache>
            </c:strRef>
          </c:tx>
          <c:spPr>
            <a:ln w="28575">
              <a:solidFill>
                <a:srgbClr val="ED7D31"/>
              </a:solidFill>
              <a:prstDash val="dash"/>
            </a:ln>
          </c:spPr>
          <c:marker>
            <c:size val="5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7">
                  <c:v>20</c:v>
                </c:pt>
                <c:pt idx="8">
                  <c:v>30</c:v>
                </c:pt>
                <c:pt idx="9">
                  <c:v>40</c:v>
                </c:pt>
                <c:pt idx="10">
                  <c:v>50</c:v>
                </c:pt>
                <c:pt idx="11">
                  <c:v>60</c:v>
                </c:pt>
                <c:pt idx="12">
                  <c:v>70</c:v>
                </c:pt>
                <c:pt idx="13">
                  <c:v>80</c:v>
                </c:pt>
                <c:pt idx="14">
                  <c:v>90</c:v>
                </c:pt>
                <c:pt idx="15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훈장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최고 층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층 1번 탈취 연구자료 (10의 n승)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테이블 (1~50층)</c:v>
                </c:pt>
              </c:strCache>
            </c:strRef>
          </c:tx>
          <c:spPr>
            <a:ln w="28575">
              <a:solidFill>
                <a:srgbClr val="3C2D23"/>
              </a:solidFill>
            </a:ln>
          </c:spPr>
          <c:marker>
            <c:size val="5"/>
            <c:spPr>
              <a:solidFill>
                <a:srgbClr val="3C2D23"/>
              </a:solidFill>
              <a:ln>
                <a:solidFill>
                  <a:srgbClr val="3C2D23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</c:v>
                </c:pt>
                <c:pt idx="1">
                  <c:v>1.45</c:v>
                </c:pt>
                <c:pt idx="2">
                  <c:v>2.05</c:v>
                </c:pt>
                <c:pt idx="3">
                  <c:v>2.66</c:v>
                </c:pt>
                <c:pt idx="4">
                  <c:v>4.17</c:v>
                </c:pt>
                <c:pt idx="5">
                  <c:v>5.69</c:v>
                </c:pt>
                <c:pt idx="6">
                  <c:v>7.21</c:v>
                </c:pt>
                <c:pt idx="7">
                  <c:v>8.73</c:v>
                </c:pt>
                <c:pt idx="8">
                  <c:v>10.25</c:v>
                </c:pt>
                <c:pt idx="9">
                  <c:v>11.76</c:v>
                </c:pt>
                <c:pt idx="10">
                  <c:v>13.28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현재 곡선 그대로 늘이면</c:v>
                </c:pt>
              </c:strCache>
            </c:strRef>
          </c:tx>
          <c:spPr>
            <a:ln w="28575">
              <a:solidFill>
                <a:srgbClr val="C9B8A4"/>
              </a:solidFill>
              <a:prstDash val="dash"/>
            </a:ln>
          </c:spPr>
          <c:marker>
            <c:size val="5"/>
            <c:spPr>
              <a:solidFill>
                <a:srgbClr val="C9B8A4"/>
              </a:solidFill>
              <a:ln>
                <a:solidFill>
                  <a:srgbClr val="C9B8A4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10">
                  <c:v>13.28</c:v>
                </c:pt>
                <c:pt idx="11">
                  <c:v>14.8</c:v>
                </c:pt>
                <c:pt idx="12">
                  <c:v>16.32</c:v>
                </c:pt>
                <c:pt idx="13">
                  <c:v>17.84</c:v>
                </c:pt>
                <c:pt idx="14">
                  <c:v>19.36</c:v>
                </c:pt>
                <c:pt idx="15">
                  <c:v>20.88</c:v>
                </c:pt>
                <c:pt idx="16">
                  <c:v>22.4</c:v>
                </c:pt>
                <c:pt idx="17">
                  <c:v>23.92</c:v>
                </c:pt>
                <c:pt idx="18">
                  <c:v>25.43</c:v>
                </c:pt>
                <c:pt idx="19">
                  <c:v>26.95</c:v>
                </c:pt>
                <c:pt idx="20">
                  <c:v>28.47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제안 (31층부터 ×1.12)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ize val="5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6">
                  <c:v>7.21</c:v>
                </c:pt>
                <c:pt idx="7">
                  <c:v>7.46</c:v>
                </c:pt>
                <c:pt idx="8">
                  <c:v>7.7</c:v>
                </c:pt>
                <c:pt idx="9">
                  <c:v>7.95</c:v>
                </c:pt>
                <c:pt idx="10">
                  <c:v>8.19</c:v>
                </c:pt>
                <c:pt idx="11">
                  <c:v>8.44</c:v>
                </c:pt>
                <c:pt idx="12">
                  <c:v>8.69</c:v>
                </c:pt>
                <c:pt idx="13">
                  <c:v>8.93</c:v>
                </c:pt>
                <c:pt idx="14">
                  <c:v>9.18</c:v>
                </c:pt>
                <c:pt idx="15">
                  <c:v>9.42</c:v>
                </c:pt>
                <c:pt idx="16">
                  <c:v>9.67</c:v>
                </c:pt>
                <c:pt idx="17">
                  <c:v>9.92</c:v>
                </c:pt>
                <c:pt idx="18">
                  <c:v>10.16</c:v>
                </c:pt>
                <c:pt idx="19">
                  <c:v>10.41</c:v>
                </c:pt>
                <c:pt idx="20">
                  <c:v>10.65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DFD2"/>
            </a:solidFill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6B5E54"/>
                    </a:solidFill>
                    <a:latin typeface="Noto Sans KR"/>
                    <a:ea typeface="Noto Sans KR"/>
                  </a:rPr>
                  <a:t>자릿수 n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E5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27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승급 · 티어 시스템 및 콘텐츠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 100층 확장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arker"/>
          <p:cNvSpPr/>
          <p:nvPr/>
        </p:nvSpPr>
        <p:spPr>
          <a:xfrm>
            <a:off x="155448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9928" y="1673352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112264"/>
            <a:ext cx="3566160" cy="10789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1. 목차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2. 확장 개요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3. 현재 구조의 한계</a:t>
            </a:r>
          </a:p>
        </p:txBody>
      </p:sp>
      <p:sp>
        <p:nvSpPr>
          <p:cNvPr id="7" name="Marker"/>
          <p:cNvSpPr/>
          <p:nvPr/>
        </p:nvSpPr>
        <p:spPr>
          <a:xfrm>
            <a:off x="5760720" y="1783080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673352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승급 확장</a:t>
            </a: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 – 5P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112264"/>
            <a:ext cx="3566160" cy="10789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1. 초월 등급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2. 필요 마릿수 곡선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3. 추가 승급 콘텐츠</a:t>
            </a:r>
          </a:p>
        </p:txBody>
      </p:sp>
      <p:sp>
        <p:nvSpPr>
          <p:cNvPr id="10" name="Marker"/>
          <p:cNvSpPr/>
          <p:nvPr/>
        </p:nvSpPr>
        <p:spPr>
          <a:xfrm>
            <a:off x="155448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9928" y="3621024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티어 확장</a:t>
            </a: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 – 8P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4059936"/>
            <a:ext cx="3566160" cy="14081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1. 9~16훈장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2. 조건 곡선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3. 연구자료 경제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4. 해금 보상</a:t>
            </a:r>
          </a:p>
        </p:txBody>
      </p:sp>
      <p:sp>
        <p:nvSpPr>
          <p:cNvPr id="13" name="Marker"/>
          <p:cNvSpPr/>
          <p:nvPr/>
        </p:nvSpPr>
        <p:spPr>
          <a:xfrm>
            <a:off x="5760720" y="3730752"/>
            <a:ext cx="109728" cy="23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6168" y="3621024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적용 계획</a:t>
            </a: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 – 12P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059936"/>
            <a:ext cx="3566160" cy="10789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1. 데이터 · 코드 변경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2. 단계별 적용</a:t>
            </a:r>
          </a:p>
          <a:p>
            <a:pPr latinLnBrk="0" eaLnBrk="1" algn="l">
              <a:spcAft>
                <a:spcPts val="200"/>
              </a:spcAft>
            </a:pP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3. 결정 필요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확장 개요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91640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" y="1874519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3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30 →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606039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층</a:t>
            </a:r>
          </a:p>
        </p:txBody>
      </p:sp>
      <p:sp>
        <p:nvSpPr>
          <p:cNvPr id="7" name="Card"/>
          <p:cNvSpPr/>
          <p:nvPr/>
        </p:nvSpPr>
        <p:spPr>
          <a:xfrm>
            <a:off x="3648456" y="1691640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48456" y="1874519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3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8 →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606039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찍찍!! 훈장</a:t>
            </a:r>
          </a:p>
        </p:txBody>
      </p:sp>
      <p:sp>
        <p:nvSpPr>
          <p:cNvPr id="10" name="Card"/>
          <p:cNvSpPr/>
          <p:nvPr/>
        </p:nvSpPr>
        <p:spPr>
          <a:xfrm>
            <a:off x="6163056" y="1691640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63056" y="1874519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3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6 →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2606039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등급 (초월 추가)</a:t>
            </a:r>
          </a:p>
        </p:txBody>
      </p:sp>
      <p:sp>
        <p:nvSpPr>
          <p:cNvPr id="13" name="Card"/>
          <p:cNvSpPr/>
          <p:nvPr/>
        </p:nvSpPr>
        <p:spPr>
          <a:xfrm>
            <a:off x="8677656" y="1691640"/>
            <a:ext cx="2286000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77656" y="1874519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34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87 → 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2606039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친구 (쥐 종)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611880"/>
            <a:ext cx="96926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120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목표  </a:t>
            </a: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31~100층에서도 훈장 · 승급이 계속 다음 목표를 주도록 두 시스템을 늘림</a:t>
            </a:r>
          </a:p>
          <a:p>
            <a:pPr latinLnBrk="0" eaLnBrk="1" algn="l">
              <a:spcAft>
                <a:spcPts val="120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원칙 1  </a:t>
            </a: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1~30층의 경험과 수치는 그대로 둠 (지금 플레이어 저장 데이터 유지)</a:t>
            </a:r>
          </a:p>
          <a:p>
            <a:pPr latinLnBrk="0" eaLnBrk="1" algn="l">
              <a:spcAft>
                <a:spcPts val="120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원칙 2  </a:t>
            </a: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10층마다 훈장 1개 — 9훈장 30층 … 16훈장 100층</a:t>
            </a:r>
          </a:p>
          <a:p>
            <a:pPr latinLnBrk="0" eaLnBrk="1" algn="l">
              <a:spcAft>
                <a:spcPts val="120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원칙 3  </a:t>
            </a:r>
            <a:r>
              <a:rPr sz="16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새 수치는 손으로 넣지 않고 공식 + 테이블 생성기로 만듦 (gen_stage_table · gen_skill_tree)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현재 구조의 한계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4846320" cy="12984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16736" y="1755648"/>
            <a:ext cx="4480559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7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훈장 목표가 20층에서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2176272"/>
            <a:ext cx="448055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8훈장 조건이 최고 20층 → 21~100층 80개 층은 훈장 목표가 없음</a:t>
            </a:r>
          </a:p>
        </p:txBody>
      </p:sp>
      <p:sp>
        <p:nvSpPr>
          <p:cNvPr id="7" name="Card"/>
          <p:cNvSpPr/>
          <p:nvPr/>
        </p:nvSpPr>
        <p:spPr>
          <a:xfrm>
            <a:off x="6163056" y="1645920"/>
            <a:ext cx="4846320" cy="12984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45936" y="1755648"/>
            <a:ext cx="4480559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7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친구 해금 소진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2176272"/>
            <a:ext cx="448055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8훈장에서 87종이 모두 열림 → 9훈장 이후 새 친구 보상이 없음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108960"/>
            <a:ext cx="4846320" cy="12984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16736" y="3218688"/>
            <a:ext cx="4480559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7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수치 폭증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3639312"/>
            <a:ext cx="448055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연구자료 1층 탈취량 20층 1.5만 → 50층 19.2조, 지금 곡선으로 100층까지 늘이면 10^28 이상</a:t>
            </a:r>
          </a:p>
        </p:txBody>
      </p:sp>
      <p:sp>
        <p:nvSpPr>
          <p:cNvPr id="13" name="Card"/>
          <p:cNvSpPr/>
          <p:nvPr/>
        </p:nvSpPr>
        <p:spPr>
          <a:xfrm>
            <a:off x="6163056" y="3108960"/>
            <a:ext cx="4846320" cy="12984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45936" y="3218688"/>
            <a:ext cx="4480559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7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등급 천장 · 승급 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639312"/>
            <a:ext cx="448055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신화가 끝이라 후반 성장 수단이 없음, 필요 수는 30번째 25마리 → 60번째 105마리</a:t>
            </a:r>
          </a:p>
        </p:txBody>
      </p:sp>
      <p:sp>
        <p:nvSpPr>
          <p:cNvPr id="16" name="Card"/>
          <p:cNvSpPr/>
          <p:nvPr/>
        </p:nvSpPr>
        <p:spPr>
          <a:xfrm>
            <a:off x="1133856" y="4572000"/>
            <a:ext cx="9875520" cy="129844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16736" y="4681728"/>
            <a:ext cx="95097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7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한 판 길이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5102352"/>
            <a:ext cx="9509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층당 목표 108~162초 → 1층부터 100층까지 한 판 약 3시간, 시작 층 상한은 최대 20층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승급 확장 - 초월 등급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Grade 일반"/>
          <p:cNvSpPr/>
          <p:nvPr/>
        </p:nvSpPr>
        <p:spPr>
          <a:xfrm>
            <a:off x="1188720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8C867E"/>
                </a:solidFill>
                <a:latin typeface="Noto Sans KR"/>
                <a:ea typeface="Noto Sans KR"/>
              </a:rPr>
              <a:t>일반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1828800" y="1975104"/>
            <a:ext cx="685800" cy="0"/>
          </a:xfrm>
          <a:prstGeom prst="line">
            <a:avLst/>
          </a:prstGeom>
          <a:ln w="15875">
            <a:solidFill>
              <a:srgbClr val="6B5E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rade 레어"/>
          <p:cNvSpPr/>
          <p:nvPr/>
        </p:nvSpPr>
        <p:spPr>
          <a:xfrm>
            <a:off x="2587752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2E6DB4"/>
                </a:solidFill>
                <a:latin typeface="Noto Sans KR"/>
                <a:ea typeface="Noto Sans KR"/>
              </a:rPr>
              <a:t>레어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3227832" y="1975104"/>
            <a:ext cx="685800" cy="0"/>
          </a:xfrm>
          <a:prstGeom prst="line">
            <a:avLst/>
          </a:prstGeom>
          <a:ln w="15875">
            <a:solidFill>
              <a:srgbClr val="6B5E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rade 에픽"/>
          <p:cNvSpPr/>
          <p:nvPr/>
        </p:nvSpPr>
        <p:spPr>
          <a:xfrm>
            <a:off x="3986784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4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C04FC8"/>
                </a:solidFill>
                <a:latin typeface="Noto Sans KR"/>
                <a:ea typeface="Noto Sans KR"/>
              </a:rPr>
              <a:t>에픽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4626864" y="1975104"/>
            <a:ext cx="685800" cy="0"/>
          </a:xfrm>
          <a:prstGeom prst="line">
            <a:avLst/>
          </a:prstGeom>
          <a:ln w="15875">
            <a:solidFill>
              <a:srgbClr val="6B5E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rade 유니크"/>
          <p:cNvSpPr/>
          <p:nvPr/>
        </p:nvSpPr>
        <p:spPr>
          <a:xfrm>
            <a:off x="5385816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E06A1B"/>
                </a:solidFill>
                <a:latin typeface="Noto Sans KR"/>
                <a:ea typeface="Noto Sans KR"/>
              </a:rPr>
              <a:t>유니크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025896" y="1975104"/>
            <a:ext cx="685800" cy="0"/>
          </a:xfrm>
          <a:prstGeom prst="line">
            <a:avLst/>
          </a:prstGeom>
          <a:ln w="15875">
            <a:solidFill>
              <a:srgbClr val="6B5E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rade 전설"/>
          <p:cNvSpPr/>
          <p:nvPr/>
        </p:nvSpPr>
        <p:spPr>
          <a:xfrm>
            <a:off x="6784848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D9A100"/>
                </a:solidFill>
                <a:latin typeface="Noto Sans KR"/>
                <a:ea typeface="Noto Sans KR"/>
              </a:rPr>
              <a:t>전설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424927" y="1975104"/>
            <a:ext cx="685800" cy="0"/>
          </a:xfrm>
          <a:prstGeom prst="line">
            <a:avLst/>
          </a:prstGeom>
          <a:ln w="15875">
            <a:solidFill>
              <a:srgbClr val="6B5E5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rade 신화"/>
          <p:cNvSpPr/>
          <p:nvPr/>
        </p:nvSpPr>
        <p:spPr>
          <a:xfrm>
            <a:off x="8183880" y="16916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E01E1E"/>
                </a:solidFill>
                <a:latin typeface="Noto Sans KR"/>
                <a:ea typeface="Noto Sans KR"/>
              </a:rPr>
              <a:t>신화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8823960" y="1975104"/>
            <a:ext cx="685800" cy="0"/>
          </a:xfrm>
          <a:prstGeom prst="line">
            <a:avLst/>
          </a:prstGeom>
          <a:ln w="25400">
            <a:solidFill>
              <a:srgbClr val="1A9C8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rade 초월"/>
          <p:cNvSpPr/>
          <p:nvPr/>
        </p:nvSpPr>
        <p:spPr>
          <a:xfrm>
            <a:off x="9582912" y="1691640"/>
            <a:ext cx="566928" cy="566928"/>
          </a:xfrm>
          <a:prstGeom prst="ellipse">
            <a:avLst/>
          </a:prstGeom>
          <a:solidFill>
            <a:srgbClr val="1A9C8E"/>
          </a:solidFill>
          <a:ln w="190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27432" bIns="27432"/>
          <a:lstStyle/>
          <a:p>
            <a:pPr algn="ctr"/>
            <a:r>
              <a:rPr sz="1200" b="0" lang="ko-KR" altLang="en-US">
                <a:solidFill>
                  <a:srgbClr val="FFFFFF"/>
                </a:solidFill>
                <a:latin typeface="Noto Sans KR"/>
                <a:ea typeface="Noto Sans KR"/>
              </a:rPr>
              <a:t>초월</a:t>
            </a:r>
          </a:p>
        </p:txBody>
      </p:sp>
      <p:graphicFrame>
        <p:nvGraphicFramePr>
          <p:cNvPr id="17" name="Table"/>
          <p:cNvGraphicFramePr>
            <a:graphicFrameLocks noGrp="1"/>
          </p:cNvGraphicFramePr>
          <p:nvPr/>
        </p:nvGraphicFramePr>
        <p:xfrm>
          <a:off x="1133856" y="2514600"/>
          <a:ext cx="993038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14804"/>
                <a:gridCol w="897661"/>
                <a:gridCol w="1065973"/>
                <a:gridCol w="1178181"/>
                <a:gridCol w="1514804"/>
                <a:gridCol w="1065973"/>
                <a:gridCol w="1683115"/>
                <a:gridCol w="1009869"/>
              </a:tblGrid>
              <a:tr h="38404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크기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이동 속도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기본 공격력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탄생 가중치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스킬 위력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첫 승급 필요 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해금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E06A1B"/>
                          </a:solidFill>
                          <a:latin typeface="Noto Sans KR"/>
                          <a:ea typeface="Noto Sans KR"/>
                        </a:rPr>
                        <a:t>유니크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×0.52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D9A100"/>
                          </a:solidFill>
                          <a:latin typeface="Noto Sans KR"/>
                          <a:ea typeface="Noto Sans KR"/>
                        </a:rPr>
                        <a:t>전설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×1.60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×0.42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E01E1E"/>
                          </a:solidFill>
                          <a:latin typeface="Noto Sans KR"/>
                          <a:ea typeface="Noto Sans KR"/>
                        </a:rPr>
                        <a:t>신화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×1.85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0.00186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×0.34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1A9C8E"/>
                          </a:solidFill>
                          <a:latin typeface="Noto Sans KR"/>
                          <a:ea typeface="Noto Sans KR"/>
                        </a:rPr>
                        <a:t>3마리 → 초월 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1A9C8E"/>
                          </a:solidFill>
                          <a:latin typeface="Noto Sans KR"/>
                          <a:ea typeface="Noto Sans KR"/>
                        </a:rPr>
                        <a:t>초월 (신규)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 (번식 안 됨)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×0.28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3F3F0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33856" y="4526280"/>
            <a:ext cx="993038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초월은 번식으로 나오지 않음 — 신화 승급(과 뽑기 결정 시)으로만 얻는 최종 등급</a:t>
            </a:r>
          </a:p>
          <a:p>
            <a:pPr latinLnBrk="0" eaLnBrk="1"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수치는 지금 등급 간격을 그대로 이음: 공격력 ×1.8 (105 → 189 → 340), 크기 +0.25, 스킬 위력 ×0.82</a:t>
            </a:r>
          </a:p>
          <a:p>
            <a:pPr latinLnBrk="0" eaLnBrk="1"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10훈장부터 초월 종이 훈장마다 1종씩 열림 (10~16훈장, 7종)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승급 확장 - 필요 마릿수 곡선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1133856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691640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801368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바꾸는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86000"/>
            <a:ext cx="301752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800"/>
              </a:spcAft>
            </a:pPr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일반~전설: </a:t>
            </a: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8마리 뒤 증가 ×1.05 → ×1.035</a:t>
            </a:r>
          </a:p>
          <a:p>
            <a:pPr latinLnBrk="0" eaLnBrk="1" algn="l">
              <a:spcAft>
                <a:spcPts val="80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/>
            </a:r>
            <a:r>
              <a:rPr sz="13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60번째 105마리 → 49마리</a:t>
            </a:r>
          </a:p>
          <a:p>
            <a:pPr latinLnBrk="0" eaLnBrk="1" algn="l">
              <a:spcAft>
                <a:spcPts val="800"/>
              </a:spcAft>
            </a:pPr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신화→초월: </a:t>
            </a: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첫 3마리, ×1.4, 12마리부터 ×1.05</a:t>
            </a:r>
          </a:p>
          <a:p>
            <a:pPr latinLnBrk="0" eaLnBrk="1" algn="l">
              <a:spcAft>
                <a:spcPts val="80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/>
            </a:r>
            <a:r>
              <a:rPr sz="13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10번째 16마리 · 20번째 25마리</a:t>
            </a:r>
          </a:p>
          <a:p>
            <a:pPr latinLnBrk="0" eaLnBrk="1" algn="l">
              <a:spcAft>
                <a:spcPts val="800"/>
              </a:spcAft>
            </a:pPr>
            <a:r>
              <a:rPr sz="14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1~30층: </a:t>
            </a: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한 등급 승급이 대개 20번 안이라 체감 변화 작음</a:t>
            </a:r>
          </a:p>
          <a:p>
            <a:pPr latinLnBrk="0" eaLnBrk="1" algn="l">
              <a:spcAft>
                <a:spcPts val="800"/>
              </a:spcAft>
            </a:pPr>
            <a:r>
              <a:rPr sz="12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값 위치: 쥐 등급 테이블 promote_grow2 · 초월 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승급 확장 - 추가 승급 콘텐츠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16736" y="175564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자동 승급</a:t>
            </a:r>
            <a:r>
              <a:rPr sz="12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 9훈장 핵심 노드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2240280"/>
            <a:ext cx="448056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켜 두면 일괄 승급을 5초마다 자동 실행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보존 수 규칙은 그대로 (번식 유지)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승급 패널에 켜기 / 끄기 토글</a:t>
            </a:r>
          </a:p>
        </p:txBody>
      </p:sp>
      <p:sp>
        <p:nvSpPr>
          <p:cNvPr id="7" name="Card"/>
          <p:cNvSpPr/>
          <p:nvPr/>
        </p:nvSpPr>
        <p:spPr>
          <a:xfrm>
            <a:off x="6163056" y="164592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45936" y="175564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필요 수 감소</a:t>
            </a:r>
            <a:r>
              <a:rPr sz="12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 12훈장 노드 (Promote_Need_Down)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2240280"/>
            <a:ext cx="448056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등급별 승급 필요 수 −1 (최소 2마리)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긴 판 후반의 승급 피로를 줄임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노드 3개, 단계마다 −1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88620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16736" y="399592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초월 승급 연출</a:t>
            </a:r>
            <a:r>
              <a:rPr sz="12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 신화 → 초월 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4480560"/>
            <a:ext cx="448056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화면 멈춤 + 컷인 (슈퍼 점프식)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초월 쥐 이름 · 등급 색 배너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첫 초월 승급은 업적 · 서버 기록</a:t>
            </a:r>
          </a:p>
        </p:txBody>
      </p:sp>
      <p:sp>
        <p:nvSpPr>
          <p:cNvPr id="13" name="Card"/>
          <p:cNvSpPr/>
          <p:nvPr/>
        </p:nvSpPr>
        <p:spPr>
          <a:xfrm>
            <a:off x="6163056" y="388620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45936" y="3995928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2마리 보너스 확장</a:t>
            </a:r>
            <a:r>
              <a:rPr sz="12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 Promote_Double 노드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4480560"/>
            <a:ext cx="448056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9~16훈장 트리에 노드 1개씩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14훈장: 신화→초월 2마리 확률</a:t>
            </a:r>
          </a:p>
          <a:p>
            <a:pPr latinLnBrk="0" eaLnBrk="1" algn="l" marL="201168" indent="-182880">
              <a:spcAft>
                <a:spcPts val="5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확률 합 상한 30%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티어 확장 - 9~16훈장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133856" y="1645920"/>
          <a:ext cx="9930383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65724"/>
                <a:gridCol w="1608833"/>
                <a:gridCol w="1109540"/>
                <a:gridCol w="1109540"/>
                <a:gridCol w="1165017"/>
                <a:gridCol w="998586"/>
                <a:gridCol w="1331448"/>
                <a:gridCol w="998586"/>
                <a:gridCol w="943109"/>
              </a:tblGrid>
              <a:tr h="365760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이름 (가칭)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연구자료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최고 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훈련 레벨 합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도감 친구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스킬 트리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탄생 배율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시작 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전설의 탈옥왕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11,020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×2.75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E7DFD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지하 제국 총독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6,480만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초월 실험체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×3.05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연구소 점령자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6.3억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도시의 그림자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19.4억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×3.35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공화국 의장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60.3억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104종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×3.50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행성 탈출자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187억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111종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×3.65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은하 방랑자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582억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690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118종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찍찍!! 신화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1,806억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 보스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125종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트리 전부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×3.95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16마리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5623560"/>
            <a:ext cx="99303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300"/>
              </a:spcAft>
            </a:pPr>
            <a:r>
              <a:rPr sz="11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8훈장 줄 = 현재 값 (비교용). 연구자료 = 조건 층 1층 탈취량 × 4 (제안 곡선 기준), 도감 친구 = 이전 훈장까지 열린 친구의 약 90%</a:t>
            </a:r>
          </a:p>
          <a:p>
            <a:pPr latinLnBrk="0" eaLnBrk="1" algn="l">
              <a:spcAft>
                <a:spcPts val="300"/>
              </a:spcAft>
            </a:pPr>
            <a:r>
              <a:rPr sz="11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새 조건 종류: Dex_Count (도감 친구 수) · Boss_Clear (16훈장, 100층 보스 처치)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티어 확장 - 조건 곡선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1133856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691640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801368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설계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86000"/>
            <a:ext cx="301752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현재 1~8훈장은 2~3층 간격으로 촘촘함 (초반 동기)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9훈장부터 10층 간격 — 보스 2마리마다 훈장 1개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훈련 레벨 합은 훈장마다 +60~120 (8훈장 135 → 16훈장 810)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11훈장부터 도감 조건으로 새 친구 모으기를 목표에 넣음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티어 확장 - 연구자료 경제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1133856" y="160020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691640"/>
            <a:ext cx="3337560" cy="4389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801368"/>
            <a:ext cx="3063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ctr">
              <a:spcAft>
                <a:spcPts val="0"/>
              </a:spcAft>
            </a:pPr>
            <a:r>
              <a:rPr sz="18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86000"/>
            <a:ext cx="301752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1~30층은 그대로 (30층 1,620만)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31층부터 층마다 ×1.12 → 50층 1.6억 · 100층 452억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치즈 · 적정 전투력 · 물건 체력도 같은 구간 비율로 맞춤 (층 별 허들 기획서와 함께)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화면 숫자는 만 · 억 · 조 단위 표기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티어 콘텐츠 - 해금 보상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133856" y="1645920"/>
          <a:ext cx="9930382" cy="35387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45303"/>
                <a:gridCol w="1698618"/>
                <a:gridCol w="1567955"/>
                <a:gridCol w="3919888"/>
                <a:gridCol w="1698618"/>
              </a:tblGrid>
              <a:tr h="393192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새 친구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공용 스킬 트리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기능 해금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신화 탄생 확률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6종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자동 승급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0.28%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초월 등급 · 신화→초월 승급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0.36%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층 상한 40층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0.44%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필요 수 감소 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층 상한 60층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0.66%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초월 2마리 보너스 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0.80%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층 상한 80층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0.96%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16훈장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7종 (초월 1)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37노드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엔딩 · 명예의 전당 칭호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1.13%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5349240"/>
            <a:ext cx="99303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300"/>
              </a:spcAft>
            </a:pPr>
            <a:r>
              <a:rPr sz="11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신화 탄생 확률 = 번식 때 신화가 나올 확률 (공용 스킬 돌연변이 제외). 현재 8훈장 0.22% → 16훈장에서도 약 1%로 묶음 (탄생 배율 +0.15씩)</a:t>
            </a:r>
          </a:p>
          <a:p>
            <a:pPr latinLnBrk="0" eaLnBrk="1" algn="l">
              <a:spcAft>
                <a:spcPts val="300"/>
              </a:spcAft>
            </a:pPr>
            <a:r>
              <a:rPr sz="11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새 친구 55종 = 9훈장 등급별 1종 + 10~16훈장 등급별 1종 · 초월 1종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적용 계획 - 데이터 · 코드 변경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133856" y="1645920"/>
          <a:ext cx="9930383" cy="38679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36242"/>
                <a:gridCol w="3240441"/>
                <a:gridCol w="5853700"/>
              </a:tblGrid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위치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변경 내용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등급 테이블 Grade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초월 행 추가, 일반~전설 promote_grow2 1.05 → 1.035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티어 테이블 Tier · Cond_Type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9~16훈장 8행, 조건 Dex_Count · Boss_Clear 추가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캐릭터 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새 친구 55종 (unlock_rank 9~16), 그림 · 스트링 포함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공용 스킬 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트리 8개 × 37노드 (gen_skill_tree), 효과 Promote_Auto · Promote_Need_Down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스테이지 테이블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51~100층 행, 31층부터 ×1.12 곡선 (gen_stage_table)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코드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Grade enum · RatManager · 작전 회의 · 뽑기 화면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등급 6개 고정 (배열 6 · 반복 &lt; 6 · 승급 g &lt; 5 · Clamp 0~5) → 7개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코드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패널 · 찍찍!! 훈장 페이지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줄 6개, 훈장 사다리 16칸, 자동 승급 토글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latinLnBrk="0" eaLnBrk="1" algn="ctr"/>
                      <a:r>
                        <a:rPr sz="1300" b="1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코드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StageManager · Progress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eaLnBrk="1" algn="l"/>
                      <a:r>
                        <a:rPr sz="1300" b="0" lang="ko-KR" altLang="en-US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lastFloor 30 → 100, 새 조건 값 계산, 시작 층 상한 확장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E7DFD2"/>
                      </a:solidFill>
                    </a:lnL>
                    <a:lnR w="6350">
                      <a:solidFill>
                        <a:srgbClr val="E7DFD2"/>
                      </a:solidFill>
                    </a:lnR>
                    <a:lnT w="6350">
                      <a:solidFill>
                        <a:srgbClr val="E7DFD2"/>
                      </a:solidFill>
                    </a:lnT>
                    <a:lnB w="6350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적용 계획 - 단계별 적용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91640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16736" y="1801368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1단계</a:t>
            </a: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31~50층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2423160"/>
            <a:ext cx="26517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9 · 10훈장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초월 등급 · 신화→초월 승급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자동 승급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연구자료 곡선 교체 (31층~)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4178808" y="3337560"/>
            <a:ext cx="356616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rd"/>
          <p:cNvSpPr/>
          <p:nvPr/>
        </p:nvSpPr>
        <p:spPr>
          <a:xfrm>
            <a:off x="4562856" y="1691640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45736" y="1801368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2단계</a:t>
            </a: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51~75층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423160"/>
            <a:ext cx="26517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11~13훈장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새 친구 21종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필요 수 감소 노드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시작 층 상한 40 → 60층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7607808" y="3337560"/>
            <a:ext cx="356616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rd"/>
          <p:cNvSpPr/>
          <p:nvPr/>
        </p:nvSpPr>
        <p:spPr>
          <a:xfrm>
            <a:off x="7991856" y="1691640"/>
            <a:ext cx="3017520" cy="32918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74736" y="1801368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2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3단계</a:t>
            </a:r>
            <a:r>
              <a:rPr sz="14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  76~100층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423160"/>
            <a:ext cx="26517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14~16훈장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새 친구 21종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100층 보스 · 엔딩</a:t>
            </a:r>
          </a:p>
          <a:p>
            <a:pPr latinLnBrk="0" eaLnBrk="1" algn="l" marL="201168" indent="-182880">
              <a:spcAft>
                <a:spcPts val="8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명예의 전당 칭호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5257800"/>
            <a:ext cx="9930384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400"/>
              </a:spcAft>
            </a:pPr>
            <a:r>
              <a:rPr sz="13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단계마다: 테이블 생성 → 밸런스 측정 (BalanceProbe, 층당 4회+) → 웹 빌드 → itch.io 업데이트 · Devlog</a:t>
            </a:r>
          </a:p>
          <a:p>
            <a:pPr latinLnBrk="0" eaLnBrk="1" algn="l">
              <a:spcAft>
                <a:spcPts val="400"/>
              </a:spcAft>
            </a:pPr>
            <a:r>
              <a:rPr sz="1300" b="0" lang="ko-KR" altLang="en-US">
                <a:solidFill>
                  <a:srgbClr val="6B5E54"/>
                </a:solidFill>
                <a:latin typeface="Noto Sans KR"/>
                <a:ea typeface="Noto Sans KR"/>
              </a:rPr>
              <a:t>단계별 일정은 친구 그림 제작량 확정 뒤 정함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</a:rPr>
              <a:t>적용 계획 - 결정 필요 사항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9930384" cy="74980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1. 새 친구 55종 그림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47088"/>
            <a:ext cx="6812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새로 그리기 vs 기존 종 색 변형(변이)으로 일부 대체 — 제작 기간이 가장 큰 변수</a:t>
            </a:r>
          </a:p>
        </p:txBody>
      </p:sp>
      <p:sp>
        <p:nvSpPr>
          <p:cNvPr id="7" name="Card"/>
          <p:cNvSpPr/>
          <p:nvPr/>
        </p:nvSpPr>
        <p:spPr>
          <a:xfrm>
            <a:off x="1133856" y="2542032"/>
            <a:ext cx="9930384" cy="74980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272491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2. 초월 등급 뽑기 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6812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승급으로만 얻을지, 뽑기 확률(예: 0.3%)에도 넣을지</a:t>
            </a:r>
          </a:p>
        </p:txBody>
      </p:sp>
      <p:sp>
        <p:nvSpPr>
          <p:cNvPr id="10" name="Card"/>
          <p:cNvSpPr/>
          <p:nvPr/>
        </p:nvSpPr>
        <p:spPr>
          <a:xfrm>
            <a:off x="1133856" y="3438144"/>
            <a:ext cx="9930384" cy="74980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25880" y="3621024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3. 훈장 이름 · 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39312"/>
            <a:ext cx="6812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9~16훈장 이름은 가칭, 훈장 그림 8개 추가 필요</a:t>
            </a:r>
          </a:p>
        </p:txBody>
      </p:sp>
      <p:sp>
        <p:nvSpPr>
          <p:cNvPr id="13" name="Card"/>
          <p:cNvSpPr/>
          <p:nvPr/>
        </p:nvSpPr>
        <p:spPr>
          <a:xfrm>
            <a:off x="1133856" y="4334256"/>
            <a:ext cx="9930384" cy="74980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25880" y="4517136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4. 연구자료 곡선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35424"/>
            <a:ext cx="6812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31층부터 ×1.12 확정 여부 — 층 별 허들 기획서의 적정 전투력 곡선과 함께 결정</a:t>
            </a:r>
          </a:p>
        </p:txBody>
      </p:sp>
      <p:sp>
        <p:nvSpPr>
          <p:cNvPr id="16" name="Card"/>
          <p:cNvSpPr/>
          <p:nvPr/>
        </p:nvSpPr>
        <p:spPr>
          <a:xfrm>
            <a:off x="1133856" y="5230368"/>
            <a:ext cx="9930384" cy="74980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25880" y="5413248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600" b="1" lang="ko-KR" altLang="en-US">
                <a:solidFill>
                  <a:srgbClr val="000000"/>
                </a:solidFill>
                <a:latin typeface="Noto Sans KR"/>
                <a:ea typeface="Noto Sans KR"/>
              </a:rPr>
              <a:t>5. 판 길이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31536"/>
            <a:ext cx="6812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latinLnBrk="0" eaLnBrk="1" algn="l">
              <a:spcAft>
                <a:spcPts val="0"/>
              </a:spcAft>
            </a:pPr>
            <a:r>
              <a:rPr sz="1400" b="0" lang="ko-KR" altLang="en-US">
                <a:solidFill>
                  <a:srgbClr val="000000"/>
                </a:solidFill>
                <a:latin typeface="Noto Sans KR"/>
                <a:ea typeface="Noto Sans KR"/>
              </a:rPr>
              <a:t>시작 층 상한을 최고 층의 80%까지 열지, 중간 저장(이어하기)을 넣을지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303</Words>
  <Application>Microsoft Office PowerPoint</Application>
  <PresentationFormat>와이드스크린</PresentationFormat>
  <Paragraphs>76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송호 박</cp:lastModifiedBy>
  <cp:revision>17</cp:revision>
  <dcterms:created xsi:type="dcterms:W3CDTF">2026-09-29T07:46:10Z</dcterms:created>
  <dcterms:modified xsi:type="dcterms:W3CDTF">2026-10-05T07:19:09Z</dcterms:modified>
</cp:coreProperties>
</file>