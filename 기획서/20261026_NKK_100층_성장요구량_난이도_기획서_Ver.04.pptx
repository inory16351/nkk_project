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1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75" r:id="rId4"/>
    <p:sldId id="315" r:id="rId49"/>
    <p:sldId id="316" r:id="rId50"/>
    <p:sldId id="281" r:id="rId15"/>
    <p:sldId id="317" r:id="rId51"/>
    <p:sldId id="318" r:id="rId52"/>
    <p:sldId id="319" r:id="rId53"/>
    <p:sldId id="320" r:id="rId54"/>
    <p:sldId id="321" r:id="rId55"/>
    <p:sldId id="287" r:id="rId7"/>
    <p:sldId id="322" r:id="rId56"/>
    <p:sldId id="280" r:id="rId14"/>
    <p:sldId id="323" r:id="rId57"/>
    <p:sldId id="324" r:id="rId58"/>
    <p:sldId id="284" r:id="rId18"/>
    <p:sldId id="325" r:id="rId59"/>
    <p:sldId id="326" r:id="rId60"/>
    <p:sldId id="288" r:id="rId6"/>
    <p:sldId id="327" r:id="rId61"/>
    <p:sldId id="289" r:id="rId5"/>
    <p:sldId id="291" r:id="rId25"/>
    <p:sldId id="292" r:id="rId26"/>
    <p:sldId id="328" r:id="rId62"/>
    <p:sldId id="329" r:id="rId63"/>
    <p:sldId id="293" r:id="rId27"/>
    <p:sldId id="294" r:id="rId28"/>
    <p:sldId id="295" r:id="rId29"/>
    <p:sldId id="296" r:id="rId30"/>
    <p:sldId id="307" r:id="rId41"/>
    <p:sldId id="308" r:id="rId42"/>
    <p:sldId id="309" r:id="rId43"/>
    <p:sldId id="310" r:id="rId44"/>
    <p:sldId id="301" r:id="rId35"/>
    <p:sldId id="330" r:id="rId64"/>
    <p:sldId id="331" r:id="rId65"/>
    <p:sldId id="311" r:id="rId45"/>
    <p:sldId id="312" r:id="rId46"/>
    <p:sldId id="332" r:id="rId66"/>
    <p:sldId id="314" r:id="rId48"/>
    <p:sldId id="300" r:id="rId34"/>
    <p:sldId id="333" r:id="rId67"/>
    <p:sldId id="334" r:id="rId68"/>
    <p:sldId id="277" r:id="rId11"/>
    <p:sldId id="279" r:id="rId13"/>
    <p:sldId id="290" r:id="rId24"/>
    <p:sldId id="297" r:id="rId31"/>
    <p:sldId id="302" r:id="rId36"/>
    <p:sldId id="303" r:id="rId37"/>
    <p:sldId id="304" r:id="rId38"/>
    <p:sldId id="305" r:id="rId3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5A25"/>
    <a:srgbClr val="D66E3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17.xml"/><Relationship Id="rId6" Type="http://schemas.openxmlformats.org/officeDocument/2006/relationships/slide" Target="slides/slide16.xml"/><Relationship Id="rId7" Type="http://schemas.openxmlformats.org/officeDocument/2006/relationships/slide" Target="slides/slide15.xml"/><Relationship Id="rId11" Type="http://schemas.openxmlformats.org/officeDocument/2006/relationships/slide" Target="slides/slide5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6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1" Type="http://schemas.openxmlformats.org/officeDocument/2006/relationships/slide" Target="slides/slide25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1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8" Type="http://schemas.openxmlformats.org/officeDocument/2006/relationships/slide" Target="slides/slide41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00000"/>
                </a:solidFill>
                <a:latin typeface="Noto Sans KR"/>
              </a:rPr>
              <a:t>목표층별 기준 시작층 s_f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기준 시작층 s_f</c:v>
                </c:pt>
              </c:strCache>
            </c:strRef>
          </c:tx>
          <c:spPr>
            <a:ln w="28575">
              <a:solidFill>
                <a:srgbClr val="E97132"/>
              </a:solidFill>
            </a:ln>
          </c:spPr>
          <c:marker>
            <c:symbol val="none"/>
          </c:marker>
          <c:cat>
            <c:numRef>
              <c:f>Sheet1!$A$2:$A$101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cat>
          <c:val>
            <c:numRef>
              <c:f>Sheet1!$B$2:$B$101</c:f>
              <c:numCache>
                <c:formatCode>General</c:formatCode>
                <c:ptCount val="10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2</c:v>
                </c:pt>
                <c:pt idx="13">
                  <c:v>3</c:v>
                </c:pt>
                <c:pt idx="14">
                  <c:v>4</c:v>
                </c:pt>
                <c:pt idx="15">
                  <c:v>5</c:v>
                </c:pt>
                <c:pt idx="16">
                  <c:v>6</c:v>
                </c:pt>
                <c:pt idx="17">
                  <c:v>7</c:v>
                </c:pt>
                <c:pt idx="18">
                  <c:v>8</c:v>
                </c:pt>
                <c:pt idx="19">
                  <c:v>9</c:v>
                </c:pt>
                <c:pt idx="20">
                  <c:v>10</c:v>
                </c:pt>
                <c:pt idx="21">
                  <c:v>11</c:v>
                </c:pt>
                <c:pt idx="22">
                  <c:v>12</c:v>
                </c:pt>
                <c:pt idx="23">
                  <c:v>13</c:v>
                </c:pt>
                <c:pt idx="24">
                  <c:v>14</c:v>
                </c:pt>
                <c:pt idx="25">
                  <c:v>15</c:v>
                </c:pt>
                <c:pt idx="26">
                  <c:v>16</c:v>
                </c:pt>
                <c:pt idx="27">
                  <c:v>17</c:v>
                </c:pt>
                <c:pt idx="28">
                  <c:v>18</c:v>
                </c:pt>
                <c:pt idx="29">
                  <c:v>19</c:v>
                </c:pt>
                <c:pt idx="30">
                  <c:v>20</c:v>
                </c:pt>
                <c:pt idx="31">
                  <c:v>21</c:v>
                </c:pt>
                <c:pt idx="32">
                  <c:v>22</c:v>
                </c:pt>
                <c:pt idx="33">
                  <c:v>23</c:v>
                </c:pt>
                <c:pt idx="34">
                  <c:v>24</c:v>
                </c:pt>
                <c:pt idx="35">
                  <c:v>25</c:v>
                </c:pt>
                <c:pt idx="36">
                  <c:v>26</c:v>
                </c:pt>
                <c:pt idx="37">
                  <c:v>27</c:v>
                </c:pt>
                <c:pt idx="38">
                  <c:v>28</c:v>
                </c:pt>
                <c:pt idx="39">
                  <c:v>29</c:v>
                </c:pt>
                <c:pt idx="40">
                  <c:v>30</c:v>
                </c:pt>
                <c:pt idx="41">
                  <c:v>31</c:v>
                </c:pt>
                <c:pt idx="42">
                  <c:v>32</c:v>
                </c:pt>
                <c:pt idx="43">
                  <c:v>33</c:v>
                </c:pt>
                <c:pt idx="44">
                  <c:v>34</c:v>
                </c:pt>
                <c:pt idx="45">
                  <c:v>35</c:v>
                </c:pt>
                <c:pt idx="46">
                  <c:v>36</c:v>
                </c:pt>
                <c:pt idx="47">
                  <c:v>37</c:v>
                </c:pt>
                <c:pt idx="48">
                  <c:v>38</c:v>
                </c:pt>
                <c:pt idx="49">
                  <c:v>39</c:v>
                </c:pt>
                <c:pt idx="50">
                  <c:v>40</c:v>
                </c:pt>
                <c:pt idx="51">
                  <c:v>41</c:v>
                </c:pt>
                <c:pt idx="52">
                  <c:v>42</c:v>
                </c:pt>
                <c:pt idx="53">
                  <c:v>43</c:v>
                </c:pt>
                <c:pt idx="54">
                  <c:v>44</c:v>
                </c:pt>
                <c:pt idx="55">
                  <c:v>45</c:v>
                </c:pt>
                <c:pt idx="56">
                  <c:v>46</c:v>
                </c:pt>
                <c:pt idx="57">
                  <c:v>47</c:v>
                </c:pt>
                <c:pt idx="58">
                  <c:v>48</c:v>
                </c:pt>
                <c:pt idx="59">
                  <c:v>49</c:v>
                </c:pt>
                <c:pt idx="60">
                  <c:v>50</c:v>
                </c:pt>
                <c:pt idx="61">
                  <c:v>51</c:v>
                </c:pt>
                <c:pt idx="62">
                  <c:v>52</c:v>
                </c:pt>
                <c:pt idx="63">
                  <c:v>53</c:v>
                </c:pt>
                <c:pt idx="64">
                  <c:v>54</c:v>
                </c:pt>
                <c:pt idx="65">
                  <c:v>55</c:v>
                </c:pt>
                <c:pt idx="66">
                  <c:v>56</c:v>
                </c:pt>
                <c:pt idx="67">
                  <c:v>57</c:v>
                </c:pt>
                <c:pt idx="68">
                  <c:v>58</c:v>
                </c:pt>
                <c:pt idx="69">
                  <c:v>59</c:v>
                </c:pt>
                <c:pt idx="70">
                  <c:v>60</c:v>
                </c:pt>
                <c:pt idx="71">
                  <c:v>66</c:v>
                </c:pt>
                <c:pt idx="72">
                  <c:v>67</c:v>
                </c:pt>
                <c:pt idx="73">
                  <c:v>68</c:v>
                </c:pt>
                <c:pt idx="74">
                  <c:v>69</c:v>
                </c:pt>
                <c:pt idx="75">
                  <c:v>70</c:v>
                </c:pt>
                <c:pt idx="76">
                  <c:v>71</c:v>
                </c:pt>
                <c:pt idx="77">
                  <c:v>72</c:v>
                </c:pt>
                <c:pt idx="78">
                  <c:v>73</c:v>
                </c:pt>
                <c:pt idx="79">
                  <c:v>74</c:v>
                </c:pt>
                <c:pt idx="80">
                  <c:v>75</c:v>
                </c:pt>
                <c:pt idx="81">
                  <c:v>76</c:v>
                </c:pt>
                <c:pt idx="82">
                  <c:v>77</c:v>
                </c:pt>
                <c:pt idx="83">
                  <c:v>78</c:v>
                </c:pt>
                <c:pt idx="84">
                  <c:v>79</c:v>
                </c:pt>
                <c:pt idx="85">
                  <c:v>80</c:v>
                </c:pt>
                <c:pt idx="86">
                  <c:v>81</c:v>
                </c:pt>
                <c:pt idx="87">
                  <c:v>82</c:v>
                </c:pt>
                <c:pt idx="88">
                  <c:v>83</c:v>
                </c:pt>
                <c:pt idx="89">
                  <c:v>84</c:v>
                </c:pt>
                <c:pt idx="90">
                  <c:v>85</c:v>
                </c:pt>
                <c:pt idx="91">
                  <c:v>86</c:v>
                </c:pt>
                <c:pt idx="92">
                  <c:v>87</c:v>
                </c:pt>
                <c:pt idx="93">
                  <c:v>88</c:v>
                </c:pt>
                <c:pt idx="94">
                  <c:v>89</c:v>
                </c:pt>
                <c:pt idx="95">
                  <c:v>90</c:v>
                </c:pt>
                <c:pt idx="96">
                  <c:v>91</c:v>
                </c:pt>
                <c:pt idx="97">
                  <c:v>92</c:v>
                </c:pt>
                <c:pt idx="98">
                  <c:v>93</c:v>
                </c:pt>
                <c:pt idx="99">
                  <c:v>94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 b="0">
                    <a:solidFill>
                      <a:srgbClr val="6B5E54"/>
                    </a:solidFill>
                    <a:latin typeface="Noto Sans KR"/>
                  </a:rPr>
                  <a:t>목표층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A7ADB7"/>
            </a:solidFill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2140495176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7DFD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6B5E54"/>
                    </a:solidFill>
                    <a:latin typeface="Noto Sans KR"/>
                  </a:rPr>
                  <a:t>시작층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6B5E54"/>
          </a:solidFill>
          <a:latin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누적 성장 단계 u</c:v>
                </c:pt>
              </c:strCache>
            </c:strRef>
          </c:tx>
          <c:spPr>
            <a:ln w="31750">
              <a:solidFill>
                <a:srgbClr val="E97132"/>
              </a:solidFill>
            </a:ln>
          </c:spPr>
          <c:marker>
            <c:symbol val="none"/>
          </c:marker>
          <c:dPt>
            <c:idx val="14"/>
            <c:marker>
              <c:symbol val="circle"/>
              <c:size val="7"/>
              <c:spPr>
                <a:solidFill>
                  <a:srgbClr val="3C2D23"/>
                </a:solidFill>
                <a:ln>
                  <a:solidFill>
                    <a:srgbClr val="3C2D23"/>
                  </a:solidFill>
                </a:ln>
              </c:spPr>
            </c:marker>
          </c:dPt>
          <c:dPt>
            <c:idx val="69"/>
            <c:marker>
              <c:symbol val="circle"/>
              <c:size val="7"/>
              <c:spPr>
                <a:solidFill>
                  <a:srgbClr val="3C2D23"/>
                </a:solidFill>
                <a:ln>
                  <a:solidFill>
                    <a:srgbClr val="3C2D23"/>
                  </a:solidFill>
                </a:ln>
              </c:spPr>
            </c:marker>
          </c:dPt>
          <c:dPt>
            <c:idx val="79"/>
            <c:marker>
              <c:symbol val="circle"/>
              <c:size val="7"/>
              <c:spPr>
                <a:solidFill>
                  <a:srgbClr val="3C2D23"/>
                </a:solidFill>
                <a:ln>
                  <a:solidFill>
                    <a:srgbClr val="3C2D23"/>
                  </a:solidFill>
                </a:ln>
              </c:spPr>
            </c:marker>
          </c:dPt>
          <c:dPt>
            <c:idx val="88"/>
            <c:marker>
              <c:symbol val="circle"/>
              <c:size val="7"/>
              <c:spPr>
                <a:solidFill>
                  <a:srgbClr val="3C2D23"/>
                </a:solidFill>
                <a:ln>
                  <a:solidFill>
                    <a:srgbClr val="3C2D23"/>
                  </a:solidFill>
                </a:ln>
              </c:spPr>
            </c:marker>
          </c:dPt>
          <c:dPt>
            <c:idx val="99"/>
            <c:marker>
              <c:symbol val="circle"/>
              <c:size val="7"/>
              <c:spPr>
                <a:solidFill>
                  <a:srgbClr val="3C2D23"/>
                </a:solidFill>
                <a:ln>
                  <a:solidFill>
                    <a:srgbClr val="3C2D23"/>
                  </a:solidFill>
                </a:ln>
              </c:spPr>
            </c:marker>
          </c:dPt>
          <c:dLbls>
            <c:dLbl>
              <c:idx val="14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3C2D23"/>
                        </a:solidFill>
                        <a:latin typeface="Noto Sans KR"/>
                      </a:rPr>
                      <a:t>15층 · 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9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3C2D23"/>
                        </a:solidFill>
                        <a:latin typeface="Noto Sans KR"/>
                      </a:rPr>
                      <a:t>70층 · 32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9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3C2D23"/>
                        </a:solidFill>
                        <a:latin typeface="Noto Sans KR"/>
                      </a:rPr>
                      <a:t>80층 · 43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8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3C2D23"/>
                        </a:solidFill>
                        <a:latin typeface="Noto Sans KR"/>
                      </a:rPr>
                      <a:t>89층 · 46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9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3C2D23"/>
                        </a:solidFill>
                        <a:latin typeface="Noto Sans KR"/>
                      </a:rPr>
                      <a:t>100층 · 61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cat>
          <c:val>
            <c:numRef>
              <c:f>Sheet1!$B$2:$B$101</c:f>
              <c:numCache>
                <c:formatCode>General</c:formatCode>
                <c:ptCount val="1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4</c:v>
                </c:pt>
                <c:pt idx="13">
                  <c:v>4</c:v>
                </c:pt>
                <c:pt idx="14">
                  <c:v>6</c:v>
                </c:pt>
                <c:pt idx="15">
                  <c:v>7</c:v>
                </c:pt>
                <c:pt idx="16">
                  <c:v>7</c:v>
                </c:pt>
                <c:pt idx="17">
                  <c:v>7</c:v>
                </c:pt>
                <c:pt idx="18">
                  <c:v>8</c:v>
                </c:pt>
                <c:pt idx="19">
                  <c:v>8</c:v>
                </c:pt>
                <c:pt idx="20">
                  <c:v>8</c:v>
                </c:pt>
                <c:pt idx="21">
                  <c:v>9</c:v>
                </c:pt>
                <c:pt idx="22">
                  <c:v>9</c:v>
                </c:pt>
                <c:pt idx="23">
                  <c:v>9</c:v>
                </c:pt>
                <c:pt idx="24">
                  <c:v>11</c:v>
                </c:pt>
                <c:pt idx="25">
                  <c:v>11</c:v>
                </c:pt>
                <c:pt idx="26">
                  <c:v>11</c:v>
                </c:pt>
                <c:pt idx="27">
                  <c:v>12</c:v>
                </c:pt>
                <c:pt idx="28">
                  <c:v>12</c:v>
                </c:pt>
                <c:pt idx="29">
                  <c:v>12</c:v>
                </c:pt>
                <c:pt idx="30">
                  <c:v>13</c:v>
                </c:pt>
                <c:pt idx="31">
                  <c:v>13</c:v>
                </c:pt>
                <c:pt idx="32">
                  <c:v>13</c:v>
                </c:pt>
                <c:pt idx="33">
                  <c:v>14</c:v>
                </c:pt>
                <c:pt idx="34">
                  <c:v>14</c:v>
                </c:pt>
                <c:pt idx="35">
                  <c:v>14</c:v>
                </c:pt>
                <c:pt idx="36">
                  <c:v>15</c:v>
                </c:pt>
                <c:pt idx="37">
                  <c:v>15</c:v>
                </c:pt>
                <c:pt idx="38">
                  <c:v>15</c:v>
                </c:pt>
                <c:pt idx="39">
                  <c:v>17</c:v>
                </c:pt>
                <c:pt idx="40">
                  <c:v>17</c:v>
                </c:pt>
                <c:pt idx="41">
                  <c:v>17</c:v>
                </c:pt>
                <c:pt idx="42">
                  <c:v>18</c:v>
                </c:pt>
                <c:pt idx="43">
                  <c:v>18</c:v>
                </c:pt>
                <c:pt idx="44">
                  <c:v>18</c:v>
                </c:pt>
                <c:pt idx="45">
                  <c:v>19</c:v>
                </c:pt>
                <c:pt idx="46">
                  <c:v>19</c:v>
                </c:pt>
                <c:pt idx="47">
                  <c:v>19</c:v>
                </c:pt>
                <c:pt idx="48">
                  <c:v>20</c:v>
                </c:pt>
                <c:pt idx="49">
                  <c:v>22</c:v>
                </c:pt>
                <c:pt idx="50">
                  <c:v>22</c:v>
                </c:pt>
                <c:pt idx="51">
                  <c:v>23</c:v>
                </c:pt>
                <c:pt idx="52">
                  <c:v>23</c:v>
                </c:pt>
                <c:pt idx="53">
                  <c:v>23</c:v>
                </c:pt>
                <c:pt idx="54">
                  <c:v>24</c:v>
                </c:pt>
                <c:pt idx="55">
                  <c:v>24</c:v>
                </c:pt>
                <c:pt idx="56">
                  <c:v>24</c:v>
                </c:pt>
                <c:pt idx="57">
                  <c:v>25</c:v>
                </c:pt>
                <c:pt idx="58">
                  <c:v>25</c:v>
                </c:pt>
                <c:pt idx="59">
                  <c:v>27</c:v>
                </c:pt>
                <c:pt idx="60">
                  <c:v>28</c:v>
                </c:pt>
                <c:pt idx="61">
                  <c:v>28</c:v>
                </c:pt>
                <c:pt idx="62">
                  <c:v>28</c:v>
                </c:pt>
                <c:pt idx="63">
                  <c:v>29</c:v>
                </c:pt>
                <c:pt idx="64">
                  <c:v>29</c:v>
                </c:pt>
                <c:pt idx="65">
                  <c:v>29</c:v>
                </c:pt>
                <c:pt idx="66">
                  <c:v>30</c:v>
                </c:pt>
                <c:pt idx="67">
                  <c:v>30</c:v>
                </c:pt>
                <c:pt idx="68">
                  <c:v>30</c:v>
                </c:pt>
                <c:pt idx="69">
                  <c:v>32</c:v>
                </c:pt>
                <c:pt idx="70">
                  <c:v>33</c:v>
                </c:pt>
                <c:pt idx="71">
                  <c:v>33</c:v>
                </c:pt>
                <c:pt idx="72">
                  <c:v>36</c:v>
                </c:pt>
                <c:pt idx="73">
                  <c:v>36</c:v>
                </c:pt>
                <c:pt idx="74">
                  <c:v>36</c:v>
                </c:pt>
                <c:pt idx="75">
                  <c:v>37</c:v>
                </c:pt>
                <c:pt idx="76">
                  <c:v>37</c:v>
                </c:pt>
                <c:pt idx="77">
                  <c:v>40</c:v>
                </c:pt>
                <c:pt idx="78">
                  <c:v>40</c:v>
                </c:pt>
                <c:pt idx="79">
                  <c:v>43</c:v>
                </c:pt>
                <c:pt idx="80">
                  <c:v>44</c:v>
                </c:pt>
                <c:pt idx="81">
                  <c:v>44</c:v>
                </c:pt>
                <c:pt idx="82">
                  <c:v>44</c:v>
                </c:pt>
                <c:pt idx="83">
                  <c:v>45</c:v>
                </c:pt>
                <c:pt idx="84">
                  <c:v>45</c:v>
                </c:pt>
                <c:pt idx="85">
                  <c:v>45</c:v>
                </c:pt>
                <c:pt idx="86">
                  <c:v>46</c:v>
                </c:pt>
                <c:pt idx="87">
                  <c:v>46</c:v>
                </c:pt>
                <c:pt idx="88">
                  <c:v>46</c:v>
                </c:pt>
                <c:pt idx="89">
                  <c:v>49</c:v>
                </c:pt>
                <c:pt idx="90">
                  <c:v>50</c:v>
                </c:pt>
                <c:pt idx="91">
                  <c:v>50</c:v>
                </c:pt>
                <c:pt idx="92">
                  <c:v>50</c:v>
                </c:pt>
                <c:pt idx="93">
                  <c:v>53</c:v>
                </c:pt>
                <c:pt idx="94">
                  <c:v>54</c:v>
                </c:pt>
                <c:pt idx="95">
                  <c:v>54</c:v>
                </c:pt>
                <c:pt idx="96">
                  <c:v>57</c:v>
                </c:pt>
                <c:pt idx="97">
                  <c:v>58</c:v>
                </c:pt>
                <c:pt idx="98">
                  <c:v>58</c:v>
                </c:pt>
                <c:pt idx="99">
                  <c:v>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 b="0">
                    <a:solidFill>
                      <a:srgbClr val="6B5E54"/>
                    </a:solidFill>
                    <a:latin typeface="Noto Sans KR"/>
                  </a:rPr>
                  <a:t>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A7ADB7"/>
            </a:solidFill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2140495176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7DFD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6B5E54"/>
                    </a:solidFill>
                    <a:latin typeface="Noto Sans KR"/>
                  </a:rPr>
                  <a:t>누적 성장 단계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6B5E54"/>
          </a:solidFill>
          <a:latin typeface="Noto Sans KR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구간별 층 유형 구성 (막대 안 숫자 = 층 수)</a:t>
            </a:r>
          </a:p>
        </c:rich>
      </c:tx>
      <c:layout/>
      <c:overlay val="0"/>
    </c:title>
    <c:autoTitleDeleted val="0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유지 +0</c:v>
                </c:pt>
              </c:strCache>
            </c:strRef>
          </c:tx>
          <c:spPr>
            <a:solidFill>
              <a:srgbClr val="EFE9DF"/>
            </a:solidFill>
            <a:ln>
              <a:solidFill>
                <a:srgbClr val="FFFFFF"/>
              </a:solidFill>
            </a:ln>
          </c:spPr>
          <c:dLbls>
            <c:numFmt formatCode="0;;;" sourceLinked="0"/>
            <c:txPr>
              <a:bodyPr/>
              <a:lstStyle/>
              <a:p>
                <a:pPr>
                  <a:defRPr sz="1000" b="1">
                    <a:solidFill>
                      <a:srgbClr val="6B5E54"/>
                    </a:solidFill>
                    <a:latin typeface="Noto Sans KR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초반 1~15</c:v>
                </c:pt>
                <c:pt idx="1">
                  <c:v>중반 16~70</c:v>
                </c:pt>
                <c:pt idx="2">
                  <c:v>후반 진입 71~80</c:v>
                </c:pt>
                <c:pt idx="3">
                  <c:v>후반 완화 81~89</c:v>
                </c:pt>
                <c:pt idx="4">
                  <c:v>최종 연전 90~100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34</c:v>
                </c:pt>
                <c:pt idx="2">
                  <c:v>5</c:v>
                </c:pt>
                <c:pt idx="3">
                  <c:v>6</c:v>
                </c:pt>
                <c:pt idx="4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일반 +1</c:v>
                </c:pt>
              </c:strCache>
            </c:strRef>
          </c:tx>
          <c:spPr>
            <a:solidFill>
              <a:srgbClr val="F3B58A"/>
            </a:solidFill>
            <a:ln>
              <a:solidFill>
                <a:srgbClr val="FFFFFF"/>
              </a:solidFill>
            </a:ln>
          </c:spPr>
          <c:dLbls>
            <c:numFmt formatCode="0;;;" sourceLinked="0"/>
            <c:txPr>
              <a:bodyPr/>
              <a:lstStyle/>
              <a:p>
                <a:pPr>
                  <a:defRPr sz="1000" b="1">
                    <a:solidFill>
                      <a:srgbClr val="000000"/>
                    </a:solidFill>
                    <a:latin typeface="Noto Sans KR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초반 1~15</c:v>
                </c:pt>
                <c:pt idx="1">
                  <c:v>중반 16~70</c:v>
                </c:pt>
                <c:pt idx="2">
                  <c:v>후반 진입 71~80</c:v>
                </c:pt>
                <c:pt idx="3">
                  <c:v>후반 완화 81~89</c:v>
                </c:pt>
                <c:pt idx="4">
                  <c:v>최종 연전 90~100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16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허들 +2</c:v>
                </c:pt>
              </c:strCache>
            </c:strRef>
          </c:tx>
          <c:spPr>
            <a:solidFill>
              <a:srgbClr val="E97132"/>
            </a:solidFill>
            <a:ln>
              <a:solidFill>
                <a:srgbClr val="FFFFFF"/>
              </a:solidFill>
            </a:ln>
          </c:spPr>
          <c:dLbls>
            <c:numFmt formatCode="0;;;" sourceLinked="0"/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Noto Sans KR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초반 1~15</c:v>
                </c:pt>
                <c:pt idx="1">
                  <c:v>중반 16~70</c:v>
                </c:pt>
                <c:pt idx="2">
                  <c:v>후반 진입 71~80</c:v>
                </c:pt>
                <c:pt idx="3">
                  <c:v>후반 완화 81~89</c:v>
                </c:pt>
                <c:pt idx="4">
                  <c:v>최종 연전 90~100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  <c:pt idx="1">
                  <c:v>5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강한 허들 +3</c:v>
                </c:pt>
              </c:strCache>
            </c:strRef>
          </c:tx>
          <c:spPr>
            <a:solidFill>
              <a:srgbClr val="7A2E0E"/>
            </a:solidFill>
            <a:ln>
              <a:solidFill>
                <a:srgbClr val="FFFFFF"/>
              </a:solidFill>
            </a:ln>
          </c:spPr>
          <c:dLbls>
            <c:numFmt formatCode="0;;;" sourceLinked="0"/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Noto Sans KR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초반 1~15</c:v>
                </c:pt>
                <c:pt idx="1">
                  <c:v>중반 16~70</c:v>
                </c:pt>
                <c:pt idx="2">
                  <c:v>후반 진입 71~80</c:v>
                </c:pt>
                <c:pt idx="3">
                  <c:v>후반 완화 81~89</c:v>
                </c:pt>
                <c:pt idx="4">
                  <c:v>최종 연전 90~100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0</c:v>
                </c:pt>
                <c:pt idx="4">
                  <c:v>4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7ADB7"/>
            </a:solidFill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7DFD2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6B5E54"/>
              </a:solidFill>
              <a:latin typeface="Noto Sans KR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6B5E54"/>
          </a:solidFill>
          <a:latin typeface="Noto Sans KR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1~100층 난이도 등급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난이도</c:v>
                </c:pt>
              </c:strCache>
            </c:strRef>
          </c:tx>
          <c:dPt>
            <c:idx val="0"/>
            <c:spPr>
              <a:solidFill>
                <a:srgbClr val="D9CFC2"/>
              </a:solidFill>
            </c:spPr>
          </c:dPt>
          <c:dPt>
            <c:idx val="1"/>
            <c:spPr>
              <a:solidFill>
                <a:srgbClr val="D9CFC2"/>
              </a:solidFill>
            </c:spPr>
          </c:dPt>
          <c:dPt>
            <c:idx val="2"/>
            <c:spPr>
              <a:solidFill>
                <a:srgbClr val="D9CFC2"/>
              </a:solidFill>
            </c:spPr>
          </c:dPt>
          <c:dPt>
            <c:idx val="3"/>
            <c:spPr>
              <a:solidFill>
                <a:srgbClr val="F3B58A"/>
              </a:solidFill>
            </c:spPr>
          </c:dPt>
          <c:dPt>
            <c:idx val="4"/>
            <c:spPr>
              <a:solidFill>
                <a:srgbClr val="D9CFC2"/>
              </a:solidFill>
            </c:spPr>
          </c:dPt>
          <c:dPt>
            <c:idx val="5"/>
            <c:spPr>
              <a:solidFill>
                <a:srgbClr val="D9CFC2"/>
              </a:solidFill>
            </c:spPr>
          </c:dPt>
          <c:dPt>
            <c:idx val="6"/>
            <c:spPr>
              <a:solidFill>
                <a:srgbClr val="F3B58A"/>
              </a:solidFill>
            </c:spPr>
          </c:dPt>
          <c:dPt>
            <c:idx val="7"/>
            <c:spPr>
              <a:solidFill>
                <a:srgbClr val="D9CFC2"/>
              </a:solidFill>
            </c:spPr>
          </c:dPt>
          <c:dPt>
            <c:idx val="8"/>
            <c:spPr>
              <a:solidFill>
                <a:srgbClr val="D9CFC2"/>
              </a:solidFill>
            </c:spPr>
          </c:dPt>
          <c:dPt>
            <c:idx val="9"/>
            <c:spPr>
              <a:solidFill>
                <a:srgbClr val="F3B58A"/>
              </a:solidFill>
            </c:spPr>
          </c:dPt>
          <c:dPt>
            <c:idx val="10"/>
            <c:spPr>
              <a:solidFill>
                <a:srgbClr val="D9CFC2"/>
              </a:solidFill>
            </c:spPr>
          </c:dPt>
          <c:dPt>
            <c:idx val="11"/>
            <c:spPr>
              <a:solidFill>
                <a:srgbClr val="D9CFC2"/>
              </a:solidFill>
            </c:spPr>
          </c:dPt>
          <c:dPt>
            <c:idx val="12"/>
            <c:spPr>
              <a:solidFill>
                <a:srgbClr val="F3B58A"/>
              </a:solidFill>
            </c:spPr>
          </c:dPt>
          <c:dPt>
            <c:idx val="13"/>
            <c:spPr>
              <a:solidFill>
                <a:srgbClr val="D9CFC2"/>
              </a:solidFill>
            </c:spPr>
          </c:dPt>
          <c:dPt>
            <c:idx val="14"/>
            <c:spPr>
              <a:solidFill>
                <a:srgbClr val="E97132"/>
              </a:solidFill>
            </c:spPr>
          </c:dPt>
          <c:dPt>
            <c:idx val="15"/>
            <c:spPr>
              <a:solidFill>
                <a:srgbClr val="F3B58A"/>
              </a:solidFill>
            </c:spPr>
          </c:dPt>
          <c:dPt>
            <c:idx val="16"/>
            <c:spPr>
              <a:solidFill>
                <a:srgbClr val="D9CFC2"/>
              </a:solidFill>
            </c:spPr>
          </c:dPt>
          <c:dPt>
            <c:idx val="17"/>
            <c:spPr>
              <a:solidFill>
                <a:srgbClr val="D9CFC2"/>
              </a:solidFill>
            </c:spPr>
          </c:dPt>
          <c:dPt>
            <c:idx val="18"/>
            <c:spPr>
              <a:solidFill>
                <a:srgbClr val="F3B58A"/>
              </a:solidFill>
            </c:spPr>
          </c:dPt>
          <c:dPt>
            <c:idx val="19"/>
            <c:spPr>
              <a:solidFill>
                <a:srgbClr val="D9CFC2"/>
              </a:solidFill>
            </c:spPr>
          </c:dPt>
          <c:dPt>
            <c:idx val="20"/>
            <c:spPr>
              <a:solidFill>
                <a:srgbClr val="D9CFC2"/>
              </a:solidFill>
            </c:spPr>
          </c:dPt>
          <c:dPt>
            <c:idx val="21"/>
            <c:spPr>
              <a:solidFill>
                <a:srgbClr val="F3B58A"/>
              </a:solidFill>
            </c:spPr>
          </c:dPt>
          <c:dPt>
            <c:idx val="22"/>
            <c:spPr>
              <a:solidFill>
                <a:srgbClr val="D9CFC2"/>
              </a:solidFill>
            </c:spPr>
          </c:dPt>
          <c:dPt>
            <c:idx val="23"/>
            <c:spPr>
              <a:solidFill>
                <a:srgbClr val="D9CFC2"/>
              </a:solidFill>
            </c:spPr>
          </c:dPt>
          <c:dPt>
            <c:idx val="24"/>
            <c:spPr>
              <a:solidFill>
                <a:srgbClr val="E97132"/>
              </a:solidFill>
            </c:spPr>
          </c:dPt>
          <c:dPt>
            <c:idx val="25"/>
            <c:spPr>
              <a:solidFill>
                <a:srgbClr val="D9CFC2"/>
              </a:solidFill>
            </c:spPr>
          </c:dPt>
          <c:dPt>
            <c:idx val="26"/>
            <c:spPr>
              <a:solidFill>
                <a:srgbClr val="D9CFC2"/>
              </a:solidFill>
            </c:spPr>
          </c:dPt>
          <c:dPt>
            <c:idx val="27"/>
            <c:spPr>
              <a:solidFill>
                <a:srgbClr val="F3B58A"/>
              </a:solidFill>
            </c:spPr>
          </c:dPt>
          <c:dPt>
            <c:idx val="28"/>
            <c:spPr>
              <a:solidFill>
                <a:srgbClr val="D9CFC2"/>
              </a:solidFill>
            </c:spPr>
          </c:dPt>
          <c:dPt>
            <c:idx val="29"/>
            <c:spPr>
              <a:solidFill>
                <a:srgbClr val="D9CFC2"/>
              </a:solidFill>
            </c:spPr>
          </c:dPt>
          <c:dPt>
            <c:idx val="30"/>
            <c:spPr>
              <a:solidFill>
                <a:srgbClr val="F3B58A"/>
              </a:solidFill>
            </c:spPr>
          </c:dPt>
          <c:dPt>
            <c:idx val="31"/>
            <c:spPr>
              <a:solidFill>
                <a:srgbClr val="D9CFC2"/>
              </a:solidFill>
            </c:spPr>
          </c:dPt>
          <c:dPt>
            <c:idx val="32"/>
            <c:spPr>
              <a:solidFill>
                <a:srgbClr val="D9CFC2"/>
              </a:solidFill>
            </c:spPr>
          </c:dPt>
          <c:dPt>
            <c:idx val="33"/>
            <c:spPr>
              <a:solidFill>
                <a:srgbClr val="F3B58A"/>
              </a:solidFill>
            </c:spPr>
          </c:dPt>
          <c:dPt>
            <c:idx val="34"/>
            <c:spPr>
              <a:solidFill>
                <a:srgbClr val="D9CFC2"/>
              </a:solidFill>
            </c:spPr>
          </c:dPt>
          <c:dPt>
            <c:idx val="35"/>
            <c:spPr>
              <a:solidFill>
                <a:srgbClr val="D9CFC2"/>
              </a:solidFill>
            </c:spPr>
          </c:dPt>
          <c:dPt>
            <c:idx val="36"/>
            <c:spPr>
              <a:solidFill>
                <a:srgbClr val="F3B58A"/>
              </a:solidFill>
            </c:spPr>
          </c:dPt>
          <c:dPt>
            <c:idx val="37"/>
            <c:spPr>
              <a:solidFill>
                <a:srgbClr val="D9CFC2"/>
              </a:solidFill>
            </c:spPr>
          </c:dPt>
          <c:dPt>
            <c:idx val="38"/>
            <c:spPr>
              <a:solidFill>
                <a:srgbClr val="D9CFC2"/>
              </a:solidFill>
            </c:spPr>
          </c:dPt>
          <c:dPt>
            <c:idx val="39"/>
            <c:spPr>
              <a:solidFill>
                <a:srgbClr val="E97132"/>
              </a:solidFill>
            </c:spPr>
          </c:dPt>
          <c:dPt>
            <c:idx val="40"/>
            <c:spPr>
              <a:solidFill>
                <a:srgbClr val="D9CFC2"/>
              </a:solidFill>
            </c:spPr>
          </c:dPt>
          <c:dPt>
            <c:idx val="41"/>
            <c:spPr>
              <a:solidFill>
                <a:srgbClr val="D9CFC2"/>
              </a:solidFill>
            </c:spPr>
          </c:dPt>
          <c:dPt>
            <c:idx val="42"/>
            <c:spPr>
              <a:solidFill>
                <a:srgbClr val="F3B58A"/>
              </a:solidFill>
            </c:spPr>
          </c:dPt>
          <c:dPt>
            <c:idx val="43"/>
            <c:spPr>
              <a:solidFill>
                <a:srgbClr val="D9CFC2"/>
              </a:solidFill>
            </c:spPr>
          </c:dPt>
          <c:dPt>
            <c:idx val="44"/>
            <c:spPr>
              <a:solidFill>
                <a:srgbClr val="D9CFC2"/>
              </a:solidFill>
            </c:spPr>
          </c:dPt>
          <c:dPt>
            <c:idx val="45"/>
            <c:spPr>
              <a:solidFill>
                <a:srgbClr val="F3B58A"/>
              </a:solidFill>
            </c:spPr>
          </c:dPt>
          <c:dPt>
            <c:idx val="46"/>
            <c:spPr>
              <a:solidFill>
                <a:srgbClr val="D9CFC2"/>
              </a:solidFill>
            </c:spPr>
          </c:dPt>
          <c:dPt>
            <c:idx val="47"/>
            <c:spPr>
              <a:solidFill>
                <a:srgbClr val="D9CFC2"/>
              </a:solidFill>
            </c:spPr>
          </c:dPt>
          <c:dPt>
            <c:idx val="48"/>
            <c:spPr>
              <a:solidFill>
                <a:srgbClr val="F3B58A"/>
              </a:solidFill>
            </c:spPr>
          </c:dPt>
          <c:dPt>
            <c:idx val="49"/>
            <c:spPr>
              <a:solidFill>
                <a:srgbClr val="E97132"/>
              </a:solidFill>
            </c:spPr>
          </c:dPt>
          <c:dPt>
            <c:idx val="50"/>
            <c:spPr>
              <a:solidFill>
                <a:srgbClr val="D9CFC2"/>
              </a:solidFill>
            </c:spPr>
          </c:dPt>
          <c:dPt>
            <c:idx val="51"/>
            <c:spPr>
              <a:solidFill>
                <a:srgbClr val="F3B58A"/>
              </a:solidFill>
            </c:spPr>
          </c:dPt>
          <c:dPt>
            <c:idx val="52"/>
            <c:spPr>
              <a:solidFill>
                <a:srgbClr val="D9CFC2"/>
              </a:solidFill>
            </c:spPr>
          </c:dPt>
          <c:dPt>
            <c:idx val="53"/>
            <c:spPr>
              <a:solidFill>
                <a:srgbClr val="D9CFC2"/>
              </a:solidFill>
            </c:spPr>
          </c:dPt>
          <c:dPt>
            <c:idx val="54"/>
            <c:spPr>
              <a:solidFill>
                <a:srgbClr val="F3B58A"/>
              </a:solidFill>
            </c:spPr>
          </c:dPt>
          <c:dPt>
            <c:idx val="55"/>
            <c:spPr>
              <a:solidFill>
                <a:srgbClr val="D9CFC2"/>
              </a:solidFill>
            </c:spPr>
          </c:dPt>
          <c:dPt>
            <c:idx val="56"/>
            <c:spPr>
              <a:solidFill>
                <a:srgbClr val="D9CFC2"/>
              </a:solidFill>
            </c:spPr>
          </c:dPt>
          <c:dPt>
            <c:idx val="57"/>
            <c:spPr>
              <a:solidFill>
                <a:srgbClr val="F3B58A"/>
              </a:solidFill>
            </c:spPr>
          </c:dPt>
          <c:dPt>
            <c:idx val="58"/>
            <c:spPr>
              <a:solidFill>
                <a:srgbClr val="D9CFC2"/>
              </a:solidFill>
            </c:spPr>
          </c:dPt>
          <c:dPt>
            <c:idx val="59"/>
            <c:spPr>
              <a:solidFill>
                <a:srgbClr val="E97132"/>
              </a:solidFill>
            </c:spPr>
          </c:dPt>
          <c:dPt>
            <c:idx val="60"/>
            <c:spPr>
              <a:solidFill>
                <a:srgbClr val="F3B58A"/>
              </a:solidFill>
            </c:spPr>
          </c:dPt>
          <c:dPt>
            <c:idx val="61"/>
            <c:spPr>
              <a:solidFill>
                <a:srgbClr val="D9CFC2"/>
              </a:solidFill>
            </c:spPr>
          </c:dPt>
          <c:dPt>
            <c:idx val="62"/>
            <c:spPr>
              <a:solidFill>
                <a:srgbClr val="D9CFC2"/>
              </a:solidFill>
            </c:spPr>
          </c:dPt>
          <c:dPt>
            <c:idx val="63"/>
            <c:spPr>
              <a:solidFill>
                <a:srgbClr val="F3B58A"/>
              </a:solidFill>
            </c:spPr>
          </c:dPt>
          <c:dPt>
            <c:idx val="64"/>
            <c:spPr>
              <a:solidFill>
                <a:srgbClr val="D9CFC2"/>
              </a:solidFill>
            </c:spPr>
          </c:dPt>
          <c:dPt>
            <c:idx val="65"/>
            <c:spPr>
              <a:solidFill>
                <a:srgbClr val="D9CFC2"/>
              </a:solidFill>
            </c:spPr>
          </c:dPt>
          <c:dPt>
            <c:idx val="66"/>
            <c:spPr>
              <a:solidFill>
                <a:srgbClr val="F3B58A"/>
              </a:solidFill>
            </c:spPr>
          </c:dPt>
          <c:dPt>
            <c:idx val="67"/>
            <c:spPr>
              <a:solidFill>
                <a:srgbClr val="D9CFC2"/>
              </a:solidFill>
            </c:spPr>
          </c:dPt>
          <c:dPt>
            <c:idx val="68"/>
            <c:spPr>
              <a:solidFill>
                <a:srgbClr val="D9CFC2"/>
              </a:solidFill>
            </c:spPr>
          </c:dPt>
          <c:dPt>
            <c:idx val="69"/>
            <c:spPr>
              <a:solidFill>
                <a:srgbClr val="E97132"/>
              </a:solidFill>
            </c:spPr>
          </c:dPt>
          <c:dPt>
            <c:idx val="70"/>
            <c:spPr>
              <a:solidFill>
                <a:srgbClr val="F3B58A"/>
              </a:solidFill>
            </c:spPr>
          </c:dPt>
          <c:dPt>
            <c:idx val="71"/>
            <c:spPr>
              <a:solidFill>
                <a:srgbClr val="D9CFC2"/>
              </a:solidFill>
            </c:spPr>
          </c:dPt>
          <c:dPt>
            <c:idx val="72"/>
            <c:spPr>
              <a:solidFill>
                <a:srgbClr val="7A2E0E"/>
              </a:solidFill>
            </c:spPr>
          </c:dPt>
          <c:dPt>
            <c:idx val="73"/>
            <c:spPr>
              <a:solidFill>
                <a:srgbClr val="D9CFC2"/>
              </a:solidFill>
            </c:spPr>
          </c:dPt>
          <c:dPt>
            <c:idx val="74"/>
            <c:spPr>
              <a:solidFill>
                <a:srgbClr val="D9CFC2"/>
              </a:solidFill>
            </c:spPr>
          </c:dPt>
          <c:dPt>
            <c:idx val="75"/>
            <c:spPr>
              <a:solidFill>
                <a:srgbClr val="F3B58A"/>
              </a:solidFill>
            </c:spPr>
          </c:dPt>
          <c:dPt>
            <c:idx val="76"/>
            <c:spPr>
              <a:solidFill>
                <a:srgbClr val="D9CFC2"/>
              </a:solidFill>
            </c:spPr>
          </c:dPt>
          <c:dPt>
            <c:idx val="77"/>
            <c:spPr>
              <a:solidFill>
                <a:srgbClr val="7A2E0E"/>
              </a:solidFill>
            </c:spPr>
          </c:dPt>
          <c:dPt>
            <c:idx val="78"/>
            <c:spPr>
              <a:solidFill>
                <a:srgbClr val="D9CFC2"/>
              </a:solidFill>
            </c:spPr>
          </c:dPt>
          <c:dPt>
            <c:idx val="79"/>
            <c:spPr>
              <a:solidFill>
                <a:srgbClr val="7A2E0E"/>
              </a:solidFill>
            </c:spPr>
          </c:dPt>
          <c:dPt>
            <c:idx val="80"/>
            <c:spPr>
              <a:solidFill>
                <a:srgbClr val="F3B58A"/>
              </a:solidFill>
            </c:spPr>
          </c:dPt>
          <c:dPt>
            <c:idx val="81"/>
            <c:spPr>
              <a:solidFill>
                <a:srgbClr val="D9CFC2"/>
              </a:solidFill>
            </c:spPr>
          </c:dPt>
          <c:dPt>
            <c:idx val="82"/>
            <c:spPr>
              <a:solidFill>
                <a:srgbClr val="D9CFC2"/>
              </a:solidFill>
            </c:spPr>
          </c:dPt>
          <c:dPt>
            <c:idx val="83"/>
            <c:spPr>
              <a:solidFill>
                <a:srgbClr val="F3B58A"/>
              </a:solidFill>
            </c:spPr>
          </c:dPt>
          <c:dPt>
            <c:idx val="84"/>
            <c:spPr>
              <a:solidFill>
                <a:srgbClr val="D9CFC2"/>
              </a:solidFill>
            </c:spPr>
          </c:dPt>
          <c:dPt>
            <c:idx val="85"/>
            <c:spPr>
              <a:solidFill>
                <a:srgbClr val="D9CFC2"/>
              </a:solidFill>
            </c:spPr>
          </c:dPt>
          <c:dPt>
            <c:idx val="86"/>
            <c:spPr>
              <a:solidFill>
                <a:srgbClr val="F3B58A"/>
              </a:solidFill>
            </c:spPr>
          </c:dPt>
          <c:dPt>
            <c:idx val="87"/>
            <c:spPr>
              <a:solidFill>
                <a:srgbClr val="D9CFC2"/>
              </a:solidFill>
            </c:spPr>
          </c:dPt>
          <c:dPt>
            <c:idx val="88"/>
            <c:spPr>
              <a:solidFill>
                <a:srgbClr val="D9CFC2"/>
              </a:solidFill>
            </c:spPr>
          </c:dPt>
          <c:dPt>
            <c:idx val="89"/>
            <c:spPr>
              <a:solidFill>
                <a:srgbClr val="7A2E0E"/>
              </a:solidFill>
            </c:spPr>
          </c:dPt>
          <c:dPt>
            <c:idx val="90"/>
            <c:spPr>
              <a:solidFill>
                <a:srgbClr val="F3B58A"/>
              </a:solidFill>
            </c:spPr>
          </c:dPt>
          <c:dPt>
            <c:idx val="91"/>
            <c:spPr>
              <a:solidFill>
                <a:srgbClr val="D9CFC2"/>
              </a:solidFill>
            </c:spPr>
          </c:dPt>
          <c:dPt>
            <c:idx val="92"/>
            <c:spPr>
              <a:solidFill>
                <a:srgbClr val="D9CFC2"/>
              </a:solidFill>
            </c:spPr>
          </c:dPt>
          <c:dPt>
            <c:idx val="93"/>
            <c:spPr>
              <a:solidFill>
                <a:srgbClr val="7A2E0E"/>
              </a:solidFill>
            </c:spPr>
          </c:dPt>
          <c:dPt>
            <c:idx val="94"/>
            <c:spPr>
              <a:solidFill>
                <a:srgbClr val="F3B58A"/>
              </a:solidFill>
            </c:spPr>
          </c:dPt>
          <c:dPt>
            <c:idx val="95"/>
            <c:spPr>
              <a:solidFill>
                <a:srgbClr val="D9CFC2"/>
              </a:solidFill>
            </c:spPr>
          </c:dPt>
          <c:dPt>
            <c:idx val="96"/>
            <c:spPr>
              <a:solidFill>
                <a:srgbClr val="7A2E0E"/>
              </a:solidFill>
            </c:spPr>
          </c:dPt>
          <c:dPt>
            <c:idx val="97"/>
            <c:spPr>
              <a:solidFill>
                <a:srgbClr val="F3B58A"/>
              </a:solidFill>
            </c:spPr>
          </c:dPt>
          <c:dPt>
            <c:idx val="98"/>
            <c:spPr>
              <a:solidFill>
                <a:srgbClr val="D9CFC2"/>
              </a:solidFill>
            </c:spPr>
          </c:dPt>
          <c:dPt>
            <c:idx val="99"/>
            <c:spPr>
              <a:solidFill>
                <a:srgbClr val="7A2E0E"/>
              </a:solidFill>
            </c:spPr>
          </c:dPt>
          <c:cat>
            <c:strRef>
              <c:f>Sheet1!$A$2:$A$101</c:f>
              <c:strCach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strCache>
            </c:strRef>
          </c:cat>
          <c:val>
            <c:numRef>
              <c:f>Sheet1!$B$2:$B$101</c:f>
              <c:numCache>
                <c:formatCode>General</c:formatCode>
                <c:ptCount val="10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2</c:v>
                </c:pt>
                <c:pt idx="10">
                  <c:v>1</c:v>
                </c:pt>
                <c:pt idx="11">
                  <c:v>1</c:v>
                </c:pt>
                <c:pt idx="12">
                  <c:v>2</c:v>
                </c:pt>
                <c:pt idx="13">
                  <c:v>1</c:v>
                </c:pt>
                <c:pt idx="14">
                  <c:v>4</c:v>
                </c:pt>
                <c:pt idx="15">
                  <c:v>2</c:v>
                </c:pt>
                <c:pt idx="16">
                  <c:v>1</c:v>
                </c:pt>
                <c:pt idx="17">
                  <c:v>1</c:v>
                </c:pt>
                <c:pt idx="18">
                  <c:v>2</c:v>
                </c:pt>
                <c:pt idx="19">
                  <c:v>1</c:v>
                </c:pt>
                <c:pt idx="20">
                  <c:v>1</c:v>
                </c:pt>
                <c:pt idx="21">
                  <c:v>2</c:v>
                </c:pt>
                <c:pt idx="22">
                  <c:v>1</c:v>
                </c:pt>
                <c:pt idx="23">
                  <c:v>1</c:v>
                </c:pt>
                <c:pt idx="24">
                  <c:v>4</c:v>
                </c:pt>
                <c:pt idx="25">
                  <c:v>1</c:v>
                </c:pt>
                <c:pt idx="26">
                  <c:v>1</c:v>
                </c:pt>
                <c:pt idx="27">
                  <c:v>2</c:v>
                </c:pt>
                <c:pt idx="28">
                  <c:v>1</c:v>
                </c:pt>
                <c:pt idx="29">
                  <c:v>1</c:v>
                </c:pt>
                <c:pt idx="30">
                  <c:v>2</c:v>
                </c:pt>
                <c:pt idx="31">
                  <c:v>1</c:v>
                </c:pt>
                <c:pt idx="32">
                  <c:v>1</c:v>
                </c:pt>
                <c:pt idx="33">
                  <c:v>2</c:v>
                </c:pt>
                <c:pt idx="34">
                  <c:v>1</c:v>
                </c:pt>
                <c:pt idx="35">
                  <c:v>1</c:v>
                </c:pt>
                <c:pt idx="36">
                  <c:v>2</c:v>
                </c:pt>
                <c:pt idx="37">
                  <c:v>1</c:v>
                </c:pt>
                <c:pt idx="38">
                  <c:v>1</c:v>
                </c:pt>
                <c:pt idx="39">
                  <c:v>4</c:v>
                </c:pt>
                <c:pt idx="40">
                  <c:v>1</c:v>
                </c:pt>
                <c:pt idx="41">
                  <c:v>1</c:v>
                </c:pt>
                <c:pt idx="42">
                  <c:v>2</c:v>
                </c:pt>
                <c:pt idx="43">
                  <c:v>1</c:v>
                </c:pt>
                <c:pt idx="44">
                  <c:v>1</c:v>
                </c:pt>
                <c:pt idx="45">
                  <c:v>2</c:v>
                </c:pt>
                <c:pt idx="46">
                  <c:v>1</c:v>
                </c:pt>
                <c:pt idx="47">
                  <c:v>1</c:v>
                </c:pt>
                <c:pt idx="48">
                  <c:v>2</c:v>
                </c:pt>
                <c:pt idx="49">
                  <c:v>4</c:v>
                </c:pt>
                <c:pt idx="50">
                  <c:v>1</c:v>
                </c:pt>
                <c:pt idx="51">
                  <c:v>2</c:v>
                </c:pt>
                <c:pt idx="52">
                  <c:v>1</c:v>
                </c:pt>
                <c:pt idx="53">
                  <c:v>1</c:v>
                </c:pt>
                <c:pt idx="54">
                  <c:v>2</c:v>
                </c:pt>
                <c:pt idx="55">
                  <c:v>1</c:v>
                </c:pt>
                <c:pt idx="56">
                  <c:v>1</c:v>
                </c:pt>
                <c:pt idx="57">
                  <c:v>2</c:v>
                </c:pt>
                <c:pt idx="58">
                  <c:v>1</c:v>
                </c:pt>
                <c:pt idx="59">
                  <c:v>4</c:v>
                </c:pt>
                <c:pt idx="60">
                  <c:v>2</c:v>
                </c:pt>
                <c:pt idx="61">
                  <c:v>1</c:v>
                </c:pt>
                <c:pt idx="62">
                  <c:v>1</c:v>
                </c:pt>
                <c:pt idx="63">
                  <c:v>2</c:v>
                </c:pt>
                <c:pt idx="64">
                  <c:v>1</c:v>
                </c:pt>
                <c:pt idx="65">
                  <c:v>1</c:v>
                </c:pt>
                <c:pt idx="66">
                  <c:v>2</c:v>
                </c:pt>
                <c:pt idx="67">
                  <c:v>1</c:v>
                </c:pt>
                <c:pt idx="68">
                  <c:v>1</c:v>
                </c:pt>
                <c:pt idx="69">
                  <c:v>4</c:v>
                </c:pt>
                <c:pt idx="70">
                  <c:v>2</c:v>
                </c:pt>
                <c:pt idx="71">
                  <c:v>1</c:v>
                </c:pt>
                <c:pt idx="72">
                  <c:v>5</c:v>
                </c:pt>
                <c:pt idx="73">
                  <c:v>1</c:v>
                </c:pt>
                <c:pt idx="74">
                  <c:v>1</c:v>
                </c:pt>
                <c:pt idx="75">
                  <c:v>2</c:v>
                </c:pt>
                <c:pt idx="76">
                  <c:v>1</c:v>
                </c:pt>
                <c:pt idx="77">
                  <c:v>5</c:v>
                </c:pt>
                <c:pt idx="78">
                  <c:v>1</c:v>
                </c:pt>
                <c:pt idx="79">
                  <c:v>5</c:v>
                </c:pt>
                <c:pt idx="80">
                  <c:v>2</c:v>
                </c:pt>
                <c:pt idx="81">
                  <c:v>1</c:v>
                </c:pt>
                <c:pt idx="82">
                  <c:v>1</c:v>
                </c:pt>
                <c:pt idx="83">
                  <c:v>2</c:v>
                </c:pt>
                <c:pt idx="84">
                  <c:v>1</c:v>
                </c:pt>
                <c:pt idx="85">
                  <c:v>1</c:v>
                </c:pt>
                <c:pt idx="86">
                  <c:v>2</c:v>
                </c:pt>
                <c:pt idx="87">
                  <c:v>1</c:v>
                </c:pt>
                <c:pt idx="88">
                  <c:v>1</c:v>
                </c:pt>
                <c:pt idx="89">
                  <c:v>5</c:v>
                </c:pt>
                <c:pt idx="90">
                  <c:v>2</c:v>
                </c:pt>
                <c:pt idx="91">
                  <c:v>1</c:v>
                </c:pt>
                <c:pt idx="92">
                  <c:v>1</c:v>
                </c:pt>
                <c:pt idx="93">
                  <c:v>5</c:v>
                </c:pt>
                <c:pt idx="94">
                  <c:v>2</c:v>
                </c:pt>
                <c:pt idx="95">
                  <c:v>1</c:v>
                </c:pt>
                <c:pt idx="96">
                  <c:v>5</c:v>
                </c:pt>
                <c:pt idx="97">
                  <c:v>2</c:v>
                </c:pt>
                <c:pt idx="98">
                  <c:v>1</c:v>
                </c:pt>
                <c:pt idx="99">
                  <c:v>5</c:v>
                </c:pt>
              </c:numCache>
            </c:numRef>
          </c:val>
        </c:ser>
        <c:gapWidth val="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 b="0" i="0">
                    <a:solidFill>
                      <a:srgbClr val="6B5E54"/>
                    </a:solidFill>
                    <a:latin typeface="Noto Sans KR"/>
                    <a:ea typeface="Noto Sans KR"/>
                  </a:rPr>
                  <a:t>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A7ADB7"/>
            </a:solidFill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-2113994440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-2113994440"/>
        <c:scaling>
          <c:max val="5.0"/>
          <c:min val="0.0"/>
        </c:scaling>
        <c:delete val="0"/>
        <c:axPos val="l"/>
        <c:majorGridlines>
          <c:spPr>
            <a:ln>
              <a:solidFill>
                <a:srgbClr val="E7DFD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 i="0">
                    <a:solidFill>
                      <a:srgbClr val="6B5E54"/>
                    </a:solidFill>
                    <a:latin typeface="Noto Sans KR"/>
                    <a:ea typeface="Noto Sans KR"/>
                  </a:rPr>
                  <a:t>등급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000">
          <a:solidFill>
            <a:srgbClr val="6B5E54"/>
          </a:solidFill>
          <a:latin typeface="Noto Sans KR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최고층 1층당 목표 시간 (분)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분/층</c:v>
                </c:pt>
              </c:strCache>
            </c:strRef>
          </c:tx>
          <c:dPt>
            <c:idx val="0"/>
            <c:spPr>
              <a:solidFill>
                <a:srgbClr val="F3B58A"/>
              </a:solidFill>
            </c:spPr>
          </c:dPt>
          <c:dPt>
            <c:idx val="1"/>
            <c:spPr>
              <a:solidFill>
                <a:srgbClr val="E97132"/>
              </a:solidFill>
            </c:spPr>
          </c:dPt>
          <c:dPt>
            <c:idx val="2"/>
            <c:spPr>
              <a:solidFill>
                <a:srgbClr val="7A2E0E"/>
              </a:solidFill>
            </c:spPr>
          </c:dPt>
          <c:dPt>
            <c:idx val="3"/>
            <c:spPr>
              <a:solidFill>
                <a:srgbClr val="F3B58A"/>
              </a:solidFill>
            </c:spPr>
          </c:dPt>
          <c:dPt>
            <c:idx val="4"/>
            <c:spPr>
              <a:solidFill>
                <a:srgbClr val="7A2E0E"/>
              </a:solidFill>
            </c:spPr>
          </c:dPt>
          <c:cat>
            <c:strRef>
              <c:f>Sheet1!$A$2:$A$6</c:f>
              <c:strCache>
                <c:ptCount val="5"/>
                <c:pt idx="0">
                  <c:v>초반
1~15</c:v>
                </c:pt>
                <c:pt idx="1">
                  <c:v>중반
16~70</c:v>
                </c:pt>
                <c:pt idx="2">
                  <c:v>후반 A
71~80</c:v>
                </c:pt>
                <c:pt idx="3">
                  <c:v>후반 B
81~90</c:v>
                </c:pt>
                <c:pt idx="4">
                  <c:v>후반 C
91~100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2.0</c:v>
                </c:pt>
                <c:pt idx="1">
                  <c:v>2.727272727272727</c:v>
                </c:pt>
                <c:pt idx="2">
                  <c:v>6.5</c:v>
                </c:pt>
                <c:pt idx="3">
                  <c:v>4.0</c:v>
                </c:pt>
                <c:pt idx="4">
                  <c:v>4.5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  <a:latin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7ADB7"/>
            </a:solidFill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6B5E54"/>
          </a:solidFill>
          <a:latin typeface="Noto Sans KR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도전 번호별 역대 최고층 · 시작층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역대 최고층</c:v>
                </c:pt>
              </c:strCache>
            </c:strRef>
          </c:tx>
          <c:spPr>
            <a:ln w="28575">
              <a:solidFill>
                <a:srgbClr val="E97132"/>
              </a:solidFill>
            </a:ln>
          </c:spPr>
          <c:marker>
            <c:symbol val="none"/>
          </c:marker>
          <c:cat>
            <c:strRef>
              <c:f>Sheet1!$A$2:$A$63</c:f>
              <c:strCache>
                <c:ptCount val="6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</c:strCache>
            </c:str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3</c:v>
                </c:pt>
                <c:pt idx="1">
                  <c:v>6</c:v>
                </c:pt>
                <c:pt idx="2">
                  <c:v>9</c:v>
                </c:pt>
                <c:pt idx="3">
                  <c:v>12</c:v>
                </c:pt>
                <c:pt idx="4">
                  <c:v>14</c:v>
                </c:pt>
                <c:pt idx="5">
                  <c:v>14</c:v>
                </c:pt>
                <c:pt idx="6">
                  <c:v>15</c:v>
                </c:pt>
                <c:pt idx="7">
                  <c:v>18</c:v>
                </c:pt>
                <c:pt idx="8">
                  <c:v>21</c:v>
                </c:pt>
                <c:pt idx="9">
                  <c:v>24</c:v>
                </c:pt>
                <c:pt idx="10">
                  <c:v>24</c:v>
                </c:pt>
                <c:pt idx="11">
                  <c:v>27</c:v>
                </c:pt>
                <c:pt idx="12">
                  <c:v>30</c:v>
                </c:pt>
                <c:pt idx="13">
                  <c:v>33</c:v>
                </c:pt>
                <c:pt idx="14">
                  <c:v>36</c:v>
                </c:pt>
                <c:pt idx="15">
                  <c:v>39</c:v>
                </c:pt>
                <c:pt idx="16">
                  <c:v>39</c:v>
                </c:pt>
                <c:pt idx="17">
                  <c:v>42</c:v>
                </c:pt>
                <c:pt idx="18">
                  <c:v>45</c:v>
                </c:pt>
                <c:pt idx="19">
                  <c:v>48</c:v>
                </c:pt>
                <c:pt idx="20">
                  <c:v>49</c:v>
                </c:pt>
                <c:pt idx="21">
                  <c:v>49</c:v>
                </c:pt>
                <c:pt idx="22">
                  <c:v>51</c:v>
                </c:pt>
                <c:pt idx="23">
                  <c:v>54</c:v>
                </c:pt>
                <c:pt idx="24">
                  <c:v>57</c:v>
                </c:pt>
                <c:pt idx="25">
                  <c:v>59</c:v>
                </c:pt>
                <c:pt idx="26">
                  <c:v>59</c:v>
                </c:pt>
                <c:pt idx="27">
                  <c:v>60</c:v>
                </c:pt>
                <c:pt idx="28">
                  <c:v>63</c:v>
                </c:pt>
                <c:pt idx="29">
                  <c:v>66</c:v>
                </c:pt>
                <c:pt idx="30">
                  <c:v>69</c:v>
                </c:pt>
                <c:pt idx="31">
                  <c:v>69</c:v>
                </c:pt>
                <c:pt idx="32">
                  <c:v>70</c:v>
                </c:pt>
                <c:pt idx="33">
                  <c:v>72</c:v>
                </c:pt>
                <c:pt idx="34">
                  <c:v>72</c:v>
                </c:pt>
                <c:pt idx="35">
                  <c:v>72</c:v>
                </c:pt>
                <c:pt idx="36">
                  <c:v>75</c:v>
                </c:pt>
                <c:pt idx="37">
                  <c:v>77</c:v>
                </c:pt>
                <c:pt idx="38">
                  <c:v>77</c:v>
                </c:pt>
                <c:pt idx="39">
                  <c:v>77</c:v>
                </c:pt>
                <c:pt idx="40">
                  <c:v>79</c:v>
                </c:pt>
                <c:pt idx="41">
                  <c:v>79</c:v>
                </c:pt>
                <c:pt idx="42">
                  <c:v>79</c:v>
                </c:pt>
                <c:pt idx="43">
                  <c:v>80</c:v>
                </c:pt>
                <c:pt idx="44">
                  <c:v>83</c:v>
                </c:pt>
                <c:pt idx="45">
                  <c:v>86</c:v>
                </c:pt>
                <c:pt idx="46">
                  <c:v>86</c:v>
                </c:pt>
                <c:pt idx="47">
                  <c:v>86</c:v>
                </c:pt>
                <c:pt idx="48">
                  <c:v>89</c:v>
                </c:pt>
                <c:pt idx="49">
                  <c:v>90</c:v>
                </c:pt>
                <c:pt idx="50">
                  <c:v>93</c:v>
                </c:pt>
                <c:pt idx="51">
                  <c:v>93</c:v>
                </c:pt>
                <c:pt idx="52">
                  <c:v>93</c:v>
                </c:pt>
                <c:pt idx="53">
                  <c:v>94</c:v>
                </c:pt>
                <c:pt idx="54">
                  <c:v>96</c:v>
                </c:pt>
                <c:pt idx="55">
                  <c:v>96</c:v>
                </c:pt>
                <c:pt idx="56">
                  <c:v>96</c:v>
                </c:pt>
                <c:pt idx="57">
                  <c:v>97</c:v>
                </c:pt>
                <c:pt idx="58">
                  <c:v>99</c:v>
                </c:pt>
                <c:pt idx="59">
                  <c:v>99</c:v>
                </c:pt>
                <c:pt idx="60">
                  <c:v>99</c:v>
                </c:pt>
                <c:pt idx="61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시작층</c:v>
                </c:pt>
              </c:strCache>
            </c:strRef>
          </c:tx>
          <c:spPr>
            <a:ln w="15875">
              <a:solidFill>
                <a:srgbClr val="3C2D23"/>
              </a:solidFill>
            </a:ln>
          </c:spPr>
          <c:marker>
            <c:symbol val="none"/>
          </c:marker>
          <c:cat>
            <c:strRef>
              <c:f>Sheet1!$A$2:$A$63</c:f>
              <c:strCache>
                <c:ptCount val="6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</c:strCache>
            </c:strRef>
          </c:cat>
          <c:val>
            <c:numRef>
              <c:f>Sheet1!$C$2:$C$63</c:f>
              <c:numCache>
                <c:formatCode>General</c:formatCode>
                <c:ptCount val="6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4</c:v>
                </c:pt>
                <c:pt idx="6">
                  <c:v>4</c:v>
                </c:pt>
                <c:pt idx="7">
                  <c:v>5</c:v>
                </c:pt>
                <c:pt idx="8">
                  <c:v>8</c:v>
                </c:pt>
                <c:pt idx="9">
                  <c:v>11</c:v>
                </c:pt>
                <c:pt idx="10">
                  <c:v>14</c:v>
                </c:pt>
                <c:pt idx="11">
                  <c:v>14</c:v>
                </c:pt>
                <c:pt idx="12">
                  <c:v>17</c:v>
                </c:pt>
                <c:pt idx="13">
                  <c:v>20</c:v>
                </c:pt>
                <c:pt idx="14">
                  <c:v>23</c:v>
                </c:pt>
                <c:pt idx="15">
                  <c:v>26</c:v>
                </c:pt>
                <c:pt idx="16">
                  <c:v>29</c:v>
                </c:pt>
                <c:pt idx="17">
                  <c:v>29</c:v>
                </c:pt>
                <c:pt idx="18">
                  <c:v>32</c:v>
                </c:pt>
                <c:pt idx="19">
                  <c:v>35</c:v>
                </c:pt>
                <c:pt idx="20">
                  <c:v>38</c:v>
                </c:pt>
                <c:pt idx="21">
                  <c:v>39</c:v>
                </c:pt>
                <c:pt idx="22">
                  <c:v>39</c:v>
                </c:pt>
                <c:pt idx="23">
                  <c:v>41</c:v>
                </c:pt>
                <c:pt idx="24">
                  <c:v>44</c:v>
                </c:pt>
                <c:pt idx="25">
                  <c:v>47</c:v>
                </c:pt>
                <c:pt idx="26">
                  <c:v>49</c:v>
                </c:pt>
                <c:pt idx="27">
                  <c:v>49</c:v>
                </c:pt>
                <c:pt idx="28">
                  <c:v>50</c:v>
                </c:pt>
                <c:pt idx="29">
                  <c:v>53</c:v>
                </c:pt>
                <c:pt idx="30">
                  <c:v>56</c:v>
                </c:pt>
                <c:pt idx="31">
                  <c:v>59</c:v>
                </c:pt>
                <c:pt idx="32">
                  <c:v>59</c:v>
                </c:pt>
                <c:pt idx="33">
                  <c:v>60</c:v>
                </c:pt>
                <c:pt idx="34">
                  <c:v>67</c:v>
                </c:pt>
                <c:pt idx="35">
                  <c:v>67</c:v>
                </c:pt>
                <c:pt idx="36">
                  <c:v>67</c:v>
                </c:pt>
                <c:pt idx="37">
                  <c:v>70</c:v>
                </c:pt>
                <c:pt idx="38">
                  <c:v>72</c:v>
                </c:pt>
                <c:pt idx="39">
                  <c:v>72</c:v>
                </c:pt>
                <c:pt idx="40">
                  <c:v>72</c:v>
                </c:pt>
                <c:pt idx="41">
                  <c:v>74</c:v>
                </c:pt>
                <c:pt idx="42">
                  <c:v>74</c:v>
                </c:pt>
                <c:pt idx="43">
                  <c:v>74</c:v>
                </c:pt>
                <c:pt idx="44">
                  <c:v>75</c:v>
                </c:pt>
                <c:pt idx="45">
                  <c:v>78</c:v>
                </c:pt>
                <c:pt idx="46">
                  <c:v>81</c:v>
                </c:pt>
                <c:pt idx="47">
                  <c:v>81</c:v>
                </c:pt>
                <c:pt idx="48">
                  <c:v>81</c:v>
                </c:pt>
                <c:pt idx="49">
                  <c:v>84</c:v>
                </c:pt>
                <c:pt idx="50">
                  <c:v>85</c:v>
                </c:pt>
                <c:pt idx="51">
                  <c:v>88</c:v>
                </c:pt>
                <c:pt idx="52">
                  <c:v>88</c:v>
                </c:pt>
                <c:pt idx="53">
                  <c:v>88</c:v>
                </c:pt>
                <c:pt idx="54">
                  <c:v>89</c:v>
                </c:pt>
                <c:pt idx="55">
                  <c:v>91</c:v>
                </c:pt>
                <c:pt idx="56">
                  <c:v>91</c:v>
                </c:pt>
                <c:pt idx="57">
                  <c:v>91</c:v>
                </c:pt>
                <c:pt idx="58">
                  <c:v>92</c:v>
                </c:pt>
                <c:pt idx="59">
                  <c:v>94</c:v>
                </c:pt>
                <c:pt idx="60">
                  <c:v>94</c:v>
                </c:pt>
                <c:pt idx="61">
                  <c:v>94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 b="0" i="0">
                    <a:solidFill>
                      <a:srgbClr val="6B5E54"/>
                    </a:solidFill>
                    <a:latin typeface="Noto Sans KR"/>
                    <a:ea typeface="Noto Sans KR"/>
                  </a:rPr>
                  <a:t>도전 번호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A7ADB7"/>
            </a:solidFill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2140495176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7DFD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 i="0">
                    <a:solidFill>
                      <a:srgbClr val="6B5E54"/>
                    </a:solidFill>
                    <a:latin typeface="Noto Sans KR"/>
                    <a:ea typeface="Noto Sans KR"/>
                  </a:rPr>
                  <a:t>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2118791784"/>
        <c:crosses val="autoZero"/>
        <c:majorUnit val="20.0"/>
      </c:valAx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6B5E54"/>
              </a:solidFill>
              <a:latin typeface="Noto Sans KR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6B5E54"/>
          </a:solidFill>
          <a:latin typeface="Noto Sans KR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허들 층별 횟수 비교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 재시작</c:v>
                </c:pt>
              </c:strCache>
            </c:strRef>
          </c:tx>
          <c:spPr>
            <a:solidFill>
              <a:srgbClr val="F3B58A"/>
            </a:solidFill>
          </c:spPr>
          <c:cat>
            <c:strRef>
              <c:f>Sheet1!$A$2:$A$14</c:f>
              <c:strCache>
                <c:ptCount val="13"/>
                <c:pt idx="0">
                  <c:v>15</c:v>
                </c:pt>
                <c:pt idx="1">
                  <c:v>25</c:v>
                </c:pt>
                <c:pt idx="2">
                  <c:v>40</c:v>
                </c:pt>
                <c:pt idx="3">
                  <c:v>50</c:v>
                </c:pt>
                <c:pt idx="4">
                  <c:v>60</c:v>
                </c:pt>
                <c:pt idx="5">
                  <c:v>70</c:v>
                </c:pt>
                <c:pt idx="6">
                  <c:v>73</c:v>
                </c:pt>
                <c:pt idx="7">
                  <c:v>78</c:v>
                </c:pt>
                <c:pt idx="8">
                  <c:v>80</c:v>
                </c:pt>
                <c:pt idx="9">
                  <c:v>90</c:v>
                </c:pt>
                <c:pt idx="10">
                  <c:v>94</c:v>
                </c:pt>
                <c:pt idx="11">
                  <c:v>97</c:v>
                </c:pt>
                <c:pt idx="12">
                  <c:v>100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시뮬레이션 실패 (실패 1회 = +1단계)</c:v>
                </c:pt>
              </c:strCache>
            </c:strRef>
          </c:tx>
          <c:spPr>
            <a:solidFill>
              <a:srgbClr val="7A2E0E"/>
            </a:solidFill>
          </c:spPr>
          <c:cat>
            <c:strRef>
              <c:f>Sheet1!$A$2:$A$14</c:f>
              <c:strCache>
                <c:ptCount val="13"/>
                <c:pt idx="0">
                  <c:v>15</c:v>
                </c:pt>
                <c:pt idx="1">
                  <c:v>25</c:v>
                </c:pt>
                <c:pt idx="2">
                  <c:v>40</c:v>
                </c:pt>
                <c:pt idx="3">
                  <c:v>50</c:v>
                </c:pt>
                <c:pt idx="4">
                  <c:v>60</c:v>
                </c:pt>
                <c:pt idx="5">
                  <c:v>70</c:v>
                </c:pt>
                <c:pt idx="6">
                  <c:v>73</c:v>
                </c:pt>
                <c:pt idx="7">
                  <c:v>78</c:v>
                </c:pt>
                <c:pt idx="8">
                  <c:v>80</c:v>
                </c:pt>
                <c:pt idx="9">
                  <c:v>90</c:v>
                </c:pt>
                <c:pt idx="10">
                  <c:v>94</c:v>
                </c:pt>
                <c:pt idx="11">
                  <c:v>97</c:v>
                </c:pt>
                <c:pt idx="12">
                  <c:v>100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1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 b="0">
                  <a:solidFill>
                    <a:srgbClr val="000000"/>
                  </a:solidFill>
                  <a:latin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 b="0" i="0">
                    <a:solidFill>
                      <a:srgbClr val="6B5E54"/>
                    </a:solidFill>
                    <a:latin typeface="Noto Sans KR"/>
                    <a:ea typeface="Noto Sans KR"/>
                  </a:rPr>
                  <a:t>허들 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A7ADB7"/>
            </a:solidFill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0"/>
          <c:min val="0.0"/>
        </c:scaling>
        <c:delete val="0"/>
        <c:axPos val="l"/>
        <c:majorGridlines>
          <c:spPr>
            <a:ln>
              <a:solidFill>
                <a:srgbClr val="E7DFD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 i="0">
                    <a:solidFill>
                      <a:srgbClr val="6B5E54"/>
                    </a:solidFill>
                    <a:latin typeface="Noto Sans KR"/>
                    <a:ea typeface="Noto Sans KR"/>
                  </a:rPr>
                  <a:t>회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-2068027336"/>
        <c:crosses val="autoZero"/>
        <c:majorUnit val="1.0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6B5E54"/>
              </a:solidFill>
              <a:latin typeface="Noto Sans KR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6B5E54"/>
          </a:solidFill>
          <a:latin typeface="Noto Sans KR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요구 전투력 (log)</c:v>
                </c:pt>
              </c:strCache>
            </c:strRef>
          </c:tx>
          <c:spPr>
            <a:ln w="34925">
              <a:solidFill>
                <a:srgbClr val="E97132"/>
              </a:solidFill>
            </a:ln>
          </c:spPr>
          <c:marker>
            <c:symbol val="none"/>
          </c:marker>
          <c:cat>
            <c:strRef>
              <c:f>Sheet1!$A$2:$A$101</c:f>
              <c:strCach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strCache>
            </c:strRef>
          </c:cat>
          <c:val>
            <c:numRef>
              <c:f>Sheet1!$B$2:$B$101</c:f>
              <c:numCache>
                <c:formatCode>General</c:formatCode>
                <c:ptCount val="100"/>
                <c:pt idx="0">
                  <c:v>0.0</c:v>
                </c:pt>
                <c:pt idx="1">
                  <c:v>0.41140139661868996</c:v>
                </c:pt>
                <c:pt idx="2">
                  <c:v>0.7050942886328305</c:v>
                </c:pt>
                <c:pt idx="3">
                  <c:v>1.0684568519126416</c:v>
                </c:pt>
                <c:pt idx="4">
                  <c:v>1.2962780795364652</c:v>
                </c:pt>
                <c:pt idx="5">
                  <c:v>1.512290443416786</c:v>
                </c:pt>
                <c:pt idx="6">
                  <c:v>1.8353910257461252</c:v>
                </c:pt>
                <c:pt idx="7">
                  <c:v>2.0404307320765844</c:v>
                </c:pt>
                <c:pt idx="8">
                  <c:v>2.2429466007443075</c:v>
                </c:pt>
                <c:pt idx="9">
                  <c:v>2.5578396052177776</c:v>
                </c:pt>
                <c:pt idx="10">
                  <c:v>2.7578098581143538</c:v>
                </c:pt>
                <c:pt idx="11">
                  <c:v>2.957164738824998</c:v>
                </c:pt>
                <c:pt idx="12">
                  <c:v>3.269408641542056</c:v>
                </c:pt>
                <c:pt idx="13">
                  <c:v>3.467709191952276</c:v>
                </c:pt>
                <c:pt idx="14">
                  <c:v>3.89389644697617</c:v>
                </c:pt>
                <c:pt idx="15">
                  <c:v>4.206140349693228</c:v>
                </c:pt>
                <c:pt idx="16">
                  <c:v>4.404440900103448</c:v>
                </c:pt>
                <c:pt idx="17">
                  <c:v>4.602741450513668</c:v>
                </c:pt>
                <c:pt idx="18">
                  <c:v>4.914985353230726</c:v>
                </c:pt>
                <c:pt idx="19">
                  <c:v>5.113285903640946</c:v>
                </c:pt>
                <c:pt idx="20">
                  <c:v>5.311586454051167</c:v>
                </c:pt>
                <c:pt idx="21">
                  <c:v>5.623830356768224</c:v>
                </c:pt>
                <c:pt idx="22">
                  <c:v>5.822130907178445</c:v>
                </c:pt>
                <c:pt idx="23">
                  <c:v>6.020431457588665</c:v>
                </c:pt>
                <c:pt idx="24">
                  <c:v>6.446618712612559</c:v>
                </c:pt>
                <c:pt idx="25">
                  <c:v>6.644919263022779</c:v>
                </c:pt>
                <c:pt idx="26">
                  <c:v>6.843219813433</c:v>
                </c:pt>
                <c:pt idx="27">
                  <c:v>7.155463716150058</c:v>
                </c:pt>
                <c:pt idx="28">
                  <c:v>7.353764266560278</c:v>
                </c:pt>
                <c:pt idx="29">
                  <c:v>7.552064816970498</c:v>
                </c:pt>
                <c:pt idx="30">
                  <c:v>7.864308719687555</c:v>
                </c:pt>
                <c:pt idx="31">
                  <c:v>8.062609270097775</c:v>
                </c:pt>
                <c:pt idx="32">
                  <c:v>8.260909820507996</c:v>
                </c:pt>
                <c:pt idx="33">
                  <c:v>8.573153723225055</c:v>
                </c:pt>
                <c:pt idx="34">
                  <c:v>8.771454273635275</c:v>
                </c:pt>
                <c:pt idx="35">
                  <c:v>8.969754824045495</c:v>
                </c:pt>
                <c:pt idx="36">
                  <c:v>9.281998726762552</c:v>
                </c:pt>
                <c:pt idx="37">
                  <c:v>9.480299277172772</c:v>
                </c:pt>
                <c:pt idx="38">
                  <c:v>9.678599827582993</c:v>
                </c:pt>
                <c:pt idx="39">
                  <c:v>10.104787082606887</c:v>
                </c:pt>
                <c:pt idx="40">
                  <c:v>10.303087633017107</c:v>
                </c:pt>
                <c:pt idx="41">
                  <c:v>10.501388183427329</c:v>
                </c:pt>
                <c:pt idx="42">
                  <c:v>10.813632086144386</c:v>
                </c:pt>
                <c:pt idx="43">
                  <c:v>11.011932636554606</c:v>
                </c:pt>
                <c:pt idx="44">
                  <c:v>11.210233186964826</c:v>
                </c:pt>
                <c:pt idx="45">
                  <c:v>11.522477089681884</c:v>
                </c:pt>
                <c:pt idx="46">
                  <c:v>11.720777640092104</c:v>
                </c:pt>
                <c:pt idx="47">
                  <c:v>11.919078190502324</c:v>
                </c:pt>
                <c:pt idx="48">
                  <c:v>12.231322093219381</c:v>
                </c:pt>
                <c:pt idx="49">
                  <c:v>12.657509348243275</c:v>
                </c:pt>
                <c:pt idx="50">
                  <c:v>12.855809898653495</c:v>
                </c:pt>
                <c:pt idx="51">
                  <c:v>13.168053801370554</c:v>
                </c:pt>
                <c:pt idx="52">
                  <c:v>13.366354351780775</c:v>
                </c:pt>
                <c:pt idx="53">
                  <c:v>13.564654902190995</c:v>
                </c:pt>
                <c:pt idx="54">
                  <c:v>13.876898804908052</c:v>
                </c:pt>
                <c:pt idx="55">
                  <c:v>14.075199355318272</c:v>
                </c:pt>
                <c:pt idx="56">
                  <c:v>14.273499905728492</c:v>
                </c:pt>
                <c:pt idx="57">
                  <c:v>14.58574380844555</c:v>
                </c:pt>
                <c:pt idx="58">
                  <c:v>14.78404435885577</c:v>
                </c:pt>
                <c:pt idx="59">
                  <c:v>15.210231613879664</c:v>
                </c:pt>
                <c:pt idx="60">
                  <c:v>15.522475516596721</c:v>
                </c:pt>
                <c:pt idx="61">
                  <c:v>15.720776067006943</c:v>
                </c:pt>
                <c:pt idx="62">
                  <c:v>15.919076617417163</c:v>
                </c:pt>
                <c:pt idx="63">
                  <c:v>16.23132052013422</c:v>
                </c:pt>
                <c:pt idx="64">
                  <c:v>16.429621070544442</c:v>
                </c:pt>
                <c:pt idx="65">
                  <c:v>16.627921620954663</c:v>
                </c:pt>
                <c:pt idx="66">
                  <c:v>16.94016552367172</c:v>
                </c:pt>
                <c:pt idx="67">
                  <c:v>17.13846607408194</c:v>
                </c:pt>
                <c:pt idx="68">
                  <c:v>17.33676662449216</c:v>
                </c:pt>
                <c:pt idx="69">
                  <c:v>17.762953879516054</c:v>
                </c:pt>
                <c:pt idx="70">
                  <c:v>18.07519778223311</c:v>
                </c:pt>
                <c:pt idx="71">
                  <c:v>18.257170723922396</c:v>
                </c:pt>
                <c:pt idx="72">
                  <c:v>18.797301331253127</c:v>
                </c:pt>
                <c:pt idx="73">
                  <c:v>18.995601881663347</c:v>
                </c:pt>
                <c:pt idx="74">
                  <c:v>19.193902432073568</c:v>
                </c:pt>
                <c:pt idx="75">
                  <c:v>19.506146334790625</c:v>
                </c:pt>
                <c:pt idx="76">
                  <c:v>19.70444688520085</c:v>
                </c:pt>
                <c:pt idx="77">
                  <c:v>20.244577492531576</c:v>
                </c:pt>
                <c:pt idx="78">
                  <c:v>20.4428780429418</c:v>
                </c:pt>
                <c:pt idx="79">
                  <c:v>20.983008650272527</c:v>
                </c:pt>
                <c:pt idx="80">
                  <c:v>21.295252552989588</c:v>
                </c:pt>
                <c:pt idx="81">
                  <c:v>21.493553103399808</c:v>
                </c:pt>
                <c:pt idx="82">
                  <c:v>21.69185365381003</c:v>
                </c:pt>
                <c:pt idx="83">
                  <c:v>22.004097556527086</c:v>
                </c:pt>
                <c:pt idx="84">
                  <c:v>22.202398106937306</c:v>
                </c:pt>
                <c:pt idx="85">
                  <c:v>22.400698657347526</c:v>
                </c:pt>
                <c:pt idx="86">
                  <c:v>22.712942560064583</c:v>
                </c:pt>
                <c:pt idx="87">
                  <c:v>22.911243110474803</c:v>
                </c:pt>
                <c:pt idx="88">
                  <c:v>23.109543660885024</c:v>
                </c:pt>
                <c:pt idx="89">
                  <c:v>23.649674268215755</c:v>
                </c:pt>
                <c:pt idx="90">
                  <c:v>23.96191817093281</c:v>
                </c:pt>
                <c:pt idx="91">
                  <c:v>24.160218721343032</c:v>
                </c:pt>
                <c:pt idx="92">
                  <c:v>24.358519271753252</c:v>
                </c:pt>
                <c:pt idx="93">
                  <c:v>24.898649879083983</c:v>
                </c:pt>
                <c:pt idx="94">
                  <c:v>25.21089378180104</c:v>
                </c:pt>
                <c:pt idx="95">
                  <c:v>25.40919433221126</c:v>
                </c:pt>
                <c:pt idx="96">
                  <c:v>25.94932493954199</c:v>
                </c:pt>
                <c:pt idx="97">
                  <c:v>26.26156884225905</c:v>
                </c:pt>
                <c:pt idx="98">
                  <c:v>26.45986939266927</c:v>
                </c:pt>
                <c:pt idx="99">
                  <c:v>27.0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 b="0" i="0">
                    <a:solidFill>
                      <a:srgbClr val="6B5E54"/>
                    </a:solidFill>
                    <a:latin typeface="Noto Sans KR"/>
                    <a:ea typeface="Noto Sans KR"/>
                  </a:rPr>
                  <a:t>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A7ADB7"/>
            </a:solidFill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2140495176"/>
        <c:crosses val="autoZero"/>
        <c:auto val="1"/>
        <c:lblAlgn val="ctr"/>
        <c:lblOffset val="100"/>
        <c:tickLblSkip val="20"/>
        <c:tickMarkSkip val="20"/>
        <c:noMultiLvlLbl val="0"/>
      </c:catAx>
      <c:valAx>
        <c:axId val="2140495176"/>
        <c:scaling>
          <c:max val="27.0"/>
          <c:min val="0.0"/>
        </c:scaling>
        <c:delete val="0"/>
        <c:axPos val="l"/>
        <c:majorGridlines>
          <c:spPr>
            <a:ln>
              <a:solidFill>
                <a:srgbClr val="E7DFD2"/>
              </a:solidFill>
            </a:ln>
          </c:spPr>
        </c:majorGridlines>
        <c:numFmt formatCode="&quot;10^&quot;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2118791784"/>
        <c:crosses val="autoZero"/>
        <c:majorUnit val="9.0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6B5E54"/>
          </a:solidFill>
          <a:latin typeface="Noto Sans KR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기록별 선택 가능한 최고 시작층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역대 최고 기록 r</c:v>
                </c:pt>
              </c:strCache>
            </c:strRef>
          </c:tx>
          <c:spPr>
            <a:ln w="19050">
              <a:solidFill>
                <a:srgbClr val="D9CFC2"/>
              </a:solidFill>
              <a:prstDash val="dash"/>
            </a:ln>
          </c:spPr>
          <c:marker>
            <c:symbol val="none"/>
          </c:marker>
          <c:cat>
            <c:strRef>
              <c:f>Sheet1!$A$2:$A$101</c:f>
              <c:strCach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strCache>
            </c:strRef>
          </c:cat>
          <c:val>
            <c:numRef>
              <c:f>Sheet1!$B$2:$B$101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고를 수 있는 가장 높은 시작층</c:v>
                </c:pt>
              </c:strCache>
            </c:strRef>
          </c:tx>
          <c:spPr>
            <a:ln w="34925">
              <a:solidFill>
                <a:srgbClr val="E97132"/>
              </a:solidFill>
            </a:ln>
          </c:spPr>
          <c:marker>
            <c:symbol val="none"/>
          </c:marker>
          <c:cat>
            <c:strRef>
              <c:f>Sheet1!$A$2:$A$101</c:f>
              <c:strCach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strCache>
            </c:strRef>
          </c:cat>
          <c:val>
            <c:numRef>
              <c:f>Sheet1!$C$2:$C$101</c:f>
              <c:numCache>
                <c:formatCode>General</c:formatCode>
                <c:ptCount val="10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2</c:v>
                </c:pt>
                <c:pt idx="12">
                  <c:v>3</c:v>
                </c:pt>
                <c:pt idx="13">
                  <c:v>4</c:v>
                </c:pt>
                <c:pt idx="14">
                  <c:v>5</c:v>
                </c:pt>
                <c:pt idx="15">
                  <c:v>6</c:v>
                </c:pt>
                <c:pt idx="16">
                  <c:v>7</c:v>
                </c:pt>
                <c:pt idx="17">
                  <c:v>8</c:v>
                </c:pt>
                <c:pt idx="18">
                  <c:v>9</c:v>
                </c:pt>
                <c:pt idx="19">
                  <c:v>10</c:v>
                </c:pt>
                <c:pt idx="20">
                  <c:v>11</c:v>
                </c:pt>
                <c:pt idx="21">
                  <c:v>12</c:v>
                </c:pt>
                <c:pt idx="22">
                  <c:v>13</c:v>
                </c:pt>
                <c:pt idx="23">
                  <c:v>14</c:v>
                </c:pt>
                <c:pt idx="24">
                  <c:v>15</c:v>
                </c:pt>
                <c:pt idx="25">
                  <c:v>16</c:v>
                </c:pt>
                <c:pt idx="26">
                  <c:v>17</c:v>
                </c:pt>
                <c:pt idx="27">
                  <c:v>18</c:v>
                </c:pt>
                <c:pt idx="28">
                  <c:v>19</c:v>
                </c:pt>
                <c:pt idx="29">
                  <c:v>20</c:v>
                </c:pt>
                <c:pt idx="30">
                  <c:v>21</c:v>
                </c:pt>
                <c:pt idx="31">
                  <c:v>22</c:v>
                </c:pt>
                <c:pt idx="32">
                  <c:v>23</c:v>
                </c:pt>
                <c:pt idx="33">
                  <c:v>24</c:v>
                </c:pt>
                <c:pt idx="34">
                  <c:v>25</c:v>
                </c:pt>
                <c:pt idx="35">
                  <c:v>26</c:v>
                </c:pt>
                <c:pt idx="36">
                  <c:v>27</c:v>
                </c:pt>
                <c:pt idx="37">
                  <c:v>28</c:v>
                </c:pt>
                <c:pt idx="38">
                  <c:v>29</c:v>
                </c:pt>
                <c:pt idx="39">
                  <c:v>30</c:v>
                </c:pt>
                <c:pt idx="40">
                  <c:v>31</c:v>
                </c:pt>
                <c:pt idx="41">
                  <c:v>32</c:v>
                </c:pt>
                <c:pt idx="42">
                  <c:v>33</c:v>
                </c:pt>
                <c:pt idx="43">
                  <c:v>34</c:v>
                </c:pt>
                <c:pt idx="44">
                  <c:v>35</c:v>
                </c:pt>
                <c:pt idx="45">
                  <c:v>36</c:v>
                </c:pt>
                <c:pt idx="46">
                  <c:v>37</c:v>
                </c:pt>
                <c:pt idx="47">
                  <c:v>38</c:v>
                </c:pt>
                <c:pt idx="48">
                  <c:v>39</c:v>
                </c:pt>
                <c:pt idx="49">
                  <c:v>40</c:v>
                </c:pt>
                <c:pt idx="50">
                  <c:v>41</c:v>
                </c:pt>
                <c:pt idx="51">
                  <c:v>42</c:v>
                </c:pt>
                <c:pt idx="52">
                  <c:v>43</c:v>
                </c:pt>
                <c:pt idx="53">
                  <c:v>44</c:v>
                </c:pt>
                <c:pt idx="54">
                  <c:v>45</c:v>
                </c:pt>
                <c:pt idx="55">
                  <c:v>46</c:v>
                </c:pt>
                <c:pt idx="56">
                  <c:v>47</c:v>
                </c:pt>
                <c:pt idx="57">
                  <c:v>48</c:v>
                </c:pt>
                <c:pt idx="58">
                  <c:v>49</c:v>
                </c:pt>
                <c:pt idx="59">
                  <c:v>50</c:v>
                </c:pt>
                <c:pt idx="60">
                  <c:v>51</c:v>
                </c:pt>
                <c:pt idx="61">
                  <c:v>52</c:v>
                </c:pt>
                <c:pt idx="62">
                  <c:v>53</c:v>
                </c:pt>
                <c:pt idx="63">
                  <c:v>54</c:v>
                </c:pt>
                <c:pt idx="64">
                  <c:v>55</c:v>
                </c:pt>
                <c:pt idx="65">
                  <c:v>56</c:v>
                </c:pt>
                <c:pt idx="66">
                  <c:v>57</c:v>
                </c:pt>
                <c:pt idx="67">
                  <c:v>58</c:v>
                </c:pt>
                <c:pt idx="68">
                  <c:v>59</c:v>
                </c:pt>
                <c:pt idx="69">
                  <c:v>60</c:v>
                </c:pt>
                <c:pt idx="70">
                  <c:v>66</c:v>
                </c:pt>
                <c:pt idx="71">
                  <c:v>67</c:v>
                </c:pt>
                <c:pt idx="72">
                  <c:v>68</c:v>
                </c:pt>
                <c:pt idx="73">
                  <c:v>69</c:v>
                </c:pt>
                <c:pt idx="74">
                  <c:v>70</c:v>
                </c:pt>
                <c:pt idx="75">
                  <c:v>71</c:v>
                </c:pt>
                <c:pt idx="76">
                  <c:v>72</c:v>
                </c:pt>
                <c:pt idx="77">
                  <c:v>73</c:v>
                </c:pt>
                <c:pt idx="78">
                  <c:v>74</c:v>
                </c:pt>
                <c:pt idx="79">
                  <c:v>75</c:v>
                </c:pt>
                <c:pt idx="80">
                  <c:v>76</c:v>
                </c:pt>
                <c:pt idx="81">
                  <c:v>77</c:v>
                </c:pt>
                <c:pt idx="82">
                  <c:v>78</c:v>
                </c:pt>
                <c:pt idx="83">
                  <c:v>79</c:v>
                </c:pt>
                <c:pt idx="84">
                  <c:v>80</c:v>
                </c:pt>
                <c:pt idx="85">
                  <c:v>81</c:v>
                </c:pt>
                <c:pt idx="86">
                  <c:v>82</c:v>
                </c:pt>
                <c:pt idx="87">
                  <c:v>83</c:v>
                </c:pt>
                <c:pt idx="88">
                  <c:v>84</c:v>
                </c:pt>
                <c:pt idx="89">
                  <c:v>85</c:v>
                </c:pt>
                <c:pt idx="90">
                  <c:v>86</c:v>
                </c:pt>
                <c:pt idx="91">
                  <c:v>87</c:v>
                </c:pt>
                <c:pt idx="92">
                  <c:v>88</c:v>
                </c:pt>
                <c:pt idx="93">
                  <c:v>89</c:v>
                </c:pt>
                <c:pt idx="94">
                  <c:v>90</c:v>
                </c:pt>
                <c:pt idx="95">
                  <c:v>91</c:v>
                </c:pt>
                <c:pt idx="96">
                  <c:v>92</c:v>
                </c:pt>
                <c:pt idx="97">
                  <c:v>93</c:v>
                </c:pt>
                <c:pt idx="98">
                  <c:v>94</c:v>
                </c:pt>
                <c:pt idx="99">
                  <c:v>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 b="0" i="0">
                    <a:solidFill>
                      <a:srgbClr val="6B5E54"/>
                    </a:solidFill>
                    <a:latin typeface="Noto Sans KR"/>
                    <a:ea typeface="Noto Sans KR"/>
                  </a:rPr>
                  <a:t>역대 최고 기록 (층)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A7ADB7"/>
            </a:solidFill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2140495176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7DFD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 i="0">
                    <a:solidFill>
                      <a:srgbClr val="6B5E54"/>
                    </a:solidFill>
                    <a:latin typeface="Noto Sans KR"/>
                    <a:ea typeface="Noto Sans KR"/>
                  </a:rPr>
                  <a:t>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2118791784"/>
        <c:crosses val="autoZero"/>
        <c:majorUnit val="20.0"/>
      </c:valAx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6B5E54"/>
              </a:solidFill>
              <a:latin typeface="Noto Sans KR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6B5E54"/>
          </a:solidFill>
          <a:latin typeface="Noto Sans KR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층별 요구 전투력 (로그 눈금)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요구 전투력</c:v>
                </c:pt>
              </c:strCache>
            </c:strRef>
          </c:tx>
          <c:spPr>
            <a:ln w="34925">
              <a:solidFill>
                <a:srgbClr val="E97132"/>
              </a:solidFill>
            </a:ln>
          </c:spPr>
          <c:marker>
            <c:symbol val="none"/>
          </c:marker>
          <c:cat>
            <c:strRef>
              <c:f>Sheet1!$A$2:$A$101</c:f>
              <c:strCach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strCache>
            </c:strRef>
          </c:cat>
          <c:val>
            <c:numRef>
              <c:f>Sheet1!$B$2:$B$101</c:f>
              <c:numCache>
                <c:formatCode>General</c:formatCode>
                <c:ptCount val="100"/>
                <c:pt idx="0">
                  <c:v>0.0</c:v>
                </c:pt>
                <c:pt idx="1">
                  <c:v>0.41140139661868996</c:v>
                </c:pt>
                <c:pt idx="2">
                  <c:v>0.7050942886328305</c:v>
                </c:pt>
                <c:pt idx="3">
                  <c:v>1.0684568519126416</c:v>
                </c:pt>
                <c:pt idx="4">
                  <c:v>1.2962780795364652</c:v>
                </c:pt>
                <c:pt idx="5">
                  <c:v>1.512290443416786</c:v>
                </c:pt>
                <c:pt idx="6">
                  <c:v>1.8353910257461252</c:v>
                </c:pt>
                <c:pt idx="7">
                  <c:v>2.0404307320765844</c:v>
                </c:pt>
                <c:pt idx="8">
                  <c:v>2.2429466007443075</c:v>
                </c:pt>
                <c:pt idx="9">
                  <c:v>2.5578396052177776</c:v>
                </c:pt>
                <c:pt idx="10">
                  <c:v>2.7578098581143538</c:v>
                </c:pt>
                <c:pt idx="11">
                  <c:v>2.957164738824998</c:v>
                </c:pt>
                <c:pt idx="12">
                  <c:v>3.269408641542056</c:v>
                </c:pt>
                <c:pt idx="13">
                  <c:v>3.467709191952276</c:v>
                </c:pt>
                <c:pt idx="14">
                  <c:v>3.89389644697617</c:v>
                </c:pt>
                <c:pt idx="15">
                  <c:v>4.206140349693228</c:v>
                </c:pt>
                <c:pt idx="16">
                  <c:v>4.404440900103448</c:v>
                </c:pt>
                <c:pt idx="17">
                  <c:v>4.602741450513668</c:v>
                </c:pt>
                <c:pt idx="18">
                  <c:v>4.914985353230726</c:v>
                </c:pt>
                <c:pt idx="19">
                  <c:v>5.113285903640946</c:v>
                </c:pt>
                <c:pt idx="20">
                  <c:v>5.311586454051167</c:v>
                </c:pt>
                <c:pt idx="21">
                  <c:v>5.623830356768224</c:v>
                </c:pt>
                <c:pt idx="22">
                  <c:v>5.822130907178445</c:v>
                </c:pt>
                <c:pt idx="23">
                  <c:v>6.020431457588665</c:v>
                </c:pt>
                <c:pt idx="24">
                  <c:v>6.446618712612559</c:v>
                </c:pt>
                <c:pt idx="25">
                  <c:v>6.644919263022779</c:v>
                </c:pt>
                <c:pt idx="26">
                  <c:v>6.843219813433</c:v>
                </c:pt>
                <c:pt idx="27">
                  <c:v>7.155463716150058</c:v>
                </c:pt>
                <c:pt idx="28">
                  <c:v>7.353764266560278</c:v>
                </c:pt>
                <c:pt idx="29">
                  <c:v>7.552064816970498</c:v>
                </c:pt>
                <c:pt idx="30">
                  <c:v>7.864308719687555</c:v>
                </c:pt>
                <c:pt idx="31">
                  <c:v>8.062609270097775</c:v>
                </c:pt>
                <c:pt idx="32">
                  <c:v>8.260909820507996</c:v>
                </c:pt>
                <c:pt idx="33">
                  <c:v>8.573153723225055</c:v>
                </c:pt>
                <c:pt idx="34">
                  <c:v>8.771454273635275</c:v>
                </c:pt>
                <c:pt idx="35">
                  <c:v>8.969754824045495</c:v>
                </c:pt>
                <c:pt idx="36">
                  <c:v>9.281998726762552</c:v>
                </c:pt>
                <c:pt idx="37">
                  <c:v>9.480299277172772</c:v>
                </c:pt>
                <c:pt idx="38">
                  <c:v>9.678599827582993</c:v>
                </c:pt>
                <c:pt idx="39">
                  <c:v>10.104787082606887</c:v>
                </c:pt>
                <c:pt idx="40">
                  <c:v>10.303087633017107</c:v>
                </c:pt>
                <c:pt idx="41">
                  <c:v>10.501388183427329</c:v>
                </c:pt>
                <c:pt idx="42">
                  <c:v>10.813632086144386</c:v>
                </c:pt>
                <c:pt idx="43">
                  <c:v>11.011932636554606</c:v>
                </c:pt>
                <c:pt idx="44">
                  <c:v>11.210233186964826</c:v>
                </c:pt>
                <c:pt idx="45">
                  <c:v>11.522477089681884</c:v>
                </c:pt>
                <c:pt idx="46">
                  <c:v>11.720777640092104</c:v>
                </c:pt>
                <c:pt idx="47">
                  <c:v>11.919078190502324</c:v>
                </c:pt>
                <c:pt idx="48">
                  <c:v>12.231322093219381</c:v>
                </c:pt>
                <c:pt idx="49">
                  <c:v>12.657509348243275</c:v>
                </c:pt>
                <c:pt idx="50">
                  <c:v>12.855809898653495</c:v>
                </c:pt>
                <c:pt idx="51">
                  <c:v>13.168053801370554</c:v>
                </c:pt>
                <c:pt idx="52">
                  <c:v>13.366354351780775</c:v>
                </c:pt>
                <c:pt idx="53">
                  <c:v>13.564654902190995</c:v>
                </c:pt>
                <c:pt idx="54">
                  <c:v>13.876898804908052</c:v>
                </c:pt>
                <c:pt idx="55">
                  <c:v>14.075199355318272</c:v>
                </c:pt>
                <c:pt idx="56">
                  <c:v>14.273499905728492</c:v>
                </c:pt>
                <c:pt idx="57">
                  <c:v>14.58574380844555</c:v>
                </c:pt>
                <c:pt idx="58">
                  <c:v>14.78404435885577</c:v>
                </c:pt>
                <c:pt idx="59">
                  <c:v>15.210231613879664</c:v>
                </c:pt>
                <c:pt idx="60">
                  <c:v>15.522475516596721</c:v>
                </c:pt>
                <c:pt idx="61">
                  <c:v>15.720776067006943</c:v>
                </c:pt>
                <c:pt idx="62">
                  <c:v>15.919076617417163</c:v>
                </c:pt>
                <c:pt idx="63">
                  <c:v>16.23132052013422</c:v>
                </c:pt>
                <c:pt idx="64">
                  <c:v>16.429621070544442</c:v>
                </c:pt>
                <c:pt idx="65">
                  <c:v>16.627921620954663</c:v>
                </c:pt>
                <c:pt idx="66">
                  <c:v>16.94016552367172</c:v>
                </c:pt>
                <c:pt idx="67">
                  <c:v>17.13846607408194</c:v>
                </c:pt>
                <c:pt idx="68">
                  <c:v>17.33676662449216</c:v>
                </c:pt>
                <c:pt idx="69">
                  <c:v>17.762953879516054</c:v>
                </c:pt>
                <c:pt idx="70">
                  <c:v>18.07519778223311</c:v>
                </c:pt>
                <c:pt idx="71">
                  <c:v>18.257170723922396</c:v>
                </c:pt>
                <c:pt idx="72">
                  <c:v>18.797301331253127</c:v>
                </c:pt>
                <c:pt idx="73">
                  <c:v>18.995601881663347</c:v>
                </c:pt>
                <c:pt idx="74">
                  <c:v>19.193902432073568</c:v>
                </c:pt>
                <c:pt idx="75">
                  <c:v>19.506146334790625</c:v>
                </c:pt>
                <c:pt idx="76">
                  <c:v>19.70444688520085</c:v>
                </c:pt>
                <c:pt idx="77">
                  <c:v>20.244577492531576</c:v>
                </c:pt>
                <c:pt idx="78">
                  <c:v>20.4428780429418</c:v>
                </c:pt>
                <c:pt idx="79">
                  <c:v>20.983008650272527</c:v>
                </c:pt>
                <c:pt idx="80">
                  <c:v>21.295252552989588</c:v>
                </c:pt>
                <c:pt idx="81">
                  <c:v>21.493553103399808</c:v>
                </c:pt>
                <c:pt idx="82">
                  <c:v>21.69185365381003</c:v>
                </c:pt>
                <c:pt idx="83">
                  <c:v>22.004097556527086</c:v>
                </c:pt>
                <c:pt idx="84">
                  <c:v>22.202398106937306</c:v>
                </c:pt>
                <c:pt idx="85">
                  <c:v>22.400698657347526</c:v>
                </c:pt>
                <c:pt idx="86">
                  <c:v>22.712942560064583</c:v>
                </c:pt>
                <c:pt idx="87">
                  <c:v>22.911243110474803</c:v>
                </c:pt>
                <c:pt idx="88">
                  <c:v>23.109543660885024</c:v>
                </c:pt>
                <c:pt idx="89">
                  <c:v>23.649674268215755</c:v>
                </c:pt>
                <c:pt idx="90">
                  <c:v>23.96191817093281</c:v>
                </c:pt>
                <c:pt idx="91">
                  <c:v>24.160218721343032</c:v>
                </c:pt>
                <c:pt idx="92">
                  <c:v>24.358519271753252</c:v>
                </c:pt>
                <c:pt idx="93">
                  <c:v>24.898649879083983</c:v>
                </c:pt>
                <c:pt idx="94">
                  <c:v>25.21089378180104</c:v>
                </c:pt>
                <c:pt idx="95">
                  <c:v>25.40919433221126</c:v>
                </c:pt>
                <c:pt idx="96">
                  <c:v>25.94932493954199</c:v>
                </c:pt>
                <c:pt idx="97">
                  <c:v>26.26156884225905</c:v>
                </c:pt>
                <c:pt idx="98">
                  <c:v>26.45986939266927</c:v>
                </c:pt>
                <c:pt idx="99">
                  <c:v>27.0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 b="0" i="0">
                    <a:solidFill>
                      <a:srgbClr val="6B5E54"/>
                    </a:solidFill>
                    <a:latin typeface="Noto Sans KR"/>
                    <a:ea typeface="Noto Sans KR"/>
                  </a:rPr>
                  <a:t>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A7ADB7"/>
            </a:solidFill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2140495176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2140495176"/>
        <c:scaling>
          <c:max val="27.0"/>
          <c:min val="0.0"/>
        </c:scaling>
        <c:delete val="0"/>
        <c:axPos val="l"/>
        <c:majorGridlines>
          <c:spPr>
            <a:ln>
              <a:solidFill>
                <a:srgbClr val="E7DFD2"/>
              </a:solidFill>
            </a:ln>
          </c:spPr>
        </c:majorGridlines>
        <c:numFmt formatCode="&quot;10^&quot;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2118791784"/>
        <c:crosses val="autoZero"/>
        <c:majorUnit val="3.0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6B5E54"/>
          </a:solidFill>
          <a:latin typeface="Noto Sans KR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최고층별 누적 목표 시간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설계 목표 (누적 분)</c:v>
                </c:pt>
              </c:strCache>
            </c:strRef>
          </c:tx>
          <c:spPr>
            <a:ln w="34925">
              <a:solidFill>
                <a:srgbClr val="E97132"/>
              </a:solidFill>
            </a:ln>
          </c:spPr>
          <c:marker>
            <c:symbol val="none"/>
          </c:marker>
          <c:cat>
            <c:strRef>
              <c:f>Sheet1!$A$2:$A$101</c:f>
              <c:strCach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strCache>
            </c:strRef>
          </c:cat>
          <c:val>
            <c:numRef>
              <c:f>Sheet1!$B$2:$B$101</c:f>
              <c:numCache>
                <c:formatCode>General</c:formatCode>
                <c:ptCount val="100"/>
                <c:pt idx="0">
                  <c:v>2.0</c:v>
                </c:pt>
                <c:pt idx="1">
                  <c:v>4.0</c:v>
                </c:pt>
                <c:pt idx="2">
                  <c:v>6.0</c:v>
                </c:pt>
                <c:pt idx="3">
                  <c:v>8.0</c:v>
                </c:pt>
                <c:pt idx="4">
                  <c:v>10.0</c:v>
                </c:pt>
                <c:pt idx="5">
                  <c:v>12.0</c:v>
                </c:pt>
                <c:pt idx="6">
                  <c:v>14.0</c:v>
                </c:pt>
                <c:pt idx="7">
                  <c:v>16.0</c:v>
                </c:pt>
                <c:pt idx="8">
                  <c:v>18.0</c:v>
                </c:pt>
                <c:pt idx="9">
                  <c:v>20.0</c:v>
                </c:pt>
                <c:pt idx="10">
                  <c:v>22.0</c:v>
                </c:pt>
                <c:pt idx="11">
                  <c:v>24.0</c:v>
                </c:pt>
                <c:pt idx="12">
                  <c:v>26.0</c:v>
                </c:pt>
                <c:pt idx="13">
                  <c:v>28.0</c:v>
                </c:pt>
                <c:pt idx="14">
                  <c:v>30.0</c:v>
                </c:pt>
                <c:pt idx="15">
                  <c:v>32.72727272727273</c:v>
                </c:pt>
                <c:pt idx="16">
                  <c:v>35.45454545454545</c:v>
                </c:pt>
                <c:pt idx="17">
                  <c:v>38.18181818181818</c:v>
                </c:pt>
                <c:pt idx="18">
                  <c:v>40.90909090909091</c:v>
                </c:pt>
                <c:pt idx="19">
                  <c:v>43.63636363636363</c:v>
                </c:pt>
                <c:pt idx="20">
                  <c:v>46.36363636363636</c:v>
                </c:pt>
                <c:pt idx="21">
                  <c:v>49.090909090909086</c:v>
                </c:pt>
                <c:pt idx="22">
                  <c:v>51.81818181818181</c:v>
                </c:pt>
                <c:pt idx="23">
                  <c:v>54.54545454545454</c:v>
                </c:pt>
                <c:pt idx="24">
                  <c:v>57.272727272727266</c:v>
                </c:pt>
                <c:pt idx="25">
                  <c:v>59.99999999999999</c:v>
                </c:pt>
                <c:pt idx="26">
                  <c:v>62.72727272727272</c:v>
                </c:pt>
                <c:pt idx="27">
                  <c:v>65.45454545454545</c:v>
                </c:pt>
                <c:pt idx="28">
                  <c:v>68.18181818181819</c:v>
                </c:pt>
                <c:pt idx="29">
                  <c:v>70.90909090909092</c:v>
                </c:pt>
                <c:pt idx="30">
                  <c:v>73.63636363636365</c:v>
                </c:pt>
                <c:pt idx="31">
                  <c:v>76.36363636363639</c:v>
                </c:pt>
                <c:pt idx="32">
                  <c:v>79.09090909090912</c:v>
                </c:pt>
                <c:pt idx="33">
                  <c:v>81.81818181818186</c:v>
                </c:pt>
                <c:pt idx="34">
                  <c:v>84.54545454545459</c:v>
                </c:pt>
                <c:pt idx="35">
                  <c:v>87.27272727272732</c:v>
                </c:pt>
                <c:pt idx="36">
                  <c:v>90.00000000000006</c:v>
                </c:pt>
                <c:pt idx="37">
                  <c:v>92.72727272727279</c:v>
                </c:pt>
                <c:pt idx="38">
                  <c:v>95.45454545454552</c:v>
                </c:pt>
                <c:pt idx="39">
                  <c:v>98.18181818181826</c:v>
                </c:pt>
                <c:pt idx="40">
                  <c:v>100.90909090909099</c:v>
                </c:pt>
                <c:pt idx="41">
                  <c:v>103.63636363636373</c:v>
                </c:pt>
                <c:pt idx="42">
                  <c:v>106.36363636363646</c:v>
                </c:pt>
                <c:pt idx="43">
                  <c:v>109.0909090909092</c:v>
                </c:pt>
                <c:pt idx="44">
                  <c:v>111.81818181818193</c:v>
                </c:pt>
                <c:pt idx="45">
                  <c:v>114.54545454545466</c:v>
                </c:pt>
                <c:pt idx="46">
                  <c:v>117.2727272727274</c:v>
                </c:pt>
                <c:pt idx="47">
                  <c:v>120.00000000000013</c:v>
                </c:pt>
                <c:pt idx="48">
                  <c:v>122.72727272727286</c:v>
                </c:pt>
                <c:pt idx="49">
                  <c:v>125.4545454545456</c:v>
                </c:pt>
                <c:pt idx="50">
                  <c:v>128.18181818181833</c:v>
                </c:pt>
                <c:pt idx="51">
                  <c:v>130.90909090909105</c:v>
                </c:pt>
                <c:pt idx="52">
                  <c:v>133.63636363636377</c:v>
                </c:pt>
                <c:pt idx="53">
                  <c:v>136.3636363636365</c:v>
                </c:pt>
                <c:pt idx="54">
                  <c:v>139.0909090909092</c:v>
                </c:pt>
                <c:pt idx="55">
                  <c:v>141.81818181818193</c:v>
                </c:pt>
                <c:pt idx="56">
                  <c:v>144.54545454545465</c:v>
                </c:pt>
                <c:pt idx="57">
                  <c:v>147.27272727272737</c:v>
                </c:pt>
                <c:pt idx="58">
                  <c:v>150.00000000000009</c:v>
                </c:pt>
                <c:pt idx="59">
                  <c:v>152.7272727272728</c:v>
                </c:pt>
                <c:pt idx="60">
                  <c:v>155.45454545454552</c:v>
                </c:pt>
                <c:pt idx="61">
                  <c:v>158.18181818181824</c:v>
                </c:pt>
                <c:pt idx="62">
                  <c:v>160.90909090909096</c:v>
                </c:pt>
                <c:pt idx="63">
                  <c:v>163.63636363636368</c:v>
                </c:pt>
                <c:pt idx="64">
                  <c:v>166.3636363636364</c:v>
                </c:pt>
                <c:pt idx="65">
                  <c:v>169.09090909090912</c:v>
                </c:pt>
                <c:pt idx="66">
                  <c:v>171.81818181818184</c:v>
                </c:pt>
                <c:pt idx="67">
                  <c:v>174.54545454545456</c:v>
                </c:pt>
                <c:pt idx="68">
                  <c:v>177.27272727272728</c:v>
                </c:pt>
                <c:pt idx="69">
                  <c:v>180.0</c:v>
                </c:pt>
                <c:pt idx="70">
                  <c:v>186.5</c:v>
                </c:pt>
                <c:pt idx="71">
                  <c:v>193.0</c:v>
                </c:pt>
                <c:pt idx="72">
                  <c:v>199.5</c:v>
                </c:pt>
                <c:pt idx="73">
                  <c:v>206.0</c:v>
                </c:pt>
                <c:pt idx="74">
                  <c:v>212.5</c:v>
                </c:pt>
                <c:pt idx="75">
                  <c:v>219.0</c:v>
                </c:pt>
                <c:pt idx="76">
                  <c:v>225.5</c:v>
                </c:pt>
                <c:pt idx="77">
                  <c:v>232.0</c:v>
                </c:pt>
                <c:pt idx="78">
                  <c:v>238.5</c:v>
                </c:pt>
                <c:pt idx="79">
                  <c:v>245.0</c:v>
                </c:pt>
                <c:pt idx="80">
                  <c:v>249.0</c:v>
                </c:pt>
                <c:pt idx="81">
                  <c:v>253.0</c:v>
                </c:pt>
                <c:pt idx="82">
                  <c:v>257.0</c:v>
                </c:pt>
                <c:pt idx="83">
                  <c:v>261.0</c:v>
                </c:pt>
                <c:pt idx="84">
                  <c:v>265.0</c:v>
                </c:pt>
                <c:pt idx="85">
                  <c:v>269.0</c:v>
                </c:pt>
                <c:pt idx="86">
                  <c:v>273.0</c:v>
                </c:pt>
                <c:pt idx="87">
                  <c:v>277.0</c:v>
                </c:pt>
                <c:pt idx="88">
                  <c:v>281.0</c:v>
                </c:pt>
                <c:pt idx="89">
                  <c:v>285.0</c:v>
                </c:pt>
                <c:pt idx="90">
                  <c:v>289.5</c:v>
                </c:pt>
                <c:pt idx="91">
                  <c:v>294.0</c:v>
                </c:pt>
                <c:pt idx="92">
                  <c:v>298.5</c:v>
                </c:pt>
                <c:pt idx="93">
                  <c:v>303.0</c:v>
                </c:pt>
                <c:pt idx="94">
                  <c:v>307.5</c:v>
                </c:pt>
                <c:pt idx="95">
                  <c:v>312.0</c:v>
                </c:pt>
                <c:pt idx="96">
                  <c:v>316.5</c:v>
                </c:pt>
                <c:pt idx="97">
                  <c:v>321.0</c:v>
                </c:pt>
                <c:pt idx="98">
                  <c:v>325.5</c:v>
                </c:pt>
                <c:pt idx="99">
                  <c:v>330.0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층마다 같은 시간이라면 (3.3분/층)</c:v>
                </c:pt>
              </c:strCache>
            </c:strRef>
          </c:tx>
          <c:spPr>
            <a:ln w="19050">
              <a:solidFill>
                <a:srgbClr val="D9CFC2"/>
              </a:solidFill>
              <a:prstDash val="dash"/>
            </a:ln>
          </c:spPr>
          <c:marker>
            <c:symbol val="none"/>
          </c:marker>
          <c:cat>
            <c:strRef>
              <c:f>Sheet1!$A$2:$A$101</c:f>
              <c:strCach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strCache>
            </c:strRef>
          </c:cat>
          <c:val>
            <c:numRef>
              <c:f>Sheet1!$C$2:$C$101</c:f>
              <c:numCache>
                <c:formatCode>General</c:formatCode>
                <c:ptCount val="100"/>
                <c:pt idx="0">
                  <c:v>3.3</c:v>
                </c:pt>
                <c:pt idx="1">
                  <c:v>6.6</c:v>
                </c:pt>
                <c:pt idx="2">
                  <c:v>9.899999999999999</c:v>
                </c:pt>
                <c:pt idx="3">
                  <c:v>13.2</c:v>
                </c:pt>
                <c:pt idx="4">
                  <c:v>16.5</c:v>
                </c:pt>
                <c:pt idx="5">
                  <c:v>19.799999999999997</c:v>
                </c:pt>
                <c:pt idx="6">
                  <c:v>23.099999999999998</c:v>
                </c:pt>
                <c:pt idx="7">
                  <c:v>26.4</c:v>
                </c:pt>
                <c:pt idx="8">
                  <c:v>29.7</c:v>
                </c:pt>
                <c:pt idx="9">
                  <c:v>33.0</c:v>
                </c:pt>
                <c:pt idx="10">
                  <c:v>36.3</c:v>
                </c:pt>
                <c:pt idx="11">
                  <c:v>39.599999999999994</c:v>
                </c:pt>
                <c:pt idx="12">
                  <c:v>42.9</c:v>
                </c:pt>
                <c:pt idx="13">
                  <c:v>46.199999999999996</c:v>
                </c:pt>
                <c:pt idx="14">
                  <c:v>49.5</c:v>
                </c:pt>
                <c:pt idx="15">
                  <c:v>52.8</c:v>
                </c:pt>
                <c:pt idx="16">
                  <c:v>56.099999999999994</c:v>
                </c:pt>
                <c:pt idx="17">
                  <c:v>59.4</c:v>
                </c:pt>
                <c:pt idx="18">
                  <c:v>62.699999999999996</c:v>
                </c:pt>
                <c:pt idx="19">
                  <c:v>66.0</c:v>
                </c:pt>
                <c:pt idx="20">
                  <c:v>69.3</c:v>
                </c:pt>
                <c:pt idx="21">
                  <c:v>72.6</c:v>
                </c:pt>
                <c:pt idx="22">
                  <c:v>75.89999999999999</c:v>
                </c:pt>
                <c:pt idx="23">
                  <c:v>79.19999999999999</c:v>
                </c:pt>
                <c:pt idx="24">
                  <c:v>82.5</c:v>
                </c:pt>
                <c:pt idx="25">
                  <c:v>85.8</c:v>
                </c:pt>
                <c:pt idx="26">
                  <c:v>89.1</c:v>
                </c:pt>
                <c:pt idx="27">
                  <c:v>92.39999999999999</c:v>
                </c:pt>
                <c:pt idx="28">
                  <c:v>95.69999999999999</c:v>
                </c:pt>
                <c:pt idx="29">
                  <c:v>99.0</c:v>
                </c:pt>
                <c:pt idx="30">
                  <c:v>102.3</c:v>
                </c:pt>
                <c:pt idx="31">
                  <c:v>105.6</c:v>
                </c:pt>
                <c:pt idx="32">
                  <c:v>108.89999999999999</c:v>
                </c:pt>
                <c:pt idx="33">
                  <c:v>112.19999999999999</c:v>
                </c:pt>
                <c:pt idx="34">
                  <c:v>115.5</c:v>
                </c:pt>
                <c:pt idx="35">
                  <c:v>118.8</c:v>
                </c:pt>
                <c:pt idx="36">
                  <c:v>122.1</c:v>
                </c:pt>
                <c:pt idx="37">
                  <c:v>125.39999999999999</c:v>
                </c:pt>
                <c:pt idx="38">
                  <c:v>128.7</c:v>
                </c:pt>
                <c:pt idx="39">
                  <c:v>132.0</c:v>
                </c:pt>
                <c:pt idx="40">
                  <c:v>135.29999999999998</c:v>
                </c:pt>
                <c:pt idx="41">
                  <c:v>138.6</c:v>
                </c:pt>
                <c:pt idx="42">
                  <c:v>141.9</c:v>
                </c:pt>
                <c:pt idx="43">
                  <c:v>145.2</c:v>
                </c:pt>
                <c:pt idx="44">
                  <c:v>148.5</c:v>
                </c:pt>
                <c:pt idx="45">
                  <c:v>151.79999999999998</c:v>
                </c:pt>
                <c:pt idx="46">
                  <c:v>155.1</c:v>
                </c:pt>
                <c:pt idx="47">
                  <c:v>158.39999999999998</c:v>
                </c:pt>
                <c:pt idx="48">
                  <c:v>161.7</c:v>
                </c:pt>
                <c:pt idx="49">
                  <c:v>165.0</c:v>
                </c:pt>
                <c:pt idx="50">
                  <c:v>168.29999999999998</c:v>
                </c:pt>
                <c:pt idx="51">
                  <c:v>171.6</c:v>
                </c:pt>
                <c:pt idx="52">
                  <c:v>174.89999999999998</c:v>
                </c:pt>
                <c:pt idx="53">
                  <c:v>178.2</c:v>
                </c:pt>
                <c:pt idx="54">
                  <c:v>181.5</c:v>
                </c:pt>
                <c:pt idx="55">
                  <c:v>184.79999999999998</c:v>
                </c:pt>
                <c:pt idx="56">
                  <c:v>188.1</c:v>
                </c:pt>
                <c:pt idx="57">
                  <c:v>191.39999999999998</c:v>
                </c:pt>
                <c:pt idx="58">
                  <c:v>194.7</c:v>
                </c:pt>
                <c:pt idx="59">
                  <c:v>198.0</c:v>
                </c:pt>
                <c:pt idx="60">
                  <c:v>201.29999999999998</c:v>
                </c:pt>
                <c:pt idx="61">
                  <c:v>204.6</c:v>
                </c:pt>
                <c:pt idx="62">
                  <c:v>207.89999999999998</c:v>
                </c:pt>
                <c:pt idx="63">
                  <c:v>211.2</c:v>
                </c:pt>
                <c:pt idx="64">
                  <c:v>214.5</c:v>
                </c:pt>
                <c:pt idx="65">
                  <c:v>217.79999999999998</c:v>
                </c:pt>
                <c:pt idx="66">
                  <c:v>221.1</c:v>
                </c:pt>
                <c:pt idx="67">
                  <c:v>224.39999999999998</c:v>
                </c:pt>
                <c:pt idx="68">
                  <c:v>227.7</c:v>
                </c:pt>
                <c:pt idx="69">
                  <c:v>231.0</c:v>
                </c:pt>
                <c:pt idx="70">
                  <c:v>234.29999999999998</c:v>
                </c:pt>
                <c:pt idx="71">
                  <c:v>237.6</c:v>
                </c:pt>
                <c:pt idx="72">
                  <c:v>240.89999999999998</c:v>
                </c:pt>
                <c:pt idx="73">
                  <c:v>244.2</c:v>
                </c:pt>
                <c:pt idx="74">
                  <c:v>247.5</c:v>
                </c:pt>
                <c:pt idx="75">
                  <c:v>250.79999999999998</c:v>
                </c:pt>
                <c:pt idx="76">
                  <c:v>254.1</c:v>
                </c:pt>
                <c:pt idx="77">
                  <c:v>257.4</c:v>
                </c:pt>
                <c:pt idx="78">
                  <c:v>260.7</c:v>
                </c:pt>
                <c:pt idx="79">
                  <c:v>264.0</c:v>
                </c:pt>
                <c:pt idx="80">
                  <c:v>267.3</c:v>
                </c:pt>
                <c:pt idx="81">
                  <c:v>270.59999999999997</c:v>
                </c:pt>
                <c:pt idx="82">
                  <c:v>273.9</c:v>
                </c:pt>
                <c:pt idx="83">
                  <c:v>277.2</c:v>
                </c:pt>
                <c:pt idx="84">
                  <c:v>280.5</c:v>
                </c:pt>
                <c:pt idx="85">
                  <c:v>283.8</c:v>
                </c:pt>
                <c:pt idx="86">
                  <c:v>287.09999999999997</c:v>
                </c:pt>
                <c:pt idx="87">
                  <c:v>290.4</c:v>
                </c:pt>
                <c:pt idx="88">
                  <c:v>293.7</c:v>
                </c:pt>
                <c:pt idx="89">
                  <c:v>297.0</c:v>
                </c:pt>
                <c:pt idx="90">
                  <c:v>300.3</c:v>
                </c:pt>
                <c:pt idx="91">
                  <c:v>303.59999999999997</c:v>
                </c:pt>
                <c:pt idx="92">
                  <c:v>306.9</c:v>
                </c:pt>
                <c:pt idx="93">
                  <c:v>310.2</c:v>
                </c:pt>
                <c:pt idx="94">
                  <c:v>313.5</c:v>
                </c:pt>
                <c:pt idx="95">
                  <c:v>316.79999999999995</c:v>
                </c:pt>
                <c:pt idx="96">
                  <c:v>320.09999999999997</c:v>
                </c:pt>
                <c:pt idx="97">
                  <c:v>323.4</c:v>
                </c:pt>
                <c:pt idx="98">
                  <c:v>326.7</c:v>
                </c:pt>
                <c:pt idx="99">
                  <c:v>330.0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 b="0" i="0">
                    <a:solidFill>
                      <a:srgbClr val="6B5E54"/>
                    </a:solidFill>
                    <a:latin typeface="Noto Sans KR"/>
                    <a:ea typeface="Noto Sans KR"/>
                  </a:rPr>
                  <a:t>최고 도달층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A7ADB7"/>
            </a:solidFill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2140495176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2140495176"/>
        <c:scaling>
          <c:max val="330.0"/>
          <c:min val="0.0"/>
        </c:scaling>
        <c:delete val="0"/>
        <c:axPos val="l"/>
        <c:majorGridlines>
          <c:spPr>
            <a:ln>
              <a:solidFill>
                <a:srgbClr val="E7DFD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 i="0">
                    <a:solidFill>
                      <a:srgbClr val="6B5E54"/>
                    </a:solidFill>
                    <a:latin typeface="Noto Sans KR"/>
                    <a:ea typeface="Noto Sans KR"/>
                  </a:rPr>
                  <a:t>분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2118791784"/>
        <c:crosses val="autoZero"/>
        <c:majorUnit val="60.0"/>
      </c:valAx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6B5E54"/>
              </a:solidFill>
              <a:latin typeface="Noto Sans KR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6B5E54"/>
          </a:solidFill>
          <a:latin typeface="Noto Sans KR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100층: 시작층별 필요 성장 계수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필요 성장 계수 (94층 시작 = 100)</c:v>
                </c:pt>
              </c:strCache>
            </c:strRef>
          </c:tx>
          <c:spPr>
            <a:ln w="34925">
              <a:solidFill>
                <a:srgbClr val="E97132"/>
              </a:solidFill>
            </a:ln>
          </c:spPr>
          <c:marker>
            <c:symbol val="none"/>
          </c:marker>
          <c:cat>
            <c:strRef>
              <c:f>Sheet1!$A$2:$A$95</c:f>
              <c:strCache>
                <c:ptCount val="9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</c:strCache>
            </c:strRef>
          </c:cat>
          <c:val>
            <c:numRef>
              <c:f>Sheet1!$B$2:$B$95</c:f>
              <c:numCache>
                <c:formatCode>General</c:formatCode>
                <c:ptCount val="94"/>
                <c:pt idx="0">
                  <c:v>95.90837195101304</c:v>
                </c:pt>
                <c:pt idx="1">
                  <c:v>95.90837195101304</c:v>
                </c:pt>
                <c:pt idx="2">
                  <c:v>95.90837195101304</c:v>
                </c:pt>
                <c:pt idx="3">
                  <c:v>95.90837195101304</c:v>
                </c:pt>
                <c:pt idx="4">
                  <c:v>95.90837195101304</c:v>
                </c:pt>
                <c:pt idx="5">
                  <c:v>95.90837195101304</c:v>
                </c:pt>
                <c:pt idx="6">
                  <c:v>95.90837195101304</c:v>
                </c:pt>
                <c:pt idx="7">
                  <c:v>95.90837195101304</c:v>
                </c:pt>
                <c:pt idx="8">
                  <c:v>95.90837195101304</c:v>
                </c:pt>
                <c:pt idx="9">
                  <c:v>95.90837195101304</c:v>
                </c:pt>
                <c:pt idx="10">
                  <c:v>95.90837195101304</c:v>
                </c:pt>
                <c:pt idx="11">
                  <c:v>95.90837195101304</c:v>
                </c:pt>
                <c:pt idx="12">
                  <c:v>95.90837195101304</c:v>
                </c:pt>
                <c:pt idx="13">
                  <c:v>95.90837195101304</c:v>
                </c:pt>
                <c:pt idx="14">
                  <c:v>95.90837195101304</c:v>
                </c:pt>
                <c:pt idx="15">
                  <c:v>95.90837195101304</c:v>
                </c:pt>
                <c:pt idx="16">
                  <c:v>95.90837195101304</c:v>
                </c:pt>
                <c:pt idx="17">
                  <c:v>95.90837195101304</c:v>
                </c:pt>
                <c:pt idx="18">
                  <c:v>95.90837195101304</c:v>
                </c:pt>
                <c:pt idx="19">
                  <c:v>95.90837195101305</c:v>
                </c:pt>
                <c:pt idx="20">
                  <c:v>95.90837195101305</c:v>
                </c:pt>
                <c:pt idx="21">
                  <c:v>95.90837195101307</c:v>
                </c:pt>
                <c:pt idx="22">
                  <c:v>95.90837195101307</c:v>
                </c:pt>
                <c:pt idx="23">
                  <c:v>95.9083719510131</c:v>
                </c:pt>
                <c:pt idx="24">
                  <c:v>95.90837195101312</c:v>
                </c:pt>
                <c:pt idx="25">
                  <c:v>95.90837195101317</c:v>
                </c:pt>
                <c:pt idx="26">
                  <c:v>95.90837195101324</c:v>
                </c:pt>
                <c:pt idx="27">
                  <c:v>95.90837195101336</c:v>
                </c:pt>
                <c:pt idx="28">
                  <c:v>95.90837195101355</c:v>
                </c:pt>
                <c:pt idx="29">
                  <c:v>95.90837195101383</c:v>
                </c:pt>
                <c:pt idx="30">
                  <c:v>95.9083719510143</c:v>
                </c:pt>
                <c:pt idx="31">
                  <c:v>95.90837195101504</c:v>
                </c:pt>
                <c:pt idx="32">
                  <c:v>95.90837195101619</c:v>
                </c:pt>
                <c:pt idx="33">
                  <c:v>95.908371951018</c:v>
                </c:pt>
                <c:pt idx="34">
                  <c:v>95.90837195102088</c:v>
                </c:pt>
                <c:pt idx="35">
                  <c:v>95.90837195102542</c:v>
                </c:pt>
                <c:pt idx="36">
                  <c:v>95.90837195103256</c:v>
                </c:pt>
                <c:pt idx="37">
                  <c:v>95.90837195104388</c:v>
                </c:pt>
                <c:pt idx="38">
                  <c:v>95.90837195106171</c:v>
                </c:pt>
                <c:pt idx="39">
                  <c:v>95.90837195108988</c:v>
                </c:pt>
                <c:pt idx="40">
                  <c:v>95.90837195113433</c:v>
                </c:pt>
                <c:pt idx="41">
                  <c:v>95.90837195120451</c:v>
                </c:pt>
                <c:pt idx="42">
                  <c:v>95.90837195131535</c:v>
                </c:pt>
                <c:pt idx="43">
                  <c:v>95.90837195149027</c:v>
                </c:pt>
                <c:pt idx="44">
                  <c:v>95.90837195176644</c:v>
                </c:pt>
                <c:pt idx="45">
                  <c:v>95.90837195220243</c:v>
                </c:pt>
                <c:pt idx="46">
                  <c:v>95.90837195289075</c:v>
                </c:pt>
                <c:pt idx="47">
                  <c:v>95.90837195397737</c:v>
                </c:pt>
                <c:pt idx="48">
                  <c:v>95.90837195569286</c:v>
                </c:pt>
                <c:pt idx="49">
                  <c:v>95.90837195840106</c:v>
                </c:pt>
                <c:pt idx="50">
                  <c:v>95.90837196267654</c:v>
                </c:pt>
                <c:pt idx="51">
                  <c:v>95.90837196942626</c:v>
                </c:pt>
                <c:pt idx="52">
                  <c:v>95.90837198008204</c:v>
                </c:pt>
                <c:pt idx="53">
                  <c:v>95.90837199690438</c:v>
                </c:pt>
                <c:pt idx="54">
                  <c:v>95.90837202346184</c:v>
                </c:pt>
                <c:pt idx="55">
                  <c:v>95.90837206538822</c:v>
                </c:pt>
                <c:pt idx="56">
                  <c:v>95.90837213157751</c:v>
                </c:pt>
                <c:pt idx="57">
                  <c:v>95.90837223607079</c:v>
                </c:pt>
                <c:pt idx="58">
                  <c:v>95.90837240103468</c:v>
                </c:pt>
                <c:pt idx="59">
                  <c:v>95.90837266146374</c:v>
                </c:pt>
                <c:pt idx="60">
                  <c:v>95.90837307260402</c:v>
                </c:pt>
                <c:pt idx="61">
                  <c:v>95.90837372167258</c:v>
                </c:pt>
                <c:pt idx="62">
                  <c:v>95.90837474635933</c:v>
                </c:pt>
                <c:pt idx="63">
                  <c:v>95.90837636403586</c:v>
                </c:pt>
                <c:pt idx="64">
                  <c:v>95.90837891786747</c:v>
                </c:pt>
                <c:pt idx="65">
                  <c:v>95.90838294961043</c:v>
                </c:pt>
                <c:pt idx="66">
                  <c:v>95.90838931453753</c:v>
                </c:pt>
                <c:pt idx="67">
                  <c:v>95.90839936287144</c:v>
                </c:pt>
                <c:pt idx="68">
                  <c:v>95.90841522621484</c:v>
                </c:pt>
                <c:pt idx="69">
                  <c:v>95.90844026974004</c:v>
                </c:pt>
                <c:pt idx="70">
                  <c:v>95.90847980606564</c:v>
                </c:pt>
                <c:pt idx="71">
                  <c:v>95.9085422222645</c:v>
                </c:pt>
                <c:pt idx="72">
                  <c:v>95.9086407590966</c:v>
                </c:pt>
                <c:pt idx="73">
                  <c:v>95.9087963199428</c:v>
                </c:pt>
                <c:pt idx="74">
                  <c:v>95.90904190541022</c:v>
                </c:pt>
                <c:pt idx="75">
                  <c:v>95.90942961458815</c:v>
                </c:pt>
                <c:pt idx="76">
                  <c:v>95.91004169877473</c:v>
                </c:pt>
                <c:pt idx="77">
                  <c:v>95.91100801407735</c:v>
                </c:pt>
                <c:pt idx="78">
                  <c:v>95.9125335789879</c:v>
                </c:pt>
                <c:pt idx="79">
                  <c:v>95.91494209232137</c:v>
                </c:pt>
                <c:pt idx="80">
                  <c:v>95.91874466679394</c:v>
                </c:pt>
                <c:pt idx="81">
                  <c:v>95.92474841788672</c:v>
                </c:pt>
                <c:pt idx="82">
                  <c:v>95.93422809026659</c:v>
                </c:pt>
                <c:pt idx="83">
                  <c:v>95.94919749588958</c:v>
                </c:pt>
                <c:pt idx="84">
                  <c:v>95.97283925917594</c:v>
                </c:pt>
                <c:pt idx="85">
                  <c:v>96.01018631585936</c:v>
                </c:pt>
                <c:pt idx="86">
                  <c:v>96.06920544362954</c:v>
                </c:pt>
                <c:pt idx="87">
                  <c:v>96.16252698259132</c:v>
                </c:pt>
                <c:pt idx="88">
                  <c:v>96.31022362921505</c:v>
                </c:pt>
                <c:pt idx="89">
                  <c:v>96.54431857634222</c:v>
                </c:pt>
                <c:pt idx="90">
                  <c:v>96.91621039376875</c:v>
                </c:pt>
                <c:pt idx="91">
                  <c:v>97.50918483909557</c:v>
                </c:pt>
                <c:pt idx="92">
                  <c:v>98.46022957912794</c:v>
                </c:pt>
                <c:pt idx="93">
                  <c:v>100.0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 b="0" i="0">
                    <a:solidFill>
                      <a:srgbClr val="6B5E54"/>
                    </a:solidFill>
                    <a:latin typeface="Noto Sans KR"/>
                    <a:ea typeface="Noto Sans KR"/>
                  </a:rPr>
                  <a:t>시작층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A7ADB7"/>
            </a:solidFill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2140495176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2140495176"/>
        <c:scaling>
          <c:max val="101.0"/>
          <c:min val="94.0"/>
        </c:scaling>
        <c:delete val="0"/>
        <c:axPos val="l"/>
        <c:majorGridlines>
          <c:spPr>
            <a:ln>
              <a:solidFill>
                <a:srgbClr val="E7DF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2118791784"/>
        <c:crosses val="autoZero"/>
        <c:majorUnit val="1.0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6B5E54"/>
          </a:solidFill>
          <a:latin typeface="Noto Sans KR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1~100층 추가 성장 단계와 긴장 곡선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층별 추가 단계</c:v>
                </c:pt>
              </c:strCache>
            </c:strRef>
          </c:tx>
          <c:spPr>
            <a:solidFill>
              <a:srgbClr val="F3B58A"/>
            </a:solidFill>
          </c:spPr>
          <c:dPt>
            <c:idx val="0"/>
            <c:spPr>
              <a:solidFill>
                <a:srgbClr val="EFE9DF"/>
              </a:solidFill>
            </c:spPr>
          </c:dPt>
          <c:dPt>
            <c:idx val="1"/>
            <c:spPr>
              <a:solidFill>
                <a:srgbClr val="EFE9DF"/>
              </a:solidFill>
            </c:spPr>
          </c:dPt>
          <c:dPt>
            <c:idx val="2"/>
            <c:spPr>
              <a:solidFill>
                <a:srgbClr val="EFE9DF"/>
              </a:solidFill>
            </c:spPr>
          </c:dPt>
          <c:dPt>
            <c:idx val="3"/>
            <c:spPr>
              <a:solidFill>
                <a:srgbClr val="F3B58A"/>
              </a:solidFill>
            </c:spPr>
          </c:dPt>
          <c:dPt>
            <c:idx val="4"/>
            <c:spPr>
              <a:solidFill>
                <a:srgbClr val="EFE9DF"/>
              </a:solidFill>
            </c:spPr>
          </c:dPt>
          <c:dPt>
            <c:idx val="5"/>
            <c:spPr>
              <a:solidFill>
                <a:srgbClr val="EFE9DF"/>
              </a:solidFill>
            </c:spPr>
          </c:dPt>
          <c:dPt>
            <c:idx val="6"/>
            <c:spPr>
              <a:solidFill>
                <a:srgbClr val="F3B58A"/>
              </a:solidFill>
            </c:spPr>
          </c:dPt>
          <c:dPt>
            <c:idx val="7"/>
            <c:spPr>
              <a:solidFill>
                <a:srgbClr val="EFE9DF"/>
              </a:solidFill>
            </c:spPr>
          </c:dPt>
          <c:dPt>
            <c:idx val="8"/>
            <c:spPr>
              <a:solidFill>
                <a:srgbClr val="EFE9DF"/>
              </a:solidFill>
            </c:spPr>
          </c:dPt>
          <c:dPt>
            <c:idx val="9"/>
            <c:spPr>
              <a:solidFill>
                <a:srgbClr val="F3B58A"/>
              </a:solidFill>
            </c:spPr>
          </c:dPt>
          <c:dPt>
            <c:idx val="10"/>
            <c:spPr>
              <a:solidFill>
                <a:srgbClr val="EFE9DF"/>
              </a:solidFill>
            </c:spPr>
          </c:dPt>
          <c:dPt>
            <c:idx val="11"/>
            <c:spPr>
              <a:solidFill>
                <a:srgbClr val="EFE9DF"/>
              </a:solidFill>
            </c:spPr>
          </c:dPt>
          <c:dPt>
            <c:idx val="12"/>
            <c:spPr>
              <a:solidFill>
                <a:srgbClr val="F3B58A"/>
              </a:solidFill>
            </c:spPr>
          </c:dPt>
          <c:dPt>
            <c:idx val="13"/>
            <c:spPr>
              <a:solidFill>
                <a:srgbClr val="EFE9DF"/>
              </a:solidFill>
            </c:spPr>
          </c:dPt>
          <c:dPt>
            <c:idx val="14"/>
            <c:spPr>
              <a:solidFill>
                <a:srgbClr val="E97132"/>
              </a:solidFill>
            </c:spPr>
          </c:dPt>
          <c:dPt>
            <c:idx val="15"/>
            <c:spPr>
              <a:solidFill>
                <a:srgbClr val="F3B58A"/>
              </a:solidFill>
            </c:spPr>
          </c:dPt>
          <c:dPt>
            <c:idx val="16"/>
            <c:spPr>
              <a:solidFill>
                <a:srgbClr val="EFE9DF"/>
              </a:solidFill>
            </c:spPr>
          </c:dPt>
          <c:dPt>
            <c:idx val="17"/>
            <c:spPr>
              <a:solidFill>
                <a:srgbClr val="EFE9DF"/>
              </a:solidFill>
            </c:spPr>
          </c:dPt>
          <c:dPt>
            <c:idx val="18"/>
            <c:spPr>
              <a:solidFill>
                <a:srgbClr val="F3B58A"/>
              </a:solidFill>
            </c:spPr>
          </c:dPt>
          <c:dPt>
            <c:idx val="19"/>
            <c:spPr>
              <a:solidFill>
                <a:srgbClr val="EFE9DF"/>
              </a:solidFill>
            </c:spPr>
          </c:dPt>
          <c:dPt>
            <c:idx val="20"/>
            <c:spPr>
              <a:solidFill>
                <a:srgbClr val="EFE9DF"/>
              </a:solidFill>
            </c:spPr>
          </c:dPt>
          <c:dPt>
            <c:idx val="21"/>
            <c:spPr>
              <a:solidFill>
                <a:srgbClr val="F3B58A"/>
              </a:solidFill>
            </c:spPr>
          </c:dPt>
          <c:dPt>
            <c:idx val="22"/>
            <c:spPr>
              <a:solidFill>
                <a:srgbClr val="EFE9DF"/>
              </a:solidFill>
            </c:spPr>
          </c:dPt>
          <c:dPt>
            <c:idx val="23"/>
            <c:spPr>
              <a:solidFill>
                <a:srgbClr val="EFE9DF"/>
              </a:solidFill>
            </c:spPr>
          </c:dPt>
          <c:dPt>
            <c:idx val="24"/>
            <c:spPr>
              <a:solidFill>
                <a:srgbClr val="E97132"/>
              </a:solidFill>
            </c:spPr>
          </c:dPt>
          <c:dPt>
            <c:idx val="25"/>
            <c:spPr>
              <a:solidFill>
                <a:srgbClr val="EFE9DF"/>
              </a:solidFill>
            </c:spPr>
          </c:dPt>
          <c:dPt>
            <c:idx val="26"/>
            <c:spPr>
              <a:solidFill>
                <a:srgbClr val="EFE9DF"/>
              </a:solidFill>
            </c:spPr>
          </c:dPt>
          <c:dPt>
            <c:idx val="27"/>
            <c:spPr>
              <a:solidFill>
                <a:srgbClr val="F3B58A"/>
              </a:solidFill>
            </c:spPr>
          </c:dPt>
          <c:dPt>
            <c:idx val="28"/>
            <c:spPr>
              <a:solidFill>
                <a:srgbClr val="EFE9DF"/>
              </a:solidFill>
            </c:spPr>
          </c:dPt>
          <c:dPt>
            <c:idx val="29"/>
            <c:spPr>
              <a:solidFill>
                <a:srgbClr val="EFE9DF"/>
              </a:solidFill>
            </c:spPr>
          </c:dPt>
          <c:dPt>
            <c:idx val="30"/>
            <c:spPr>
              <a:solidFill>
                <a:srgbClr val="F3B58A"/>
              </a:solidFill>
            </c:spPr>
          </c:dPt>
          <c:dPt>
            <c:idx val="31"/>
            <c:spPr>
              <a:solidFill>
                <a:srgbClr val="EFE9DF"/>
              </a:solidFill>
            </c:spPr>
          </c:dPt>
          <c:dPt>
            <c:idx val="32"/>
            <c:spPr>
              <a:solidFill>
                <a:srgbClr val="EFE9DF"/>
              </a:solidFill>
            </c:spPr>
          </c:dPt>
          <c:dPt>
            <c:idx val="33"/>
            <c:spPr>
              <a:solidFill>
                <a:srgbClr val="F3B58A"/>
              </a:solidFill>
            </c:spPr>
          </c:dPt>
          <c:dPt>
            <c:idx val="34"/>
            <c:spPr>
              <a:solidFill>
                <a:srgbClr val="EFE9DF"/>
              </a:solidFill>
            </c:spPr>
          </c:dPt>
          <c:dPt>
            <c:idx val="35"/>
            <c:spPr>
              <a:solidFill>
                <a:srgbClr val="EFE9DF"/>
              </a:solidFill>
            </c:spPr>
          </c:dPt>
          <c:dPt>
            <c:idx val="36"/>
            <c:spPr>
              <a:solidFill>
                <a:srgbClr val="F3B58A"/>
              </a:solidFill>
            </c:spPr>
          </c:dPt>
          <c:dPt>
            <c:idx val="37"/>
            <c:spPr>
              <a:solidFill>
                <a:srgbClr val="EFE9DF"/>
              </a:solidFill>
            </c:spPr>
          </c:dPt>
          <c:dPt>
            <c:idx val="38"/>
            <c:spPr>
              <a:solidFill>
                <a:srgbClr val="EFE9DF"/>
              </a:solidFill>
            </c:spPr>
          </c:dPt>
          <c:dPt>
            <c:idx val="39"/>
            <c:spPr>
              <a:solidFill>
                <a:srgbClr val="E97132"/>
              </a:solidFill>
            </c:spPr>
          </c:dPt>
          <c:dPt>
            <c:idx val="40"/>
            <c:spPr>
              <a:solidFill>
                <a:srgbClr val="EFE9DF"/>
              </a:solidFill>
            </c:spPr>
          </c:dPt>
          <c:dPt>
            <c:idx val="41"/>
            <c:spPr>
              <a:solidFill>
                <a:srgbClr val="EFE9DF"/>
              </a:solidFill>
            </c:spPr>
          </c:dPt>
          <c:dPt>
            <c:idx val="42"/>
            <c:spPr>
              <a:solidFill>
                <a:srgbClr val="F3B58A"/>
              </a:solidFill>
            </c:spPr>
          </c:dPt>
          <c:dPt>
            <c:idx val="43"/>
            <c:spPr>
              <a:solidFill>
                <a:srgbClr val="EFE9DF"/>
              </a:solidFill>
            </c:spPr>
          </c:dPt>
          <c:dPt>
            <c:idx val="44"/>
            <c:spPr>
              <a:solidFill>
                <a:srgbClr val="EFE9DF"/>
              </a:solidFill>
            </c:spPr>
          </c:dPt>
          <c:dPt>
            <c:idx val="45"/>
            <c:spPr>
              <a:solidFill>
                <a:srgbClr val="F3B58A"/>
              </a:solidFill>
            </c:spPr>
          </c:dPt>
          <c:dPt>
            <c:idx val="46"/>
            <c:spPr>
              <a:solidFill>
                <a:srgbClr val="EFE9DF"/>
              </a:solidFill>
            </c:spPr>
          </c:dPt>
          <c:dPt>
            <c:idx val="47"/>
            <c:spPr>
              <a:solidFill>
                <a:srgbClr val="EFE9DF"/>
              </a:solidFill>
            </c:spPr>
          </c:dPt>
          <c:dPt>
            <c:idx val="48"/>
            <c:spPr>
              <a:solidFill>
                <a:srgbClr val="F3B58A"/>
              </a:solidFill>
            </c:spPr>
          </c:dPt>
          <c:dPt>
            <c:idx val="49"/>
            <c:spPr>
              <a:solidFill>
                <a:srgbClr val="E97132"/>
              </a:solidFill>
            </c:spPr>
          </c:dPt>
          <c:dPt>
            <c:idx val="50"/>
            <c:spPr>
              <a:solidFill>
                <a:srgbClr val="EFE9DF"/>
              </a:solidFill>
            </c:spPr>
          </c:dPt>
          <c:dPt>
            <c:idx val="51"/>
            <c:spPr>
              <a:solidFill>
                <a:srgbClr val="F3B58A"/>
              </a:solidFill>
            </c:spPr>
          </c:dPt>
          <c:dPt>
            <c:idx val="52"/>
            <c:spPr>
              <a:solidFill>
                <a:srgbClr val="EFE9DF"/>
              </a:solidFill>
            </c:spPr>
          </c:dPt>
          <c:dPt>
            <c:idx val="53"/>
            <c:spPr>
              <a:solidFill>
                <a:srgbClr val="EFE9DF"/>
              </a:solidFill>
            </c:spPr>
          </c:dPt>
          <c:dPt>
            <c:idx val="54"/>
            <c:spPr>
              <a:solidFill>
                <a:srgbClr val="F3B58A"/>
              </a:solidFill>
            </c:spPr>
          </c:dPt>
          <c:dPt>
            <c:idx val="55"/>
            <c:spPr>
              <a:solidFill>
                <a:srgbClr val="EFE9DF"/>
              </a:solidFill>
            </c:spPr>
          </c:dPt>
          <c:dPt>
            <c:idx val="56"/>
            <c:spPr>
              <a:solidFill>
                <a:srgbClr val="EFE9DF"/>
              </a:solidFill>
            </c:spPr>
          </c:dPt>
          <c:dPt>
            <c:idx val="57"/>
            <c:spPr>
              <a:solidFill>
                <a:srgbClr val="F3B58A"/>
              </a:solidFill>
            </c:spPr>
          </c:dPt>
          <c:dPt>
            <c:idx val="58"/>
            <c:spPr>
              <a:solidFill>
                <a:srgbClr val="EFE9DF"/>
              </a:solidFill>
            </c:spPr>
          </c:dPt>
          <c:dPt>
            <c:idx val="59"/>
            <c:spPr>
              <a:solidFill>
                <a:srgbClr val="E97132"/>
              </a:solidFill>
            </c:spPr>
          </c:dPt>
          <c:dPt>
            <c:idx val="60"/>
            <c:spPr>
              <a:solidFill>
                <a:srgbClr val="F3B58A"/>
              </a:solidFill>
            </c:spPr>
          </c:dPt>
          <c:dPt>
            <c:idx val="61"/>
            <c:spPr>
              <a:solidFill>
                <a:srgbClr val="EFE9DF"/>
              </a:solidFill>
            </c:spPr>
          </c:dPt>
          <c:dPt>
            <c:idx val="62"/>
            <c:spPr>
              <a:solidFill>
                <a:srgbClr val="EFE9DF"/>
              </a:solidFill>
            </c:spPr>
          </c:dPt>
          <c:dPt>
            <c:idx val="63"/>
            <c:spPr>
              <a:solidFill>
                <a:srgbClr val="F3B58A"/>
              </a:solidFill>
            </c:spPr>
          </c:dPt>
          <c:dPt>
            <c:idx val="64"/>
            <c:spPr>
              <a:solidFill>
                <a:srgbClr val="EFE9DF"/>
              </a:solidFill>
            </c:spPr>
          </c:dPt>
          <c:dPt>
            <c:idx val="65"/>
            <c:spPr>
              <a:solidFill>
                <a:srgbClr val="EFE9DF"/>
              </a:solidFill>
            </c:spPr>
          </c:dPt>
          <c:dPt>
            <c:idx val="66"/>
            <c:spPr>
              <a:solidFill>
                <a:srgbClr val="F3B58A"/>
              </a:solidFill>
            </c:spPr>
          </c:dPt>
          <c:dPt>
            <c:idx val="67"/>
            <c:spPr>
              <a:solidFill>
                <a:srgbClr val="EFE9DF"/>
              </a:solidFill>
            </c:spPr>
          </c:dPt>
          <c:dPt>
            <c:idx val="68"/>
            <c:spPr>
              <a:solidFill>
                <a:srgbClr val="EFE9DF"/>
              </a:solidFill>
            </c:spPr>
          </c:dPt>
          <c:dPt>
            <c:idx val="69"/>
            <c:spPr>
              <a:solidFill>
                <a:srgbClr val="E97132"/>
              </a:solidFill>
            </c:spPr>
          </c:dPt>
          <c:dPt>
            <c:idx val="70"/>
            <c:spPr>
              <a:solidFill>
                <a:srgbClr val="F3B58A"/>
              </a:solidFill>
            </c:spPr>
          </c:dPt>
          <c:dPt>
            <c:idx val="71"/>
            <c:spPr>
              <a:solidFill>
                <a:srgbClr val="EFE9DF"/>
              </a:solidFill>
            </c:spPr>
          </c:dPt>
          <c:dPt>
            <c:idx val="72"/>
            <c:spPr>
              <a:solidFill>
                <a:srgbClr val="7A2E0E"/>
              </a:solidFill>
            </c:spPr>
          </c:dPt>
          <c:dPt>
            <c:idx val="73"/>
            <c:spPr>
              <a:solidFill>
                <a:srgbClr val="EFE9DF"/>
              </a:solidFill>
            </c:spPr>
          </c:dPt>
          <c:dPt>
            <c:idx val="74"/>
            <c:spPr>
              <a:solidFill>
                <a:srgbClr val="EFE9DF"/>
              </a:solidFill>
            </c:spPr>
          </c:dPt>
          <c:dPt>
            <c:idx val="75"/>
            <c:spPr>
              <a:solidFill>
                <a:srgbClr val="F3B58A"/>
              </a:solidFill>
            </c:spPr>
          </c:dPt>
          <c:dPt>
            <c:idx val="76"/>
            <c:spPr>
              <a:solidFill>
                <a:srgbClr val="EFE9DF"/>
              </a:solidFill>
            </c:spPr>
          </c:dPt>
          <c:dPt>
            <c:idx val="77"/>
            <c:spPr>
              <a:solidFill>
                <a:srgbClr val="7A2E0E"/>
              </a:solidFill>
            </c:spPr>
          </c:dPt>
          <c:dPt>
            <c:idx val="78"/>
            <c:spPr>
              <a:solidFill>
                <a:srgbClr val="EFE9DF"/>
              </a:solidFill>
            </c:spPr>
          </c:dPt>
          <c:dPt>
            <c:idx val="79"/>
            <c:spPr>
              <a:solidFill>
                <a:srgbClr val="7A2E0E"/>
              </a:solidFill>
            </c:spPr>
          </c:dPt>
          <c:dPt>
            <c:idx val="80"/>
            <c:spPr>
              <a:solidFill>
                <a:srgbClr val="F3B58A"/>
              </a:solidFill>
            </c:spPr>
          </c:dPt>
          <c:dPt>
            <c:idx val="81"/>
            <c:spPr>
              <a:solidFill>
                <a:srgbClr val="EFE9DF"/>
              </a:solidFill>
            </c:spPr>
          </c:dPt>
          <c:dPt>
            <c:idx val="82"/>
            <c:spPr>
              <a:solidFill>
                <a:srgbClr val="EFE9DF"/>
              </a:solidFill>
            </c:spPr>
          </c:dPt>
          <c:dPt>
            <c:idx val="83"/>
            <c:spPr>
              <a:solidFill>
                <a:srgbClr val="F3B58A"/>
              </a:solidFill>
            </c:spPr>
          </c:dPt>
          <c:dPt>
            <c:idx val="84"/>
            <c:spPr>
              <a:solidFill>
                <a:srgbClr val="EFE9DF"/>
              </a:solidFill>
            </c:spPr>
          </c:dPt>
          <c:dPt>
            <c:idx val="85"/>
            <c:spPr>
              <a:solidFill>
                <a:srgbClr val="EFE9DF"/>
              </a:solidFill>
            </c:spPr>
          </c:dPt>
          <c:dPt>
            <c:idx val="86"/>
            <c:spPr>
              <a:solidFill>
                <a:srgbClr val="F3B58A"/>
              </a:solidFill>
            </c:spPr>
          </c:dPt>
          <c:dPt>
            <c:idx val="87"/>
            <c:spPr>
              <a:solidFill>
                <a:srgbClr val="EFE9DF"/>
              </a:solidFill>
            </c:spPr>
          </c:dPt>
          <c:dPt>
            <c:idx val="88"/>
            <c:spPr>
              <a:solidFill>
                <a:srgbClr val="EFE9DF"/>
              </a:solidFill>
            </c:spPr>
          </c:dPt>
          <c:dPt>
            <c:idx val="89"/>
            <c:spPr>
              <a:solidFill>
                <a:srgbClr val="7A2E0E"/>
              </a:solidFill>
            </c:spPr>
          </c:dPt>
          <c:dPt>
            <c:idx val="90"/>
            <c:spPr>
              <a:solidFill>
                <a:srgbClr val="F3B58A"/>
              </a:solidFill>
            </c:spPr>
          </c:dPt>
          <c:dPt>
            <c:idx val="91"/>
            <c:spPr>
              <a:solidFill>
                <a:srgbClr val="EFE9DF"/>
              </a:solidFill>
            </c:spPr>
          </c:dPt>
          <c:dPt>
            <c:idx val="92"/>
            <c:spPr>
              <a:solidFill>
                <a:srgbClr val="EFE9DF"/>
              </a:solidFill>
            </c:spPr>
          </c:dPt>
          <c:dPt>
            <c:idx val="93"/>
            <c:spPr>
              <a:solidFill>
                <a:srgbClr val="7A2E0E"/>
              </a:solidFill>
            </c:spPr>
          </c:dPt>
          <c:dPt>
            <c:idx val="94"/>
            <c:spPr>
              <a:solidFill>
                <a:srgbClr val="F3B58A"/>
              </a:solidFill>
            </c:spPr>
          </c:dPt>
          <c:dPt>
            <c:idx val="95"/>
            <c:spPr>
              <a:solidFill>
                <a:srgbClr val="EFE9DF"/>
              </a:solidFill>
            </c:spPr>
          </c:dPt>
          <c:dPt>
            <c:idx val="96"/>
            <c:spPr>
              <a:solidFill>
                <a:srgbClr val="7A2E0E"/>
              </a:solidFill>
            </c:spPr>
          </c:dPt>
          <c:dPt>
            <c:idx val="97"/>
            <c:spPr>
              <a:solidFill>
                <a:srgbClr val="F3B58A"/>
              </a:solidFill>
            </c:spPr>
          </c:dPt>
          <c:dPt>
            <c:idx val="98"/>
            <c:spPr>
              <a:solidFill>
                <a:srgbClr val="EFE9DF"/>
              </a:solidFill>
            </c:spPr>
          </c:dPt>
          <c:dPt>
            <c:idx val="99"/>
            <c:spPr>
              <a:solidFill>
                <a:srgbClr val="7A2E0E"/>
              </a:solidFill>
            </c:spPr>
          </c:dPt>
          <c:cat>
            <c:strRef>
              <c:f>Sheet1!$A$2:$A$101</c:f>
              <c:strCach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strCache>
            </c:strRef>
          </c:cat>
          <c:val>
            <c:numRef>
              <c:f>Sheet1!$B$2:$B$101</c:f>
              <c:numCache>
                <c:formatCode>General</c:formatCode>
                <c:ptCount val="1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  <c:pt idx="12">
                  <c:v>1</c:v>
                </c:pt>
                <c:pt idx="13">
                  <c:v>0</c:v>
                </c:pt>
                <c:pt idx="14">
                  <c:v>2</c:v>
                </c:pt>
                <c:pt idx="15">
                  <c:v>1</c:v>
                </c:pt>
                <c:pt idx="16">
                  <c:v>0</c:v>
                </c:pt>
                <c:pt idx="17">
                  <c:v>0</c:v>
                </c:pt>
                <c:pt idx="18">
                  <c:v>1</c:v>
                </c:pt>
                <c:pt idx="19">
                  <c:v>0</c:v>
                </c:pt>
                <c:pt idx="20">
                  <c:v>0</c:v>
                </c:pt>
                <c:pt idx="21">
                  <c:v>1</c:v>
                </c:pt>
                <c:pt idx="22">
                  <c:v>0</c:v>
                </c:pt>
                <c:pt idx="23">
                  <c:v>0</c:v>
                </c:pt>
                <c:pt idx="24">
                  <c:v>2</c:v>
                </c:pt>
                <c:pt idx="25">
                  <c:v>0</c:v>
                </c:pt>
                <c:pt idx="26">
                  <c:v>0</c:v>
                </c:pt>
                <c:pt idx="27">
                  <c:v>1</c:v>
                </c:pt>
                <c:pt idx="28">
                  <c:v>0</c:v>
                </c:pt>
                <c:pt idx="29">
                  <c:v>0</c:v>
                </c:pt>
                <c:pt idx="30">
                  <c:v>1</c:v>
                </c:pt>
                <c:pt idx="31">
                  <c:v>0</c:v>
                </c:pt>
                <c:pt idx="32">
                  <c:v>0</c:v>
                </c:pt>
                <c:pt idx="33">
                  <c:v>1</c:v>
                </c:pt>
                <c:pt idx="34">
                  <c:v>0</c:v>
                </c:pt>
                <c:pt idx="35">
                  <c:v>0</c:v>
                </c:pt>
                <c:pt idx="36">
                  <c:v>1</c:v>
                </c:pt>
                <c:pt idx="37">
                  <c:v>0</c:v>
                </c:pt>
                <c:pt idx="38">
                  <c:v>0</c:v>
                </c:pt>
                <c:pt idx="39">
                  <c:v>2</c:v>
                </c:pt>
                <c:pt idx="40">
                  <c:v>0</c:v>
                </c:pt>
                <c:pt idx="41">
                  <c:v>0</c:v>
                </c:pt>
                <c:pt idx="42">
                  <c:v>1</c:v>
                </c:pt>
                <c:pt idx="43">
                  <c:v>0</c:v>
                </c:pt>
                <c:pt idx="44">
                  <c:v>0</c:v>
                </c:pt>
                <c:pt idx="45">
                  <c:v>1</c:v>
                </c:pt>
                <c:pt idx="46">
                  <c:v>0</c:v>
                </c:pt>
                <c:pt idx="47">
                  <c:v>0</c:v>
                </c:pt>
                <c:pt idx="48">
                  <c:v>1</c:v>
                </c:pt>
                <c:pt idx="49">
                  <c:v>2</c:v>
                </c:pt>
                <c:pt idx="50">
                  <c:v>0</c:v>
                </c:pt>
                <c:pt idx="51">
                  <c:v>1</c:v>
                </c:pt>
                <c:pt idx="52">
                  <c:v>0</c:v>
                </c:pt>
                <c:pt idx="53">
                  <c:v>0</c:v>
                </c:pt>
                <c:pt idx="54">
                  <c:v>1</c:v>
                </c:pt>
                <c:pt idx="55">
                  <c:v>0</c:v>
                </c:pt>
                <c:pt idx="56">
                  <c:v>0</c:v>
                </c:pt>
                <c:pt idx="57">
                  <c:v>1</c:v>
                </c:pt>
                <c:pt idx="58">
                  <c:v>0</c:v>
                </c:pt>
                <c:pt idx="59">
                  <c:v>2</c:v>
                </c:pt>
                <c:pt idx="60">
                  <c:v>1</c:v>
                </c:pt>
                <c:pt idx="61">
                  <c:v>0</c:v>
                </c:pt>
                <c:pt idx="62">
                  <c:v>0</c:v>
                </c:pt>
                <c:pt idx="63">
                  <c:v>1</c:v>
                </c:pt>
                <c:pt idx="64">
                  <c:v>0</c:v>
                </c:pt>
                <c:pt idx="65">
                  <c:v>0</c:v>
                </c:pt>
                <c:pt idx="66">
                  <c:v>1</c:v>
                </c:pt>
                <c:pt idx="67">
                  <c:v>0</c:v>
                </c:pt>
                <c:pt idx="68">
                  <c:v>0</c:v>
                </c:pt>
                <c:pt idx="69">
                  <c:v>2</c:v>
                </c:pt>
                <c:pt idx="70">
                  <c:v>1</c:v>
                </c:pt>
                <c:pt idx="71">
                  <c:v>0</c:v>
                </c:pt>
                <c:pt idx="72">
                  <c:v>3</c:v>
                </c:pt>
                <c:pt idx="73">
                  <c:v>0</c:v>
                </c:pt>
                <c:pt idx="74">
                  <c:v>0</c:v>
                </c:pt>
                <c:pt idx="75">
                  <c:v>1</c:v>
                </c:pt>
                <c:pt idx="76">
                  <c:v>0</c:v>
                </c:pt>
                <c:pt idx="77">
                  <c:v>3</c:v>
                </c:pt>
                <c:pt idx="78">
                  <c:v>0</c:v>
                </c:pt>
                <c:pt idx="79">
                  <c:v>3</c:v>
                </c:pt>
                <c:pt idx="80">
                  <c:v>1</c:v>
                </c:pt>
                <c:pt idx="81">
                  <c:v>0</c:v>
                </c:pt>
                <c:pt idx="82">
                  <c:v>0</c:v>
                </c:pt>
                <c:pt idx="83">
                  <c:v>1</c:v>
                </c:pt>
                <c:pt idx="84">
                  <c:v>0</c:v>
                </c:pt>
                <c:pt idx="85">
                  <c:v>0</c:v>
                </c:pt>
                <c:pt idx="86">
                  <c:v>1</c:v>
                </c:pt>
                <c:pt idx="87">
                  <c:v>0</c:v>
                </c:pt>
                <c:pt idx="88">
                  <c:v>0</c:v>
                </c:pt>
                <c:pt idx="89">
                  <c:v>3</c:v>
                </c:pt>
                <c:pt idx="90">
                  <c:v>1</c:v>
                </c:pt>
                <c:pt idx="91">
                  <c:v>0</c:v>
                </c:pt>
                <c:pt idx="92">
                  <c:v>0</c:v>
                </c:pt>
                <c:pt idx="93">
                  <c:v>3</c:v>
                </c:pt>
                <c:pt idx="94">
                  <c:v>1</c:v>
                </c:pt>
                <c:pt idx="95">
                  <c:v>0</c:v>
                </c:pt>
                <c:pt idx="96">
                  <c:v>3</c:v>
                </c:pt>
                <c:pt idx="97">
                  <c:v>1</c:v>
                </c:pt>
                <c:pt idx="98">
                  <c:v>0</c:v>
                </c:pt>
                <c:pt idx="99">
                  <c:v>3</c:v>
                </c:pt>
              </c:numCache>
            </c:numRef>
          </c:val>
        </c:ser>
        <c:gapWidth val="25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긴장 곡선 (최근 5층 평균)</c:v>
                </c:pt>
              </c:strCache>
            </c:strRef>
          </c:tx>
          <c:spPr>
            <a:ln w="28575">
              <a:solidFill>
                <a:srgbClr val="3C2D23"/>
              </a:solidFill>
            </a:ln>
          </c:spPr>
          <c:marker>
            <c:symbol val="none"/>
          </c:marker>
          <c:cat>
            <c:strRef>
              <c:f>Sheet1!$A$2:$A$101</c:f>
              <c:strCach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strCache>
            </c:strRef>
          </c:cat>
          <c:val>
            <c:numRef>
              <c:f>Sheet1!$C$2:$C$101</c:f>
              <c:numCache>
                <c:formatCode>General</c:formatCode>
                <c:ptCount val="10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0.25</c:v>
                </c:pt>
                <c:pt idx="4">
                  <c:v>0.2</c:v>
                </c:pt>
                <c:pt idx="5">
                  <c:v>0.2</c:v>
                </c:pt>
                <c:pt idx="6">
                  <c:v>0.4</c:v>
                </c:pt>
                <c:pt idx="7">
                  <c:v>0.4</c:v>
                </c:pt>
                <c:pt idx="8">
                  <c:v>0.2</c:v>
                </c:pt>
                <c:pt idx="9">
                  <c:v>0.4</c:v>
                </c:pt>
                <c:pt idx="10">
                  <c:v>0.4</c:v>
                </c:pt>
                <c:pt idx="11">
                  <c:v>0.2</c:v>
                </c:pt>
                <c:pt idx="12">
                  <c:v>0.4</c:v>
                </c:pt>
                <c:pt idx="13">
                  <c:v>0.4</c:v>
                </c:pt>
                <c:pt idx="14">
                  <c:v>0.6</c:v>
                </c:pt>
                <c:pt idx="15">
                  <c:v>0.8</c:v>
                </c:pt>
                <c:pt idx="16">
                  <c:v>0.8</c:v>
                </c:pt>
                <c:pt idx="17">
                  <c:v>0.6</c:v>
                </c:pt>
                <c:pt idx="18">
                  <c:v>0.8</c:v>
                </c:pt>
                <c:pt idx="19">
                  <c:v>0.4</c:v>
                </c:pt>
                <c:pt idx="20">
                  <c:v>0.2</c:v>
                </c:pt>
                <c:pt idx="21">
                  <c:v>0.4</c:v>
                </c:pt>
                <c:pt idx="22">
                  <c:v>0.4</c:v>
                </c:pt>
                <c:pt idx="23">
                  <c:v>0.2</c:v>
                </c:pt>
                <c:pt idx="24">
                  <c:v>0.6</c:v>
                </c:pt>
                <c:pt idx="25">
                  <c:v>0.6</c:v>
                </c:pt>
                <c:pt idx="26">
                  <c:v>0.4</c:v>
                </c:pt>
                <c:pt idx="27">
                  <c:v>0.6</c:v>
                </c:pt>
                <c:pt idx="28">
                  <c:v>0.6</c:v>
                </c:pt>
                <c:pt idx="29">
                  <c:v>0.2</c:v>
                </c:pt>
                <c:pt idx="30">
                  <c:v>0.4</c:v>
                </c:pt>
                <c:pt idx="31">
                  <c:v>0.4</c:v>
                </c:pt>
                <c:pt idx="32">
                  <c:v>0.2</c:v>
                </c:pt>
                <c:pt idx="33">
                  <c:v>0.4</c:v>
                </c:pt>
                <c:pt idx="34">
                  <c:v>0.4</c:v>
                </c:pt>
                <c:pt idx="35">
                  <c:v>0.2</c:v>
                </c:pt>
                <c:pt idx="36">
                  <c:v>0.4</c:v>
                </c:pt>
                <c:pt idx="37">
                  <c:v>0.4</c:v>
                </c:pt>
                <c:pt idx="38">
                  <c:v>0.2</c:v>
                </c:pt>
                <c:pt idx="39">
                  <c:v>0.6</c:v>
                </c:pt>
                <c:pt idx="40">
                  <c:v>0.6</c:v>
                </c:pt>
                <c:pt idx="41">
                  <c:v>0.4</c:v>
                </c:pt>
                <c:pt idx="42">
                  <c:v>0.6</c:v>
                </c:pt>
                <c:pt idx="43">
                  <c:v>0.6</c:v>
                </c:pt>
                <c:pt idx="44">
                  <c:v>0.2</c:v>
                </c:pt>
                <c:pt idx="45">
                  <c:v>0.4</c:v>
                </c:pt>
                <c:pt idx="46">
                  <c:v>0.4</c:v>
                </c:pt>
                <c:pt idx="47">
                  <c:v>0.2</c:v>
                </c:pt>
                <c:pt idx="48">
                  <c:v>0.4</c:v>
                </c:pt>
                <c:pt idx="49">
                  <c:v>0.8</c:v>
                </c:pt>
                <c:pt idx="50">
                  <c:v>0.6</c:v>
                </c:pt>
                <c:pt idx="51">
                  <c:v>0.8</c:v>
                </c:pt>
                <c:pt idx="52">
                  <c:v>0.8</c:v>
                </c:pt>
                <c:pt idx="53">
                  <c:v>0.6</c:v>
                </c:pt>
                <c:pt idx="54">
                  <c:v>0.4</c:v>
                </c:pt>
                <c:pt idx="55">
                  <c:v>0.4</c:v>
                </c:pt>
                <c:pt idx="56">
                  <c:v>0.2</c:v>
                </c:pt>
                <c:pt idx="57">
                  <c:v>0.4</c:v>
                </c:pt>
                <c:pt idx="58">
                  <c:v>0.4</c:v>
                </c:pt>
                <c:pt idx="59">
                  <c:v>0.6</c:v>
                </c:pt>
                <c:pt idx="60">
                  <c:v>0.8</c:v>
                </c:pt>
                <c:pt idx="61">
                  <c:v>0.8</c:v>
                </c:pt>
                <c:pt idx="62">
                  <c:v>0.6</c:v>
                </c:pt>
                <c:pt idx="63">
                  <c:v>0.8</c:v>
                </c:pt>
                <c:pt idx="64">
                  <c:v>0.4</c:v>
                </c:pt>
                <c:pt idx="65">
                  <c:v>0.2</c:v>
                </c:pt>
                <c:pt idx="66">
                  <c:v>0.4</c:v>
                </c:pt>
                <c:pt idx="67">
                  <c:v>0.4</c:v>
                </c:pt>
                <c:pt idx="68">
                  <c:v>0.2</c:v>
                </c:pt>
                <c:pt idx="69">
                  <c:v>0.6</c:v>
                </c:pt>
                <c:pt idx="70">
                  <c:v>0.8</c:v>
                </c:pt>
                <c:pt idx="71">
                  <c:v>0.6</c:v>
                </c:pt>
                <c:pt idx="72">
                  <c:v>1.2</c:v>
                </c:pt>
                <c:pt idx="73">
                  <c:v>1.2</c:v>
                </c:pt>
                <c:pt idx="74">
                  <c:v>0.8</c:v>
                </c:pt>
                <c:pt idx="75">
                  <c:v>0.8</c:v>
                </c:pt>
                <c:pt idx="76">
                  <c:v>0.8</c:v>
                </c:pt>
                <c:pt idx="77">
                  <c:v>0.8</c:v>
                </c:pt>
                <c:pt idx="78">
                  <c:v>0.8</c:v>
                </c:pt>
                <c:pt idx="79">
                  <c:v>1.4</c:v>
                </c:pt>
                <c:pt idx="80">
                  <c:v>1.4</c:v>
                </c:pt>
                <c:pt idx="81">
                  <c:v>1.4</c:v>
                </c:pt>
                <c:pt idx="82">
                  <c:v>0.8</c:v>
                </c:pt>
                <c:pt idx="83">
                  <c:v>1.0</c:v>
                </c:pt>
                <c:pt idx="84">
                  <c:v>0.4</c:v>
                </c:pt>
                <c:pt idx="85">
                  <c:v>0.2</c:v>
                </c:pt>
                <c:pt idx="86">
                  <c:v>0.4</c:v>
                </c:pt>
                <c:pt idx="87">
                  <c:v>0.4</c:v>
                </c:pt>
                <c:pt idx="88">
                  <c:v>0.2</c:v>
                </c:pt>
                <c:pt idx="89">
                  <c:v>0.8</c:v>
                </c:pt>
                <c:pt idx="90">
                  <c:v>1.0</c:v>
                </c:pt>
                <c:pt idx="91">
                  <c:v>0.8</c:v>
                </c:pt>
                <c:pt idx="92">
                  <c:v>0.8</c:v>
                </c:pt>
                <c:pt idx="93">
                  <c:v>1.4</c:v>
                </c:pt>
                <c:pt idx="94">
                  <c:v>1.0</c:v>
                </c:pt>
                <c:pt idx="95">
                  <c:v>0.8</c:v>
                </c:pt>
                <c:pt idx="96">
                  <c:v>1.4</c:v>
                </c:pt>
                <c:pt idx="97">
                  <c:v>1.6</c:v>
                </c:pt>
                <c:pt idx="98">
                  <c:v>1.0</c:v>
                </c:pt>
                <c:pt idx="99">
                  <c:v>1.4</c:v>
                </c:pt>
              </c:numCache>
            </c:numRef>
          </c:val>
          <c:smooth val="0"/>
        </c:ser>
        <c:marker val="1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 b="0" i="0">
                    <a:solidFill>
                      <a:srgbClr val="6B5E54"/>
                    </a:solidFill>
                    <a:latin typeface="Noto Sans KR"/>
                    <a:ea typeface="Noto Sans KR"/>
                  </a:rPr>
                  <a:t>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A7ADB7"/>
            </a:solidFill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-2113994440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-2113994440"/>
        <c:scaling>
          <c:max val="3.0"/>
          <c:min val="0.0"/>
        </c:scaling>
        <c:delete val="0"/>
        <c:axPos val="l"/>
        <c:majorGridlines>
          <c:spPr>
            <a:ln>
              <a:solidFill>
                <a:srgbClr val="E7DFD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 i="0">
                    <a:solidFill>
                      <a:srgbClr val="6B5E54"/>
                    </a:solidFill>
                    <a:latin typeface="Noto Sans KR"/>
                    <a:ea typeface="Noto Sans KR"/>
                  </a:rPr>
                  <a:t>단계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-2068027336"/>
        <c:crosses val="autoZero"/>
        <c:majorUnit val="1.0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6B5E54"/>
              </a:solidFill>
              <a:latin typeface="Noto Sans KR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6B5E54"/>
          </a:solidFill>
          <a:latin typeface="Noto Sans KR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요구 전투력 R_f 의 자릿수 분해 (log₁₀)</a:t>
            </a:r>
          </a:p>
        </c:rich>
      </c:tx>
      <c:layout/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모을 수 있는 보상 A(s_f, f)</c:v>
                </c:pt>
              </c:strCache>
            </c:strRef>
          </c:tx>
          <c:spPr>
            <a:solidFill>
              <a:srgbClr val="F3B58A"/>
            </a:solidFill>
            <a:ln>
              <a:noFill/>
            </a:ln>
          </c:spPr>
          <c:cat>
            <c:strRef>
              <c:f>Sheet1!$A$2:$A$101</c:f>
              <c:strCach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strCache>
            </c:strRef>
          </c:cat>
          <c:val>
            <c:numRef>
              <c:f>Sheet1!$B$2:$B$101</c:f>
              <c:numCache>
                <c:formatCode>General</c:formatCode>
                <c:ptCount val="100"/>
                <c:pt idx="0">
                  <c:v>0.0</c:v>
                </c:pt>
                <c:pt idx="1">
                  <c:v>0.41140139661868996</c:v>
                </c:pt>
                <c:pt idx="2">
                  <c:v>0.7050942886328305</c:v>
                </c:pt>
                <c:pt idx="3">
                  <c:v>0.9545134996058047</c:v>
                </c:pt>
                <c:pt idx="4">
                  <c:v>1.1823347272296285</c:v>
                </c:pt>
                <c:pt idx="5">
                  <c:v>1.3983470911099494</c:v>
                </c:pt>
                <c:pt idx="6">
                  <c:v>1.6075043211324518</c:v>
                </c:pt>
                <c:pt idx="7">
                  <c:v>1.812544027462911</c:v>
                </c:pt>
                <c:pt idx="8">
                  <c:v>2.015059896130634</c:v>
                </c:pt>
                <c:pt idx="9">
                  <c:v>2.2160095482972673</c:v>
                </c:pt>
                <c:pt idx="10">
                  <c:v>2.4159798011938434</c:v>
                </c:pt>
                <c:pt idx="11">
                  <c:v>2.615334681904488</c:v>
                </c:pt>
                <c:pt idx="12">
                  <c:v>2.8136352323147085</c:v>
                </c:pt>
                <c:pt idx="13">
                  <c:v>3.011935782724929</c:v>
                </c:pt>
                <c:pt idx="14">
                  <c:v>3.2102363331351493</c:v>
                </c:pt>
                <c:pt idx="15">
                  <c:v>3.40853688354537</c:v>
                </c:pt>
                <c:pt idx="16">
                  <c:v>3.6068374339555906</c:v>
                </c:pt>
                <c:pt idx="17">
                  <c:v>3.805137984365811</c:v>
                </c:pt>
                <c:pt idx="18">
                  <c:v>4.0034385347760315</c:v>
                </c:pt>
                <c:pt idx="19">
                  <c:v>4.201739085186252</c:v>
                </c:pt>
                <c:pt idx="20">
                  <c:v>4.400039635596473</c:v>
                </c:pt>
                <c:pt idx="21">
                  <c:v>4.598340186006693</c:v>
                </c:pt>
                <c:pt idx="22">
                  <c:v>4.796640736416913</c:v>
                </c:pt>
                <c:pt idx="23">
                  <c:v>4.9949412868271335</c:v>
                </c:pt>
                <c:pt idx="24">
                  <c:v>5.1932418372373546</c:v>
                </c:pt>
                <c:pt idx="25">
                  <c:v>5.391542387647575</c:v>
                </c:pt>
                <c:pt idx="26">
                  <c:v>5.589842938057795</c:v>
                </c:pt>
                <c:pt idx="27">
                  <c:v>5.788143488468016</c:v>
                </c:pt>
                <c:pt idx="28">
                  <c:v>5.986444038878236</c:v>
                </c:pt>
                <c:pt idx="29">
                  <c:v>6.1847445892884565</c:v>
                </c:pt>
                <c:pt idx="30">
                  <c:v>6.383045139698678</c:v>
                </c:pt>
                <c:pt idx="31">
                  <c:v>6.581345690108898</c:v>
                </c:pt>
                <c:pt idx="32">
                  <c:v>6.779646240519118</c:v>
                </c:pt>
                <c:pt idx="33">
                  <c:v>6.977946790929339</c:v>
                </c:pt>
                <c:pt idx="34">
                  <c:v>7.176247341339559</c:v>
                </c:pt>
                <c:pt idx="35">
                  <c:v>7.3745478917497795</c:v>
                </c:pt>
                <c:pt idx="36">
                  <c:v>7.57284844216</c:v>
                </c:pt>
                <c:pt idx="37">
                  <c:v>7.771148992570221</c:v>
                </c:pt>
                <c:pt idx="38">
                  <c:v>7.969449542980441</c:v>
                </c:pt>
                <c:pt idx="39">
                  <c:v>8.167750093390662</c:v>
                </c:pt>
                <c:pt idx="40">
                  <c:v>8.366050643800882</c:v>
                </c:pt>
                <c:pt idx="41">
                  <c:v>8.564351194211103</c:v>
                </c:pt>
                <c:pt idx="42">
                  <c:v>8.762651744621323</c:v>
                </c:pt>
                <c:pt idx="43">
                  <c:v>8.960952295031543</c:v>
                </c:pt>
                <c:pt idx="44">
                  <c:v>9.159252845441763</c:v>
                </c:pt>
                <c:pt idx="45">
                  <c:v>9.357553395851985</c:v>
                </c:pt>
                <c:pt idx="46">
                  <c:v>9.555853946262205</c:v>
                </c:pt>
                <c:pt idx="47">
                  <c:v>9.754154496672426</c:v>
                </c:pt>
                <c:pt idx="48">
                  <c:v>9.952455047082646</c:v>
                </c:pt>
                <c:pt idx="49">
                  <c:v>10.150755597492866</c:v>
                </c:pt>
                <c:pt idx="50">
                  <c:v>10.349056147903086</c:v>
                </c:pt>
                <c:pt idx="51">
                  <c:v>10.547356698313308</c:v>
                </c:pt>
                <c:pt idx="52">
                  <c:v>10.745657248723528</c:v>
                </c:pt>
                <c:pt idx="53">
                  <c:v>10.943957799133749</c:v>
                </c:pt>
                <c:pt idx="54">
                  <c:v>11.142258349543969</c:v>
                </c:pt>
                <c:pt idx="55">
                  <c:v>11.340558899954189</c:v>
                </c:pt>
                <c:pt idx="56">
                  <c:v>11.53885945036441</c:v>
                </c:pt>
                <c:pt idx="57">
                  <c:v>11.73716000077463</c:v>
                </c:pt>
                <c:pt idx="58">
                  <c:v>11.935460551184851</c:v>
                </c:pt>
                <c:pt idx="59">
                  <c:v>12.133761101595072</c:v>
                </c:pt>
                <c:pt idx="60">
                  <c:v>12.332061652005292</c:v>
                </c:pt>
                <c:pt idx="61">
                  <c:v>12.530362202415512</c:v>
                </c:pt>
                <c:pt idx="62">
                  <c:v>12.728662752825732</c:v>
                </c:pt>
                <c:pt idx="63">
                  <c:v>12.926963303235953</c:v>
                </c:pt>
                <c:pt idx="64">
                  <c:v>13.125263853646175</c:v>
                </c:pt>
                <c:pt idx="65">
                  <c:v>13.323564404056395</c:v>
                </c:pt>
                <c:pt idx="66">
                  <c:v>13.521864954466615</c:v>
                </c:pt>
                <c:pt idx="67">
                  <c:v>13.720165504876835</c:v>
                </c:pt>
                <c:pt idx="68">
                  <c:v>13.918466055287055</c:v>
                </c:pt>
                <c:pt idx="69">
                  <c:v>14.116766605697276</c:v>
                </c:pt>
                <c:pt idx="70">
                  <c:v>14.315067156107498</c:v>
                </c:pt>
                <c:pt idx="71">
                  <c:v>14.497040097796784</c:v>
                </c:pt>
                <c:pt idx="72">
                  <c:v>14.695340648207004</c:v>
                </c:pt>
                <c:pt idx="73">
                  <c:v>14.893641198617225</c:v>
                </c:pt>
                <c:pt idx="74">
                  <c:v>15.091941749027445</c:v>
                </c:pt>
                <c:pt idx="75">
                  <c:v>15.290242299437665</c:v>
                </c:pt>
                <c:pt idx="76">
                  <c:v>15.488542849847885</c:v>
                </c:pt>
                <c:pt idx="77">
                  <c:v>15.686843400258105</c:v>
                </c:pt>
                <c:pt idx="78">
                  <c:v>15.885143950668327</c:v>
                </c:pt>
                <c:pt idx="79">
                  <c:v>16.083444501078546</c:v>
                </c:pt>
                <c:pt idx="80">
                  <c:v>16.281745051488766</c:v>
                </c:pt>
                <c:pt idx="81">
                  <c:v>16.48004560189899</c:v>
                </c:pt>
                <c:pt idx="82">
                  <c:v>16.67834615230921</c:v>
                </c:pt>
                <c:pt idx="83">
                  <c:v>16.87664670271943</c:v>
                </c:pt>
                <c:pt idx="84">
                  <c:v>17.07494725312965</c:v>
                </c:pt>
                <c:pt idx="85">
                  <c:v>17.27324780353987</c:v>
                </c:pt>
                <c:pt idx="86">
                  <c:v>17.47154835395009</c:v>
                </c:pt>
                <c:pt idx="87">
                  <c:v>17.66984890436031</c:v>
                </c:pt>
                <c:pt idx="88">
                  <c:v>17.86814945477053</c:v>
                </c:pt>
                <c:pt idx="89">
                  <c:v>18.06645000518075</c:v>
                </c:pt>
                <c:pt idx="90">
                  <c:v>18.26475055559097</c:v>
                </c:pt>
                <c:pt idx="91">
                  <c:v>18.463051106001192</c:v>
                </c:pt>
                <c:pt idx="92">
                  <c:v>18.661351656411412</c:v>
                </c:pt>
                <c:pt idx="93">
                  <c:v>18.859652206821632</c:v>
                </c:pt>
                <c:pt idx="94">
                  <c:v>19.057952757231856</c:v>
                </c:pt>
                <c:pt idx="95">
                  <c:v>19.256253307642076</c:v>
                </c:pt>
                <c:pt idx="96">
                  <c:v>19.454553858052297</c:v>
                </c:pt>
                <c:pt idx="97">
                  <c:v>19.652854408462517</c:v>
                </c:pt>
                <c:pt idx="98">
                  <c:v>19.851154958872737</c:v>
                </c:pt>
                <c:pt idx="99">
                  <c:v>20.049455509282957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성장 계수 G_f</c:v>
                </c:pt>
              </c:strCache>
            </c:strRef>
          </c:tx>
          <c:spPr>
            <a:solidFill>
              <a:srgbClr val="7A2E0E"/>
            </a:solidFill>
            <a:ln>
              <a:noFill/>
            </a:ln>
          </c:spPr>
          <c:cat>
            <c:strRef>
              <c:f>Sheet1!$A$2:$A$101</c:f>
              <c:strCach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strCache>
            </c:strRef>
          </c:cat>
          <c:val>
            <c:numRef>
              <c:f>Sheet1!$C$2:$C$101</c:f>
              <c:numCache>
                <c:formatCode>General</c:formatCode>
                <c:ptCount val="10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0.11394335230683678</c:v>
                </c:pt>
                <c:pt idx="4">
                  <c:v>0.11394335230683678</c:v>
                </c:pt>
                <c:pt idx="5">
                  <c:v>0.11394335230683678</c:v>
                </c:pt>
                <c:pt idx="6">
                  <c:v>0.22788670461367358</c:v>
                </c:pt>
                <c:pt idx="7">
                  <c:v>0.22788670461367358</c:v>
                </c:pt>
                <c:pt idx="8">
                  <c:v>0.22788670461367358</c:v>
                </c:pt>
                <c:pt idx="9">
                  <c:v>0.34183005692051033</c:v>
                </c:pt>
                <c:pt idx="10">
                  <c:v>0.34183005692051033</c:v>
                </c:pt>
                <c:pt idx="11">
                  <c:v>0.34183005692051033</c:v>
                </c:pt>
                <c:pt idx="12">
                  <c:v>0.45577340922734716</c:v>
                </c:pt>
                <c:pt idx="13">
                  <c:v>0.45577340922734716</c:v>
                </c:pt>
                <c:pt idx="14">
                  <c:v>0.6836601138410207</c:v>
                </c:pt>
                <c:pt idx="15">
                  <c:v>0.7976034661478575</c:v>
                </c:pt>
                <c:pt idx="16">
                  <c:v>0.7976034661478575</c:v>
                </c:pt>
                <c:pt idx="17">
                  <c:v>0.7976034661478575</c:v>
                </c:pt>
                <c:pt idx="18">
                  <c:v>0.9115468184546943</c:v>
                </c:pt>
                <c:pt idx="19">
                  <c:v>0.9115468184546943</c:v>
                </c:pt>
                <c:pt idx="20">
                  <c:v>0.9115468184546943</c:v>
                </c:pt>
                <c:pt idx="21">
                  <c:v>1.0254901707615312</c:v>
                </c:pt>
                <c:pt idx="22">
                  <c:v>1.0254901707615312</c:v>
                </c:pt>
                <c:pt idx="23">
                  <c:v>1.0254901707615312</c:v>
                </c:pt>
                <c:pt idx="24">
                  <c:v>1.2533768753752046</c:v>
                </c:pt>
                <c:pt idx="25">
                  <c:v>1.2533768753752046</c:v>
                </c:pt>
                <c:pt idx="26">
                  <c:v>1.2533768753752046</c:v>
                </c:pt>
                <c:pt idx="27">
                  <c:v>1.3673202276820415</c:v>
                </c:pt>
                <c:pt idx="28">
                  <c:v>1.3673202276820415</c:v>
                </c:pt>
                <c:pt idx="29">
                  <c:v>1.3673202276820415</c:v>
                </c:pt>
                <c:pt idx="30">
                  <c:v>1.4812635799888783</c:v>
                </c:pt>
                <c:pt idx="31">
                  <c:v>1.4812635799888783</c:v>
                </c:pt>
                <c:pt idx="32">
                  <c:v>1.4812635799888783</c:v>
                </c:pt>
                <c:pt idx="33">
                  <c:v>1.595206932295715</c:v>
                </c:pt>
                <c:pt idx="34">
                  <c:v>1.595206932295715</c:v>
                </c:pt>
                <c:pt idx="35">
                  <c:v>1.595206932295715</c:v>
                </c:pt>
                <c:pt idx="36">
                  <c:v>1.7091502846025517</c:v>
                </c:pt>
                <c:pt idx="37">
                  <c:v>1.7091502846025517</c:v>
                </c:pt>
                <c:pt idx="38">
                  <c:v>1.7091502846025517</c:v>
                </c:pt>
                <c:pt idx="39">
                  <c:v>1.9370369892162254</c:v>
                </c:pt>
                <c:pt idx="40">
                  <c:v>1.9370369892162254</c:v>
                </c:pt>
                <c:pt idx="41">
                  <c:v>1.9370369892162254</c:v>
                </c:pt>
                <c:pt idx="42">
                  <c:v>2.0509803415230623</c:v>
                </c:pt>
                <c:pt idx="43">
                  <c:v>2.0509803415230623</c:v>
                </c:pt>
                <c:pt idx="44">
                  <c:v>2.0509803415230623</c:v>
                </c:pt>
                <c:pt idx="45">
                  <c:v>2.164923693829899</c:v>
                </c:pt>
                <c:pt idx="46">
                  <c:v>2.164923693829899</c:v>
                </c:pt>
                <c:pt idx="47">
                  <c:v>2.164923693829899</c:v>
                </c:pt>
                <c:pt idx="48">
                  <c:v>2.2788670461367357</c:v>
                </c:pt>
                <c:pt idx="49">
                  <c:v>2.506753750750409</c:v>
                </c:pt>
                <c:pt idx="50">
                  <c:v>2.506753750750409</c:v>
                </c:pt>
                <c:pt idx="51">
                  <c:v>2.620697103057246</c:v>
                </c:pt>
                <c:pt idx="52">
                  <c:v>2.620697103057246</c:v>
                </c:pt>
                <c:pt idx="53">
                  <c:v>2.620697103057246</c:v>
                </c:pt>
                <c:pt idx="54">
                  <c:v>2.7346404553640826</c:v>
                </c:pt>
                <c:pt idx="55">
                  <c:v>2.7346404553640826</c:v>
                </c:pt>
                <c:pt idx="56">
                  <c:v>2.7346404553640826</c:v>
                </c:pt>
                <c:pt idx="57">
                  <c:v>2.8485838076709196</c:v>
                </c:pt>
                <c:pt idx="58">
                  <c:v>2.8485838076709196</c:v>
                </c:pt>
                <c:pt idx="59">
                  <c:v>3.076470512284593</c:v>
                </c:pt>
                <c:pt idx="60">
                  <c:v>3.19041386459143</c:v>
                </c:pt>
                <c:pt idx="61">
                  <c:v>3.19041386459143</c:v>
                </c:pt>
                <c:pt idx="62">
                  <c:v>3.19041386459143</c:v>
                </c:pt>
                <c:pt idx="63">
                  <c:v>3.304357216898267</c:v>
                </c:pt>
                <c:pt idx="64">
                  <c:v>3.304357216898267</c:v>
                </c:pt>
                <c:pt idx="65">
                  <c:v>3.304357216898267</c:v>
                </c:pt>
                <c:pt idx="66">
                  <c:v>3.4183005692051034</c:v>
                </c:pt>
                <c:pt idx="67">
                  <c:v>3.4183005692051034</c:v>
                </c:pt>
                <c:pt idx="68">
                  <c:v>3.4183005692051034</c:v>
                </c:pt>
                <c:pt idx="69">
                  <c:v>3.6461872738187773</c:v>
                </c:pt>
                <c:pt idx="70">
                  <c:v>3.7601306261256138</c:v>
                </c:pt>
                <c:pt idx="71">
                  <c:v>3.7601306261256138</c:v>
                </c:pt>
                <c:pt idx="72">
                  <c:v>4.101960683046125</c:v>
                </c:pt>
                <c:pt idx="73">
                  <c:v>4.101960683046125</c:v>
                </c:pt>
                <c:pt idx="74">
                  <c:v>4.101960683046125</c:v>
                </c:pt>
                <c:pt idx="75">
                  <c:v>4.215904035352961</c:v>
                </c:pt>
                <c:pt idx="76">
                  <c:v>4.215904035352961</c:v>
                </c:pt>
                <c:pt idx="77">
                  <c:v>4.5577340922734715</c:v>
                </c:pt>
                <c:pt idx="78">
                  <c:v>4.5577340922734715</c:v>
                </c:pt>
                <c:pt idx="79">
                  <c:v>4.899564149193981</c:v>
                </c:pt>
                <c:pt idx="80">
                  <c:v>5.013507501500818</c:v>
                </c:pt>
                <c:pt idx="81">
                  <c:v>5.013507501500818</c:v>
                </c:pt>
                <c:pt idx="82">
                  <c:v>5.013507501500818</c:v>
                </c:pt>
                <c:pt idx="83">
                  <c:v>5.127450853807655</c:v>
                </c:pt>
                <c:pt idx="84">
                  <c:v>5.127450853807655</c:v>
                </c:pt>
                <c:pt idx="85">
                  <c:v>5.127450853807655</c:v>
                </c:pt>
                <c:pt idx="86">
                  <c:v>5.241394206114492</c:v>
                </c:pt>
                <c:pt idx="87">
                  <c:v>5.241394206114492</c:v>
                </c:pt>
                <c:pt idx="88">
                  <c:v>5.241394206114492</c:v>
                </c:pt>
                <c:pt idx="89">
                  <c:v>5.583224263035002</c:v>
                </c:pt>
                <c:pt idx="90">
                  <c:v>5.697167615341839</c:v>
                </c:pt>
                <c:pt idx="91">
                  <c:v>5.697167615341839</c:v>
                </c:pt>
                <c:pt idx="92">
                  <c:v>5.697167615341839</c:v>
                </c:pt>
                <c:pt idx="93">
                  <c:v>6.03899767226235</c:v>
                </c:pt>
                <c:pt idx="94">
                  <c:v>6.152941024569186</c:v>
                </c:pt>
                <c:pt idx="95">
                  <c:v>6.152941024569186</c:v>
                </c:pt>
                <c:pt idx="96">
                  <c:v>6.494771081489697</c:v>
                </c:pt>
                <c:pt idx="97">
                  <c:v>6.608714433796534</c:v>
                </c:pt>
                <c:pt idx="98">
                  <c:v>6.608714433796534</c:v>
                </c:pt>
                <c:pt idx="99">
                  <c:v>6.950544490717044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 b="0" i="0">
                    <a:solidFill>
                      <a:srgbClr val="6B5E54"/>
                    </a:solidFill>
                    <a:latin typeface="Noto Sans KR"/>
                    <a:ea typeface="Noto Sans KR"/>
                  </a:rPr>
                  <a:t>층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A7ADB7"/>
            </a:solidFill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-2100718248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-2100718248"/>
        <c:scaling>
          <c:orientation val="minMax"/>
          <c:max val="27.0"/>
          <c:min val="0.0"/>
        </c:scaling>
        <c:delete val="0"/>
        <c:axPos val="l"/>
        <c:majorGridlines>
          <c:spPr>
            <a:ln>
              <a:solidFill>
                <a:srgbClr val="E7DFD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 i="0">
                    <a:solidFill>
                      <a:srgbClr val="6B5E54"/>
                    </a:solidFill>
                    <a:latin typeface="Noto Sans KR"/>
                    <a:ea typeface="Noto Sans KR"/>
                  </a:rPr>
                  <a:t>자릿수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-2101159928"/>
        <c:crosses val="autoZero"/>
        <c:crossBetween val="midCat"/>
        <c:majorUnit val="3.0"/>
      </c:valAx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6B5E54"/>
              </a:solidFill>
              <a:latin typeface="Noto Sans KR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000">
          <a:solidFill>
            <a:srgbClr val="6B5E54"/>
          </a:solidFill>
          <a:latin typeface="Noto Sans KR"/>
        </a:defRPr>
      </a:pPr>
      <a:endParaRPr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100층까지 총 도전 횟수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100층까지 총 도전 횟수</c:v>
                </c:pt>
              </c:strCache>
            </c:strRef>
          </c:tx>
          <c:spPr>
            <a:ln w="31750">
              <a:solidFill>
                <a:srgbClr val="3C2D23"/>
              </a:solidFill>
            </a:ln>
          </c:spPr>
          <c:marker>
            <c:symbol val="circle"/>
            <c:size val="7"/>
            <c:spPr>
              <a:solidFill>
                <a:srgbClr val="3C2D23"/>
              </a:solidFill>
            </c:spPr>
          </c:marker>
          <c:dLbls>
            <c:numFmt formatCode="0" sourceLinked="0"/>
            <c:txPr>
              <a:bodyPr/>
              <a:lstStyle/>
              <a:p>
                <a:pPr>
                  <a:defRPr sz="900" b="0">
                    <a:solidFill>
                      <a:srgbClr val="000000"/>
                    </a:solidFill>
                    <a:latin typeface="Noto Sans KR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1.25</c:v>
                </c:pt>
                <c:pt idx="2">
                  <c:v>1.5</c:v>
                </c:pt>
                <c:pt idx="3">
                  <c:v>1.75</c:v>
                </c:pt>
                <c:pt idx="4">
                  <c:v>2</c:v>
                </c:pt>
                <c:pt idx="5">
                  <c:v>2.25</c:v>
                </c:pt>
                <c:pt idx="6">
                  <c:v>2.5</c:v>
                </c:pt>
                <c:pt idx="7">
                  <c:v>2.75</c:v>
                </c:pt>
                <c:pt idx="8">
                  <c:v>3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62</c:v>
                </c:pt>
                <c:pt idx="1">
                  <c:v>50</c:v>
                </c:pt>
                <c:pt idx="2">
                  <c:v>42</c:v>
                </c:pt>
                <c:pt idx="3">
                  <c:v>36</c:v>
                </c:pt>
                <c:pt idx="4">
                  <c:v>32</c:v>
                </c:pt>
                <c:pt idx="5">
                  <c:v>29</c:v>
                </c:pt>
                <c:pt idx="6">
                  <c:v>26</c:v>
                </c:pt>
                <c:pt idx="7">
                  <c:v>24</c:v>
                </c:pt>
                <c:pt idx="8">
                  <c:v>22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 b="0" i="0">
                    <a:solidFill>
                      <a:srgbClr val="6B5E54"/>
                    </a:solidFill>
                    <a:latin typeface="Noto Sans KR"/>
                    <a:ea typeface="Noto Sans KR"/>
                  </a:rPr>
                  <a:t>실패 1회당 공급 (단계, 1단계 = ×1.3)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A7ADB7"/>
            </a:solidFill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0.0"/>
          <c:min val="0.0"/>
        </c:scaling>
        <c:delete val="0"/>
        <c:axPos val="l"/>
        <c:majorGridlines>
          <c:spPr>
            <a:ln>
              <a:solidFill>
                <a:srgbClr val="E7DF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6B5E54"/>
          </a:solidFill>
          <a:latin typeface="Noto Sans KR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목표 일치 허들 수 (13개 중) · 막히는 +1층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목표와 일치하는 허들 수</c:v>
                </c:pt>
              </c:strCache>
            </c:strRef>
          </c:tx>
          <c:spPr>
            <a:ln w="31750">
              <a:solidFill>
                <a:srgbClr val="E97132"/>
              </a:solidFill>
            </a:ln>
          </c:spPr>
          <c:marker>
            <c:symbol val="circle"/>
            <c:size val="7"/>
            <c:spPr>
              <a:solidFill>
                <a:srgbClr val="E97132"/>
              </a:solidFill>
            </c:spPr>
          </c:marker>
          <c:dLbls>
            <c:numFmt formatCode="0" sourceLinked="0"/>
            <c:txPr>
              <a:bodyPr/>
              <a:lstStyle/>
              <a:p>
                <a:pPr>
                  <a:defRPr sz="900" b="0">
                    <a:solidFill>
                      <a:srgbClr val="000000"/>
                    </a:solidFill>
                    <a:latin typeface="Noto Sans KR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1.25</c:v>
                </c:pt>
                <c:pt idx="2">
                  <c:v>1.5</c:v>
                </c:pt>
                <c:pt idx="3">
                  <c:v>1.75</c:v>
                </c:pt>
                <c:pt idx="4">
                  <c:v>2</c:v>
                </c:pt>
                <c:pt idx="5">
                  <c:v>2.25</c:v>
                </c:pt>
                <c:pt idx="6">
                  <c:v>2.5</c:v>
                </c:pt>
                <c:pt idx="7">
                  <c:v>2.75</c:v>
                </c:pt>
                <c:pt idx="8">
                  <c:v>3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6</c:v>
                </c:pt>
                <c:pt idx="2">
                  <c:v>9</c:v>
                </c:pt>
                <c:pt idx="3">
                  <c:v>10</c:v>
                </c:pt>
                <c:pt idx="4">
                  <c:v>10</c:v>
                </c:pt>
                <c:pt idx="5">
                  <c:v>8</c:v>
                </c:pt>
                <c:pt idx="6">
                  <c:v>8</c:v>
                </c:pt>
                <c:pt idx="7">
                  <c:v>4</c:v>
                </c:pt>
                <c:pt idx="8">
                  <c:v>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막히는 +1층 수 (28개 중)</c:v>
                </c:pt>
              </c:strCache>
            </c:strRef>
          </c:tx>
          <c:spPr>
            <a:ln w="31750">
              <a:solidFill>
                <a:srgbClr val="D9CFC2"/>
              </a:solidFill>
            </a:ln>
          </c:spPr>
          <c:marker>
            <c:symbol val="circle"/>
            <c:size val="7"/>
            <c:spPr>
              <a:solidFill>
                <a:srgbClr val="D9CFC2"/>
              </a:solidFill>
            </c:spPr>
          </c:marker>
          <c:dLbls>
            <c:numFmt formatCode="0" sourceLinked="0"/>
            <c:txPr>
              <a:bodyPr/>
              <a:lstStyle/>
              <a:p>
                <a:pPr>
                  <a:defRPr sz="900" b="0">
                    <a:solidFill>
                      <a:srgbClr val="000000"/>
                    </a:solidFill>
                    <a:latin typeface="Noto Sans KR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1.25</c:v>
                </c:pt>
                <c:pt idx="2">
                  <c:v>1.5</c:v>
                </c:pt>
                <c:pt idx="3">
                  <c:v>1.75</c:v>
                </c:pt>
                <c:pt idx="4">
                  <c:v>2</c:v>
                </c:pt>
                <c:pt idx="5">
                  <c:v>2.25</c:v>
                </c:pt>
                <c:pt idx="6">
                  <c:v>2.5</c:v>
                </c:pt>
                <c:pt idx="7">
                  <c:v>2.75</c:v>
                </c:pt>
                <c:pt idx="8">
                  <c:v>3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28</c:v>
                </c:pt>
                <c:pt idx="1">
                  <c:v>22</c:v>
                </c:pt>
                <c:pt idx="2">
                  <c:v>18</c:v>
                </c:pt>
                <c:pt idx="3">
                  <c:v>18</c:v>
                </c:pt>
                <c:pt idx="4">
                  <c:v>13</c:v>
                </c:pt>
                <c:pt idx="5">
                  <c:v>14</c:v>
                </c:pt>
                <c:pt idx="6">
                  <c:v>11</c:v>
                </c:pt>
                <c:pt idx="7">
                  <c:v>12</c:v>
                </c:pt>
                <c:pt idx="8">
                  <c:v>10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 b="0" i="0">
                    <a:solidFill>
                      <a:srgbClr val="6B5E54"/>
                    </a:solidFill>
                    <a:latin typeface="Noto Sans KR"/>
                    <a:ea typeface="Noto Sans KR"/>
                  </a:rPr>
                  <a:t>실패 1회당 공급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A7ADB7"/>
            </a:solidFill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0.0"/>
          <c:min val="0.0"/>
        </c:scaling>
        <c:delete val="0"/>
        <c:axPos val="l"/>
        <c:majorGridlines>
          <c:spPr>
            <a:ln>
              <a:solidFill>
                <a:srgbClr val="E7DF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5E54"/>
                </a:solidFill>
                <a:latin typeface="Noto Sans KR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6B5E54"/>
              </a:solidFill>
              <a:latin typeface="Noto Sans KR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6B5E54"/>
          </a:solidFill>
          <a:latin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36E70-5542-433F-8775-3EDF9C5AE0B0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F35D8-3F1B-4838-9AA9-54A21BBB9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94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393A6-6064-E56E-3CC7-DFBD99E8E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DB02AB-3255-D2EB-3CFF-F102727D9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7D8953-EF9A-5446-14B9-15328A6E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AA2A7-4921-285E-8E7C-8F46E43D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BC7F2-F5F0-0533-A0E9-1B81D3A9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54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389E6-DF22-238B-C563-2F9F1D4D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56C26A-24FF-87FC-F30A-C4B2B44E2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326C4-B6D9-516F-67FD-397EE1D8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C34A6-6FFC-F7CC-4C01-9B3EB433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C5DB05-D59B-FA33-685A-4E6B9F11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8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6B36A-C7CE-199F-43D9-2B4BD381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F597C3-AEA1-FAE0-E407-28DD8D0B0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5A1085-83E7-EA12-ED4F-9DE404B2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DF431C-56E1-C642-4F67-B774DC4E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9AA2B-B326-9397-B8E6-A23FFA9A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E9383-0E57-A2DC-C415-C968ED12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7665B-5634-5B29-6387-A79BACE38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E78F0F-8B84-D5C6-443E-195286C94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FBCED5-13EF-C045-55FF-7B7E62DA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2224E5-9AB0-9CCB-347D-5DC6659B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B6D396-8184-B7FA-3619-E06FD5F1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25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75A90-C233-E1CC-278F-0339C213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876DDC-4A19-7B00-BACD-AA81B0856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FEF097-737A-0CD1-D299-9114083AF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E4C179-65B8-6728-2552-130364EFD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BB22C-4B3D-AF9C-1028-950CED609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C7DECF-95C8-40D9-0D89-C27075B2E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6ECB51-558B-8B21-D5FD-5AED6134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E4D88C-F660-2995-B619-47CD65C0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13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B4D96-C3DA-2EBA-CB1C-AB54F16D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09EAE9-77E5-46A5-B514-9E5D47EF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17411C-7C73-5F5A-00C9-1A131247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2D3380-30B8-3382-A9A4-CFBDE599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08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804CBD-D934-1482-365B-560A4B03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024F1F-E81A-267F-CE72-25342AEA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5C455-C943-9FC6-7BF1-FB6201BE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87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6AB16-80DA-CCE6-B425-8B4AE097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78E645-7AD7-F6FC-7D7E-9549A150C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7FF677-F054-9F55-94B5-2BF069F3F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106BFD-CE99-ED8F-5D6B-A65CDD45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587713-F9FD-636F-55C4-2FA2033D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7E4910-C6BD-2158-0C16-22A0BBC5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0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67044-6CC1-91E9-DDB0-9D3FBC93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C4DC73-3ADB-99EB-751B-01367CF6853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FB4AC7-7954-61AE-183D-B2CC3318E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5F8AB9-7B0A-12F0-71E7-D16264D0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5EE15A-84DA-885B-B293-B7046B47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D53620-ECC2-9101-F7EF-007C0E8E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85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D6A17-418D-C7A1-DE15-4F0A9319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62781E-84EB-82D6-C048-21C97092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63C778-F0BC-515F-0F74-C8C38312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21A88D-A3E4-2FA7-B89C-BE6C991F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72E89-E2A1-72B0-5006-37D4764B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97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D17CC4-D318-E38A-C0DF-FAC64DD71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5AEC1E-287E-7B66-3CF6-3A6241891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02AFE-8DCD-99D6-AA91-3E1D48DA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EEFAC-A9E9-0F03-DA76-0934407F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D13154-3A71-08B5-C8BC-5A2DE42D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4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BEAC52-5ACF-3D3B-572A-8A580134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7A941-5FFE-60C2-6BEE-9AC32BCAF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FB020-A6E6-720E-DBE2-5500BFFD0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07BC3-FE8E-43D9-9669-1305ABD709FE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48124-2D2C-AC0D-095E-64ECF7C5C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2BBDD3-DA8B-B4C2-2786-B51A86623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03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2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chart" Target="../charts/chart11.xml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4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3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0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18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1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28.png"/><Relationship Id="rId6" Type="http://schemas.openxmlformats.org/officeDocument/2006/relationships/image" Target="../media/image2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3.png"/><Relationship Id="rId4" Type="http://schemas.openxmlformats.org/officeDocument/2006/relationships/image" Target="../media/image7.png"/><Relationship Id="rId5" Type="http://schemas.openxmlformats.org/officeDocument/2006/relationships/image" Target="../media/image2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chart" Target="../charts/chart15.xml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Relationship Id="rId3" Type="http://schemas.openxmlformats.org/officeDocument/2006/relationships/image" Target="../media/image32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5.png"/><Relationship Id="rId4" Type="http://schemas.openxmlformats.org/officeDocument/2006/relationships/image" Target="../media/image34.png"/><Relationship Id="rId5" Type="http://schemas.openxmlformats.org/officeDocument/2006/relationships/image" Target="../media/image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5.png"/><Relationship Id="rId4" Type="http://schemas.openxmlformats.org/officeDocument/2006/relationships/image" Target="../media/image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Relationship Id="rId3" Type="http://schemas.openxmlformats.org/officeDocument/2006/relationships/chart" Target="../charts/chart19.xml"/><Relationship Id="rId4" Type="http://schemas.openxmlformats.org/officeDocument/2006/relationships/image" Target="../media/image6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Relationship Id="rId4" Type="http://schemas.openxmlformats.org/officeDocument/2006/relationships/image" Target="../media/image39.png"/><Relationship Id="rId5" Type="http://schemas.openxmlformats.org/officeDocument/2006/relationships/image" Target="../media/image14.png"/><Relationship Id="rId6" Type="http://schemas.openxmlformats.org/officeDocument/2006/relationships/image" Target="../media/image2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40.png"/><Relationship Id="rId5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BEA6AB8-3459-4522-53F5-7C1423053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999548" y="0"/>
            <a:ext cx="13031738" cy="73342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0FEDD4-FC25-2665-EB00-EC6FC31A26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500" y="-584200"/>
            <a:ext cx="10476690" cy="114998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0887F5-26E7-4DBC-8B40-F32358FB68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8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3000"/>
                    </a14:imgEffect>
                    <a14:imgEffect>
                      <a14:saturation sat="68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1193" y="1299919"/>
            <a:ext cx="3447438" cy="288669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A06AEE-6D79-F7C1-BC5F-55B52EC8956B}"/>
              </a:ext>
            </a:extLst>
          </p:cNvPr>
          <p:cNvSpPr/>
          <p:nvPr/>
        </p:nvSpPr>
        <p:spPr>
          <a:xfrm>
            <a:off x="12644430" y="2647178"/>
            <a:ext cx="6553200" cy="23145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67F283C6-905D-F7E0-356B-57BB926D0C48}"/>
              </a:ext>
            </a:extLst>
          </p:cNvPr>
          <p:cNvSpPr txBox="1">
            <a:spLocks/>
          </p:cNvSpPr>
          <p:nvPr/>
        </p:nvSpPr>
        <p:spPr>
          <a:xfrm>
            <a:off x="5639573" y="2025631"/>
            <a:ext cx="5856611" cy="109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27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100층 성장 요구량 · 난이도 기획서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73B0AB-7702-7F91-B4AE-1F49DBB7A08A}"/>
              </a:ext>
            </a:extLst>
          </p:cNvPr>
          <p:cNvSpPr/>
          <p:nvPr/>
        </p:nvSpPr>
        <p:spPr>
          <a:xfrm>
            <a:off x="6430871" y="3043673"/>
            <a:ext cx="4950241" cy="128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6D4083D5-045D-076C-58E9-A0AD0661291A}"/>
              </a:ext>
            </a:extLst>
          </p:cNvPr>
          <p:cNvSpPr txBox="1">
            <a:spLocks/>
          </p:cNvSpPr>
          <p:nvPr/>
        </p:nvSpPr>
        <p:spPr>
          <a:xfrm>
            <a:off x="5933131" y="1030384"/>
            <a:ext cx="5534025" cy="10906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defRPr>
            </a:lvl1pPr>
          </a:lstStyle>
          <a:p>
            <a:pPr algn="r"/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찍!찍!!찍!!! 성장 설계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87E28EF-886F-0CFD-BEC4-8433CD23A18D}"/>
              </a:ext>
            </a:extLst>
          </p:cNvPr>
          <p:cNvCxnSpPr>
            <a:cxnSpLocks/>
          </p:cNvCxnSpPr>
          <p:nvPr/>
        </p:nvCxnSpPr>
        <p:spPr>
          <a:xfrm flipH="1">
            <a:off x="8069943" y="5602514"/>
            <a:ext cx="331116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234270-9A17-D048-55ED-0940FB5181CB}"/>
              </a:ext>
            </a:extLst>
          </p:cNvPr>
          <p:cNvSpPr txBox="1"/>
          <p:nvPr/>
        </p:nvSpPr>
        <p:spPr>
          <a:xfrm>
            <a:off x="8331701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최초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46DB5F-99B5-2DF5-20D0-7D648CF23BBA}"/>
              </a:ext>
            </a:extLst>
          </p:cNvPr>
          <p:cNvSpPr txBox="1"/>
          <p:nvPr/>
        </p:nvSpPr>
        <p:spPr>
          <a:xfrm>
            <a:off x="8331701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20261026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B9862D-8354-2B26-3755-E5875B6F5F99}"/>
              </a:ext>
            </a:extLst>
          </p:cNvPr>
          <p:cNvSpPr txBox="1"/>
          <p:nvPr/>
        </p:nvSpPr>
        <p:spPr>
          <a:xfrm>
            <a:off x="10153158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최종 수정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762AE9-8E80-5211-7A5B-F60FD5C0C8F2}"/>
              </a:ext>
            </a:extLst>
          </p:cNvPr>
          <p:cNvSpPr txBox="1"/>
          <p:nvPr/>
        </p:nvSpPr>
        <p:spPr>
          <a:xfrm>
            <a:off x="10153158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20261026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D466C-90B9-B6E4-29C9-B8988710CC87}"/>
              </a:ext>
            </a:extLst>
          </p:cNvPr>
          <p:cNvSpPr txBox="1"/>
          <p:nvPr/>
        </p:nvSpPr>
        <p:spPr>
          <a:xfrm>
            <a:off x="8331701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8EC428-0738-7268-75BF-5B2C8ADB4509}"/>
              </a:ext>
            </a:extLst>
          </p:cNvPr>
          <p:cNvSpPr txBox="1"/>
          <p:nvPr/>
        </p:nvSpPr>
        <p:spPr>
          <a:xfrm>
            <a:off x="10153158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CE1F9B-BC50-79D3-2842-5337CC455BE8}"/>
              </a:ext>
            </a:extLst>
          </p:cNvPr>
          <p:cNvSpPr txBox="1"/>
          <p:nvPr/>
        </p:nvSpPr>
        <p:spPr>
          <a:xfrm>
            <a:off x="9578387" y="3269557"/>
            <a:ext cx="18887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NKK </a:t>
            </a:r>
            <a:r>
              <a:rPr lang="ko-KR" altLang="en-US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980111-F950-876F-8A3C-CF017C1D0629}"/>
              </a:ext>
            </a:extLst>
          </p:cNvPr>
          <p:cNvSpPr txBox="1"/>
          <p:nvPr/>
        </p:nvSpPr>
        <p:spPr>
          <a:xfrm>
            <a:off x="9907458" y="3607535"/>
            <a:ext cx="155969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팀장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박송호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부팀장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팀원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이예성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95DFC10-0916-1978-C9EA-2D391273CF26}"/>
              </a:ext>
            </a:extLst>
          </p:cNvPr>
          <p:cNvCxnSpPr>
            <a:cxnSpLocks/>
          </p:cNvCxnSpPr>
          <p:nvPr/>
        </p:nvCxnSpPr>
        <p:spPr>
          <a:xfrm flipH="1">
            <a:off x="5524500" y="1075469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E522AC8-AA6F-A240-B228-D3E8956DFD76}"/>
              </a:ext>
            </a:extLst>
          </p:cNvPr>
          <p:cNvSpPr txBox="1"/>
          <p:nvPr/>
        </p:nvSpPr>
        <p:spPr>
          <a:xfrm>
            <a:off x="5452970" y="728373"/>
            <a:ext cx="6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기맞기획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 기업 협약 프로젝트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‘NKK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제작</a:t>
            </a:r>
          </a:p>
        </p:txBody>
      </p:sp>
    </p:spTree>
    <p:extLst>
      <p:ext uri="{BB962C8B-B14F-4D97-AF65-F5344CB8AC3E}">
        <p14:creationId xmlns:p14="http://schemas.microsoft.com/office/powerpoint/2010/main" val="2692206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eaLnBrk="1" latinLnBrk="0">
              <a:spcAft>
                <a:spcPts val="0"/>
              </a:spcAft>
            </a:pPr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</a:rPr>
              <a:t>목차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IconCircle"/>
          <p:cNvSpPr/>
          <p:nvPr/>
        </p:nvSpPr>
        <p:spPr>
          <a:xfrm>
            <a:off x="1133856" y="1691640"/>
            <a:ext cx="365760" cy="365760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Icon FaCompass" descr="FaCompas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638" y="1779422"/>
            <a:ext cx="190195" cy="1901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72768" y="1673352"/>
            <a:ext cx="21945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Noto Sans KR Black"/>
                <a:ea typeface="Noto Sans KR Black"/>
              </a:rPr>
              <a:t>한눈에 보기 – 4P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2103120"/>
            <a:ext cx="214884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목적부터 검증까지 흐름 요약</a:t>
            </a:r>
          </a:p>
        </p:txBody>
      </p:sp>
      <p:sp>
        <p:nvSpPr>
          <p:cNvPr id="8" name="IconCircle"/>
          <p:cNvSpPr/>
          <p:nvPr/>
        </p:nvSpPr>
        <p:spPr>
          <a:xfrm>
            <a:off x="3703320" y="1691640"/>
            <a:ext cx="365760" cy="36576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Icon FaBullseye" descr="FaBullsey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1102" y="1779422"/>
            <a:ext cx="190195" cy="1901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42231" y="1673352"/>
            <a:ext cx="21945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Noto Sans KR Black"/>
                <a:ea typeface="Noto Sans KR Black"/>
              </a:rPr>
              <a:t>① 목적 – 5P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2231" y="2103120"/>
            <a:ext cx="214884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1. 경제보다 성장 요구량을 먼저 정한다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2. 이 문서가 만드는 것</a:t>
            </a:r>
          </a:p>
        </p:txBody>
      </p:sp>
      <p:sp>
        <p:nvSpPr>
          <p:cNvPr id="12" name="IconCircle"/>
          <p:cNvSpPr/>
          <p:nvPr/>
        </p:nvSpPr>
        <p:spPr>
          <a:xfrm>
            <a:off x="6263640" y="1691640"/>
            <a:ext cx="365760" cy="36576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Icon FaGamepad" descr="FaGamepa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422" y="1779422"/>
            <a:ext cx="190195" cy="19019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02552" y="1673352"/>
            <a:ext cx="21945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Noto Sans KR Black"/>
                <a:ea typeface="Noto Sans KR Black"/>
              </a:rPr>
              <a:t>② 시스템 – 8P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2103120"/>
            <a:ext cx="214884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1. 한 번의 도전은 이렇게 돈다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2. 100층 지도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3. 재시작 규칙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4. 성장 단계 ×1.3 과 허들 크기</a:t>
            </a:r>
          </a:p>
        </p:txBody>
      </p:sp>
      <p:sp>
        <p:nvSpPr>
          <p:cNvPr id="16" name="IconCircle"/>
          <p:cNvSpPr/>
          <p:nvPr/>
        </p:nvSpPr>
        <p:spPr>
          <a:xfrm>
            <a:off x="8823960" y="1691640"/>
            <a:ext cx="365760" cy="36576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con FaLightbulb" descr="FaLightbulb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1742" y="1779422"/>
            <a:ext cx="190195" cy="19019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262872" y="1673352"/>
            <a:ext cx="21945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Noto Sans KR Black"/>
                <a:ea typeface="Noto Sans KR Black"/>
              </a:rPr>
              <a:t>③ 설계 근거 – 13P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103120"/>
            <a:ext cx="214884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1. 선택한 값과 계산된 값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2. 엔딩 100층과 1 → 1ae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3. 구간 경계와 시간 배분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4. 보스 배치와 관문의 두 역할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5. 재시작 상한이 조절하는 것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6. 허들 리듬: 긴장 곡선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7. 기본 보상 함수와 102% 기준</a:t>
            </a:r>
          </a:p>
        </p:txBody>
      </p:sp>
      <p:sp>
        <p:nvSpPr>
          <p:cNvPr id="20" name="IconCircle"/>
          <p:cNvSpPr/>
          <p:nvPr/>
        </p:nvSpPr>
        <p:spPr>
          <a:xfrm>
            <a:off x="1133856" y="3977639"/>
            <a:ext cx="365760" cy="36576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con FaCalculator" descr="FaCalculato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1638" y="4065422"/>
            <a:ext cx="190195" cy="19019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72768" y="3959352"/>
            <a:ext cx="21945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Noto Sans KR Black"/>
                <a:ea typeface="Noto Sans KR Black"/>
              </a:rPr>
              <a:t>④ 수치 모델 – 21P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389120"/>
            <a:ext cx="214884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1. 층별 수치가 만들어지는 과정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2. 15층으로 보는 계산 예시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3. 100층을 1ae로 맞추는 역산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4. 요구 전투력의 두 성분</a:t>
            </a:r>
          </a:p>
        </p:txBody>
      </p:sp>
      <p:sp>
        <p:nvSpPr>
          <p:cNvPr id="24" name="IconCircle"/>
          <p:cNvSpPr/>
          <p:nvPr/>
        </p:nvSpPr>
        <p:spPr>
          <a:xfrm>
            <a:off x="3703320" y="3977639"/>
            <a:ext cx="365760" cy="36576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Icon FaChartLine" descr="FaChartLin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1102" y="4065422"/>
            <a:ext cx="190195" cy="19019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42231" y="3959352"/>
            <a:ext cx="21945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Noto Sans KR Black"/>
                <a:ea typeface="Noto Sans KR Black"/>
              </a:rPr>
              <a:t>⑤ 반영 결과 – 26P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42231" y="4389120"/>
            <a:ext cx="214884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1. 층별 추가 성장 단계 맵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2. 누적 성장 단계 곡선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3. 초반 1~15층 · 중반 16~70층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4. 후반 71~100층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5. 유지 · 일반 · 허들 층 분포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6. 층별 난이도 등급 (1~5)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7. 구간별 플레이 경험과 시간 목표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8. 층별 재시작 횟수 목표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9. 주요 층의 성장 요구량</a:t>
            </a:r>
          </a:p>
        </p:txBody>
      </p:sp>
      <p:sp>
        <p:nvSpPr>
          <p:cNvPr id="28" name="IconCircle"/>
          <p:cNvSpPr/>
          <p:nvPr/>
        </p:nvSpPr>
        <p:spPr>
          <a:xfrm>
            <a:off x="6263640" y="3977639"/>
            <a:ext cx="365760" cy="36576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Icon FaClipboardCheck" descr="FaClipboardCheck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422" y="4065422"/>
            <a:ext cx="190195" cy="19019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02552" y="3959352"/>
            <a:ext cx="21945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Noto Sans KR Black"/>
                <a:ea typeface="Noto Sans KR Black"/>
              </a:rPr>
              <a:t>⑥ 검증 – 36P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02552" y="4389120"/>
            <a:ext cx="214884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1. 수학적 불변조건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2. 조건부 재도전 시뮬레이션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3. 목표 재시작 vs 시뮬레이션 실패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4. 성장 공급 속도별 민감도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5. 플레이타임 검증 상태와 적용 판정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6. 남은 한계와 검증 과제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7. 확정한 것과 다음 단계</a:t>
            </a:r>
          </a:p>
        </p:txBody>
      </p:sp>
      <p:sp>
        <p:nvSpPr>
          <p:cNvPr id="32" name="IconCircle"/>
          <p:cNvSpPr/>
          <p:nvPr/>
        </p:nvSpPr>
        <p:spPr>
          <a:xfrm>
            <a:off x="8823960" y="3977639"/>
            <a:ext cx="365760" cy="36576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Icon FaBoxArchive" descr="FaBoxArchive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11742" y="4065422"/>
            <a:ext cx="190195" cy="19019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262872" y="3959352"/>
            <a:ext cx="21945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Noto Sans KR Black"/>
                <a:ea typeface="Noto Sans KR Black"/>
              </a:rPr>
              <a:t>⑦ 부록 – 44P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2872" y="4389120"/>
            <a:ext cx="214884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1. 용어 · 기준 · 계산 규칙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2. 1~100층 전체 목표표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69C4F-7865-37A1-27AD-71B312452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742A394-D6B0-70C4-190D-0AE707D28723}"/>
              </a:ext>
            </a:extLst>
          </p:cNvPr>
          <p:cNvSpPr txBox="1"/>
          <p:nvPr/>
        </p:nvSpPr>
        <p:spPr>
          <a:xfrm>
            <a:off x="1029084" y="746202"/>
            <a:ext cx="2469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- </a:t>
            </a:r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로그</a:t>
            </a:r>
            <a:endParaRPr lang="ko-KR" altLang="en-US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318F2E6-55D1-41EF-9E71-C1F38FB67817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FAB8CA8-A17B-191F-04D7-CF91C905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98003"/>
              </p:ext>
            </p:extLst>
          </p:nvPr>
        </p:nvGraphicFramePr>
        <p:xfrm>
          <a:off x="1353344" y="1646764"/>
          <a:ext cx="9485312" cy="3906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587">
                  <a:extLst>
                    <a:ext uri="{9D8B030D-6E8A-4147-A177-3AD203B41FA5}">
                      <a16:colId xmlns:a16="http://schemas.microsoft.com/office/drawing/2014/main" val="223632122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112456859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368808714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1864867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333418050"/>
                    </a:ext>
                  </a:extLst>
                </a:gridCol>
              </a:tblGrid>
              <a:tr h="4340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순번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044406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2026-10-26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박도원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문서 최초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100층 성장 요구량 · 난이도 곡선 설계 (요구 전투력 · 성장 계수 · 구간 · 재시작)</a:t>
                      </a:r>
                      <a:b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b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473536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2026-10-26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박도원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Ver.03 검증 반영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난이도 · 재시작 목표 · 검증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461521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2026-10-26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박도원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Ver.04 시각화 재구성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흐름 재구성 · 그래프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599469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233599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581830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916749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893996"/>
                  </a:ext>
                </a:extLst>
              </a:tr>
              <a:tr h="434093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341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7699101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부록 - 용어 · 기호 · 표기 단위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133856" y="1645920"/>
          <a:ext cx="9930384" cy="36393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94560"/>
                <a:gridCol w="7735824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용어 / 기호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3C2D23"/>
                      </a:solidFill>
                    </a:lnL>
                    <a:lnR w="12700" cap="flat" cmpd="sng" algn="ctr">
                      <a:solidFill>
                        <a:srgbClr val="3C2D23"/>
                      </a:solidFill>
                    </a:lnR>
                    <a:lnT w="12700" cap="flat" cmpd="sng" algn="ctr">
                      <a:solidFill>
                        <a:srgbClr val="3C2D23"/>
                      </a:solidFill>
                    </a:lnT>
                    <a:lnB w="12700" cap="flat" cmpd="sng" algn="ctr">
                      <a:solidFill>
                        <a:srgbClr val="3C2D23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뜻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3C2D23"/>
                      </a:solidFill>
                    </a:lnL>
                    <a:lnR w="12700" cap="flat" cmpd="sng" algn="ctr">
                      <a:solidFill>
                        <a:srgbClr val="3C2D23"/>
                      </a:solidFill>
                    </a:lnR>
                    <a:lnT w="12700" cap="flat" cmpd="sng" algn="ctr">
                      <a:solidFill>
                        <a:srgbClr val="3C2D23"/>
                      </a:solidFill>
                    </a:lnT>
                    <a:lnB w="12700" cap="flat" cmpd="sng" algn="ctr">
                      <a:solidFill>
                        <a:srgbClr val="3C2D23"/>
                      </a:solidFill>
                    </a:lnB>
                    <a:solidFill>
                      <a:srgbClr val="3C2D2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최고 기록 r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클리어한 가장 높은 층 (도달했지만 실패한 층은 기록이 아님)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기준 시작층 s_f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직전 기록 r = f−1에서 허용된 가장 높은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기본 보상 Bᵢ · 배율 q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 i 전체 파괴 시 전투력 총량 · 층마다 늘어나는 비율 (≈1.5787)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성장 단계 u · 계수 G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누적 추가 성장 수요 (1단계 = ×1.3) · 필요한 영구 성장 배율 1.3^u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요구 전투력 R_f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 f를 통과하는 데 필요한 누적 전투력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기준 여유선 P_f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R_f × 1.02 (= 예상 최종 전투력) — 성공 여유를 읽기 위한 비교용 표시값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 유형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시작(1층) · 유지(+0) · 일반(+1) · 허들(+2) · 강한 허들(+3)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관문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보스 층만 가리킴: 성장 점검 관문(+1 이상) · 돌파 확인 관문(+0)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최종 연전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보스 간격이 4 · 3 · 3층으로 좁아지는 90~100층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3856" y="5440680"/>
            <a:ext cx="14630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표기 단위</a:t>
            </a:r>
          </a:p>
        </p:txBody>
      </p:sp>
      <p:sp>
        <p:nvSpPr>
          <p:cNvPr id="6" name="Chip"/>
          <p:cNvSpPr/>
          <p:nvPr/>
        </p:nvSpPr>
        <p:spPr>
          <a:xfrm>
            <a:off x="2514600" y="5440680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5440680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k</a:t>
            </a:r>
            <a:r>
              <a:rPr sz="1000" b="0" i="0">
                <a:solidFill>
                  <a:srgbClr val="FFFFFF"/>
                </a:solidFill>
                <a:latin typeface="Noto Sans KR"/>
                <a:ea typeface="Noto Sans KR"/>
              </a:rPr>
              <a:t> 10³</a:t>
            </a:r>
          </a:p>
        </p:txBody>
      </p:sp>
      <p:sp>
        <p:nvSpPr>
          <p:cNvPr id="8" name="Chip"/>
          <p:cNvSpPr/>
          <p:nvPr/>
        </p:nvSpPr>
        <p:spPr>
          <a:xfrm>
            <a:off x="3465576" y="5440680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65576" y="5440680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m</a:t>
            </a:r>
            <a:r>
              <a:rPr sz="1000" b="0" i="0">
                <a:solidFill>
                  <a:srgbClr val="FFFFFF"/>
                </a:solidFill>
                <a:latin typeface="Noto Sans KR"/>
                <a:ea typeface="Noto Sans KR"/>
              </a:rPr>
              <a:t> 10⁶</a:t>
            </a:r>
          </a:p>
        </p:txBody>
      </p:sp>
      <p:sp>
        <p:nvSpPr>
          <p:cNvPr id="10" name="Chip"/>
          <p:cNvSpPr/>
          <p:nvPr/>
        </p:nvSpPr>
        <p:spPr>
          <a:xfrm>
            <a:off x="4416552" y="5440680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5440680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b</a:t>
            </a:r>
            <a:r>
              <a:rPr sz="1000" b="0" i="0">
                <a:solidFill>
                  <a:srgbClr val="FFFFFF"/>
                </a:solidFill>
                <a:latin typeface="Noto Sans KR"/>
                <a:ea typeface="Noto Sans KR"/>
              </a:rPr>
              <a:t> 10⁹</a:t>
            </a:r>
          </a:p>
        </p:txBody>
      </p:sp>
      <p:sp>
        <p:nvSpPr>
          <p:cNvPr id="12" name="Chip"/>
          <p:cNvSpPr/>
          <p:nvPr/>
        </p:nvSpPr>
        <p:spPr>
          <a:xfrm>
            <a:off x="5367528" y="5440680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7528" y="5440680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t</a:t>
            </a:r>
            <a:r>
              <a:rPr sz="1000" b="0" i="0">
                <a:solidFill>
                  <a:srgbClr val="FFFFFF"/>
                </a:solidFill>
                <a:latin typeface="Noto Sans KR"/>
                <a:ea typeface="Noto Sans KR"/>
              </a:rPr>
              <a:t> 10¹²</a:t>
            </a:r>
          </a:p>
        </p:txBody>
      </p:sp>
      <p:sp>
        <p:nvSpPr>
          <p:cNvPr id="14" name="Chip"/>
          <p:cNvSpPr/>
          <p:nvPr/>
        </p:nvSpPr>
        <p:spPr>
          <a:xfrm>
            <a:off x="6318504" y="5440680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5440680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aa</a:t>
            </a:r>
            <a:r>
              <a:rPr sz="1000" b="0" i="0">
                <a:solidFill>
                  <a:srgbClr val="FFFFFF"/>
                </a:solidFill>
                <a:latin typeface="Noto Sans KR"/>
                <a:ea typeface="Noto Sans KR"/>
              </a:rPr>
              <a:t> 10¹⁵</a:t>
            </a:r>
          </a:p>
        </p:txBody>
      </p:sp>
      <p:sp>
        <p:nvSpPr>
          <p:cNvPr id="16" name="Chip"/>
          <p:cNvSpPr/>
          <p:nvPr/>
        </p:nvSpPr>
        <p:spPr>
          <a:xfrm>
            <a:off x="7269480" y="5440680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5440680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ab</a:t>
            </a:r>
            <a:r>
              <a:rPr sz="1000" b="0" i="0">
                <a:solidFill>
                  <a:srgbClr val="FFFFFF"/>
                </a:solidFill>
                <a:latin typeface="Noto Sans KR"/>
                <a:ea typeface="Noto Sans KR"/>
              </a:rPr>
              <a:t> 10¹⁸</a:t>
            </a:r>
          </a:p>
        </p:txBody>
      </p:sp>
      <p:sp>
        <p:nvSpPr>
          <p:cNvPr id="18" name="Chip"/>
          <p:cNvSpPr/>
          <p:nvPr/>
        </p:nvSpPr>
        <p:spPr>
          <a:xfrm>
            <a:off x="8220456" y="5440680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6" y="5440680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ac</a:t>
            </a:r>
            <a:r>
              <a:rPr sz="1000" b="0" i="0">
                <a:solidFill>
                  <a:srgbClr val="FFFFFF"/>
                </a:solidFill>
                <a:latin typeface="Noto Sans KR"/>
                <a:ea typeface="Noto Sans KR"/>
              </a:rPr>
              <a:t> 10²¹</a:t>
            </a:r>
          </a:p>
        </p:txBody>
      </p:sp>
      <p:sp>
        <p:nvSpPr>
          <p:cNvPr id="20" name="Chip"/>
          <p:cNvSpPr/>
          <p:nvPr/>
        </p:nvSpPr>
        <p:spPr>
          <a:xfrm>
            <a:off x="9171432" y="5440680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5440680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ad</a:t>
            </a:r>
            <a:r>
              <a:rPr sz="1000" b="0" i="0">
                <a:solidFill>
                  <a:srgbClr val="FFFFFF"/>
                </a:solidFill>
                <a:latin typeface="Noto Sans KR"/>
                <a:ea typeface="Noto Sans KR"/>
              </a:rPr>
              <a:t> 10²⁴</a:t>
            </a:r>
          </a:p>
        </p:txBody>
      </p:sp>
      <p:sp>
        <p:nvSpPr>
          <p:cNvPr id="22" name="Chip"/>
          <p:cNvSpPr/>
          <p:nvPr/>
        </p:nvSpPr>
        <p:spPr>
          <a:xfrm>
            <a:off x="10122408" y="5440680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3C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22408" y="5440680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ae</a:t>
            </a:r>
            <a:r>
              <a:rPr sz="1000" b="0" i="0">
                <a:solidFill>
                  <a:srgbClr val="FFFFFF"/>
                </a:solidFill>
                <a:latin typeface="Noto Sans KR"/>
                <a:ea typeface="Noto Sans KR"/>
              </a:rPr>
              <a:t> 10²⁷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핵심 설계 기준 원표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부록 - 핵심 설계 기준 원표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1133856" y="1828800"/>
          <a:ext cx="9930384" cy="404164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3063240"/>
                <a:gridCol w="5266944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조건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3C2D23"/>
                      </a:solidFill>
                    </a:lnL>
                    <a:lnR w="12700" cap="flat" cmpd="sng" algn="ctr">
                      <a:solidFill>
                        <a:srgbClr val="3C2D23"/>
                      </a:solidFill>
                    </a:lnR>
                    <a:lnT w="12700" cap="flat" cmpd="sng" algn="ctr">
                      <a:solidFill>
                        <a:srgbClr val="3C2D23"/>
                      </a:solidFill>
                    </a:lnT>
                    <a:lnB w="12700" cap="flat" cmpd="sng" algn="ctr">
                      <a:solidFill>
                        <a:srgbClr val="3C2D23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목표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3C2D23"/>
                      </a:solidFill>
                    </a:lnL>
                    <a:lnR w="12700" cap="flat" cmpd="sng" algn="ctr">
                      <a:solidFill>
                        <a:srgbClr val="3C2D23"/>
                      </a:solidFill>
                    </a:lnR>
                    <a:lnT w="12700" cap="flat" cmpd="sng" algn="ctr">
                      <a:solidFill>
                        <a:srgbClr val="3C2D23"/>
                      </a:solidFill>
                    </a:lnT>
                    <a:lnB w="12700" cap="flat" cmpd="sng" algn="ctr">
                      <a:solidFill>
                        <a:srgbClr val="3C2D23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이 조건이 필요한 이유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3C2D23"/>
                      </a:solidFill>
                    </a:lnL>
                    <a:lnR w="12700" cap="flat" cmpd="sng" algn="ctr">
                      <a:solidFill>
                        <a:srgbClr val="3C2D23"/>
                      </a:solidFill>
                    </a:lnR>
                    <a:lnT w="12700" cap="flat" cmpd="sng" algn="ctr">
                      <a:solidFill>
                        <a:srgbClr val="3C2D23"/>
                      </a:solidFill>
                    </a:lnT>
                    <a:lnB w="12700" cap="flat" cmpd="sng" algn="ctr">
                      <a:solidFill>
                        <a:srgbClr val="3C2D23"/>
                      </a:solidFill>
                    </a:lnB>
                    <a:solidFill>
                      <a:srgbClr val="3C2D2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엔딩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100층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성장 곡선의 종료점과 보스 연전의 도착점이 명확해야 한다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시작 요구 전투력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초반 수치를 직관적으로 제시하고 전체 지수 성장의 기준점을 만든다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100층 요구 전투력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10²⁷ (1ae)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전투력 단위가 aa~ae로 확장되는 장기 성장 규모를 고정한다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1~15층 · 목표 30분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기본 조작과 첫 성장 피드백을 짧은 구간에 집중한다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16~70층 · 추가 150분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전체 100층 중 상당 부분에서 잦은 기록 갱신을 경험하게 한다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71~100층 · 추가 150분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마지막 30층에 정체 · 돌파 · 완화 · 최종 보스 연전을 배치할 공간 확보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5, 10, … 85층 / 90 · 94 · 97 · 100층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정기적 리듬을 유지하다 엔딩에 가까울수록 보스 간격을 좁힌다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재시작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기록 ≤70 → 기록−10 / 기록 ≥71 → 기록−5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한 번의 도전 길이를 조절: 이미 넘은 층을 초·중반 최소 11개, 후반 최소 6개 다시 지난다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참고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플레이 경험과 수치 구조를 고려해 먼저 고정한 값 — 이후 모든 수치는 이 기준에서 계산된다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기본 보상과 재시작 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설계 근거 - 선택한 값과 계산된 값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rd"/>
          <p:cNvSpPr/>
          <p:nvPr/>
        </p:nvSpPr>
        <p:spPr>
          <a:xfrm>
            <a:off x="1133856" y="1783080"/>
            <a:ext cx="4297680" cy="26060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hip"/>
          <p:cNvSpPr/>
          <p:nvPr/>
        </p:nvSpPr>
        <p:spPr>
          <a:xfrm>
            <a:off x="1316736" y="192024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기획 변수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901952"/>
            <a:ext cx="2834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B5E54"/>
                </a:solidFill>
                <a:latin typeface="Noto Sans KR"/>
                <a:ea typeface="Noto Sans KR"/>
              </a:rPr>
              <a:t>경험을 위해 선택한 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736" y="2331720"/>
            <a:ext cx="4023360" cy="2468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000000"/>
                </a:solidFill>
                <a:latin typeface="Noto Sans KR"/>
                <a:ea typeface="Noto Sans KR"/>
              </a:rPr>
              <a:t>엔딩 100층 · 100층 요구 전투력 1ae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000000"/>
                </a:solidFill>
                <a:latin typeface="Noto Sans KR"/>
                <a:ea typeface="Noto Sans KR"/>
              </a:rPr>
              <a:t>구간 경계 15층 · 70층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000000"/>
                </a:solidFill>
                <a:latin typeface="Noto Sans KR"/>
                <a:ea typeface="Noto Sans KR"/>
              </a:rPr>
              <a:t>재시작 제한 (기록−10 / −5)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000000"/>
                </a:solidFill>
                <a:latin typeface="Noto Sans KR"/>
                <a:ea typeface="Noto Sans KR"/>
              </a:rPr>
              <a:t>성장 단계 눈금 ×1.3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000000"/>
                </a:solidFill>
                <a:latin typeface="Noto Sans KR"/>
                <a:ea typeface="Noto Sans KR"/>
              </a:rPr>
              <a:t>층별 추가 단계 배치 (+0 ~ +3)</a:t>
            </a:r>
          </a:p>
        </p:txBody>
      </p:sp>
      <p:cxnSp>
        <p:nvCxnSpPr>
          <p:cNvPr id="9" name="Arrow"/>
          <p:cNvCxnSpPr/>
          <p:nvPr/>
        </p:nvCxnSpPr>
        <p:spPr>
          <a:xfrm>
            <a:off x="5486400" y="3081528"/>
            <a:ext cx="365760" cy="0"/>
          </a:xfrm>
          <a:prstGeom prst="line">
            <a:avLst/>
          </a:prstGeom>
          <a:ln w="22225">
            <a:solidFill>
              <a:srgbClr val="3C2D2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rd"/>
          <p:cNvSpPr/>
          <p:nvPr/>
        </p:nvSpPr>
        <p:spPr>
          <a:xfrm>
            <a:off x="5943600" y="2304288"/>
            <a:ext cx="2103120" cy="1554480"/>
          </a:xfrm>
          <a:prstGeom prst="roundRect">
            <a:avLst>
              <a:gd name="adj" fmla="val 4000"/>
            </a:avLst>
          </a:prstGeom>
          <a:solidFill>
            <a:srgbClr val="FBE3D3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943600" y="2395728"/>
            <a:ext cx="2103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B5E54"/>
                </a:solidFill>
                <a:latin typeface="Noto Sans KR"/>
                <a:ea typeface="Noto Sans KR"/>
              </a:rPr>
              <a:t>배치의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715768"/>
            <a:ext cx="21031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0" i="0">
                <a:solidFill>
                  <a:srgbClr val="000000"/>
                </a:solidFill>
                <a:latin typeface="Noto Sans KR Black"/>
                <a:ea typeface="Noto Sans KR Black"/>
              </a:rPr>
              <a:t>누적 61단계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310128"/>
            <a:ext cx="2103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B5E54"/>
                </a:solidFill>
                <a:latin typeface="Noto Sans KR"/>
                <a:ea typeface="Noto Sans KR"/>
              </a:rPr>
              <a:t>100층 기준</a:t>
            </a:r>
          </a:p>
        </p:txBody>
      </p:sp>
      <p:cxnSp>
        <p:nvCxnSpPr>
          <p:cNvPr id="14" name="Arrow"/>
          <p:cNvCxnSpPr/>
          <p:nvPr/>
        </p:nvCxnSpPr>
        <p:spPr>
          <a:xfrm>
            <a:off x="8101583" y="3081528"/>
            <a:ext cx="365761" cy="0"/>
          </a:xfrm>
          <a:prstGeom prst="line">
            <a:avLst/>
          </a:prstGeom>
          <a:ln w="22225">
            <a:solidFill>
              <a:srgbClr val="3C2D2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rd"/>
          <p:cNvSpPr/>
          <p:nvPr/>
        </p:nvSpPr>
        <p:spPr>
          <a:xfrm>
            <a:off x="8558784" y="1783080"/>
            <a:ext cx="2505456" cy="2606040"/>
          </a:xfrm>
          <a:prstGeom prst="roundRect">
            <a:avLst>
              <a:gd name="adj" fmla="val 4000"/>
            </a:avLst>
          </a:prstGeom>
          <a:solidFill>
            <a:srgbClr val="3C2D23"/>
          </a:solidFill>
          <a:ln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Chip"/>
          <p:cNvSpPr/>
          <p:nvPr/>
        </p:nvSpPr>
        <p:spPr>
          <a:xfrm>
            <a:off x="8741664" y="192024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 i="0">
                <a:solidFill>
                  <a:srgbClr val="3C2D23"/>
                </a:solidFill>
                <a:latin typeface="Noto Sans KR"/>
                <a:ea typeface="Noto Sans KR"/>
              </a:rPr>
              <a:t>파생 변수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423160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E7DFD2"/>
                </a:solidFill>
                <a:latin typeface="Noto Sans KR"/>
                <a:ea typeface="Noto Sans KR"/>
              </a:rPr>
              <a:t>기본 보상 배율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78892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0" i="0">
                <a:solidFill>
                  <a:srgbClr val="FFFFFF"/>
                </a:solidFill>
                <a:latin typeface="Noto Sans KR Black"/>
                <a:ea typeface="Noto Sans KR Black"/>
              </a:rPr>
              <a:t>q ≈ 1.578703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429000"/>
            <a:ext cx="22860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E7DFD2"/>
                </a:solidFill>
                <a:latin typeface="Noto Sans KR"/>
                <a:ea typeface="Noto Sans KR"/>
              </a:rPr>
              <a:t>61단계 배치와 '100층 = 1ae'를 동시에 만족하도록 역산</a:t>
            </a:r>
          </a:p>
        </p:txBody>
      </p:sp>
      <p:sp>
        <p:nvSpPr>
          <p:cNvPr id="20" name="Card"/>
          <p:cNvSpPr/>
          <p:nvPr/>
        </p:nvSpPr>
        <p:spPr>
          <a:xfrm>
            <a:off x="1133856" y="4617720"/>
            <a:ext cx="9930384" cy="11430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316736" y="4709160"/>
            <a:ext cx="9601200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기획 변수는 수학적으로 유일한 정답이 아니다.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의도한 경험을 구현하기 위한 선택이며, 파생 변수는 그 선택 아래에서 계산된다.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의도 시간 ≠ 실제 시간: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30 / 180 / 330분(누적)은 상위 기획 목표다. 재화 · 강화 수단 · 파괴 시간 · 반복 횟수가 미정이므로 실제 소요 시간은 계산하지 않는다.</a:t>
            </a:r>
          </a:p>
        </p:txBody>
      </p: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핵심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기획자가 고른 값(기획 변수)과 그 결과로 계산된 값(파생 변수)을 나눠 읽어야 수치의 근거가 보인다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100층과 1 → 1ae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목적 - 경제보다 성장 요구량을 먼저 정한다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"/>
          <p:cNvSpPr/>
          <p:nvPr/>
        </p:nvSpPr>
        <p:spPr>
          <a:xfrm>
            <a:off x="1133856" y="1801368"/>
            <a:ext cx="4901184" cy="29718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"/>
          <p:cNvSpPr/>
          <p:nvPr/>
        </p:nvSpPr>
        <p:spPr>
          <a:xfrm>
            <a:off x="1316736" y="19385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A7A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</a:rPr>
              <a:t>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3936" y="1920240"/>
            <a:ext cx="4114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00000"/>
                </a:solidFill>
                <a:latin typeface="Noto Sans KR"/>
                <a:ea typeface="Noto Sans KR"/>
              </a:rPr>
              <a:t>경제를 먼저 정하면</a:t>
            </a:r>
          </a:p>
        </p:txBody>
      </p:sp>
      <p:sp>
        <p:nvSpPr>
          <p:cNvPr id="7" name="Card"/>
          <p:cNvSpPr/>
          <p:nvPr/>
        </p:nvSpPr>
        <p:spPr>
          <a:xfrm>
            <a:off x="1362456" y="2487168"/>
            <a:ext cx="4443984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453895" y="2532888"/>
            <a:ext cx="42976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재화 지급량 · 강화 비용 결정</a:t>
            </a:r>
          </a:p>
        </p:txBody>
      </p:sp>
      <p:cxnSp>
        <p:nvCxnSpPr>
          <p:cNvPr id="9" name="Line"/>
          <p:cNvCxnSpPr/>
          <p:nvPr/>
        </p:nvCxnSpPr>
        <p:spPr>
          <a:xfrm>
            <a:off x="3584448" y="3063240"/>
            <a:ext cx="0" cy="173736"/>
          </a:xfrm>
          <a:prstGeom prst="line">
            <a:avLst/>
          </a:prstGeom>
          <a:ln w="19050">
            <a:solidFill>
              <a:srgbClr val="3C2D2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rd"/>
          <p:cNvSpPr/>
          <p:nvPr/>
        </p:nvSpPr>
        <p:spPr>
          <a:xfrm>
            <a:off x="1362456" y="3246120"/>
            <a:ext cx="4443984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453895" y="3291840"/>
            <a:ext cx="42976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요구 전투력을 그에 맞춰 역산</a:t>
            </a:r>
          </a:p>
        </p:txBody>
      </p:sp>
      <p:cxnSp>
        <p:nvCxnSpPr>
          <p:cNvPr id="12" name="Line"/>
          <p:cNvCxnSpPr/>
          <p:nvPr/>
        </p:nvCxnSpPr>
        <p:spPr>
          <a:xfrm>
            <a:off x="3584448" y="3822192"/>
            <a:ext cx="0" cy="173736"/>
          </a:xfrm>
          <a:prstGeom prst="line">
            <a:avLst/>
          </a:prstGeom>
          <a:ln w="19050">
            <a:solidFill>
              <a:srgbClr val="3C2D2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rd"/>
          <p:cNvSpPr/>
          <p:nvPr/>
        </p:nvSpPr>
        <p:spPr>
          <a:xfrm>
            <a:off x="1362456" y="4005072"/>
            <a:ext cx="4443984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53895" y="4050791"/>
            <a:ext cx="42976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층별 요구량이 경제에 끌려가 왜곡되기 쉬움</a:t>
            </a:r>
          </a:p>
        </p:txBody>
      </p:sp>
      <p:sp>
        <p:nvSpPr>
          <p:cNvPr id="15" name="Card"/>
          <p:cNvSpPr/>
          <p:nvPr/>
        </p:nvSpPr>
        <p:spPr>
          <a:xfrm>
            <a:off x="6163056" y="1801368"/>
            <a:ext cx="4901184" cy="2971800"/>
          </a:xfrm>
          <a:prstGeom prst="roundRect">
            <a:avLst>
              <a:gd name="adj" fmla="val 4000"/>
            </a:avLst>
          </a:prstGeom>
          <a:solidFill>
            <a:srgbClr val="FBE3D3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Chip"/>
          <p:cNvSpPr/>
          <p:nvPr/>
        </p:nvSpPr>
        <p:spPr>
          <a:xfrm>
            <a:off x="6345936" y="19385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3136" y="1920240"/>
            <a:ext cx="4114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B95A25"/>
                </a:solidFill>
                <a:latin typeface="Noto Sans KR"/>
                <a:ea typeface="Noto Sans KR"/>
              </a:rPr>
              <a:t>요구량을 먼저 정하면 (본 문서)</a:t>
            </a:r>
          </a:p>
        </p:txBody>
      </p:sp>
      <p:sp>
        <p:nvSpPr>
          <p:cNvPr id="18" name="Card"/>
          <p:cNvSpPr/>
          <p:nvPr/>
        </p:nvSpPr>
        <p:spPr>
          <a:xfrm>
            <a:off x="6391656" y="2487168"/>
            <a:ext cx="4443984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83096" y="2532888"/>
            <a:ext cx="42976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층별 요구 전투력 · 기준 성장 계수 확정</a:t>
            </a:r>
          </a:p>
        </p:txBody>
      </p:sp>
      <p:cxnSp>
        <p:nvCxnSpPr>
          <p:cNvPr id="20" name="Line"/>
          <p:cNvCxnSpPr/>
          <p:nvPr/>
        </p:nvCxnSpPr>
        <p:spPr>
          <a:xfrm>
            <a:off x="8613648" y="3063240"/>
            <a:ext cx="0" cy="173736"/>
          </a:xfrm>
          <a:prstGeom prst="line">
            <a:avLst/>
          </a:prstGeom>
          <a:ln w="19050">
            <a:solidFill>
              <a:srgbClr val="3C2D2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rd"/>
          <p:cNvSpPr/>
          <p:nvPr/>
        </p:nvSpPr>
        <p:spPr>
          <a:xfrm>
            <a:off x="6391656" y="3246120"/>
            <a:ext cx="4443984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83096" y="3291840"/>
            <a:ext cx="42976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장비 · 영구 강화 · 스킬 · 업적의 합성 효과가 계수를 충족하도록 설계</a:t>
            </a:r>
          </a:p>
        </p:txBody>
      </p:sp>
      <p:cxnSp>
        <p:nvCxnSpPr>
          <p:cNvPr id="23" name="Line"/>
          <p:cNvCxnSpPr/>
          <p:nvPr/>
        </p:nvCxnSpPr>
        <p:spPr>
          <a:xfrm>
            <a:off x="8613648" y="3822192"/>
            <a:ext cx="0" cy="173736"/>
          </a:xfrm>
          <a:prstGeom prst="line">
            <a:avLst/>
          </a:prstGeom>
          <a:ln w="19050">
            <a:solidFill>
              <a:srgbClr val="3C2D2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rd"/>
          <p:cNvSpPr/>
          <p:nvPr/>
        </p:nvSpPr>
        <p:spPr>
          <a:xfrm>
            <a:off x="6391656" y="4005072"/>
            <a:ext cx="4443984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83096" y="4050791"/>
            <a:ext cx="42976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성장 시스템이 추가되어도 밸런스 목표가 보존됨</a:t>
            </a:r>
          </a:p>
        </p:txBody>
      </p:sp>
      <p:sp>
        <p:nvSpPr>
          <p:cNvPr id="26" name="Card"/>
          <p:cNvSpPr/>
          <p:nvPr/>
        </p:nvSpPr>
        <p:spPr>
          <a:xfrm>
            <a:off x="1133856" y="5001768"/>
            <a:ext cx="9930384" cy="1097280"/>
          </a:xfrm>
          <a:prstGeom prst="roundRect">
            <a:avLst>
              <a:gd name="adj" fmla="val 4000"/>
            </a:avLst>
          </a:prstGeom>
          <a:solidFill>
            <a:srgbClr val="3C2D23"/>
          </a:solidFill>
          <a:ln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371600" y="5093208"/>
            <a:ext cx="27432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Noto Sans KR Black"/>
                <a:ea typeface="Noto Sans KR Black"/>
              </a:rPr>
              <a:t>성장 단계 ≠
구매 횟수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5111496"/>
            <a:ext cx="68580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Noto Sans KR"/>
                <a:ea typeface="Noto Sans KR"/>
              </a:rPr>
              <a:t>'3단계 상승' = 기준 배율 1.3³ = </a:t>
            </a: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</a:rPr>
              <a:t>2.197배의 추가 성장 수요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E7DFD2"/>
                </a:solidFill>
                <a:latin typeface="Noto Sans KR"/>
                <a:ea typeface="Noto Sans KR"/>
              </a:rPr>
              <a:t>반드시 3번 강화하거나 3번 실패해야 한다는 뜻이 아니다. 이 구분을 지켜야 성장 시스템이 바뀌어도 목표가 독립적으로 유지된다.</a:t>
            </a:r>
          </a:p>
        </p:txBody>
      </p: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목적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경제를 먼저 정하면 요구량이 끌려간다 — 요구량을 먼저 고정해야 어떤 성장 시스템이 와도 목표가 남는다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이 문서가 만드는 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설계 근거 - 보스 배치와 관문의 두 역할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목적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예측 가능한 목표 주기를 주고, 엔딩에 가까울수록 관문 밀도를 높인다 — 보스마다 '시험'과 '체감' 중 하나의 역할을 맡긴다</a:t>
            </a:r>
          </a:p>
        </p:txBody>
      </p:sp>
      <p:sp>
        <p:nvSpPr>
          <p:cNvPr id="5" name="Card"/>
          <p:cNvSpPr/>
          <p:nvPr/>
        </p:nvSpPr>
        <p:spPr>
          <a:xfrm>
            <a:off x="1188720" y="1828800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1</a:t>
            </a:r>
          </a:p>
        </p:txBody>
      </p:sp>
      <p:sp>
        <p:nvSpPr>
          <p:cNvPr id="6" name="Card"/>
          <p:cNvSpPr/>
          <p:nvPr/>
        </p:nvSpPr>
        <p:spPr>
          <a:xfrm>
            <a:off x="1700784" y="1828800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2</a:t>
            </a:r>
          </a:p>
        </p:txBody>
      </p:sp>
      <p:sp>
        <p:nvSpPr>
          <p:cNvPr id="7" name="Card"/>
          <p:cNvSpPr/>
          <p:nvPr/>
        </p:nvSpPr>
        <p:spPr>
          <a:xfrm>
            <a:off x="2212848" y="1828800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3</a:t>
            </a:r>
          </a:p>
        </p:txBody>
      </p:sp>
      <p:sp>
        <p:nvSpPr>
          <p:cNvPr id="8" name="Card"/>
          <p:cNvSpPr/>
          <p:nvPr/>
        </p:nvSpPr>
        <p:spPr>
          <a:xfrm>
            <a:off x="2724912" y="1828800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4</a:t>
            </a:r>
          </a:p>
        </p:txBody>
      </p:sp>
      <p:sp>
        <p:nvSpPr>
          <p:cNvPr id="9" name="Card"/>
          <p:cNvSpPr/>
          <p:nvPr/>
        </p:nvSpPr>
        <p:spPr>
          <a:xfrm>
            <a:off x="3236976" y="1828800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E3D3"/>
          </a:solidFill>
          <a:ln w="22225">
            <a:solidFill>
              <a:srgbClr val="B95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Noto Sans KR"/>
                <a:ea typeface="Noto Sans KR"/>
              </a:rPr>
              <a:t>5</a:t>
            </a:r>
          </a:p>
        </p:txBody>
      </p:sp>
      <p:sp>
        <p:nvSpPr>
          <p:cNvPr id="10" name="Card"/>
          <p:cNvSpPr/>
          <p:nvPr/>
        </p:nvSpPr>
        <p:spPr>
          <a:xfrm>
            <a:off x="3749040" y="1828800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6</a:t>
            </a:r>
          </a:p>
        </p:txBody>
      </p:sp>
      <p:sp>
        <p:nvSpPr>
          <p:cNvPr id="11" name="Card"/>
          <p:cNvSpPr/>
          <p:nvPr/>
        </p:nvSpPr>
        <p:spPr>
          <a:xfrm>
            <a:off x="4261104" y="1828800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7</a:t>
            </a:r>
          </a:p>
        </p:txBody>
      </p:sp>
      <p:sp>
        <p:nvSpPr>
          <p:cNvPr id="12" name="Card"/>
          <p:cNvSpPr/>
          <p:nvPr/>
        </p:nvSpPr>
        <p:spPr>
          <a:xfrm>
            <a:off x="4773168" y="1828800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8</a:t>
            </a:r>
          </a:p>
        </p:txBody>
      </p:sp>
      <p:sp>
        <p:nvSpPr>
          <p:cNvPr id="13" name="Card"/>
          <p:cNvSpPr/>
          <p:nvPr/>
        </p:nvSpPr>
        <p:spPr>
          <a:xfrm>
            <a:off x="5285232" y="1828800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9</a:t>
            </a:r>
          </a:p>
        </p:txBody>
      </p:sp>
      <p:sp>
        <p:nvSpPr>
          <p:cNvPr id="14" name="Card"/>
          <p:cNvSpPr/>
          <p:nvPr/>
        </p:nvSpPr>
        <p:spPr>
          <a:xfrm>
            <a:off x="5797296" y="1828800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</a:rPr>
              <a:t>10</a:t>
            </a:r>
          </a:p>
        </p:txBody>
      </p:sp>
      <p:sp>
        <p:nvSpPr>
          <p:cNvPr id="15" name="Card"/>
          <p:cNvSpPr/>
          <p:nvPr/>
        </p:nvSpPr>
        <p:spPr>
          <a:xfrm>
            <a:off x="1188720" y="2249424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11</a:t>
            </a:r>
          </a:p>
        </p:txBody>
      </p:sp>
      <p:sp>
        <p:nvSpPr>
          <p:cNvPr id="16" name="Card"/>
          <p:cNvSpPr/>
          <p:nvPr/>
        </p:nvSpPr>
        <p:spPr>
          <a:xfrm>
            <a:off x="1700784" y="2249424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12</a:t>
            </a:r>
          </a:p>
        </p:txBody>
      </p:sp>
      <p:sp>
        <p:nvSpPr>
          <p:cNvPr id="17" name="Card"/>
          <p:cNvSpPr/>
          <p:nvPr/>
        </p:nvSpPr>
        <p:spPr>
          <a:xfrm>
            <a:off x="2212848" y="2249424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13</a:t>
            </a:r>
          </a:p>
        </p:txBody>
      </p:sp>
      <p:sp>
        <p:nvSpPr>
          <p:cNvPr id="18" name="Card"/>
          <p:cNvSpPr/>
          <p:nvPr/>
        </p:nvSpPr>
        <p:spPr>
          <a:xfrm>
            <a:off x="2724912" y="2249424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14</a:t>
            </a:r>
          </a:p>
        </p:txBody>
      </p:sp>
      <p:sp>
        <p:nvSpPr>
          <p:cNvPr id="19" name="Card"/>
          <p:cNvSpPr/>
          <p:nvPr/>
        </p:nvSpPr>
        <p:spPr>
          <a:xfrm>
            <a:off x="3236976" y="2249424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</a:rPr>
              <a:t>15</a:t>
            </a:r>
          </a:p>
        </p:txBody>
      </p:sp>
      <p:sp>
        <p:nvSpPr>
          <p:cNvPr id="20" name="Card"/>
          <p:cNvSpPr/>
          <p:nvPr/>
        </p:nvSpPr>
        <p:spPr>
          <a:xfrm>
            <a:off x="3749040" y="2249424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16</a:t>
            </a:r>
          </a:p>
        </p:txBody>
      </p:sp>
      <p:sp>
        <p:nvSpPr>
          <p:cNvPr id="21" name="Card"/>
          <p:cNvSpPr/>
          <p:nvPr/>
        </p:nvSpPr>
        <p:spPr>
          <a:xfrm>
            <a:off x="4261104" y="2249424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17</a:t>
            </a:r>
          </a:p>
        </p:txBody>
      </p:sp>
      <p:sp>
        <p:nvSpPr>
          <p:cNvPr id="22" name="Card"/>
          <p:cNvSpPr/>
          <p:nvPr/>
        </p:nvSpPr>
        <p:spPr>
          <a:xfrm>
            <a:off x="4773168" y="2249424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18</a:t>
            </a:r>
          </a:p>
        </p:txBody>
      </p:sp>
      <p:sp>
        <p:nvSpPr>
          <p:cNvPr id="23" name="Card"/>
          <p:cNvSpPr/>
          <p:nvPr/>
        </p:nvSpPr>
        <p:spPr>
          <a:xfrm>
            <a:off x="5285232" y="2249424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19</a:t>
            </a:r>
          </a:p>
        </p:txBody>
      </p:sp>
      <p:sp>
        <p:nvSpPr>
          <p:cNvPr id="24" name="Card"/>
          <p:cNvSpPr/>
          <p:nvPr/>
        </p:nvSpPr>
        <p:spPr>
          <a:xfrm>
            <a:off x="5797296" y="2249424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E3D3"/>
          </a:solidFill>
          <a:ln w="22225">
            <a:solidFill>
              <a:srgbClr val="B95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Noto Sans KR"/>
                <a:ea typeface="Noto Sans KR"/>
              </a:rPr>
              <a:t>20</a:t>
            </a:r>
          </a:p>
        </p:txBody>
      </p:sp>
      <p:sp>
        <p:nvSpPr>
          <p:cNvPr id="25" name="Card"/>
          <p:cNvSpPr/>
          <p:nvPr/>
        </p:nvSpPr>
        <p:spPr>
          <a:xfrm>
            <a:off x="1188720" y="2670048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21</a:t>
            </a:r>
          </a:p>
        </p:txBody>
      </p:sp>
      <p:sp>
        <p:nvSpPr>
          <p:cNvPr id="26" name="Card"/>
          <p:cNvSpPr/>
          <p:nvPr/>
        </p:nvSpPr>
        <p:spPr>
          <a:xfrm>
            <a:off x="1700784" y="2670048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22</a:t>
            </a:r>
          </a:p>
        </p:txBody>
      </p:sp>
      <p:sp>
        <p:nvSpPr>
          <p:cNvPr id="27" name="Card"/>
          <p:cNvSpPr/>
          <p:nvPr/>
        </p:nvSpPr>
        <p:spPr>
          <a:xfrm>
            <a:off x="2212848" y="2670048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23</a:t>
            </a:r>
          </a:p>
        </p:txBody>
      </p:sp>
      <p:sp>
        <p:nvSpPr>
          <p:cNvPr id="28" name="Card"/>
          <p:cNvSpPr/>
          <p:nvPr/>
        </p:nvSpPr>
        <p:spPr>
          <a:xfrm>
            <a:off x="2724912" y="2670048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24</a:t>
            </a:r>
          </a:p>
        </p:txBody>
      </p:sp>
      <p:sp>
        <p:nvSpPr>
          <p:cNvPr id="29" name="Card"/>
          <p:cNvSpPr/>
          <p:nvPr/>
        </p:nvSpPr>
        <p:spPr>
          <a:xfrm>
            <a:off x="3236976" y="2670048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</a:rPr>
              <a:t>25</a:t>
            </a:r>
          </a:p>
        </p:txBody>
      </p:sp>
      <p:sp>
        <p:nvSpPr>
          <p:cNvPr id="30" name="Card"/>
          <p:cNvSpPr/>
          <p:nvPr/>
        </p:nvSpPr>
        <p:spPr>
          <a:xfrm>
            <a:off x="3749040" y="2670048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26</a:t>
            </a:r>
          </a:p>
        </p:txBody>
      </p:sp>
      <p:sp>
        <p:nvSpPr>
          <p:cNvPr id="31" name="Card"/>
          <p:cNvSpPr/>
          <p:nvPr/>
        </p:nvSpPr>
        <p:spPr>
          <a:xfrm>
            <a:off x="4261104" y="2670048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27</a:t>
            </a:r>
          </a:p>
        </p:txBody>
      </p:sp>
      <p:sp>
        <p:nvSpPr>
          <p:cNvPr id="32" name="Card"/>
          <p:cNvSpPr/>
          <p:nvPr/>
        </p:nvSpPr>
        <p:spPr>
          <a:xfrm>
            <a:off x="4773168" y="2670048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28</a:t>
            </a:r>
          </a:p>
        </p:txBody>
      </p:sp>
      <p:sp>
        <p:nvSpPr>
          <p:cNvPr id="33" name="Card"/>
          <p:cNvSpPr/>
          <p:nvPr/>
        </p:nvSpPr>
        <p:spPr>
          <a:xfrm>
            <a:off x="5285232" y="2670048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29</a:t>
            </a:r>
          </a:p>
        </p:txBody>
      </p:sp>
      <p:sp>
        <p:nvSpPr>
          <p:cNvPr id="34" name="Card"/>
          <p:cNvSpPr/>
          <p:nvPr/>
        </p:nvSpPr>
        <p:spPr>
          <a:xfrm>
            <a:off x="5797296" y="2670048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E3D3"/>
          </a:solidFill>
          <a:ln w="22225">
            <a:solidFill>
              <a:srgbClr val="B95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Noto Sans KR"/>
                <a:ea typeface="Noto Sans KR"/>
              </a:rPr>
              <a:t>30</a:t>
            </a:r>
          </a:p>
        </p:txBody>
      </p:sp>
      <p:sp>
        <p:nvSpPr>
          <p:cNvPr id="35" name="Card"/>
          <p:cNvSpPr/>
          <p:nvPr/>
        </p:nvSpPr>
        <p:spPr>
          <a:xfrm>
            <a:off x="1188720" y="3090672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31</a:t>
            </a:r>
          </a:p>
        </p:txBody>
      </p:sp>
      <p:sp>
        <p:nvSpPr>
          <p:cNvPr id="36" name="Card"/>
          <p:cNvSpPr/>
          <p:nvPr/>
        </p:nvSpPr>
        <p:spPr>
          <a:xfrm>
            <a:off x="1700784" y="3090672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32</a:t>
            </a:r>
          </a:p>
        </p:txBody>
      </p:sp>
      <p:sp>
        <p:nvSpPr>
          <p:cNvPr id="37" name="Card"/>
          <p:cNvSpPr/>
          <p:nvPr/>
        </p:nvSpPr>
        <p:spPr>
          <a:xfrm>
            <a:off x="2212848" y="3090672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33</a:t>
            </a:r>
          </a:p>
        </p:txBody>
      </p:sp>
      <p:sp>
        <p:nvSpPr>
          <p:cNvPr id="38" name="Card"/>
          <p:cNvSpPr/>
          <p:nvPr/>
        </p:nvSpPr>
        <p:spPr>
          <a:xfrm>
            <a:off x="2724912" y="3090672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34</a:t>
            </a:r>
          </a:p>
        </p:txBody>
      </p:sp>
      <p:sp>
        <p:nvSpPr>
          <p:cNvPr id="39" name="Card"/>
          <p:cNvSpPr/>
          <p:nvPr/>
        </p:nvSpPr>
        <p:spPr>
          <a:xfrm>
            <a:off x="3236976" y="3090672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E3D3"/>
          </a:solidFill>
          <a:ln w="22225">
            <a:solidFill>
              <a:srgbClr val="B95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Noto Sans KR"/>
                <a:ea typeface="Noto Sans KR"/>
              </a:rPr>
              <a:t>35</a:t>
            </a:r>
          </a:p>
        </p:txBody>
      </p:sp>
      <p:sp>
        <p:nvSpPr>
          <p:cNvPr id="40" name="Card"/>
          <p:cNvSpPr/>
          <p:nvPr/>
        </p:nvSpPr>
        <p:spPr>
          <a:xfrm>
            <a:off x="3749040" y="3090672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36</a:t>
            </a:r>
          </a:p>
        </p:txBody>
      </p:sp>
      <p:sp>
        <p:nvSpPr>
          <p:cNvPr id="41" name="Card"/>
          <p:cNvSpPr/>
          <p:nvPr/>
        </p:nvSpPr>
        <p:spPr>
          <a:xfrm>
            <a:off x="4261104" y="3090672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37</a:t>
            </a:r>
          </a:p>
        </p:txBody>
      </p:sp>
      <p:sp>
        <p:nvSpPr>
          <p:cNvPr id="42" name="Card"/>
          <p:cNvSpPr/>
          <p:nvPr/>
        </p:nvSpPr>
        <p:spPr>
          <a:xfrm>
            <a:off x="4773168" y="3090672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38</a:t>
            </a:r>
          </a:p>
        </p:txBody>
      </p:sp>
      <p:sp>
        <p:nvSpPr>
          <p:cNvPr id="43" name="Card"/>
          <p:cNvSpPr/>
          <p:nvPr/>
        </p:nvSpPr>
        <p:spPr>
          <a:xfrm>
            <a:off x="5285232" y="3090672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39</a:t>
            </a:r>
          </a:p>
        </p:txBody>
      </p:sp>
      <p:sp>
        <p:nvSpPr>
          <p:cNvPr id="44" name="Card"/>
          <p:cNvSpPr/>
          <p:nvPr/>
        </p:nvSpPr>
        <p:spPr>
          <a:xfrm>
            <a:off x="5797296" y="3090672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</a:rPr>
              <a:t>40</a:t>
            </a:r>
          </a:p>
        </p:txBody>
      </p:sp>
      <p:sp>
        <p:nvSpPr>
          <p:cNvPr id="45" name="Card"/>
          <p:cNvSpPr/>
          <p:nvPr/>
        </p:nvSpPr>
        <p:spPr>
          <a:xfrm>
            <a:off x="1188720" y="3511296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41</a:t>
            </a:r>
          </a:p>
        </p:txBody>
      </p:sp>
      <p:sp>
        <p:nvSpPr>
          <p:cNvPr id="46" name="Card"/>
          <p:cNvSpPr/>
          <p:nvPr/>
        </p:nvSpPr>
        <p:spPr>
          <a:xfrm>
            <a:off x="1700784" y="3511296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42</a:t>
            </a:r>
          </a:p>
        </p:txBody>
      </p:sp>
      <p:sp>
        <p:nvSpPr>
          <p:cNvPr id="47" name="Card"/>
          <p:cNvSpPr/>
          <p:nvPr/>
        </p:nvSpPr>
        <p:spPr>
          <a:xfrm>
            <a:off x="2212848" y="3511296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43</a:t>
            </a:r>
          </a:p>
        </p:txBody>
      </p:sp>
      <p:sp>
        <p:nvSpPr>
          <p:cNvPr id="48" name="Card"/>
          <p:cNvSpPr/>
          <p:nvPr/>
        </p:nvSpPr>
        <p:spPr>
          <a:xfrm>
            <a:off x="2724912" y="3511296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44</a:t>
            </a:r>
          </a:p>
        </p:txBody>
      </p:sp>
      <p:sp>
        <p:nvSpPr>
          <p:cNvPr id="49" name="Card"/>
          <p:cNvSpPr/>
          <p:nvPr/>
        </p:nvSpPr>
        <p:spPr>
          <a:xfrm>
            <a:off x="3236976" y="3511296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E3D3"/>
          </a:solidFill>
          <a:ln w="22225">
            <a:solidFill>
              <a:srgbClr val="B95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Noto Sans KR"/>
                <a:ea typeface="Noto Sans KR"/>
              </a:rPr>
              <a:t>45</a:t>
            </a:r>
          </a:p>
        </p:txBody>
      </p:sp>
      <p:sp>
        <p:nvSpPr>
          <p:cNvPr id="50" name="Card"/>
          <p:cNvSpPr/>
          <p:nvPr/>
        </p:nvSpPr>
        <p:spPr>
          <a:xfrm>
            <a:off x="3749040" y="3511296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46</a:t>
            </a:r>
          </a:p>
        </p:txBody>
      </p:sp>
      <p:sp>
        <p:nvSpPr>
          <p:cNvPr id="51" name="Card"/>
          <p:cNvSpPr/>
          <p:nvPr/>
        </p:nvSpPr>
        <p:spPr>
          <a:xfrm>
            <a:off x="4261104" y="3511296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47</a:t>
            </a:r>
          </a:p>
        </p:txBody>
      </p:sp>
      <p:sp>
        <p:nvSpPr>
          <p:cNvPr id="52" name="Card"/>
          <p:cNvSpPr/>
          <p:nvPr/>
        </p:nvSpPr>
        <p:spPr>
          <a:xfrm>
            <a:off x="4773168" y="3511296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48</a:t>
            </a:r>
          </a:p>
        </p:txBody>
      </p:sp>
      <p:sp>
        <p:nvSpPr>
          <p:cNvPr id="53" name="Card"/>
          <p:cNvSpPr/>
          <p:nvPr/>
        </p:nvSpPr>
        <p:spPr>
          <a:xfrm>
            <a:off x="5285232" y="3511296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49</a:t>
            </a:r>
          </a:p>
        </p:txBody>
      </p:sp>
      <p:sp>
        <p:nvSpPr>
          <p:cNvPr id="54" name="Card"/>
          <p:cNvSpPr/>
          <p:nvPr/>
        </p:nvSpPr>
        <p:spPr>
          <a:xfrm>
            <a:off x="5797296" y="3511296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</a:rPr>
              <a:t>50</a:t>
            </a:r>
          </a:p>
        </p:txBody>
      </p:sp>
      <p:sp>
        <p:nvSpPr>
          <p:cNvPr id="55" name="Card"/>
          <p:cNvSpPr/>
          <p:nvPr/>
        </p:nvSpPr>
        <p:spPr>
          <a:xfrm>
            <a:off x="1188720" y="3931920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51</a:t>
            </a:r>
          </a:p>
        </p:txBody>
      </p:sp>
      <p:sp>
        <p:nvSpPr>
          <p:cNvPr id="56" name="Card"/>
          <p:cNvSpPr/>
          <p:nvPr/>
        </p:nvSpPr>
        <p:spPr>
          <a:xfrm>
            <a:off x="1700784" y="3931920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52</a:t>
            </a:r>
          </a:p>
        </p:txBody>
      </p:sp>
      <p:sp>
        <p:nvSpPr>
          <p:cNvPr id="57" name="Card"/>
          <p:cNvSpPr/>
          <p:nvPr/>
        </p:nvSpPr>
        <p:spPr>
          <a:xfrm>
            <a:off x="2212848" y="3931920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53</a:t>
            </a:r>
          </a:p>
        </p:txBody>
      </p:sp>
      <p:sp>
        <p:nvSpPr>
          <p:cNvPr id="58" name="Card"/>
          <p:cNvSpPr/>
          <p:nvPr/>
        </p:nvSpPr>
        <p:spPr>
          <a:xfrm>
            <a:off x="2724912" y="3931920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54</a:t>
            </a:r>
          </a:p>
        </p:txBody>
      </p:sp>
      <p:sp>
        <p:nvSpPr>
          <p:cNvPr id="59" name="Card"/>
          <p:cNvSpPr/>
          <p:nvPr/>
        </p:nvSpPr>
        <p:spPr>
          <a:xfrm>
            <a:off x="3236976" y="3931920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</a:rPr>
              <a:t>55</a:t>
            </a:r>
          </a:p>
        </p:txBody>
      </p:sp>
      <p:sp>
        <p:nvSpPr>
          <p:cNvPr id="60" name="Card"/>
          <p:cNvSpPr/>
          <p:nvPr/>
        </p:nvSpPr>
        <p:spPr>
          <a:xfrm>
            <a:off x="3749040" y="3931920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56</a:t>
            </a:r>
          </a:p>
        </p:txBody>
      </p:sp>
      <p:sp>
        <p:nvSpPr>
          <p:cNvPr id="61" name="Card"/>
          <p:cNvSpPr/>
          <p:nvPr/>
        </p:nvSpPr>
        <p:spPr>
          <a:xfrm>
            <a:off x="4261104" y="3931920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57</a:t>
            </a:r>
          </a:p>
        </p:txBody>
      </p:sp>
      <p:sp>
        <p:nvSpPr>
          <p:cNvPr id="62" name="Card"/>
          <p:cNvSpPr/>
          <p:nvPr/>
        </p:nvSpPr>
        <p:spPr>
          <a:xfrm>
            <a:off x="4773168" y="3931920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58</a:t>
            </a:r>
          </a:p>
        </p:txBody>
      </p:sp>
      <p:sp>
        <p:nvSpPr>
          <p:cNvPr id="63" name="Card"/>
          <p:cNvSpPr/>
          <p:nvPr/>
        </p:nvSpPr>
        <p:spPr>
          <a:xfrm>
            <a:off x="5285232" y="3931920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59</a:t>
            </a:r>
          </a:p>
        </p:txBody>
      </p:sp>
      <p:sp>
        <p:nvSpPr>
          <p:cNvPr id="64" name="Card"/>
          <p:cNvSpPr/>
          <p:nvPr/>
        </p:nvSpPr>
        <p:spPr>
          <a:xfrm>
            <a:off x="5797296" y="3931920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</a:rPr>
              <a:t>60</a:t>
            </a:r>
          </a:p>
        </p:txBody>
      </p:sp>
      <p:sp>
        <p:nvSpPr>
          <p:cNvPr id="65" name="Card"/>
          <p:cNvSpPr/>
          <p:nvPr/>
        </p:nvSpPr>
        <p:spPr>
          <a:xfrm>
            <a:off x="1188720" y="4352544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61</a:t>
            </a:r>
          </a:p>
        </p:txBody>
      </p:sp>
      <p:sp>
        <p:nvSpPr>
          <p:cNvPr id="66" name="Card"/>
          <p:cNvSpPr/>
          <p:nvPr/>
        </p:nvSpPr>
        <p:spPr>
          <a:xfrm>
            <a:off x="1700784" y="4352544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62</a:t>
            </a:r>
          </a:p>
        </p:txBody>
      </p:sp>
      <p:sp>
        <p:nvSpPr>
          <p:cNvPr id="67" name="Card"/>
          <p:cNvSpPr/>
          <p:nvPr/>
        </p:nvSpPr>
        <p:spPr>
          <a:xfrm>
            <a:off x="2212848" y="4352544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63</a:t>
            </a:r>
          </a:p>
        </p:txBody>
      </p:sp>
      <p:sp>
        <p:nvSpPr>
          <p:cNvPr id="68" name="Card"/>
          <p:cNvSpPr/>
          <p:nvPr/>
        </p:nvSpPr>
        <p:spPr>
          <a:xfrm>
            <a:off x="2724912" y="4352544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64</a:t>
            </a:r>
          </a:p>
        </p:txBody>
      </p:sp>
      <p:sp>
        <p:nvSpPr>
          <p:cNvPr id="69" name="Card"/>
          <p:cNvSpPr/>
          <p:nvPr/>
        </p:nvSpPr>
        <p:spPr>
          <a:xfrm>
            <a:off x="3236976" y="4352544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E3D3"/>
          </a:solidFill>
          <a:ln w="22225">
            <a:solidFill>
              <a:srgbClr val="B95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Noto Sans KR"/>
                <a:ea typeface="Noto Sans KR"/>
              </a:rPr>
              <a:t>65</a:t>
            </a:r>
          </a:p>
        </p:txBody>
      </p:sp>
      <p:sp>
        <p:nvSpPr>
          <p:cNvPr id="70" name="Card"/>
          <p:cNvSpPr/>
          <p:nvPr/>
        </p:nvSpPr>
        <p:spPr>
          <a:xfrm>
            <a:off x="3749040" y="4352544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66</a:t>
            </a:r>
          </a:p>
        </p:txBody>
      </p:sp>
      <p:sp>
        <p:nvSpPr>
          <p:cNvPr id="71" name="Card"/>
          <p:cNvSpPr/>
          <p:nvPr/>
        </p:nvSpPr>
        <p:spPr>
          <a:xfrm>
            <a:off x="4261104" y="4352544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67</a:t>
            </a:r>
          </a:p>
        </p:txBody>
      </p:sp>
      <p:sp>
        <p:nvSpPr>
          <p:cNvPr id="72" name="Card"/>
          <p:cNvSpPr/>
          <p:nvPr/>
        </p:nvSpPr>
        <p:spPr>
          <a:xfrm>
            <a:off x="4773168" y="4352544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68</a:t>
            </a:r>
          </a:p>
        </p:txBody>
      </p:sp>
      <p:sp>
        <p:nvSpPr>
          <p:cNvPr id="73" name="Card"/>
          <p:cNvSpPr/>
          <p:nvPr/>
        </p:nvSpPr>
        <p:spPr>
          <a:xfrm>
            <a:off x="5285232" y="4352544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69</a:t>
            </a:r>
          </a:p>
        </p:txBody>
      </p:sp>
      <p:sp>
        <p:nvSpPr>
          <p:cNvPr id="74" name="Card"/>
          <p:cNvSpPr/>
          <p:nvPr/>
        </p:nvSpPr>
        <p:spPr>
          <a:xfrm>
            <a:off x="5797296" y="4352544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</a:rPr>
              <a:t>70</a:t>
            </a:r>
          </a:p>
        </p:txBody>
      </p:sp>
      <p:sp>
        <p:nvSpPr>
          <p:cNvPr id="75" name="Card"/>
          <p:cNvSpPr/>
          <p:nvPr/>
        </p:nvSpPr>
        <p:spPr>
          <a:xfrm>
            <a:off x="1188720" y="4773168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71</a:t>
            </a:r>
          </a:p>
        </p:txBody>
      </p:sp>
      <p:sp>
        <p:nvSpPr>
          <p:cNvPr id="76" name="Card"/>
          <p:cNvSpPr/>
          <p:nvPr/>
        </p:nvSpPr>
        <p:spPr>
          <a:xfrm>
            <a:off x="1700784" y="4773168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72</a:t>
            </a:r>
          </a:p>
        </p:txBody>
      </p:sp>
      <p:sp>
        <p:nvSpPr>
          <p:cNvPr id="77" name="Card"/>
          <p:cNvSpPr/>
          <p:nvPr/>
        </p:nvSpPr>
        <p:spPr>
          <a:xfrm>
            <a:off x="2212848" y="4773168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73</a:t>
            </a:r>
          </a:p>
        </p:txBody>
      </p:sp>
      <p:sp>
        <p:nvSpPr>
          <p:cNvPr id="78" name="Card"/>
          <p:cNvSpPr/>
          <p:nvPr/>
        </p:nvSpPr>
        <p:spPr>
          <a:xfrm>
            <a:off x="2724912" y="4773168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74</a:t>
            </a:r>
          </a:p>
        </p:txBody>
      </p:sp>
      <p:sp>
        <p:nvSpPr>
          <p:cNvPr id="79" name="Card"/>
          <p:cNvSpPr/>
          <p:nvPr/>
        </p:nvSpPr>
        <p:spPr>
          <a:xfrm>
            <a:off x="3236976" y="4773168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E3D3"/>
          </a:solidFill>
          <a:ln w="22225">
            <a:solidFill>
              <a:srgbClr val="B95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Noto Sans KR"/>
                <a:ea typeface="Noto Sans KR"/>
              </a:rPr>
              <a:t>75</a:t>
            </a:r>
          </a:p>
        </p:txBody>
      </p:sp>
      <p:sp>
        <p:nvSpPr>
          <p:cNvPr id="80" name="Card"/>
          <p:cNvSpPr/>
          <p:nvPr/>
        </p:nvSpPr>
        <p:spPr>
          <a:xfrm>
            <a:off x="3749040" y="4773168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76</a:t>
            </a:r>
          </a:p>
        </p:txBody>
      </p:sp>
      <p:sp>
        <p:nvSpPr>
          <p:cNvPr id="81" name="Card"/>
          <p:cNvSpPr/>
          <p:nvPr/>
        </p:nvSpPr>
        <p:spPr>
          <a:xfrm>
            <a:off x="4261104" y="4773168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77</a:t>
            </a:r>
          </a:p>
        </p:txBody>
      </p:sp>
      <p:sp>
        <p:nvSpPr>
          <p:cNvPr id="82" name="Card"/>
          <p:cNvSpPr/>
          <p:nvPr/>
        </p:nvSpPr>
        <p:spPr>
          <a:xfrm>
            <a:off x="4773168" y="4773168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78</a:t>
            </a:r>
          </a:p>
        </p:txBody>
      </p:sp>
      <p:sp>
        <p:nvSpPr>
          <p:cNvPr id="83" name="Card"/>
          <p:cNvSpPr/>
          <p:nvPr/>
        </p:nvSpPr>
        <p:spPr>
          <a:xfrm>
            <a:off x="5285232" y="4773168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79</a:t>
            </a:r>
          </a:p>
        </p:txBody>
      </p:sp>
      <p:sp>
        <p:nvSpPr>
          <p:cNvPr id="84" name="Card"/>
          <p:cNvSpPr/>
          <p:nvPr/>
        </p:nvSpPr>
        <p:spPr>
          <a:xfrm>
            <a:off x="5797296" y="4773168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</a:rPr>
              <a:t>80</a:t>
            </a:r>
          </a:p>
        </p:txBody>
      </p:sp>
      <p:sp>
        <p:nvSpPr>
          <p:cNvPr id="85" name="Card"/>
          <p:cNvSpPr/>
          <p:nvPr/>
        </p:nvSpPr>
        <p:spPr>
          <a:xfrm>
            <a:off x="1188720" y="5193792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81</a:t>
            </a:r>
          </a:p>
        </p:txBody>
      </p:sp>
      <p:sp>
        <p:nvSpPr>
          <p:cNvPr id="86" name="Card"/>
          <p:cNvSpPr/>
          <p:nvPr/>
        </p:nvSpPr>
        <p:spPr>
          <a:xfrm>
            <a:off x="1700784" y="5193792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82</a:t>
            </a:r>
          </a:p>
        </p:txBody>
      </p:sp>
      <p:sp>
        <p:nvSpPr>
          <p:cNvPr id="87" name="Card"/>
          <p:cNvSpPr/>
          <p:nvPr/>
        </p:nvSpPr>
        <p:spPr>
          <a:xfrm>
            <a:off x="2212848" y="5193792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83</a:t>
            </a:r>
          </a:p>
        </p:txBody>
      </p:sp>
      <p:sp>
        <p:nvSpPr>
          <p:cNvPr id="88" name="Card"/>
          <p:cNvSpPr/>
          <p:nvPr/>
        </p:nvSpPr>
        <p:spPr>
          <a:xfrm>
            <a:off x="2724912" y="5193792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84</a:t>
            </a:r>
          </a:p>
        </p:txBody>
      </p:sp>
      <p:sp>
        <p:nvSpPr>
          <p:cNvPr id="89" name="Card"/>
          <p:cNvSpPr/>
          <p:nvPr/>
        </p:nvSpPr>
        <p:spPr>
          <a:xfrm>
            <a:off x="3236976" y="5193792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E3D3"/>
          </a:solidFill>
          <a:ln w="22225">
            <a:solidFill>
              <a:srgbClr val="B95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Noto Sans KR"/>
                <a:ea typeface="Noto Sans KR"/>
              </a:rPr>
              <a:t>85</a:t>
            </a:r>
          </a:p>
        </p:txBody>
      </p:sp>
      <p:sp>
        <p:nvSpPr>
          <p:cNvPr id="90" name="Card"/>
          <p:cNvSpPr/>
          <p:nvPr/>
        </p:nvSpPr>
        <p:spPr>
          <a:xfrm>
            <a:off x="3749040" y="5193792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86</a:t>
            </a:r>
          </a:p>
        </p:txBody>
      </p:sp>
      <p:sp>
        <p:nvSpPr>
          <p:cNvPr id="91" name="Card"/>
          <p:cNvSpPr/>
          <p:nvPr/>
        </p:nvSpPr>
        <p:spPr>
          <a:xfrm>
            <a:off x="4261104" y="5193792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87</a:t>
            </a:r>
          </a:p>
        </p:txBody>
      </p:sp>
      <p:sp>
        <p:nvSpPr>
          <p:cNvPr id="92" name="Card"/>
          <p:cNvSpPr/>
          <p:nvPr/>
        </p:nvSpPr>
        <p:spPr>
          <a:xfrm>
            <a:off x="4773168" y="5193792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88</a:t>
            </a:r>
          </a:p>
        </p:txBody>
      </p:sp>
      <p:sp>
        <p:nvSpPr>
          <p:cNvPr id="93" name="Card"/>
          <p:cNvSpPr/>
          <p:nvPr/>
        </p:nvSpPr>
        <p:spPr>
          <a:xfrm>
            <a:off x="5285232" y="5193792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89</a:t>
            </a:r>
          </a:p>
        </p:txBody>
      </p:sp>
      <p:sp>
        <p:nvSpPr>
          <p:cNvPr id="94" name="Card"/>
          <p:cNvSpPr/>
          <p:nvPr/>
        </p:nvSpPr>
        <p:spPr>
          <a:xfrm>
            <a:off x="5797296" y="5193792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3C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</a:rPr>
              <a:t>90</a:t>
            </a:r>
          </a:p>
        </p:txBody>
      </p:sp>
      <p:sp>
        <p:nvSpPr>
          <p:cNvPr id="95" name="Card"/>
          <p:cNvSpPr/>
          <p:nvPr/>
        </p:nvSpPr>
        <p:spPr>
          <a:xfrm>
            <a:off x="1188720" y="5614416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91</a:t>
            </a:r>
          </a:p>
        </p:txBody>
      </p:sp>
      <p:sp>
        <p:nvSpPr>
          <p:cNvPr id="96" name="Card"/>
          <p:cNvSpPr/>
          <p:nvPr/>
        </p:nvSpPr>
        <p:spPr>
          <a:xfrm>
            <a:off x="1700784" y="5614416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92</a:t>
            </a:r>
          </a:p>
        </p:txBody>
      </p:sp>
      <p:sp>
        <p:nvSpPr>
          <p:cNvPr id="97" name="Card"/>
          <p:cNvSpPr/>
          <p:nvPr/>
        </p:nvSpPr>
        <p:spPr>
          <a:xfrm>
            <a:off x="2212848" y="5614416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93</a:t>
            </a:r>
          </a:p>
        </p:txBody>
      </p:sp>
      <p:sp>
        <p:nvSpPr>
          <p:cNvPr id="98" name="Card"/>
          <p:cNvSpPr/>
          <p:nvPr/>
        </p:nvSpPr>
        <p:spPr>
          <a:xfrm>
            <a:off x="2724912" y="5614416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3C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</a:rPr>
              <a:t>94</a:t>
            </a:r>
          </a:p>
        </p:txBody>
      </p:sp>
      <p:sp>
        <p:nvSpPr>
          <p:cNvPr id="99" name="Card"/>
          <p:cNvSpPr/>
          <p:nvPr/>
        </p:nvSpPr>
        <p:spPr>
          <a:xfrm>
            <a:off x="3236976" y="5614416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95</a:t>
            </a:r>
          </a:p>
        </p:txBody>
      </p:sp>
      <p:sp>
        <p:nvSpPr>
          <p:cNvPr id="100" name="Card"/>
          <p:cNvSpPr/>
          <p:nvPr/>
        </p:nvSpPr>
        <p:spPr>
          <a:xfrm>
            <a:off x="3749040" y="5614416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96</a:t>
            </a:r>
          </a:p>
        </p:txBody>
      </p:sp>
      <p:sp>
        <p:nvSpPr>
          <p:cNvPr id="101" name="Card"/>
          <p:cNvSpPr/>
          <p:nvPr/>
        </p:nvSpPr>
        <p:spPr>
          <a:xfrm>
            <a:off x="4261104" y="5614416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3C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</a:rPr>
              <a:t>97</a:t>
            </a:r>
          </a:p>
        </p:txBody>
      </p:sp>
      <p:sp>
        <p:nvSpPr>
          <p:cNvPr id="102" name="Card"/>
          <p:cNvSpPr/>
          <p:nvPr/>
        </p:nvSpPr>
        <p:spPr>
          <a:xfrm>
            <a:off x="4773168" y="5614416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98</a:t>
            </a:r>
          </a:p>
        </p:txBody>
      </p:sp>
      <p:sp>
        <p:nvSpPr>
          <p:cNvPr id="103" name="Card"/>
          <p:cNvSpPr/>
          <p:nvPr/>
        </p:nvSpPr>
        <p:spPr>
          <a:xfrm>
            <a:off x="5285232" y="5614416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99</a:t>
            </a:r>
          </a:p>
        </p:txBody>
      </p:sp>
      <p:sp>
        <p:nvSpPr>
          <p:cNvPr id="104" name="Card"/>
          <p:cNvSpPr/>
          <p:nvPr/>
        </p:nvSpPr>
        <p:spPr>
          <a:xfrm>
            <a:off x="5797296" y="5614416"/>
            <a:ext cx="457200" cy="365760"/>
          </a:xfrm>
          <a:prstGeom prst="roundRect">
            <a:avLst>
              <a:gd name="adj" fmla="val 12000"/>
            </a:avLst>
          </a:prstGeom>
          <a:solidFill>
            <a:srgbClr val="3C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</a:rPr>
              <a:t>100</a:t>
            </a:r>
          </a:p>
        </p:txBody>
      </p:sp>
      <p:sp>
        <p:nvSpPr>
          <p:cNvPr id="105" name="Card"/>
          <p:cNvSpPr/>
          <p:nvPr/>
        </p:nvSpPr>
        <p:spPr>
          <a:xfrm>
            <a:off x="1188720" y="6117336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1426464" y="6062472"/>
            <a:ext cx="15544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5E54"/>
                </a:solidFill>
                <a:latin typeface="Noto Sans KR"/>
                <a:ea typeface="Noto Sans KR"/>
              </a:rPr>
              <a:t>성장 점검 (+1↑)</a:t>
            </a:r>
          </a:p>
        </p:txBody>
      </p:sp>
      <p:sp>
        <p:nvSpPr>
          <p:cNvPr id="107" name="Card"/>
          <p:cNvSpPr/>
          <p:nvPr/>
        </p:nvSpPr>
        <p:spPr>
          <a:xfrm>
            <a:off x="2971800" y="6117336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FBE3D3"/>
          </a:solidFill>
          <a:ln w="9525">
            <a:solidFill>
              <a:srgbClr val="B95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3209544" y="6062472"/>
            <a:ext cx="15544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5E54"/>
                </a:solidFill>
                <a:latin typeface="Noto Sans KR"/>
                <a:ea typeface="Noto Sans KR"/>
              </a:rPr>
              <a:t>돌파 확인 (+0)</a:t>
            </a:r>
          </a:p>
        </p:txBody>
      </p:sp>
      <p:sp>
        <p:nvSpPr>
          <p:cNvPr id="109" name="Card"/>
          <p:cNvSpPr/>
          <p:nvPr/>
        </p:nvSpPr>
        <p:spPr>
          <a:xfrm>
            <a:off x="4754880" y="6117336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3C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992624" y="6062472"/>
            <a:ext cx="15544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5E54"/>
                </a:solidFill>
                <a:latin typeface="Noto Sans KR"/>
                <a:ea typeface="Noto Sans KR"/>
              </a:rPr>
              <a:t>최종 연전 (+3)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720840" y="1783080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0000"/>
                </a:solidFill>
                <a:latin typeface="Noto Sans KR"/>
                <a:ea typeface="Noto Sans KR"/>
              </a:rPr>
              <a:t>보스 간격</a:t>
            </a:r>
          </a:p>
        </p:txBody>
      </p:sp>
      <p:sp>
        <p:nvSpPr>
          <p:cNvPr id="112" name="Chip"/>
          <p:cNvSpPr/>
          <p:nvPr/>
        </p:nvSpPr>
        <p:spPr>
          <a:xfrm>
            <a:off x="6720840" y="2176272"/>
            <a:ext cx="749808" cy="45720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Noto Sans KR Black"/>
                <a:ea typeface="Noto Sans KR Black"/>
              </a:rPr>
              <a:t>5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7688" y="2651760"/>
            <a:ext cx="896112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5~85층</a:t>
            </a:r>
          </a:p>
        </p:txBody>
      </p:sp>
      <p:sp>
        <p:nvSpPr>
          <p:cNvPr id="114" name="Chip"/>
          <p:cNvSpPr/>
          <p:nvPr/>
        </p:nvSpPr>
        <p:spPr>
          <a:xfrm>
            <a:off x="7589519" y="2176272"/>
            <a:ext cx="749808" cy="457200"/>
          </a:xfrm>
          <a:prstGeom prst="roundRect">
            <a:avLst>
              <a:gd name="adj" fmla="val 50000"/>
            </a:avLst>
          </a:prstGeom>
          <a:solidFill>
            <a:srgbClr val="3C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Noto Sans KR Black"/>
                <a:ea typeface="Noto Sans KR Black"/>
              </a:rPr>
              <a:t>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516367" y="2651760"/>
            <a:ext cx="896112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85→90</a:t>
            </a:r>
          </a:p>
        </p:txBody>
      </p:sp>
      <p:sp>
        <p:nvSpPr>
          <p:cNvPr id="116" name="Chip"/>
          <p:cNvSpPr/>
          <p:nvPr/>
        </p:nvSpPr>
        <p:spPr>
          <a:xfrm>
            <a:off x="8458200" y="2176272"/>
            <a:ext cx="749808" cy="457200"/>
          </a:xfrm>
          <a:prstGeom prst="roundRect">
            <a:avLst>
              <a:gd name="adj" fmla="val 50000"/>
            </a:avLst>
          </a:prstGeom>
          <a:solidFill>
            <a:srgbClr val="3C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Noto Sans KR Black"/>
                <a:ea typeface="Noto Sans KR Black"/>
              </a:rP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385048" y="2651760"/>
            <a:ext cx="896112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90→94</a:t>
            </a:r>
          </a:p>
        </p:txBody>
      </p:sp>
      <p:sp>
        <p:nvSpPr>
          <p:cNvPr id="118" name="Chip"/>
          <p:cNvSpPr/>
          <p:nvPr/>
        </p:nvSpPr>
        <p:spPr>
          <a:xfrm>
            <a:off x="9326880" y="2176272"/>
            <a:ext cx="749808" cy="457200"/>
          </a:xfrm>
          <a:prstGeom prst="roundRect">
            <a:avLst>
              <a:gd name="adj" fmla="val 50000"/>
            </a:avLst>
          </a:prstGeom>
          <a:solidFill>
            <a:srgbClr val="3C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253728" y="2651760"/>
            <a:ext cx="896112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94→97</a:t>
            </a:r>
          </a:p>
        </p:txBody>
      </p:sp>
      <p:sp>
        <p:nvSpPr>
          <p:cNvPr id="120" name="Chip"/>
          <p:cNvSpPr/>
          <p:nvPr/>
        </p:nvSpPr>
        <p:spPr>
          <a:xfrm>
            <a:off x="10195559" y="2176272"/>
            <a:ext cx="749808" cy="457200"/>
          </a:xfrm>
          <a:prstGeom prst="roundRect">
            <a:avLst>
              <a:gd name="adj" fmla="val 50000"/>
            </a:avLst>
          </a:prstGeom>
          <a:solidFill>
            <a:srgbClr val="3C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122407" y="2651760"/>
            <a:ext cx="896112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97→100</a:t>
            </a:r>
          </a:p>
        </p:txBody>
      </p:sp>
      <p:sp>
        <p:nvSpPr>
          <p:cNvPr id="122" name="Card"/>
          <p:cNvSpPr/>
          <p:nvPr/>
        </p:nvSpPr>
        <p:spPr>
          <a:xfrm>
            <a:off x="6720840" y="3063240"/>
            <a:ext cx="4343400" cy="109728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Chip"/>
          <p:cNvSpPr/>
          <p:nvPr/>
        </p:nvSpPr>
        <p:spPr>
          <a:xfrm>
            <a:off x="6858000" y="317296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</a:rPr>
              <a:t>성장 점검 관문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229600" y="3154680"/>
            <a:ext cx="27889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10·15·25·40·50·55·60·70·80 + 최종 연전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858000" y="3520440"/>
            <a:ext cx="4114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쌓은 성장을 보스전에서 시험한다. +2 · +3 수요는 73층과 78층 외엔 모두 여기에 있다</a:t>
            </a:r>
          </a:p>
        </p:txBody>
      </p:sp>
      <p:sp>
        <p:nvSpPr>
          <p:cNvPr id="126" name="Card"/>
          <p:cNvSpPr/>
          <p:nvPr/>
        </p:nvSpPr>
        <p:spPr>
          <a:xfrm>
            <a:off x="6720840" y="4270248"/>
            <a:ext cx="4343400" cy="109728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Chip"/>
          <p:cNvSpPr/>
          <p:nvPr/>
        </p:nvSpPr>
        <p:spPr>
          <a:xfrm>
            <a:off x="6858000" y="4379976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FBE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돌파 확인 관문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229600" y="4361688"/>
            <a:ext cx="27889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5·20·30·35·45·65·75·85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858000" y="4727448"/>
            <a:ext cx="4114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1~2층 앞의 성장 수요를 넘은 직후 맞이해, 방금 얻은 성장의 효과를 보스전에서 체감시킨다 (85층 = 최종 연전 전 회복형)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720840" y="5486400"/>
            <a:ext cx="43434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73(+3) → 75 보스(+0)  </a:t>
            </a: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막힘 → 성장 → 돌파의 마무리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78(+3) → 80 보스(+3)  </a:t>
            </a: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2층 간격 연속 압박 = 후반 초입의 정점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재시작 상한이 조절하는 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시스템 - 성장 단계 ×1.3 과 허들 크기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" y="1783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Noto Sans KR"/>
                <a:ea typeface="Noto Sans KR"/>
              </a:rPr>
              <a:t>추가 단계별 필요 성장 배율</a:t>
            </a:r>
          </a:p>
        </p:txBody>
      </p:sp>
      <p:sp>
        <p:nvSpPr>
          <p:cNvPr id="6" name="Chip"/>
          <p:cNvSpPr/>
          <p:nvPr/>
        </p:nvSpPr>
        <p:spPr>
          <a:xfrm>
            <a:off x="1133856" y="2331720"/>
            <a:ext cx="640080" cy="548640"/>
          </a:xfrm>
          <a:prstGeom prst="roundRect">
            <a:avLst>
              <a:gd name="adj" fmla="val 50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 i="0">
                <a:solidFill>
                  <a:srgbClr val="000000"/>
                </a:solidFill>
                <a:latin typeface="Noto Sans KR"/>
                <a:ea typeface="Noto Sans KR"/>
              </a:rPr>
              <a:t>+1</a:t>
            </a:r>
          </a:p>
        </p:txBody>
      </p:sp>
      <p:sp>
        <p:nvSpPr>
          <p:cNvPr id="7" name="Card"/>
          <p:cNvSpPr/>
          <p:nvPr/>
        </p:nvSpPr>
        <p:spPr>
          <a:xfrm>
            <a:off x="1920240" y="237744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ard"/>
          <p:cNvSpPr/>
          <p:nvPr/>
        </p:nvSpPr>
        <p:spPr>
          <a:xfrm>
            <a:off x="1920240" y="2377440"/>
            <a:ext cx="870857" cy="457200"/>
          </a:xfrm>
          <a:prstGeom prst="roundRect">
            <a:avLst>
              <a:gd name="adj" fmla="val 20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0" y="2286000"/>
            <a:ext cx="1188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Noto Sans KR Black"/>
                <a:ea typeface="Noto Sans KR Black"/>
              </a:rPr>
              <a:t>×1.300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633472"/>
            <a:ext cx="15087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+30% · 일반</a:t>
            </a:r>
          </a:p>
        </p:txBody>
      </p:sp>
      <p:sp>
        <p:nvSpPr>
          <p:cNvPr id="11" name="Chip"/>
          <p:cNvSpPr/>
          <p:nvPr/>
        </p:nvSpPr>
        <p:spPr>
          <a:xfrm>
            <a:off x="1133856" y="3291840"/>
            <a:ext cx="640080" cy="54864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Noto Sans KR"/>
                <a:ea typeface="Noto Sans KR"/>
              </a:rPr>
              <a:t>+2</a:t>
            </a:r>
          </a:p>
        </p:txBody>
      </p:sp>
      <p:sp>
        <p:nvSpPr>
          <p:cNvPr id="12" name="Card"/>
          <p:cNvSpPr/>
          <p:nvPr/>
        </p:nvSpPr>
        <p:spPr>
          <a:xfrm>
            <a:off x="1920240" y="333756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Card"/>
          <p:cNvSpPr/>
          <p:nvPr/>
        </p:nvSpPr>
        <p:spPr>
          <a:xfrm>
            <a:off x="1920240" y="3337560"/>
            <a:ext cx="2002971" cy="457200"/>
          </a:xfrm>
          <a:prstGeom prst="roundRect">
            <a:avLst>
              <a:gd name="adj" fmla="val 20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86400" y="3246120"/>
            <a:ext cx="1188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Noto Sans KR Black"/>
                <a:ea typeface="Noto Sans KR Black"/>
              </a:rPr>
              <a:t>×1.690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593592"/>
            <a:ext cx="15087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+69% · 허들</a:t>
            </a:r>
          </a:p>
        </p:txBody>
      </p:sp>
      <p:sp>
        <p:nvSpPr>
          <p:cNvPr id="16" name="Chip"/>
          <p:cNvSpPr/>
          <p:nvPr/>
        </p:nvSpPr>
        <p:spPr>
          <a:xfrm>
            <a:off x="1133856" y="4251960"/>
            <a:ext cx="640080" cy="548640"/>
          </a:xfrm>
          <a:prstGeom prst="roundRect">
            <a:avLst>
              <a:gd name="adj" fmla="val 50000"/>
            </a:avLst>
          </a:prstGeom>
          <a:solidFill>
            <a:srgbClr val="7A2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Noto Sans KR"/>
                <a:ea typeface="Noto Sans KR"/>
              </a:rPr>
              <a:t>+3</a:t>
            </a:r>
          </a:p>
        </p:txBody>
      </p:sp>
      <p:sp>
        <p:nvSpPr>
          <p:cNvPr id="17" name="Card"/>
          <p:cNvSpPr/>
          <p:nvPr/>
        </p:nvSpPr>
        <p:spPr>
          <a:xfrm>
            <a:off x="1920240" y="42976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ard"/>
          <p:cNvSpPr/>
          <p:nvPr/>
        </p:nvSpPr>
        <p:spPr>
          <a:xfrm>
            <a:off x="1920240" y="42976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7A2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86400" y="4206240"/>
            <a:ext cx="1188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000000"/>
                </a:solidFill>
                <a:latin typeface="Noto Sans KR Black"/>
                <a:ea typeface="Noto Sans KR Black"/>
              </a:rPr>
              <a:t>×2.197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553712"/>
            <a:ext cx="15087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+119.7% · 강한 허들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5120640"/>
            <a:ext cx="56692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B5E54"/>
                </a:solidFill>
                <a:latin typeface="Noto Sans KR"/>
                <a:ea typeface="Noto Sans KR"/>
              </a:rPr>
              <a:t>막대 길이 = 추가로 필요한 성장 비율. +3은 두 배가 넘는 수요라 허들 강도를 한눈에 구분할 수 있다.</a:t>
            </a:r>
          </a:p>
        </p:txBody>
      </p:sp>
      <p:sp>
        <p:nvSpPr>
          <p:cNvPr id="22" name="Card"/>
          <p:cNvSpPr/>
          <p:nvPr/>
        </p:nvSpPr>
        <p:spPr>
          <a:xfrm>
            <a:off x="7086600" y="1783080"/>
            <a:ext cx="3977639" cy="42062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269480" y="1874519"/>
            <a:ext cx="365759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00000"/>
                </a:solidFill>
                <a:latin typeface="Noto Sans KR"/>
                <a:ea typeface="Noto Sans KR"/>
              </a:rPr>
              <a:t>왜 ×1.3 을 한 단계로 쓰나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2313432"/>
            <a:ext cx="3611879" cy="3584447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절대 전투력 차이로는 1층과 100층을 같은 눈금으로 비교할 수 없다 → 로그 성격의 누적 단계 u 도입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+1 / +2 / +3이 일반 · 허들 · 강한 허들로 시각적으로 구분된다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1.3은 경제 · 강화 횟수에서 나온 값이 아니다.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성장 요구량을 서술하는 '해상도'이며 최적이라는 실측 근거는 없다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다른 배율을 쓰면 단계 배치를 다시 조정해야 하지만, 의도한 난이도 리듬은 유지할 수 있다</a:t>
            </a:r>
          </a:p>
        </p:txBody>
      </p: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목적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×1.3을 한 칸으로 세어 1층과 100층의 성장 수요를 같은 눈금으로 비교하고, 허들 강도를 +1 · +2 · +3으로 나눈다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 장 시작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설계 근거 - 기본 보상 함수와 102% 기준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목적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성장 시스템이 없어도 요구량을 계산할 수 있게 보상을 변수 하나로 통제하고, 표에서 성공 여유를 읽게 한다</a:t>
            </a:r>
          </a:p>
        </p:txBody>
      </p:sp>
      <p:sp>
        <p:nvSpPr>
          <p:cNvPr id="5" name="Card"/>
          <p:cNvSpPr/>
          <p:nvPr/>
        </p:nvSpPr>
        <p:spPr>
          <a:xfrm>
            <a:off x="1133856" y="1783080"/>
            <a:ext cx="4846320" cy="35204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316736" y="1874519"/>
            <a:ext cx="452627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00000"/>
                </a:solidFill>
                <a:latin typeface="Noto Sans KR"/>
                <a:ea typeface="Noto Sans KR"/>
              </a:rPr>
              <a:t>기본 보상을 단일 지수함수로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2313432"/>
            <a:ext cx="4480559" cy="28986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000000"/>
                </a:solidFill>
                <a:latin typeface="Noto Sans KR Black"/>
                <a:ea typeface="Noto Sans KR Black"/>
              </a:rPr>
              <a:t>Bᵢ = q^(i−1)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오브젝트 개수 · 체력 · 개별 보상이 미정 → 층별 '총 기본 보상'만 정의해 성장 시스템과 독립적으로 계산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공비 하나로 100층까지 연속 증가, 조정 변수 최소화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B₁=1 · R₁₀₀=1ae · 누적 61단계 · 100층 기준 시작층 94 → q가 방정식으로 결정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q ≈ 1.578703은 직접 고른 체감 난이도가 아니라 앞선 기준의 수학적 귀결.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값이 큰 이유: 10²⁷ 중 G₁₀₀이 맡는 몫은 약 7자리뿐이라 나머지 약 20자리를 기본 보상이 채워야 한다 (단계를 늘리면 q는 작아진다)</a:t>
            </a:r>
          </a:p>
        </p:txBody>
      </p:sp>
      <p:sp>
        <p:nvSpPr>
          <p:cNvPr id="8" name="Card"/>
          <p:cNvSpPr/>
          <p:nvPr/>
        </p:nvSpPr>
        <p:spPr>
          <a:xfrm>
            <a:off x="6163056" y="1783080"/>
            <a:ext cx="4901184" cy="35204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45936" y="1847088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00000"/>
                </a:solidFill>
                <a:latin typeface="Noto Sans KR"/>
                <a:ea typeface="Noto Sans KR"/>
              </a:rPr>
              <a:t>기준 여유선 = 요구치 × 1.02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5936" y="2377440"/>
            <a:ext cx="14630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B5E54"/>
                </a:solidFill>
                <a:latin typeface="Noto Sans KR"/>
                <a:ea typeface="Noto Sans KR"/>
              </a:rPr>
              <a:t>요구 전투력 R</a:t>
            </a:r>
          </a:p>
        </p:txBody>
      </p:sp>
      <p:sp>
        <p:nvSpPr>
          <p:cNvPr id="11" name="Card"/>
          <p:cNvSpPr/>
          <p:nvPr/>
        </p:nvSpPr>
        <p:spPr>
          <a:xfrm>
            <a:off x="7772400" y="2414016"/>
            <a:ext cx="2868705" cy="347472"/>
          </a:xfrm>
          <a:prstGeom prst="roundRect">
            <a:avLst>
              <a:gd name="adj" fmla="val 10000"/>
            </a:avLst>
          </a:prstGeom>
          <a:solidFill>
            <a:srgbClr val="3C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818145" y="2414016"/>
            <a:ext cx="7772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926080"/>
            <a:ext cx="14630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B5E54"/>
                </a:solidFill>
                <a:latin typeface="Noto Sans KR"/>
                <a:ea typeface="Noto Sans KR"/>
              </a:rPr>
              <a:t>기준 여유선 P</a:t>
            </a:r>
          </a:p>
        </p:txBody>
      </p:sp>
      <p:sp>
        <p:nvSpPr>
          <p:cNvPr id="14" name="Card"/>
          <p:cNvSpPr/>
          <p:nvPr/>
        </p:nvSpPr>
        <p:spPr>
          <a:xfrm>
            <a:off x="7772400" y="2962656"/>
            <a:ext cx="2926080" cy="347472"/>
          </a:xfrm>
          <a:prstGeom prst="roundRect">
            <a:avLst>
              <a:gd name="adj" fmla="val 10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875519" y="2962656"/>
            <a:ext cx="77724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102%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3520440"/>
            <a:ext cx="4572000" cy="2377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같으면 표에서 성공 여유를 읽기 어렵다 → 2% 초과로 '요구치에 근접한 첫 돌파' 기준 시나리오를 표현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통계적 예측치가 아니다.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비교용 기준 전투력이며 다른 계산에는 쓰이지 않는 표시값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성장 공급 방식이 정해지면 102% 대신 실제 분포를 적용</a:t>
            </a:r>
          </a:p>
        </p:txBody>
      </p:sp>
      <p:sp>
        <p:nvSpPr>
          <p:cNvPr id="17" name="Card"/>
          <p:cNvSpPr/>
          <p:nvPr/>
        </p:nvSpPr>
        <p:spPr>
          <a:xfrm>
            <a:off x="1133856" y="5486400"/>
            <a:ext cx="9930384" cy="548640"/>
          </a:xfrm>
          <a:prstGeom prst="roundRect">
            <a:avLst>
              <a:gd name="adj" fmla="val 4000"/>
            </a:avLst>
          </a:prstGeom>
          <a:solidFill>
            <a:srgbClr val="3C2D23"/>
          </a:solidFill>
          <a:ln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16736" y="5504688"/>
            <a:ext cx="960120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</a:rPr>
              <a:t>q는 '선택'이 아니라 기준에서 나온 '결과'</a:t>
            </a:r>
            <a:r>
              <a:rPr sz="1400" b="0" i="0">
                <a:solidFill>
                  <a:srgbClr val="A7ADB7"/>
                </a:solidFill>
                <a:latin typeface="Noto Sans KR"/>
                <a:ea typeface="Noto Sans KR"/>
              </a:rPr>
              <a:t>   ·   </a:t>
            </a: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</a:rPr>
              <a:t>1.02는 '예측'이 아니라 비교용 '기준'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 장 시작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수치 모델 - 층별 수치가 만들어지는 과정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"/>
          <p:cNvSpPr/>
          <p:nvPr/>
        </p:nvSpPr>
        <p:spPr>
          <a:xfrm>
            <a:off x="1133856" y="1737360"/>
            <a:ext cx="1737360" cy="25146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33856" y="1828800"/>
            <a:ext cx="17373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0" i="0">
                <a:solidFill>
                  <a:srgbClr val="B95A25"/>
                </a:solidFill>
                <a:latin typeface="Noto Sans KR Black"/>
                <a:ea typeface="Noto Sans KR Black"/>
              </a:rPr>
              <a:t>Bᵢ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2395728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q^(i−1)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834640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층별 기본 보상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3246120"/>
            <a:ext cx="1591056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B5E54"/>
                </a:solidFill>
                <a:latin typeface="Noto Sans KR"/>
                <a:ea typeface="Noto Sans KR"/>
              </a:rPr>
              <a:t>층 i의 오브젝트를
모두 파괴했을 때의 총량</a:t>
            </a:r>
          </a:p>
        </p:txBody>
      </p:sp>
      <p:cxnSp>
        <p:nvCxnSpPr>
          <p:cNvPr id="9" name="Arrow"/>
          <p:cNvCxnSpPr/>
          <p:nvPr/>
        </p:nvCxnSpPr>
        <p:spPr>
          <a:xfrm>
            <a:off x="2889504" y="2990088"/>
            <a:ext cx="237744" cy="0"/>
          </a:xfrm>
          <a:prstGeom prst="line">
            <a:avLst/>
          </a:prstGeom>
          <a:ln w="22225">
            <a:solidFill>
              <a:srgbClr val="3C2D2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rd"/>
          <p:cNvSpPr/>
          <p:nvPr/>
        </p:nvSpPr>
        <p:spPr>
          <a:xfrm>
            <a:off x="3145536" y="1737360"/>
            <a:ext cx="1737360" cy="25146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45536" y="1828800"/>
            <a:ext cx="17373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0" i="0">
                <a:solidFill>
                  <a:srgbClr val="B95A25"/>
                </a:solidFill>
                <a:latin typeface="Noto Sans KR Black"/>
                <a:ea typeface="Noto Sans KR Black"/>
              </a:rPr>
              <a:t>A(s,f)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5536" y="2395728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Σ Bᵢ (i=s..f)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5536" y="2834640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누적 기본 전투력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8688" y="3246120"/>
            <a:ext cx="1591056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B5E54"/>
                </a:solidFill>
                <a:latin typeface="Noto Sans KR"/>
                <a:ea typeface="Noto Sans KR"/>
              </a:rPr>
              <a:t>시작층 s ~ 목표층 f
건너뛴 층 제외</a:t>
            </a:r>
          </a:p>
        </p:txBody>
      </p:sp>
      <p:cxnSp>
        <p:nvCxnSpPr>
          <p:cNvPr id="15" name="Arrow"/>
          <p:cNvCxnSpPr/>
          <p:nvPr/>
        </p:nvCxnSpPr>
        <p:spPr>
          <a:xfrm>
            <a:off x="4901184" y="2990088"/>
            <a:ext cx="237744" cy="0"/>
          </a:xfrm>
          <a:prstGeom prst="line">
            <a:avLst/>
          </a:prstGeom>
          <a:ln w="22225">
            <a:solidFill>
              <a:srgbClr val="3C2D2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rd"/>
          <p:cNvSpPr/>
          <p:nvPr/>
        </p:nvSpPr>
        <p:spPr>
          <a:xfrm>
            <a:off x="5157216" y="1737360"/>
            <a:ext cx="1737360" cy="25146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157216" y="1828800"/>
            <a:ext cx="17373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0" i="0">
                <a:solidFill>
                  <a:srgbClr val="B95A25"/>
                </a:solidFill>
                <a:latin typeface="Noto Sans KR Black"/>
                <a:ea typeface="Noto Sans KR Black"/>
              </a:rPr>
              <a:t>G_f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2395728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1.3^(u_f)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2834640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필요 성장 계수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3246120"/>
            <a:ext cx="1591056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B5E54"/>
                </a:solidFill>
                <a:latin typeface="Noto Sans KR"/>
                <a:ea typeface="Noto Sans KR"/>
              </a:rPr>
              <a:t>누적 성장 단계 u_f를
배율로 환산</a:t>
            </a:r>
          </a:p>
        </p:txBody>
      </p:sp>
      <p:cxnSp>
        <p:nvCxnSpPr>
          <p:cNvPr id="21" name="Arrow"/>
          <p:cNvCxnSpPr/>
          <p:nvPr/>
        </p:nvCxnSpPr>
        <p:spPr>
          <a:xfrm>
            <a:off x="6912864" y="2990088"/>
            <a:ext cx="237744" cy="0"/>
          </a:xfrm>
          <a:prstGeom prst="line">
            <a:avLst/>
          </a:prstGeom>
          <a:ln w="22225">
            <a:solidFill>
              <a:srgbClr val="3C2D2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ard"/>
          <p:cNvSpPr/>
          <p:nvPr/>
        </p:nvSpPr>
        <p:spPr>
          <a:xfrm>
            <a:off x="7168896" y="1737360"/>
            <a:ext cx="1737360" cy="2514600"/>
          </a:xfrm>
          <a:prstGeom prst="roundRect">
            <a:avLst>
              <a:gd name="adj" fmla="val 4000"/>
            </a:avLst>
          </a:prstGeom>
          <a:solidFill>
            <a:srgbClr val="3C2D23"/>
          </a:solidFill>
          <a:ln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168896" y="1828800"/>
            <a:ext cx="17373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Noto Sans KR Black"/>
                <a:ea typeface="Noto Sans KR Black"/>
              </a:rPr>
              <a:t>R_f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8896" y="2395728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</a:rPr>
              <a:t>G_f × A(s_f,f)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8896" y="2834640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Noto Sans KR"/>
                <a:ea typeface="Noto Sans KR"/>
              </a:rPr>
              <a:t>요구 전투력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42048" y="3246120"/>
            <a:ext cx="1591056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E7DFD2"/>
                </a:solidFill>
                <a:latin typeface="Noto Sans KR"/>
                <a:ea typeface="Noto Sans KR"/>
              </a:rPr>
              <a:t>기준 시작층 s_f에서
최초 돌파 기준</a:t>
            </a:r>
          </a:p>
        </p:txBody>
      </p:sp>
      <p:cxnSp>
        <p:nvCxnSpPr>
          <p:cNvPr id="27" name="Arrow"/>
          <p:cNvCxnSpPr/>
          <p:nvPr/>
        </p:nvCxnSpPr>
        <p:spPr>
          <a:xfrm>
            <a:off x="8924544" y="2990088"/>
            <a:ext cx="237744" cy="0"/>
          </a:xfrm>
          <a:prstGeom prst="line">
            <a:avLst/>
          </a:prstGeom>
          <a:ln w="22225">
            <a:solidFill>
              <a:srgbClr val="3C2D2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ard"/>
          <p:cNvSpPr/>
          <p:nvPr/>
        </p:nvSpPr>
        <p:spPr>
          <a:xfrm>
            <a:off x="9180576" y="1737360"/>
            <a:ext cx="1737360" cy="25146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80576" y="1828800"/>
            <a:ext cx="17373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0" i="0">
                <a:solidFill>
                  <a:srgbClr val="B95A25"/>
                </a:solidFill>
                <a:latin typeface="Noto Sans KR Black"/>
                <a:ea typeface="Noto Sans KR Black"/>
              </a:rPr>
              <a:t>P_f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6" y="2395728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1.02 × R_f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2834640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기준 여유선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3728" y="3246120"/>
            <a:ext cx="1591056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B5E54"/>
                </a:solidFill>
                <a:latin typeface="Noto Sans KR"/>
                <a:ea typeface="Noto Sans KR"/>
              </a:rPr>
              <a:t>표시용 2% 여유</a:t>
            </a:r>
          </a:p>
        </p:txBody>
      </p:sp>
      <p:graphicFrame>
        <p:nvGraphicFramePr>
          <p:cNvPr id="33" name="Table"/>
          <p:cNvGraphicFramePr>
            <a:graphicFrameLocks noGrp="1"/>
          </p:cNvGraphicFramePr>
          <p:nvPr/>
        </p:nvGraphicFramePr>
        <p:xfrm>
          <a:off x="1133856" y="4526280"/>
          <a:ext cx="9930384" cy="1463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2743200"/>
                <a:gridCol w="914400"/>
                <a:gridCol w="5358384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기호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3C2D23"/>
                      </a:solidFill>
                    </a:lnL>
                    <a:lnR w="12700" cap="flat" cmpd="sng" algn="ctr">
                      <a:solidFill>
                        <a:srgbClr val="3C2D23"/>
                      </a:solidFill>
                    </a:lnR>
                    <a:lnT w="12700" cap="flat" cmpd="sng" algn="ctr">
                      <a:solidFill>
                        <a:srgbClr val="3C2D23"/>
                      </a:solidFill>
                    </a:lnT>
                    <a:lnB w="12700" cap="flat" cmpd="sng" algn="ctr">
                      <a:solidFill>
                        <a:srgbClr val="3C2D23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의미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3C2D23"/>
                      </a:solidFill>
                    </a:lnL>
                    <a:lnR w="12700" cap="flat" cmpd="sng" algn="ctr">
                      <a:solidFill>
                        <a:srgbClr val="3C2D23"/>
                      </a:solidFill>
                    </a:lnR>
                    <a:lnT w="12700" cap="flat" cmpd="sng" algn="ctr">
                      <a:solidFill>
                        <a:srgbClr val="3C2D23"/>
                      </a:solidFill>
                    </a:lnT>
                    <a:lnB w="12700" cap="flat" cmpd="sng" algn="ctr">
                      <a:solidFill>
                        <a:srgbClr val="3C2D23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기호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3C2D23"/>
                      </a:solidFill>
                    </a:lnL>
                    <a:lnR w="12700" cap="flat" cmpd="sng" algn="ctr">
                      <a:solidFill>
                        <a:srgbClr val="3C2D23"/>
                      </a:solidFill>
                    </a:lnR>
                    <a:lnT w="12700" cap="flat" cmpd="sng" algn="ctr">
                      <a:solidFill>
                        <a:srgbClr val="3C2D23"/>
                      </a:solidFill>
                    </a:lnT>
                    <a:lnB w="12700" cap="flat" cmpd="sng" algn="ctr">
                      <a:solidFill>
                        <a:srgbClr val="3C2D23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의미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3C2D23"/>
                      </a:solidFill>
                    </a:lnL>
                    <a:lnR w="12700" cap="flat" cmpd="sng" algn="ctr">
                      <a:solidFill>
                        <a:srgbClr val="3C2D23"/>
                      </a:solidFill>
                    </a:lnR>
                    <a:lnT w="12700" cap="flat" cmpd="sng" algn="ctr">
                      <a:solidFill>
                        <a:srgbClr val="3C2D23"/>
                      </a:solidFill>
                    </a:lnT>
                    <a:lnB w="12700" cap="flat" cmpd="sng" algn="ctr">
                      <a:solidFill>
                        <a:srgbClr val="3C2D23"/>
                      </a:solidFill>
                    </a:lnB>
                    <a:solidFill>
                      <a:srgbClr val="3C2D2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i / f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 번호 / 목표층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q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층별 기본 보상 배율 (≈1.5787)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r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역대 최고 기록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u_f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 f의 누적 성장 단계 (정수)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선택한 시작층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s_f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기준 시작층 (r=f−1, 허용 최고층에서 시작)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핵심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층별 보상 → 누적 → 성장 계수 → 요구 전투력, 네 단계로 100개 층의 숫자가 모두 만들어진다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15층 계산 예시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부록 - 기본 보상과 재시작 범위 식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"/>
          <p:cNvSpPr/>
          <p:nvPr/>
        </p:nvSpPr>
        <p:spPr>
          <a:xfrm>
            <a:off x="1133856" y="1645920"/>
            <a:ext cx="4846320" cy="20574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16736" y="1737360"/>
            <a:ext cx="452627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00000"/>
                </a:solidFill>
                <a:latin typeface="Noto Sans KR"/>
                <a:ea typeface="Noto Sans KR"/>
              </a:rPr>
              <a:t>① 층별 기본 전투력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6736" y="2176272"/>
            <a:ext cx="4480559" cy="1435607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00000"/>
                </a:solidFill>
                <a:latin typeface="Noto Sans KR Black"/>
                <a:ea typeface="Noto Sans KR Black"/>
              </a:rPr>
              <a:t>Bᵢ = q^(i−1)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Noto Sans KR"/>
                <a:ea typeface="Noto Sans KR"/>
              </a:rPr>
              <a:t>한 층 전체를 하나의 보상 묶음으로 추상화. B₁=1이므로 성장 계수 ×1에서 1층 요구 전투력 1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B5E54"/>
                </a:solidFill>
                <a:latin typeface="Noto Sans KR"/>
                <a:ea typeface="Noto Sans KR"/>
              </a:rPr>
              <a:t>실제 오브젝트 수가 같은 비율로 늘어야 한다는 뜻은 아님</a:t>
            </a:r>
          </a:p>
        </p:txBody>
      </p:sp>
      <p:sp>
        <p:nvSpPr>
          <p:cNvPr id="7" name="Card"/>
          <p:cNvSpPr/>
          <p:nvPr/>
        </p:nvSpPr>
        <p:spPr>
          <a:xfrm>
            <a:off x="1133856" y="3886200"/>
            <a:ext cx="4846320" cy="210312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316736" y="3977639"/>
            <a:ext cx="452627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00000"/>
                </a:solidFill>
                <a:latin typeface="Noto Sans KR"/>
                <a:ea typeface="Noto Sans KR"/>
              </a:rPr>
              <a:t>② 재시작 상한과 누적 전투력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4416552"/>
            <a:ext cx="4480559" cy="1481327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Smax(r) = max(1, r−10)  (r ≤ 70)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Smax(r) = max(1, r−5)    (r ≥ 71)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A(s,f) = (q^f − q^(s−1)) / (q−1)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B5E54"/>
                </a:solidFill>
                <a:latin typeface="Noto Sans KR"/>
                <a:ea typeface="Noto Sans KR"/>
              </a:rPr>
              <a:t>1 ≤ s ≤ Smax(r) · 건너뛴 층 제외 · 판정 규칙에 따라 목표층 보상 B_f 포함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163056" y="1645920"/>
          <a:ext cx="4901184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Card"/>
          <p:cNvSpPr/>
          <p:nvPr/>
        </p:nvSpPr>
        <p:spPr>
          <a:xfrm>
            <a:off x="6163056" y="5029200"/>
            <a:ext cx="4901184" cy="960120"/>
          </a:xfrm>
          <a:prstGeom prst="roundRect">
            <a:avLst>
              <a:gd name="adj" fmla="val 4000"/>
            </a:avLst>
          </a:prstGeom>
          <a:solidFill>
            <a:srgbClr val="FBE3D3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09360" y="5074920"/>
            <a:ext cx="466344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기준 시작층 = 대표 경로. </a:t>
            </a: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도전마다 신기록 1층을 가정해 층마다 같은 조건으로 비교한다. 연속 돌파로 시작층이 낮아져도 차이는 최대 +4.27%라 기준이 유지된다.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성장 단계 배치 규칙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수치 모델 - 15층으로 보는 계산 예시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"/>
          <p:cNvSpPr/>
          <p:nvPr/>
        </p:nvSpPr>
        <p:spPr>
          <a:xfrm>
            <a:off x="1133856" y="1645920"/>
            <a:ext cx="9930384" cy="16002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33856" y="1737360"/>
            <a:ext cx="9930384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0" i="0">
                <a:solidFill>
                  <a:srgbClr val="000000"/>
                </a:solidFill>
                <a:latin typeface="Noto Sans KR Black"/>
                <a:ea typeface="Noto Sans KR Black"/>
              </a:rPr>
              <a:t>R_f  =  G_f  ×  A(s_f, 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377440"/>
            <a:ext cx="21031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B95A25"/>
                </a:solidFill>
                <a:latin typeface="Noto Sans KR"/>
                <a:ea typeface="Noto Sans KR"/>
              </a:rPr>
              <a:t>별도로 배치한 성장 수요
G_f = 1.3^(u_f)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2377440"/>
            <a:ext cx="274320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B95A25"/>
                </a:solidFill>
                <a:latin typeface="Noto Sans KR"/>
                <a:ea typeface="Noto Sans KR"/>
              </a:rPr>
              <a:t>해당 층까지 실제로 획득 가능한
기본 전투력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42900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Noto Sans KR"/>
                <a:ea typeface="Noto Sans KR"/>
              </a:rPr>
              <a:t>계산 예시: 15층 (초반 종료 허들)</a:t>
            </a:r>
          </a:p>
        </p:txBody>
      </p:sp>
      <p:sp>
        <p:nvSpPr>
          <p:cNvPr id="9" name="Card"/>
          <p:cNvSpPr/>
          <p:nvPr/>
        </p:nvSpPr>
        <p:spPr>
          <a:xfrm>
            <a:off x="1133856" y="3886200"/>
            <a:ext cx="18288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33856" y="393192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B5E54"/>
                </a:solidFill>
                <a:latin typeface="Noto Sans KR"/>
                <a:ea typeface="Noto Sans KR"/>
              </a:rPr>
              <a:t>기준 시작층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4206240"/>
            <a:ext cx="1828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000000"/>
                </a:solidFill>
                <a:latin typeface="Noto Sans KR Black"/>
                <a:ea typeface="Noto Sans KR Black"/>
              </a:rPr>
              <a:t>4층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466344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직전 기록 14 → 14−10</a:t>
            </a:r>
          </a:p>
        </p:txBody>
      </p:sp>
      <p:sp>
        <p:nvSpPr>
          <p:cNvPr id="13" name="Card"/>
          <p:cNvSpPr/>
          <p:nvPr/>
        </p:nvSpPr>
        <p:spPr>
          <a:xfrm>
            <a:off x="3145536" y="3886200"/>
            <a:ext cx="18288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145536" y="393192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B5E54"/>
                </a:solidFill>
                <a:latin typeface="Noto Sans KR"/>
                <a:ea typeface="Noto Sans KR"/>
              </a:rPr>
              <a:t>누적 성장 단계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5536" y="4206240"/>
            <a:ext cx="1828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000000"/>
                </a:solidFill>
                <a:latin typeface="Noto Sans KR Black"/>
                <a:ea typeface="Noto Sans KR Black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5536" y="466344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4·7·10·13층 +1, 15층 +2</a:t>
            </a:r>
          </a:p>
        </p:txBody>
      </p:sp>
      <p:sp>
        <p:nvSpPr>
          <p:cNvPr id="17" name="Card"/>
          <p:cNvSpPr/>
          <p:nvPr/>
        </p:nvSpPr>
        <p:spPr>
          <a:xfrm>
            <a:off x="5157216" y="3886200"/>
            <a:ext cx="18288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57216" y="393192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B5E54"/>
                </a:solidFill>
                <a:latin typeface="Noto Sans KR"/>
                <a:ea typeface="Noto Sans KR"/>
              </a:rPr>
              <a:t>A(4, 15)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4206240"/>
            <a:ext cx="1828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000000"/>
                </a:solidFill>
                <a:latin typeface="Noto Sans KR Black"/>
                <a:ea typeface="Noto Sans KR Black"/>
              </a:rPr>
              <a:t>≈ 1,622.7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216" y="466344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4~15층 기본 보상 합</a:t>
            </a:r>
          </a:p>
        </p:txBody>
      </p:sp>
      <p:sp>
        <p:nvSpPr>
          <p:cNvPr id="21" name="Card"/>
          <p:cNvSpPr/>
          <p:nvPr/>
        </p:nvSpPr>
        <p:spPr>
          <a:xfrm>
            <a:off x="7168896" y="3886200"/>
            <a:ext cx="18288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68896" y="393192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B5E54"/>
                </a:solidFill>
                <a:latin typeface="Noto Sans KR"/>
                <a:ea typeface="Noto Sans KR"/>
              </a:rPr>
              <a:t>G₁₅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4206240"/>
            <a:ext cx="1828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000000"/>
                </a:solidFill>
                <a:latin typeface="Noto Sans KR Black"/>
                <a:ea typeface="Noto Sans KR Black"/>
              </a:rPr>
              <a:t>×4.827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8896" y="466344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1.3⁶</a:t>
            </a:r>
          </a:p>
        </p:txBody>
      </p:sp>
      <p:sp>
        <p:nvSpPr>
          <p:cNvPr id="25" name="Card"/>
          <p:cNvSpPr/>
          <p:nvPr/>
        </p:nvSpPr>
        <p:spPr>
          <a:xfrm>
            <a:off x="9180576" y="3886200"/>
            <a:ext cx="1828800" cy="1143000"/>
          </a:xfrm>
          <a:prstGeom prst="roundRect">
            <a:avLst>
              <a:gd name="adj" fmla="val 4000"/>
            </a:avLst>
          </a:prstGeom>
          <a:solidFill>
            <a:srgbClr val="3C2D23"/>
          </a:solidFill>
          <a:ln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180576" y="393192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E7DFD2"/>
                </a:solidFill>
                <a:latin typeface="Noto Sans KR"/>
                <a:ea typeface="Noto Sans KR"/>
              </a:rPr>
              <a:t>R₁₅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0576" y="4206240"/>
            <a:ext cx="1828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Noto Sans KR Black"/>
                <a:ea typeface="Noto Sans KR Black"/>
              </a:rPr>
              <a:t>7.832k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466344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E7DFD2"/>
                </a:solidFill>
                <a:latin typeface="Noto Sans KR"/>
                <a:ea typeface="Noto Sans KR"/>
              </a:rPr>
              <a:t>4.827 × 1,622.7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" y="5257800"/>
            <a:ext cx="9930384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P_f = 1.02 × R_f  </a:t>
            </a:r>
            <a:r>
              <a:rPr sz="1300" b="0" i="0">
                <a:solidFill>
                  <a:srgbClr val="6B5E54"/>
                </a:solidFill>
                <a:latin typeface="Noto Sans KR"/>
                <a:ea typeface="Noto Sans KR"/>
              </a:rPr>
              <a:t>— 기준 여유선(표시용). 실제 최종 전투력은 선택한 시작층과 성장 시스템에 따라 달라지며, 2%는 독립적 근거가 없어 플레이테스트에서 수정 가능하다.</a:t>
            </a:r>
          </a:p>
        </p:txBody>
      </p: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핵심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15층 요구 전투력 7.832k = 4~15층에서 모을 수 있는 ≈1,622.7 × 6단계 성장 계수 ×4.827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1ae 역산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수치 모델 - 100층을 1ae로 맞추는 역산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"/>
          <p:cNvSpPr/>
          <p:nvPr/>
        </p:nvSpPr>
        <p:spPr>
          <a:xfrm>
            <a:off x="1133856" y="1645920"/>
            <a:ext cx="9930384" cy="1463040"/>
          </a:xfrm>
          <a:prstGeom prst="roundRect">
            <a:avLst>
              <a:gd name="adj" fmla="val 4000"/>
            </a:avLst>
          </a:prstGeom>
          <a:solidFill>
            <a:srgbClr val="3C2D23"/>
          </a:solidFill>
          <a:ln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33856" y="1755648"/>
            <a:ext cx="9930384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0" i="0">
                <a:solidFill>
                  <a:srgbClr val="FFFFFF"/>
                </a:solidFill>
                <a:latin typeface="Noto Sans KR Black"/>
                <a:ea typeface="Noto Sans KR Black"/>
              </a:rPr>
              <a:t>1.3⁶¹ × Σ q^(i−1)  =  10²⁷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2423160"/>
            <a:ext cx="993038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E7DFD2"/>
                </a:solidFill>
                <a:latin typeface="Noto Sans KR"/>
                <a:ea typeface="Noto Sans KR"/>
              </a:rPr>
              <a:t>Σ 범위: i = 94 ~ 100   (100층 최초 도전 직전 기록 99 → 시작층 99−5 = 94)</a:t>
            </a:r>
          </a:p>
        </p:txBody>
      </p:sp>
      <p:sp>
        <p:nvSpPr>
          <p:cNvPr id="7" name="Card"/>
          <p:cNvSpPr/>
          <p:nvPr/>
        </p:nvSpPr>
        <p:spPr>
          <a:xfrm>
            <a:off x="1133856" y="3383280"/>
            <a:ext cx="1920240" cy="12344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hip"/>
          <p:cNvSpPr/>
          <p:nvPr/>
        </p:nvSpPr>
        <p:spPr>
          <a:xfrm>
            <a:off x="1773936" y="347472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A7A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</a:rPr>
              <a:t>고정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3794760"/>
            <a:ext cx="1920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000000"/>
                </a:solidFill>
                <a:latin typeface="Noto Sans KR"/>
                <a:ea typeface="Noto Sans KR"/>
              </a:rPr>
              <a:t>누적 61단계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4206240"/>
            <a:ext cx="19202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B5E54"/>
                </a:solidFill>
                <a:latin typeface="Noto Sans KR"/>
                <a:ea typeface="Noto Sans KR"/>
              </a:rPr>
              <a:t>층별 배치의 합</a:t>
            </a:r>
          </a:p>
        </p:txBody>
      </p:sp>
      <p:sp>
        <p:nvSpPr>
          <p:cNvPr id="11" name="Card"/>
          <p:cNvSpPr/>
          <p:nvPr/>
        </p:nvSpPr>
        <p:spPr>
          <a:xfrm>
            <a:off x="3236976" y="3383280"/>
            <a:ext cx="1920240" cy="12344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Chip"/>
          <p:cNvSpPr/>
          <p:nvPr/>
        </p:nvSpPr>
        <p:spPr>
          <a:xfrm>
            <a:off x="3877056" y="347472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A7A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</a:rPr>
              <a:t>고정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794760"/>
            <a:ext cx="1920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000000"/>
                </a:solidFill>
                <a:latin typeface="Noto Sans KR"/>
                <a:ea typeface="Noto Sans KR"/>
              </a:rPr>
              <a:t>시작층 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6976" y="4206240"/>
            <a:ext cx="19202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B5E54"/>
                </a:solidFill>
                <a:latin typeface="Noto Sans KR"/>
                <a:ea typeface="Noto Sans KR"/>
              </a:rPr>
              <a:t>재시작 규칙</a:t>
            </a:r>
          </a:p>
        </p:txBody>
      </p:sp>
      <p:sp>
        <p:nvSpPr>
          <p:cNvPr id="15" name="Card"/>
          <p:cNvSpPr/>
          <p:nvPr/>
        </p:nvSpPr>
        <p:spPr>
          <a:xfrm>
            <a:off x="5340096" y="3383280"/>
            <a:ext cx="1920240" cy="123444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Chip"/>
          <p:cNvSpPr/>
          <p:nvPr/>
        </p:nvSpPr>
        <p:spPr>
          <a:xfrm>
            <a:off x="5980176" y="347472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A7A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</a:rPr>
              <a:t>고정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3794760"/>
            <a:ext cx="1920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000000"/>
                </a:solidFill>
                <a:latin typeface="Noto Sans KR"/>
                <a:ea typeface="Noto Sans KR"/>
              </a:rPr>
              <a:t>R₁₀₀ = 1ae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4206240"/>
            <a:ext cx="19202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B5E54"/>
                </a:solidFill>
                <a:latin typeface="Noto Sans KR"/>
                <a:ea typeface="Noto Sans KR"/>
              </a:rPr>
              <a:t>규모 목표</a:t>
            </a:r>
          </a:p>
        </p:txBody>
      </p:sp>
      <p:cxnSp>
        <p:nvCxnSpPr>
          <p:cNvPr id="19" name="Arrow"/>
          <p:cNvCxnSpPr/>
          <p:nvPr/>
        </p:nvCxnSpPr>
        <p:spPr>
          <a:xfrm>
            <a:off x="7424927" y="3995928"/>
            <a:ext cx="365761" cy="0"/>
          </a:xfrm>
          <a:prstGeom prst="line">
            <a:avLst/>
          </a:prstGeom>
          <a:ln w="22225">
            <a:solidFill>
              <a:srgbClr val="3C2D2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rd"/>
          <p:cNvSpPr/>
          <p:nvPr/>
        </p:nvSpPr>
        <p:spPr>
          <a:xfrm>
            <a:off x="7882127" y="3383280"/>
            <a:ext cx="3182112" cy="1234440"/>
          </a:xfrm>
          <a:prstGeom prst="roundRect">
            <a:avLst>
              <a:gd name="adj" fmla="val 4000"/>
            </a:avLst>
          </a:prstGeom>
          <a:solidFill>
            <a:srgbClr val="FBE3D3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hip"/>
          <p:cNvSpPr/>
          <p:nvPr/>
        </p:nvSpPr>
        <p:spPr>
          <a:xfrm>
            <a:off x="9015984" y="34747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</a:rPr>
              <a:t>수치 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127" y="3794760"/>
            <a:ext cx="3182112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0" i="0">
                <a:solidFill>
                  <a:srgbClr val="000000"/>
                </a:solidFill>
                <a:latin typeface="Noto Sans KR Black"/>
                <a:ea typeface="Noto Sans KR Black"/>
              </a:rPr>
              <a:t>q ≈ 1.5787034222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4224528"/>
            <a:ext cx="3182112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B5E54"/>
                </a:solidFill>
                <a:latin typeface="Noto Sans KR"/>
                <a:ea typeface="Noto Sans KR"/>
              </a:rPr>
              <a:t>(1.5787034222330716)</a:t>
            </a:r>
          </a:p>
        </p:txBody>
      </p:sp>
      <p:sp>
        <p:nvSpPr>
          <p:cNvPr id="24" name="Card"/>
          <p:cNvSpPr/>
          <p:nvPr/>
        </p:nvSpPr>
        <p:spPr>
          <a:xfrm>
            <a:off x="1133856" y="4846320"/>
            <a:ext cx="3017520" cy="11430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71016" y="4919472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B95A25"/>
                </a:solidFill>
                <a:latin typeface="Noto Sans KR"/>
                <a:ea typeface="Noto Sans KR"/>
              </a:rPr>
              <a:t>1층 경계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1016" y="5285232"/>
            <a:ext cx="2743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Noto Sans KR"/>
                <a:ea typeface="Noto Sans KR"/>
              </a:rPr>
              <a:t>u₁=0 · s₁=1 · B₁=1  →  R₁ = 1</a:t>
            </a:r>
          </a:p>
        </p:txBody>
      </p:sp>
      <p:sp>
        <p:nvSpPr>
          <p:cNvPr id="27" name="Card"/>
          <p:cNvSpPr/>
          <p:nvPr/>
        </p:nvSpPr>
        <p:spPr>
          <a:xfrm>
            <a:off x="4334256" y="4846320"/>
            <a:ext cx="3017520" cy="11430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471416" y="4919472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B95A25"/>
                </a:solidFill>
                <a:latin typeface="Noto Sans KR"/>
                <a:ea typeface="Noto Sans KR"/>
              </a:rPr>
              <a:t>100층 경계 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1416" y="5285232"/>
            <a:ext cx="2743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Noto Sans KR"/>
                <a:ea typeface="Noto Sans KR"/>
              </a:rPr>
              <a:t>u₁₀₀=61 · s₁₀₀=94  →  R₁₀₀ = 10²⁷</a:t>
            </a:r>
          </a:p>
        </p:txBody>
      </p:sp>
      <p:sp>
        <p:nvSpPr>
          <p:cNvPr id="30" name="Card"/>
          <p:cNvSpPr/>
          <p:nvPr/>
        </p:nvSpPr>
        <p:spPr>
          <a:xfrm>
            <a:off x="7534656" y="4846320"/>
            <a:ext cx="3529584" cy="11430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680960" y="4892040"/>
            <a:ext cx="329184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주의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q는 감으로 고른 값이 아니지만, 61단계 자체가 설계된 분포이므로 q의 정확한 수치가 게임 규칙만으로 필연적인 것은 아니다.</a:t>
            </a:r>
          </a:p>
        </p:txBody>
      </p: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핵심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100층 = 1ae와 누적 61단계를 고정하면 층별 보상 배율 q ≈ 1.5787이 하나로 정해진다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요구 전투력의 두 성분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반영 결과 - 층별 추가 성장 단계 맵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rd"/>
          <p:cNvSpPr/>
          <p:nvPr/>
        </p:nvSpPr>
        <p:spPr>
          <a:xfrm>
            <a:off x="1188720" y="1874519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1</a:t>
            </a:r>
          </a:p>
        </p:txBody>
      </p:sp>
      <p:sp>
        <p:nvSpPr>
          <p:cNvPr id="6" name="Card"/>
          <p:cNvSpPr/>
          <p:nvPr/>
        </p:nvSpPr>
        <p:spPr>
          <a:xfrm>
            <a:off x="1709928" y="1874519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2</a:t>
            </a:r>
          </a:p>
        </p:txBody>
      </p:sp>
      <p:sp>
        <p:nvSpPr>
          <p:cNvPr id="7" name="Card"/>
          <p:cNvSpPr/>
          <p:nvPr/>
        </p:nvSpPr>
        <p:spPr>
          <a:xfrm>
            <a:off x="2231136" y="1874519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3</a:t>
            </a:r>
          </a:p>
        </p:txBody>
      </p:sp>
      <p:sp>
        <p:nvSpPr>
          <p:cNvPr id="8" name="Card"/>
          <p:cNvSpPr/>
          <p:nvPr/>
        </p:nvSpPr>
        <p:spPr>
          <a:xfrm>
            <a:off x="2752344" y="1874519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Noto Sans KR"/>
                <a:ea typeface="Noto Sans KR"/>
              </a:rPr>
              <a:t>4</a:t>
            </a:r>
          </a:p>
        </p:txBody>
      </p:sp>
      <p:sp>
        <p:nvSpPr>
          <p:cNvPr id="9" name="Card"/>
          <p:cNvSpPr/>
          <p:nvPr/>
        </p:nvSpPr>
        <p:spPr>
          <a:xfrm>
            <a:off x="3273552" y="1874519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 w="22225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6B5E54"/>
                </a:solidFill>
                <a:latin typeface="Noto Sans KR"/>
                <a:ea typeface="Noto Sans KR"/>
              </a:rPr>
              <a:t>5</a:t>
            </a:r>
          </a:p>
        </p:txBody>
      </p:sp>
      <p:sp>
        <p:nvSpPr>
          <p:cNvPr id="10" name="Card"/>
          <p:cNvSpPr/>
          <p:nvPr/>
        </p:nvSpPr>
        <p:spPr>
          <a:xfrm>
            <a:off x="3794760" y="1874519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6</a:t>
            </a:r>
          </a:p>
        </p:txBody>
      </p:sp>
      <p:sp>
        <p:nvSpPr>
          <p:cNvPr id="11" name="Card"/>
          <p:cNvSpPr/>
          <p:nvPr/>
        </p:nvSpPr>
        <p:spPr>
          <a:xfrm>
            <a:off x="4315968" y="1874519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Noto Sans KR"/>
                <a:ea typeface="Noto Sans KR"/>
              </a:rPr>
              <a:t>7</a:t>
            </a:r>
          </a:p>
        </p:txBody>
      </p:sp>
      <p:sp>
        <p:nvSpPr>
          <p:cNvPr id="12" name="Card"/>
          <p:cNvSpPr/>
          <p:nvPr/>
        </p:nvSpPr>
        <p:spPr>
          <a:xfrm>
            <a:off x="4837176" y="1874519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8</a:t>
            </a:r>
          </a:p>
        </p:txBody>
      </p:sp>
      <p:sp>
        <p:nvSpPr>
          <p:cNvPr id="13" name="Card"/>
          <p:cNvSpPr/>
          <p:nvPr/>
        </p:nvSpPr>
        <p:spPr>
          <a:xfrm>
            <a:off x="5358384" y="1874519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9</a:t>
            </a:r>
          </a:p>
        </p:txBody>
      </p:sp>
      <p:sp>
        <p:nvSpPr>
          <p:cNvPr id="14" name="Card"/>
          <p:cNvSpPr/>
          <p:nvPr/>
        </p:nvSpPr>
        <p:spPr>
          <a:xfrm>
            <a:off x="5879592" y="1874519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 w="22225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Noto Sans KR"/>
                <a:ea typeface="Noto Sans KR"/>
              </a:rPr>
              <a:t>10</a:t>
            </a:r>
          </a:p>
        </p:txBody>
      </p:sp>
      <p:sp>
        <p:nvSpPr>
          <p:cNvPr id="15" name="Card"/>
          <p:cNvSpPr/>
          <p:nvPr/>
        </p:nvSpPr>
        <p:spPr>
          <a:xfrm>
            <a:off x="1188720" y="2267712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11</a:t>
            </a:r>
          </a:p>
        </p:txBody>
      </p:sp>
      <p:sp>
        <p:nvSpPr>
          <p:cNvPr id="16" name="Card"/>
          <p:cNvSpPr/>
          <p:nvPr/>
        </p:nvSpPr>
        <p:spPr>
          <a:xfrm>
            <a:off x="1709928" y="2267712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12</a:t>
            </a:r>
          </a:p>
        </p:txBody>
      </p:sp>
      <p:sp>
        <p:nvSpPr>
          <p:cNvPr id="17" name="Card"/>
          <p:cNvSpPr/>
          <p:nvPr/>
        </p:nvSpPr>
        <p:spPr>
          <a:xfrm>
            <a:off x="2231136" y="2267712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Noto Sans KR"/>
                <a:ea typeface="Noto Sans KR"/>
              </a:rPr>
              <a:t>13</a:t>
            </a:r>
          </a:p>
        </p:txBody>
      </p:sp>
      <p:sp>
        <p:nvSpPr>
          <p:cNvPr id="18" name="Card"/>
          <p:cNvSpPr/>
          <p:nvPr/>
        </p:nvSpPr>
        <p:spPr>
          <a:xfrm>
            <a:off x="2752344" y="2267712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14</a:t>
            </a:r>
          </a:p>
        </p:txBody>
      </p:sp>
      <p:sp>
        <p:nvSpPr>
          <p:cNvPr id="19" name="Card"/>
          <p:cNvSpPr/>
          <p:nvPr/>
        </p:nvSpPr>
        <p:spPr>
          <a:xfrm>
            <a:off x="3273552" y="2267712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97132"/>
          </a:solidFill>
          <a:ln w="22225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</a:rPr>
              <a:t>15</a:t>
            </a:r>
          </a:p>
        </p:txBody>
      </p:sp>
      <p:sp>
        <p:nvSpPr>
          <p:cNvPr id="20" name="Card"/>
          <p:cNvSpPr/>
          <p:nvPr/>
        </p:nvSpPr>
        <p:spPr>
          <a:xfrm>
            <a:off x="3794760" y="2267712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Noto Sans KR"/>
                <a:ea typeface="Noto Sans KR"/>
              </a:rPr>
              <a:t>16</a:t>
            </a:r>
          </a:p>
        </p:txBody>
      </p:sp>
      <p:sp>
        <p:nvSpPr>
          <p:cNvPr id="21" name="Card"/>
          <p:cNvSpPr/>
          <p:nvPr/>
        </p:nvSpPr>
        <p:spPr>
          <a:xfrm>
            <a:off x="4315968" y="2267712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17</a:t>
            </a:r>
          </a:p>
        </p:txBody>
      </p:sp>
      <p:sp>
        <p:nvSpPr>
          <p:cNvPr id="22" name="Card"/>
          <p:cNvSpPr/>
          <p:nvPr/>
        </p:nvSpPr>
        <p:spPr>
          <a:xfrm>
            <a:off x="4837176" y="2267712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18</a:t>
            </a:r>
          </a:p>
        </p:txBody>
      </p:sp>
      <p:sp>
        <p:nvSpPr>
          <p:cNvPr id="23" name="Card"/>
          <p:cNvSpPr/>
          <p:nvPr/>
        </p:nvSpPr>
        <p:spPr>
          <a:xfrm>
            <a:off x="5358384" y="2267712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Noto Sans KR"/>
                <a:ea typeface="Noto Sans KR"/>
              </a:rPr>
              <a:t>19</a:t>
            </a:r>
          </a:p>
        </p:txBody>
      </p:sp>
      <p:sp>
        <p:nvSpPr>
          <p:cNvPr id="24" name="Card"/>
          <p:cNvSpPr/>
          <p:nvPr/>
        </p:nvSpPr>
        <p:spPr>
          <a:xfrm>
            <a:off x="5879592" y="2267712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 w="22225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6B5E54"/>
                </a:solidFill>
                <a:latin typeface="Noto Sans KR"/>
                <a:ea typeface="Noto Sans KR"/>
              </a:rPr>
              <a:t>20</a:t>
            </a:r>
          </a:p>
        </p:txBody>
      </p:sp>
      <p:sp>
        <p:nvSpPr>
          <p:cNvPr id="25" name="Card"/>
          <p:cNvSpPr/>
          <p:nvPr/>
        </p:nvSpPr>
        <p:spPr>
          <a:xfrm>
            <a:off x="1188720" y="2660903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21</a:t>
            </a:r>
          </a:p>
        </p:txBody>
      </p:sp>
      <p:sp>
        <p:nvSpPr>
          <p:cNvPr id="26" name="Card"/>
          <p:cNvSpPr/>
          <p:nvPr/>
        </p:nvSpPr>
        <p:spPr>
          <a:xfrm>
            <a:off x="1709928" y="2660903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Noto Sans KR"/>
                <a:ea typeface="Noto Sans KR"/>
              </a:rPr>
              <a:t>22</a:t>
            </a:r>
          </a:p>
        </p:txBody>
      </p:sp>
      <p:sp>
        <p:nvSpPr>
          <p:cNvPr id="27" name="Card"/>
          <p:cNvSpPr/>
          <p:nvPr/>
        </p:nvSpPr>
        <p:spPr>
          <a:xfrm>
            <a:off x="2231136" y="2660903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23</a:t>
            </a:r>
          </a:p>
        </p:txBody>
      </p:sp>
      <p:sp>
        <p:nvSpPr>
          <p:cNvPr id="28" name="Card"/>
          <p:cNvSpPr/>
          <p:nvPr/>
        </p:nvSpPr>
        <p:spPr>
          <a:xfrm>
            <a:off x="2752344" y="2660903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24</a:t>
            </a:r>
          </a:p>
        </p:txBody>
      </p:sp>
      <p:sp>
        <p:nvSpPr>
          <p:cNvPr id="29" name="Card"/>
          <p:cNvSpPr/>
          <p:nvPr/>
        </p:nvSpPr>
        <p:spPr>
          <a:xfrm>
            <a:off x="3273552" y="2660903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97132"/>
          </a:solidFill>
          <a:ln w="22225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</a:rPr>
              <a:t>25</a:t>
            </a:r>
          </a:p>
        </p:txBody>
      </p:sp>
      <p:sp>
        <p:nvSpPr>
          <p:cNvPr id="30" name="Card"/>
          <p:cNvSpPr/>
          <p:nvPr/>
        </p:nvSpPr>
        <p:spPr>
          <a:xfrm>
            <a:off x="3794760" y="2660903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26</a:t>
            </a:r>
          </a:p>
        </p:txBody>
      </p:sp>
      <p:sp>
        <p:nvSpPr>
          <p:cNvPr id="31" name="Card"/>
          <p:cNvSpPr/>
          <p:nvPr/>
        </p:nvSpPr>
        <p:spPr>
          <a:xfrm>
            <a:off x="4315968" y="2660903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27</a:t>
            </a:r>
          </a:p>
        </p:txBody>
      </p:sp>
      <p:sp>
        <p:nvSpPr>
          <p:cNvPr id="32" name="Card"/>
          <p:cNvSpPr/>
          <p:nvPr/>
        </p:nvSpPr>
        <p:spPr>
          <a:xfrm>
            <a:off x="4837176" y="2660903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Noto Sans KR"/>
                <a:ea typeface="Noto Sans KR"/>
              </a:rPr>
              <a:t>28</a:t>
            </a:r>
          </a:p>
        </p:txBody>
      </p:sp>
      <p:sp>
        <p:nvSpPr>
          <p:cNvPr id="33" name="Card"/>
          <p:cNvSpPr/>
          <p:nvPr/>
        </p:nvSpPr>
        <p:spPr>
          <a:xfrm>
            <a:off x="5358384" y="2660903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29</a:t>
            </a:r>
          </a:p>
        </p:txBody>
      </p:sp>
      <p:sp>
        <p:nvSpPr>
          <p:cNvPr id="34" name="Card"/>
          <p:cNvSpPr/>
          <p:nvPr/>
        </p:nvSpPr>
        <p:spPr>
          <a:xfrm>
            <a:off x="5879592" y="2660903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 w="22225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6B5E54"/>
                </a:solidFill>
                <a:latin typeface="Noto Sans KR"/>
                <a:ea typeface="Noto Sans KR"/>
              </a:rPr>
              <a:t>30</a:t>
            </a:r>
          </a:p>
        </p:txBody>
      </p:sp>
      <p:sp>
        <p:nvSpPr>
          <p:cNvPr id="35" name="Card"/>
          <p:cNvSpPr/>
          <p:nvPr/>
        </p:nvSpPr>
        <p:spPr>
          <a:xfrm>
            <a:off x="1188720" y="3054096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Noto Sans KR"/>
                <a:ea typeface="Noto Sans KR"/>
              </a:rPr>
              <a:t>31</a:t>
            </a:r>
          </a:p>
        </p:txBody>
      </p:sp>
      <p:sp>
        <p:nvSpPr>
          <p:cNvPr id="36" name="Card"/>
          <p:cNvSpPr/>
          <p:nvPr/>
        </p:nvSpPr>
        <p:spPr>
          <a:xfrm>
            <a:off x="1709928" y="3054096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32</a:t>
            </a:r>
          </a:p>
        </p:txBody>
      </p:sp>
      <p:sp>
        <p:nvSpPr>
          <p:cNvPr id="37" name="Card"/>
          <p:cNvSpPr/>
          <p:nvPr/>
        </p:nvSpPr>
        <p:spPr>
          <a:xfrm>
            <a:off x="2231136" y="3054096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33</a:t>
            </a:r>
          </a:p>
        </p:txBody>
      </p:sp>
      <p:sp>
        <p:nvSpPr>
          <p:cNvPr id="38" name="Card"/>
          <p:cNvSpPr/>
          <p:nvPr/>
        </p:nvSpPr>
        <p:spPr>
          <a:xfrm>
            <a:off x="2752344" y="3054096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Noto Sans KR"/>
                <a:ea typeface="Noto Sans KR"/>
              </a:rPr>
              <a:t>34</a:t>
            </a:r>
          </a:p>
        </p:txBody>
      </p:sp>
      <p:sp>
        <p:nvSpPr>
          <p:cNvPr id="39" name="Card"/>
          <p:cNvSpPr/>
          <p:nvPr/>
        </p:nvSpPr>
        <p:spPr>
          <a:xfrm>
            <a:off x="3273552" y="3054096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 w="22225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6B5E54"/>
                </a:solidFill>
                <a:latin typeface="Noto Sans KR"/>
                <a:ea typeface="Noto Sans KR"/>
              </a:rPr>
              <a:t>35</a:t>
            </a:r>
          </a:p>
        </p:txBody>
      </p:sp>
      <p:sp>
        <p:nvSpPr>
          <p:cNvPr id="40" name="Card"/>
          <p:cNvSpPr/>
          <p:nvPr/>
        </p:nvSpPr>
        <p:spPr>
          <a:xfrm>
            <a:off x="3794760" y="3054096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36</a:t>
            </a:r>
          </a:p>
        </p:txBody>
      </p:sp>
      <p:sp>
        <p:nvSpPr>
          <p:cNvPr id="41" name="Card"/>
          <p:cNvSpPr/>
          <p:nvPr/>
        </p:nvSpPr>
        <p:spPr>
          <a:xfrm>
            <a:off x="4315968" y="3054096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Noto Sans KR"/>
                <a:ea typeface="Noto Sans KR"/>
              </a:rPr>
              <a:t>37</a:t>
            </a:r>
          </a:p>
        </p:txBody>
      </p:sp>
      <p:sp>
        <p:nvSpPr>
          <p:cNvPr id="42" name="Card"/>
          <p:cNvSpPr/>
          <p:nvPr/>
        </p:nvSpPr>
        <p:spPr>
          <a:xfrm>
            <a:off x="4837176" y="3054096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38</a:t>
            </a:r>
          </a:p>
        </p:txBody>
      </p:sp>
      <p:sp>
        <p:nvSpPr>
          <p:cNvPr id="43" name="Card"/>
          <p:cNvSpPr/>
          <p:nvPr/>
        </p:nvSpPr>
        <p:spPr>
          <a:xfrm>
            <a:off x="5358384" y="3054096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39</a:t>
            </a:r>
          </a:p>
        </p:txBody>
      </p:sp>
      <p:sp>
        <p:nvSpPr>
          <p:cNvPr id="44" name="Card"/>
          <p:cNvSpPr/>
          <p:nvPr/>
        </p:nvSpPr>
        <p:spPr>
          <a:xfrm>
            <a:off x="5879592" y="3054096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97132"/>
          </a:solidFill>
          <a:ln w="22225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</a:rPr>
              <a:t>40</a:t>
            </a:r>
          </a:p>
        </p:txBody>
      </p:sp>
      <p:sp>
        <p:nvSpPr>
          <p:cNvPr id="45" name="Card"/>
          <p:cNvSpPr/>
          <p:nvPr/>
        </p:nvSpPr>
        <p:spPr>
          <a:xfrm>
            <a:off x="1188720" y="3447287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41</a:t>
            </a:r>
          </a:p>
        </p:txBody>
      </p:sp>
      <p:sp>
        <p:nvSpPr>
          <p:cNvPr id="46" name="Card"/>
          <p:cNvSpPr/>
          <p:nvPr/>
        </p:nvSpPr>
        <p:spPr>
          <a:xfrm>
            <a:off x="1709928" y="3447287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42</a:t>
            </a:r>
          </a:p>
        </p:txBody>
      </p:sp>
      <p:sp>
        <p:nvSpPr>
          <p:cNvPr id="47" name="Card"/>
          <p:cNvSpPr/>
          <p:nvPr/>
        </p:nvSpPr>
        <p:spPr>
          <a:xfrm>
            <a:off x="2231136" y="3447287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Noto Sans KR"/>
                <a:ea typeface="Noto Sans KR"/>
              </a:rPr>
              <a:t>43</a:t>
            </a:r>
          </a:p>
        </p:txBody>
      </p:sp>
      <p:sp>
        <p:nvSpPr>
          <p:cNvPr id="48" name="Card"/>
          <p:cNvSpPr/>
          <p:nvPr/>
        </p:nvSpPr>
        <p:spPr>
          <a:xfrm>
            <a:off x="2752344" y="3447287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44</a:t>
            </a:r>
          </a:p>
        </p:txBody>
      </p:sp>
      <p:sp>
        <p:nvSpPr>
          <p:cNvPr id="49" name="Card"/>
          <p:cNvSpPr/>
          <p:nvPr/>
        </p:nvSpPr>
        <p:spPr>
          <a:xfrm>
            <a:off x="3273552" y="3447287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 w="22225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6B5E54"/>
                </a:solidFill>
                <a:latin typeface="Noto Sans KR"/>
                <a:ea typeface="Noto Sans KR"/>
              </a:rPr>
              <a:t>45</a:t>
            </a:r>
          </a:p>
        </p:txBody>
      </p:sp>
      <p:sp>
        <p:nvSpPr>
          <p:cNvPr id="50" name="Card"/>
          <p:cNvSpPr/>
          <p:nvPr/>
        </p:nvSpPr>
        <p:spPr>
          <a:xfrm>
            <a:off x="3794760" y="3447287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Noto Sans KR"/>
                <a:ea typeface="Noto Sans KR"/>
              </a:rPr>
              <a:t>46</a:t>
            </a:r>
          </a:p>
        </p:txBody>
      </p:sp>
      <p:sp>
        <p:nvSpPr>
          <p:cNvPr id="51" name="Card"/>
          <p:cNvSpPr/>
          <p:nvPr/>
        </p:nvSpPr>
        <p:spPr>
          <a:xfrm>
            <a:off x="4315968" y="3447287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47</a:t>
            </a:r>
          </a:p>
        </p:txBody>
      </p:sp>
      <p:sp>
        <p:nvSpPr>
          <p:cNvPr id="52" name="Card"/>
          <p:cNvSpPr/>
          <p:nvPr/>
        </p:nvSpPr>
        <p:spPr>
          <a:xfrm>
            <a:off x="4837176" y="3447287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48</a:t>
            </a:r>
          </a:p>
        </p:txBody>
      </p:sp>
      <p:sp>
        <p:nvSpPr>
          <p:cNvPr id="53" name="Card"/>
          <p:cNvSpPr/>
          <p:nvPr/>
        </p:nvSpPr>
        <p:spPr>
          <a:xfrm>
            <a:off x="5358384" y="3447287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Noto Sans KR"/>
                <a:ea typeface="Noto Sans KR"/>
              </a:rPr>
              <a:t>49</a:t>
            </a:r>
          </a:p>
        </p:txBody>
      </p:sp>
      <p:sp>
        <p:nvSpPr>
          <p:cNvPr id="54" name="Card"/>
          <p:cNvSpPr/>
          <p:nvPr/>
        </p:nvSpPr>
        <p:spPr>
          <a:xfrm>
            <a:off x="5879592" y="3447287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97132"/>
          </a:solidFill>
          <a:ln w="22225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</a:rPr>
              <a:t>50</a:t>
            </a:r>
          </a:p>
        </p:txBody>
      </p:sp>
      <p:sp>
        <p:nvSpPr>
          <p:cNvPr id="55" name="Card"/>
          <p:cNvSpPr/>
          <p:nvPr/>
        </p:nvSpPr>
        <p:spPr>
          <a:xfrm>
            <a:off x="1188720" y="3840479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51</a:t>
            </a:r>
          </a:p>
        </p:txBody>
      </p:sp>
      <p:sp>
        <p:nvSpPr>
          <p:cNvPr id="56" name="Card"/>
          <p:cNvSpPr/>
          <p:nvPr/>
        </p:nvSpPr>
        <p:spPr>
          <a:xfrm>
            <a:off x="1709928" y="3840479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Noto Sans KR"/>
                <a:ea typeface="Noto Sans KR"/>
              </a:rPr>
              <a:t>52</a:t>
            </a:r>
          </a:p>
        </p:txBody>
      </p:sp>
      <p:sp>
        <p:nvSpPr>
          <p:cNvPr id="57" name="Card"/>
          <p:cNvSpPr/>
          <p:nvPr/>
        </p:nvSpPr>
        <p:spPr>
          <a:xfrm>
            <a:off x="2231136" y="3840479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53</a:t>
            </a:r>
          </a:p>
        </p:txBody>
      </p:sp>
      <p:sp>
        <p:nvSpPr>
          <p:cNvPr id="58" name="Card"/>
          <p:cNvSpPr/>
          <p:nvPr/>
        </p:nvSpPr>
        <p:spPr>
          <a:xfrm>
            <a:off x="2752344" y="3840479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54</a:t>
            </a:r>
          </a:p>
        </p:txBody>
      </p:sp>
      <p:sp>
        <p:nvSpPr>
          <p:cNvPr id="59" name="Card"/>
          <p:cNvSpPr/>
          <p:nvPr/>
        </p:nvSpPr>
        <p:spPr>
          <a:xfrm>
            <a:off x="3273552" y="3840479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 w="22225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Noto Sans KR"/>
                <a:ea typeface="Noto Sans KR"/>
              </a:rPr>
              <a:t>55</a:t>
            </a:r>
          </a:p>
        </p:txBody>
      </p:sp>
      <p:sp>
        <p:nvSpPr>
          <p:cNvPr id="60" name="Card"/>
          <p:cNvSpPr/>
          <p:nvPr/>
        </p:nvSpPr>
        <p:spPr>
          <a:xfrm>
            <a:off x="3794760" y="3840479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56</a:t>
            </a:r>
          </a:p>
        </p:txBody>
      </p:sp>
      <p:sp>
        <p:nvSpPr>
          <p:cNvPr id="61" name="Card"/>
          <p:cNvSpPr/>
          <p:nvPr/>
        </p:nvSpPr>
        <p:spPr>
          <a:xfrm>
            <a:off x="4315968" y="3840479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57</a:t>
            </a:r>
          </a:p>
        </p:txBody>
      </p:sp>
      <p:sp>
        <p:nvSpPr>
          <p:cNvPr id="62" name="Card"/>
          <p:cNvSpPr/>
          <p:nvPr/>
        </p:nvSpPr>
        <p:spPr>
          <a:xfrm>
            <a:off x="4837176" y="3840479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Noto Sans KR"/>
                <a:ea typeface="Noto Sans KR"/>
              </a:rPr>
              <a:t>58</a:t>
            </a:r>
          </a:p>
        </p:txBody>
      </p:sp>
      <p:sp>
        <p:nvSpPr>
          <p:cNvPr id="63" name="Card"/>
          <p:cNvSpPr/>
          <p:nvPr/>
        </p:nvSpPr>
        <p:spPr>
          <a:xfrm>
            <a:off x="5358384" y="3840479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59</a:t>
            </a:r>
          </a:p>
        </p:txBody>
      </p:sp>
      <p:sp>
        <p:nvSpPr>
          <p:cNvPr id="64" name="Card"/>
          <p:cNvSpPr/>
          <p:nvPr/>
        </p:nvSpPr>
        <p:spPr>
          <a:xfrm>
            <a:off x="5879592" y="3840479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97132"/>
          </a:solidFill>
          <a:ln w="22225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</a:rPr>
              <a:t>60</a:t>
            </a:r>
          </a:p>
        </p:txBody>
      </p:sp>
      <p:sp>
        <p:nvSpPr>
          <p:cNvPr id="65" name="Card"/>
          <p:cNvSpPr/>
          <p:nvPr/>
        </p:nvSpPr>
        <p:spPr>
          <a:xfrm>
            <a:off x="1188720" y="4233672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Noto Sans KR"/>
                <a:ea typeface="Noto Sans KR"/>
              </a:rPr>
              <a:t>61</a:t>
            </a:r>
          </a:p>
        </p:txBody>
      </p:sp>
      <p:sp>
        <p:nvSpPr>
          <p:cNvPr id="66" name="Card"/>
          <p:cNvSpPr/>
          <p:nvPr/>
        </p:nvSpPr>
        <p:spPr>
          <a:xfrm>
            <a:off x="1709928" y="4233672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62</a:t>
            </a:r>
          </a:p>
        </p:txBody>
      </p:sp>
      <p:sp>
        <p:nvSpPr>
          <p:cNvPr id="67" name="Card"/>
          <p:cNvSpPr/>
          <p:nvPr/>
        </p:nvSpPr>
        <p:spPr>
          <a:xfrm>
            <a:off x="2231136" y="4233672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63</a:t>
            </a:r>
          </a:p>
        </p:txBody>
      </p:sp>
      <p:sp>
        <p:nvSpPr>
          <p:cNvPr id="68" name="Card"/>
          <p:cNvSpPr/>
          <p:nvPr/>
        </p:nvSpPr>
        <p:spPr>
          <a:xfrm>
            <a:off x="2752344" y="4233672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Noto Sans KR"/>
                <a:ea typeface="Noto Sans KR"/>
              </a:rPr>
              <a:t>64</a:t>
            </a:r>
          </a:p>
        </p:txBody>
      </p:sp>
      <p:sp>
        <p:nvSpPr>
          <p:cNvPr id="69" name="Card"/>
          <p:cNvSpPr/>
          <p:nvPr/>
        </p:nvSpPr>
        <p:spPr>
          <a:xfrm>
            <a:off x="3273552" y="4233672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 w="22225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6B5E54"/>
                </a:solidFill>
                <a:latin typeface="Noto Sans KR"/>
                <a:ea typeface="Noto Sans KR"/>
              </a:rPr>
              <a:t>65</a:t>
            </a:r>
          </a:p>
        </p:txBody>
      </p:sp>
      <p:sp>
        <p:nvSpPr>
          <p:cNvPr id="70" name="Card"/>
          <p:cNvSpPr/>
          <p:nvPr/>
        </p:nvSpPr>
        <p:spPr>
          <a:xfrm>
            <a:off x="3794760" y="4233672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66</a:t>
            </a:r>
          </a:p>
        </p:txBody>
      </p:sp>
      <p:sp>
        <p:nvSpPr>
          <p:cNvPr id="71" name="Card"/>
          <p:cNvSpPr/>
          <p:nvPr/>
        </p:nvSpPr>
        <p:spPr>
          <a:xfrm>
            <a:off x="4315968" y="4233672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Noto Sans KR"/>
                <a:ea typeface="Noto Sans KR"/>
              </a:rPr>
              <a:t>67</a:t>
            </a:r>
          </a:p>
        </p:txBody>
      </p:sp>
      <p:sp>
        <p:nvSpPr>
          <p:cNvPr id="72" name="Card"/>
          <p:cNvSpPr/>
          <p:nvPr/>
        </p:nvSpPr>
        <p:spPr>
          <a:xfrm>
            <a:off x="4837176" y="4233672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68</a:t>
            </a:r>
          </a:p>
        </p:txBody>
      </p:sp>
      <p:sp>
        <p:nvSpPr>
          <p:cNvPr id="73" name="Card"/>
          <p:cNvSpPr/>
          <p:nvPr/>
        </p:nvSpPr>
        <p:spPr>
          <a:xfrm>
            <a:off x="5358384" y="4233672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69</a:t>
            </a:r>
          </a:p>
        </p:txBody>
      </p:sp>
      <p:sp>
        <p:nvSpPr>
          <p:cNvPr id="74" name="Card"/>
          <p:cNvSpPr/>
          <p:nvPr/>
        </p:nvSpPr>
        <p:spPr>
          <a:xfrm>
            <a:off x="5879592" y="4233672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97132"/>
          </a:solidFill>
          <a:ln w="22225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</a:rPr>
              <a:t>70</a:t>
            </a:r>
          </a:p>
        </p:txBody>
      </p:sp>
      <p:sp>
        <p:nvSpPr>
          <p:cNvPr id="75" name="Card"/>
          <p:cNvSpPr/>
          <p:nvPr/>
        </p:nvSpPr>
        <p:spPr>
          <a:xfrm>
            <a:off x="1188720" y="4626864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Noto Sans KR"/>
                <a:ea typeface="Noto Sans KR"/>
              </a:rPr>
              <a:t>71</a:t>
            </a:r>
          </a:p>
        </p:txBody>
      </p:sp>
      <p:sp>
        <p:nvSpPr>
          <p:cNvPr id="76" name="Card"/>
          <p:cNvSpPr/>
          <p:nvPr/>
        </p:nvSpPr>
        <p:spPr>
          <a:xfrm>
            <a:off x="1709928" y="4626864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72</a:t>
            </a:r>
          </a:p>
        </p:txBody>
      </p:sp>
      <p:sp>
        <p:nvSpPr>
          <p:cNvPr id="77" name="Card"/>
          <p:cNvSpPr/>
          <p:nvPr/>
        </p:nvSpPr>
        <p:spPr>
          <a:xfrm>
            <a:off x="2231136" y="4626864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7A2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FFFFFF"/>
                </a:solidFill>
                <a:latin typeface="Noto Sans KR"/>
                <a:ea typeface="Noto Sans KR"/>
              </a:rPr>
              <a:t>73</a:t>
            </a:r>
          </a:p>
        </p:txBody>
      </p:sp>
      <p:sp>
        <p:nvSpPr>
          <p:cNvPr id="78" name="Card"/>
          <p:cNvSpPr/>
          <p:nvPr/>
        </p:nvSpPr>
        <p:spPr>
          <a:xfrm>
            <a:off x="2752344" y="4626864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74</a:t>
            </a:r>
          </a:p>
        </p:txBody>
      </p:sp>
      <p:sp>
        <p:nvSpPr>
          <p:cNvPr id="79" name="Card"/>
          <p:cNvSpPr/>
          <p:nvPr/>
        </p:nvSpPr>
        <p:spPr>
          <a:xfrm>
            <a:off x="3273552" y="4626864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 w="22225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6B5E54"/>
                </a:solidFill>
                <a:latin typeface="Noto Sans KR"/>
                <a:ea typeface="Noto Sans KR"/>
              </a:rPr>
              <a:t>75</a:t>
            </a:r>
          </a:p>
        </p:txBody>
      </p:sp>
      <p:sp>
        <p:nvSpPr>
          <p:cNvPr id="80" name="Card"/>
          <p:cNvSpPr/>
          <p:nvPr/>
        </p:nvSpPr>
        <p:spPr>
          <a:xfrm>
            <a:off x="3794760" y="4626864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Noto Sans KR"/>
                <a:ea typeface="Noto Sans KR"/>
              </a:rPr>
              <a:t>76</a:t>
            </a:r>
          </a:p>
        </p:txBody>
      </p:sp>
      <p:sp>
        <p:nvSpPr>
          <p:cNvPr id="81" name="Card"/>
          <p:cNvSpPr/>
          <p:nvPr/>
        </p:nvSpPr>
        <p:spPr>
          <a:xfrm>
            <a:off x="4315968" y="4626864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77</a:t>
            </a:r>
          </a:p>
        </p:txBody>
      </p:sp>
      <p:sp>
        <p:nvSpPr>
          <p:cNvPr id="82" name="Card"/>
          <p:cNvSpPr/>
          <p:nvPr/>
        </p:nvSpPr>
        <p:spPr>
          <a:xfrm>
            <a:off x="4837176" y="4626864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7A2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FFFFFF"/>
                </a:solidFill>
                <a:latin typeface="Noto Sans KR"/>
                <a:ea typeface="Noto Sans KR"/>
              </a:rPr>
              <a:t>78</a:t>
            </a:r>
          </a:p>
        </p:txBody>
      </p:sp>
      <p:sp>
        <p:nvSpPr>
          <p:cNvPr id="83" name="Card"/>
          <p:cNvSpPr/>
          <p:nvPr/>
        </p:nvSpPr>
        <p:spPr>
          <a:xfrm>
            <a:off x="5358384" y="4626864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79</a:t>
            </a:r>
          </a:p>
        </p:txBody>
      </p:sp>
      <p:sp>
        <p:nvSpPr>
          <p:cNvPr id="84" name="Card"/>
          <p:cNvSpPr/>
          <p:nvPr/>
        </p:nvSpPr>
        <p:spPr>
          <a:xfrm>
            <a:off x="5879592" y="4626864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7A2E0E"/>
          </a:solidFill>
          <a:ln w="22225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</a:rPr>
              <a:t>80</a:t>
            </a:r>
          </a:p>
        </p:txBody>
      </p:sp>
      <p:sp>
        <p:nvSpPr>
          <p:cNvPr id="85" name="Card"/>
          <p:cNvSpPr/>
          <p:nvPr/>
        </p:nvSpPr>
        <p:spPr>
          <a:xfrm>
            <a:off x="1188720" y="5020056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Noto Sans KR"/>
                <a:ea typeface="Noto Sans KR"/>
              </a:rPr>
              <a:t>81</a:t>
            </a:r>
          </a:p>
        </p:txBody>
      </p:sp>
      <p:sp>
        <p:nvSpPr>
          <p:cNvPr id="86" name="Card"/>
          <p:cNvSpPr/>
          <p:nvPr/>
        </p:nvSpPr>
        <p:spPr>
          <a:xfrm>
            <a:off x="1709928" y="5020056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82</a:t>
            </a:r>
          </a:p>
        </p:txBody>
      </p:sp>
      <p:sp>
        <p:nvSpPr>
          <p:cNvPr id="87" name="Card"/>
          <p:cNvSpPr/>
          <p:nvPr/>
        </p:nvSpPr>
        <p:spPr>
          <a:xfrm>
            <a:off x="2231136" y="5020056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83</a:t>
            </a:r>
          </a:p>
        </p:txBody>
      </p:sp>
      <p:sp>
        <p:nvSpPr>
          <p:cNvPr id="88" name="Card"/>
          <p:cNvSpPr/>
          <p:nvPr/>
        </p:nvSpPr>
        <p:spPr>
          <a:xfrm>
            <a:off x="2752344" y="5020056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Noto Sans KR"/>
                <a:ea typeface="Noto Sans KR"/>
              </a:rPr>
              <a:t>84</a:t>
            </a:r>
          </a:p>
        </p:txBody>
      </p:sp>
      <p:sp>
        <p:nvSpPr>
          <p:cNvPr id="89" name="Card"/>
          <p:cNvSpPr/>
          <p:nvPr/>
        </p:nvSpPr>
        <p:spPr>
          <a:xfrm>
            <a:off x="3273552" y="5020056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 w="22225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6B5E54"/>
                </a:solidFill>
                <a:latin typeface="Noto Sans KR"/>
                <a:ea typeface="Noto Sans KR"/>
              </a:rPr>
              <a:t>85</a:t>
            </a:r>
          </a:p>
        </p:txBody>
      </p:sp>
      <p:sp>
        <p:nvSpPr>
          <p:cNvPr id="90" name="Card"/>
          <p:cNvSpPr/>
          <p:nvPr/>
        </p:nvSpPr>
        <p:spPr>
          <a:xfrm>
            <a:off x="3794760" y="5020056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86</a:t>
            </a:r>
          </a:p>
        </p:txBody>
      </p:sp>
      <p:sp>
        <p:nvSpPr>
          <p:cNvPr id="91" name="Card"/>
          <p:cNvSpPr/>
          <p:nvPr/>
        </p:nvSpPr>
        <p:spPr>
          <a:xfrm>
            <a:off x="4315968" y="5020056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Noto Sans KR"/>
                <a:ea typeface="Noto Sans KR"/>
              </a:rPr>
              <a:t>87</a:t>
            </a:r>
          </a:p>
        </p:txBody>
      </p:sp>
      <p:sp>
        <p:nvSpPr>
          <p:cNvPr id="92" name="Card"/>
          <p:cNvSpPr/>
          <p:nvPr/>
        </p:nvSpPr>
        <p:spPr>
          <a:xfrm>
            <a:off x="4837176" y="5020056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88</a:t>
            </a:r>
          </a:p>
        </p:txBody>
      </p:sp>
      <p:sp>
        <p:nvSpPr>
          <p:cNvPr id="93" name="Card"/>
          <p:cNvSpPr/>
          <p:nvPr/>
        </p:nvSpPr>
        <p:spPr>
          <a:xfrm>
            <a:off x="5358384" y="5020056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89</a:t>
            </a:r>
          </a:p>
        </p:txBody>
      </p:sp>
      <p:sp>
        <p:nvSpPr>
          <p:cNvPr id="94" name="Card"/>
          <p:cNvSpPr/>
          <p:nvPr/>
        </p:nvSpPr>
        <p:spPr>
          <a:xfrm>
            <a:off x="5879592" y="5020056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7A2E0E"/>
          </a:solidFill>
          <a:ln w="22225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</a:rPr>
              <a:t>90</a:t>
            </a:r>
          </a:p>
        </p:txBody>
      </p:sp>
      <p:sp>
        <p:nvSpPr>
          <p:cNvPr id="95" name="Card"/>
          <p:cNvSpPr/>
          <p:nvPr/>
        </p:nvSpPr>
        <p:spPr>
          <a:xfrm>
            <a:off x="1188720" y="5413248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Noto Sans KR"/>
                <a:ea typeface="Noto Sans KR"/>
              </a:rPr>
              <a:t>91</a:t>
            </a:r>
          </a:p>
        </p:txBody>
      </p:sp>
      <p:sp>
        <p:nvSpPr>
          <p:cNvPr id="96" name="Card"/>
          <p:cNvSpPr/>
          <p:nvPr/>
        </p:nvSpPr>
        <p:spPr>
          <a:xfrm>
            <a:off x="1709928" y="5413248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92</a:t>
            </a:r>
          </a:p>
        </p:txBody>
      </p:sp>
      <p:sp>
        <p:nvSpPr>
          <p:cNvPr id="97" name="Card"/>
          <p:cNvSpPr/>
          <p:nvPr/>
        </p:nvSpPr>
        <p:spPr>
          <a:xfrm>
            <a:off x="2231136" y="5413248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93</a:t>
            </a:r>
          </a:p>
        </p:txBody>
      </p:sp>
      <p:sp>
        <p:nvSpPr>
          <p:cNvPr id="98" name="Card"/>
          <p:cNvSpPr/>
          <p:nvPr/>
        </p:nvSpPr>
        <p:spPr>
          <a:xfrm>
            <a:off x="2752344" y="5413248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7A2E0E"/>
          </a:solidFill>
          <a:ln w="22225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</a:rPr>
              <a:t>94</a:t>
            </a:r>
          </a:p>
        </p:txBody>
      </p:sp>
      <p:sp>
        <p:nvSpPr>
          <p:cNvPr id="99" name="Card"/>
          <p:cNvSpPr/>
          <p:nvPr/>
        </p:nvSpPr>
        <p:spPr>
          <a:xfrm>
            <a:off x="3273552" y="5413248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Noto Sans KR"/>
                <a:ea typeface="Noto Sans KR"/>
              </a:rPr>
              <a:t>95</a:t>
            </a:r>
          </a:p>
        </p:txBody>
      </p:sp>
      <p:sp>
        <p:nvSpPr>
          <p:cNvPr id="100" name="Card"/>
          <p:cNvSpPr/>
          <p:nvPr/>
        </p:nvSpPr>
        <p:spPr>
          <a:xfrm>
            <a:off x="3794760" y="5413248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96</a:t>
            </a:r>
          </a:p>
        </p:txBody>
      </p:sp>
      <p:sp>
        <p:nvSpPr>
          <p:cNvPr id="101" name="Card"/>
          <p:cNvSpPr/>
          <p:nvPr/>
        </p:nvSpPr>
        <p:spPr>
          <a:xfrm>
            <a:off x="4315968" y="5413248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7A2E0E"/>
          </a:solidFill>
          <a:ln w="22225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</a:rPr>
              <a:t>97</a:t>
            </a:r>
          </a:p>
        </p:txBody>
      </p:sp>
      <p:sp>
        <p:nvSpPr>
          <p:cNvPr id="102" name="Card"/>
          <p:cNvSpPr/>
          <p:nvPr/>
        </p:nvSpPr>
        <p:spPr>
          <a:xfrm>
            <a:off x="4837176" y="5413248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Noto Sans KR"/>
                <a:ea typeface="Noto Sans KR"/>
              </a:rPr>
              <a:t>98</a:t>
            </a:r>
          </a:p>
        </p:txBody>
      </p:sp>
      <p:sp>
        <p:nvSpPr>
          <p:cNvPr id="103" name="Card"/>
          <p:cNvSpPr/>
          <p:nvPr/>
        </p:nvSpPr>
        <p:spPr>
          <a:xfrm>
            <a:off x="5358384" y="5413248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99</a:t>
            </a:r>
          </a:p>
        </p:txBody>
      </p:sp>
      <p:sp>
        <p:nvSpPr>
          <p:cNvPr id="104" name="Card"/>
          <p:cNvSpPr/>
          <p:nvPr/>
        </p:nvSpPr>
        <p:spPr>
          <a:xfrm>
            <a:off x="5879592" y="5413248"/>
            <a:ext cx="475488" cy="347472"/>
          </a:xfrm>
          <a:prstGeom prst="roundRect">
            <a:avLst>
              <a:gd name="adj" fmla="val 12000"/>
            </a:avLst>
          </a:prstGeom>
          <a:solidFill>
            <a:srgbClr val="7A2E0E"/>
          </a:solidFill>
          <a:ln w="22225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</a:rPr>
              <a:t>100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309360" y="1600199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행 끝 누적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19088" y="1892807"/>
            <a:ext cx="5486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u=3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419088" y="2286000"/>
            <a:ext cx="5486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u=8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19088" y="2679191"/>
            <a:ext cx="5486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u=12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19088" y="3072384"/>
            <a:ext cx="5486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u=17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19088" y="3465575"/>
            <a:ext cx="5486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u=22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419088" y="3858767"/>
            <a:ext cx="5486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u=27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419088" y="4251959"/>
            <a:ext cx="5486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u=32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419088" y="4645151"/>
            <a:ext cx="5486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u=43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419088" y="5038344"/>
            <a:ext cx="5486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u=49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419088" y="5431536"/>
            <a:ext cx="5486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u=61</a:t>
            </a:r>
          </a:p>
        </p:txBody>
      </p:sp>
      <p:sp>
        <p:nvSpPr>
          <p:cNvPr id="116" name="Card"/>
          <p:cNvSpPr/>
          <p:nvPr/>
        </p:nvSpPr>
        <p:spPr>
          <a:xfrm>
            <a:off x="1188720" y="5888736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1426464" y="5833872"/>
            <a:ext cx="11887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+0 유지</a:t>
            </a:r>
          </a:p>
        </p:txBody>
      </p:sp>
      <p:sp>
        <p:nvSpPr>
          <p:cNvPr id="118" name="Card"/>
          <p:cNvSpPr/>
          <p:nvPr/>
        </p:nvSpPr>
        <p:spPr>
          <a:xfrm>
            <a:off x="2423160" y="5888736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2660904" y="5833872"/>
            <a:ext cx="11887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+1 일반</a:t>
            </a:r>
          </a:p>
        </p:txBody>
      </p:sp>
      <p:sp>
        <p:nvSpPr>
          <p:cNvPr id="120" name="Card"/>
          <p:cNvSpPr/>
          <p:nvPr/>
        </p:nvSpPr>
        <p:spPr>
          <a:xfrm>
            <a:off x="3657600" y="5888736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3895344" y="5833872"/>
            <a:ext cx="11887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+2 허들</a:t>
            </a:r>
          </a:p>
        </p:txBody>
      </p:sp>
      <p:sp>
        <p:nvSpPr>
          <p:cNvPr id="122" name="Card"/>
          <p:cNvSpPr/>
          <p:nvPr/>
        </p:nvSpPr>
        <p:spPr>
          <a:xfrm>
            <a:off x="4892040" y="5888736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7A2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5129783" y="5833872"/>
            <a:ext cx="11887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+3 강한 허들</a:t>
            </a:r>
          </a:p>
        </p:txBody>
      </p:sp>
      <p:sp>
        <p:nvSpPr>
          <p:cNvPr id="124" name="Card"/>
          <p:cNvSpPr/>
          <p:nvPr/>
        </p:nvSpPr>
        <p:spPr>
          <a:xfrm>
            <a:off x="6355079" y="5888736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FBF7EF"/>
          </a:solidFill>
          <a:ln w="19050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TextBox 124"/>
          <p:cNvSpPr txBox="1"/>
          <p:nvPr/>
        </p:nvSpPr>
        <p:spPr>
          <a:xfrm>
            <a:off x="6592823" y="5833872"/>
            <a:ext cx="10972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보스 층</a:t>
            </a:r>
          </a:p>
        </p:txBody>
      </p:sp>
      <p:sp>
        <p:nvSpPr>
          <p:cNvPr id="126" name="Card"/>
          <p:cNvSpPr/>
          <p:nvPr/>
        </p:nvSpPr>
        <p:spPr>
          <a:xfrm>
            <a:off x="7315200" y="1874519"/>
            <a:ext cx="3749039" cy="658368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Chip"/>
          <p:cNvSpPr/>
          <p:nvPr/>
        </p:nvSpPr>
        <p:spPr>
          <a:xfrm>
            <a:off x="7406640" y="1984248"/>
            <a:ext cx="731520" cy="438912"/>
          </a:xfrm>
          <a:prstGeom prst="roundRect">
            <a:avLst>
              <a:gd name="adj" fmla="val 20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500" b="1" i="0">
                <a:solidFill>
                  <a:srgbClr val="000000"/>
                </a:solidFill>
                <a:latin typeface="Noto Sans KR Black"/>
                <a:ea typeface="Noto Sans KR Black"/>
              </a:rPr>
              <a:t>+6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229600" y="1892807"/>
            <a:ext cx="2788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초반 1~15층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229600" y="2194560"/>
            <a:ext cx="2788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4 · 7 · 10 · 13층 +1, 15층 +2</a:t>
            </a:r>
          </a:p>
        </p:txBody>
      </p:sp>
      <p:sp>
        <p:nvSpPr>
          <p:cNvPr id="130" name="Card"/>
          <p:cNvSpPr/>
          <p:nvPr/>
        </p:nvSpPr>
        <p:spPr>
          <a:xfrm>
            <a:off x="7315200" y="2642615"/>
            <a:ext cx="3749039" cy="658368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Chip"/>
          <p:cNvSpPr/>
          <p:nvPr/>
        </p:nvSpPr>
        <p:spPr>
          <a:xfrm>
            <a:off x="7406640" y="2752344"/>
            <a:ext cx="731520" cy="438912"/>
          </a:xfrm>
          <a:prstGeom prst="roundRect">
            <a:avLst>
              <a:gd name="adj" fmla="val 20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Noto Sans KR Black"/>
                <a:ea typeface="Noto Sans KR Black"/>
              </a:rPr>
              <a:t>+26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29600" y="2660903"/>
            <a:ext cx="2788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중반 16~70층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29600" y="2962656"/>
            <a:ext cx="2788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3층 간격 +1, 25 · 40 · 50 · 60 · 70층 +2</a:t>
            </a:r>
          </a:p>
        </p:txBody>
      </p:sp>
      <p:sp>
        <p:nvSpPr>
          <p:cNvPr id="134" name="Card"/>
          <p:cNvSpPr/>
          <p:nvPr/>
        </p:nvSpPr>
        <p:spPr>
          <a:xfrm>
            <a:off x="7315200" y="3410711"/>
            <a:ext cx="3749039" cy="658368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Chip"/>
          <p:cNvSpPr/>
          <p:nvPr/>
        </p:nvSpPr>
        <p:spPr>
          <a:xfrm>
            <a:off x="7406640" y="3520439"/>
            <a:ext cx="731520" cy="438912"/>
          </a:xfrm>
          <a:prstGeom prst="roundRect">
            <a:avLst>
              <a:gd name="adj" fmla="val 20000"/>
            </a:avLst>
          </a:prstGeom>
          <a:solidFill>
            <a:srgbClr val="3C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Noto Sans KR Black"/>
                <a:ea typeface="Noto Sans KR Black"/>
              </a:rPr>
              <a:t>+11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29600" y="3428999"/>
            <a:ext cx="2788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후반 71~80층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229600" y="3730751"/>
            <a:ext cx="2788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71 · 76층 +1, 73 · 78 · 80층 +3</a:t>
            </a:r>
          </a:p>
        </p:txBody>
      </p:sp>
      <p:sp>
        <p:nvSpPr>
          <p:cNvPr id="138" name="Card"/>
          <p:cNvSpPr/>
          <p:nvPr/>
        </p:nvSpPr>
        <p:spPr>
          <a:xfrm>
            <a:off x="7315200" y="4178808"/>
            <a:ext cx="3749039" cy="658368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Chip"/>
          <p:cNvSpPr/>
          <p:nvPr/>
        </p:nvSpPr>
        <p:spPr>
          <a:xfrm>
            <a:off x="7406640" y="4288536"/>
            <a:ext cx="731520" cy="438912"/>
          </a:xfrm>
          <a:prstGeom prst="roundRect">
            <a:avLst>
              <a:gd name="adj" fmla="val 20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500" b="1" i="0">
                <a:solidFill>
                  <a:srgbClr val="000000"/>
                </a:solidFill>
                <a:latin typeface="Noto Sans KR Black"/>
                <a:ea typeface="Noto Sans KR Black"/>
              </a:rPr>
              <a:t>+3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229600" y="4197096"/>
            <a:ext cx="2788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후반 81~89층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229600" y="4498848"/>
            <a:ext cx="2788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81 · 84 · 87층 +1 (완화)</a:t>
            </a:r>
          </a:p>
        </p:txBody>
      </p:sp>
      <p:sp>
        <p:nvSpPr>
          <p:cNvPr id="142" name="Card"/>
          <p:cNvSpPr/>
          <p:nvPr/>
        </p:nvSpPr>
        <p:spPr>
          <a:xfrm>
            <a:off x="7315200" y="4946904"/>
            <a:ext cx="3749039" cy="658368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Chip"/>
          <p:cNvSpPr/>
          <p:nvPr/>
        </p:nvSpPr>
        <p:spPr>
          <a:xfrm>
            <a:off x="7406640" y="5056632"/>
            <a:ext cx="731520" cy="438912"/>
          </a:xfrm>
          <a:prstGeom prst="roundRect">
            <a:avLst>
              <a:gd name="adj" fmla="val 20000"/>
            </a:avLst>
          </a:prstGeom>
          <a:solidFill>
            <a:srgbClr val="7A2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Noto Sans KR Black"/>
                <a:ea typeface="Noto Sans KR Black"/>
              </a:rPr>
              <a:t>+15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229600" y="4965192"/>
            <a:ext cx="2788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최종 90~100층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229600" y="5266944"/>
            <a:ext cx="2788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91 · 95 · 98층 +1, 90 · 94 · 97 · 100층 +3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315200" y="5760720"/>
            <a:ext cx="3749039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B95A25"/>
                </a:solidFill>
                <a:latin typeface="Noto Sans KR"/>
                <a:ea typeface="Noto Sans KR"/>
              </a:rPr>
              <a:t>합계 6 + 26 + 11 + 3 + 15 = 61단계</a:t>
            </a:r>
          </a:p>
        </p:txBody>
      </p:sp>
      <p:sp>
        <p:nvSpPr>
          <p:cNvPr id="4" name="Purpose"/>
          <p:cNvSpPr txBox="1"/>
          <p:nvPr/>
        </p:nvSpPr>
        <p:spPr>
          <a:xfrm>
            <a:off x="1133856" y="1344168"/>
            <a:ext cx="84124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핵심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100개 층 각각에 +0 ~ +3단계를 배치한 결과 — 색이 진할수록 그 층에서 큰 성장이 필요하다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누적 성장 단계 곡선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반영 결과 - 누적 성장 단계 곡선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133856" y="1600200"/>
          <a:ext cx="640080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ard"/>
          <p:cNvSpPr/>
          <p:nvPr/>
        </p:nvSpPr>
        <p:spPr>
          <a:xfrm>
            <a:off x="7726679" y="1691640"/>
            <a:ext cx="3337560" cy="43434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863840" y="1783080"/>
            <a:ext cx="3063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00000"/>
                </a:solidFill>
                <a:latin typeface="Noto Sans KR"/>
                <a:ea typeface="Noto Sans KR"/>
              </a:rPr>
              <a:t>곡선 읽는 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240280"/>
            <a:ext cx="3108960" cy="37490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기울기 = 성장 압박.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가파를수록 짧은 구간에 많은 성장 수요가 몰린다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16~70층: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완만하고 고른 상승 → 잦은 기록 갱신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71~80층: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10층에 +11 → 가장 가파른 구간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81~89층: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9층에 +3 → 평탄한 숨 고르기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90~100층: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11층에 +15 → 최종 압박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B5E54"/>
                </a:solidFill>
                <a:latin typeface="Noto Sans KR"/>
                <a:ea typeface="Noto Sans KR"/>
              </a:rPr>
              <a:t>70층의 32단계도 먼저 정한 값이 아니라 층별 증가량의 합산 결과다</a:t>
            </a:r>
          </a:p>
        </p:txBody>
      </p: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핵심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기울기가 곧 성장 압박이다 — 중반은 완만하게, 71~80층과 90~100층은 가파르게 오른다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초반 · 중반 구간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반영 결과 - 초반 1~15층 · 중반 16~70층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"/>
          <p:cNvSpPr/>
          <p:nvPr/>
        </p:nvSpPr>
        <p:spPr>
          <a:xfrm>
            <a:off x="1133856" y="1645920"/>
            <a:ext cx="9930384" cy="18288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"/>
          <p:cNvSpPr/>
          <p:nvPr/>
        </p:nvSpPr>
        <p:spPr>
          <a:xfrm>
            <a:off x="1316736" y="17830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초반 1~15층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1755648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Noto Sans KR"/>
                <a:ea typeface="Noto Sans KR"/>
              </a:rPr>
              <a:t>목적: '한 번 강화 → 여러 층 통과'를 체득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737360"/>
            <a:ext cx="2514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700" b="0" i="0">
                <a:solidFill>
                  <a:srgbClr val="B95A25"/>
                </a:solidFill>
                <a:latin typeface="Noto Sans KR Black"/>
                <a:ea typeface="Noto Sans KR Black"/>
              </a:rPr>
              <a:t>누적 6단계</a:t>
            </a:r>
          </a:p>
        </p:txBody>
      </p:sp>
      <p:sp>
        <p:nvSpPr>
          <p:cNvPr id="8" name="F1"/>
          <p:cNvSpPr/>
          <p:nvPr/>
        </p:nvSpPr>
        <p:spPr>
          <a:xfrm>
            <a:off x="1316736" y="2240280"/>
            <a:ext cx="548640" cy="384048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1</a:t>
            </a:r>
          </a:p>
        </p:txBody>
      </p:sp>
      <p:sp>
        <p:nvSpPr>
          <p:cNvPr id="9" name="F2"/>
          <p:cNvSpPr/>
          <p:nvPr/>
        </p:nvSpPr>
        <p:spPr>
          <a:xfrm>
            <a:off x="1920239" y="2240280"/>
            <a:ext cx="548640" cy="384048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2</a:t>
            </a:r>
          </a:p>
        </p:txBody>
      </p:sp>
      <p:sp>
        <p:nvSpPr>
          <p:cNvPr id="10" name="F3"/>
          <p:cNvSpPr/>
          <p:nvPr/>
        </p:nvSpPr>
        <p:spPr>
          <a:xfrm>
            <a:off x="2523744" y="2240280"/>
            <a:ext cx="548640" cy="384048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3</a:t>
            </a:r>
          </a:p>
        </p:txBody>
      </p:sp>
      <p:sp>
        <p:nvSpPr>
          <p:cNvPr id="11" name="F4"/>
          <p:cNvSpPr/>
          <p:nvPr/>
        </p:nvSpPr>
        <p:spPr>
          <a:xfrm>
            <a:off x="3127248" y="2240280"/>
            <a:ext cx="548640" cy="384048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4</a:t>
            </a:r>
          </a:p>
        </p:txBody>
      </p:sp>
      <p:sp>
        <p:nvSpPr>
          <p:cNvPr id="12" name="F5"/>
          <p:cNvSpPr/>
          <p:nvPr/>
        </p:nvSpPr>
        <p:spPr>
          <a:xfrm>
            <a:off x="3730752" y="2240280"/>
            <a:ext cx="548640" cy="384048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 w="19050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5</a:t>
            </a:r>
          </a:p>
        </p:txBody>
      </p:sp>
      <p:sp>
        <p:nvSpPr>
          <p:cNvPr id="13" name="F6"/>
          <p:cNvSpPr/>
          <p:nvPr/>
        </p:nvSpPr>
        <p:spPr>
          <a:xfrm>
            <a:off x="4334256" y="2240280"/>
            <a:ext cx="548640" cy="384048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6</a:t>
            </a:r>
          </a:p>
        </p:txBody>
      </p:sp>
      <p:sp>
        <p:nvSpPr>
          <p:cNvPr id="14" name="F7"/>
          <p:cNvSpPr/>
          <p:nvPr/>
        </p:nvSpPr>
        <p:spPr>
          <a:xfrm>
            <a:off x="4937759" y="2240280"/>
            <a:ext cx="548640" cy="384048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7</a:t>
            </a:r>
          </a:p>
        </p:txBody>
      </p:sp>
      <p:sp>
        <p:nvSpPr>
          <p:cNvPr id="15" name="F8"/>
          <p:cNvSpPr/>
          <p:nvPr/>
        </p:nvSpPr>
        <p:spPr>
          <a:xfrm>
            <a:off x="5541263" y="2240280"/>
            <a:ext cx="548640" cy="384048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8</a:t>
            </a:r>
          </a:p>
        </p:txBody>
      </p:sp>
      <p:sp>
        <p:nvSpPr>
          <p:cNvPr id="16" name="F9"/>
          <p:cNvSpPr/>
          <p:nvPr/>
        </p:nvSpPr>
        <p:spPr>
          <a:xfrm>
            <a:off x="6144767" y="2240280"/>
            <a:ext cx="548640" cy="384048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9</a:t>
            </a:r>
          </a:p>
        </p:txBody>
      </p:sp>
      <p:sp>
        <p:nvSpPr>
          <p:cNvPr id="17" name="F10"/>
          <p:cNvSpPr/>
          <p:nvPr/>
        </p:nvSpPr>
        <p:spPr>
          <a:xfrm>
            <a:off x="6748271" y="2240280"/>
            <a:ext cx="548640" cy="384048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 w="19050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10</a:t>
            </a:r>
          </a:p>
        </p:txBody>
      </p:sp>
      <p:sp>
        <p:nvSpPr>
          <p:cNvPr id="18" name="F11"/>
          <p:cNvSpPr/>
          <p:nvPr/>
        </p:nvSpPr>
        <p:spPr>
          <a:xfrm>
            <a:off x="7351775" y="2240280"/>
            <a:ext cx="548640" cy="384048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11</a:t>
            </a:r>
          </a:p>
        </p:txBody>
      </p:sp>
      <p:sp>
        <p:nvSpPr>
          <p:cNvPr id="19" name="F12"/>
          <p:cNvSpPr/>
          <p:nvPr/>
        </p:nvSpPr>
        <p:spPr>
          <a:xfrm>
            <a:off x="7955279" y="2240280"/>
            <a:ext cx="548640" cy="384048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12</a:t>
            </a:r>
          </a:p>
        </p:txBody>
      </p:sp>
      <p:sp>
        <p:nvSpPr>
          <p:cNvPr id="20" name="F13"/>
          <p:cNvSpPr/>
          <p:nvPr/>
        </p:nvSpPr>
        <p:spPr>
          <a:xfrm>
            <a:off x="8558784" y="2240280"/>
            <a:ext cx="548640" cy="384048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 i="0">
                <a:solidFill>
                  <a:srgbClr val="000000"/>
                </a:solidFill>
                <a:latin typeface="Noto Sans KR"/>
                <a:ea typeface="Noto Sans KR"/>
              </a:rPr>
              <a:t>13</a:t>
            </a:r>
          </a:p>
        </p:txBody>
      </p:sp>
      <p:sp>
        <p:nvSpPr>
          <p:cNvPr id="21" name="F14"/>
          <p:cNvSpPr/>
          <p:nvPr/>
        </p:nvSpPr>
        <p:spPr>
          <a:xfrm>
            <a:off x="9162287" y="2240280"/>
            <a:ext cx="548640" cy="384048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14</a:t>
            </a:r>
          </a:p>
        </p:txBody>
      </p:sp>
      <p:sp>
        <p:nvSpPr>
          <p:cNvPr id="22" name="F15"/>
          <p:cNvSpPr/>
          <p:nvPr/>
        </p:nvSpPr>
        <p:spPr>
          <a:xfrm>
            <a:off x="9765791" y="2240280"/>
            <a:ext cx="548640" cy="384048"/>
          </a:xfrm>
          <a:prstGeom prst="roundRect">
            <a:avLst>
              <a:gd name="adj" fmla="val 12000"/>
            </a:avLst>
          </a:prstGeom>
          <a:solidFill>
            <a:srgbClr val="E97132"/>
          </a:solidFill>
          <a:ln w="19050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 i="0">
                <a:solidFill>
                  <a:srgbClr val="FFFFFF"/>
                </a:solidFill>
                <a:latin typeface="Noto Sans KR"/>
                <a:ea typeface="Noto Sans KR"/>
              </a:rP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6736" y="2743200"/>
            <a:ext cx="96012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4 · 7 · 10 · 13층 +1, 15층 +2. </a:t>
            </a:r>
            <a:r>
              <a:rPr sz="1200" b="0" i="0">
                <a:solidFill>
                  <a:srgbClr val="000000"/>
                </a:solidFill>
                <a:latin typeface="Noto Sans KR"/>
                <a:ea typeface="Noto Sans KR"/>
              </a:rPr>
              <a:t>같은 성장 단계로 여러 층을 진행하는 경험을 먼저 줘서 '한 번 강화 → 여러 층 통과' 구조를 이해시키고, 15층 허들로 초반 종료 시점에 다음 성장 목표를 분명히 제시한다.</a:t>
            </a:r>
          </a:p>
        </p:txBody>
      </p:sp>
      <p:sp>
        <p:nvSpPr>
          <p:cNvPr id="24" name="Card"/>
          <p:cNvSpPr/>
          <p:nvPr/>
        </p:nvSpPr>
        <p:spPr>
          <a:xfrm>
            <a:off x="1133856" y="3657600"/>
            <a:ext cx="9930384" cy="233172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Chip"/>
          <p:cNvSpPr/>
          <p:nvPr/>
        </p:nvSpPr>
        <p:spPr>
          <a:xfrm>
            <a:off x="1316736" y="37947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중반 16~70층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767328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Noto Sans KR"/>
                <a:ea typeface="Noto Sans KR"/>
              </a:rPr>
              <a:t>목적: 잦은 갱신의 쾌감 + 주기적 점검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749039"/>
            <a:ext cx="2514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700" b="0" i="0">
                <a:solidFill>
                  <a:srgbClr val="B95A25"/>
                </a:solidFill>
                <a:latin typeface="Noto Sans KR Black"/>
                <a:ea typeface="Noto Sans KR Black"/>
              </a:rPr>
              <a:t>누적 32단계</a:t>
            </a:r>
          </a:p>
        </p:txBody>
      </p:sp>
      <p:sp>
        <p:nvSpPr>
          <p:cNvPr id="28" name="F16"/>
          <p:cNvSpPr/>
          <p:nvPr/>
        </p:nvSpPr>
        <p:spPr>
          <a:xfrm>
            <a:off x="1316736" y="4251960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000000"/>
                </a:solidFill>
                <a:latin typeface="Noto Sans KR"/>
                <a:ea typeface="Noto Sans KR"/>
              </a:rPr>
              <a:t>16</a:t>
            </a:r>
          </a:p>
        </p:txBody>
      </p:sp>
      <p:sp>
        <p:nvSpPr>
          <p:cNvPr id="29" name="F17"/>
          <p:cNvSpPr/>
          <p:nvPr/>
        </p:nvSpPr>
        <p:spPr>
          <a:xfrm>
            <a:off x="1656892" y="4251960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17</a:t>
            </a:r>
          </a:p>
        </p:txBody>
      </p:sp>
      <p:sp>
        <p:nvSpPr>
          <p:cNvPr id="30" name="F18"/>
          <p:cNvSpPr/>
          <p:nvPr/>
        </p:nvSpPr>
        <p:spPr>
          <a:xfrm>
            <a:off x="1997049" y="4251960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18</a:t>
            </a:r>
          </a:p>
        </p:txBody>
      </p:sp>
      <p:sp>
        <p:nvSpPr>
          <p:cNvPr id="31" name="F19"/>
          <p:cNvSpPr/>
          <p:nvPr/>
        </p:nvSpPr>
        <p:spPr>
          <a:xfrm>
            <a:off x="2337206" y="4251960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000000"/>
                </a:solidFill>
                <a:latin typeface="Noto Sans KR"/>
                <a:ea typeface="Noto Sans KR"/>
              </a:rPr>
              <a:t>19</a:t>
            </a:r>
          </a:p>
        </p:txBody>
      </p:sp>
      <p:sp>
        <p:nvSpPr>
          <p:cNvPr id="32" name="F20"/>
          <p:cNvSpPr/>
          <p:nvPr/>
        </p:nvSpPr>
        <p:spPr>
          <a:xfrm>
            <a:off x="2677363" y="4251960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 w="19050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20</a:t>
            </a:r>
          </a:p>
        </p:txBody>
      </p:sp>
      <p:sp>
        <p:nvSpPr>
          <p:cNvPr id="33" name="F21"/>
          <p:cNvSpPr/>
          <p:nvPr/>
        </p:nvSpPr>
        <p:spPr>
          <a:xfrm>
            <a:off x="3017520" y="4251960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21</a:t>
            </a:r>
          </a:p>
        </p:txBody>
      </p:sp>
      <p:sp>
        <p:nvSpPr>
          <p:cNvPr id="34" name="F22"/>
          <p:cNvSpPr/>
          <p:nvPr/>
        </p:nvSpPr>
        <p:spPr>
          <a:xfrm>
            <a:off x="3357676" y="4251960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000000"/>
                </a:solidFill>
                <a:latin typeface="Noto Sans KR"/>
                <a:ea typeface="Noto Sans KR"/>
              </a:rPr>
              <a:t>22</a:t>
            </a:r>
          </a:p>
        </p:txBody>
      </p:sp>
      <p:sp>
        <p:nvSpPr>
          <p:cNvPr id="35" name="F23"/>
          <p:cNvSpPr/>
          <p:nvPr/>
        </p:nvSpPr>
        <p:spPr>
          <a:xfrm>
            <a:off x="3697833" y="4251960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23</a:t>
            </a:r>
          </a:p>
        </p:txBody>
      </p:sp>
      <p:sp>
        <p:nvSpPr>
          <p:cNvPr id="36" name="F24"/>
          <p:cNvSpPr/>
          <p:nvPr/>
        </p:nvSpPr>
        <p:spPr>
          <a:xfrm>
            <a:off x="4037990" y="4251960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24</a:t>
            </a:r>
          </a:p>
        </p:txBody>
      </p:sp>
      <p:sp>
        <p:nvSpPr>
          <p:cNvPr id="37" name="F25"/>
          <p:cNvSpPr/>
          <p:nvPr/>
        </p:nvSpPr>
        <p:spPr>
          <a:xfrm>
            <a:off x="4378147" y="4251960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97132"/>
          </a:solidFill>
          <a:ln w="19050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FFFFFF"/>
                </a:solidFill>
                <a:latin typeface="Noto Sans KR"/>
                <a:ea typeface="Noto Sans KR"/>
              </a:rPr>
              <a:t>25</a:t>
            </a:r>
          </a:p>
        </p:txBody>
      </p:sp>
      <p:sp>
        <p:nvSpPr>
          <p:cNvPr id="38" name="F26"/>
          <p:cNvSpPr/>
          <p:nvPr/>
        </p:nvSpPr>
        <p:spPr>
          <a:xfrm>
            <a:off x="4718304" y="4251960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26</a:t>
            </a:r>
          </a:p>
        </p:txBody>
      </p:sp>
      <p:sp>
        <p:nvSpPr>
          <p:cNvPr id="39" name="F27"/>
          <p:cNvSpPr/>
          <p:nvPr/>
        </p:nvSpPr>
        <p:spPr>
          <a:xfrm>
            <a:off x="5058460" y="4251960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27</a:t>
            </a:r>
          </a:p>
        </p:txBody>
      </p:sp>
      <p:sp>
        <p:nvSpPr>
          <p:cNvPr id="40" name="F28"/>
          <p:cNvSpPr/>
          <p:nvPr/>
        </p:nvSpPr>
        <p:spPr>
          <a:xfrm>
            <a:off x="5398617" y="4251960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000000"/>
                </a:solidFill>
                <a:latin typeface="Noto Sans KR"/>
                <a:ea typeface="Noto Sans KR"/>
              </a:rPr>
              <a:t>28</a:t>
            </a:r>
          </a:p>
        </p:txBody>
      </p:sp>
      <p:sp>
        <p:nvSpPr>
          <p:cNvPr id="41" name="F29"/>
          <p:cNvSpPr/>
          <p:nvPr/>
        </p:nvSpPr>
        <p:spPr>
          <a:xfrm>
            <a:off x="5738774" y="4251960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29</a:t>
            </a:r>
          </a:p>
        </p:txBody>
      </p:sp>
      <p:sp>
        <p:nvSpPr>
          <p:cNvPr id="42" name="F30"/>
          <p:cNvSpPr/>
          <p:nvPr/>
        </p:nvSpPr>
        <p:spPr>
          <a:xfrm>
            <a:off x="6078931" y="4251960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 w="19050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30</a:t>
            </a:r>
          </a:p>
        </p:txBody>
      </p:sp>
      <p:sp>
        <p:nvSpPr>
          <p:cNvPr id="43" name="F31"/>
          <p:cNvSpPr/>
          <p:nvPr/>
        </p:nvSpPr>
        <p:spPr>
          <a:xfrm>
            <a:off x="6419088" y="4251960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000000"/>
                </a:solidFill>
                <a:latin typeface="Noto Sans KR"/>
                <a:ea typeface="Noto Sans KR"/>
              </a:rPr>
              <a:t>31</a:t>
            </a:r>
          </a:p>
        </p:txBody>
      </p:sp>
      <p:sp>
        <p:nvSpPr>
          <p:cNvPr id="44" name="F32"/>
          <p:cNvSpPr/>
          <p:nvPr/>
        </p:nvSpPr>
        <p:spPr>
          <a:xfrm>
            <a:off x="6759244" y="4251960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32</a:t>
            </a:r>
          </a:p>
        </p:txBody>
      </p:sp>
      <p:sp>
        <p:nvSpPr>
          <p:cNvPr id="45" name="F33"/>
          <p:cNvSpPr/>
          <p:nvPr/>
        </p:nvSpPr>
        <p:spPr>
          <a:xfrm>
            <a:off x="7099401" y="4251960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33</a:t>
            </a:r>
          </a:p>
        </p:txBody>
      </p:sp>
      <p:sp>
        <p:nvSpPr>
          <p:cNvPr id="46" name="F34"/>
          <p:cNvSpPr/>
          <p:nvPr/>
        </p:nvSpPr>
        <p:spPr>
          <a:xfrm>
            <a:off x="7439558" y="4251960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000000"/>
                </a:solidFill>
                <a:latin typeface="Noto Sans KR"/>
                <a:ea typeface="Noto Sans KR"/>
              </a:rPr>
              <a:t>34</a:t>
            </a:r>
          </a:p>
        </p:txBody>
      </p:sp>
      <p:sp>
        <p:nvSpPr>
          <p:cNvPr id="47" name="F35"/>
          <p:cNvSpPr/>
          <p:nvPr/>
        </p:nvSpPr>
        <p:spPr>
          <a:xfrm>
            <a:off x="7779715" y="4251960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 w="19050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35</a:t>
            </a:r>
          </a:p>
        </p:txBody>
      </p:sp>
      <p:sp>
        <p:nvSpPr>
          <p:cNvPr id="48" name="F36"/>
          <p:cNvSpPr/>
          <p:nvPr/>
        </p:nvSpPr>
        <p:spPr>
          <a:xfrm>
            <a:off x="8119871" y="4251960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36</a:t>
            </a:r>
          </a:p>
        </p:txBody>
      </p:sp>
      <p:sp>
        <p:nvSpPr>
          <p:cNvPr id="49" name="F37"/>
          <p:cNvSpPr/>
          <p:nvPr/>
        </p:nvSpPr>
        <p:spPr>
          <a:xfrm>
            <a:off x="8460028" y="4251960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000000"/>
                </a:solidFill>
                <a:latin typeface="Noto Sans KR"/>
                <a:ea typeface="Noto Sans KR"/>
              </a:rPr>
              <a:t>37</a:t>
            </a:r>
          </a:p>
        </p:txBody>
      </p:sp>
      <p:sp>
        <p:nvSpPr>
          <p:cNvPr id="50" name="F38"/>
          <p:cNvSpPr/>
          <p:nvPr/>
        </p:nvSpPr>
        <p:spPr>
          <a:xfrm>
            <a:off x="8800185" y="4251960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38</a:t>
            </a:r>
          </a:p>
        </p:txBody>
      </p:sp>
      <p:sp>
        <p:nvSpPr>
          <p:cNvPr id="51" name="F39"/>
          <p:cNvSpPr/>
          <p:nvPr/>
        </p:nvSpPr>
        <p:spPr>
          <a:xfrm>
            <a:off x="9140342" y="4251960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39</a:t>
            </a:r>
          </a:p>
        </p:txBody>
      </p:sp>
      <p:sp>
        <p:nvSpPr>
          <p:cNvPr id="52" name="F40"/>
          <p:cNvSpPr/>
          <p:nvPr/>
        </p:nvSpPr>
        <p:spPr>
          <a:xfrm>
            <a:off x="9480499" y="4251960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97132"/>
          </a:solidFill>
          <a:ln w="19050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FFFFFF"/>
                </a:solidFill>
                <a:latin typeface="Noto Sans KR"/>
                <a:ea typeface="Noto Sans KR"/>
              </a:rPr>
              <a:t>40</a:t>
            </a:r>
          </a:p>
        </p:txBody>
      </p:sp>
      <p:sp>
        <p:nvSpPr>
          <p:cNvPr id="53" name="F41"/>
          <p:cNvSpPr/>
          <p:nvPr/>
        </p:nvSpPr>
        <p:spPr>
          <a:xfrm>
            <a:off x="9820656" y="4251960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41</a:t>
            </a:r>
          </a:p>
        </p:txBody>
      </p:sp>
      <p:sp>
        <p:nvSpPr>
          <p:cNvPr id="54" name="F42"/>
          <p:cNvSpPr/>
          <p:nvPr/>
        </p:nvSpPr>
        <p:spPr>
          <a:xfrm>
            <a:off x="10160812" y="4251960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42</a:t>
            </a:r>
          </a:p>
        </p:txBody>
      </p:sp>
      <p:sp>
        <p:nvSpPr>
          <p:cNvPr id="55" name="F43"/>
          <p:cNvSpPr/>
          <p:nvPr/>
        </p:nvSpPr>
        <p:spPr>
          <a:xfrm>
            <a:off x="1316736" y="4608576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000000"/>
                </a:solidFill>
                <a:latin typeface="Noto Sans KR"/>
                <a:ea typeface="Noto Sans KR"/>
              </a:rPr>
              <a:t>43</a:t>
            </a:r>
          </a:p>
        </p:txBody>
      </p:sp>
      <p:sp>
        <p:nvSpPr>
          <p:cNvPr id="56" name="F44"/>
          <p:cNvSpPr/>
          <p:nvPr/>
        </p:nvSpPr>
        <p:spPr>
          <a:xfrm>
            <a:off x="1656892" y="4608576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44</a:t>
            </a:r>
          </a:p>
        </p:txBody>
      </p:sp>
      <p:sp>
        <p:nvSpPr>
          <p:cNvPr id="57" name="F45"/>
          <p:cNvSpPr/>
          <p:nvPr/>
        </p:nvSpPr>
        <p:spPr>
          <a:xfrm>
            <a:off x="1997049" y="4608576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 w="19050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45</a:t>
            </a:r>
          </a:p>
        </p:txBody>
      </p:sp>
      <p:sp>
        <p:nvSpPr>
          <p:cNvPr id="58" name="F46"/>
          <p:cNvSpPr/>
          <p:nvPr/>
        </p:nvSpPr>
        <p:spPr>
          <a:xfrm>
            <a:off x="2337206" y="4608576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000000"/>
                </a:solidFill>
                <a:latin typeface="Noto Sans KR"/>
                <a:ea typeface="Noto Sans KR"/>
              </a:rPr>
              <a:t>46</a:t>
            </a:r>
          </a:p>
        </p:txBody>
      </p:sp>
      <p:sp>
        <p:nvSpPr>
          <p:cNvPr id="59" name="F47"/>
          <p:cNvSpPr/>
          <p:nvPr/>
        </p:nvSpPr>
        <p:spPr>
          <a:xfrm>
            <a:off x="2677363" y="4608576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47</a:t>
            </a:r>
          </a:p>
        </p:txBody>
      </p:sp>
      <p:sp>
        <p:nvSpPr>
          <p:cNvPr id="60" name="F48"/>
          <p:cNvSpPr/>
          <p:nvPr/>
        </p:nvSpPr>
        <p:spPr>
          <a:xfrm>
            <a:off x="3017520" y="4608576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48</a:t>
            </a:r>
          </a:p>
        </p:txBody>
      </p:sp>
      <p:sp>
        <p:nvSpPr>
          <p:cNvPr id="61" name="F49"/>
          <p:cNvSpPr/>
          <p:nvPr/>
        </p:nvSpPr>
        <p:spPr>
          <a:xfrm>
            <a:off x="3357676" y="4608576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000000"/>
                </a:solidFill>
                <a:latin typeface="Noto Sans KR"/>
                <a:ea typeface="Noto Sans KR"/>
              </a:rPr>
              <a:t>49</a:t>
            </a:r>
          </a:p>
        </p:txBody>
      </p:sp>
      <p:sp>
        <p:nvSpPr>
          <p:cNvPr id="62" name="F50"/>
          <p:cNvSpPr/>
          <p:nvPr/>
        </p:nvSpPr>
        <p:spPr>
          <a:xfrm>
            <a:off x="3697833" y="4608576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97132"/>
          </a:solidFill>
          <a:ln w="19050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FFFFFF"/>
                </a:solidFill>
                <a:latin typeface="Noto Sans KR"/>
                <a:ea typeface="Noto Sans KR"/>
              </a:rPr>
              <a:t>50</a:t>
            </a:r>
          </a:p>
        </p:txBody>
      </p:sp>
      <p:sp>
        <p:nvSpPr>
          <p:cNvPr id="63" name="F51"/>
          <p:cNvSpPr/>
          <p:nvPr/>
        </p:nvSpPr>
        <p:spPr>
          <a:xfrm>
            <a:off x="4037990" y="4608576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51</a:t>
            </a:r>
          </a:p>
        </p:txBody>
      </p:sp>
      <p:sp>
        <p:nvSpPr>
          <p:cNvPr id="64" name="F52"/>
          <p:cNvSpPr/>
          <p:nvPr/>
        </p:nvSpPr>
        <p:spPr>
          <a:xfrm>
            <a:off x="4378147" y="4608576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000000"/>
                </a:solidFill>
                <a:latin typeface="Noto Sans KR"/>
                <a:ea typeface="Noto Sans KR"/>
              </a:rPr>
              <a:t>52</a:t>
            </a:r>
          </a:p>
        </p:txBody>
      </p:sp>
      <p:sp>
        <p:nvSpPr>
          <p:cNvPr id="65" name="F53"/>
          <p:cNvSpPr/>
          <p:nvPr/>
        </p:nvSpPr>
        <p:spPr>
          <a:xfrm>
            <a:off x="4718304" y="4608576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53</a:t>
            </a:r>
          </a:p>
        </p:txBody>
      </p:sp>
      <p:sp>
        <p:nvSpPr>
          <p:cNvPr id="66" name="F54"/>
          <p:cNvSpPr/>
          <p:nvPr/>
        </p:nvSpPr>
        <p:spPr>
          <a:xfrm>
            <a:off x="5058460" y="4608576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54</a:t>
            </a:r>
          </a:p>
        </p:txBody>
      </p:sp>
      <p:sp>
        <p:nvSpPr>
          <p:cNvPr id="67" name="F55"/>
          <p:cNvSpPr/>
          <p:nvPr/>
        </p:nvSpPr>
        <p:spPr>
          <a:xfrm>
            <a:off x="5398617" y="4608576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 w="19050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000000"/>
                </a:solidFill>
                <a:latin typeface="Noto Sans KR"/>
                <a:ea typeface="Noto Sans KR"/>
              </a:rPr>
              <a:t>55</a:t>
            </a:r>
          </a:p>
        </p:txBody>
      </p:sp>
      <p:sp>
        <p:nvSpPr>
          <p:cNvPr id="68" name="F56"/>
          <p:cNvSpPr/>
          <p:nvPr/>
        </p:nvSpPr>
        <p:spPr>
          <a:xfrm>
            <a:off x="5738774" y="4608576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56</a:t>
            </a:r>
          </a:p>
        </p:txBody>
      </p:sp>
      <p:sp>
        <p:nvSpPr>
          <p:cNvPr id="69" name="F57"/>
          <p:cNvSpPr/>
          <p:nvPr/>
        </p:nvSpPr>
        <p:spPr>
          <a:xfrm>
            <a:off x="6078931" y="4608576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57</a:t>
            </a:r>
          </a:p>
        </p:txBody>
      </p:sp>
      <p:sp>
        <p:nvSpPr>
          <p:cNvPr id="70" name="F58"/>
          <p:cNvSpPr/>
          <p:nvPr/>
        </p:nvSpPr>
        <p:spPr>
          <a:xfrm>
            <a:off x="6419088" y="4608576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000000"/>
                </a:solidFill>
                <a:latin typeface="Noto Sans KR"/>
                <a:ea typeface="Noto Sans KR"/>
              </a:rPr>
              <a:t>58</a:t>
            </a:r>
          </a:p>
        </p:txBody>
      </p:sp>
      <p:sp>
        <p:nvSpPr>
          <p:cNvPr id="71" name="F59"/>
          <p:cNvSpPr/>
          <p:nvPr/>
        </p:nvSpPr>
        <p:spPr>
          <a:xfrm>
            <a:off x="6759244" y="4608576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59</a:t>
            </a:r>
          </a:p>
        </p:txBody>
      </p:sp>
      <p:sp>
        <p:nvSpPr>
          <p:cNvPr id="72" name="F60"/>
          <p:cNvSpPr/>
          <p:nvPr/>
        </p:nvSpPr>
        <p:spPr>
          <a:xfrm>
            <a:off x="7099401" y="4608576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97132"/>
          </a:solidFill>
          <a:ln w="19050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FFFFFF"/>
                </a:solidFill>
                <a:latin typeface="Noto Sans KR"/>
                <a:ea typeface="Noto Sans KR"/>
              </a:rPr>
              <a:t>60</a:t>
            </a:r>
          </a:p>
        </p:txBody>
      </p:sp>
      <p:sp>
        <p:nvSpPr>
          <p:cNvPr id="73" name="F61"/>
          <p:cNvSpPr/>
          <p:nvPr/>
        </p:nvSpPr>
        <p:spPr>
          <a:xfrm>
            <a:off x="7439558" y="4608576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000000"/>
                </a:solidFill>
                <a:latin typeface="Noto Sans KR"/>
                <a:ea typeface="Noto Sans KR"/>
              </a:rPr>
              <a:t>61</a:t>
            </a:r>
          </a:p>
        </p:txBody>
      </p:sp>
      <p:sp>
        <p:nvSpPr>
          <p:cNvPr id="74" name="F62"/>
          <p:cNvSpPr/>
          <p:nvPr/>
        </p:nvSpPr>
        <p:spPr>
          <a:xfrm>
            <a:off x="7779715" y="4608576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62</a:t>
            </a:r>
          </a:p>
        </p:txBody>
      </p:sp>
      <p:sp>
        <p:nvSpPr>
          <p:cNvPr id="75" name="F63"/>
          <p:cNvSpPr/>
          <p:nvPr/>
        </p:nvSpPr>
        <p:spPr>
          <a:xfrm>
            <a:off x="8119871" y="4608576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63</a:t>
            </a:r>
          </a:p>
        </p:txBody>
      </p:sp>
      <p:sp>
        <p:nvSpPr>
          <p:cNvPr id="76" name="F64"/>
          <p:cNvSpPr/>
          <p:nvPr/>
        </p:nvSpPr>
        <p:spPr>
          <a:xfrm>
            <a:off x="8460028" y="4608576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000000"/>
                </a:solidFill>
                <a:latin typeface="Noto Sans KR"/>
                <a:ea typeface="Noto Sans KR"/>
              </a:rPr>
              <a:t>64</a:t>
            </a:r>
          </a:p>
        </p:txBody>
      </p:sp>
      <p:sp>
        <p:nvSpPr>
          <p:cNvPr id="77" name="F65"/>
          <p:cNvSpPr/>
          <p:nvPr/>
        </p:nvSpPr>
        <p:spPr>
          <a:xfrm>
            <a:off x="8800185" y="4608576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 w="19050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65</a:t>
            </a:r>
          </a:p>
        </p:txBody>
      </p:sp>
      <p:sp>
        <p:nvSpPr>
          <p:cNvPr id="78" name="F66"/>
          <p:cNvSpPr/>
          <p:nvPr/>
        </p:nvSpPr>
        <p:spPr>
          <a:xfrm>
            <a:off x="9140342" y="4608576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66</a:t>
            </a:r>
          </a:p>
        </p:txBody>
      </p:sp>
      <p:sp>
        <p:nvSpPr>
          <p:cNvPr id="79" name="F67"/>
          <p:cNvSpPr/>
          <p:nvPr/>
        </p:nvSpPr>
        <p:spPr>
          <a:xfrm>
            <a:off x="9480499" y="4608576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000000"/>
                </a:solidFill>
                <a:latin typeface="Noto Sans KR"/>
                <a:ea typeface="Noto Sans KR"/>
              </a:rPr>
              <a:t>67</a:t>
            </a:r>
          </a:p>
        </p:txBody>
      </p:sp>
      <p:sp>
        <p:nvSpPr>
          <p:cNvPr id="80" name="F68"/>
          <p:cNvSpPr/>
          <p:nvPr/>
        </p:nvSpPr>
        <p:spPr>
          <a:xfrm>
            <a:off x="9820656" y="4608576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68</a:t>
            </a:r>
          </a:p>
        </p:txBody>
      </p:sp>
      <p:sp>
        <p:nvSpPr>
          <p:cNvPr id="81" name="F69"/>
          <p:cNvSpPr/>
          <p:nvPr/>
        </p:nvSpPr>
        <p:spPr>
          <a:xfrm>
            <a:off x="10160812" y="4608576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69</a:t>
            </a:r>
          </a:p>
        </p:txBody>
      </p:sp>
      <p:sp>
        <p:nvSpPr>
          <p:cNvPr id="82" name="F70"/>
          <p:cNvSpPr/>
          <p:nvPr/>
        </p:nvSpPr>
        <p:spPr>
          <a:xfrm>
            <a:off x="10500969" y="4608576"/>
            <a:ext cx="294436" cy="310896"/>
          </a:xfrm>
          <a:prstGeom prst="roundRect">
            <a:avLst>
              <a:gd name="adj" fmla="val 12000"/>
            </a:avLst>
          </a:prstGeom>
          <a:solidFill>
            <a:srgbClr val="E97132"/>
          </a:solidFill>
          <a:ln w="19050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FFFFFF"/>
                </a:solidFill>
                <a:latin typeface="Noto Sans KR"/>
                <a:ea typeface="Noto Sans KR"/>
              </a:rPr>
              <a:t>70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316736" y="4983480"/>
            <a:ext cx="9601200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16층부터 3층 간격 +1, 25 · 40 · 50 · 60 · 70층 +2. </a:t>
            </a:r>
            <a:r>
              <a:rPr sz="1200" b="0" i="0">
                <a:solidFill>
                  <a:srgbClr val="000000"/>
                </a:solidFill>
                <a:latin typeface="Noto Sans KR"/>
                <a:ea typeface="Noto Sans KR"/>
              </a:rPr>
              <a:t>+0 층이 다수 포함돼 추가 계수 요구 없이 진행 가능한 층이 이어지고, 일정 간격의 +2 허들이 수요를 누적시켜 진행이 지나치게 평탄해지는 것을 막는다.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B95A25"/>
                </a:solidFill>
                <a:latin typeface="Noto Sans KR"/>
                <a:ea typeface="Noto Sans KR"/>
              </a:rPr>
              <a:t>+2는 모두 보스 층: </a:t>
            </a:r>
            <a:r>
              <a:rPr sz="1200" b="0" i="0">
                <a:solidFill>
                  <a:srgbClr val="000000"/>
                </a:solidFill>
                <a:latin typeface="Noto Sans KR"/>
                <a:ea typeface="Noto Sans KR"/>
              </a:rPr>
              <a:t>25층(15층에서 10층 뒤 첫 점검) → 25~40층 중반에서 가장 긴 연속 갱신 구간 → 40 · 50 · 60 · 70층 10층 주기 점검</a:t>
            </a:r>
          </a:p>
        </p:txBody>
      </p:sp>
      <p:sp>
        <p:nvSpPr>
          <p:cNvPr id="84" name="Card"/>
          <p:cNvSpPr/>
          <p:nvPr/>
        </p:nvSpPr>
        <p:spPr>
          <a:xfrm>
            <a:off x="1188720" y="6144768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1426464" y="6089904"/>
            <a:ext cx="11887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+0 유지</a:t>
            </a:r>
          </a:p>
        </p:txBody>
      </p:sp>
      <p:sp>
        <p:nvSpPr>
          <p:cNvPr id="86" name="Card"/>
          <p:cNvSpPr/>
          <p:nvPr/>
        </p:nvSpPr>
        <p:spPr>
          <a:xfrm>
            <a:off x="2423160" y="6144768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2660904" y="6089904"/>
            <a:ext cx="11887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+1 일반</a:t>
            </a:r>
          </a:p>
        </p:txBody>
      </p:sp>
      <p:sp>
        <p:nvSpPr>
          <p:cNvPr id="88" name="Card"/>
          <p:cNvSpPr/>
          <p:nvPr/>
        </p:nvSpPr>
        <p:spPr>
          <a:xfrm>
            <a:off x="3657600" y="6144768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3895344" y="6089904"/>
            <a:ext cx="11887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+2 허들</a:t>
            </a:r>
          </a:p>
        </p:txBody>
      </p:sp>
      <p:sp>
        <p:nvSpPr>
          <p:cNvPr id="90" name="Card"/>
          <p:cNvSpPr/>
          <p:nvPr/>
        </p:nvSpPr>
        <p:spPr>
          <a:xfrm>
            <a:off x="4892040" y="6144768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7A2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5129783" y="6089904"/>
            <a:ext cx="11887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+3 강한 허들</a:t>
            </a:r>
          </a:p>
        </p:txBody>
      </p:sp>
      <p:sp>
        <p:nvSpPr>
          <p:cNvPr id="92" name="Card"/>
          <p:cNvSpPr/>
          <p:nvPr/>
        </p:nvSpPr>
        <p:spPr>
          <a:xfrm>
            <a:off x="6355079" y="6144768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FBF7EF"/>
          </a:solidFill>
          <a:ln w="19050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6592823" y="6089904"/>
            <a:ext cx="10972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보스 층</a:t>
            </a:r>
          </a:p>
        </p:txBody>
      </p: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핵심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초반은 '한 번 강화로 여러 층 통과'를 체득시키고, 중반은 잦은 갱신 사이에 주기적 점검 관문을 둔다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후반 구간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반영 결과 - 후반 71~100층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"/>
          <p:cNvSpPr/>
          <p:nvPr/>
        </p:nvSpPr>
        <p:spPr>
          <a:xfrm>
            <a:off x="1133856" y="1645920"/>
            <a:ext cx="3145536" cy="36576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"/>
          <p:cNvSpPr/>
          <p:nvPr/>
        </p:nvSpPr>
        <p:spPr>
          <a:xfrm>
            <a:off x="1298448" y="178308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3C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71~80층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68296" y="1755648"/>
            <a:ext cx="1874519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0000"/>
                </a:solidFill>
                <a:latin typeface="Noto Sans KR"/>
                <a:ea typeface="Noto Sans KR"/>
              </a:rPr>
              <a:t>후반 진입 압박</a:t>
            </a:r>
          </a:p>
        </p:txBody>
      </p:sp>
      <p:sp>
        <p:nvSpPr>
          <p:cNvPr id="7" name="F71"/>
          <p:cNvSpPr/>
          <p:nvPr/>
        </p:nvSpPr>
        <p:spPr>
          <a:xfrm>
            <a:off x="1289304" y="2286000"/>
            <a:ext cx="258775" cy="329184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000000"/>
                </a:solidFill>
                <a:latin typeface="Noto Sans KR"/>
                <a:ea typeface="Noto Sans KR"/>
              </a:rPr>
              <a:t>71</a:t>
            </a:r>
          </a:p>
        </p:txBody>
      </p:sp>
      <p:sp>
        <p:nvSpPr>
          <p:cNvPr id="8" name="F72"/>
          <p:cNvSpPr/>
          <p:nvPr/>
        </p:nvSpPr>
        <p:spPr>
          <a:xfrm>
            <a:off x="1575511" y="2286000"/>
            <a:ext cx="258775" cy="329184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72</a:t>
            </a:r>
          </a:p>
        </p:txBody>
      </p:sp>
      <p:sp>
        <p:nvSpPr>
          <p:cNvPr id="9" name="F73"/>
          <p:cNvSpPr/>
          <p:nvPr/>
        </p:nvSpPr>
        <p:spPr>
          <a:xfrm>
            <a:off x="1861718" y="2286000"/>
            <a:ext cx="258775" cy="329184"/>
          </a:xfrm>
          <a:prstGeom prst="roundRect">
            <a:avLst>
              <a:gd name="adj" fmla="val 12000"/>
            </a:avLst>
          </a:prstGeom>
          <a:solidFill>
            <a:srgbClr val="7A2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FFFFFF"/>
                </a:solidFill>
                <a:latin typeface="Noto Sans KR"/>
                <a:ea typeface="Noto Sans KR"/>
              </a:rPr>
              <a:t>73</a:t>
            </a:r>
          </a:p>
        </p:txBody>
      </p:sp>
      <p:sp>
        <p:nvSpPr>
          <p:cNvPr id="10" name="F74"/>
          <p:cNvSpPr/>
          <p:nvPr/>
        </p:nvSpPr>
        <p:spPr>
          <a:xfrm>
            <a:off x="2147925" y="2286000"/>
            <a:ext cx="258775" cy="329184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74</a:t>
            </a:r>
          </a:p>
        </p:txBody>
      </p:sp>
      <p:sp>
        <p:nvSpPr>
          <p:cNvPr id="11" name="F75"/>
          <p:cNvSpPr/>
          <p:nvPr/>
        </p:nvSpPr>
        <p:spPr>
          <a:xfrm>
            <a:off x="2434132" y="2286000"/>
            <a:ext cx="258775" cy="329184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 w="19050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75</a:t>
            </a:r>
          </a:p>
        </p:txBody>
      </p:sp>
      <p:sp>
        <p:nvSpPr>
          <p:cNvPr id="12" name="F76"/>
          <p:cNvSpPr/>
          <p:nvPr/>
        </p:nvSpPr>
        <p:spPr>
          <a:xfrm>
            <a:off x="2720340" y="2286000"/>
            <a:ext cx="258775" cy="329184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000000"/>
                </a:solidFill>
                <a:latin typeface="Noto Sans KR"/>
                <a:ea typeface="Noto Sans KR"/>
              </a:rPr>
              <a:t>76</a:t>
            </a:r>
          </a:p>
        </p:txBody>
      </p:sp>
      <p:sp>
        <p:nvSpPr>
          <p:cNvPr id="13" name="F77"/>
          <p:cNvSpPr/>
          <p:nvPr/>
        </p:nvSpPr>
        <p:spPr>
          <a:xfrm>
            <a:off x="3006547" y="2286000"/>
            <a:ext cx="258775" cy="329184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77</a:t>
            </a:r>
          </a:p>
        </p:txBody>
      </p:sp>
      <p:sp>
        <p:nvSpPr>
          <p:cNvPr id="14" name="F78"/>
          <p:cNvSpPr/>
          <p:nvPr/>
        </p:nvSpPr>
        <p:spPr>
          <a:xfrm>
            <a:off x="3292754" y="2286000"/>
            <a:ext cx="258775" cy="329184"/>
          </a:xfrm>
          <a:prstGeom prst="roundRect">
            <a:avLst>
              <a:gd name="adj" fmla="val 12000"/>
            </a:avLst>
          </a:prstGeom>
          <a:solidFill>
            <a:srgbClr val="7A2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FFFFFF"/>
                </a:solidFill>
                <a:latin typeface="Noto Sans KR"/>
                <a:ea typeface="Noto Sans KR"/>
              </a:rPr>
              <a:t>78</a:t>
            </a:r>
          </a:p>
        </p:txBody>
      </p:sp>
      <p:sp>
        <p:nvSpPr>
          <p:cNvPr id="15" name="F79"/>
          <p:cNvSpPr/>
          <p:nvPr/>
        </p:nvSpPr>
        <p:spPr>
          <a:xfrm>
            <a:off x="3578961" y="2286000"/>
            <a:ext cx="258775" cy="329184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79</a:t>
            </a:r>
          </a:p>
        </p:txBody>
      </p:sp>
      <p:sp>
        <p:nvSpPr>
          <p:cNvPr id="16" name="F80"/>
          <p:cNvSpPr/>
          <p:nvPr/>
        </p:nvSpPr>
        <p:spPr>
          <a:xfrm>
            <a:off x="3865168" y="2286000"/>
            <a:ext cx="258775" cy="329184"/>
          </a:xfrm>
          <a:prstGeom prst="roundRect">
            <a:avLst>
              <a:gd name="adj" fmla="val 12000"/>
            </a:avLst>
          </a:prstGeom>
          <a:solidFill>
            <a:srgbClr val="7A2E0E"/>
          </a:solidFill>
          <a:ln w="19050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FFFFFF"/>
                </a:solidFill>
                <a:latin typeface="Noto Sans KR"/>
                <a:ea typeface="Noto Sans KR"/>
              </a:rPr>
              <a:t>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1016" y="2743200"/>
            <a:ext cx="288036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71 · 76층 +1, 73 · 78 · 80층 +3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Noto Sans KR"/>
                <a:ea typeface="Noto Sans KR"/>
              </a:rPr>
              <a:t>첫 +3을 진입 2층 만(73)에, 이후 간격 5 → 2층으로 압박 가중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Noto Sans KR"/>
                <a:ea typeface="Noto Sans KR"/>
              </a:rPr>
              <a:t>76층 +1: 두 허들 사이 성장 리듬 유지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Noto Sans KR"/>
                <a:ea typeface="Noto Sans KR"/>
              </a:rPr>
              <a:t>70층 대비 +11단계 = </a:t>
            </a:r>
            <a:r>
              <a:rPr sz="1200" b="1" i="0">
                <a:solidFill>
                  <a:srgbClr val="B95A25"/>
                </a:solidFill>
                <a:latin typeface="Noto Sans KR"/>
                <a:ea typeface="Noto Sans KR"/>
              </a:rPr>
              <a:t>1.3¹¹ ≈ 17.92배</a:t>
            </a: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 (영구 계수 비율)</a:t>
            </a:r>
          </a:p>
        </p:txBody>
      </p:sp>
      <p:sp>
        <p:nvSpPr>
          <p:cNvPr id="18" name="Card"/>
          <p:cNvSpPr/>
          <p:nvPr/>
        </p:nvSpPr>
        <p:spPr>
          <a:xfrm>
            <a:off x="1289304" y="4526280"/>
            <a:ext cx="283464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62456" y="4572000"/>
            <a:ext cx="14630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B95A25"/>
                </a:solidFill>
                <a:latin typeface="Noto Sans KR Black"/>
                <a:ea typeface="Noto Sans KR Black"/>
              </a:rPr>
              <a:t>+11단계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4056" y="457200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6B5E54"/>
                </a:solidFill>
                <a:latin typeface="Noto Sans KR"/>
                <a:ea typeface="Noto Sans KR"/>
              </a:rPr>
              <a:t>80층 누적
43단계</a:t>
            </a:r>
          </a:p>
        </p:txBody>
      </p:sp>
      <p:sp>
        <p:nvSpPr>
          <p:cNvPr id="21" name="Card"/>
          <p:cNvSpPr/>
          <p:nvPr/>
        </p:nvSpPr>
        <p:spPr>
          <a:xfrm>
            <a:off x="4480560" y="1645920"/>
            <a:ext cx="3145536" cy="36576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Chip"/>
          <p:cNvSpPr/>
          <p:nvPr/>
        </p:nvSpPr>
        <p:spPr>
          <a:xfrm>
            <a:off x="4645152" y="178308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81~89층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1755648"/>
            <a:ext cx="1874519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0000"/>
                </a:solidFill>
                <a:latin typeface="Noto Sans KR"/>
                <a:ea typeface="Noto Sans KR"/>
              </a:rPr>
              <a:t>긴장 완화 · 돌파 보상</a:t>
            </a:r>
          </a:p>
        </p:txBody>
      </p:sp>
      <p:sp>
        <p:nvSpPr>
          <p:cNvPr id="24" name="F81"/>
          <p:cNvSpPr/>
          <p:nvPr/>
        </p:nvSpPr>
        <p:spPr>
          <a:xfrm>
            <a:off x="4636008" y="2286000"/>
            <a:ext cx="290576" cy="329184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000000"/>
                </a:solidFill>
                <a:latin typeface="Noto Sans KR"/>
                <a:ea typeface="Noto Sans KR"/>
              </a:rPr>
              <a:t>81</a:t>
            </a:r>
          </a:p>
        </p:txBody>
      </p:sp>
      <p:sp>
        <p:nvSpPr>
          <p:cNvPr id="25" name="F82"/>
          <p:cNvSpPr/>
          <p:nvPr/>
        </p:nvSpPr>
        <p:spPr>
          <a:xfrm>
            <a:off x="4954016" y="2286000"/>
            <a:ext cx="290576" cy="329184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82</a:t>
            </a:r>
          </a:p>
        </p:txBody>
      </p:sp>
      <p:sp>
        <p:nvSpPr>
          <p:cNvPr id="26" name="F83"/>
          <p:cNvSpPr/>
          <p:nvPr/>
        </p:nvSpPr>
        <p:spPr>
          <a:xfrm>
            <a:off x="5272024" y="2286000"/>
            <a:ext cx="290576" cy="329184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83</a:t>
            </a:r>
          </a:p>
        </p:txBody>
      </p:sp>
      <p:sp>
        <p:nvSpPr>
          <p:cNvPr id="27" name="F84"/>
          <p:cNvSpPr/>
          <p:nvPr/>
        </p:nvSpPr>
        <p:spPr>
          <a:xfrm>
            <a:off x="5590032" y="2286000"/>
            <a:ext cx="290576" cy="329184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000000"/>
                </a:solidFill>
                <a:latin typeface="Noto Sans KR"/>
                <a:ea typeface="Noto Sans KR"/>
              </a:rPr>
              <a:t>84</a:t>
            </a:r>
          </a:p>
        </p:txBody>
      </p:sp>
      <p:sp>
        <p:nvSpPr>
          <p:cNvPr id="28" name="F85"/>
          <p:cNvSpPr/>
          <p:nvPr/>
        </p:nvSpPr>
        <p:spPr>
          <a:xfrm>
            <a:off x="5908040" y="2286000"/>
            <a:ext cx="290576" cy="329184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 w="19050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85</a:t>
            </a:r>
          </a:p>
        </p:txBody>
      </p:sp>
      <p:sp>
        <p:nvSpPr>
          <p:cNvPr id="29" name="F86"/>
          <p:cNvSpPr/>
          <p:nvPr/>
        </p:nvSpPr>
        <p:spPr>
          <a:xfrm>
            <a:off x="6226048" y="2286000"/>
            <a:ext cx="290576" cy="329184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86</a:t>
            </a:r>
          </a:p>
        </p:txBody>
      </p:sp>
      <p:sp>
        <p:nvSpPr>
          <p:cNvPr id="30" name="F87"/>
          <p:cNvSpPr/>
          <p:nvPr/>
        </p:nvSpPr>
        <p:spPr>
          <a:xfrm>
            <a:off x="6544056" y="2286000"/>
            <a:ext cx="290576" cy="329184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000000"/>
                </a:solidFill>
                <a:latin typeface="Noto Sans KR"/>
                <a:ea typeface="Noto Sans KR"/>
              </a:rPr>
              <a:t>87</a:t>
            </a:r>
          </a:p>
        </p:txBody>
      </p:sp>
      <p:sp>
        <p:nvSpPr>
          <p:cNvPr id="31" name="F88"/>
          <p:cNvSpPr/>
          <p:nvPr/>
        </p:nvSpPr>
        <p:spPr>
          <a:xfrm>
            <a:off x="6862064" y="2286000"/>
            <a:ext cx="290576" cy="329184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88</a:t>
            </a:r>
          </a:p>
        </p:txBody>
      </p:sp>
      <p:sp>
        <p:nvSpPr>
          <p:cNvPr id="32" name="F89"/>
          <p:cNvSpPr/>
          <p:nvPr/>
        </p:nvSpPr>
        <p:spPr>
          <a:xfrm>
            <a:off x="7180072" y="2286000"/>
            <a:ext cx="290576" cy="329184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89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2743200"/>
            <a:ext cx="288036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81 · 84 · 87층만 +1, 나머지 +0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Noto Sans KR"/>
                <a:ea typeface="Noto Sans KR"/>
              </a:rPr>
              <a:t>중반 기본 속도(층당 0.33단계)로 복귀 — 요구를 없애는 게 아니라 속도를 되돌림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Noto Sans KR"/>
                <a:ea typeface="Noto Sans KR"/>
              </a:rPr>
              <a:t>85층 보스 +0 = 최종 연전 전 회복형 관문</a:t>
            </a:r>
          </a:p>
        </p:txBody>
      </p:sp>
      <p:sp>
        <p:nvSpPr>
          <p:cNvPr id="34" name="Card"/>
          <p:cNvSpPr/>
          <p:nvPr/>
        </p:nvSpPr>
        <p:spPr>
          <a:xfrm>
            <a:off x="4636008" y="4526280"/>
            <a:ext cx="283464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709160" y="4572000"/>
            <a:ext cx="14630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B95A25"/>
                </a:solidFill>
                <a:latin typeface="Noto Sans KR Black"/>
                <a:ea typeface="Noto Sans KR Black"/>
              </a:rPr>
              <a:t>+3단계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457200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6B5E54"/>
                </a:solidFill>
                <a:latin typeface="Noto Sans KR"/>
                <a:ea typeface="Noto Sans KR"/>
              </a:rPr>
              <a:t>89층 누적
46단계</a:t>
            </a:r>
          </a:p>
        </p:txBody>
      </p:sp>
      <p:sp>
        <p:nvSpPr>
          <p:cNvPr id="37" name="Card"/>
          <p:cNvSpPr/>
          <p:nvPr/>
        </p:nvSpPr>
        <p:spPr>
          <a:xfrm>
            <a:off x="7827264" y="1645920"/>
            <a:ext cx="3145536" cy="36576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Chip"/>
          <p:cNvSpPr/>
          <p:nvPr/>
        </p:nvSpPr>
        <p:spPr>
          <a:xfrm>
            <a:off x="7991856" y="178308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7A2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90~100층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61704" y="1755648"/>
            <a:ext cx="1874519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0000"/>
                </a:solidFill>
                <a:latin typeface="Noto Sans KR"/>
                <a:ea typeface="Noto Sans KR"/>
              </a:rPr>
              <a:t>최종 보스 연전</a:t>
            </a:r>
          </a:p>
        </p:txBody>
      </p:sp>
      <p:sp>
        <p:nvSpPr>
          <p:cNvPr id="40" name="F90"/>
          <p:cNvSpPr/>
          <p:nvPr/>
        </p:nvSpPr>
        <p:spPr>
          <a:xfrm>
            <a:off x="7982712" y="2286000"/>
            <a:ext cx="232756" cy="329184"/>
          </a:xfrm>
          <a:prstGeom prst="roundRect">
            <a:avLst>
              <a:gd name="adj" fmla="val 12000"/>
            </a:avLst>
          </a:prstGeom>
          <a:solidFill>
            <a:srgbClr val="7A2E0E"/>
          </a:solidFill>
          <a:ln w="19050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FFFFFF"/>
                </a:solidFill>
                <a:latin typeface="Noto Sans KR"/>
                <a:ea typeface="Noto Sans KR"/>
              </a:rPr>
              <a:t>90</a:t>
            </a:r>
          </a:p>
        </p:txBody>
      </p:sp>
      <p:sp>
        <p:nvSpPr>
          <p:cNvPr id="41" name="F91"/>
          <p:cNvSpPr/>
          <p:nvPr/>
        </p:nvSpPr>
        <p:spPr>
          <a:xfrm>
            <a:off x="8242900" y="2286000"/>
            <a:ext cx="232756" cy="329184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000000"/>
                </a:solidFill>
                <a:latin typeface="Noto Sans KR"/>
                <a:ea typeface="Noto Sans KR"/>
              </a:rPr>
              <a:t>91</a:t>
            </a:r>
          </a:p>
        </p:txBody>
      </p:sp>
      <p:sp>
        <p:nvSpPr>
          <p:cNvPr id="42" name="F92"/>
          <p:cNvSpPr/>
          <p:nvPr/>
        </p:nvSpPr>
        <p:spPr>
          <a:xfrm>
            <a:off x="8503088" y="2286000"/>
            <a:ext cx="232756" cy="329184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92</a:t>
            </a:r>
          </a:p>
        </p:txBody>
      </p:sp>
      <p:sp>
        <p:nvSpPr>
          <p:cNvPr id="43" name="F93"/>
          <p:cNvSpPr/>
          <p:nvPr/>
        </p:nvSpPr>
        <p:spPr>
          <a:xfrm>
            <a:off x="8763277" y="2286000"/>
            <a:ext cx="232756" cy="329184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93</a:t>
            </a:r>
          </a:p>
        </p:txBody>
      </p:sp>
      <p:sp>
        <p:nvSpPr>
          <p:cNvPr id="44" name="F94"/>
          <p:cNvSpPr/>
          <p:nvPr/>
        </p:nvSpPr>
        <p:spPr>
          <a:xfrm>
            <a:off x="9023465" y="2286000"/>
            <a:ext cx="232756" cy="329184"/>
          </a:xfrm>
          <a:prstGeom prst="roundRect">
            <a:avLst>
              <a:gd name="adj" fmla="val 12000"/>
            </a:avLst>
          </a:prstGeom>
          <a:solidFill>
            <a:srgbClr val="7A2E0E"/>
          </a:solidFill>
          <a:ln w="19050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FFFFFF"/>
                </a:solidFill>
                <a:latin typeface="Noto Sans KR"/>
                <a:ea typeface="Noto Sans KR"/>
              </a:rPr>
              <a:t>94</a:t>
            </a:r>
          </a:p>
        </p:txBody>
      </p:sp>
      <p:sp>
        <p:nvSpPr>
          <p:cNvPr id="45" name="F95"/>
          <p:cNvSpPr/>
          <p:nvPr/>
        </p:nvSpPr>
        <p:spPr>
          <a:xfrm>
            <a:off x="9283653" y="2286000"/>
            <a:ext cx="232756" cy="329184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000000"/>
                </a:solidFill>
                <a:latin typeface="Noto Sans KR"/>
                <a:ea typeface="Noto Sans KR"/>
              </a:rPr>
              <a:t>95</a:t>
            </a:r>
          </a:p>
        </p:txBody>
      </p:sp>
      <p:sp>
        <p:nvSpPr>
          <p:cNvPr id="46" name="F96"/>
          <p:cNvSpPr/>
          <p:nvPr/>
        </p:nvSpPr>
        <p:spPr>
          <a:xfrm>
            <a:off x="9543842" y="2286000"/>
            <a:ext cx="232756" cy="329184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96</a:t>
            </a:r>
          </a:p>
        </p:txBody>
      </p:sp>
      <p:sp>
        <p:nvSpPr>
          <p:cNvPr id="47" name="F97"/>
          <p:cNvSpPr/>
          <p:nvPr/>
        </p:nvSpPr>
        <p:spPr>
          <a:xfrm>
            <a:off x="9804030" y="2286000"/>
            <a:ext cx="232756" cy="329184"/>
          </a:xfrm>
          <a:prstGeom prst="roundRect">
            <a:avLst>
              <a:gd name="adj" fmla="val 12000"/>
            </a:avLst>
          </a:prstGeom>
          <a:solidFill>
            <a:srgbClr val="7A2E0E"/>
          </a:solidFill>
          <a:ln w="19050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FFFFFF"/>
                </a:solidFill>
                <a:latin typeface="Noto Sans KR"/>
                <a:ea typeface="Noto Sans KR"/>
              </a:rPr>
              <a:t>97</a:t>
            </a:r>
          </a:p>
        </p:txBody>
      </p:sp>
      <p:sp>
        <p:nvSpPr>
          <p:cNvPr id="48" name="F98"/>
          <p:cNvSpPr/>
          <p:nvPr/>
        </p:nvSpPr>
        <p:spPr>
          <a:xfrm>
            <a:off x="10064218" y="2286000"/>
            <a:ext cx="232756" cy="329184"/>
          </a:xfrm>
          <a:prstGeom prst="roundRect">
            <a:avLst>
              <a:gd name="adj" fmla="val 12000"/>
            </a:avLst>
          </a:prstGeom>
          <a:solidFill>
            <a:srgbClr val="F3B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000000"/>
                </a:solidFill>
                <a:latin typeface="Noto Sans KR"/>
                <a:ea typeface="Noto Sans KR"/>
              </a:rPr>
              <a:t>98</a:t>
            </a:r>
          </a:p>
        </p:txBody>
      </p:sp>
      <p:sp>
        <p:nvSpPr>
          <p:cNvPr id="49" name="F99"/>
          <p:cNvSpPr/>
          <p:nvPr/>
        </p:nvSpPr>
        <p:spPr>
          <a:xfrm>
            <a:off x="10324407" y="2286000"/>
            <a:ext cx="232756" cy="329184"/>
          </a:xfrm>
          <a:prstGeom prst="roundRect">
            <a:avLst>
              <a:gd name="adj" fmla="val 12000"/>
            </a:avLst>
          </a:prstGeom>
          <a:solidFill>
            <a:srgbClr val="EF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99</a:t>
            </a:r>
          </a:p>
        </p:txBody>
      </p:sp>
      <p:sp>
        <p:nvSpPr>
          <p:cNvPr id="50" name="F100"/>
          <p:cNvSpPr/>
          <p:nvPr/>
        </p:nvSpPr>
        <p:spPr>
          <a:xfrm>
            <a:off x="10584595" y="2286000"/>
            <a:ext cx="232756" cy="329184"/>
          </a:xfrm>
          <a:prstGeom prst="roundRect">
            <a:avLst>
              <a:gd name="adj" fmla="val 12000"/>
            </a:avLst>
          </a:prstGeom>
          <a:solidFill>
            <a:srgbClr val="7A2E0E"/>
          </a:solidFill>
          <a:ln w="19050">
            <a:solidFill>
              <a:srgbClr val="3C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 i="0">
                <a:solidFill>
                  <a:srgbClr val="FFFFFF"/>
                </a:solidFill>
                <a:latin typeface="Noto Sans KR"/>
                <a:ea typeface="Noto Sans KR"/>
              </a:rPr>
              <a:t>100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64424" y="2743200"/>
            <a:ext cx="288036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90 · 94 · 97 · 100층 +3, 91 · 95 · 98층 +1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Noto Sans KR"/>
                <a:ea typeface="Noto Sans KR"/>
              </a:rPr>
              <a:t>보스 간격 4 · 3 · 3층, 모두 +3 — 가장 높은 밀도로 완주 성취감 극대화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Noto Sans KR"/>
                <a:ea typeface="Noto Sans KR"/>
              </a:rPr>
              <a:t>보스 사이 +0 층을 남겨 강한 정체 뒤 다시 진행되는 대비</a:t>
            </a:r>
          </a:p>
        </p:txBody>
      </p:sp>
      <p:sp>
        <p:nvSpPr>
          <p:cNvPr id="52" name="Card"/>
          <p:cNvSpPr/>
          <p:nvPr/>
        </p:nvSpPr>
        <p:spPr>
          <a:xfrm>
            <a:off x="7982712" y="4526280"/>
            <a:ext cx="283464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055864" y="4572000"/>
            <a:ext cx="14630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B95A25"/>
                </a:solidFill>
                <a:latin typeface="Noto Sans KR Black"/>
                <a:ea typeface="Noto Sans KR Black"/>
              </a:rPr>
              <a:t>+15단계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27464" y="457200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6B5E54"/>
                </a:solidFill>
                <a:latin typeface="Noto Sans KR"/>
                <a:ea typeface="Noto Sans KR"/>
              </a:rPr>
              <a:t>100층 누적
61단계</a:t>
            </a:r>
          </a:p>
        </p:txBody>
      </p:sp>
      <p:sp>
        <p:nvSpPr>
          <p:cNvPr id="55" name="Card"/>
          <p:cNvSpPr/>
          <p:nvPr/>
        </p:nvSpPr>
        <p:spPr>
          <a:xfrm>
            <a:off x="1133856" y="5468112"/>
            <a:ext cx="9930384" cy="566928"/>
          </a:xfrm>
          <a:prstGeom prst="roundRect">
            <a:avLst>
              <a:gd name="adj" fmla="val 4000"/>
            </a:avLst>
          </a:prstGeom>
          <a:solidFill>
            <a:srgbClr val="FBE3D3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316736" y="5486400"/>
            <a:ext cx="960120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B95A25"/>
                </a:solidFill>
                <a:latin typeface="Noto Sans KR"/>
                <a:ea typeface="Noto Sans KR"/>
              </a:rPr>
              <a:t>해석상 주의  </a:t>
            </a:r>
            <a:r>
              <a:rPr sz="1200" b="0" i="0">
                <a:solidFill>
                  <a:srgbClr val="000000"/>
                </a:solidFill>
                <a:latin typeface="Noto Sans KR"/>
                <a:ea typeface="Noto Sans KR"/>
              </a:rPr>
              <a:t>+0 = 추가 영구 성장 계수가 필요 없다는 뜻일 뿐, 한 번에 2~3층 돌파의 증명이 아니다. +3도 3회 도전을 뜻하지 않는다. 반복 횟수와 시간은 이후 검증한다.</a:t>
            </a:r>
          </a:p>
        </p:txBody>
      </p: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핵심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후반 30층은 압박(+11) → 숨 고르기(+3) → 최종 연전(+15)의 세 박자로 진행된다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층 유형 분포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반영 결과 - 유지 · 일반 · 허들 층 분포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목적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구간마다 쉬어 가는 층과 막히는 층의 비율을 달리해 진행 리듬을 만든다</a:t>
            </a:r>
          </a:p>
        </p:txBody>
      </p:sp>
      <p:graphicFrame>
        <p:nvGraphicFramePr>
          <p:cNvPr id="5" name="Chart"/>
          <p:cNvGraphicFramePr>
            <a:graphicFrameLocks noGrp="1"/>
          </p:cNvGraphicFramePr>
          <p:nvPr/>
        </p:nvGraphicFramePr>
        <p:xfrm>
          <a:off x="1133856" y="1783080"/>
          <a:ext cx="630936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ard"/>
          <p:cNvSpPr/>
          <p:nvPr/>
        </p:nvSpPr>
        <p:spPr>
          <a:xfrm>
            <a:off x="7726679" y="1783080"/>
            <a:ext cx="3337560" cy="38862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863840" y="1874519"/>
            <a:ext cx="3063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0000"/>
                </a:solidFill>
                <a:latin typeface="Noto Sans KR"/>
                <a:ea typeface="Noto Sans KR"/>
              </a:rPr>
              <a:t>구간별 층당 성장 단계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7863840" y="2286000"/>
          <a:ext cx="3063240" cy="2377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43000"/>
                <a:gridCol w="960120"/>
                <a:gridCol w="96012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구간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층당 단계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유지 비율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초반</a:t>
                      </a:r>
                    </a:p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1~15층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0.40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67%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16~70층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0.47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62%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 진입</a:t>
                      </a:r>
                    </a:p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71~80층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1.10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50%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 완화</a:t>
                      </a:r>
                    </a:p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81~89층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67%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최종 연전</a:t>
                      </a:r>
                    </a:p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90~100층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1.36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36%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863840" y="4709160"/>
            <a:ext cx="310896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최종 연전은 유지 비율이 36%로 가장 낮다. </a:t>
            </a: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보스 사이 쉬어 가는 층이 1~2개뿐이라 연전의 밀도가 높다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5760720"/>
            <a:ext cx="9930384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유형 정의: 유지 +0 · 일반 +1 · 허들 +2 · 강한 허들 +3 (1층 시작은 유지에 포함) — md 원문의 '보상' 층 = 본 문서의 '유지' 층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난이도 등급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부록 - 성장 단계 배치 규칙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1133856" y="1828800"/>
          <a:ext cx="6400800" cy="38404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05840"/>
                <a:gridCol w="4206240"/>
                <a:gridCol w="11887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우선순위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3C2D23"/>
                      </a:solidFill>
                    </a:lnL>
                    <a:lnR w="12700" cap="flat" cmpd="sng" algn="ctr">
                      <a:solidFill>
                        <a:srgbClr val="3C2D23"/>
                      </a:solidFill>
                    </a:lnR>
                    <a:lnT w="12700" cap="flat" cmpd="sng" algn="ctr">
                      <a:solidFill>
                        <a:srgbClr val="3C2D23"/>
                      </a:solidFill>
                    </a:lnT>
                    <a:lnB w="12700" cap="flat" cmpd="sng" algn="ctr">
                      <a:solidFill>
                        <a:srgbClr val="3C2D23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대상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3C2D23"/>
                      </a:solidFill>
                    </a:lnL>
                    <a:lnR w="12700" cap="flat" cmpd="sng" algn="ctr">
                      <a:solidFill>
                        <a:srgbClr val="3C2D23"/>
                      </a:solidFill>
                    </a:lnR>
                    <a:lnT w="12700" cap="flat" cmpd="sng" algn="ctr">
                      <a:solidFill>
                        <a:srgbClr val="3C2D23"/>
                      </a:solidFill>
                    </a:lnT>
                    <a:lnB w="12700" cap="flat" cmpd="sng" algn="ctr">
                      <a:solidFill>
                        <a:srgbClr val="3C2D23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추가 단계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3C2D23"/>
                      </a:solidFill>
                    </a:lnL>
                    <a:lnR w="12700" cap="flat" cmpd="sng" algn="ctr">
                      <a:solidFill>
                        <a:srgbClr val="3C2D23"/>
                      </a:solidFill>
                    </a:lnR>
                    <a:lnT w="12700" cap="flat" cmpd="sng" algn="ctr">
                      <a:solidFill>
                        <a:srgbClr val="3C2D23"/>
                      </a:solidFill>
                    </a:lnT>
                    <a:lnB w="12700" cap="flat" cmpd="sng" algn="ctr">
                      <a:solidFill>
                        <a:srgbClr val="3C2D23"/>
                      </a:solidFill>
                    </a:lnB>
                    <a:solidFill>
                      <a:srgbClr val="3C2D2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+0 (시작)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허들 지정층 15 · 25 · 40 · 50 · 60 · 70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+2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9713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허들 지정층 73 · 78 · 80 · 90 · 94 · 97 · 100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+3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7A2E0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2~15층 중 4 · 7 · 10 · 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16~70층 중 (f − 16) % 3 = 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71~80층 중 71 · 76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81~89층 중 81 · 84 · 87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90~100층 중 91 · 95 · 98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그 외 모든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3856" y="5760720"/>
            <a:ext cx="6400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B5E54"/>
                </a:solidFill>
                <a:latin typeface="Noto Sans KR"/>
                <a:ea typeface="Noto Sans KR"/>
              </a:rPr>
              <a:t>u_f = Σ(1..f) 추가 단계  →  G_f = 1.3^(u_f)</a:t>
            </a:r>
          </a:p>
        </p:txBody>
      </p:sp>
      <p:sp>
        <p:nvSpPr>
          <p:cNvPr id="7" name="Card"/>
          <p:cNvSpPr/>
          <p:nvPr/>
        </p:nvSpPr>
        <p:spPr>
          <a:xfrm>
            <a:off x="7863840" y="1828800"/>
            <a:ext cx="3200400" cy="4160520"/>
          </a:xfrm>
          <a:prstGeom prst="roundRect">
            <a:avLst>
              <a:gd name="adj" fmla="val 4000"/>
            </a:avLst>
          </a:prstGeom>
          <a:solidFill>
            <a:srgbClr val="3C2D23"/>
          </a:solidFill>
          <a:ln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0" y="1920240"/>
            <a:ext cx="2834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Noto Sans KR"/>
                <a:ea typeface="Noto Sans KR"/>
              </a:rPr>
              <a:t>올바른 계산 순서</a:t>
            </a:r>
          </a:p>
        </p:txBody>
      </p:sp>
      <p:sp>
        <p:nvSpPr>
          <p:cNvPr id="9" name="Chip"/>
          <p:cNvSpPr/>
          <p:nvPr/>
        </p:nvSpPr>
        <p:spPr>
          <a:xfrm>
            <a:off x="8092440" y="24963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7072" y="2459736"/>
            <a:ext cx="23774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Noto Sans KR"/>
                <a:ea typeface="Noto Sans KR"/>
              </a:rPr>
              <a:t>층별 추가 단계 배치 (규칙)</a:t>
            </a:r>
          </a:p>
        </p:txBody>
      </p:sp>
      <p:cxnSp>
        <p:nvCxnSpPr>
          <p:cNvPr id="11" name="Line"/>
          <p:cNvCxnSpPr/>
          <p:nvPr/>
        </p:nvCxnSpPr>
        <p:spPr>
          <a:xfrm>
            <a:off x="8284464" y="2926080"/>
            <a:ext cx="0" cy="338328"/>
          </a:xfrm>
          <a:prstGeom prst="line">
            <a:avLst/>
          </a:prstGeom>
          <a:ln w="15875">
            <a:solidFill>
              <a:srgbClr val="E7DF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ip"/>
          <p:cNvSpPr/>
          <p:nvPr/>
        </p:nvSpPr>
        <p:spPr>
          <a:xfrm>
            <a:off x="8092440" y="33192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3282696"/>
            <a:ext cx="23774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Noto Sans KR"/>
                <a:ea typeface="Noto Sans KR"/>
              </a:rPr>
              <a:t>합산 → 100층 61단계</a:t>
            </a:r>
          </a:p>
        </p:txBody>
      </p:sp>
      <p:cxnSp>
        <p:nvCxnSpPr>
          <p:cNvPr id="14" name="Line"/>
          <p:cNvCxnSpPr/>
          <p:nvPr/>
        </p:nvCxnSpPr>
        <p:spPr>
          <a:xfrm>
            <a:off x="8284464" y="3749039"/>
            <a:ext cx="0" cy="338329"/>
          </a:xfrm>
          <a:prstGeom prst="line">
            <a:avLst/>
          </a:prstGeom>
          <a:ln w="15875">
            <a:solidFill>
              <a:srgbClr val="E7DF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ip"/>
          <p:cNvSpPr/>
          <p:nvPr/>
        </p:nvSpPr>
        <p:spPr>
          <a:xfrm>
            <a:off x="8092440" y="41422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4105656"/>
            <a:ext cx="23774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Noto Sans KR"/>
                <a:ea typeface="Noto Sans KR"/>
              </a:rPr>
              <a:t>q 역산 → 100층 = 1ae</a:t>
            </a:r>
          </a:p>
        </p:txBody>
      </p:sp>
      <p:cxnSp>
        <p:nvCxnSpPr>
          <p:cNvPr id="17" name="Line"/>
          <p:cNvCxnSpPr/>
          <p:nvPr/>
        </p:nvCxnSpPr>
        <p:spPr>
          <a:xfrm>
            <a:off x="8284464" y="4572000"/>
            <a:ext cx="0" cy="338328"/>
          </a:xfrm>
          <a:prstGeom prst="line">
            <a:avLst/>
          </a:prstGeom>
          <a:ln w="15875">
            <a:solidFill>
              <a:srgbClr val="E7DF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ip"/>
          <p:cNvSpPr/>
          <p:nvPr/>
        </p:nvSpPr>
        <p:spPr>
          <a:xfrm>
            <a:off x="8092440" y="49651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4928616"/>
            <a:ext cx="23774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Noto Sans KR"/>
                <a:ea typeface="Noto Sans KR"/>
              </a:rPr>
              <a:t>100개 층 요구 전투력 산출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5623560"/>
            <a:ext cx="28346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E7DFD2"/>
                </a:solidFill>
                <a:latin typeface="Noto Sans KR"/>
                <a:ea typeface="Noto Sans KR"/>
              </a:rPr>
              <a:t>순서를 거꾸로 이해하면 근거를 오독한다</a:t>
            </a:r>
          </a:p>
        </p:txBody>
      </p: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참고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어떤 층의 수치도 임의 입력이 아니다 — 아래 규칙과 누적 합으로 100개 층이 모두 결정된다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전체 목표표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반영 결과 - 층별 난이도 등급 (1~5)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목적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추가 성장 수요를 5단계 설계 등급으로 옮겨, 층마다 기대하는 체감 강도를 콘텐츠 설계와 공유한다</a:t>
            </a:r>
          </a:p>
        </p:txBody>
      </p:sp>
      <p:graphicFrame>
        <p:nvGraphicFramePr>
          <p:cNvPr id="5" name="Chart"/>
          <p:cNvGraphicFramePr>
            <a:graphicFrameLocks noGrp="1"/>
          </p:cNvGraphicFramePr>
          <p:nvPr/>
        </p:nvGraphicFramePr>
        <p:xfrm>
          <a:off x="1133856" y="1783080"/>
          <a:ext cx="64008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ard"/>
          <p:cNvSpPr/>
          <p:nvPr/>
        </p:nvSpPr>
        <p:spPr>
          <a:xfrm>
            <a:off x="7726679" y="1783080"/>
            <a:ext cx="3337560" cy="393192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863840" y="1874519"/>
            <a:ext cx="3063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0000"/>
                </a:solidFill>
                <a:latin typeface="Noto Sans KR"/>
                <a:ea typeface="Noto Sans KR"/>
              </a:rPr>
              <a:t>등급 정의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7863840" y="2286000"/>
          <a:ext cx="3063240" cy="1645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"/>
                <a:gridCol w="1143000"/>
                <a:gridCol w="640080"/>
                <a:gridCol w="73152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등급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유형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추가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층 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7A2E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강한 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D9CF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시작·유지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863840" y="4023360"/>
            <a:ext cx="3108960" cy="1691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설계 등급이다. </a:t>
            </a: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실측 실패 확률이나 객관적 난이도 점수가 아니다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+0 층도 요구 전투력은 오른다. </a:t>
            </a: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등급 1은 '추가 성장 수요 없음'이라는 뜻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3등급은 비어 있다. </a:t>
            </a: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지금은 추가 단계만으로 등급이 정해져, 구간 역할 가중(예: 후반 +1층)을 넣을 여지가 남아 있다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구간별 시간 목표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반영 결과 - 구간별 플레이 경험과 시간 목표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목적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후반 150분을 진입 · 완화 · 최종 연전으로 나눠, 층당 체류 시간이 구간 역할을 따르게 한다</a:t>
            </a:r>
          </a:p>
        </p:txBody>
      </p:sp>
      <p:graphicFrame>
        <p:nvGraphicFramePr>
          <p:cNvPr id="5" name="Chart"/>
          <p:cNvGraphicFramePr>
            <a:graphicFrameLocks noGrp="1"/>
          </p:cNvGraphicFramePr>
          <p:nvPr/>
        </p:nvGraphicFramePr>
        <p:xfrm>
          <a:off x="1133856" y="1783080"/>
          <a:ext cx="429768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5623560" y="1783080"/>
          <a:ext cx="5440680" cy="26700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868680"/>
                <a:gridCol w="548640"/>
                <a:gridCol w="548640"/>
                <a:gridCol w="502920"/>
                <a:gridCol w="594360"/>
                <a:gridCol w="237744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구간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목표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누적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단계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분/단계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기대 플레이 경험 · 배치 의도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초반</a:t>
                      </a:r>
                    </a:p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1~15층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5.00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파괴 → 전투력 → 첫 보스 3회 학습. 2~3층 연속 갱신, 15층에서 성장 필요성 제시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16~70층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150분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180분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+26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5.77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짧은 정체 뒤 2~3층 돌파 반복. 25·40·50·60·70층 간헐적 점검 관문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 A</a:t>
                      </a:r>
                    </a:p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71~80층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245분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5.91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+3 집중(73·78·80). 후반 진입 압박과 재도전, 80층 돌파 성취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 B</a:t>
                      </a:r>
                    </a:p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81~90층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285분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6.67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81~89층 숨 고르기로 앞선 성장 효과 확인, 90층에서 긴장 재상승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 C</a:t>
                      </a:r>
                    </a:p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91~100층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330분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3.75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94·97·100층 보스 허들이 밀집한 클라이맥스. 사이사이 2~3층 유지 구간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1133856" y="4526280"/>
            <a:ext cx="4297680" cy="1188720"/>
          </a:xfrm>
          <a:prstGeom prst="roundRect">
            <a:avLst>
              <a:gd name="adj" fmla="val 4000"/>
            </a:avLst>
          </a:prstGeom>
          <a:solidFill>
            <a:srgbClr val="FBE3D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43584" y="4599432"/>
            <a:ext cx="41148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최종 연전은 성장 공급이 가장 빨라야 한다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후반 C는 45분 동안 +12단계 — 1단계당 3.75분. </a:t>
            </a: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다른 구간(5.0~6.7분)보다 약 1.5배 빠른 공급이 있어야 목표 시간 안에 든다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4526280"/>
            <a:ext cx="544068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시간값의 근거: </a:t>
            </a: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30 + 150 + 150 = 330분을 완주 목표로 두고, 후반 150분을 65 · 40 · 45분으로 기획상 배분했다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측정 · 시뮬레이션 결과가 아니다. </a:t>
            </a: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도전 횟수 · 파괴 시간 · 실패 시간 · 성장 요소가 정해져야 검증할 수 있다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구간 평균이다. </a:t>
            </a: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층마다 그 시간을 고정하라는 뜻이 아니다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재시작 횟수 목표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반영 결과 - 층별 재시작 횟수 목표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목적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허들의 체감 강도를 '막혀서 다시 시작하는 횟수'로 정의해, 성장 공급 설계가 맞춰야 할 목표로 넘긴다</a:t>
            </a:r>
          </a:p>
        </p:txBody>
      </p:sp>
      <p:sp>
        <p:nvSpPr>
          <p:cNvPr id="5" name="Card"/>
          <p:cNvSpPr/>
          <p:nvPr/>
        </p:nvSpPr>
        <p:spPr>
          <a:xfrm>
            <a:off x="1133856" y="1783080"/>
            <a:ext cx="3931920" cy="2331720"/>
          </a:xfrm>
          <a:prstGeom prst="roundRect">
            <a:avLst>
              <a:gd name="adj" fmla="val 4000"/>
            </a:avLst>
          </a:prstGeom>
          <a:solidFill>
            <a:srgbClr val="3C2D2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280160" y="1874519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Noto Sans KR"/>
                <a:ea typeface="Noto Sans KR"/>
              </a:rPr>
              <a:t>재시작 횟수의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86000"/>
            <a:ext cx="3657600" cy="1783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해당 층을 처음 클리어하기 전, 그 층에서 막혀 다시 시작한 횟수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E7DFD2"/>
                </a:solidFill>
                <a:latin typeface="Noto Sans KR"/>
                <a:ea typeface="Noto Sans KR"/>
              </a:rPr>
              <a:t>첫 도전은 세지 않는다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E7DFD2"/>
                </a:solidFill>
                <a:latin typeface="Noto Sans KR"/>
                <a:ea typeface="Noto Sans KR"/>
              </a:rPr>
              <a:t>한 번의 도전으로 여러 층을 넘으면 각 층은 0회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E7DFD2"/>
                </a:solidFill>
                <a:latin typeface="Noto Sans KR"/>
                <a:ea typeface="Noto Sans KR"/>
              </a:rPr>
              <a:t>층별 목표 부담이다 — 총 도전 횟수의 합계로 쓰지 않는다</a:t>
            </a:r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5257800" y="1783080"/>
          <a:ext cx="5806440" cy="21396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60120"/>
                <a:gridCol w="502920"/>
                <a:gridCol w="548640"/>
                <a:gridCol w="822960"/>
                <a:gridCol w="868680"/>
                <a:gridCol w="210312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층 유형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추가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층 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재시작 목표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첫 클리어까지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배치 의도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시작 · 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확보한 성장으로 다음 2~3층까지 진행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성장 공급이 충분하다는 가정 아래 정체 없는 관문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+2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1회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성장 수요를 명확히 체감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강한 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+3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7A2E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2회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 핵심 관문 · 최종 보스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33856" y="42976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0000"/>
                </a:solidFill>
                <a:latin typeface="Noto Sans KR"/>
                <a:ea typeface="Noto Sans KR"/>
              </a:rPr>
              <a:t>허들 층별 재시작 목표</a:t>
            </a:r>
          </a:p>
        </p:txBody>
      </p:sp>
      <p:sp>
        <p:nvSpPr>
          <p:cNvPr id="5" name="H15"/>
          <p:cNvSpPr/>
          <p:nvPr/>
        </p:nvSpPr>
        <p:spPr>
          <a:xfrm>
            <a:off x="1133856" y="4709160"/>
            <a:ext cx="621792" cy="384048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</a:rPr>
              <a:t>15층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120640"/>
            <a:ext cx="713232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1회</a:t>
            </a:r>
          </a:p>
        </p:txBody>
      </p:sp>
      <p:sp>
        <p:nvSpPr>
          <p:cNvPr id="5" name="H25"/>
          <p:cNvSpPr/>
          <p:nvPr/>
        </p:nvSpPr>
        <p:spPr>
          <a:xfrm>
            <a:off x="1897380" y="4709160"/>
            <a:ext cx="621792" cy="384048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</a:rPr>
              <a:t>25층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1660" y="5120640"/>
            <a:ext cx="713232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1회</a:t>
            </a:r>
          </a:p>
        </p:txBody>
      </p:sp>
      <p:sp>
        <p:nvSpPr>
          <p:cNvPr id="5" name="H40"/>
          <p:cNvSpPr/>
          <p:nvPr/>
        </p:nvSpPr>
        <p:spPr>
          <a:xfrm>
            <a:off x="2660904" y="4709160"/>
            <a:ext cx="621792" cy="384048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</a:rPr>
              <a:t>40층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5184" y="5120640"/>
            <a:ext cx="713232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1회</a:t>
            </a:r>
          </a:p>
        </p:txBody>
      </p:sp>
      <p:sp>
        <p:nvSpPr>
          <p:cNvPr id="5" name="H50"/>
          <p:cNvSpPr/>
          <p:nvPr/>
        </p:nvSpPr>
        <p:spPr>
          <a:xfrm>
            <a:off x="3424428" y="4709160"/>
            <a:ext cx="621792" cy="384048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</a:rPr>
              <a:t>50층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8708" y="5120640"/>
            <a:ext cx="713232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1회</a:t>
            </a:r>
          </a:p>
        </p:txBody>
      </p:sp>
      <p:sp>
        <p:nvSpPr>
          <p:cNvPr id="5" name="H60"/>
          <p:cNvSpPr/>
          <p:nvPr/>
        </p:nvSpPr>
        <p:spPr>
          <a:xfrm>
            <a:off x="4187952" y="4709160"/>
            <a:ext cx="621792" cy="384048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</a:rPr>
              <a:t>60층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2232" y="5120640"/>
            <a:ext cx="713232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1회</a:t>
            </a:r>
          </a:p>
        </p:txBody>
      </p:sp>
      <p:sp>
        <p:nvSpPr>
          <p:cNvPr id="5" name="H70"/>
          <p:cNvSpPr/>
          <p:nvPr/>
        </p:nvSpPr>
        <p:spPr>
          <a:xfrm>
            <a:off x="4951476" y="4709160"/>
            <a:ext cx="621792" cy="384048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</a:rPr>
              <a:t>70층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5756" y="5120640"/>
            <a:ext cx="713232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1회</a:t>
            </a:r>
          </a:p>
        </p:txBody>
      </p:sp>
      <p:sp>
        <p:nvSpPr>
          <p:cNvPr id="5" name="H73"/>
          <p:cNvSpPr/>
          <p:nvPr/>
        </p:nvSpPr>
        <p:spPr>
          <a:xfrm>
            <a:off x="5715000" y="4709160"/>
            <a:ext cx="621792" cy="384048"/>
          </a:xfrm>
          <a:prstGeom prst="roundRect">
            <a:avLst>
              <a:gd name="adj" fmla="val 4000"/>
            </a:avLst>
          </a:prstGeom>
          <a:solidFill>
            <a:srgbClr val="7A2E0E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</a:rPr>
              <a:t>73층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5120640"/>
            <a:ext cx="713232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B95A25"/>
                </a:solidFill>
                <a:latin typeface="Noto Sans KR"/>
                <a:ea typeface="Noto Sans KR"/>
              </a:rPr>
              <a:t>2회</a:t>
            </a:r>
          </a:p>
        </p:txBody>
      </p:sp>
      <p:sp>
        <p:nvSpPr>
          <p:cNvPr id="5" name="H78"/>
          <p:cNvSpPr/>
          <p:nvPr/>
        </p:nvSpPr>
        <p:spPr>
          <a:xfrm>
            <a:off x="6478524" y="4709160"/>
            <a:ext cx="621792" cy="384048"/>
          </a:xfrm>
          <a:prstGeom prst="roundRect">
            <a:avLst>
              <a:gd name="adj" fmla="val 4000"/>
            </a:avLst>
          </a:prstGeom>
          <a:solidFill>
            <a:srgbClr val="7A2E0E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</a:rPr>
              <a:t>78층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2804" y="5120640"/>
            <a:ext cx="713232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B95A25"/>
                </a:solidFill>
                <a:latin typeface="Noto Sans KR"/>
                <a:ea typeface="Noto Sans KR"/>
              </a:rPr>
              <a:t>2회</a:t>
            </a:r>
          </a:p>
        </p:txBody>
      </p:sp>
      <p:sp>
        <p:nvSpPr>
          <p:cNvPr id="5" name="H80"/>
          <p:cNvSpPr/>
          <p:nvPr/>
        </p:nvSpPr>
        <p:spPr>
          <a:xfrm>
            <a:off x="7242048" y="4709160"/>
            <a:ext cx="621792" cy="384048"/>
          </a:xfrm>
          <a:prstGeom prst="roundRect">
            <a:avLst>
              <a:gd name="adj" fmla="val 4000"/>
            </a:avLst>
          </a:prstGeom>
          <a:solidFill>
            <a:srgbClr val="7A2E0E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</a:rPr>
              <a:t>80층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8" y="5120640"/>
            <a:ext cx="713232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B95A25"/>
                </a:solidFill>
                <a:latin typeface="Noto Sans KR"/>
                <a:ea typeface="Noto Sans KR"/>
              </a:rPr>
              <a:t>2회</a:t>
            </a:r>
          </a:p>
        </p:txBody>
      </p:sp>
      <p:sp>
        <p:nvSpPr>
          <p:cNvPr id="5" name="H90"/>
          <p:cNvSpPr/>
          <p:nvPr/>
        </p:nvSpPr>
        <p:spPr>
          <a:xfrm>
            <a:off x="8005571" y="4709160"/>
            <a:ext cx="621792" cy="384048"/>
          </a:xfrm>
          <a:prstGeom prst="roundRect">
            <a:avLst>
              <a:gd name="adj" fmla="val 4000"/>
            </a:avLst>
          </a:prstGeom>
          <a:solidFill>
            <a:srgbClr val="7A2E0E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</a:rPr>
              <a:t>90층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9851" y="5120640"/>
            <a:ext cx="713232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B95A25"/>
                </a:solidFill>
                <a:latin typeface="Noto Sans KR"/>
                <a:ea typeface="Noto Sans KR"/>
              </a:rPr>
              <a:t>2회</a:t>
            </a:r>
          </a:p>
        </p:txBody>
      </p:sp>
      <p:sp>
        <p:nvSpPr>
          <p:cNvPr id="5" name="H94"/>
          <p:cNvSpPr/>
          <p:nvPr/>
        </p:nvSpPr>
        <p:spPr>
          <a:xfrm>
            <a:off x="8769096" y="4709160"/>
            <a:ext cx="621792" cy="384048"/>
          </a:xfrm>
          <a:prstGeom prst="roundRect">
            <a:avLst>
              <a:gd name="adj" fmla="val 4000"/>
            </a:avLst>
          </a:prstGeom>
          <a:solidFill>
            <a:srgbClr val="7A2E0E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</a:rPr>
              <a:t>94층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3376" y="5120640"/>
            <a:ext cx="713232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B95A25"/>
                </a:solidFill>
                <a:latin typeface="Noto Sans KR"/>
                <a:ea typeface="Noto Sans KR"/>
              </a:rPr>
              <a:t>2회</a:t>
            </a:r>
          </a:p>
        </p:txBody>
      </p:sp>
      <p:sp>
        <p:nvSpPr>
          <p:cNvPr id="5" name="H97"/>
          <p:cNvSpPr/>
          <p:nvPr/>
        </p:nvSpPr>
        <p:spPr>
          <a:xfrm>
            <a:off x="9532620" y="4709160"/>
            <a:ext cx="621792" cy="384048"/>
          </a:xfrm>
          <a:prstGeom prst="roundRect">
            <a:avLst>
              <a:gd name="adj" fmla="val 4000"/>
            </a:avLst>
          </a:prstGeom>
          <a:solidFill>
            <a:srgbClr val="7A2E0E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</a:rPr>
              <a:t>97층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6900" y="5120640"/>
            <a:ext cx="713232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B95A25"/>
                </a:solidFill>
                <a:latin typeface="Noto Sans KR"/>
                <a:ea typeface="Noto Sans KR"/>
              </a:rPr>
              <a:t>2회</a:t>
            </a:r>
          </a:p>
        </p:txBody>
      </p:sp>
      <p:sp>
        <p:nvSpPr>
          <p:cNvPr id="5" name="H100"/>
          <p:cNvSpPr/>
          <p:nvPr/>
        </p:nvSpPr>
        <p:spPr>
          <a:xfrm>
            <a:off x="10296144" y="4709160"/>
            <a:ext cx="621792" cy="384048"/>
          </a:xfrm>
          <a:prstGeom prst="roundRect">
            <a:avLst>
              <a:gd name="adj" fmla="val 4000"/>
            </a:avLst>
          </a:prstGeom>
          <a:solidFill>
            <a:srgbClr val="7A2E0E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</a:rPr>
              <a:t>100층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50424" y="5120640"/>
            <a:ext cx="713232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B95A25"/>
                </a:solidFill>
                <a:latin typeface="Noto Sans KR"/>
                <a:ea typeface="Noto Sans KR"/>
              </a:rPr>
              <a:t>2회</a:t>
            </a:r>
          </a:p>
        </p:txBody>
      </p:sp>
      <p:sp>
        <p:nvSpPr>
          <p:cNvPr id="5" name="Card"/>
          <p:cNvSpPr/>
          <p:nvPr/>
        </p:nvSpPr>
        <p:spPr>
          <a:xfrm>
            <a:off x="1133856" y="5486400"/>
            <a:ext cx="9930384" cy="566928"/>
          </a:xfrm>
          <a:prstGeom prst="roundRect">
            <a:avLst>
              <a:gd name="adj" fmla="val 4000"/>
            </a:avLst>
          </a:prstGeom>
          <a:solidFill>
            <a:srgbClr val="FBE3D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43584" y="5522976"/>
            <a:ext cx="9692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확정 근거: </a:t>
            </a: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초기 요구사항 '허들은 2~3회 도전으로 1층 갱신'을 지키도록 +2 = 1회, +3 = 2회(도전 3회 이내)로 정했다. 이 값은 성장 계수 표만으로 보장되지 않으며 성장 공급 설계에서 맞춘다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주요 층 요구량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검증 - 남은 한계와 검증 과제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"/>
          <p:cNvSpPr/>
          <p:nvPr/>
        </p:nvSpPr>
        <p:spPr>
          <a:xfrm>
            <a:off x="1133856" y="1691640"/>
            <a:ext cx="3200400" cy="11430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"/>
          <p:cNvSpPr/>
          <p:nvPr/>
        </p:nvSpPr>
        <p:spPr>
          <a:xfrm>
            <a:off x="1271016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0784" y="1801368"/>
            <a:ext cx="256032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실제 전투력 분포 부재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1016" y="2240280"/>
            <a:ext cx="2971800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5E54"/>
                </a:solidFill>
                <a:latin typeface="Noto Sans KR"/>
                <a:ea typeface="Noto Sans KR"/>
              </a:rPr>
              <a:t>기준 여유선(1.02×)은 표시용. 행동 데이터가 없어 평균 · 중앙값이 아니다</a:t>
            </a:r>
          </a:p>
        </p:txBody>
      </p:sp>
      <p:sp>
        <p:nvSpPr>
          <p:cNvPr id="8" name="Card"/>
          <p:cNvSpPr/>
          <p:nvPr/>
        </p:nvSpPr>
        <p:spPr>
          <a:xfrm>
            <a:off x="4480560" y="1691640"/>
            <a:ext cx="3200400" cy="11430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hip"/>
          <p:cNvSpPr/>
          <p:nvPr/>
        </p:nvSpPr>
        <p:spPr>
          <a:xfrm>
            <a:off x="4617720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7488" y="1801368"/>
            <a:ext cx="256032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실제 도전 횟수 미산출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240280"/>
            <a:ext cx="2971800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5E54"/>
                </a:solidFill>
                <a:latin typeface="Noto Sans KR"/>
                <a:ea typeface="Noto Sans KR"/>
              </a:rPr>
              <a:t>+2 / +3은 수요의 크기다. 실패당 +1단계 테스트의 62회 도전도 예측이 아니다 (38P)</a:t>
            </a:r>
          </a:p>
        </p:txBody>
      </p:sp>
      <p:sp>
        <p:nvSpPr>
          <p:cNvPr id="12" name="Card"/>
          <p:cNvSpPr/>
          <p:nvPr/>
        </p:nvSpPr>
        <p:spPr>
          <a:xfrm>
            <a:off x="7827264" y="1691640"/>
            <a:ext cx="3200400" cy="11430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Chip"/>
          <p:cNvSpPr/>
          <p:nvPr/>
        </p:nvSpPr>
        <p:spPr>
          <a:xfrm>
            <a:off x="7964424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1801368"/>
            <a:ext cx="256032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실제 시간 미산출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64424" y="2240280"/>
            <a:ext cx="2971800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5E54"/>
                </a:solidFill>
                <a:latin typeface="Noto Sans KR"/>
                <a:ea typeface="Noto Sans KR"/>
              </a:rPr>
              <a:t>30/180/330분은 목표치. 경제 · 오브젝트 · 이동 · 보스 · 실패 시간을 모른다</a:t>
            </a:r>
          </a:p>
        </p:txBody>
      </p:sp>
      <p:sp>
        <p:nvSpPr>
          <p:cNvPr id="16" name="Card"/>
          <p:cNvSpPr/>
          <p:nvPr/>
        </p:nvSpPr>
        <p:spPr>
          <a:xfrm>
            <a:off x="1133856" y="2944368"/>
            <a:ext cx="3200400" cy="11430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hip"/>
          <p:cNvSpPr/>
          <p:nvPr/>
        </p:nvSpPr>
        <p:spPr>
          <a:xfrm>
            <a:off x="1271016" y="30815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3C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0784" y="3054096"/>
            <a:ext cx="256032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재시작 시간 비교 미산출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1016" y="3493008"/>
            <a:ext cx="2971800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5E54"/>
                </a:solidFill>
                <a:latin typeface="Noto Sans KR"/>
                <a:ea typeface="Noto Sans KR"/>
              </a:rPr>
              <a:t>전투력상 최고 허용층 시작이 우세. 시간 포함 비교는 파괴 시간 확정 후</a:t>
            </a:r>
          </a:p>
        </p:txBody>
      </p:sp>
      <p:sp>
        <p:nvSpPr>
          <p:cNvPr id="20" name="Card"/>
          <p:cNvSpPr/>
          <p:nvPr/>
        </p:nvSpPr>
        <p:spPr>
          <a:xfrm>
            <a:off x="4480560" y="2944368"/>
            <a:ext cx="3200400" cy="11430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hip"/>
          <p:cNvSpPr/>
          <p:nvPr/>
        </p:nvSpPr>
        <p:spPr>
          <a:xfrm>
            <a:off x="4617720" y="30815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3C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7488" y="3054096"/>
            <a:ext cx="256032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보스 별도 배율 없음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493008"/>
            <a:ext cx="2971800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5E54"/>
                </a:solidFill>
                <a:latin typeface="Noto Sans KR"/>
                <a:ea typeface="Noto Sans KR"/>
              </a:rPr>
              <a:t>보스 층 여부만 기록. 체력 · 패턴 · 시간 · 추가 요구 배율은 미정의</a:t>
            </a:r>
          </a:p>
        </p:txBody>
      </p:sp>
      <p:sp>
        <p:nvSpPr>
          <p:cNvPr id="24" name="Card"/>
          <p:cNvSpPr/>
          <p:nvPr/>
        </p:nvSpPr>
        <p:spPr>
          <a:xfrm>
            <a:off x="7827264" y="2944368"/>
            <a:ext cx="3200400" cy="11430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Chip"/>
          <p:cNvSpPr/>
          <p:nvPr/>
        </p:nvSpPr>
        <p:spPr>
          <a:xfrm>
            <a:off x="7964424" y="30815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3C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3054096"/>
            <a:ext cx="256032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단계 단위의 임의성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64424" y="3493008"/>
            <a:ext cx="2971800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5E54"/>
                </a:solidFill>
                <a:latin typeface="Noto Sans KR"/>
                <a:ea typeface="Noto Sans KR"/>
              </a:rPr>
              <a:t>×1.3은 기획용 척도. 실제 강화 간격과 같을 필요는 없다</a:t>
            </a:r>
          </a:p>
        </p:txBody>
      </p:sp>
      <p:sp>
        <p:nvSpPr>
          <p:cNvPr id="28" name="Card"/>
          <p:cNvSpPr/>
          <p:nvPr/>
        </p:nvSpPr>
        <p:spPr>
          <a:xfrm>
            <a:off x="1133856" y="4197096"/>
            <a:ext cx="3200400" cy="11430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Chip"/>
          <p:cNvSpPr/>
          <p:nvPr/>
        </p:nvSpPr>
        <p:spPr>
          <a:xfrm>
            <a:off x="1271016" y="433425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3C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306824"/>
            <a:ext cx="256032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대표 경로의 경계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71016" y="4745736"/>
            <a:ext cx="2971800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5E54"/>
                </a:solidFill>
                <a:latin typeface="Noto Sans KR"/>
                <a:ea typeface="Noto Sans KR"/>
              </a:rPr>
              <a:t>도전마다 신기록 1층 가정 · 71→72층 시작층 60→66. 요구치 증가 ≠ 체감 난이도</a:t>
            </a:r>
          </a:p>
        </p:txBody>
      </p:sp>
      <p:sp>
        <p:nvSpPr>
          <p:cNvPr id="32" name="Card"/>
          <p:cNvSpPr/>
          <p:nvPr/>
        </p:nvSpPr>
        <p:spPr>
          <a:xfrm>
            <a:off x="4480560" y="4197096"/>
            <a:ext cx="3200400" cy="11430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Chip"/>
          <p:cNvSpPr/>
          <p:nvPr/>
        </p:nvSpPr>
        <p:spPr>
          <a:xfrm>
            <a:off x="4617720" y="433425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3C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4306824"/>
            <a:ext cx="256032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목표 곡선 ≠ 실제 난이도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4745736"/>
            <a:ext cx="2971800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5E54"/>
                </a:solidFill>
                <a:latin typeface="Noto Sans KR"/>
                <a:ea typeface="Noto Sans KR"/>
              </a:rPr>
              <a:t>요구치의 엄격한 증가가 체감 난이도 · 의도한 허들 패턴을 보장하지 않는다</a:t>
            </a:r>
          </a:p>
        </p:txBody>
      </p:sp>
      <p:sp>
        <p:nvSpPr>
          <p:cNvPr id="36" name="Card"/>
          <p:cNvSpPr/>
          <p:nvPr/>
        </p:nvSpPr>
        <p:spPr>
          <a:xfrm>
            <a:off x="7827264" y="4197096"/>
            <a:ext cx="3200400" cy="11430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Chip"/>
          <p:cNvSpPr/>
          <p:nvPr/>
        </p:nvSpPr>
        <p:spPr>
          <a:xfrm>
            <a:off x="7964424" y="433425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3C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4192" y="4306824"/>
            <a:ext cx="256032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판정 시점 · 전부 파괴 기준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64424" y="4745736"/>
            <a:ext cx="2971800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5E54"/>
                </a:solidFill>
                <a:latin typeface="Noto Sans KR"/>
                <a:ea typeface="Noto Sans KR"/>
              </a:rPr>
              <a:t>파괴 완료 직후 판정 기준. 판정 시점 · 부분 파괴를 바꾸면 R_f 재산출</a:t>
            </a:r>
          </a:p>
        </p:txBody>
      </p:sp>
      <p:sp>
        <p:nvSpPr>
          <p:cNvPr id="40" name="Card"/>
          <p:cNvSpPr/>
          <p:nvPr/>
        </p:nvSpPr>
        <p:spPr>
          <a:xfrm>
            <a:off x="1133856" y="5532120"/>
            <a:ext cx="9930384" cy="548640"/>
          </a:xfrm>
          <a:prstGeom prst="roundRect">
            <a:avLst>
              <a:gd name="adj" fmla="val 4000"/>
            </a:avLst>
          </a:prstGeom>
          <a:solidFill>
            <a:srgbClr val="FBE3D3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316736" y="5550408"/>
            <a:ext cx="960120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지금 확정하는 것은 성장 수요의 기준선이다.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이후 별도의 성장 시스템이 이 기준선을 어떤 속도로 충족할지 설계한다.</a:t>
            </a:r>
          </a:p>
        </p:txBody>
      </p: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핵심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지금 확정한 것은 성장 수요의 기준선이다 — 아래 9가지는 성장 시스템이 정해진 뒤 검증한다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결론과 다음 단계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반영 결과 - 주요 층의 성장 요구량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133856" y="1664208"/>
          <a:ext cx="9930383" cy="46524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94360"/>
                <a:gridCol w="685800"/>
                <a:gridCol w="594360"/>
                <a:gridCol w="868680"/>
                <a:gridCol w="1691640"/>
                <a:gridCol w="1325880"/>
                <a:gridCol w="4169663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3C2D23"/>
                      </a:solidFill>
                    </a:lnL>
                    <a:lnR w="12700" cap="flat" cmpd="sng" algn="ctr">
                      <a:solidFill>
                        <a:srgbClr val="3C2D23"/>
                      </a:solidFill>
                    </a:lnR>
                    <a:lnT w="12700" cap="flat" cmpd="sng" algn="ctr">
                      <a:solidFill>
                        <a:srgbClr val="3C2D23"/>
                      </a:solidFill>
                    </a:lnT>
                    <a:lnB w="12700" cap="flat" cmpd="sng" algn="ctr">
                      <a:solidFill>
                        <a:srgbClr val="3C2D23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구간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3C2D23"/>
                      </a:solidFill>
                    </a:lnL>
                    <a:lnR w="12700" cap="flat" cmpd="sng" algn="ctr">
                      <a:solidFill>
                        <a:srgbClr val="3C2D23"/>
                      </a:solidFill>
                    </a:lnR>
                    <a:lnT w="12700" cap="flat" cmpd="sng" algn="ctr">
                      <a:solidFill>
                        <a:srgbClr val="3C2D23"/>
                      </a:solidFill>
                    </a:lnT>
                    <a:lnB w="12700" cap="flat" cmpd="sng" algn="ctr">
                      <a:solidFill>
                        <a:srgbClr val="3C2D23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추가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3C2D23"/>
                      </a:solidFill>
                    </a:lnL>
                    <a:lnR w="12700" cap="flat" cmpd="sng" algn="ctr">
                      <a:solidFill>
                        <a:srgbClr val="3C2D23"/>
                      </a:solidFill>
                    </a:lnR>
                    <a:lnT w="12700" cap="flat" cmpd="sng" algn="ctr">
                      <a:solidFill>
                        <a:srgbClr val="3C2D23"/>
                      </a:solidFill>
                    </a:lnT>
                    <a:lnB w="12700" cap="flat" cmpd="sng" algn="ctr">
                      <a:solidFill>
                        <a:srgbClr val="3C2D23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누적 단계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3C2D23"/>
                      </a:solidFill>
                    </a:lnL>
                    <a:lnR w="12700" cap="flat" cmpd="sng" algn="ctr">
                      <a:solidFill>
                        <a:srgbClr val="3C2D23"/>
                      </a:solidFill>
                    </a:lnR>
                    <a:lnT w="12700" cap="flat" cmpd="sng" algn="ctr">
                      <a:solidFill>
                        <a:srgbClr val="3C2D23"/>
                      </a:solidFill>
                    </a:lnT>
                    <a:lnB w="12700" cap="flat" cmpd="sng" algn="ctr">
                      <a:solidFill>
                        <a:srgbClr val="3C2D23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필요 성장 계수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3C2D23"/>
                      </a:solidFill>
                    </a:lnL>
                    <a:lnR w="12700" cap="flat" cmpd="sng" algn="ctr">
                      <a:solidFill>
                        <a:srgbClr val="3C2D23"/>
                      </a:solidFill>
                    </a:lnR>
                    <a:lnT w="12700" cap="flat" cmpd="sng" algn="ctr">
                      <a:solidFill>
                        <a:srgbClr val="3C2D23"/>
                      </a:solidFill>
                    </a:lnT>
                    <a:lnB w="12700" cap="flat" cmpd="sng" algn="ctr">
                      <a:solidFill>
                        <a:srgbClr val="3C2D23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요구 전투력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3C2D23"/>
                      </a:solidFill>
                    </a:lnL>
                    <a:lnR w="12700" cap="flat" cmpd="sng" algn="ctr">
                      <a:solidFill>
                        <a:srgbClr val="3C2D23"/>
                      </a:solidFill>
                    </a:lnR>
                    <a:lnT w="12700" cap="flat" cmpd="sng" algn="ctr">
                      <a:solidFill>
                        <a:srgbClr val="3C2D23"/>
                      </a:solidFill>
                    </a:lnT>
                    <a:lnB w="12700" cap="flat" cmpd="sng" algn="ctr">
                      <a:solidFill>
                        <a:srgbClr val="3C2D23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배치 이유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3C2D23"/>
                      </a:solidFill>
                    </a:lnL>
                    <a:lnR w="12700" cap="flat" cmpd="sng" algn="ctr">
                      <a:solidFill>
                        <a:srgbClr val="3C2D23"/>
                      </a:solidFill>
                    </a:lnR>
                    <a:lnT w="12700" cap="flat" cmpd="sng" algn="ctr">
                      <a:solidFill>
                        <a:srgbClr val="3C2D23"/>
                      </a:solidFill>
                    </a:lnT>
                    <a:lnB w="12700" cap="flat" cmpd="sng" algn="ctr">
                      <a:solidFill>
                        <a:srgbClr val="3C2D23"/>
                      </a:solidFill>
                    </a:lnB>
                    <a:solidFill>
                      <a:srgbClr val="3C2D23"/>
                    </a:solidFill>
                  </a:tcPr>
                </a:tc>
              </a:tr>
              <a:tr h="2304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×1.000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시작 전투력 1 정규화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04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+2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×4.827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7.832k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초반 종료 허들 · 성장 규칙 학습의 마무리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04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+2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×17.922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2.797m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 첫 점검 관문 (15층에서 10층 뒤)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04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+2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×86.504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12.729b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가장 긴 연속 갱신 구간의 끝 · 10층 주기 점검 시작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04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+2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×321.184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4.545t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10층 주기 점검 (중반 절반 지점)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04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+2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×1,192.533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1.623aa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10층 주기 점검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04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+2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×4,427.793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579.367aa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 진입 직전 마지막 점검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04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×5,756.130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1.189ab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 진입 +1단계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04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×5,756.130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1.808ab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 재시작 규칙(기록−5) 적용 시작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04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+3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7A2E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×12,646.219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6.27ab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 첫 +3 · 75층 돌파 확인 관문의 예고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04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×12,646.219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15.628ab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돌파 확인 관문 (73층 허들 직후)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04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+3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7A2E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×36,118.865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175.621ab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두 번째 +3 · 80층과 연속 압박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04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+3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7A2E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×79,353.146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961.631ab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 초입 최대 관문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04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×103,159.090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1.974ac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완화 구간 시작 (중반 속도로 복귀)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04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×134,106.817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15.937ac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회복형 관문 (최종 연전 전 숨 고르기)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04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+3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7A2E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×383,022.479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446.349ac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최종 연전 시작 +3단계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04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+3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7A2E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×1,093,950.503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7.919ad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특수 보스 +3단계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04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+3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7A2E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×3,124,432.031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88.987ad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특수 보스 +3단계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04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+3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7A2E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×8,923,690.325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1ae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최종 보스 및 1ae 경계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핵심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구간 경계 · 허들 · 보스 층의 요구량과 배치 이유를 한 표로 확인한다 (100개 층 전체는 부록)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⑥ 검증 장 시작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부록 - 1~100층 전체 목표표 (1~25층)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1133856" y="1481328"/>
          <a:ext cx="9930384" cy="461313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02920"/>
                <a:gridCol w="566928"/>
                <a:gridCol w="566928"/>
                <a:gridCol w="603504"/>
                <a:gridCol w="603504"/>
                <a:gridCol w="713232"/>
                <a:gridCol w="548640"/>
                <a:gridCol w="548640"/>
                <a:gridCol w="1572768"/>
                <a:gridCol w="1417320"/>
                <a:gridCol w="1417320"/>
                <a:gridCol w="868680"/>
              </a:tblGrid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구간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보스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유형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난이도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시작층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추가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누적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예상 성장 계수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요구 전투력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예상 최종 (P_f)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재시작 목표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시작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×1.000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1.02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×1.000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2.579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2.63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×1.000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5.071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5.172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×1.300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11.707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11.941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보스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×1.300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19.782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20.178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×1.300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32.53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33.181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×1.690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68.453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69.822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×1.690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109.757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111.952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×1.690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174.963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178.462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보스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×2.197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361.276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368.502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×2.197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572.545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583.996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×2.197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906.076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924.198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×2.856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1.86k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1.897k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×2.856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2.936k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2.994k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보스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+2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×4.827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7.832k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7.989k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1회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×6.275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16.075k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16.396k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×6.275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25.377k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25.885k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×6.275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40.063k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40.864k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×8.157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82.221k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83.866k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보스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×8.157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129.803k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132.399k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×8.157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204.921k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209.019k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×10.604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420.562k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428.974k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×10.604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663.943k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677.222k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×10.604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1.048m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1.069m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보스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+2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×17.922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2.797m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2.852m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1회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3856" y="6126480"/>
            <a:ext cx="9930384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시작층 = 직전 최고 기록 f−1에서 허용된 최고층 · P_f = 요구 × 1.02(기준 여유선, 실측 예측 아님) · 재시작 목표 = 첫 클리어 전 그 층에서 막혀 다시 시작하는 횟수 · 난이도 = 설계 등급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다음 표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부록 - 1~100층 전체 목표표 (26~50층)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1133856" y="1481328"/>
          <a:ext cx="9930384" cy="461313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02920"/>
                <a:gridCol w="566928"/>
                <a:gridCol w="566928"/>
                <a:gridCol w="603504"/>
                <a:gridCol w="603504"/>
                <a:gridCol w="713232"/>
                <a:gridCol w="548640"/>
                <a:gridCol w="548640"/>
                <a:gridCol w="1572768"/>
                <a:gridCol w="1417320"/>
                <a:gridCol w="1417320"/>
                <a:gridCol w="868680"/>
              </a:tblGrid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구간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보스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유형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난이도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시작층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추가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누적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예상 성장 계수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요구 전투력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예상 최종 (P_f)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재시작 목표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×17.922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4.415m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4.503m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×17.922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6.97m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7.109m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×23.298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14.304m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14.59m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×23.298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22.582m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23.034m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보스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×23.298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35.65m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36.363m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×30.288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73.166m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74.629m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×30.288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115.507m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117.817m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×30.288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182.352m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185.999m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×39.374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374.243m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381.728m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보스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×39.374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590.819m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602.635m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×39.374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932.728m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951.382m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×51.186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1.914b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1.953b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×51.186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3.022b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3.082b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×51.186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4.771b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4.866b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보스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+2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×86.504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12.729b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12.983b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1회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×86.504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20.095b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20.497b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×86.504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31.724b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32.358b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×112.455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65.108b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66.41b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×112.455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102.786b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104.841b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보스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×112.455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162.268b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165.513b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×146.192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333.025b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339.686b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×146.192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525.748b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536.263b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×146.192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830b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846.6b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×190.050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1.703t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1.737t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보스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+2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×321.184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4.545t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4.636t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1회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3856" y="6126480"/>
            <a:ext cx="9930384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시작층 = 직전 최고 기록 f−1에서 허용된 최고층 · P_f = 요구 × 1.02(기준 여유선, 실측 예측 아님) · 재시작 목표 = 첫 클리어 전 그 층에서 막혀 다시 시작하는 횟수 · 난이도 = 설계 등급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다음 표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부록 - 1~100층 전체 목표표 (51~75층)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1133856" y="1481328"/>
          <a:ext cx="9930384" cy="461313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02920"/>
                <a:gridCol w="566928"/>
                <a:gridCol w="566928"/>
                <a:gridCol w="603504"/>
                <a:gridCol w="603504"/>
                <a:gridCol w="713232"/>
                <a:gridCol w="548640"/>
                <a:gridCol w="548640"/>
                <a:gridCol w="1572768"/>
                <a:gridCol w="1417320"/>
                <a:gridCol w="1417320"/>
                <a:gridCol w="868680"/>
              </a:tblGrid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구간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보스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유형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난이도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시작층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추가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누적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예상 성장 계수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요구 전투력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예상 최종 (P_f)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재시작 목표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×321.184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7.175t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7.318t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×417.539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14.725t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15.019t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×417.539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23.246t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23.711t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×417.539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36.699t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37.433t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보스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×542.801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75.318t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76.824t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×542.801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118.905t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121.283t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×542.801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187.715t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191.47t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×705.641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385.251t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392.956t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×705.641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608.197t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620.361t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보스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+2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×1,192.533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1.623aa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1.655aa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1회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×1,550.293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3.33aa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3.397aa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×1,550.293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5.257aa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5.363aa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×1,550.293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8.3aa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8.466aa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×2,015.381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17.034aa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17.375aa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보스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×2,015.381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26.892aa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27.43aa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×2,015.381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42.454aa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43.303aa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×2,619.996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87.13aa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88.872aa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×2,619.996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137.552aa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140.303aa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×2,619.996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217.153aa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221.496aa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보스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+2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×4,427.793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579.367aa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590.955aa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1회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×5,756.130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1.189ab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1.213ab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×5,756.130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1.808ab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1.844ab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+3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7A2E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×12,646.219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6.27ab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6.396ab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2회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×12,646.219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9.899ab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10.097ab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보스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×12,646.219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15.628ab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15.941ab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3856" y="6126480"/>
            <a:ext cx="9930384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시작층 = 직전 최고 기록 f−1에서 허용된 최고층 · P_f = 요구 × 1.02(기준 여유선, 실측 예측 아님) · 재시작 목표 = 첫 클리어 전 그 층에서 막혀 다시 시작하는 횟수 · 난이도 = 설계 등급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다음 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부록 - 1~100층 전체 목표표 (76~100층)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1133856" y="1481328"/>
          <a:ext cx="9930384" cy="461313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02920"/>
                <a:gridCol w="566928"/>
                <a:gridCol w="566928"/>
                <a:gridCol w="603504"/>
                <a:gridCol w="603504"/>
                <a:gridCol w="713232"/>
                <a:gridCol w="548640"/>
                <a:gridCol w="548640"/>
                <a:gridCol w="1572768"/>
                <a:gridCol w="1417320"/>
                <a:gridCol w="1417320"/>
                <a:gridCol w="868680"/>
              </a:tblGrid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구간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보스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유형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난이도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시작층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추가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누적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예상 성장 계수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요구 전투력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예상 최종 (P_f)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재시작 목표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×16,440.084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32.073ab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32.715ab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×16,440.084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50.635ab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51.647ab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+3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7A2E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×36,118.865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175.621ab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179.134ab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2회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×36,118.865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277.254ab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282.799ab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보스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+3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7A2E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×79,353.146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961.631ab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980.864ab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2회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×103,159.090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1.974ac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2.013ac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×103,159.090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3.116ac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3.178ac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×103,159.090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4.919ac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5.017ac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×134,106.817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10.095ac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10.297ac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보스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×134,106.817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15.937ac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16.255ac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×134,106.817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25.159ac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25.662ac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×174,338.862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51.635ac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52.668ac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×174,338.862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81.516ac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83.146ac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×174,338.862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128.69ac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131.263ac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보스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+3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7A2E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×383,022.479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446.349ac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455.276ac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2회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×497,929.223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916.048ac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934.369ac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×497,929.223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1.446ad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1.475ad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×497,929.223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2.283ad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2.329ad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보스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+3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7A2E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×1,093,950.503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7.919ad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8.077ad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2회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×1,422,135.654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16.252ad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16.577ad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×1,422,135.654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25.656ad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26.169ad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보스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+3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7A2E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×3,124,432.031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88.987ad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90.766ad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2회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+1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3B5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×4,061,761.641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182.629ad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186.281ad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+0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×4,061,761.641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288.316ad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294.083ad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0회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465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보스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+3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7A2E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×8,923,690.325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1ae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1.02ae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B95A25"/>
                          </a:solidFill>
                          <a:latin typeface="Noto Sans KR"/>
                          <a:ea typeface="Noto Sans KR"/>
                        </a:rPr>
                        <a:t>2회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E3D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3856" y="6126480"/>
            <a:ext cx="9930384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시작층 = 직전 최고 기록 f−1에서 허용된 최고층 · P_f = 요구 × 1.02(기준 여유선, 실측 예측 아님) · 재시작 목표 = 첫 클리어 전 그 층에서 막혀 다시 시작하는 횟수 · 난이도 = 설계 등급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부록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검증 - 조건부 재도전 시뮬레이션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목적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성장 공급이 없는 상태에서 목표 재시작 횟수가 저절로 보장되는지 단위 테스트로 확인한다</a:t>
            </a:r>
          </a:p>
        </p:txBody>
      </p:sp>
      <p:sp>
        <p:nvSpPr>
          <p:cNvPr id="5" name="Card"/>
          <p:cNvSpPr/>
          <p:nvPr/>
        </p:nvSpPr>
        <p:spPr>
          <a:xfrm>
            <a:off x="1133856" y="178308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280160" y="1874519"/>
            <a:ext cx="3017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0000"/>
                </a:solidFill>
                <a:latin typeface="Noto Sans KR"/>
                <a:ea typeface="Noto Sans KR"/>
              </a:rPr>
              <a:t>임시 비교 가정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86000"/>
            <a:ext cx="306324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Noto Sans KR"/>
                <a:ea typeface="Noto Sans KR"/>
              </a:rPr>
              <a:t>매 도전은 허용된 가장 높은 층에서 시작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Noto Sans KR"/>
                <a:ea typeface="Noto Sans KR"/>
              </a:rPr>
              <a:t>건너뛴 층의 보상은 받지 않음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Noto Sans KR"/>
                <a:ea typeface="Noto Sans KR"/>
              </a:rPr>
              <a:t>층 보상을 전부 얻은 뒤 요구치 미달이면 그 층에서 종료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200" b="1" i="0">
                <a:solidFill>
                  <a:srgbClr val="B95A25"/>
                </a:solidFill>
                <a:latin typeface="Noto Sans KR"/>
                <a:ea typeface="Noto Sans KR"/>
              </a:rPr>
              <a:t>실패할 때마다 영구 성장 +1단계 (×1.3)</a:t>
            </a:r>
          </a:p>
        </p:txBody>
      </p:sp>
      <p:graphicFrame>
        <p:nvGraphicFramePr>
          <p:cNvPr id="8" name="Chart"/>
          <p:cNvGraphicFramePr>
            <a:graphicFrameLocks noGrp="1"/>
          </p:cNvGraphicFramePr>
          <p:nvPr/>
        </p:nvGraphicFramePr>
        <p:xfrm>
          <a:off x="4617720" y="1783080"/>
          <a:ext cx="644652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ard"/>
          <p:cNvSpPr/>
          <p:nvPr/>
        </p:nvSpPr>
        <p:spPr>
          <a:xfrm>
            <a:off x="1133856" y="4709160"/>
            <a:ext cx="1828800" cy="86868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33856" y="4727448"/>
            <a:ext cx="1828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0" i="0">
                <a:solidFill>
                  <a:srgbClr val="000000"/>
                </a:solidFill>
                <a:latin typeface="Noto Sans KR Black"/>
                <a:ea typeface="Noto Sans KR Black"/>
              </a:rPr>
              <a:t>7</a:t>
            </a: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번째 도전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193792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15층 첫 돌파 · 6단계</a:t>
            </a:r>
          </a:p>
        </p:txBody>
      </p:sp>
      <p:sp>
        <p:nvSpPr>
          <p:cNvPr id="5" name="Card"/>
          <p:cNvSpPr/>
          <p:nvPr/>
        </p:nvSpPr>
        <p:spPr>
          <a:xfrm>
            <a:off x="3159252" y="4709160"/>
            <a:ext cx="1828800" cy="86868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59252" y="4727448"/>
            <a:ext cx="1828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0" i="0">
                <a:solidFill>
                  <a:srgbClr val="000000"/>
                </a:solidFill>
                <a:latin typeface="Noto Sans KR Black"/>
                <a:ea typeface="Noto Sans KR Black"/>
              </a:rPr>
              <a:t>33</a:t>
            </a: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번째 도전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9252" y="5193792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70층 첫 돌파 · 32단계</a:t>
            </a:r>
          </a:p>
        </p:txBody>
      </p:sp>
      <p:sp>
        <p:nvSpPr>
          <p:cNvPr id="5" name="Card"/>
          <p:cNvSpPr/>
          <p:nvPr/>
        </p:nvSpPr>
        <p:spPr>
          <a:xfrm>
            <a:off x="5184648" y="4709160"/>
            <a:ext cx="1828800" cy="86868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184648" y="4727448"/>
            <a:ext cx="1828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0" i="0">
                <a:solidFill>
                  <a:srgbClr val="000000"/>
                </a:solidFill>
                <a:latin typeface="Noto Sans KR Black"/>
                <a:ea typeface="Noto Sans KR Black"/>
              </a:rPr>
              <a:t>44</a:t>
            </a: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번째 도전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5193792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80층 첫 돌파 · 43단계</a:t>
            </a:r>
          </a:p>
        </p:txBody>
      </p:sp>
      <p:sp>
        <p:nvSpPr>
          <p:cNvPr id="5" name="Card"/>
          <p:cNvSpPr/>
          <p:nvPr/>
        </p:nvSpPr>
        <p:spPr>
          <a:xfrm>
            <a:off x="7210044" y="4709160"/>
            <a:ext cx="1828800" cy="86868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210044" y="4727448"/>
            <a:ext cx="1828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0" i="0">
                <a:solidFill>
                  <a:srgbClr val="000000"/>
                </a:solidFill>
                <a:latin typeface="Noto Sans KR Black"/>
                <a:ea typeface="Noto Sans KR Black"/>
              </a:rPr>
              <a:t>50</a:t>
            </a: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번째 도전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0044" y="5193792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90층 첫 돌파 · 49단계</a:t>
            </a:r>
          </a:p>
        </p:txBody>
      </p:sp>
      <p:sp>
        <p:nvSpPr>
          <p:cNvPr id="5" name="Card"/>
          <p:cNvSpPr/>
          <p:nvPr/>
        </p:nvSpPr>
        <p:spPr>
          <a:xfrm>
            <a:off x="9235440" y="4709160"/>
            <a:ext cx="1828800" cy="86868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235440" y="4727448"/>
            <a:ext cx="1828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0" i="0">
                <a:solidFill>
                  <a:srgbClr val="000000"/>
                </a:solidFill>
                <a:latin typeface="Noto Sans KR Black"/>
                <a:ea typeface="Noto Sans KR Black"/>
              </a:rPr>
              <a:t>62</a:t>
            </a: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번째 도전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5193792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100층 첫 돌파 · 61단계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5669280"/>
            <a:ext cx="9930384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총 62회 도전 = 실패 61회 = 성장 61단계. </a:t>
            </a:r>
            <a:r>
              <a:rPr sz="1200" b="0" i="0">
                <a:solidFill>
                  <a:srgbClr val="000000"/>
                </a:solidFill>
                <a:latin typeface="Noto Sans KR"/>
                <a:ea typeface="Noto Sans KR"/>
              </a:rPr>
              <a:t>실패 1회에 1단계를 주면 실패 수가 곧 단계 수가 된다 — 실제 예상 도전 횟수가 아니다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목표 vs 실패 횟수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검증 - 목표 재시작 vs 시뮬레이션 실패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목적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허들 13개 층에서 목표와 단위 테스트 결과가 어디서, 왜 어긋나는지 분리한다</a:t>
            </a:r>
          </a:p>
        </p:txBody>
      </p:sp>
      <p:graphicFrame>
        <p:nvGraphicFramePr>
          <p:cNvPr id="5" name="Chart"/>
          <p:cNvGraphicFramePr>
            <a:graphicFrameLocks noGrp="1"/>
          </p:cNvGraphicFramePr>
          <p:nvPr/>
        </p:nvGraphicFramePr>
        <p:xfrm>
          <a:off x="1133856" y="1783080"/>
          <a:ext cx="603504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3856" y="5577840"/>
            <a:ext cx="60350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md 원표에 없던 40 · 50 · 60 · 70층도 같은 결과(목표 1회 · 시뮬레이션 2회)로 확인</a:t>
            </a:r>
          </a:p>
        </p:txBody>
      </p:sp>
      <p:sp>
        <p:nvSpPr>
          <p:cNvPr id="5" name="Card"/>
          <p:cNvSpPr/>
          <p:nvPr/>
        </p:nvSpPr>
        <p:spPr>
          <a:xfrm>
            <a:off x="7360920" y="1783080"/>
            <a:ext cx="3703320" cy="11430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79792" y="1837943"/>
            <a:ext cx="1143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B95A25"/>
                </a:solidFill>
                <a:latin typeface="Noto Sans KR Black"/>
                <a:ea typeface="Noto Sans KR Black"/>
              </a:rPr>
              <a:t>12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856231"/>
            <a:ext cx="24231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허들 12개 층이 목표보다 1회 더 막힌다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79792" y="2331720"/>
            <a:ext cx="35204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+2는 2회(목표 1회), +3은 3회(목표 2회). 실패당 1단계 공급으로는 목표를 넘는다</a:t>
            </a:r>
          </a:p>
        </p:txBody>
      </p:sp>
      <p:sp>
        <p:nvSpPr>
          <p:cNvPr id="5" name="Card"/>
          <p:cNvSpPr/>
          <p:nvPr/>
        </p:nvSpPr>
        <p:spPr>
          <a:xfrm>
            <a:off x="7360920" y="3063239"/>
            <a:ext cx="3703320" cy="11430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79792" y="3118103"/>
            <a:ext cx="1143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B95A25"/>
                </a:solidFill>
                <a:latin typeface="Noto Sans KR Black"/>
                <a:ea typeface="Noto Sans KR Black"/>
              </a:rPr>
              <a:t>28 / 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136391"/>
            <a:ext cx="24231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+1 층 28개가 모두 1회씩 막힌다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9792" y="3611879"/>
            <a:ext cx="35204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목표는 0회. 도전 사이에만 성장하면 +1 수요도 실패 1회가 된다</a:t>
            </a:r>
          </a:p>
        </p:txBody>
      </p:sp>
      <p:sp>
        <p:nvSpPr>
          <p:cNvPr id="5" name="Card"/>
          <p:cNvSpPr/>
          <p:nvPr/>
        </p:nvSpPr>
        <p:spPr>
          <a:xfrm>
            <a:off x="7360920" y="4343400"/>
            <a:ext cx="3703320" cy="173736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79792" y="4398264"/>
            <a:ext cx="1143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B95A25"/>
                </a:solidFill>
                <a:latin typeface="Noto Sans KR Black"/>
                <a:ea typeface="Noto Sans KR Black"/>
              </a:rPr>
              <a:t>90층 1회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416552"/>
            <a:ext cx="24231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81층 시작층 함정이 실패를 앞으로 당긴다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4892040"/>
            <a:ext cx="35204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기록 86 → 시작 상한 81층. 81층(+1)을 첫 층으로 시작하면 그 층 보상 하나로 판정돼 요구치의 65%에 그친다. 81층에서 2회 더 막히는 동안 성장이 쌓여 90층은 1회 만에 통과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792" y="5760720"/>
            <a:ext cx="35204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00000"/>
                </a:solidFill>
                <a:latin typeface="Noto Sans KR"/>
                <a:ea typeface="Noto Sans KR"/>
              </a:rPr>
              <a:t>실패 총량(61회)은 같고, 81층으로 자리만 옮겼다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공급 속도 민감도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검증 - 플레이타임 검증 상태와 적용 판정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목적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확정된 기준과 아직 목표로만 쓰는 값을 나눠, 구현 문서에서 잘못 인용하지 않게 한다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1133856" y="1783080"/>
          <a:ext cx="5303520" cy="21396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34440"/>
                <a:gridCol w="640080"/>
                <a:gridCol w="685800"/>
                <a:gridCol w="274320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구간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목표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상태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검증에 필요한 추가 입력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3C2D2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초반 1~15층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미검증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층별 파괴 · 이동 · 로비 시간, 성장 공급 속도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 16~70층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150분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미검증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반복 시작층, 도전별 성장 및 행동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 71~100층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150분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미검증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허들 실패 횟수, 보스 시간, 성장 공급 속도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합계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330분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6B5E54"/>
                          </a:solidFill>
                          <a:latin typeface="Noto Sans KR"/>
                          <a:ea typeface="Noto Sans KR"/>
                        </a:rPr>
                        <a:t>미검증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전체 플레이 루프의 측정 또는 확정 모델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E7DFD2"/>
                      </a:solidFill>
                    </a:lnL>
                    <a:lnR w="12700" cap="flat" cmpd="sng" algn="ctr">
                      <a:solidFill>
                        <a:srgbClr val="E7DFD2"/>
                      </a:solidFill>
                    </a:lnR>
                    <a:lnT w="12700" cap="flat" cmpd="sng" algn="ctr">
                      <a:solidFill>
                        <a:srgbClr val="E7DFD2"/>
                      </a:solidFill>
                    </a:lnT>
                    <a:lnB w="12700" cap="flat" cmpd="sng" algn="ctr">
                      <a:solidFill>
                        <a:srgbClr val="E7DFD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3856" y="4069080"/>
            <a:ext cx="53035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시간값은 임의 보정 상수를 역산해 '검증 완료'로 처리하지 않는다. </a:t>
            </a: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실제 플레이타임은 층별 요구 전투력만으로 정해지지 않는다</a:t>
            </a:r>
          </a:p>
        </p:txBody>
      </p:sp>
      <p:sp>
        <p:nvSpPr>
          <p:cNvPr id="5" name="Card"/>
          <p:cNvSpPr/>
          <p:nvPr/>
        </p:nvSpPr>
        <p:spPr>
          <a:xfrm>
            <a:off x="6675120" y="1783080"/>
            <a:ext cx="4389120" cy="196596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"/>
          <p:cNvSpPr/>
          <p:nvPr/>
        </p:nvSpPr>
        <p:spPr>
          <a:xfrm>
            <a:off x="6812280" y="1901952"/>
            <a:ext cx="1188720" cy="347472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적용 가능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1901952"/>
            <a:ext cx="2880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성장 요소 설계의 기준표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2359152"/>
            <a:ext cx="416052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1~100층 상대 성장 수요 · 요구 전투력 · 누적 단계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재시작 상한 (기록−10 / 기록−5)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난이도 리듬 · 허들과 유지 층 위치</a:t>
            </a:r>
          </a:p>
        </p:txBody>
      </p:sp>
      <p:sp>
        <p:nvSpPr>
          <p:cNvPr id="5" name="Card"/>
          <p:cNvSpPr/>
          <p:nvPr/>
        </p:nvSpPr>
        <p:spPr>
          <a:xfrm>
            <a:off x="6675120" y="3886200"/>
            <a:ext cx="4389120" cy="2194560"/>
          </a:xfrm>
          <a:prstGeom prst="roundRect">
            <a:avLst>
              <a:gd name="adj" fmla="val 4000"/>
            </a:avLst>
          </a:prstGeom>
          <a:solidFill>
            <a:srgbClr val="FBE3D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"/>
          <p:cNvSpPr/>
          <p:nvPr/>
        </p:nvSpPr>
        <p:spPr>
          <a:xfrm>
            <a:off x="6812280" y="4005072"/>
            <a:ext cx="1188720" cy="347472"/>
          </a:xfrm>
          <a:prstGeom prst="roundRect">
            <a:avLst>
              <a:gd name="adj" fmla="val 4000"/>
            </a:avLst>
          </a:prstGeom>
          <a:solidFill>
            <a:srgbClr val="3C2D2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목표로만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4005072"/>
            <a:ext cx="2880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결과를 보장하지 않는 성능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4462272"/>
            <a:ext cx="4160520" cy="1600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층별 0 · 1 · 2회 재시작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유지 구간의 2~3층 연속 돌파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30 / 150 / 150분 (후반 65 · 40 · 45분)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예상 최종 전투력 = 요구치 × 102%</a:t>
            </a:r>
          </a:p>
        </p:txBody>
      </p:sp>
      <p:sp>
        <p:nvSpPr>
          <p:cNvPr id="5" name="Card"/>
          <p:cNvSpPr/>
          <p:nvPr/>
        </p:nvSpPr>
        <p:spPr>
          <a:xfrm>
            <a:off x="1133856" y="4983480"/>
            <a:ext cx="5303520" cy="109728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261872" y="5047488"/>
            <a:ext cx="5074920" cy="10058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B95A25"/>
                </a:solidFill>
                <a:latin typeface="Noto Sans KR"/>
                <a:ea typeface="Noto Sans KR"/>
              </a:rPr>
              <a:t>다음 단계: </a:t>
            </a: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성장 공급 수단과 콘텐츠 시간을 정한 뒤, 같은 시뮬레이션으로 재시작 목표 0 · 1 · 2회와 구간 시간의 오차를 다시 측정한다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남은 한계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한눈에 보기 - 이 기획서가 답하는 여섯 가지 질문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핵심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성장 시스템을 만들기 전에 '층마다 얼마나 성장해야 하는가'를 먼저 고정하고, 그 기준선을 검증까지 끌고 간다</a:t>
            </a:r>
          </a:p>
        </p:txBody>
      </p:sp>
      <p:sp>
        <p:nvSpPr>
          <p:cNvPr id="5" name="Card"/>
          <p:cNvSpPr/>
          <p:nvPr/>
        </p:nvSpPr>
        <p:spPr>
          <a:xfrm>
            <a:off x="1133856" y="1828800"/>
            <a:ext cx="1517904" cy="324612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conCircle"/>
          <p:cNvSpPr/>
          <p:nvPr/>
        </p:nvSpPr>
        <p:spPr>
          <a:xfrm>
            <a:off x="1536192" y="1965960"/>
            <a:ext cx="713232" cy="71323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con FaBullseye" descr="FaBullsey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367" y="2137135"/>
            <a:ext cx="370880" cy="370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" y="2743200"/>
            <a:ext cx="1517904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9576" y="3090672"/>
            <a:ext cx="1426463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B95A25"/>
                </a:solidFill>
                <a:latin typeface="Noto Sans KR"/>
                <a:ea typeface="Noto Sans KR"/>
              </a:rPr>
              <a:t>왜 필요한가?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456432"/>
            <a:ext cx="137160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성장 시스템보다 먼저, 층마다 필요한 성장량을 독립 목표로 고정한다</a:t>
            </a:r>
          </a:p>
        </p:txBody>
      </p:sp>
      <p:sp>
        <p:nvSpPr>
          <p:cNvPr id="11" name="Arrow"/>
          <p:cNvSpPr/>
          <p:nvPr/>
        </p:nvSpPr>
        <p:spPr>
          <a:xfrm>
            <a:off x="2642616" y="3291840"/>
            <a:ext cx="182880" cy="237744"/>
          </a:xfrm>
          <a:prstGeom prst="rightArrow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"/>
          <p:cNvSpPr/>
          <p:nvPr/>
        </p:nvSpPr>
        <p:spPr>
          <a:xfrm>
            <a:off x="2816352" y="1828800"/>
            <a:ext cx="1517904" cy="324612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IconCircle"/>
          <p:cNvSpPr/>
          <p:nvPr/>
        </p:nvSpPr>
        <p:spPr>
          <a:xfrm>
            <a:off x="3218688" y="1965960"/>
            <a:ext cx="713232" cy="713232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Icon FaGamepad" descr="FaGamepa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863" y="2137135"/>
            <a:ext cx="370880" cy="370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816352" y="2743200"/>
            <a:ext cx="1517904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2072" y="3090672"/>
            <a:ext cx="1426463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B95A25"/>
                </a:solidFill>
                <a:latin typeface="Noto Sans KR"/>
                <a:ea typeface="Noto Sans KR"/>
              </a:rPr>
              <a:t>어떤 구조인가?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9504" y="3456432"/>
            <a:ext cx="137160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반복 도전 · 재시작 상한 · ×1.3 성장 단계로 진행을 표현한다</a:t>
            </a:r>
          </a:p>
        </p:txBody>
      </p:sp>
      <p:sp>
        <p:nvSpPr>
          <p:cNvPr id="17" name="Arrow"/>
          <p:cNvSpPr/>
          <p:nvPr/>
        </p:nvSpPr>
        <p:spPr>
          <a:xfrm>
            <a:off x="4325112" y="3291840"/>
            <a:ext cx="182880" cy="237744"/>
          </a:xfrm>
          <a:prstGeom prst="rightArrow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"/>
          <p:cNvSpPr/>
          <p:nvPr/>
        </p:nvSpPr>
        <p:spPr>
          <a:xfrm>
            <a:off x="4498848" y="1828800"/>
            <a:ext cx="1517904" cy="324612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IconCircle"/>
          <p:cNvSpPr/>
          <p:nvPr/>
        </p:nvSpPr>
        <p:spPr>
          <a:xfrm>
            <a:off x="4901183" y="1965960"/>
            <a:ext cx="713232" cy="71323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Icon FaLightbulb" descr="FaLightbulb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359" y="2137135"/>
            <a:ext cx="370880" cy="3708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498848" y="2743200"/>
            <a:ext cx="1517904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3090672"/>
            <a:ext cx="1426463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B95A25"/>
                </a:solidFill>
                <a:latin typeface="Noto Sans KR"/>
                <a:ea typeface="Noto Sans KR"/>
              </a:rPr>
              <a:t>왜 이 값인가?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456432"/>
            <a:ext cx="137160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100층 · 1→1ae · 구간 · 보스 · 허들 리듬을 경험 목표에서 정했다</a:t>
            </a:r>
          </a:p>
        </p:txBody>
      </p:sp>
      <p:sp>
        <p:nvSpPr>
          <p:cNvPr id="23" name="Arrow"/>
          <p:cNvSpPr/>
          <p:nvPr/>
        </p:nvSpPr>
        <p:spPr>
          <a:xfrm>
            <a:off x="6007608" y="3291840"/>
            <a:ext cx="182880" cy="237744"/>
          </a:xfrm>
          <a:prstGeom prst="rightArrow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"/>
          <p:cNvSpPr/>
          <p:nvPr/>
        </p:nvSpPr>
        <p:spPr>
          <a:xfrm>
            <a:off x="6181344" y="1828800"/>
            <a:ext cx="1517904" cy="324612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IconCircle"/>
          <p:cNvSpPr/>
          <p:nvPr/>
        </p:nvSpPr>
        <p:spPr>
          <a:xfrm>
            <a:off x="6583680" y="1965960"/>
            <a:ext cx="713232" cy="713232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Icon FaCalculator" descr="FaCalculato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4855" y="2137135"/>
            <a:ext cx="370880" cy="370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181344" y="2743200"/>
            <a:ext cx="1517904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7064" y="3090672"/>
            <a:ext cx="1426463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B95A25"/>
                </a:solidFill>
                <a:latin typeface="Noto Sans KR"/>
                <a:ea typeface="Noto Sans KR"/>
              </a:rPr>
              <a:t>어떻게 계산하나?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3456432"/>
            <a:ext cx="137160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R_f = G_f × A(s_f, f). 1ae 조건에서 q를 역산한다</a:t>
            </a:r>
          </a:p>
        </p:txBody>
      </p:sp>
      <p:sp>
        <p:nvSpPr>
          <p:cNvPr id="29" name="Arrow"/>
          <p:cNvSpPr/>
          <p:nvPr/>
        </p:nvSpPr>
        <p:spPr>
          <a:xfrm>
            <a:off x="7690104" y="3291840"/>
            <a:ext cx="182880" cy="237744"/>
          </a:xfrm>
          <a:prstGeom prst="rightArrow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"/>
          <p:cNvSpPr/>
          <p:nvPr/>
        </p:nvSpPr>
        <p:spPr>
          <a:xfrm>
            <a:off x="7863840" y="1828800"/>
            <a:ext cx="1517904" cy="324612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IconCircle"/>
          <p:cNvSpPr/>
          <p:nvPr/>
        </p:nvSpPr>
        <p:spPr>
          <a:xfrm>
            <a:off x="8266175" y="1965960"/>
            <a:ext cx="713232" cy="71323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Icon FaChartLine" descr="FaChartLin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7351" y="2137135"/>
            <a:ext cx="370880" cy="3708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63840" y="2743200"/>
            <a:ext cx="1517904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3090672"/>
            <a:ext cx="1426463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B95A25"/>
                </a:solidFill>
                <a:latin typeface="Noto Sans KR"/>
                <a:ea typeface="Noto Sans KR"/>
              </a:rPr>
              <a:t>어디에 들어가나?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3456432"/>
            <a:ext cx="137160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100개 층의 요구 전투력 · 난이도 · 재시작 · 시간 목표</a:t>
            </a:r>
          </a:p>
        </p:txBody>
      </p:sp>
      <p:sp>
        <p:nvSpPr>
          <p:cNvPr id="35" name="Arrow"/>
          <p:cNvSpPr/>
          <p:nvPr/>
        </p:nvSpPr>
        <p:spPr>
          <a:xfrm>
            <a:off x="9372600" y="3291840"/>
            <a:ext cx="182880" cy="237744"/>
          </a:xfrm>
          <a:prstGeom prst="rightArrow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"/>
          <p:cNvSpPr/>
          <p:nvPr/>
        </p:nvSpPr>
        <p:spPr>
          <a:xfrm>
            <a:off x="9546336" y="1828800"/>
            <a:ext cx="1517904" cy="324612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IconCircle"/>
          <p:cNvSpPr/>
          <p:nvPr/>
        </p:nvSpPr>
        <p:spPr>
          <a:xfrm>
            <a:off x="9948672" y="1965960"/>
            <a:ext cx="713232" cy="713232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con FaClipboardCheck" descr="FaClipboardCheck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9847" y="2137135"/>
            <a:ext cx="370880" cy="3708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546336" y="2743200"/>
            <a:ext cx="1517904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92056" y="3090672"/>
            <a:ext cx="1426463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B95A25"/>
                </a:solidFill>
                <a:latin typeface="Noto Sans KR"/>
                <a:ea typeface="Noto Sans KR"/>
              </a:rPr>
              <a:t>정말 되는가?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19488" y="3456432"/>
            <a:ext cx="137160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수학 검증은 통과. 재시작 · 시간은 성장 공급 설계 후 재검증</a:t>
            </a:r>
          </a:p>
        </p:txBody>
      </p:sp>
      <p:sp>
        <p:nvSpPr>
          <p:cNvPr id="5" name="Card"/>
          <p:cNvSpPr/>
          <p:nvPr/>
        </p:nvSpPr>
        <p:spPr>
          <a:xfrm>
            <a:off x="1133856" y="5257800"/>
            <a:ext cx="1839772" cy="960120"/>
          </a:xfrm>
          <a:prstGeom prst="roundRect">
            <a:avLst>
              <a:gd name="adj" fmla="val 4000"/>
            </a:avLst>
          </a:prstGeom>
          <a:solidFill>
            <a:srgbClr val="3C2D2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133856" y="5303520"/>
            <a:ext cx="1839772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Noto Sans KR Black"/>
                <a:ea typeface="Noto Sans KR Black"/>
              </a:rPr>
              <a:t>100층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" y="5833872"/>
            <a:ext cx="1839772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D9CFC2"/>
                </a:solidFill>
                <a:latin typeface="Noto Sans KR"/>
                <a:ea typeface="Noto Sans KR"/>
              </a:rPr>
              <a:t>엔딩</a:t>
            </a:r>
          </a:p>
        </p:txBody>
      </p:sp>
      <p:sp>
        <p:nvSpPr>
          <p:cNvPr id="5" name="Card"/>
          <p:cNvSpPr/>
          <p:nvPr/>
        </p:nvSpPr>
        <p:spPr>
          <a:xfrm>
            <a:off x="3156508" y="5257800"/>
            <a:ext cx="1839772" cy="960120"/>
          </a:xfrm>
          <a:prstGeom prst="roundRect">
            <a:avLst>
              <a:gd name="adj" fmla="val 4000"/>
            </a:avLst>
          </a:prstGeom>
          <a:solidFill>
            <a:srgbClr val="3C2D2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156508" y="5303520"/>
            <a:ext cx="1839772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Noto Sans KR Black"/>
                <a:ea typeface="Noto Sans KR Black"/>
              </a:rPr>
              <a:t>1 → 1ae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56508" y="5833872"/>
            <a:ext cx="1839772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D9CFC2"/>
                </a:solidFill>
                <a:latin typeface="Noto Sans KR"/>
                <a:ea typeface="Noto Sans KR"/>
              </a:rPr>
              <a:t>요구 전투력 범위</a:t>
            </a:r>
          </a:p>
        </p:txBody>
      </p:sp>
      <p:sp>
        <p:nvSpPr>
          <p:cNvPr id="5" name="Card"/>
          <p:cNvSpPr/>
          <p:nvPr/>
        </p:nvSpPr>
        <p:spPr>
          <a:xfrm>
            <a:off x="5179161" y="5257800"/>
            <a:ext cx="1839772" cy="960120"/>
          </a:xfrm>
          <a:prstGeom prst="roundRect">
            <a:avLst>
              <a:gd name="adj" fmla="val 4000"/>
            </a:avLst>
          </a:prstGeom>
          <a:solidFill>
            <a:srgbClr val="3C2D2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179161" y="5303520"/>
            <a:ext cx="1839772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Noto Sans KR Black"/>
                <a:ea typeface="Noto Sans KR Black"/>
              </a:rPr>
              <a:t>61단계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79161" y="5833872"/>
            <a:ext cx="1839772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D9CFC2"/>
                </a:solidFill>
                <a:latin typeface="Noto Sans KR"/>
                <a:ea typeface="Noto Sans KR"/>
              </a:rPr>
              <a:t>100층 누적 성장</a:t>
            </a:r>
          </a:p>
        </p:txBody>
      </p:sp>
      <p:sp>
        <p:nvSpPr>
          <p:cNvPr id="5" name="Card"/>
          <p:cNvSpPr/>
          <p:nvPr/>
        </p:nvSpPr>
        <p:spPr>
          <a:xfrm>
            <a:off x="7201814" y="5257800"/>
            <a:ext cx="1839772" cy="960120"/>
          </a:xfrm>
          <a:prstGeom prst="roundRect">
            <a:avLst>
              <a:gd name="adj" fmla="val 4000"/>
            </a:avLst>
          </a:prstGeom>
          <a:solidFill>
            <a:srgbClr val="3C2D2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201814" y="5303520"/>
            <a:ext cx="1839772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Noto Sans KR Black"/>
                <a:ea typeface="Noto Sans KR Black"/>
              </a:rPr>
              <a:t>q ≈ 1.5787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01814" y="5833872"/>
            <a:ext cx="1839772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D9CFC2"/>
                </a:solidFill>
                <a:latin typeface="Noto Sans KR"/>
                <a:ea typeface="Noto Sans KR"/>
              </a:rPr>
              <a:t>층별 보상 배율</a:t>
            </a:r>
          </a:p>
        </p:txBody>
      </p:sp>
      <p:sp>
        <p:nvSpPr>
          <p:cNvPr id="5" name="Card"/>
          <p:cNvSpPr/>
          <p:nvPr/>
        </p:nvSpPr>
        <p:spPr>
          <a:xfrm>
            <a:off x="9224467" y="5257800"/>
            <a:ext cx="1839772" cy="960120"/>
          </a:xfrm>
          <a:prstGeom prst="roundRect">
            <a:avLst>
              <a:gd name="adj" fmla="val 4000"/>
            </a:avLst>
          </a:prstGeom>
          <a:solidFill>
            <a:srgbClr val="3C2D2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224467" y="5303520"/>
            <a:ext cx="1839772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Noto Sans KR Black"/>
                <a:ea typeface="Noto Sans KR Black"/>
              </a:rPr>
              <a:t>62회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24467" y="5833872"/>
            <a:ext cx="1839772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D9CFC2"/>
                </a:solidFill>
                <a:latin typeface="Noto Sans KR"/>
                <a:ea typeface="Noto Sans KR"/>
              </a:rPr>
              <a:t>단위 테스트 도전 수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2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1" y="1005840"/>
            <a:ext cx="201168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600" b="0" i="0">
                <a:solidFill>
                  <a:srgbClr val="E97132"/>
                </a:solidFill>
                <a:latin typeface="Noto Sans KR Black"/>
                <a:ea typeface="Noto Sans KR Black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1" y="2148840"/>
            <a:ext cx="42062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0" i="0">
                <a:solidFill>
                  <a:srgbClr val="FFFFFF"/>
                </a:solidFill>
                <a:latin typeface="Noto Sans KR Black"/>
                <a:ea typeface="Noto Sans KR Black"/>
              </a:rPr>
              <a:t>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2926080"/>
            <a:ext cx="42062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3B58A"/>
                </a:solidFill>
                <a:latin typeface="Noto Sans KR"/>
                <a:ea typeface="Noto Sans KR"/>
              </a:rPr>
              <a:t>왜 이 문서가 필요한가?</a:t>
            </a:r>
          </a:p>
        </p:txBody>
      </p:sp>
      <p:sp>
        <p:nvSpPr>
          <p:cNvPr id="5" name="IconCircle"/>
          <p:cNvSpPr/>
          <p:nvPr/>
        </p:nvSpPr>
        <p:spPr>
          <a:xfrm>
            <a:off x="1097280" y="4160520"/>
            <a:ext cx="960120" cy="9601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 FaBullseye" descr="FaBullsey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708" y="4390948"/>
            <a:ext cx="499262" cy="4992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271" y="5257800"/>
            <a:ext cx="4023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D9CFC2"/>
                </a:solidFill>
                <a:latin typeface="Noto Sans KR"/>
                <a:ea typeface="Noto Sans KR"/>
              </a:rPr>
              <a:t>이 장에서 보는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5559552"/>
            <a:ext cx="42062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D9CFC2"/>
                </a:solidFill>
                <a:latin typeface="Noto Sans KR"/>
                <a:ea typeface="Noto Sans KR"/>
              </a:rPr>
              <a:t>6P 경제보다 성장 요구량을 먼저 정한다 · 7P 이 문서가 만드는 것</a:t>
            </a:r>
          </a:p>
        </p:txBody>
      </p:sp>
      <p:sp>
        <p:nvSpPr>
          <p:cNvPr id="5" name="Card"/>
          <p:cNvSpPr/>
          <p:nvPr/>
        </p:nvSpPr>
        <p:spPr>
          <a:xfrm>
            <a:off x="5532120" y="1143000"/>
            <a:ext cx="5532120" cy="141732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IconCircle"/>
          <p:cNvSpPr/>
          <p:nvPr/>
        </p:nvSpPr>
        <p:spPr>
          <a:xfrm>
            <a:off x="5715000" y="1527048"/>
            <a:ext cx="640080" cy="64008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 FaTriangleExclamation" descr="FaTriangleExclamatio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619" y="1680667"/>
            <a:ext cx="332841" cy="3328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37960" y="1280160"/>
            <a:ext cx="43891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Noto Sans KR"/>
                <a:ea typeface="Noto Sans KR"/>
              </a:rPr>
              <a:t>문제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709928"/>
            <a:ext cx="43891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7DFD2"/>
                </a:solidFill>
                <a:latin typeface="Noto Sans KR"/>
                <a:ea typeface="Noto Sans KR"/>
              </a:rPr>
              <a:t>경제(재화 · 강화 비용)를 먼저 정하면 층별 요구량이 그 숫자에 끌려가 왜곡된다</a:t>
            </a:r>
          </a:p>
        </p:txBody>
      </p:sp>
      <p:sp>
        <p:nvSpPr>
          <p:cNvPr id="5" name="Card"/>
          <p:cNvSpPr/>
          <p:nvPr/>
        </p:nvSpPr>
        <p:spPr>
          <a:xfrm>
            <a:off x="5532120" y="2743200"/>
            <a:ext cx="5532120" cy="141732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IconCircle"/>
          <p:cNvSpPr/>
          <p:nvPr/>
        </p:nvSpPr>
        <p:spPr>
          <a:xfrm>
            <a:off x="5715000" y="3127248"/>
            <a:ext cx="640080" cy="64008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 FaBullseye" descr="FaBullsey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619" y="3280867"/>
            <a:ext cx="332841" cy="33284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37960" y="2880360"/>
            <a:ext cx="43891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Noto Sans KR"/>
                <a:ea typeface="Noto Sans KR"/>
              </a:rPr>
              <a:t>해결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310128"/>
            <a:ext cx="43891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7DFD2"/>
                </a:solidFill>
                <a:latin typeface="Noto Sans KR"/>
                <a:ea typeface="Noto Sans KR"/>
              </a:rPr>
              <a:t>1~100층을 돌파하는 데 필요한 성장량을 경제와 독립된 수치 목표로 먼저 고정한다</a:t>
            </a:r>
          </a:p>
        </p:txBody>
      </p:sp>
      <p:sp>
        <p:nvSpPr>
          <p:cNvPr id="5" name="Card"/>
          <p:cNvSpPr/>
          <p:nvPr/>
        </p:nvSpPr>
        <p:spPr>
          <a:xfrm>
            <a:off x="5532120" y="4343400"/>
            <a:ext cx="5532120" cy="141732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IconCircle"/>
          <p:cNvSpPr/>
          <p:nvPr/>
        </p:nvSpPr>
        <p:spPr>
          <a:xfrm>
            <a:off x="5715000" y="4727448"/>
            <a:ext cx="640080" cy="64008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 FaPuzzlePiece" descr="FaPuzzlePiec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619" y="4881067"/>
            <a:ext cx="332841" cy="33284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7960" y="4480560"/>
            <a:ext cx="43891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Noto Sans KR"/>
                <a:ea typeface="Noto Sans KR"/>
              </a:rPr>
              <a:t>효과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910328"/>
            <a:ext cx="43891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7DFD2"/>
                </a:solidFill>
                <a:latin typeface="Noto Sans KR"/>
                <a:ea typeface="Noto Sans KR"/>
              </a:rPr>
              <a:t>장비 · 영구 강화 · 스킬 · 업적이 나중에 추가돼도 밸런스 목표가 그대로 남는다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부록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목적 - 이 문서가 만드는 것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목적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입력(기획 기준) → 성장 수요 기준선 → 세 가지 출력. 성장 시스템은 이 출력을 '충족해야 할 목표'로 받는다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783080"/>
            <a:ext cx="20116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B95A25"/>
                </a:solidFill>
                <a:latin typeface="Noto Sans KR"/>
                <a:ea typeface="Noto Sans KR"/>
              </a:rPr>
              <a:t>입력 · 기획 기준</a:t>
            </a:r>
          </a:p>
        </p:txBody>
      </p:sp>
      <p:sp>
        <p:nvSpPr>
          <p:cNvPr id="6" name="IconCircle"/>
          <p:cNvSpPr/>
          <p:nvPr/>
        </p:nvSpPr>
        <p:spPr>
          <a:xfrm>
            <a:off x="1188720" y="2148840"/>
            <a:ext cx="457200" cy="457200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con FaFlagCheckered" descr="FaFlagCheckered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2258568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37360" y="2194560"/>
            <a:ext cx="146304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엔딩 100층</a:t>
            </a:r>
          </a:p>
        </p:txBody>
      </p:sp>
      <p:sp>
        <p:nvSpPr>
          <p:cNvPr id="9" name="IconCircle"/>
          <p:cNvSpPr/>
          <p:nvPr/>
        </p:nvSpPr>
        <p:spPr>
          <a:xfrm>
            <a:off x="1188720" y="2770632"/>
            <a:ext cx="457200" cy="457200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 FaArrowTrendUp" descr="FaArrowTrendU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2880360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37360" y="2816352"/>
            <a:ext cx="146304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1 → 1ae</a:t>
            </a:r>
          </a:p>
        </p:txBody>
      </p:sp>
      <p:sp>
        <p:nvSpPr>
          <p:cNvPr id="12" name="IconCircle"/>
          <p:cNvSpPr/>
          <p:nvPr/>
        </p:nvSpPr>
        <p:spPr>
          <a:xfrm>
            <a:off x="1188720" y="3392424"/>
            <a:ext cx="457200" cy="457200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Icon FaClock" descr="FaClo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3502152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37360" y="3438144"/>
            <a:ext cx="146304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구간 · 시간</a:t>
            </a:r>
          </a:p>
        </p:txBody>
      </p:sp>
      <p:sp>
        <p:nvSpPr>
          <p:cNvPr id="15" name="IconCircle"/>
          <p:cNvSpPr/>
          <p:nvPr/>
        </p:nvSpPr>
        <p:spPr>
          <a:xfrm>
            <a:off x="1188720" y="4014216"/>
            <a:ext cx="457200" cy="457200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 FaSkull" descr="FaSkull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41239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737360" y="4059936"/>
            <a:ext cx="146304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보스 배치</a:t>
            </a:r>
          </a:p>
        </p:txBody>
      </p:sp>
      <p:sp>
        <p:nvSpPr>
          <p:cNvPr id="18" name="IconCircle"/>
          <p:cNvSpPr/>
          <p:nvPr/>
        </p:nvSpPr>
        <p:spPr>
          <a:xfrm>
            <a:off x="1188720" y="4636008"/>
            <a:ext cx="457200" cy="457200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Icon FaRotateRight" descr="FaRotateRigh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8448" y="4745736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737360" y="4681728"/>
            <a:ext cx="146304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재시작 상한</a:t>
            </a:r>
          </a:p>
        </p:txBody>
      </p:sp>
      <p:sp>
        <p:nvSpPr>
          <p:cNvPr id="21" name="Arrow"/>
          <p:cNvSpPr/>
          <p:nvPr/>
        </p:nvSpPr>
        <p:spPr>
          <a:xfrm>
            <a:off x="3154680" y="3520440"/>
            <a:ext cx="320040" cy="292608"/>
          </a:xfrm>
          <a:prstGeom prst="rightArrow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"/>
          <p:cNvSpPr/>
          <p:nvPr/>
        </p:nvSpPr>
        <p:spPr>
          <a:xfrm>
            <a:off x="3611880" y="1783080"/>
            <a:ext cx="3749039" cy="425196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703320" y="1847088"/>
            <a:ext cx="3566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00000"/>
                </a:solidFill>
                <a:latin typeface="Noto Sans KR"/>
                <a:ea typeface="Noto Sans KR"/>
              </a:rPr>
              <a:t>성장 수요 기준선</a:t>
            </a:r>
          </a:p>
        </p:txBody>
      </p:sp>
      <p:graphicFrame>
        <p:nvGraphicFramePr>
          <p:cNvPr id="23" name="Chart"/>
          <p:cNvGraphicFramePr>
            <a:graphicFrameLocks noGrp="1"/>
          </p:cNvGraphicFramePr>
          <p:nvPr/>
        </p:nvGraphicFramePr>
        <p:xfrm>
          <a:off x="3703320" y="2194560"/>
          <a:ext cx="3566160" cy="292608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3749039" y="5166360"/>
            <a:ext cx="34747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B5E54"/>
                </a:solidFill>
                <a:latin typeface="Noto Sans KR"/>
                <a:ea typeface="Noto Sans KR"/>
              </a:rPr>
              <a:t>1층 요구 전투력 1에서 100층 1ae(10²⁷)까지, 100개 층 모두 하나의 규칙으로 계산된 값</a:t>
            </a:r>
          </a:p>
        </p:txBody>
      </p:sp>
      <p:sp>
        <p:nvSpPr>
          <p:cNvPr id="25" name="Arrow"/>
          <p:cNvSpPr/>
          <p:nvPr/>
        </p:nvSpPr>
        <p:spPr>
          <a:xfrm>
            <a:off x="7452360" y="3520440"/>
            <a:ext cx="320040" cy="292608"/>
          </a:xfrm>
          <a:prstGeom prst="rightArrow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1783080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B95A25"/>
                </a:solidFill>
                <a:latin typeface="Noto Sans KR"/>
                <a:ea typeface="Noto Sans KR"/>
              </a:rPr>
              <a:t>출력 · 성장 시스템이 받을 목표</a:t>
            </a:r>
          </a:p>
        </p:txBody>
      </p:sp>
      <p:sp>
        <p:nvSpPr>
          <p:cNvPr id="5" name="Card"/>
          <p:cNvSpPr/>
          <p:nvPr/>
        </p:nvSpPr>
        <p:spPr>
          <a:xfrm>
            <a:off x="7863840" y="2148840"/>
            <a:ext cx="3200400" cy="804672"/>
          </a:xfrm>
          <a:prstGeom prst="roundRect">
            <a:avLst>
              <a:gd name="adj" fmla="val 4000"/>
            </a:avLst>
          </a:prstGeom>
          <a:solidFill>
            <a:srgbClr val="FBE3D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IconCircle"/>
          <p:cNvSpPr/>
          <p:nvPr/>
        </p:nvSpPr>
        <p:spPr>
          <a:xfrm>
            <a:off x="7955279" y="2304288"/>
            <a:ext cx="493776" cy="49377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Icon FaStairs" descr="FaStairs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3786" y="2422794"/>
            <a:ext cx="256763" cy="25676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531352" y="2194560"/>
            <a:ext cx="2514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층별 요구 전투력 R_f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1352" y="2542032"/>
            <a:ext cx="2514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각 층을 통과하는 최소 누적 전투력</a:t>
            </a:r>
          </a:p>
        </p:txBody>
      </p:sp>
      <p:sp>
        <p:nvSpPr>
          <p:cNvPr id="5" name="Card"/>
          <p:cNvSpPr/>
          <p:nvPr/>
        </p:nvSpPr>
        <p:spPr>
          <a:xfrm>
            <a:off x="7863840" y="3063240"/>
            <a:ext cx="3200400" cy="804672"/>
          </a:xfrm>
          <a:prstGeom prst="roundRect">
            <a:avLst>
              <a:gd name="adj" fmla="val 4000"/>
            </a:avLst>
          </a:prstGeom>
          <a:solidFill>
            <a:srgbClr val="FBE3D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IconCircle"/>
          <p:cNvSpPr/>
          <p:nvPr/>
        </p:nvSpPr>
        <p:spPr>
          <a:xfrm>
            <a:off x="7955279" y="3218688"/>
            <a:ext cx="493776" cy="49377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Icon FaSeedling" descr="FaSeedling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73786" y="3337194"/>
            <a:ext cx="256763" cy="25676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531352" y="3108960"/>
            <a:ext cx="2514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필요 성장 계수 G_f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1352" y="3456432"/>
            <a:ext cx="2514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영구 성장이 만들어야 할 배율 1.3^u</a:t>
            </a:r>
          </a:p>
        </p:txBody>
      </p:sp>
      <p:sp>
        <p:nvSpPr>
          <p:cNvPr id="5" name="Card"/>
          <p:cNvSpPr/>
          <p:nvPr/>
        </p:nvSpPr>
        <p:spPr>
          <a:xfrm>
            <a:off x="7863840" y="3977639"/>
            <a:ext cx="3200400" cy="804672"/>
          </a:xfrm>
          <a:prstGeom prst="roundRect">
            <a:avLst>
              <a:gd name="adj" fmla="val 4000"/>
            </a:avLst>
          </a:prstGeom>
          <a:solidFill>
            <a:srgbClr val="3C2D2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IconCircle"/>
          <p:cNvSpPr/>
          <p:nvPr/>
        </p:nvSpPr>
        <p:spPr>
          <a:xfrm>
            <a:off x="7955279" y="4133087"/>
            <a:ext cx="493776" cy="49377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Icon FaBullseye" descr="FaBullseye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3786" y="4251594"/>
            <a:ext cx="256763" cy="25676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531352" y="4023359"/>
            <a:ext cx="2514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체감 목표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31352" y="4370831"/>
            <a:ext cx="2514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E7DFD2"/>
                </a:solidFill>
                <a:latin typeface="Noto Sans KR"/>
                <a:ea typeface="Noto Sans KR"/>
              </a:rPr>
              <a:t>난이도 등급 · 재시작 횟수 · 구간 시간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B5E54"/>
                </a:solidFill>
                <a:latin typeface="Noto Sans KR"/>
                <a:ea typeface="Noto Sans KR"/>
              </a:rPr>
              <a:t>이후 문서에서 설계</a:t>
            </a:r>
          </a:p>
        </p:txBody>
      </p:sp>
      <p:sp>
        <p:nvSpPr>
          <p:cNvPr id="40" name="IconCircle"/>
          <p:cNvSpPr/>
          <p:nvPr/>
        </p:nvSpPr>
        <p:spPr>
          <a:xfrm>
            <a:off x="8028431" y="5257800"/>
            <a:ext cx="420624" cy="420624"/>
          </a:xfrm>
          <a:prstGeom prst="ellipse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Icon FaShieldHalved" descr="FaShieldHalved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9381" y="5358749"/>
            <a:ext cx="218724" cy="21872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863840" y="5715000"/>
            <a:ext cx="7772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장비</a:t>
            </a:r>
          </a:p>
        </p:txBody>
      </p:sp>
      <p:sp>
        <p:nvSpPr>
          <p:cNvPr id="43" name="IconCircle"/>
          <p:cNvSpPr/>
          <p:nvPr/>
        </p:nvSpPr>
        <p:spPr>
          <a:xfrm>
            <a:off x="8851392" y="5257800"/>
            <a:ext cx="420624" cy="420624"/>
          </a:xfrm>
          <a:prstGeom prst="ellipse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Icon FaHammer" descr="FaHammer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52341" y="5358749"/>
            <a:ext cx="218724" cy="21872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686800" y="5715000"/>
            <a:ext cx="7772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영구 강화</a:t>
            </a:r>
          </a:p>
        </p:txBody>
      </p:sp>
      <p:sp>
        <p:nvSpPr>
          <p:cNvPr id="46" name="IconCircle"/>
          <p:cNvSpPr/>
          <p:nvPr/>
        </p:nvSpPr>
        <p:spPr>
          <a:xfrm>
            <a:off x="9674352" y="5257800"/>
            <a:ext cx="420624" cy="420624"/>
          </a:xfrm>
          <a:prstGeom prst="ellipse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Icon FaBolt" descr="FaBolt_FFFFF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75301" y="5358749"/>
            <a:ext cx="218724" cy="21872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509760" y="5715000"/>
            <a:ext cx="7772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스킬</a:t>
            </a:r>
          </a:p>
        </p:txBody>
      </p:sp>
      <p:sp>
        <p:nvSpPr>
          <p:cNvPr id="49" name="IconCircle"/>
          <p:cNvSpPr/>
          <p:nvPr/>
        </p:nvSpPr>
        <p:spPr>
          <a:xfrm>
            <a:off x="10497312" y="5257800"/>
            <a:ext cx="420624" cy="420624"/>
          </a:xfrm>
          <a:prstGeom prst="ellipse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Icon FaCrown" descr="FaCrown_FFFFFF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98261" y="5358749"/>
            <a:ext cx="218724" cy="21872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332720" y="5715000"/>
            <a:ext cx="7772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업적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② 시스템 장 시작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2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1" y="1005840"/>
            <a:ext cx="201168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600" b="0" i="0">
                <a:solidFill>
                  <a:srgbClr val="E97132"/>
                </a:solidFill>
                <a:latin typeface="Noto Sans KR Black"/>
                <a:ea typeface="Noto Sans KR Black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1" y="2148840"/>
            <a:ext cx="42062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0" i="0">
                <a:solidFill>
                  <a:srgbClr val="FFFFFF"/>
                </a:solidFill>
                <a:latin typeface="Noto Sans KR Black"/>
                <a:ea typeface="Noto Sans KR Black"/>
              </a:rPr>
              <a:t>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2926080"/>
            <a:ext cx="42062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3B58A"/>
                </a:solidFill>
                <a:latin typeface="Noto Sans KR"/>
                <a:ea typeface="Noto Sans KR"/>
              </a:rPr>
              <a:t>어떤 게임 구조를 전제로 하나?</a:t>
            </a:r>
          </a:p>
        </p:txBody>
      </p:sp>
      <p:sp>
        <p:nvSpPr>
          <p:cNvPr id="5" name="IconCircle"/>
          <p:cNvSpPr/>
          <p:nvPr/>
        </p:nvSpPr>
        <p:spPr>
          <a:xfrm>
            <a:off x="1097280" y="4160520"/>
            <a:ext cx="960120" cy="9601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 FaGamepad" descr="FaGamepad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708" y="4390948"/>
            <a:ext cx="499262" cy="4992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271" y="5257800"/>
            <a:ext cx="4023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D9CFC2"/>
                </a:solidFill>
                <a:latin typeface="Noto Sans KR"/>
                <a:ea typeface="Noto Sans KR"/>
              </a:rPr>
              <a:t>이 장에서 보는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5559552"/>
            <a:ext cx="42062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D9CFC2"/>
                </a:solidFill>
                <a:latin typeface="Noto Sans KR"/>
                <a:ea typeface="Noto Sans KR"/>
              </a:rPr>
              <a:t>9P 한 번의 도전은 이렇게 돈다 · 10P 100층 지도 · 11P 재시작 규칙 · 12P 성장 단계 ×1.3 과 허들 크기</a:t>
            </a:r>
          </a:p>
        </p:txBody>
      </p:sp>
      <p:sp>
        <p:nvSpPr>
          <p:cNvPr id="5" name="Card"/>
          <p:cNvSpPr/>
          <p:nvPr/>
        </p:nvSpPr>
        <p:spPr>
          <a:xfrm>
            <a:off x="5532120" y="1143000"/>
            <a:ext cx="5532120" cy="141732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IconCircle"/>
          <p:cNvSpPr/>
          <p:nvPr/>
        </p:nvSpPr>
        <p:spPr>
          <a:xfrm>
            <a:off x="5715000" y="1527048"/>
            <a:ext cx="640080" cy="64008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 FaArrowsRotate" descr="FaArrowsRotat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619" y="1680667"/>
            <a:ext cx="332841" cy="3328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37960" y="1280160"/>
            <a:ext cx="43891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Noto Sans KR"/>
                <a:ea typeface="Noto Sans KR"/>
              </a:rPr>
              <a:t>반복 도전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709928"/>
            <a:ext cx="43891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7DFD2"/>
                </a:solidFill>
                <a:latin typeface="Noto Sans KR"/>
                <a:ea typeface="Noto Sans KR"/>
              </a:rPr>
              <a:t>층의 오브젝트를 부숴 전투력을 모으고, 요구치에 못 미치면 도전이 끝난다</a:t>
            </a:r>
          </a:p>
        </p:txBody>
      </p:sp>
      <p:sp>
        <p:nvSpPr>
          <p:cNvPr id="5" name="Card"/>
          <p:cNvSpPr/>
          <p:nvPr/>
        </p:nvSpPr>
        <p:spPr>
          <a:xfrm>
            <a:off x="5532120" y="2743200"/>
            <a:ext cx="5532120" cy="141732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IconCircle"/>
          <p:cNvSpPr/>
          <p:nvPr/>
        </p:nvSpPr>
        <p:spPr>
          <a:xfrm>
            <a:off x="5715000" y="3127248"/>
            <a:ext cx="640080" cy="64008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 FaRotateRight" descr="FaRotateRigh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619" y="3280867"/>
            <a:ext cx="332841" cy="33284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37960" y="2880360"/>
            <a:ext cx="43891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Noto Sans KR"/>
                <a:ea typeface="Noto Sans KR"/>
              </a:rPr>
              <a:t>재시작 상한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310128"/>
            <a:ext cx="43891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7DFD2"/>
                </a:solidFill>
                <a:latin typeface="Noto Sans KR"/>
                <a:ea typeface="Noto Sans KR"/>
              </a:rPr>
              <a:t>다음 도전은 기록−10층(71층부터 기록−5층) 이하에서 다시 시작한다</a:t>
            </a:r>
          </a:p>
        </p:txBody>
      </p:sp>
      <p:sp>
        <p:nvSpPr>
          <p:cNvPr id="5" name="Card"/>
          <p:cNvSpPr/>
          <p:nvPr/>
        </p:nvSpPr>
        <p:spPr>
          <a:xfrm>
            <a:off x="5532120" y="4343400"/>
            <a:ext cx="5532120" cy="141732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IconCircle"/>
          <p:cNvSpPr/>
          <p:nvPr/>
        </p:nvSpPr>
        <p:spPr>
          <a:xfrm>
            <a:off x="5715000" y="4727448"/>
            <a:ext cx="640080" cy="64008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 FaStairs" descr="FaStai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8619" y="4881067"/>
            <a:ext cx="332841" cy="33284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7960" y="4480560"/>
            <a:ext cx="43891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Noto Sans KR"/>
                <a:ea typeface="Noto Sans KR"/>
              </a:rPr>
              <a:t>성장 단계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910328"/>
            <a:ext cx="43891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7DFD2"/>
                </a:solidFill>
                <a:latin typeface="Noto Sans KR"/>
                <a:ea typeface="Noto Sans KR"/>
              </a:rPr>
              <a:t>영구 성장을 ×1.3 한 칸 단위로 세어 +1 · +2 · +3 허들을 표현한다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부록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시스템 - 한 번의 도전은 이렇게 돈다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목적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요구 전투력은 '한 도전 안에서 모은 전투력 × 영구 성장'으로 넘는 벽이다 — 이 루프가 모든 수치의 전제다</a:t>
            </a:r>
          </a:p>
        </p:txBody>
      </p:sp>
      <p:sp>
        <p:nvSpPr>
          <p:cNvPr id="5" name="Oval 4"/>
          <p:cNvSpPr/>
          <p:nvPr/>
        </p:nvSpPr>
        <p:spPr>
          <a:xfrm>
            <a:off x="1554480" y="2331720"/>
            <a:ext cx="4572000" cy="2926080"/>
          </a:xfrm>
          <a:prstGeom prst="ellipse">
            <a:avLst/>
          </a:prstGeom>
          <a:noFill/>
          <a:ln w="31750">
            <a:solidFill>
              <a:srgbClr val="D9CF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conCircle"/>
          <p:cNvSpPr/>
          <p:nvPr/>
        </p:nvSpPr>
        <p:spPr>
          <a:xfrm>
            <a:off x="3511296" y="2002536"/>
            <a:ext cx="658368" cy="65836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con FaDoorOpen" descr="FaDoorOpen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304" y="2160544"/>
            <a:ext cx="342351" cy="3423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97680" y="2075688"/>
            <a:ext cx="15544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① 시작층 선택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재시작 상한 이내</a:t>
            </a:r>
          </a:p>
        </p:txBody>
      </p:sp>
      <p:sp>
        <p:nvSpPr>
          <p:cNvPr id="9" name="Dir"/>
          <p:cNvSpPr/>
          <p:nvPr/>
        </p:nvSpPr>
        <p:spPr>
          <a:xfrm rot="7200000">
            <a:off x="4892040" y="2445434"/>
            <a:ext cx="182880" cy="164592"/>
          </a:xfrm>
          <a:prstGeom prst="triangle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conCircle"/>
          <p:cNvSpPr/>
          <p:nvPr/>
        </p:nvSpPr>
        <p:spPr>
          <a:xfrm>
            <a:off x="5491030" y="2734056"/>
            <a:ext cx="658368" cy="658368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 FaHammer" descr="FaHamm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9038" y="2892064"/>
            <a:ext cx="342351" cy="34235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42974" y="3401568"/>
            <a:ext cx="15544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② 오브젝트 파괴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층 보상 B_i 획득</a:t>
            </a:r>
          </a:p>
        </p:txBody>
      </p:sp>
      <p:sp>
        <p:nvSpPr>
          <p:cNvPr id="13" name="Dir"/>
          <p:cNvSpPr/>
          <p:nvPr/>
        </p:nvSpPr>
        <p:spPr>
          <a:xfrm rot="10800000">
            <a:off x="6035040" y="3712464"/>
            <a:ext cx="182880" cy="164592"/>
          </a:xfrm>
          <a:prstGeom prst="triangle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conCircle"/>
          <p:cNvSpPr/>
          <p:nvPr/>
        </p:nvSpPr>
        <p:spPr>
          <a:xfrm>
            <a:off x="5491030" y="4197096"/>
            <a:ext cx="658368" cy="658368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con FaCoins" descr="FaCoin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9038" y="4355104"/>
            <a:ext cx="342351" cy="34235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42974" y="4864608"/>
            <a:ext cx="15544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③ 전투력 누적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이번 도전의 합계</a:t>
            </a:r>
          </a:p>
        </p:txBody>
      </p:sp>
      <p:sp>
        <p:nvSpPr>
          <p:cNvPr id="17" name="Dir"/>
          <p:cNvSpPr/>
          <p:nvPr/>
        </p:nvSpPr>
        <p:spPr>
          <a:xfrm rot="14400000">
            <a:off x="4892040" y="4979493"/>
            <a:ext cx="182880" cy="164592"/>
          </a:xfrm>
          <a:prstGeom prst="triangle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conCircle"/>
          <p:cNvSpPr/>
          <p:nvPr/>
        </p:nvSpPr>
        <p:spPr>
          <a:xfrm>
            <a:off x="3511296" y="4928616"/>
            <a:ext cx="658368" cy="65836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Icon FaScaleBalanced" descr="FaScaleBalance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9304" y="5086624"/>
            <a:ext cx="342351" cy="34235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297680" y="5001768"/>
            <a:ext cx="15544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④ 요구치 판정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누적 ≥ R_f ?</a:t>
            </a:r>
          </a:p>
        </p:txBody>
      </p:sp>
      <p:sp>
        <p:nvSpPr>
          <p:cNvPr id="21" name="Dir"/>
          <p:cNvSpPr/>
          <p:nvPr/>
        </p:nvSpPr>
        <p:spPr>
          <a:xfrm rot="18000000">
            <a:off x="2606040" y="4979493"/>
            <a:ext cx="182880" cy="164592"/>
          </a:xfrm>
          <a:prstGeom prst="triangle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conCircle"/>
          <p:cNvSpPr/>
          <p:nvPr/>
        </p:nvSpPr>
        <p:spPr>
          <a:xfrm>
            <a:off x="1531561" y="4197096"/>
            <a:ext cx="658368" cy="658368"/>
          </a:xfrm>
          <a:prstGeom prst="ellipse">
            <a:avLst/>
          </a:prstGeom>
          <a:solidFill>
            <a:srgbClr val="7A2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Icon FaCircleXmark" descr="FaCircleXmar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9570" y="4355104"/>
            <a:ext cx="342351" cy="34235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3505" y="4864608"/>
            <a:ext cx="15544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⑤ 도전 종료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미달 시 일시 전투력 0</a:t>
            </a:r>
          </a:p>
        </p:txBody>
      </p:sp>
      <p:sp>
        <p:nvSpPr>
          <p:cNvPr id="25" name="Dir"/>
          <p:cNvSpPr/>
          <p:nvPr/>
        </p:nvSpPr>
        <p:spPr>
          <a:xfrm>
            <a:off x="1463040" y="3712464"/>
            <a:ext cx="182880" cy="164592"/>
          </a:xfrm>
          <a:prstGeom prst="triangle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conCircle"/>
          <p:cNvSpPr/>
          <p:nvPr/>
        </p:nvSpPr>
        <p:spPr>
          <a:xfrm>
            <a:off x="1531561" y="2734056"/>
            <a:ext cx="658368" cy="658368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Icon FaSeedling" descr="FaSeedling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9570" y="2892064"/>
            <a:ext cx="342351" cy="34235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83505" y="3401568"/>
            <a:ext cx="15544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⑥ 영구 성장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다음 도전을 더 강하게</a:t>
            </a:r>
          </a:p>
        </p:txBody>
      </p:sp>
      <p:sp>
        <p:nvSpPr>
          <p:cNvPr id="29" name="Dir"/>
          <p:cNvSpPr/>
          <p:nvPr/>
        </p:nvSpPr>
        <p:spPr>
          <a:xfrm rot="3600000">
            <a:off x="2606039" y="2445434"/>
            <a:ext cx="182880" cy="164592"/>
          </a:xfrm>
          <a:prstGeom prst="triangle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ip"/>
          <p:cNvSpPr/>
          <p:nvPr/>
        </p:nvSpPr>
        <p:spPr>
          <a:xfrm>
            <a:off x="2880360" y="3291840"/>
            <a:ext cx="1920240" cy="384048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</a:rPr>
              <a:t>통과하면 다음 층 ②로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3749040"/>
            <a:ext cx="23774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한 도전 = 시작층부터 막히는 층까지
건너뛴 층의 보상은 없다</a:t>
            </a:r>
          </a:p>
        </p:txBody>
      </p:sp>
      <p:sp>
        <p:nvSpPr>
          <p:cNvPr id="5" name="Card"/>
          <p:cNvSpPr/>
          <p:nvPr/>
        </p:nvSpPr>
        <p:spPr>
          <a:xfrm>
            <a:off x="6903720" y="1783080"/>
            <a:ext cx="4160520" cy="841248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IconCircle"/>
          <p:cNvSpPr/>
          <p:nvPr/>
        </p:nvSpPr>
        <p:spPr>
          <a:xfrm>
            <a:off x="7013448" y="1965960"/>
            <a:ext cx="475488" cy="475488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Icon FaWind" descr="FaWind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7565" y="2080077"/>
            <a:ext cx="247253" cy="24725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589520" y="1837943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초기화되는 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2167128"/>
            <a:ext cx="33832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일시 전투력 — 도전이 끝나면 0</a:t>
            </a:r>
          </a:p>
        </p:txBody>
      </p:sp>
      <p:sp>
        <p:nvSpPr>
          <p:cNvPr id="5" name="Card"/>
          <p:cNvSpPr/>
          <p:nvPr/>
        </p:nvSpPr>
        <p:spPr>
          <a:xfrm>
            <a:off x="6903720" y="2743200"/>
            <a:ext cx="4160520" cy="841248"/>
          </a:xfrm>
          <a:prstGeom prst="roundRect">
            <a:avLst>
              <a:gd name="adj" fmla="val 4000"/>
            </a:avLst>
          </a:prstGeom>
          <a:solidFill>
            <a:srgbClr val="FBE3D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IconCircle"/>
          <p:cNvSpPr/>
          <p:nvPr/>
        </p:nvSpPr>
        <p:spPr>
          <a:xfrm>
            <a:off x="7013448" y="2926080"/>
            <a:ext cx="475488" cy="475488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Icon FaBoxArchive" descr="FaBoxArchive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7565" y="3040197"/>
            <a:ext cx="247253" cy="24725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589520" y="2798064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남는 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3127248"/>
            <a:ext cx="33832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영구 성장 효과 · 역대 최고층 기록</a:t>
            </a:r>
          </a:p>
        </p:txBody>
      </p:sp>
      <p:sp>
        <p:nvSpPr>
          <p:cNvPr id="5" name="Card"/>
          <p:cNvSpPr/>
          <p:nvPr/>
        </p:nvSpPr>
        <p:spPr>
          <a:xfrm>
            <a:off x="6903720" y="3703320"/>
            <a:ext cx="4160520" cy="841248"/>
          </a:xfrm>
          <a:prstGeom prst="roundRect">
            <a:avLst>
              <a:gd name="adj" fmla="val 4000"/>
            </a:avLst>
          </a:prstGeom>
          <a:solidFill>
            <a:srgbClr val="FBE3D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IconCircle"/>
          <p:cNvSpPr/>
          <p:nvPr/>
        </p:nvSpPr>
        <p:spPr>
          <a:xfrm>
            <a:off x="7013448" y="3886200"/>
            <a:ext cx="475488" cy="475488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Icon FaTriangleExclamation" descr="FaTriangleExclamation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7565" y="4000317"/>
            <a:ext cx="247253" cy="247253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589520" y="3758183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판정 시점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4087368"/>
            <a:ext cx="33832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층의 오브젝트를 모두 부순 직후 누적 ≥ R_f 이면 통과</a:t>
            </a:r>
          </a:p>
        </p:txBody>
      </p:sp>
      <p:sp>
        <p:nvSpPr>
          <p:cNvPr id="5" name="Card"/>
          <p:cNvSpPr/>
          <p:nvPr/>
        </p:nvSpPr>
        <p:spPr>
          <a:xfrm>
            <a:off x="6903720" y="4709160"/>
            <a:ext cx="4160520" cy="1371600"/>
          </a:xfrm>
          <a:prstGeom prst="roundRect">
            <a:avLst>
              <a:gd name="adj" fmla="val 4000"/>
            </a:avLst>
          </a:prstGeom>
          <a:solidFill>
            <a:srgbClr val="3C2D2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040880" y="4773168"/>
            <a:ext cx="3931920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3B58A"/>
                </a:solidFill>
                <a:latin typeface="Noto Sans KR"/>
                <a:ea typeface="Noto Sans KR"/>
              </a:rPr>
              <a:t>수치에 반영 ▸ </a:t>
            </a:r>
            <a:r>
              <a:rPr sz="1100" b="0" i="0">
                <a:solidFill>
                  <a:srgbClr val="FFFFFF"/>
                </a:solidFill>
                <a:latin typeface="Noto Sans KR"/>
                <a:ea typeface="Noto Sans KR"/>
              </a:rPr>
              <a:t>A(s, f) = 시작층 s ~ 목표층 f의 보상 합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</a:rPr>
              <a:t>R_f = G_f × A(s_f, f)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E7DFD2"/>
                </a:solidFill>
                <a:latin typeface="Noto Sans KR"/>
                <a:ea typeface="Noto Sans KR"/>
              </a:rPr>
              <a:t>같은 층도 어디서 시작했는지에 따라 모을 수 있는 양이 달라진다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100층 지도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시스템 - 100층 지도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목적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1층에서 100층까지 한 길 위에 구간 · 보스 · 시간 · 숫자 단위를 겹쳐, 플레이어가 지나갈 경험을 미리 그린다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755648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6B5E54"/>
                </a:solidFill>
                <a:latin typeface="Noto Sans KR"/>
                <a:ea typeface="Noto Sans KR"/>
              </a:rPr>
              <a:t>보스</a:t>
            </a:r>
          </a:p>
        </p:txBody>
      </p:sp>
      <p:sp>
        <p:nvSpPr>
          <p:cNvPr id="6" name="Boss"/>
          <p:cNvSpPr/>
          <p:nvPr/>
        </p:nvSpPr>
        <p:spPr>
          <a:xfrm>
            <a:off x="1521287" y="2116836"/>
            <a:ext cx="118872" cy="118872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2123" y="2267712"/>
            <a:ext cx="45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6B5E54"/>
                </a:solidFill>
                <a:latin typeface="Noto Sans KR"/>
                <a:ea typeface="Noto Sans KR"/>
              </a:rPr>
              <a:t>5</a:t>
            </a:r>
          </a:p>
        </p:txBody>
      </p:sp>
      <p:sp>
        <p:nvSpPr>
          <p:cNvPr id="8" name="Boss"/>
          <p:cNvSpPr/>
          <p:nvPr/>
        </p:nvSpPr>
        <p:spPr>
          <a:xfrm>
            <a:off x="2017806" y="2116836"/>
            <a:ext cx="118872" cy="118872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oss"/>
          <p:cNvSpPr/>
          <p:nvPr/>
        </p:nvSpPr>
        <p:spPr>
          <a:xfrm>
            <a:off x="2514325" y="2116836"/>
            <a:ext cx="118872" cy="118872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45161" y="2267712"/>
            <a:ext cx="45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6B5E54"/>
                </a:solidFill>
                <a:latin typeface="Noto Sans KR"/>
                <a:ea typeface="Noto Sans KR"/>
              </a:rPr>
              <a:t>15</a:t>
            </a:r>
          </a:p>
        </p:txBody>
      </p:sp>
      <p:sp>
        <p:nvSpPr>
          <p:cNvPr id="11" name="Boss"/>
          <p:cNvSpPr/>
          <p:nvPr/>
        </p:nvSpPr>
        <p:spPr>
          <a:xfrm>
            <a:off x="3010844" y="2116836"/>
            <a:ext cx="118872" cy="118872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oss"/>
          <p:cNvSpPr/>
          <p:nvPr/>
        </p:nvSpPr>
        <p:spPr>
          <a:xfrm>
            <a:off x="3507364" y="2116836"/>
            <a:ext cx="118872" cy="118872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oss"/>
          <p:cNvSpPr/>
          <p:nvPr/>
        </p:nvSpPr>
        <p:spPr>
          <a:xfrm>
            <a:off x="4003883" y="2116836"/>
            <a:ext cx="118872" cy="118872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oss"/>
          <p:cNvSpPr/>
          <p:nvPr/>
        </p:nvSpPr>
        <p:spPr>
          <a:xfrm>
            <a:off x="4500402" y="2116836"/>
            <a:ext cx="118872" cy="118872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oss"/>
          <p:cNvSpPr/>
          <p:nvPr/>
        </p:nvSpPr>
        <p:spPr>
          <a:xfrm>
            <a:off x="4996921" y="2116836"/>
            <a:ext cx="118872" cy="118872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oss"/>
          <p:cNvSpPr/>
          <p:nvPr/>
        </p:nvSpPr>
        <p:spPr>
          <a:xfrm>
            <a:off x="5493440" y="2116836"/>
            <a:ext cx="118872" cy="118872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oss"/>
          <p:cNvSpPr/>
          <p:nvPr/>
        </p:nvSpPr>
        <p:spPr>
          <a:xfrm>
            <a:off x="5989960" y="2116836"/>
            <a:ext cx="118872" cy="118872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0796" y="2267712"/>
            <a:ext cx="45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6B5E54"/>
                </a:solidFill>
                <a:latin typeface="Noto Sans KR"/>
                <a:ea typeface="Noto Sans KR"/>
              </a:rPr>
              <a:t>50</a:t>
            </a:r>
          </a:p>
        </p:txBody>
      </p:sp>
      <p:sp>
        <p:nvSpPr>
          <p:cNvPr id="19" name="Boss"/>
          <p:cNvSpPr/>
          <p:nvPr/>
        </p:nvSpPr>
        <p:spPr>
          <a:xfrm>
            <a:off x="6486479" y="2116836"/>
            <a:ext cx="118872" cy="118872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ss"/>
          <p:cNvSpPr/>
          <p:nvPr/>
        </p:nvSpPr>
        <p:spPr>
          <a:xfrm>
            <a:off x="6982998" y="2116836"/>
            <a:ext cx="118872" cy="118872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oss"/>
          <p:cNvSpPr/>
          <p:nvPr/>
        </p:nvSpPr>
        <p:spPr>
          <a:xfrm>
            <a:off x="7479517" y="2116836"/>
            <a:ext cx="118872" cy="118872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oss"/>
          <p:cNvSpPr/>
          <p:nvPr/>
        </p:nvSpPr>
        <p:spPr>
          <a:xfrm>
            <a:off x="7976036" y="2116836"/>
            <a:ext cx="118872" cy="118872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oss"/>
          <p:cNvSpPr/>
          <p:nvPr/>
        </p:nvSpPr>
        <p:spPr>
          <a:xfrm>
            <a:off x="8472556" y="2116836"/>
            <a:ext cx="118872" cy="118872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oss"/>
          <p:cNvSpPr/>
          <p:nvPr/>
        </p:nvSpPr>
        <p:spPr>
          <a:xfrm>
            <a:off x="8969075" y="2116836"/>
            <a:ext cx="118872" cy="118872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oss"/>
          <p:cNvSpPr/>
          <p:nvPr/>
        </p:nvSpPr>
        <p:spPr>
          <a:xfrm>
            <a:off x="9465594" y="2116836"/>
            <a:ext cx="118872" cy="118872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6430" y="2267712"/>
            <a:ext cx="45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6B5E54"/>
                </a:solidFill>
                <a:latin typeface="Noto Sans KR"/>
                <a:ea typeface="Noto Sans KR"/>
              </a:rPr>
              <a:t>85</a:t>
            </a:r>
          </a:p>
        </p:txBody>
      </p:sp>
      <p:sp>
        <p:nvSpPr>
          <p:cNvPr id="27" name="Boss"/>
          <p:cNvSpPr/>
          <p:nvPr/>
        </p:nvSpPr>
        <p:spPr>
          <a:xfrm>
            <a:off x="9930109" y="2057400"/>
            <a:ext cx="182880" cy="182880"/>
          </a:xfrm>
          <a:prstGeom prst="ellipse">
            <a:avLst/>
          </a:prstGeom>
          <a:solidFill>
            <a:srgbClr val="7A2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92949" y="2267712"/>
            <a:ext cx="45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6B5E54"/>
                </a:solidFill>
                <a:latin typeface="Noto Sans KR"/>
                <a:ea typeface="Noto Sans KR"/>
              </a:rPr>
              <a:t>90</a:t>
            </a:r>
          </a:p>
        </p:txBody>
      </p:sp>
      <p:sp>
        <p:nvSpPr>
          <p:cNvPr id="29" name="Boss"/>
          <p:cNvSpPr/>
          <p:nvPr/>
        </p:nvSpPr>
        <p:spPr>
          <a:xfrm>
            <a:off x="10327325" y="2057400"/>
            <a:ext cx="182880" cy="182880"/>
          </a:xfrm>
          <a:prstGeom prst="ellipse">
            <a:avLst/>
          </a:prstGeom>
          <a:solidFill>
            <a:srgbClr val="7A2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90165" y="2267712"/>
            <a:ext cx="45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6B5E54"/>
                </a:solidFill>
                <a:latin typeface="Noto Sans KR"/>
                <a:ea typeface="Noto Sans KR"/>
              </a:rPr>
              <a:t>94</a:t>
            </a:r>
          </a:p>
        </p:txBody>
      </p:sp>
      <p:sp>
        <p:nvSpPr>
          <p:cNvPr id="31" name="Boss"/>
          <p:cNvSpPr/>
          <p:nvPr/>
        </p:nvSpPr>
        <p:spPr>
          <a:xfrm>
            <a:off x="10625236" y="2057400"/>
            <a:ext cx="182880" cy="182880"/>
          </a:xfrm>
          <a:prstGeom prst="ellipse">
            <a:avLst/>
          </a:prstGeom>
          <a:solidFill>
            <a:srgbClr val="7A2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88076" y="2267712"/>
            <a:ext cx="45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6B5E54"/>
                </a:solidFill>
                <a:latin typeface="Noto Sans KR"/>
                <a:ea typeface="Noto Sans KR"/>
              </a:rPr>
              <a:t>97</a:t>
            </a:r>
          </a:p>
        </p:txBody>
      </p:sp>
      <p:sp>
        <p:nvSpPr>
          <p:cNvPr id="33" name="Boss"/>
          <p:cNvSpPr/>
          <p:nvPr/>
        </p:nvSpPr>
        <p:spPr>
          <a:xfrm>
            <a:off x="10923148" y="2057400"/>
            <a:ext cx="182880" cy="182880"/>
          </a:xfrm>
          <a:prstGeom prst="ellipse">
            <a:avLst/>
          </a:prstGeom>
          <a:solidFill>
            <a:srgbClr val="7A2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5988" y="2267712"/>
            <a:ext cx="45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6B5E54"/>
                </a:solidFill>
                <a:latin typeface="Noto Sans KR"/>
                <a:ea typeface="Noto Sans KR"/>
              </a:rPr>
              <a:t>100</a:t>
            </a:r>
          </a:p>
        </p:txBody>
      </p:sp>
      <p:sp>
        <p:nvSpPr>
          <p:cNvPr id="5" name="Chip"/>
          <p:cNvSpPr/>
          <p:nvPr/>
        </p:nvSpPr>
        <p:spPr>
          <a:xfrm>
            <a:off x="1133856" y="2560320"/>
            <a:ext cx="1462125" cy="502920"/>
          </a:xfrm>
          <a:prstGeom prst="roundRect">
            <a:avLst>
              <a:gd name="adj" fmla="val 4000"/>
            </a:avLst>
          </a:prstGeom>
          <a:solidFill>
            <a:srgbClr val="F3B58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초반 1~15</a:t>
            </a:r>
          </a:p>
        </p:txBody>
      </p:sp>
      <p:sp>
        <p:nvSpPr>
          <p:cNvPr id="5" name="Chip"/>
          <p:cNvSpPr/>
          <p:nvPr/>
        </p:nvSpPr>
        <p:spPr>
          <a:xfrm>
            <a:off x="2623413" y="2560320"/>
            <a:ext cx="5434279" cy="50292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</a:rPr>
              <a:t>중반 16~70</a:t>
            </a:r>
          </a:p>
        </p:txBody>
      </p:sp>
      <p:sp>
        <p:nvSpPr>
          <p:cNvPr id="5" name="Chip"/>
          <p:cNvSpPr/>
          <p:nvPr/>
        </p:nvSpPr>
        <p:spPr>
          <a:xfrm>
            <a:off x="8085124" y="2560320"/>
            <a:ext cx="965606" cy="502920"/>
          </a:xfrm>
          <a:prstGeom prst="roundRect">
            <a:avLst>
              <a:gd name="adj" fmla="val 4000"/>
            </a:avLst>
          </a:prstGeom>
          <a:solidFill>
            <a:srgbClr val="7A2E0E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</a:rPr>
              <a:t>후반 A 71~80</a:t>
            </a:r>
          </a:p>
        </p:txBody>
      </p:sp>
      <p:sp>
        <p:nvSpPr>
          <p:cNvPr id="5" name="Chip"/>
          <p:cNvSpPr/>
          <p:nvPr/>
        </p:nvSpPr>
        <p:spPr>
          <a:xfrm>
            <a:off x="9078163" y="2560320"/>
            <a:ext cx="965606" cy="502920"/>
          </a:xfrm>
          <a:prstGeom prst="roundRect">
            <a:avLst>
              <a:gd name="adj" fmla="val 4000"/>
            </a:avLst>
          </a:prstGeom>
          <a:solidFill>
            <a:srgbClr val="F3B58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후반 B 81~90</a:t>
            </a:r>
          </a:p>
        </p:txBody>
      </p:sp>
      <p:sp>
        <p:nvSpPr>
          <p:cNvPr id="5" name="Chip"/>
          <p:cNvSpPr/>
          <p:nvPr/>
        </p:nvSpPr>
        <p:spPr>
          <a:xfrm>
            <a:off x="10071201" y="2560320"/>
            <a:ext cx="965606" cy="502920"/>
          </a:xfrm>
          <a:prstGeom prst="roundRect">
            <a:avLst>
              <a:gd name="adj" fmla="val 4000"/>
            </a:avLst>
          </a:prstGeom>
          <a:solidFill>
            <a:srgbClr val="3C2D2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</a:rPr>
              <a:t>후반 C 91~100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" y="3127248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6B5E54"/>
                </a:solidFill>
                <a:latin typeface="Noto Sans KR"/>
                <a:ea typeface="Noto Sans KR"/>
              </a:rPr>
              <a:t>목표 시간 · 누적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" y="3364992"/>
            <a:ext cx="148955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Noto Sans KR"/>
                <a:ea typeface="Noto Sans KR"/>
              </a:rPr>
              <a:t>30분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누적 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23413" y="3364992"/>
            <a:ext cx="5461711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Noto Sans KR"/>
                <a:ea typeface="Noto Sans KR"/>
              </a:rPr>
              <a:t>150분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누적 180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5124" y="3364992"/>
            <a:ext cx="9930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Noto Sans KR"/>
                <a:ea typeface="Noto Sans KR"/>
              </a:rPr>
              <a:t>65분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누적 245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8163" y="3364992"/>
            <a:ext cx="9930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Noto Sans KR"/>
                <a:ea typeface="Noto Sans KR"/>
              </a:rPr>
              <a:t>40분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누적 285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1201" y="3364992"/>
            <a:ext cx="9930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Noto Sans KR"/>
                <a:ea typeface="Noto Sans KR"/>
              </a:rPr>
              <a:t>45분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누적 330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" y="384048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6B5E54"/>
                </a:solidFill>
                <a:latin typeface="Noto Sans KR"/>
                <a:ea typeface="Noto Sans KR"/>
              </a:rPr>
              <a:t>요구 전투력이 단위에 처음 닿는 층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375153" y="4114800"/>
            <a:ext cx="0" cy="164592"/>
          </a:xfrm>
          <a:prstGeom prst="line">
            <a:avLst/>
          </a:prstGeom>
          <a:ln w="12700">
            <a:solidFill>
              <a:srgbClr val="D9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ip"/>
          <p:cNvSpPr/>
          <p:nvPr/>
        </p:nvSpPr>
        <p:spPr>
          <a:xfrm>
            <a:off x="2173985" y="4279392"/>
            <a:ext cx="402336" cy="27432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</a:rPr>
              <a:t>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0834" y="455371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13층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467496" y="4114800"/>
            <a:ext cx="0" cy="164592"/>
          </a:xfrm>
          <a:prstGeom prst="line">
            <a:avLst/>
          </a:prstGeom>
          <a:ln w="12700">
            <a:solidFill>
              <a:srgbClr val="D9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ip"/>
          <p:cNvSpPr/>
          <p:nvPr/>
        </p:nvSpPr>
        <p:spPr>
          <a:xfrm>
            <a:off x="3266328" y="4279392"/>
            <a:ext cx="402336" cy="27432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</a:rPr>
              <a:t>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93176" y="455371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24층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758446" y="4114800"/>
            <a:ext cx="0" cy="164592"/>
          </a:xfrm>
          <a:prstGeom prst="line">
            <a:avLst/>
          </a:prstGeom>
          <a:ln w="12700">
            <a:solidFill>
              <a:srgbClr val="D9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ip"/>
          <p:cNvSpPr/>
          <p:nvPr/>
        </p:nvSpPr>
        <p:spPr>
          <a:xfrm>
            <a:off x="4557278" y="4279392"/>
            <a:ext cx="402336" cy="27432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</a:rPr>
              <a:t>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4126" y="455371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37층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950092" y="4114800"/>
            <a:ext cx="0" cy="164592"/>
          </a:xfrm>
          <a:prstGeom prst="line">
            <a:avLst/>
          </a:prstGeom>
          <a:ln w="12700">
            <a:solidFill>
              <a:srgbClr val="D9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ip"/>
          <p:cNvSpPr/>
          <p:nvPr/>
        </p:nvSpPr>
        <p:spPr>
          <a:xfrm>
            <a:off x="5748924" y="4279392"/>
            <a:ext cx="402336" cy="27432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</a:rPr>
              <a:t>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75772" y="455371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49층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042434" y="4114800"/>
            <a:ext cx="0" cy="164592"/>
          </a:xfrm>
          <a:prstGeom prst="line">
            <a:avLst/>
          </a:prstGeom>
          <a:ln w="12700">
            <a:solidFill>
              <a:srgbClr val="D9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ip"/>
          <p:cNvSpPr/>
          <p:nvPr/>
        </p:nvSpPr>
        <p:spPr>
          <a:xfrm>
            <a:off x="6841266" y="4279392"/>
            <a:ext cx="402336" cy="27432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</a:rPr>
              <a:t>aa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8114" y="455371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60층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134776" y="4114800"/>
            <a:ext cx="0" cy="164592"/>
          </a:xfrm>
          <a:prstGeom prst="line">
            <a:avLst/>
          </a:prstGeom>
          <a:ln w="12700">
            <a:solidFill>
              <a:srgbClr val="D9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ip"/>
          <p:cNvSpPr/>
          <p:nvPr/>
        </p:nvSpPr>
        <p:spPr>
          <a:xfrm>
            <a:off x="7933608" y="4279392"/>
            <a:ext cx="402336" cy="27432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</a:rPr>
              <a:t>ab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0456" y="455371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71층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127815" y="4114800"/>
            <a:ext cx="0" cy="164592"/>
          </a:xfrm>
          <a:prstGeom prst="line">
            <a:avLst/>
          </a:prstGeom>
          <a:ln w="12700">
            <a:solidFill>
              <a:srgbClr val="D9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ip"/>
          <p:cNvSpPr/>
          <p:nvPr/>
        </p:nvSpPr>
        <p:spPr>
          <a:xfrm>
            <a:off x="8926647" y="4279392"/>
            <a:ext cx="402336" cy="27432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</a:rPr>
              <a:t>ac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53495" y="455371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81층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220157" y="4114800"/>
            <a:ext cx="0" cy="164592"/>
          </a:xfrm>
          <a:prstGeom prst="line">
            <a:avLst/>
          </a:prstGeom>
          <a:ln w="12700">
            <a:solidFill>
              <a:srgbClr val="D9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ip"/>
          <p:cNvSpPr/>
          <p:nvPr/>
        </p:nvSpPr>
        <p:spPr>
          <a:xfrm>
            <a:off x="10018989" y="4279392"/>
            <a:ext cx="402336" cy="27432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</a:rPr>
              <a:t>ad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45837" y="455371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92층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1014588" y="4114800"/>
            <a:ext cx="0" cy="164592"/>
          </a:xfrm>
          <a:prstGeom prst="line">
            <a:avLst/>
          </a:prstGeom>
          <a:ln w="12700">
            <a:solidFill>
              <a:srgbClr val="D9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ip"/>
          <p:cNvSpPr/>
          <p:nvPr/>
        </p:nvSpPr>
        <p:spPr>
          <a:xfrm>
            <a:off x="10813420" y="4279392"/>
            <a:ext cx="402336" cy="274320"/>
          </a:xfrm>
          <a:prstGeom prst="roundRect">
            <a:avLst>
              <a:gd name="adj" fmla="val 4000"/>
            </a:avLst>
          </a:prstGeom>
          <a:solidFill>
            <a:srgbClr val="3C2D2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</a:rPr>
              <a:t>ae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40268" y="455371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100층</a:t>
            </a:r>
          </a:p>
        </p:txBody>
      </p:sp>
      <p:sp>
        <p:nvSpPr>
          <p:cNvPr id="5" name="Card"/>
          <p:cNvSpPr/>
          <p:nvPr/>
        </p:nvSpPr>
        <p:spPr>
          <a:xfrm>
            <a:off x="1133856" y="4937760"/>
            <a:ext cx="1876348" cy="118872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IconCircle"/>
          <p:cNvSpPr/>
          <p:nvPr/>
        </p:nvSpPr>
        <p:spPr>
          <a:xfrm>
            <a:off x="1243584" y="5074920"/>
            <a:ext cx="502920" cy="5029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Icon FaBook" descr="FaBoo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284" y="5195620"/>
            <a:ext cx="261518" cy="261518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819656" y="5029200"/>
            <a:ext cx="11448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학습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19656" y="5349240"/>
            <a:ext cx="1144828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95A25"/>
                </a:solidFill>
                <a:latin typeface="Noto Sans KR"/>
                <a:ea typeface="Noto Sans KR"/>
              </a:rPr>
              <a:t>+6단계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2.0분/층</a:t>
            </a:r>
          </a:p>
        </p:txBody>
      </p:sp>
      <p:sp>
        <p:nvSpPr>
          <p:cNvPr id="5" name="Card"/>
          <p:cNvSpPr/>
          <p:nvPr/>
        </p:nvSpPr>
        <p:spPr>
          <a:xfrm>
            <a:off x="3147364" y="4937760"/>
            <a:ext cx="1876348" cy="118872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IconCircle"/>
          <p:cNvSpPr/>
          <p:nvPr/>
        </p:nvSpPr>
        <p:spPr>
          <a:xfrm>
            <a:off x="3257092" y="5074920"/>
            <a:ext cx="502920" cy="5029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Icon FaPersonRunning" descr="FaPersonRunn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7793" y="5195620"/>
            <a:ext cx="261518" cy="26151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3833164" y="5029200"/>
            <a:ext cx="11448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잦은 갱신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33164" y="5349240"/>
            <a:ext cx="1144828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95A25"/>
                </a:solidFill>
                <a:latin typeface="Noto Sans KR"/>
                <a:ea typeface="Noto Sans KR"/>
              </a:rPr>
              <a:t>+26단계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2.7분/층</a:t>
            </a:r>
          </a:p>
        </p:txBody>
      </p:sp>
      <p:sp>
        <p:nvSpPr>
          <p:cNvPr id="5" name="Card"/>
          <p:cNvSpPr/>
          <p:nvPr/>
        </p:nvSpPr>
        <p:spPr>
          <a:xfrm>
            <a:off x="5160873" y="4937760"/>
            <a:ext cx="1876348" cy="118872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IconCircle"/>
          <p:cNvSpPr/>
          <p:nvPr/>
        </p:nvSpPr>
        <p:spPr>
          <a:xfrm>
            <a:off x="5270601" y="5074920"/>
            <a:ext cx="502920" cy="502920"/>
          </a:xfrm>
          <a:prstGeom prst="ellipse">
            <a:avLst/>
          </a:prstGeom>
          <a:solidFill>
            <a:srgbClr val="7A2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Icon FaMountain" descr="FaMountai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1302" y="5195620"/>
            <a:ext cx="261518" cy="26151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5846673" y="5029200"/>
            <a:ext cx="11448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압박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46673" y="5349240"/>
            <a:ext cx="1144828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95A25"/>
                </a:solidFill>
                <a:latin typeface="Noto Sans KR"/>
                <a:ea typeface="Noto Sans KR"/>
              </a:rPr>
              <a:t>+11단계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6.5분/층</a:t>
            </a:r>
          </a:p>
        </p:txBody>
      </p:sp>
      <p:sp>
        <p:nvSpPr>
          <p:cNvPr id="5" name="Card"/>
          <p:cNvSpPr/>
          <p:nvPr/>
        </p:nvSpPr>
        <p:spPr>
          <a:xfrm>
            <a:off x="7174382" y="4937760"/>
            <a:ext cx="1876348" cy="118872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IconCircle"/>
          <p:cNvSpPr/>
          <p:nvPr/>
        </p:nvSpPr>
        <p:spPr>
          <a:xfrm>
            <a:off x="7284110" y="5074920"/>
            <a:ext cx="502920" cy="5029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Icon FaWind" descr="FaWin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4811" y="5195620"/>
            <a:ext cx="261518" cy="261518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7860182" y="5029200"/>
            <a:ext cx="11448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숨 고르기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60182" y="5349240"/>
            <a:ext cx="1144828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95A25"/>
                </a:solidFill>
                <a:latin typeface="Noto Sans KR"/>
                <a:ea typeface="Noto Sans KR"/>
              </a:rPr>
              <a:t>+6단계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4.0분/층</a:t>
            </a:r>
          </a:p>
        </p:txBody>
      </p:sp>
      <p:sp>
        <p:nvSpPr>
          <p:cNvPr id="5" name="Card"/>
          <p:cNvSpPr/>
          <p:nvPr/>
        </p:nvSpPr>
        <p:spPr>
          <a:xfrm>
            <a:off x="9187891" y="4937760"/>
            <a:ext cx="1876348" cy="118872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IconCircle"/>
          <p:cNvSpPr/>
          <p:nvPr/>
        </p:nvSpPr>
        <p:spPr>
          <a:xfrm>
            <a:off x="9297619" y="5074920"/>
            <a:ext cx="502920" cy="502920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Icon FaCrown" descr="FaCrown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19" y="5195620"/>
            <a:ext cx="261518" cy="26151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9873691" y="5029200"/>
            <a:ext cx="11448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최종 연전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873691" y="5349240"/>
            <a:ext cx="1144828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95A25"/>
                </a:solidFill>
                <a:latin typeface="Noto Sans KR"/>
                <a:ea typeface="Noto Sans KR"/>
              </a:rPr>
              <a:t>+12단계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4.5분/층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재시작 규칙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시스템 - 재시작 규칙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목적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다음 도전을 어디서 시작할 수 있는지 정한다 — 기록이 70층 이하면 기록−10층, 71층 이상이면 기록−5층까지</a:t>
            </a:r>
          </a:p>
        </p:txBody>
      </p:sp>
      <p:graphicFrame>
        <p:nvGraphicFramePr>
          <p:cNvPr id="5" name="Chart"/>
          <p:cNvGraphicFramePr>
            <a:graphicFrameLocks noGrp="1"/>
          </p:cNvGraphicFramePr>
          <p:nvPr/>
        </p:nvGraphicFramePr>
        <p:xfrm>
          <a:off x="1133856" y="1783080"/>
          <a:ext cx="603504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ard"/>
          <p:cNvSpPr/>
          <p:nvPr/>
        </p:nvSpPr>
        <p:spPr>
          <a:xfrm>
            <a:off x="7360920" y="1783080"/>
            <a:ext cx="3703320" cy="96012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"/>
          <p:cNvSpPr/>
          <p:nvPr/>
        </p:nvSpPr>
        <p:spPr>
          <a:xfrm>
            <a:off x="7479792" y="1920240"/>
            <a:ext cx="1097280" cy="329184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</a:rPr>
              <a:t>기록 ≤ 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856231"/>
            <a:ext cx="2331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Noto Sans KR Black"/>
                <a:ea typeface="Noto Sans KR Black"/>
              </a:rPr>
              <a:t>기록 − 10층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79792" y="2331720"/>
            <a:ext cx="35204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이미 넘은 층을 최소 11개 다시 지난다</a:t>
            </a:r>
          </a:p>
        </p:txBody>
      </p:sp>
      <p:sp>
        <p:nvSpPr>
          <p:cNvPr id="5" name="Card"/>
          <p:cNvSpPr/>
          <p:nvPr/>
        </p:nvSpPr>
        <p:spPr>
          <a:xfrm>
            <a:off x="7360920" y="2880360"/>
            <a:ext cx="3703320" cy="96012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"/>
          <p:cNvSpPr/>
          <p:nvPr/>
        </p:nvSpPr>
        <p:spPr>
          <a:xfrm>
            <a:off x="7479792" y="3017520"/>
            <a:ext cx="1097280" cy="329184"/>
          </a:xfrm>
          <a:prstGeom prst="roundRect">
            <a:avLst>
              <a:gd name="adj" fmla="val 4000"/>
            </a:avLst>
          </a:prstGeom>
          <a:solidFill>
            <a:srgbClr val="7A2E0E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</a:rPr>
              <a:t>기록 ≥ 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953512"/>
            <a:ext cx="2331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Noto Sans KR Black"/>
                <a:ea typeface="Noto Sans KR Black"/>
              </a:rPr>
              <a:t>기록 − 5층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79792" y="3429000"/>
            <a:ext cx="35204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다시 지나는 층이 최소 6개로 줄어든다</a:t>
            </a:r>
          </a:p>
        </p:txBody>
      </p:sp>
      <p:sp>
        <p:nvSpPr>
          <p:cNvPr id="5" name="Card"/>
          <p:cNvSpPr/>
          <p:nvPr/>
        </p:nvSpPr>
        <p:spPr>
          <a:xfrm>
            <a:off x="7360920" y="4023360"/>
            <a:ext cx="3703320" cy="1188720"/>
          </a:xfrm>
          <a:prstGeom prst="roundRect">
            <a:avLst>
              <a:gd name="adj" fmla="val 4000"/>
            </a:avLst>
          </a:prstGeom>
          <a:solidFill>
            <a:srgbClr val="FBE3D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79792" y="4069080"/>
            <a:ext cx="35204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경계 예시 · 71층 전후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9792" y="4416552"/>
            <a:ext cx="118872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00000"/>
                </a:solidFill>
                <a:latin typeface="Noto Sans KR"/>
                <a:ea typeface="Noto Sans KR"/>
              </a:rPr>
              <a:t>71층 첫 도전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4416552"/>
            <a:ext cx="105156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B95A25"/>
                </a:solidFill>
                <a:latin typeface="Noto Sans KR"/>
                <a:ea typeface="Noto Sans KR"/>
              </a:rPr>
              <a:t>상한 60층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4416552"/>
            <a:ext cx="141732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직전 기록 70 → 70−10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9792" y="4800600"/>
            <a:ext cx="118872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00000"/>
                </a:solidFill>
                <a:latin typeface="Noto Sans KR"/>
                <a:ea typeface="Noto Sans KR"/>
              </a:rPr>
              <a:t>72층 첫 도전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4800600"/>
            <a:ext cx="105156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B95A25"/>
                </a:solidFill>
                <a:latin typeface="Noto Sans KR"/>
                <a:ea typeface="Noto Sans KR"/>
              </a:rPr>
              <a:t>상한 66층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4800600"/>
            <a:ext cx="141732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직전 기록 71 → 71−5</a:t>
            </a:r>
          </a:p>
        </p:txBody>
      </p:sp>
      <p:sp>
        <p:nvSpPr>
          <p:cNvPr id="5" name="Card"/>
          <p:cNvSpPr/>
          <p:nvPr/>
        </p:nvSpPr>
        <p:spPr>
          <a:xfrm>
            <a:off x="1133856" y="5349240"/>
            <a:ext cx="4873752" cy="749808"/>
          </a:xfrm>
          <a:prstGeom prst="roundRect">
            <a:avLst>
              <a:gd name="adj" fmla="val 4000"/>
            </a:avLst>
          </a:prstGeom>
          <a:solidFill>
            <a:srgbClr val="3C2D2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IconCircle"/>
          <p:cNvSpPr/>
          <p:nvPr/>
        </p:nvSpPr>
        <p:spPr>
          <a:xfrm>
            <a:off x="1243584" y="5504688"/>
            <a:ext cx="438912" cy="43891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 FaLightbulb" descr="FaLightbulb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922" y="5610026"/>
            <a:ext cx="228234" cy="22823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755648" y="5385816"/>
            <a:ext cx="4160520" cy="6766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3B58A"/>
                </a:solidFill>
                <a:latin typeface="Noto Sans KR"/>
                <a:ea typeface="Noto Sans KR"/>
              </a:rPr>
              <a:t>왜 필요한가  </a:t>
            </a:r>
            <a:r>
              <a:rPr sz="1100" b="0" i="0">
                <a:solidFill>
                  <a:srgbClr val="FFFFFF"/>
                </a:solidFill>
                <a:latin typeface="Noto Sans KR"/>
                <a:ea typeface="Noto Sans KR"/>
              </a:rPr>
              <a:t>한 번의 도전 길이를 구간별로 조절한다 (근거는 18P)</a:t>
            </a:r>
          </a:p>
        </p:txBody>
      </p:sp>
      <p:sp>
        <p:nvSpPr>
          <p:cNvPr id="5" name="Card"/>
          <p:cNvSpPr/>
          <p:nvPr/>
        </p:nvSpPr>
        <p:spPr>
          <a:xfrm>
            <a:off x="6190488" y="5349240"/>
            <a:ext cx="4873752" cy="749808"/>
          </a:xfrm>
          <a:prstGeom prst="roundRect">
            <a:avLst>
              <a:gd name="adj" fmla="val 4000"/>
            </a:avLst>
          </a:prstGeom>
          <a:solidFill>
            <a:srgbClr val="FBE3D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IconCircle"/>
          <p:cNvSpPr/>
          <p:nvPr/>
        </p:nvSpPr>
        <p:spPr>
          <a:xfrm>
            <a:off x="6300216" y="5504688"/>
            <a:ext cx="438912" cy="438912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con FaCalculator" descr="FaCalculato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554" y="5610026"/>
            <a:ext cx="228234" cy="22823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12280" y="5385816"/>
            <a:ext cx="4160520" cy="6766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B95A25"/>
                </a:solidFill>
                <a:latin typeface="Noto Sans KR"/>
                <a:ea typeface="Noto Sans KR"/>
              </a:rPr>
              <a:t>수치에 반영  </a:t>
            </a: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기준 시작층 s_f = 상한(f−1) — 표의 모든 A(s_f, f)가 여기서 나온다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성장 단계 ×1.3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2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1" y="1005840"/>
            <a:ext cx="201168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600" b="0" i="0">
                <a:solidFill>
                  <a:srgbClr val="E97132"/>
                </a:solidFill>
                <a:latin typeface="Noto Sans KR Black"/>
                <a:ea typeface="Noto Sans KR Black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1" y="2148840"/>
            <a:ext cx="42062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0" i="0">
                <a:solidFill>
                  <a:srgbClr val="FFFFFF"/>
                </a:solidFill>
                <a:latin typeface="Noto Sans KR Black"/>
                <a:ea typeface="Noto Sans KR Black"/>
              </a:rPr>
              <a:t>설계 근거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2926080"/>
            <a:ext cx="42062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3B58A"/>
                </a:solidFill>
                <a:latin typeface="Noto Sans KR"/>
                <a:ea typeface="Noto Sans KR"/>
              </a:rPr>
              <a:t>왜 이 값이어야 하나?</a:t>
            </a:r>
          </a:p>
        </p:txBody>
      </p:sp>
      <p:sp>
        <p:nvSpPr>
          <p:cNvPr id="5" name="IconCircle"/>
          <p:cNvSpPr/>
          <p:nvPr/>
        </p:nvSpPr>
        <p:spPr>
          <a:xfrm>
            <a:off x="1097280" y="4160520"/>
            <a:ext cx="960120" cy="9601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 FaLightbulb" descr="FaLightbulb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708" y="4390948"/>
            <a:ext cx="499262" cy="4992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271" y="5257800"/>
            <a:ext cx="4023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D9CFC2"/>
                </a:solidFill>
                <a:latin typeface="Noto Sans KR"/>
                <a:ea typeface="Noto Sans KR"/>
              </a:rPr>
              <a:t>이 장에서 보는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5559552"/>
            <a:ext cx="42062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D9CFC2"/>
                </a:solidFill>
                <a:latin typeface="Noto Sans KR"/>
                <a:ea typeface="Noto Sans KR"/>
              </a:rPr>
              <a:t>14P 선택한 값과 계산된 값 · 15P 엔딩 100층과 1 → 1ae · 16P 구간 경계와 시간 배분 · 17P 보스 배치와 관문의 두 역할 · 18P 재시작 상한이 조절하는 것 · 19P 허들 리듬: 긴장 곡선 · 20P 기본 보상 함수와 102% 기준</a:t>
            </a:r>
          </a:p>
        </p:txBody>
      </p:sp>
      <p:sp>
        <p:nvSpPr>
          <p:cNvPr id="5" name="Card"/>
          <p:cNvSpPr/>
          <p:nvPr/>
        </p:nvSpPr>
        <p:spPr>
          <a:xfrm>
            <a:off x="5532120" y="1143000"/>
            <a:ext cx="5532120" cy="141732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IconCircle"/>
          <p:cNvSpPr/>
          <p:nvPr/>
        </p:nvSpPr>
        <p:spPr>
          <a:xfrm>
            <a:off x="5715000" y="1527048"/>
            <a:ext cx="640080" cy="64008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 FaCompass" descr="FaCompas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619" y="1680667"/>
            <a:ext cx="332841" cy="3328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37960" y="1280160"/>
            <a:ext cx="43891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Noto Sans KR"/>
                <a:ea typeface="Noto Sans KR"/>
              </a:rPr>
              <a:t>경험에서 출발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709928"/>
            <a:ext cx="43891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7DFD2"/>
                </a:solidFill>
                <a:latin typeface="Noto Sans KR"/>
                <a:ea typeface="Noto Sans KR"/>
              </a:rPr>
              <a:t>100층 · 1→1ae · 구간 · 보스 · 재시작은 '어떤 플레이를 줄까'에서 고른 기획 변수다</a:t>
            </a:r>
          </a:p>
        </p:txBody>
      </p:sp>
      <p:sp>
        <p:nvSpPr>
          <p:cNvPr id="5" name="Card"/>
          <p:cNvSpPr/>
          <p:nvPr/>
        </p:nvSpPr>
        <p:spPr>
          <a:xfrm>
            <a:off x="5532120" y="2743200"/>
            <a:ext cx="5532120" cy="141732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IconCircle"/>
          <p:cNvSpPr/>
          <p:nvPr/>
        </p:nvSpPr>
        <p:spPr>
          <a:xfrm>
            <a:off x="5715000" y="3127248"/>
            <a:ext cx="640080" cy="64008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 FaCalculator" descr="FaCalculato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619" y="3280867"/>
            <a:ext cx="332841" cy="33284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37960" y="2880360"/>
            <a:ext cx="43891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Noto Sans KR"/>
                <a:ea typeface="Noto Sans KR"/>
              </a:rPr>
              <a:t>나머지는 계산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310128"/>
            <a:ext cx="43891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7DFD2"/>
                </a:solidFill>
                <a:latin typeface="Noto Sans KR"/>
                <a:ea typeface="Noto Sans KR"/>
              </a:rPr>
              <a:t>61단계는 배치의 합, q ≈ 1.5787은 1ae 조건에서 역산한 파생 변수다</a:t>
            </a:r>
          </a:p>
        </p:txBody>
      </p:sp>
      <p:sp>
        <p:nvSpPr>
          <p:cNvPr id="5" name="Card"/>
          <p:cNvSpPr/>
          <p:nvPr/>
        </p:nvSpPr>
        <p:spPr>
          <a:xfrm>
            <a:off x="5532120" y="4343400"/>
            <a:ext cx="5532120" cy="141732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IconCircle"/>
          <p:cNvSpPr/>
          <p:nvPr/>
        </p:nvSpPr>
        <p:spPr>
          <a:xfrm>
            <a:off x="5715000" y="4727448"/>
            <a:ext cx="640080" cy="64008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 FaWind" descr="FaWin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8619" y="4881067"/>
            <a:ext cx="332841" cy="33284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7960" y="4480560"/>
            <a:ext cx="43891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Noto Sans KR"/>
                <a:ea typeface="Noto Sans KR"/>
              </a:rPr>
              <a:t>리듬을 설계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910328"/>
            <a:ext cx="43891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7DFD2"/>
                </a:solidFill>
                <a:latin typeface="Noto Sans KR"/>
                <a:ea typeface="Noto Sans KR"/>
              </a:rPr>
              <a:t>압박 → 돌파 → 완화 → 최종 압박이 되도록 허들 밀도를 오르내린다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부록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설계 근거 - 엔딩 100층과 1 → 1ae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목적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100층은 진행률을 바로 읽게 하고, 1 → 1ae는 플레이어가 k부터 ae까지 숫자 단위를 차례로 체험하게 한다</a:t>
            </a:r>
          </a:p>
        </p:txBody>
      </p:sp>
      <p:graphicFrame>
        <p:nvGraphicFramePr>
          <p:cNvPr id="5" name="Chart"/>
          <p:cNvGraphicFramePr>
            <a:graphicFrameLocks noGrp="1"/>
          </p:cNvGraphicFramePr>
          <p:nvPr/>
        </p:nvGraphicFramePr>
        <p:xfrm>
          <a:off x="1133856" y="1783080"/>
          <a:ext cx="630936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ard"/>
          <p:cNvSpPr/>
          <p:nvPr/>
        </p:nvSpPr>
        <p:spPr>
          <a:xfrm>
            <a:off x="7635240" y="1783080"/>
            <a:ext cx="3429000" cy="34290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0" y="1847088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단위가 바뀌는 층 (약 11~13층마다)</a:t>
            </a:r>
          </a:p>
        </p:txBody>
      </p:sp>
      <p:sp>
        <p:nvSpPr>
          <p:cNvPr id="5" name="Chip"/>
          <p:cNvSpPr/>
          <p:nvPr/>
        </p:nvSpPr>
        <p:spPr>
          <a:xfrm>
            <a:off x="7772400" y="2286000"/>
            <a:ext cx="960120" cy="4572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</a:rPr>
              <a:t>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761488"/>
            <a:ext cx="960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6B5E54"/>
                </a:solidFill>
                <a:latin typeface="Noto Sans KR"/>
                <a:ea typeface="Noto Sans KR"/>
              </a:rPr>
              <a:t>13층</a:t>
            </a:r>
          </a:p>
        </p:txBody>
      </p:sp>
      <p:sp>
        <p:nvSpPr>
          <p:cNvPr id="5" name="Chip"/>
          <p:cNvSpPr/>
          <p:nvPr/>
        </p:nvSpPr>
        <p:spPr>
          <a:xfrm>
            <a:off x="8851392" y="2286000"/>
            <a:ext cx="960120" cy="4572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</a:rPr>
              <a:t>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1392" y="2761488"/>
            <a:ext cx="960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6B5E54"/>
                </a:solidFill>
                <a:latin typeface="Noto Sans KR"/>
                <a:ea typeface="Noto Sans KR"/>
              </a:rPr>
              <a:t>24층</a:t>
            </a:r>
          </a:p>
        </p:txBody>
      </p:sp>
      <p:sp>
        <p:nvSpPr>
          <p:cNvPr id="5" name="Chip"/>
          <p:cNvSpPr/>
          <p:nvPr/>
        </p:nvSpPr>
        <p:spPr>
          <a:xfrm>
            <a:off x="9930384" y="2286000"/>
            <a:ext cx="960120" cy="4572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0384" y="2761488"/>
            <a:ext cx="960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6B5E54"/>
                </a:solidFill>
                <a:latin typeface="Noto Sans KR"/>
                <a:ea typeface="Noto Sans KR"/>
              </a:rPr>
              <a:t>37층</a:t>
            </a:r>
          </a:p>
        </p:txBody>
      </p:sp>
      <p:sp>
        <p:nvSpPr>
          <p:cNvPr id="5" name="Chip"/>
          <p:cNvSpPr/>
          <p:nvPr/>
        </p:nvSpPr>
        <p:spPr>
          <a:xfrm>
            <a:off x="7772400" y="3227832"/>
            <a:ext cx="960120" cy="4572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</a:rPr>
              <a:t>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703320"/>
            <a:ext cx="960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6B5E54"/>
                </a:solidFill>
                <a:latin typeface="Noto Sans KR"/>
                <a:ea typeface="Noto Sans KR"/>
              </a:rPr>
              <a:t>49층</a:t>
            </a:r>
          </a:p>
        </p:txBody>
      </p:sp>
      <p:sp>
        <p:nvSpPr>
          <p:cNvPr id="5" name="Chip"/>
          <p:cNvSpPr/>
          <p:nvPr/>
        </p:nvSpPr>
        <p:spPr>
          <a:xfrm>
            <a:off x="8851392" y="3227832"/>
            <a:ext cx="960120" cy="4572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1392" y="3703320"/>
            <a:ext cx="960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6B5E54"/>
                </a:solidFill>
                <a:latin typeface="Noto Sans KR"/>
                <a:ea typeface="Noto Sans KR"/>
              </a:rPr>
              <a:t>60층</a:t>
            </a:r>
          </a:p>
        </p:txBody>
      </p:sp>
      <p:sp>
        <p:nvSpPr>
          <p:cNvPr id="5" name="Chip"/>
          <p:cNvSpPr/>
          <p:nvPr/>
        </p:nvSpPr>
        <p:spPr>
          <a:xfrm>
            <a:off x="9930384" y="3227832"/>
            <a:ext cx="960120" cy="4572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</a:rPr>
              <a:t>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30384" y="3703320"/>
            <a:ext cx="960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6B5E54"/>
                </a:solidFill>
                <a:latin typeface="Noto Sans KR"/>
                <a:ea typeface="Noto Sans KR"/>
              </a:rPr>
              <a:t>71층</a:t>
            </a:r>
          </a:p>
        </p:txBody>
      </p:sp>
      <p:sp>
        <p:nvSpPr>
          <p:cNvPr id="5" name="Chip"/>
          <p:cNvSpPr/>
          <p:nvPr/>
        </p:nvSpPr>
        <p:spPr>
          <a:xfrm>
            <a:off x="7772400" y="4169664"/>
            <a:ext cx="960120" cy="4572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</a:rPr>
              <a:t>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645152"/>
            <a:ext cx="960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6B5E54"/>
                </a:solidFill>
                <a:latin typeface="Noto Sans KR"/>
                <a:ea typeface="Noto Sans KR"/>
              </a:rPr>
              <a:t>81층</a:t>
            </a:r>
          </a:p>
        </p:txBody>
      </p:sp>
      <p:sp>
        <p:nvSpPr>
          <p:cNvPr id="5" name="Chip"/>
          <p:cNvSpPr/>
          <p:nvPr/>
        </p:nvSpPr>
        <p:spPr>
          <a:xfrm>
            <a:off x="8851392" y="4169664"/>
            <a:ext cx="960120" cy="4572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</a:rPr>
              <a:t>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1392" y="4645152"/>
            <a:ext cx="960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6B5E54"/>
                </a:solidFill>
                <a:latin typeface="Noto Sans KR"/>
                <a:ea typeface="Noto Sans KR"/>
              </a:rPr>
              <a:t>92층</a:t>
            </a:r>
          </a:p>
        </p:txBody>
      </p:sp>
      <p:sp>
        <p:nvSpPr>
          <p:cNvPr id="5" name="Chip"/>
          <p:cNvSpPr/>
          <p:nvPr/>
        </p:nvSpPr>
        <p:spPr>
          <a:xfrm>
            <a:off x="9930384" y="4169664"/>
            <a:ext cx="960120" cy="457200"/>
          </a:xfrm>
          <a:prstGeom prst="roundRect">
            <a:avLst>
              <a:gd name="adj" fmla="val 4000"/>
            </a:avLst>
          </a:prstGeom>
          <a:solidFill>
            <a:srgbClr val="3C2D2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</a:rPr>
              <a:t>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30384" y="4645152"/>
            <a:ext cx="960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6B5E54"/>
                </a:solidFill>
                <a:latin typeface="Noto Sans KR"/>
                <a:ea typeface="Noto Sans KR"/>
              </a:rPr>
              <a:t>100층</a:t>
            </a:r>
          </a:p>
        </p:txBody>
      </p:sp>
      <p:sp>
        <p:nvSpPr>
          <p:cNvPr id="5" name="Card"/>
          <p:cNvSpPr/>
          <p:nvPr/>
        </p:nvSpPr>
        <p:spPr>
          <a:xfrm>
            <a:off x="1133856" y="5349240"/>
            <a:ext cx="4873752" cy="749808"/>
          </a:xfrm>
          <a:prstGeom prst="roundRect">
            <a:avLst>
              <a:gd name="adj" fmla="val 4000"/>
            </a:avLst>
          </a:prstGeom>
          <a:solidFill>
            <a:srgbClr val="3C2D2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IconCircle"/>
          <p:cNvSpPr/>
          <p:nvPr/>
        </p:nvSpPr>
        <p:spPr>
          <a:xfrm>
            <a:off x="1243584" y="5504688"/>
            <a:ext cx="438912" cy="43891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con FaLightbulb" descr="FaLightbulb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922" y="5610026"/>
            <a:ext cx="228234" cy="22823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755648" y="5385816"/>
            <a:ext cx="4160520" cy="6766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3B58A"/>
                </a:solidFill>
                <a:latin typeface="Noto Sans KR"/>
                <a:ea typeface="Noto Sans KR"/>
              </a:rPr>
              <a:t>왜 필요한가  </a:t>
            </a:r>
            <a:r>
              <a:rPr sz="1100" b="0" i="0">
                <a:solidFill>
                  <a:srgbClr val="FFFFFF"/>
                </a:solidFill>
                <a:latin typeface="Noto Sans KR"/>
                <a:ea typeface="Noto Sans KR"/>
              </a:rPr>
              <a:t>10층 단위 진척 · 5층 보스와 맞물리고, 101층~은 무한 모드로 분리한다</a:t>
            </a:r>
          </a:p>
        </p:txBody>
      </p:sp>
      <p:sp>
        <p:nvSpPr>
          <p:cNvPr id="5" name="Card"/>
          <p:cNvSpPr/>
          <p:nvPr/>
        </p:nvSpPr>
        <p:spPr>
          <a:xfrm>
            <a:off x="6190488" y="5349240"/>
            <a:ext cx="4873752" cy="749808"/>
          </a:xfrm>
          <a:prstGeom prst="roundRect">
            <a:avLst>
              <a:gd name="adj" fmla="val 4000"/>
            </a:avLst>
          </a:prstGeom>
          <a:solidFill>
            <a:srgbClr val="FBE3D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IconCircle"/>
          <p:cNvSpPr/>
          <p:nvPr/>
        </p:nvSpPr>
        <p:spPr>
          <a:xfrm>
            <a:off x="6300216" y="5504688"/>
            <a:ext cx="438912" cy="438912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con FaCalculator" descr="FaCalculato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554" y="5610026"/>
            <a:ext cx="228234" cy="22823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12280" y="5385816"/>
            <a:ext cx="4160520" cy="6766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B95A25"/>
                </a:solidFill>
                <a:latin typeface="Noto Sans KR"/>
                <a:ea typeface="Noto Sans KR"/>
              </a:rPr>
              <a:t>수치에 반영  </a:t>
            </a: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시작 1 · 종료 1ae는 크기의 앵커다. 바꾸면 q만 다시 역산되고 G_f 곡선은 그대로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구간 경계와 시간 배분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설계 근거 - 구간 경계와 시간 배분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목적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초반은 짧게 배우고, 중반은 빠르게 갱신하고, 후반은 한 층을 오래 붙잡게 — 층당 시간이 뒤로 갈수록 커진다</a:t>
            </a:r>
          </a:p>
        </p:txBody>
      </p:sp>
      <p:graphicFrame>
        <p:nvGraphicFramePr>
          <p:cNvPr id="5" name="Chart"/>
          <p:cNvGraphicFramePr>
            <a:graphicFrameLocks noGrp="1"/>
          </p:cNvGraphicFramePr>
          <p:nvPr/>
        </p:nvGraphicFramePr>
        <p:xfrm>
          <a:off x="1133856" y="1783080"/>
          <a:ext cx="630936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ard"/>
          <p:cNvSpPr/>
          <p:nvPr/>
        </p:nvSpPr>
        <p:spPr>
          <a:xfrm>
            <a:off x="7635240" y="1783080"/>
            <a:ext cx="3429000" cy="1024128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"/>
          <p:cNvSpPr/>
          <p:nvPr/>
        </p:nvSpPr>
        <p:spPr>
          <a:xfrm>
            <a:off x="7754112" y="1920240"/>
            <a:ext cx="1234440" cy="329184"/>
          </a:xfrm>
          <a:prstGeom prst="roundRect">
            <a:avLst>
              <a:gd name="adj" fmla="val 4000"/>
            </a:avLst>
          </a:prstGeom>
          <a:solidFill>
            <a:srgbClr val="F3B58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i="0">
                <a:solidFill>
                  <a:srgbClr val="000000"/>
                </a:solidFill>
                <a:latin typeface="Noto Sans KR"/>
                <a:ea typeface="Noto Sans KR"/>
              </a:rPr>
              <a:t>초반 1~15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54112" y="2286000"/>
            <a:ext cx="12801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000000"/>
                </a:solidFill>
                <a:latin typeface="Noto Sans KR Black"/>
                <a:ea typeface="Noto Sans KR Black"/>
              </a:rPr>
              <a:t>2.0</a:t>
            </a: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 분/층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8280" y="1920240"/>
            <a:ext cx="1874519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조작 · 첫 보스 3회 학습</a:t>
            </a:r>
          </a:p>
        </p:txBody>
      </p:sp>
      <p:sp>
        <p:nvSpPr>
          <p:cNvPr id="5" name="Card"/>
          <p:cNvSpPr/>
          <p:nvPr/>
        </p:nvSpPr>
        <p:spPr>
          <a:xfrm>
            <a:off x="7635240" y="2944368"/>
            <a:ext cx="3429000" cy="1024128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"/>
          <p:cNvSpPr/>
          <p:nvPr/>
        </p:nvSpPr>
        <p:spPr>
          <a:xfrm>
            <a:off x="7754112" y="3081527"/>
            <a:ext cx="1234440" cy="329184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</a:rPr>
              <a:t>중반 16~70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54112" y="3447287"/>
            <a:ext cx="12801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000000"/>
                </a:solidFill>
                <a:latin typeface="Noto Sans KR Black"/>
                <a:ea typeface="Noto Sans KR Black"/>
              </a:rPr>
              <a:t>2.7</a:t>
            </a: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 분/층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3081527"/>
            <a:ext cx="1874519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55개 층에서 잦은 기록 갱신</a:t>
            </a:r>
          </a:p>
        </p:txBody>
      </p:sp>
      <p:sp>
        <p:nvSpPr>
          <p:cNvPr id="5" name="Card"/>
          <p:cNvSpPr/>
          <p:nvPr/>
        </p:nvSpPr>
        <p:spPr>
          <a:xfrm>
            <a:off x="7635240" y="4105656"/>
            <a:ext cx="3429000" cy="1024128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"/>
          <p:cNvSpPr/>
          <p:nvPr/>
        </p:nvSpPr>
        <p:spPr>
          <a:xfrm>
            <a:off x="7754112" y="4242816"/>
            <a:ext cx="1234440" cy="329184"/>
          </a:xfrm>
          <a:prstGeom prst="roundRect">
            <a:avLst>
              <a:gd name="adj" fmla="val 4000"/>
            </a:avLst>
          </a:prstGeom>
          <a:solidFill>
            <a:srgbClr val="3C2D2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</a:rPr>
              <a:t>후반 71~100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4608576"/>
            <a:ext cx="12801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000000"/>
                </a:solidFill>
                <a:latin typeface="Noto Sans KR Black"/>
                <a:ea typeface="Noto Sans KR Black"/>
              </a:rPr>
              <a:t>5.0</a:t>
            </a: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 분/층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4242816"/>
            <a:ext cx="1874519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층의 30%에 시간의 45%</a:t>
            </a:r>
          </a:p>
        </p:txBody>
      </p:sp>
      <p:sp>
        <p:nvSpPr>
          <p:cNvPr id="5" name="Card"/>
          <p:cNvSpPr/>
          <p:nvPr/>
        </p:nvSpPr>
        <p:spPr>
          <a:xfrm>
            <a:off x="1133856" y="5349240"/>
            <a:ext cx="4873752" cy="749808"/>
          </a:xfrm>
          <a:prstGeom prst="roundRect">
            <a:avLst>
              <a:gd name="adj" fmla="val 4000"/>
            </a:avLst>
          </a:prstGeom>
          <a:solidFill>
            <a:srgbClr val="3C2D2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IconCircle"/>
          <p:cNvSpPr/>
          <p:nvPr/>
        </p:nvSpPr>
        <p:spPr>
          <a:xfrm>
            <a:off x="1243584" y="5504688"/>
            <a:ext cx="438912" cy="43891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Icon FaLightbulb" descr="FaLightbulb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922" y="5610026"/>
            <a:ext cx="228234" cy="22823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55648" y="5385816"/>
            <a:ext cx="4160520" cy="6766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3B58A"/>
                </a:solidFill>
                <a:latin typeface="Noto Sans KR"/>
                <a:ea typeface="Noto Sans KR"/>
              </a:rPr>
              <a:t>왜 필요한가  </a:t>
            </a:r>
            <a:r>
              <a:rPr sz="1100" b="0" i="0">
                <a:solidFill>
                  <a:srgbClr val="FFFFFF"/>
                </a:solidFill>
                <a:latin typeface="Noto Sans KR"/>
                <a:ea typeface="Noto Sans KR"/>
              </a:rPr>
              <a:t>15층 = 보스 3회로 학습 완료, 70층 = 진행률 70%에서 최종 국면 진입 신호</a:t>
            </a:r>
          </a:p>
        </p:txBody>
      </p:sp>
      <p:sp>
        <p:nvSpPr>
          <p:cNvPr id="5" name="Card"/>
          <p:cNvSpPr/>
          <p:nvPr/>
        </p:nvSpPr>
        <p:spPr>
          <a:xfrm>
            <a:off x="6190488" y="5349240"/>
            <a:ext cx="4873752" cy="749808"/>
          </a:xfrm>
          <a:prstGeom prst="roundRect">
            <a:avLst>
              <a:gd name="adj" fmla="val 4000"/>
            </a:avLst>
          </a:prstGeom>
          <a:solidFill>
            <a:srgbClr val="FBE3D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IconCircle"/>
          <p:cNvSpPr/>
          <p:nvPr/>
        </p:nvSpPr>
        <p:spPr>
          <a:xfrm>
            <a:off x="6300216" y="5504688"/>
            <a:ext cx="438912" cy="438912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 FaCalculator" descr="FaCalculato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554" y="5610026"/>
            <a:ext cx="228234" cy="22823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12280" y="5385816"/>
            <a:ext cx="4160520" cy="6766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B95A25"/>
                </a:solidFill>
                <a:latin typeface="Noto Sans KR"/>
                <a:ea typeface="Noto Sans KR"/>
              </a:rPr>
              <a:t>수치에 반영  </a:t>
            </a: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목표 시간 ÷ 성장 단계 → 약 5~6분마다 1단계(×1.3)를 공급해야 한다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보스 배치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설계 근거 - 재시작 상한이 조절하는 것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목적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재시작 상한은 전투력이 아니라 '한 판의 길이'를 조절한다 — 낮게 시작해도 전투력 이득은 4% 남짓이다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783080"/>
            <a:ext cx="4114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신기록 도전 때 다시 지나야 하는 층 (최소)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2240280"/>
            <a:ext cx="17373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초 · 중반 (기록−10)</a:t>
            </a:r>
          </a:p>
        </p:txBody>
      </p:sp>
      <p:sp>
        <p:nvSpPr>
          <p:cNvPr id="7" name="IconCircle"/>
          <p:cNvSpPr/>
          <p:nvPr/>
        </p:nvSpPr>
        <p:spPr>
          <a:xfrm>
            <a:off x="2743200" y="2331720"/>
            <a:ext cx="237744" cy="23774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con FaPersonRunning" descr="FaPersonRunning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371" y="2376891"/>
            <a:ext cx="147401" cy="147401"/>
          </a:xfrm>
          <a:prstGeom prst="rect">
            <a:avLst/>
          </a:prstGeom>
        </p:spPr>
      </p:pic>
      <p:sp>
        <p:nvSpPr>
          <p:cNvPr id="9" name="IconCircle"/>
          <p:cNvSpPr/>
          <p:nvPr/>
        </p:nvSpPr>
        <p:spPr>
          <a:xfrm>
            <a:off x="2999232" y="2331720"/>
            <a:ext cx="237744" cy="23774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 FaPersonRunning" descr="FaPersonRunning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403" y="2376891"/>
            <a:ext cx="147401" cy="147401"/>
          </a:xfrm>
          <a:prstGeom prst="rect">
            <a:avLst/>
          </a:prstGeom>
        </p:spPr>
      </p:pic>
      <p:sp>
        <p:nvSpPr>
          <p:cNvPr id="11" name="IconCircle"/>
          <p:cNvSpPr/>
          <p:nvPr/>
        </p:nvSpPr>
        <p:spPr>
          <a:xfrm>
            <a:off x="3255264" y="2331720"/>
            <a:ext cx="237744" cy="23774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 FaPersonRunning" descr="FaPersonRunning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435" y="2376891"/>
            <a:ext cx="147401" cy="147401"/>
          </a:xfrm>
          <a:prstGeom prst="rect">
            <a:avLst/>
          </a:prstGeom>
        </p:spPr>
      </p:pic>
      <p:sp>
        <p:nvSpPr>
          <p:cNvPr id="13" name="IconCircle"/>
          <p:cNvSpPr/>
          <p:nvPr/>
        </p:nvSpPr>
        <p:spPr>
          <a:xfrm>
            <a:off x="3511296" y="2331720"/>
            <a:ext cx="237744" cy="23774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 FaPersonRunning" descr="FaPersonRunning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467" y="2376891"/>
            <a:ext cx="147401" cy="147401"/>
          </a:xfrm>
          <a:prstGeom prst="rect">
            <a:avLst/>
          </a:prstGeom>
        </p:spPr>
      </p:pic>
      <p:sp>
        <p:nvSpPr>
          <p:cNvPr id="15" name="IconCircle"/>
          <p:cNvSpPr/>
          <p:nvPr/>
        </p:nvSpPr>
        <p:spPr>
          <a:xfrm>
            <a:off x="3767328" y="2331720"/>
            <a:ext cx="237744" cy="23774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 FaPersonRunning" descr="FaPersonRunning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499" y="2376891"/>
            <a:ext cx="147401" cy="147401"/>
          </a:xfrm>
          <a:prstGeom prst="rect">
            <a:avLst/>
          </a:prstGeom>
        </p:spPr>
      </p:pic>
      <p:sp>
        <p:nvSpPr>
          <p:cNvPr id="17" name="IconCircle"/>
          <p:cNvSpPr/>
          <p:nvPr/>
        </p:nvSpPr>
        <p:spPr>
          <a:xfrm>
            <a:off x="4023360" y="2331720"/>
            <a:ext cx="237744" cy="23774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 FaPersonRunning" descr="FaPersonRunning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531" y="2376891"/>
            <a:ext cx="147401" cy="147401"/>
          </a:xfrm>
          <a:prstGeom prst="rect">
            <a:avLst/>
          </a:prstGeom>
        </p:spPr>
      </p:pic>
      <p:sp>
        <p:nvSpPr>
          <p:cNvPr id="19" name="IconCircle"/>
          <p:cNvSpPr/>
          <p:nvPr/>
        </p:nvSpPr>
        <p:spPr>
          <a:xfrm>
            <a:off x="4279392" y="2331720"/>
            <a:ext cx="237744" cy="23774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con FaPersonRunning" descr="FaPersonRunning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563" y="2376891"/>
            <a:ext cx="147401" cy="147401"/>
          </a:xfrm>
          <a:prstGeom prst="rect">
            <a:avLst/>
          </a:prstGeom>
        </p:spPr>
      </p:pic>
      <p:sp>
        <p:nvSpPr>
          <p:cNvPr id="21" name="IconCircle"/>
          <p:cNvSpPr/>
          <p:nvPr/>
        </p:nvSpPr>
        <p:spPr>
          <a:xfrm>
            <a:off x="4535424" y="2331720"/>
            <a:ext cx="237744" cy="23774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Icon FaPersonRunning" descr="FaPersonRunning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595" y="2376891"/>
            <a:ext cx="147401" cy="147401"/>
          </a:xfrm>
          <a:prstGeom prst="rect">
            <a:avLst/>
          </a:prstGeom>
        </p:spPr>
      </p:pic>
      <p:sp>
        <p:nvSpPr>
          <p:cNvPr id="23" name="IconCircle"/>
          <p:cNvSpPr/>
          <p:nvPr/>
        </p:nvSpPr>
        <p:spPr>
          <a:xfrm>
            <a:off x="4791456" y="2331720"/>
            <a:ext cx="237744" cy="23774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Icon FaPersonRunning" descr="FaPersonRunning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627" y="2376891"/>
            <a:ext cx="147401" cy="147401"/>
          </a:xfrm>
          <a:prstGeom prst="rect">
            <a:avLst/>
          </a:prstGeom>
        </p:spPr>
      </p:pic>
      <p:sp>
        <p:nvSpPr>
          <p:cNvPr id="25" name="IconCircle"/>
          <p:cNvSpPr/>
          <p:nvPr/>
        </p:nvSpPr>
        <p:spPr>
          <a:xfrm>
            <a:off x="5047488" y="2331720"/>
            <a:ext cx="237744" cy="23774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con FaPersonRunning" descr="FaPersonRunning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659" y="2376891"/>
            <a:ext cx="147401" cy="147401"/>
          </a:xfrm>
          <a:prstGeom prst="rect">
            <a:avLst/>
          </a:prstGeom>
        </p:spPr>
      </p:pic>
      <p:sp>
        <p:nvSpPr>
          <p:cNvPr id="27" name="IconCircle"/>
          <p:cNvSpPr/>
          <p:nvPr/>
        </p:nvSpPr>
        <p:spPr>
          <a:xfrm>
            <a:off x="5303520" y="2331720"/>
            <a:ext cx="237744" cy="23774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Icon FaPersonRunning" descr="FaPersonRunning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8691" y="2376891"/>
            <a:ext cx="147401" cy="14740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96128" y="2240280"/>
            <a:ext cx="6400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97132"/>
                </a:solidFill>
                <a:latin typeface="Noto Sans KR"/>
                <a:ea typeface="Noto Sans KR"/>
              </a:rPr>
              <a:t>11층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" y="3154680"/>
            <a:ext cx="17373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후반 (기록−5)</a:t>
            </a:r>
          </a:p>
        </p:txBody>
      </p:sp>
      <p:sp>
        <p:nvSpPr>
          <p:cNvPr id="31" name="IconCircle"/>
          <p:cNvSpPr/>
          <p:nvPr/>
        </p:nvSpPr>
        <p:spPr>
          <a:xfrm>
            <a:off x="2743200" y="3246120"/>
            <a:ext cx="237744" cy="237744"/>
          </a:xfrm>
          <a:prstGeom prst="ellipse">
            <a:avLst/>
          </a:prstGeom>
          <a:solidFill>
            <a:srgbClr val="7A2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Icon FaPersonRunning" descr="FaPersonRunning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371" y="3291291"/>
            <a:ext cx="147401" cy="147401"/>
          </a:xfrm>
          <a:prstGeom prst="rect">
            <a:avLst/>
          </a:prstGeom>
        </p:spPr>
      </p:pic>
      <p:sp>
        <p:nvSpPr>
          <p:cNvPr id="33" name="IconCircle"/>
          <p:cNvSpPr/>
          <p:nvPr/>
        </p:nvSpPr>
        <p:spPr>
          <a:xfrm>
            <a:off x="2999232" y="3246120"/>
            <a:ext cx="237744" cy="237744"/>
          </a:xfrm>
          <a:prstGeom prst="ellipse">
            <a:avLst/>
          </a:prstGeom>
          <a:solidFill>
            <a:srgbClr val="7A2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Icon FaPersonRunning" descr="FaPersonRunning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403" y="3291291"/>
            <a:ext cx="147401" cy="147401"/>
          </a:xfrm>
          <a:prstGeom prst="rect">
            <a:avLst/>
          </a:prstGeom>
        </p:spPr>
      </p:pic>
      <p:sp>
        <p:nvSpPr>
          <p:cNvPr id="35" name="IconCircle"/>
          <p:cNvSpPr/>
          <p:nvPr/>
        </p:nvSpPr>
        <p:spPr>
          <a:xfrm>
            <a:off x="3255264" y="3246120"/>
            <a:ext cx="237744" cy="237744"/>
          </a:xfrm>
          <a:prstGeom prst="ellipse">
            <a:avLst/>
          </a:prstGeom>
          <a:solidFill>
            <a:srgbClr val="7A2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Icon FaPersonRunning" descr="FaPersonRunning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435" y="3291291"/>
            <a:ext cx="147401" cy="147401"/>
          </a:xfrm>
          <a:prstGeom prst="rect">
            <a:avLst/>
          </a:prstGeom>
        </p:spPr>
      </p:pic>
      <p:sp>
        <p:nvSpPr>
          <p:cNvPr id="37" name="IconCircle"/>
          <p:cNvSpPr/>
          <p:nvPr/>
        </p:nvSpPr>
        <p:spPr>
          <a:xfrm>
            <a:off x="3511296" y="3246120"/>
            <a:ext cx="237744" cy="237744"/>
          </a:xfrm>
          <a:prstGeom prst="ellipse">
            <a:avLst/>
          </a:prstGeom>
          <a:solidFill>
            <a:srgbClr val="7A2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Icon FaPersonRunning" descr="FaPersonRunning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467" y="3291291"/>
            <a:ext cx="147401" cy="147401"/>
          </a:xfrm>
          <a:prstGeom prst="rect">
            <a:avLst/>
          </a:prstGeom>
        </p:spPr>
      </p:pic>
      <p:sp>
        <p:nvSpPr>
          <p:cNvPr id="39" name="IconCircle"/>
          <p:cNvSpPr/>
          <p:nvPr/>
        </p:nvSpPr>
        <p:spPr>
          <a:xfrm>
            <a:off x="3767328" y="3246120"/>
            <a:ext cx="237744" cy="237744"/>
          </a:xfrm>
          <a:prstGeom prst="ellipse">
            <a:avLst/>
          </a:prstGeom>
          <a:solidFill>
            <a:srgbClr val="7A2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Icon FaPersonRunning" descr="FaPersonRunning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499" y="3291291"/>
            <a:ext cx="147401" cy="147401"/>
          </a:xfrm>
          <a:prstGeom prst="rect">
            <a:avLst/>
          </a:prstGeom>
        </p:spPr>
      </p:pic>
      <p:sp>
        <p:nvSpPr>
          <p:cNvPr id="41" name="IconCircle"/>
          <p:cNvSpPr/>
          <p:nvPr/>
        </p:nvSpPr>
        <p:spPr>
          <a:xfrm>
            <a:off x="4023360" y="3246120"/>
            <a:ext cx="237744" cy="237744"/>
          </a:xfrm>
          <a:prstGeom prst="ellipse">
            <a:avLst/>
          </a:prstGeom>
          <a:solidFill>
            <a:srgbClr val="7A2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Icon FaPersonRunning" descr="FaPersonRunning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531" y="3291291"/>
            <a:ext cx="147401" cy="147401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315968" y="3154680"/>
            <a:ext cx="6400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7A2E0E"/>
                </a:solidFill>
                <a:latin typeface="Noto Sans KR"/>
                <a:ea typeface="Noto Sans KR"/>
              </a:rPr>
              <a:t>6층</a:t>
            </a:r>
          </a:p>
        </p:txBody>
      </p:sp>
      <p:sp>
        <p:nvSpPr>
          <p:cNvPr id="5" name="Card"/>
          <p:cNvSpPr/>
          <p:nvPr/>
        </p:nvSpPr>
        <p:spPr>
          <a:xfrm>
            <a:off x="1133856" y="4114800"/>
            <a:ext cx="4800600" cy="109728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261872" y="4160520"/>
            <a:ext cx="434340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−10: </a:t>
            </a: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한 판이 너무 짧아지지 않게, 조작 · 파괴 리듬을 다시 익힌다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−5: </a:t>
            </a: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층당 체류가 긴 후반에는 이동을 줄여 핵심 허들에 집중시킨다</a:t>
            </a:r>
          </a:p>
        </p:txBody>
      </p:sp>
      <p:graphicFrame>
        <p:nvGraphicFramePr>
          <p:cNvPr id="45" name="Chart"/>
          <p:cNvGraphicFramePr>
            <a:graphicFrameLocks noGrp="1"/>
          </p:cNvGraphicFramePr>
          <p:nvPr/>
        </p:nvGraphicFramePr>
        <p:xfrm>
          <a:off x="6172200" y="1783080"/>
          <a:ext cx="4892040" cy="3429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Card"/>
          <p:cNvSpPr/>
          <p:nvPr/>
        </p:nvSpPr>
        <p:spPr>
          <a:xfrm>
            <a:off x="1133856" y="5349240"/>
            <a:ext cx="4873752" cy="749808"/>
          </a:xfrm>
          <a:prstGeom prst="roundRect">
            <a:avLst>
              <a:gd name="adj" fmla="val 4000"/>
            </a:avLst>
          </a:prstGeom>
          <a:solidFill>
            <a:srgbClr val="3C2D2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IconCircle"/>
          <p:cNvSpPr/>
          <p:nvPr/>
        </p:nvSpPr>
        <p:spPr>
          <a:xfrm>
            <a:off x="1243584" y="5504688"/>
            <a:ext cx="438912" cy="43891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Icon FaLightbulb" descr="FaLightbulb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8922" y="5610026"/>
            <a:ext cx="228234" cy="22823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755648" y="5385816"/>
            <a:ext cx="4160520" cy="6766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3B58A"/>
                </a:solidFill>
                <a:latin typeface="Noto Sans KR"/>
                <a:ea typeface="Noto Sans KR"/>
              </a:rPr>
              <a:t>왜 필요한가  </a:t>
            </a:r>
            <a:r>
              <a:rPr sz="1100" b="0" i="0">
                <a:solidFill>
                  <a:srgbClr val="FFFFFF"/>
                </a:solidFill>
                <a:latin typeface="Noto Sans KR"/>
                <a:ea typeface="Noto Sans KR"/>
              </a:rPr>
              <a:t>1층부터 다시 올라도 필요 계수는 약 4%만 준다 → 기본 전략은 허용된 최고층 시작</a:t>
            </a:r>
          </a:p>
        </p:txBody>
      </p:sp>
      <p:sp>
        <p:nvSpPr>
          <p:cNvPr id="5" name="Card"/>
          <p:cNvSpPr/>
          <p:nvPr/>
        </p:nvSpPr>
        <p:spPr>
          <a:xfrm>
            <a:off x="6190488" y="5349240"/>
            <a:ext cx="4873752" cy="749808"/>
          </a:xfrm>
          <a:prstGeom prst="roundRect">
            <a:avLst>
              <a:gd name="adj" fmla="val 4000"/>
            </a:avLst>
          </a:prstGeom>
          <a:solidFill>
            <a:srgbClr val="FBE3D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IconCircle"/>
          <p:cNvSpPr/>
          <p:nvPr/>
        </p:nvSpPr>
        <p:spPr>
          <a:xfrm>
            <a:off x="6300216" y="5504688"/>
            <a:ext cx="438912" cy="438912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Icon FaCalculator" descr="FaCalculato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5554" y="5610026"/>
            <a:ext cx="228234" cy="22823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812280" y="5385816"/>
            <a:ext cx="4160520" cy="6766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B95A25"/>
                </a:solidFill>
                <a:latin typeface="Noto Sans KR"/>
                <a:ea typeface="Noto Sans KR"/>
              </a:rPr>
              <a:t>수치에 반영  </a:t>
            </a: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기준 시작층을 '허용 최고층'으로 두고 표를 계산한다 (낮게 시작한 이득: 초·중반 0.42%, 후반 4.27%)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허들 리듬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설계 근거 - 허들 리듬: 긴장 곡선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목적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성장 수요를 몰았다 풀었다 하며 압박 → 돌파 → 완화 → 최종 압박의 리듬을 만든다</a:t>
            </a:r>
          </a:p>
        </p:txBody>
      </p:sp>
      <p:graphicFrame>
        <p:nvGraphicFramePr>
          <p:cNvPr id="5" name="Chart"/>
          <p:cNvGraphicFramePr>
            <a:graphicFrameLocks noGrp="1"/>
          </p:cNvGraphicFramePr>
          <p:nvPr/>
        </p:nvGraphicFramePr>
        <p:xfrm>
          <a:off x="1133856" y="1783080"/>
          <a:ext cx="658368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ard"/>
          <p:cNvSpPr/>
          <p:nvPr/>
        </p:nvSpPr>
        <p:spPr>
          <a:xfrm>
            <a:off x="7909560" y="1783080"/>
            <a:ext cx="3154680" cy="1024128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conCircle"/>
          <p:cNvSpPr/>
          <p:nvPr/>
        </p:nvSpPr>
        <p:spPr>
          <a:xfrm>
            <a:off x="8028431" y="2011680"/>
            <a:ext cx="548640" cy="548640"/>
          </a:xfrm>
          <a:prstGeom prst="ellipse">
            <a:avLst/>
          </a:prstGeom>
          <a:solidFill>
            <a:srgbClr val="7A2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con FaMountain" descr="FaMountai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0105" y="2143353"/>
            <a:ext cx="285292" cy="2852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0" y="1856231"/>
            <a:ext cx="2331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압박 71~80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167128"/>
            <a:ext cx="2331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B95A25"/>
                </a:solidFill>
                <a:latin typeface="Noto Sans KR"/>
                <a:ea typeface="Noto Sans KR"/>
              </a:rPr>
              <a:t>층당 1.10단계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478024"/>
            <a:ext cx="2331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73 · 78 · 80층 +3</a:t>
            </a:r>
          </a:p>
        </p:txBody>
      </p:sp>
      <p:sp>
        <p:nvSpPr>
          <p:cNvPr id="5" name="Card"/>
          <p:cNvSpPr/>
          <p:nvPr/>
        </p:nvSpPr>
        <p:spPr>
          <a:xfrm>
            <a:off x="7909560" y="2944368"/>
            <a:ext cx="3154680" cy="1024128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IconCircle"/>
          <p:cNvSpPr/>
          <p:nvPr/>
        </p:nvSpPr>
        <p:spPr>
          <a:xfrm>
            <a:off x="8028431" y="3172968"/>
            <a:ext cx="548640" cy="5486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 FaWind" descr="FaWin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105" y="3304641"/>
            <a:ext cx="285292" cy="2852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0" y="3017520"/>
            <a:ext cx="2331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완화 81~89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328415"/>
            <a:ext cx="2331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B95A25"/>
                </a:solidFill>
                <a:latin typeface="Noto Sans KR"/>
                <a:ea typeface="Noto Sans KR"/>
              </a:rPr>
              <a:t>층당 0.33단계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639311"/>
            <a:ext cx="2331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81 · 84 · 87층만 +1</a:t>
            </a:r>
          </a:p>
        </p:txBody>
      </p:sp>
      <p:sp>
        <p:nvSpPr>
          <p:cNvPr id="5" name="Card"/>
          <p:cNvSpPr/>
          <p:nvPr/>
        </p:nvSpPr>
        <p:spPr>
          <a:xfrm>
            <a:off x="7909560" y="4105656"/>
            <a:ext cx="3154680" cy="1024128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IconCircle"/>
          <p:cNvSpPr/>
          <p:nvPr/>
        </p:nvSpPr>
        <p:spPr>
          <a:xfrm>
            <a:off x="8028431" y="4334256"/>
            <a:ext cx="548640" cy="548640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con FaCrown" descr="FaCrow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0105" y="4465929"/>
            <a:ext cx="285292" cy="2852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0" y="4178808"/>
            <a:ext cx="2331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최종 90~100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489704"/>
            <a:ext cx="2331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B95A25"/>
                </a:solidFill>
                <a:latin typeface="Noto Sans KR"/>
                <a:ea typeface="Noto Sans KR"/>
              </a:rPr>
              <a:t>층당 1.36단계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800600"/>
            <a:ext cx="2331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90 · 94 · 97 · 100층 +3</a:t>
            </a:r>
          </a:p>
        </p:txBody>
      </p:sp>
      <p:sp>
        <p:nvSpPr>
          <p:cNvPr id="5" name="Card"/>
          <p:cNvSpPr/>
          <p:nvPr/>
        </p:nvSpPr>
        <p:spPr>
          <a:xfrm>
            <a:off x="1133856" y="5349240"/>
            <a:ext cx="4873752" cy="749808"/>
          </a:xfrm>
          <a:prstGeom prst="roundRect">
            <a:avLst>
              <a:gd name="adj" fmla="val 4000"/>
            </a:avLst>
          </a:prstGeom>
          <a:solidFill>
            <a:srgbClr val="3C2D2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IconCircle"/>
          <p:cNvSpPr/>
          <p:nvPr/>
        </p:nvSpPr>
        <p:spPr>
          <a:xfrm>
            <a:off x="1243584" y="5504688"/>
            <a:ext cx="438912" cy="43891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Icon FaLightbulb" descr="FaLightbulb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8922" y="5610026"/>
            <a:ext cx="228234" cy="22823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755648" y="5385816"/>
            <a:ext cx="4160520" cy="6766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3B58A"/>
                </a:solidFill>
                <a:latin typeface="Noto Sans KR"/>
                <a:ea typeface="Noto Sans KR"/>
              </a:rPr>
              <a:t>왜 필요한가  </a:t>
            </a:r>
            <a:r>
              <a:rPr sz="1100" b="0" i="0">
                <a:solidFill>
                  <a:srgbClr val="FFFFFF"/>
                </a:solidFill>
                <a:latin typeface="Noto Sans KR"/>
                <a:ea typeface="Noto Sans KR"/>
              </a:rPr>
              <a:t>끝까지 단조롭게 오르기만 하면 긴 정체가 이어져 성장 보상의 체감이 약해진다</a:t>
            </a:r>
          </a:p>
        </p:txBody>
      </p:sp>
      <p:sp>
        <p:nvSpPr>
          <p:cNvPr id="5" name="Card"/>
          <p:cNvSpPr/>
          <p:nvPr/>
        </p:nvSpPr>
        <p:spPr>
          <a:xfrm>
            <a:off x="6190488" y="5349240"/>
            <a:ext cx="4873752" cy="749808"/>
          </a:xfrm>
          <a:prstGeom prst="roundRect">
            <a:avLst>
              <a:gd name="adj" fmla="val 4000"/>
            </a:avLst>
          </a:prstGeom>
          <a:solidFill>
            <a:srgbClr val="FBE3D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IconCircle"/>
          <p:cNvSpPr/>
          <p:nvPr/>
        </p:nvSpPr>
        <p:spPr>
          <a:xfrm>
            <a:off x="6300216" y="5504688"/>
            <a:ext cx="438912" cy="438912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Icon FaCalculator" descr="FaCalculator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5554" y="5610026"/>
            <a:ext cx="228234" cy="22823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12280" y="5385816"/>
            <a:ext cx="4160520" cy="6766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B95A25"/>
                </a:solidFill>
                <a:latin typeface="Noto Sans KR"/>
                <a:ea typeface="Noto Sans KR"/>
              </a:rPr>
              <a:t>수치에 반영  </a:t>
            </a: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층별 추가 단계(+0~+3)로 배치 → 누적 u_f → G_f = 1.3^u_f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기본 보상 함수와 102%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2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1" y="1005840"/>
            <a:ext cx="201168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600" b="0" i="0">
                <a:solidFill>
                  <a:srgbClr val="E97132"/>
                </a:solidFill>
                <a:latin typeface="Noto Sans KR Black"/>
                <a:ea typeface="Noto Sans KR Black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1" y="2148840"/>
            <a:ext cx="42062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0" i="0">
                <a:solidFill>
                  <a:srgbClr val="FFFFFF"/>
                </a:solidFill>
                <a:latin typeface="Noto Sans KR Black"/>
                <a:ea typeface="Noto Sans KR Black"/>
              </a:rPr>
              <a:t>수치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2926080"/>
            <a:ext cx="42062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3B58A"/>
                </a:solidFill>
                <a:latin typeface="Noto Sans KR"/>
                <a:ea typeface="Noto Sans KR"/>
              </a:rPr>
              <a:t>어떻게 숫자로 바뀌나?</a:t>
            </a:r>
          </a:p>
        </p:txBody>
      </p:sp>
      <p:sp>
        <p:nvSpPr>
          <p:cNvPr id="5" name="IconCircle"/>
          <p:cNvSpPr/>
          <p:nvPr/>
        </p:nvSpPr>
        <p:spPr>
          <a:xfrm>
            <a:off x="1097280" y="4160520"/>
            <a:ext cx="960120" cy="9601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 FaCalculator" descr="FaCalculator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708" y="4390948"/>
            <a:ext cx="499262" cy="4992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271" y="5257800"/>
            <a:ext cx="4023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D9CFC2"/>
                </a:solidFill>
                <a:latin typeface="Noto Sans KR"/>
                <a:ea typeface="Noto Sans KR"/>
              </a:rPr>
              <a:t>이 장에서 보는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5559552"/>
            <a:ext cx="42062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D9CFC2"/>
                </a:solidFill>
                <a:latin typeface="Noto Sans KR"/>
                <a:ea typeface="Noto Sans KR"/>
              </a:rPr>
              <a:t>22P 층별 수치가 만들어지는 과정 · 23P 15층으로 보는 계산 예시 · 24P 100층을 1ae로 맞추는 역산 · 25P 요구 전투력의 두 성분</a:t>
            </a:r>
          </a:p>
        </p:txBody>
      </p:sp>
      <p:sp>
        <p:nvSpPr>
          <p:cNvPr id="5" name="Card"/>
          <p:cNvSpPr/>
          <p:nvPr/>
        </p:nvSpPr>
        <p:spPr>
          <a:xfrm>
            <a:off x="5532120" y="1143000"/>
            <a:ext cx="5532120" cy="141732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IconCircle"/>
          <p:cNvSpPr/>
          <p:nvPr/>
        </p:nvSpPr>
        <p:spPr>
          <a:xfrm>
            <a:off x="5715000" y="1527048"/>
            <a:ext cx="640080" cy="64008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 FaCoins" descr="FaCoin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619" y="1680667"/>
            <a:ext cx="332841" cy="3328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37960" y="1280160"/>
            <a:ext cx="43891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Noto Sans KR"/>
                <a:ea typeface="Noto Sans KR"/>
              </a:rPr>
              <a:t>층별 보상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709928"/>
            <a:ext cx="43891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7DFD2"/>
                </a:solidFill>
                <a:latin typeface="Noto Sans KR"/>
                <a:ea typeface="Noto Sans KR"/>
              </a:rPr>
              <a:t>B_i = q^(i−1) — 층 i의 오브젝트를 모두 부쉈을 때의 전투력 총량</a:t>
            </a:r>
          </a:p>
        </p:txBody>
      </p:sp>
      <p:sp>
        <p:nvSpPr>
          <p:cNvPr id="5" name="Card"/>
          <p:cNvSpPr/>
          <p:nvPr/>
        </p:nvSpPr>
        <p:spPr>
          <a:xfrm>
            <a:off x="5532120" y="2743200"/>
            <a:ext cx="5532120" cy="141732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IconCircle"/>
          <p:cNvSpPr/>
          <p:nvPr/>
        </p:nvSpPr>
        <p:spPr>
          <a:xfrm>
            <a:off x="5715000" y="3127248"/>
            <a:ext cx="640080" cy="64008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 FaLayerGroup" descr="FaLayerGroup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619" y="3280867"/>
            <a:ext cx="332841" cy="33284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37960" y="2880360"/>
            <a:ext cx="43891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Noto Sans KR"/>
                <a:ea typeface="Noto Sans KR"/>
              </a:rPr>
              <a:t>모을 수 있는 양 × 성장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310128"/>
            <a:ext cx="43891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7DFD2"/>
                </a:solidFill>
                <a:latin typeface="Noto Sans KR"/>
                <a:ea typeface="Noto Sans KR"/>
              </a:rPr>
              <a:t>R_f = G_f × A(s_f, f) — 시작층부터 모은 보상에 성장 계수를 곱한다</a:t>
            </a:r>
          </a:p>
        </p:txBody>
      </p:sp>
      <p:sp>
        <p:nvSpPr>
          <p:cNvPr id="5" name="Card"/>
          <p:cNvSpPr/>
          <p:nvPr/>
        </p:nvSpPr>
        <p:spPr>
          <a:xfrm>
            <a:off x="5532120" y="4343400"/>
            <a:ext cx="5532120" cy="141732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IconCircle"/>
          <p:cNvSpPr/>
          <p:nvPr/>
        </p:nvSpPr>
        <p:spPr>
          <a:xfrm>
            <a:off x="5715000" y="4727448"/>
            <a:ext cx="640080" cy="64008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 FaBullseye" descr="FaBullsey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8619" y="4881067"/>
            <a:ext cx="332841" cy="33284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7960" y="4480560"/>
            <a:ext cx="43891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Noto Sans KR"/>
                <a:ea typeface="Noto Sans KR"/>
              </a:rPr>
              <a:t>끝점 맞추기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910328"/>
            <a:ext cx="43891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7DFD2"/>
                </a:solidFill>
                <a:latin typeface="Noto Sans KR"/>
                <a:ea typeface="Noto Sans KR"/>
              </a:rPr>
              <a:t>1.3⁶¹ × Σ(94~100층 보상) = 10²⁷ 이 되도록 q를 역산한다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부록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수치 모델 - 요구 전투력의 두 성분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핵심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요구 전투력의 자릿수 = 모을 수 있는 보상(매끄러운 상승) + 성장 계수(허들마다 계단) — 100층 27자리 = 20 + 7</a:t>
            </a:r>
          </a:p>
        </p:txBody>
      </p:sp>
      <p:graphicFrame>
        <p:nvGraphicFramePr>
          <p:cNvPr id="5" name="Chart"/>
          <p:cNvGraphicFramePr>
            <a:graphicFrameLocks noGrp="1"/>
          </p:cNvGraphicFramePr>
          <p:nvPr/>
        </p:nvGraphicFramePr>
        <p:xfrm>
          <a:off x="1133856" y="1783080"/>
          <a:ext cx="658368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ard"/>
          <p:cNvSpPr/>
          <p:nvPr/>
        </p:nvSpPr>
        <p:spPr>
          <a:xfrm>
            <a:off x="7909560" y="1783080"/>
            <a:ext cx="3154680" cy="3429000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046720" y="1847088"/>
            <a:ext cx="29260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0000"/>
                </a:solidFill>
                <a:latin typeface="Noto Sans KR"/>
                <a:ea typeface="Noto Sans KR"/>
              </a:rPr>
              <a:t>100층 = 10²⁷</a:t>
            </a:r>
          </a:p>
        </p:txBody>
      </p:sp>
      <p:sp>
        <p:nvSpPr>
          <p:cNvPr id="5" name="Chip"/>
          <p:cNvSpPr/>
          <p:nvPr/>
        </p:nvSpPr>
        <p:spPr>
          <a:xfrm>
            <a:off x="8046720" y="2286000"/>
            <a:ext cx="1325880" cy="457200"/>
          </a:xfrm>
          <a:prstGeom prst="roundRect">
            <a:avLst>
              <a:gd name="adj" fmla="val 4000"/>
            </a:avLst>
          </a:prstGeom>
          <a:solidFill>
            <a:srgbClr val="F3B58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000000"/>
                </a:solidFill>
                <a:latin typeface="Noto Sans KR"/>
                <a:ea typeface="Noto Sans KR"/>
              </a:rPr>
              <a:t>≈ 20자리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2286000"/>
            <a:ext cx="1600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기본 보상 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816352"/>
            <a:ext cx="29260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A(94, 100) — q가 만드는 매끄러운 상승</a:t>
            </a:r>
          </a:p>
        </p:txBody>
      </p:sp>
      <p:sp>
        <p:nvSpPr>
          <p:cNvPr id="5" name="Chip"/>
          <p:cNvSpPr/>
          <p:nvPr/>
        </p:nvSpPr>
        <p:spPr>
          <a:xfrm>
            <a:off x="8046720" y="3657600"/>
            <a:ext cx="1325880" cy="457200"/>
          </a:xfrm>
          <a:prstGeom prst="roundRect">
            <a:avLst>
              <a:gd name="adj" fmla="val 4000"/>
            </a:avLst>
          </a:prstGeom>
          <a:solidFill>
            <a:srgbClr val="7A2E0E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</a:rPr>
              <a:t>≈ 7자리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657600"/>
            <a:ext cx="1600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성장 계수 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187952"/>
            <a:ext cx="29260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G₁₀₀ = 1.3⁶¹ ≈ 8.92 × 10⁶ — 허들이 만드는 계단</a:t>
            </a:r>
          </a:p>
        </p:txBody>
      </p:sp>
      <p:sp>
        <p:nvSpPr>
          <p:cNvPr id="5" name="Card"/>
          <p:cNvSpPr/>
          <p:nvPr/>
        </p:nvSpPr>
        <p:spPr>
          <a:xfrm>
            <a:off x="1133856" y="5349240"/>
            <a:ext cx="4873752" cy="749808"/>
          </a:xfrm>
          <a:prstGeom prst="roundRect">
            <a:avLst>
              <a:gd name="adj" fmla="val 4000"/>
            </a:avLst>
          </a:prstGeom>
          <a:solidFill>
            <a:srgbClr val="3C2D2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IconCircle"/>
          <p:cNvSpPr/>
          <p:nvPr/>
        </p:nvSpPr>
        <p:spPr>
          <a:xfrm>
            <a:off x="1243584" y="5504688"/>
            <a:ext cx="438912" cy="43891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 FaLightbulb" descr="FaLightbulb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922" y="5610026"/>
            <a:ext cx="228234" cy="22823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55648" y="5385816"/>
            <a:ext cx="4160520" cy="6766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3B58A"/>
                </a:solidFill>
                <a:latin typeface="Noto Sans KR"/>
                <a:ea typeface="Noto Sans KR"/>
              </a:rPr>
              <a:t>왜 중요한가  </a:t>
            </a:r>
            <a:r>
              <a:rPr sz="1100" b="0" i="0">
                <a:solidFill>
                  <a:srgbClr val="FFFFFF"/>
                </a:solidFill>
                <a:latin typeface="Noto Sans KR"/>
                <a:ea typeface="Noto Sans KR"/>
              </a:rPr>
              <a:t>체감 난이도는 계단(성장 계수) 쪽이 결정한다. 보상 몫은 숫자 규모를 만든다</a:t>
            </a:r>
          </a:p>
        </p:txBody>
      </p:sp>
      <p:sp>
        <p:nvSpPr>
          <p:cNvPr id="5" name="Card"/>
          <p:cNvSpPr/>
          <p:nvPr/>
        </p:nvSpPr>
        <p:spPr>
          <a:xfrm>
            <a:off x="6190488" y="5349240"/>
            <a:ext cx="4873752" cy="749808"/>
          </a:xfrm>
          <a:prstGeom prst="roundRect">
            <a:avLst>
              <a:gd name="adj" fmla="val 4000"/>
            </a:avLst>
          </a:prstGeom>
          <a:solidFill>
            <a:srgbClr val="FBE3D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IconCircle"/>
          <p:cNvSpPr/>
          <p:nvPr/>
        </p:nvSpPr>
        <p:spPr>
          <a:xfrm>
            <a:off x="6300216" y="5504688"/>
            <a:ext cx="438912" cy="438912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con FaCalculator" descr="FaCalculato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554" y="5610026"/>
            <a:ext cx="228234" cy="22823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12280" y="5385816"/>
            <a:ext cx="4160520" cy="6766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B95A25"/>
                </a:solidFill>
                <a:latin typeface="Noto Sans KR"/>
                <a:ea typeface="Noto Sans KR"/>
              </a:rPr>
              <a:t>수치에 반영  </a:t>
            </a:r>
            <a:r>
              <a:rPr sz="1100" b="0" i="0">
                <a:solidFill>
                  <a:srgbClr val="000000"/>
                </a:solidFill>
                <a:latin typeface="Noto Sans KR"/>
                <a:ea typeface="Noto Sans KR"/>
              </a:rPr>
              <a:t>단계를 늘리면 G 몫이 커지고 q는 작아진다 — 1ae를 바꾸면 A 몫만 바뀐다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 장 시작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2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1" y="1005840"/>
            <a:ext cx="201168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600" b="0" i="0">
                <a:solidFill>
                  <a:srgbClr val="E97132"/>
                </a:solidFill>
                <a:latin typeface="Noto Sans KR Black"/>
                <a:ea typeface="Noto Sans KR Black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1" y="2148840"/>
            <a:ext cx="42062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0" i="0">
                <a:solidFill>
                  <a:srgbClr val="FFFFFF"/>
                </a:solidFill>
                <a:latin typeface="Noto Sans KR Black"/>
                <a:ea typeface="Noto Sans KR Black"/>
              </a:rPr>
              <a:t>반영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2926080"/>
            <a:ext cx="42062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3B58A"/>
                </a:solidFill>
                <a:latin typeface="Noto Sans KR"/>
                <a:ea typeface="Noto Sans KR"/>
              </a:rPr>
              <a:t>실제 층마다 어떻게 들어가나?</a:t>
            </a:r>
          </a:p>
        </p:txBody>
      </p:sp>
      <p:sp>
        <p:nvSpPr>
          <p:cNvPr id="5" name="IconCircle"/>
          <p:cNvSpPr/>
          <p:nvPr/>
        </p:nvSpPr>
        <p:spPr>
          <a:xfrm>
            <a:off x="1097280" y="4160520"/>
            <a:ext cx="960120" cy="9601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 FaChartLine" descr="FaChartLin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708" y="4390948"/>
            <a:ext cx="499262" cy="4992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271" y="5257800"/>
            <a:ext cx="4023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D9CFC2"/>
                </a:solidFill>
                <a:latin typeface="Noto Sans KR"/>
                <a:ea typeface="Noto Sans KR"/>
              </a:rPr>
              <a:t>이 장에서 보는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5559552"/>
            <a:ext cx="42062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D9CFC2"/>
                </a:solidFill>
                <a:latin typeface="Noto Sans KR"/>
                <a:ea typeface="Noto Sans KR"/>
              </a:rPr>
              <a:t>27P 층별 추가 성장 단계 맵 · 28P 누적 성장 단계 곡선 · 29P 초반 1~15층 · 중반 16~70층 · 30P 후반 71~100층 · 31P 유지 · 일반 · 허들 층 분포 · 32P 층별 난이도 등급 (1~5) · 33P 구간별 플레이 경험과 시간 목표 · 34P 층별 재시작 횟수 목표 · 35P 주요 층의 성장 요구량</a:t>
            </a:r>
          </a:p>
        </p:txBody>
      </p:sp>
      <p:sp>
        <p:nvSpPr>
          <p:cNvPr id="5" name="Card"/>
          <p:cNvSpPr/>
          <p:nvPr/>
        </p:nvSpPr>
        <p:spPr>
          <a:xfrm>
            <a:off x="5532120" y="1143000"/>
            <a:ext cx="5532120" cy="141732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IconCircle"/>
          <p:cNvSpPr/>
          <p:nvPr/>
        </p:nvSpPr>
        <p:spPr>
          <a:xfrm>
            <a:off x="5715000" y="1527048"/>
            <a:ext cx="640080" cy="64008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 FaTableCells" descr="FaTableCell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619" y="1680667"/>
            <a:ext cx="332841" cy="3328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37960" y="1280160"/>
            <a:ext cx="43891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Noto Sans KR"/>
                <a:ea typeface="Noto Sans KR"/>
              </a:rPr>
              <a:t>층별 배치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709928"/>
            <a:ext cx="43891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7DFD2"/>
                </a:solidFill>
                <a:latin typeface="Noto Sans KR"/>
                <a:ea typeface="Noto Sans KR"/>
              </a:rPr>
              <a:t>100개 층마다 +0 ~ +3 추가 단계와 보스 여부가 정해진다</a:t>
            </a:r>
          </a:p>
        </p:txBody>
      </p:sp>
      <p:sp>
        <p:nvSpPr>
          <p:cNvPr id="5" name="Card"/>
          <p:cNvSpPr/>
          <p:nvPr/>
        </p:nvSpPr>
        <p:spPr>
          <a:xfrm>
            <a:off x="5532120" y="2743200"/>
            <a:ext cx="5532120" cy="141732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IconCircle"/>
          <p:cNvSpPr/>
          <p:nvPr/>
        </p:nvSpPr>
        <p:spPr>
          <a:xfrm>
            <a:off x="5715000" y="3127248"/>
            <a:ext cx="640080" cy="64008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 FaChartLine" descr="FaChartLin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619" y="3280867"/>
            <a:ext cx="332841" cy="33284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37960" y="2880360"/>
            <a:ext cx="43891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Noto Sans KR"/>
                <a:ea typeface="Noto Sans KR"/>
              </a:rPr>
              <a:t>곡선과 분포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310128"/>
            <a:ext cx="43891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7DFD2"/>
                </a:solidFill>
                <a:latin typeface="Noto Sans KR"/>
                <a:ea typeface="Noto Sans KR"/>
              </a:rPr>
              <a:t>누적 단계 곡선 · 구간별 유형 비율 · 난이도 등급으로 리듬을 확인한다</a:t>
            </a:r>
          </a:p>
        </p:txBody>
      </p:sp>
      <p:sp>
        <p:nvSpPr>
          <p:cNvPr id="5" name="Card"/>
          <p:cNvSpPr/>
          <p:nvPr/>
        </p:nvSpPr>
        <p:spPr>
          <a:xfrm>
            <a:off x="5532120" y="4343400"/>
            <a:ext cx="5532120" cy="141732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IconCircle"/>
          <p:cNvSpPr/>
          <p:nvPr/>
        </p:nvSpPr>
        <p:spPr>
          <a:xfrm>
            <a:off x="5715000" y="4727448"/>
            <a:ext cx="640080" cy="64008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 FaBullseye" descr="FaBullsey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619" y="4881067"/>
            <a:ext cx="332841" cy="33284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7960" y="4480560"/>
            <a:ext cx="43891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Noto Sans KR"/>
                <a:ea typeface="Noto Sans KR"/>
              </a:rPr>
              <a:t>체감 목표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910328"/>
            <a:ext cx="43891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7DFD2"/>
                </a:solidFill>
                <a:latin typeface="Noto Sans KR"/>
                <a:ea typeface="Noto Sans KR"/>
              </a:rPr>
              <a:t>층별 재시작 0 · 1 · 2회와 구간별 시간 목표를 성장 공급 설계에 넘긴다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부록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2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1" y="1005840"/>
            <a:ext cx="201168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600" b="0" i="0">
                <a:solidFill>
                  <a:srgbClr val="E97132"/>
                </a:solidFill>
                <a:latin typeface="Noto Sans KR Black"/>
                <a:ea typeface="Noto Sans KR Black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1" y="2148840"/>
            <a:ext cx="42062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0" i="0">
                <a:solidFill>
                  <a:srgbClr val="FFFFFF"/>
                </a:solidFill>
                <a:latin typeface="Noto Sans KR Black"/>
                <a:ea typeface="Noto Sans KR Black"/>
              </a:rPr>
              <a:t>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2926080"/>
            <a:ext cx="42062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3B58A"/>
                </a:solidFill>
                <a:latin typeface="Noto Sans KR"/>
                <a:ea typeface="Noto Sans KR"/>
              </a:rPr>
              <a:t>정말 의도대로 되나?</a:t>
            </a:r>
          </a:p>
        </p:txBody>
      </p:sp>
      <p:sp>
        <p:nvSpPr>
          <p:cNvPr id="5" name="IconCircle"/>
          <p:cNvSpPr/>
          <p:nvPr/>
        </p:nvSpPr>
        <p:spPr>
          <a:xfrm>
            <a:off x="1097280" y="4160520"/>
            <a:ext cx="960120" cy="9601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 FaClipboardCheck" descr="FaClipboardChec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708" y="4390948"/>
            <a:ext cx="499262" cy="4992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271" y="5257800"/>
            <a:ext cx="4023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D9CFC2"/>
                </a:solidFill>
                <a:latin typeface="Noto Sans KR"/>
                <a:ea typeface="Noto Sans KR"/>
              </a:rPr>
              <a:t>이 장에서 보는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5559552"/>
            <a:ext cx="42062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D9CFC2"/>
                </a:solidFill>
                <a:latin typeface="Noto Sans KR"/>
                <a:ea typeface="Noto Sans KR"/>
              </a:rPr>
              <a:t>37P 수학적 불변조건 · 38P 조건부 재도전 시뮬레이션 · 39P 목표 재시작 vs 시뮬레이션 실패 · 40P 성장 공급 속도별 민감도 · 41P 플레이타임 검증 상태와 적용 판정 · 42P 남은 한계와 검증 과제 · 43P 확정한 것과 다음 단계</a:t>
            </a:r>
          </a:p>
        </p:txBody>
      </p:sp>
      <p:sp>
        <p:nvSpPr>
          <p:cNvPr id="5" name="Card"/>
          <p:cNvSpPr/>
          <p:nvPr/>
        </p:nvSpPr>
        <p:spPr>
          <a:xfrm>
            <a:off x="5532120" y="1143000"/>
            <a:ext cx="5532120" cy="141732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IconCircle"/>
          <p:cNvSpPr/>
          <p:nvPr/>
        </p:nvSpPr>
        <p:spPr>
          <a:xfrm>
            <a:off x="5715000" y="1527048"/>
            <a:ext cx="640080" cy="64008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 FaCircleCheck" descr="FaCircle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619" y="1680667"/>
            <a:ext cx="332841" cy="3328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37960" y="1280160"/>
            <a:ext cx="43891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Noto Sans KR"/>
                <a:ea typeface="Noto Sans KR"/>
              </a:rPr>
              <a:t>수학은 통과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709928"/>
            <a:ext cx="43891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7DFD2"/>
                </a:solidFill>
                <a:latin typeface="Noto Sans KR"/>
                <a:ea typeface="Noto Sans KR"/>
              </a:rPr>
              <a:t>1층 = 1, 100층 = 1ae, 단조 증가, 시작층 규칙 — 100개 층 재계산 오차 0</a:t>
            </a:r>
          </a:p>
        </p:txBody>
      </p:sp>
      <p:sp>
        <p:nvSpPr>
          <p:cNvPr id="5" name="Card"/>
          <p:cNvSpPr/>
          <p:nvPr/>
        </p:nvSpPr>
        <p:spPr>
          <a:xfrm>
            <a:off x="5532120" y="2743200"/>
            <a:ext cx="5532120" cy="141732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IconCircle"/>
          <p:cNvSpPr/>
          <p:nvPr/>
        </p:nvSpPr>
        <p:spPr>
          <a:xfrm>
            <a:off x="5715000" y="3127248"/>
            <a:ext cx="640080" cy="64008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 FaFlask" descr="FaFlas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619" y="3280867"/>
            <a:ext cx="332841" cy="33284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37960" y="2880360"/>
            <a:ext cx="43891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Noto Sans KR"/>
                <a:ea typeface="Noto Sans KR"/>
              </a:rPr>
              <a:t>재시작은 아직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310128"/>
            <a:ext cx="43891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7DFD2"/>
                </a:solidFill>
                <a:latin typeface="Noto Sans KR"/>
                <a:ea typeface="Noto Sans KR"/>
              </a:rPr>
              <a:t>실패당 +1단계 단위 테스트에서 허들 13개 층 모두 목표와 어긋난다</a:t>
            </a:r>
          </a:p>
        </p:txBody>
      </p:sp>
      <p:sp>
        <p:nvSpPr>
          <p:cNvPr id="5" name="Card"/>
          <p:cNvSpPr/>
          <p:nvPr/>
        </p:nvSpPr>
        <p:spPr>
          <a:xfrm>
            <a:off x="5532120" y="4343400"/>
            <a:ext cx="5532120" cy="141732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IconCircle"/>
          <p:cNvSpPr/>
          <p:nvPr/>
        </p:nvSpPr>
        <p:spPr>
          <a:xfrm>
            <a:off x="5715000" y="4727448"/>
            <a:ext cx="640080" cy="64008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 FaRoute" descr="FaRout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8619" y="4881067"/>
            <a:ext cx="332841" cy="33284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7960" y="4480560"/>
            <a:ext cx="43891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Noto Sans KR"/>
                <a:ea typeface="Noto Sans KR"/>
              </a:rPr>
              <a:t>다음에 맞출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910328"/>
            <a:ext cx="43891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7DFD2"/>
                </a:solidFill>
                <a:latin typeface="Noto Sans KR"/>
                <a:ea typeface="Noto Sans KR"/>
              </a:rPr>
              <a:t>실패 1회당 ×1.48~×1.69 공급이 목표에 가장 가깝다 → 성장 시스템 설계로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부록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검증 - 수학적 불변조건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핵심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정의한 규칙으로 100개 층을 처음부터 다시 계산하면, 아래 7가지 조건을 모두 오차 없이 만족한다</a:t>
            </a:r>
          </a:p>
        </p:txBody>
      </p:sp>
      <p:sp>
        <p:nvSpPr>
          <p:cNvPr id="5" name="Card"/>
          <p:cNvSpPr/>
          <p:nvPr/>
        </p:nvSpPr>
        <p:spPr>
          <a:xfrm>
            <a:off x="1133856" y="1783080"/>
            <a:ext cx="3246120" cy="896112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conCircle"/>
          <p:cNvSpPr/>
          <p:nvPr/>
        </p:nvSpPr>
        <p:spPr>
          <a:xfrm>
            <a:off x="1243584" y="1984248"/>
            <a:ext cx="493776" cy="49377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con FaCircleCheck" descr="FaCircleChec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090" y="2102754"/>
            <a:ext cx="256763" cy="2567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47088" y="1874519"/>
            <a:ext cx="24688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1층 요구 전투력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2286000"/>
            <a:ext cx="24688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시작 정규화</a:t>
            </a:r>
          </a:p>
        </p:txBody>
      </p:sp>
      <p:sp>
        <p:nvSpPr>
          <p:cNvPr id="5" name="Card"/>
          <p:cNvSpPr/>
          <p:nvPr/>
        </p:nvSpPr>
        <p:spPr>
          <a:xfrm>
            <a:off x="4562856" y="1783080"/>
            <a:ext cx="3246120" cy="896112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IconCircle"/>
          <p:cNvSpPr/>
          <p:nvPr/>
        </p:nvSpPr>
        <p:spPr>
          <a:xfrm>
            <a:off x="4672584" y="1984248"/>
            <a:ext cx="493776" cy="49377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 FaCircleCheck" descr="FaCircleChec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090" y="2102754"/>
            <a:ext cx="256763" cy="2567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76088" y="1874519"/>
            <a:ext cx="24688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100층 요구 전투력 = 1ae (10²⁷)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6088" y="2286000"/>
            <a:ext cx="24688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종료 정규화</a:t>
            </a:r>
          </a:p>
        </p:txBody>
      </p:sp>
      <p:sp>
        <p:nvSpPr>
          <p:cNvPr id="5" name="Card"/>
          <p:cNvSpPr/>
          <p:nvPr/>
        </p:nvSpPr>
        <p:spPr>
          <a:xfrm>
            <a:off x="1133856" y="2807208"/>
            <a:ext cx="3246120" cy="896112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IconCircle"/>
          <p:cNvSpPr/>
          <p:nvPr/>
        </p:nvSpPr>
        <p:spPr>
          <a:xfrm>
            <a:off x="1243584" y="3008376"/>
            <a:ext cx="493776" cy="49377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con FaCircleCheck" descr="FaCircleChec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090" y="3126882"/>
            <a:ext cx="256763" cy="2567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47088" y="2898648"/>
            <a:ext cx="24688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100층 누적 성장 61단계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3310128"/>
            <a:ext cx="24688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G₁₀₀ = 1.3⁶¹ ≈ 8,923,690</a:t>
            </a:r>
          </a:p>
        </p:txBody>
      </p:sp>
      <p:sp>
        <p:nvSpPr>
          <p:cNvPr id="5" name="Card"/>
          <p:cNvSpPr/>
          <p:nvPr/>
        </p:nvSpPr>
        <p:spPr>
          <a:xfrm>
            <a:off x="4562856" y="2807208"/>
            <a:ext cx="3246120" cy="896112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IconCircle"/>
          <p:cNvSpPr/>
          <p:nvPr/>
        </p:nvSpPr>
        <p:spPr>
          <a:xfrm>
            <a:off x="4672584" y="3008376"/>
            <a:ext cx="493776" cy="49377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Icon FaCircleCheck" descr="FaCircleChec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090" y="3126882"/>
            <a:ext cx="256763" cy="25676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276088" y="2898648"/>
            <a:ext cx="24688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1~100층 요구 전투력 단조 증가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3310128"/>
            <a:ext cx="24688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역전 없음</a:t>
            </a:r>
          </a:p>
        </p:txBody>
      </p:sp>
      <p:sp>
        <p:nvSpPr>
          <p:cNvPr id="5" name="Card"/>
          <p:cNvSpPr/>
          <p:nvPr/>
        </p:nvSpPr>
        <p:spPr>
          <a:xfrm>
            <a:off x="1133856" y="3831336"/>
            <a:ext cx="3246120" cy="896112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IconCircle"/>
          <p:cNvSpPr/>
          <p:nvPr/>
        </p:nvSpPr>
        <p:spPr>
          <a:xfrm>
            <a:off x="1243584" y="4032504"/>
            <a:ext cx="493776" cy="49377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Icon FaCircleCheck" descr="FaCircleChec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090" y="4151010"/>
            <a:ext cx="256763" cy="25676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847088" y="3922776"/>
            <a:ext cx="24688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71층 첫 도전 시작층 = 60층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47088" y="4334256"/>
            <a:ext cx="24688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직전 기록 70 → 70−10</a:t>
            </a:r>
          </a:p>
        </p:txBody>
      </p:sp>
      <p:sp>
        <p:nvSpPr>
          <p:cNvPr id="5" name="Card"/>
          <p:cNvSpPr/>
          <p:nvPr/>
        </p:nvSpPr>
        <p:spPr>
          <a:xfrm>
            <a:off x="4562856" y="3831336"/>
            <a:ext cx="3246120" cy="896112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IconCircle"/>
          <p:cNvSpPr/>
          <p:nvPr/>
        </p:nvSpPr>
        <p:spPr>
          <a:xfrm>
            <a:off x="4672584" y="4032504"/>
            <a:ext cx="493776" cy="49377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Icon FaCircleCheck" descr="FaCircleChec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090" y="4151010"/>
            <a:ext cx="256763" cy="25676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276088" y="3922776"/>
            <a:ext cx="24688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72층 첫 도전 시작층 = 66층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76088" y="4334256"/>
            <a:ext cx="24688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직전 기록 71 → 71−5</a:t>
            </a:r>
          </a:p>
        </p:txBody>
      </p:sp>
      <p:sp>
        <p:nvSpPr>
          <p:cNvPr id="5" name="Card"/>
          <p:cNvSpPr/>
          <p:nvPr/>
        </p:nvSpPr>
        <p:spPr>
          <a:xfrm>
            <a:off x="1133856" y="4855464"/>
            <a:ext cx="3246120" cy="896112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IconCircle"/>
          <p:cNvSpPr/>
          <p:nvPr/>
        </p:nvSpPr>
        <p:spPr>
          <a:xfrm>
            <a:off x="1243584" y="5056632"/>
            <a:ext cx="493776" cy="49377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Icon FaCircleCheck" descr="FaCircleChec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090" y="5175138"/>
            <a:ext cx="256763" cy="25676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847088" y="4946904"/>
            <a:ext cx="24688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Noto Sans KR"/>
                <a:ea typeface="Noto Sans KR"/>
              </a:rPr>
              <a:t>전체 요구 전투력 공식 재계산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47088" y="5358384"/>
            <a:ext cx="24688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최대 상대 오차 0</a:t>
            </a:r>
          </a:p>
        </p:txBody>
      </p:sp>
      <p:sp>
        <p:nvSpPr>
          <p:cNvPr id="5" name="Card"/>
          <p:cNvSpPr/>
          <p:nvPr/>
        </p:nvSpPr>
        <p:spPr>
          <a:xfrm>
            <a:off x="8092440" y="1783080"/>
            <a:ext cx="2971800" cy="3968496"/>
          </a:xfrm>
          <a:prstGeom prst="roundRect">
            <a:avLst>
              <a:gd name="adj" fmla="val 4000"/>
            </a:avLst>
          </a:prstGeom>
          <a:solidFill>
            <a:srgbClr val="3C2D2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092440" y="1965960"/>
            <a:ext cx="2971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D9CFC2"/>
                </a:solidFill>
                <a:latin typeface="Noto Sans KR"/>
                <a:ea typeface="Noto Sans KR"/>
              </a:rPr>
              <a:t>검증 결과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2377440"/>
            <a:ext cx="29718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400" b="0" i="0">
                <a:solidFill>
                  <a:srgbClr val="FFFFFF"/>
                </a:solidFill>
                <a:latin typeface="Noto Sans KR Black"/>
                <a:ea typeface="Noto Sans KR Black"/>
              </a:rPr>
              <a:t>7 / 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3520440"/>
            <a:ext cx="2971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3B58A"/>
                </a:solidFill>
                <a:latin typeface="Noto Sans KR"/>
                <a:ea typeface="Noto Sans KR"/>
              </a:rPr>
              <a:t>통과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069080"/>
            <a:ext cx="269748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E7DFD2"/>
                </a:solidFill>
                <a:latin typeface="Noto Sans KR"/>
                <a:ea typeface="Noto Sans KR"/>
              </a:rPr>
              <a:t>표시용 반올림은 계산에 다시 쓰지 않는다. 배치 규칙만으로 100개 층이 재현된다 → 수치표는 '기준선'으로 쓸 수 있다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재도전 시뮬레이션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검증 - 성장 공급 속도별 민감도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핵심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공급을 늘리면 도전 수는 줄지만, 목표 재시작에 가장 가까운 지점은 실패 1회당 ×1.48 ~ ×1.69다</a:t>
            </a:r>
          </a:p>
        </p:txBody>
      </p:sp>
      <p:graphicFrame>
        <p:nvGraphicFramePr>
          <p:cNvPr id="5" name="Chart"/>
          <p:cNvGraphicFramePr>
            <a:graphicFrameLocks noGrp="1"/>
          </p:cNvGraphicFramePr>
          <p:nvPr/>
        </p:nvGraphicFramePr>
        <p:xfrm>
          <a:off x="1133856" y="1783080"/>
          <a:ext cx="48463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"/>
          <p:cNvGraphicFramePr>
            <a:graphicFrameLocks noGrp="1"/>
          </p:cNvGraphicFramePr>
          <p:nvPr/>
        </p:nvGraphicFramePr>
        <p:xfrm>
          <a:off x="6217920" y="1783080"/>
          <a:ext cx="48463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Card"/>
          <p:cNvSpPr/>
          <p:nvPr/>
        </p:nvSpPr>
        <p:spPr>
          <a:xfrm>
            <a:off x="1133856" y="5120640"/>
            <a:ext cx="9930384" cy="1005840"/>
          </a:xfrm>
          <a:prstGeom prst="roundRect">
            <a:avLst>
              <a:gd name="adj" fmla="val 4000"/>
            </a:avLst>
          </a:prstGeom>
          <a:solidFill>
            <a:srgbClr val="3C2D2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conCircle"/>
          <p:cNvSpPr/>
          <p:nvPr/>
        </p:nvSpPr>
        <p:spPr>
          <a:xfrm>
            <a:off x="1280160" y="5330952"/>
            <a:ext cx="585216" cy="58521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con FaLightbulb" descr="FaLightbulb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611" y="5471403"/>
            <a:ext cx="304312" cy="3043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11680" y="5166360"/>
            <a:ext cx="89611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</a:rPr>
              <a:t>권장 공급 속도: 실패 1회당 ×1.48 ~ ×1.69 </a:t>
            </a:r>
            <a:r>
              <a:rPr sz="1100" b="0" i="0">
                <a:solidFill>
                  <a:srgbClr val="E7DFD2"/>
                </a:solidFill>
                <a:latin typeface="Noto Sans KR"/>
                <a:ea typeface="Noto Sans KR"/>
              </a:rPr>
              <a:t>— 허들 13개 중 9~10개 일치, 100층까지 32~42회 도전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E7DFD2"/>
                </a:solidFill>
                <a:latin typeface="Noto Sans KR"/>
                <a:ea typeface="Noto Sans KR"/>
              </a:rPr>
              <a:t>어떤 속도에서도 +1층 '0회'는 나오지 않는다 → 도전 중 성장(파괴 보상 강화 등)이나 허들 돌파의 잉여 성장이 필요. </a:t>
            </a:r>
            <a:r>
              <a:rPr sz="1000" b="0" i="0">
                <a:solidFill>
                  <a:srgbClr val="F3B58A"/>
                </a:solidFill>
                <a:latin typeface="Noto Sans KR"/>
                <a:ea typeface="Noto Sans KR"/>
              </a:rPr>
              <a:t>본 PPT 작성 시 추가 계산한 참고 분석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적용 판정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33271" y="713232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0">
                <a:solidFill>
                  <a:srgbClr val="000000"/>
                </a:solidFill>
                <a:latin typeface="Noto Sans KR Black"/>
                <a:ea typeface="Noto Sans KR Black"/>
              </a:rPr>
              <a:t>결론 - 확정한 것과 다음 단계</a:t>
            </a:r>
          </a:p>
        </p:txBody>
      </p:sp>
      <p:cxnSp>
        <p:nvCxnSpPr>
          <p:cNvPr id="3" name="Title Line"/>
          <p:cNvCxnSpPr/>
          <p:nvPr/>
        </p:nvCxnSpPr>
        <p:spPr>
          <a:xfrm>
            <a:off x="1133856" y="1320393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urpose"/>
          <p:cNvSpPr txBox="1"/>
          <p:nvPr/>
        </p:nvSpPr>
        <p:spPr>
          <a:xfrm>
            <a:off x="1133856" y="1344168"/>
            <a:ext cx="993038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95A25"/>
                </a:solidFill>
                <a:latin typeface="Noto Sans KR"/>
                <a:ea typeface="Noto Sans KR"/>
              </a:rPr>
              <a:t>핵심  </a:t>
            </a:r>
            <a:r>
              <a:rPr sz="1300" b="0" i="0">
                <a:solidFill>
                  <a:srgbClr val="000000"/>
                </a:solidFill>
                <a:latin typeface="Noto Sans KR"/>
                <a:ea typeface="Noto Sans KR"/>
              </a:rPr>
              <a:t>경제와 독립된 1~100층 성장 수요 기준선을 확정했다. 다음은 이 기준선을 '어떤 속도로' 채울지 정하는 일이다</a:t>
            </a:r>
          </a:p>
        </p:txBody>
      </p:sp>
      <p:sp>
        <p:nvSpPr>
          <p:cNvPr id="5" name="Card"/>
          <p:cNvSpPr/>
          <p:nvPr/>
        </p:nvSpPr>
        <p:spPr>
          <a:xfrm>
            <a:off x="1133856" y="1783080"/>
            <a:ext cx="4023360" cy="4343400"/>
          </a:xfrm>
          <a:prstGeom prst="roundRect">
            <a:avLst>
              <a:gd name="adj" fmla="val 4000"/>
            </a:avLst>
          </a:prstGeom>
          <a:solidFill>
            <a:srgbClr val="3C2D23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conCircle"/>
          <p:cNvSpPr/>
          <p:nvPr/>
        </p:nvSpPr>
        <p:spPr>
          <a:xfrm>
            <a:off x="1298448" y="1938528"/>
            <a:ext cx="640080" cy="64008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con FaFlagCheckered" descr="FaFlagCheckered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067" y="2092147"/>
            <a:ext cx="332841" cy="3328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57400" y="1984248"/>
            <a:ext cx="30175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Noto Sans KR Black"/>
                <a:ea typeface="Noto Sans KR Black"/>
              </a:rPr>
              <a:t>확정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697480"/>
            <a:ext cx="3749039" cy="3383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1~100층 요구 전투력 R_f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D9CFC2"/>
                </a:solidFill>
                <a:latin typeface="Noto Sans KR"/>
                <a:ea typeface="Noto Sans KR"/>
              </a:rPr>
              <a:t>1 → 1ae, 단조 증가, 재계산 오차 0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필요 성장 계수 G_f = 1.3^u_f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D9CFC2"/>
                </a:solidFill>
                <a:latin typeface="Noto Sans KR"/>
                <a:ea typeface="Noto Sans KR"/>
              </a:rPr>
              <a:t>누적 61단계, 허들 13개 층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재시작 상한 · 보스 배치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D9CFC2"/>
                </a:solidFill>
                <a:latin typeface="Noto Sans KR"/>
                <a:ea typeface="Noto Sans KR"/>
              </a:rPr>
              <a:t>기록−10 / −5, 71 · 73 · 76 · 78 · 80층 현재 배치 유지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</a:rPr>
              <a:t>난이도 · 재시작 · 시간 목표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D9CFC2"/>
                </a:solidFill>
                <a:latin typeface="Noto Sans KR"/>
                <a:ea typeface="Noto Sans KR"/>
              </a:rPr>
              <a:t>목표로만 사용 — 공급 설계 후 재검증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783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0000"/>
                </a:solidFill>
                <a:latin typeface="Noto Sans KR"/>
                <a:ea typeface="Noto Sans KR"/>
              </a:rPr>
              <a:t>다음 단계 로드맵</a:t>
            </a:r>
          </a:p>
        </p:txBody>
      </p:sp>
      <p:sp>
        <p:nvSpPr>
          <p:cNvPr id="11" name="IconCircle"/>
          <p:cNvSpPr/>
          <p:nvPr/>
        </p:nvSpPr>
        <p:spPr>
          <a:xfrm>
            <a:off x="5440680" y="2331720"/>
            <a:ext cx="603504" cy="60350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 FaPuzzlePiece" descr="FaPuzzlePiec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5520" y="2476560"/>
            <a:ext cx="313822" cy="313822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5742432" y="2953512"/>
            <a:ext cx="0" cy="338328"/>
          </a:xfrm>
          <a:prstGeom prst="line">
            <a:avLst/>
          </a:prstGeom>
          <a:ln w="25400">
            <a:solidFill>
              <a:srgbClr val="D9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rd"/>
          <p:cNvSpPr/>
          <p:nvPr/>
        </p:nvSpPr>
        <p:spPr>
          <a:xfrm>
            <a:off x="6217920" y="2240280"/>
            <a:ext cx="4846320" cy="804672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5080" y="2286000"/>
            <a:ext cx="457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B95A25"/>
                </a:solidFill>
                <a:latin typeface="Noto Sans KR Black"/>
                <a:ea typeface="Noto Sans KR Black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295144"/>
            <a:ext cx="42062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성장 공급 수단 정의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642616"/>
            <a:ext cx="4206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장비 · 영구 강화 · 스킬 · 업적의 합성 효과가 G_f를 채우도록</a:t>
            </a:r>
          </a:p>
        </p:txBody>
      </p:sp>
      <p:sp>
        <p:nvSpPr>
          <p:cNvPr id="17" name="IconCircle"/>
          <p:cNvSpPr/>
          <p:nvPr/>
        </p:nvSpPr>
        <p:spPr>
          <a:xfrm>
            <a:off x="5440680" y="3310128"/>
            <a:ext cx="603504" cy="603504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 FaGear" descr="FaGea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5520" y="3454968"/>
            <a:ext cx="313822" cy="313822"/>
          </a:xfrm>
          <a:prstGeom prst="rect">
            <a:avLst/>
          </a:prstGeom>
        </p:spPr>
      </p:pic>
      <p:cxnSp>
        <p:nvCxnSpPr>
          <p:cNvPr id="19" name="Connector 18"/>
          <p:cNvCxnSpPr/>
          <p:nvPr/>
        </p:nvCxnSpPr>
        <p:spPr>
          <a:xfrm>
            <a:off x="5742432" y="3931920"/>
            <a:ext cx="0" cy="338328"/>
          </a:xfrm>
          <a:prstGeom prst="line">
            <a:avLst/>
          </a:prstGeom>
          <a:ln w="25400">
            <a:solidFill>
              <a:srgbClr val="D9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rd"/>
          <p:cNvSpPr/>
          <p:nvPr/>
        </p:nvSpPr>
        <p:spPr>
          <a:xfrm>
            <a:off x="6217920" y="3218688"/>
            <a:ext cx="4846320" cy="804672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55080" y="3264408"/>
            <a:ext cx="457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B95A25"/>
                </a:solidFill>
                <a:latin typeface="Noto Sans KR Black"/>
                <a:ea typeface="Noto Sans KR Black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273552"/>
            <a:ext cx="42062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공급 속도 목표 설정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21024"/>
            <a:ext cx="4206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실패 1회당 ×1.48~×1.69, 도전 중 성장으로 +1층 0회 확보</a:t>
            </a:r>
          </a:p>
        </p:txBody>
      </p:sp>
      <p:sp>
        <p:nvSpPr>
          <p:cNvPr id="23" name="IconCircle"/>
          <p:cNvSpPr/>
          <p:nvPr/>
        </p:nvSpPr>
        <p:spPr>
          <a:xfrm>
            <a:off x="5440680" y="4288536"/>
            <a:ext cx="603504" cy="603504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Icon FaClock" descr="FaClo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5520" y="4433376"/>
            <a:ext cx="313822" cy="313822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>
            <a:off x="5742432" y="4910328"/>
            <a:ext cx="0" cy="338328"/>
          </a:xfrm>
          <a:prstGeom prst="line">
            <a:avLst/>
          </a:prstGeom>
          <a:ln w="25400">
            <a:solidFill>
              <a:srgbClr val="D9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rd"/>
          <p:cNvSpPr/>
          <p:nvPr/>
        </p:nvSpPr>
        <p:spPr>
          <a:xfrm>
            <a:off x="6217920" y="4197096"/>
            <a:ext cx="4846320" cy="804672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355080" y="4242816"/>
            <a:ext cx="457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B95A25"/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251959"/>
            <a:ext cx="42062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콘텐츠 시간 측정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599432"/>
            <a:ext cx="4206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파괴 · 이동 · 로비 · 보스 시간으로 30 / 150 / 150분 검증</a:t>
            </a:r>
          </a:p>
        </p:txBody>
      </p:sp>
      <p:sp>
        <p:nvSpPr>
          <p:cNvPr id="29" name="IconCircle"/>
          <p:cNvSpPr/>
          <p:nvPr/>
        </p:nvSpPr>
        <p:spPr>
          <a:xfrm>
            <a:off x="5440680" y="5266944"/>
            <a:ext cx="603504" cy="603504"/>
          </a:xfrm>
          <a:prstGeom prst="ellipse">
            <a:avLst/>
          </a:prstGeom>
          <a:solidFill>
            <a:srgbClr val="3C2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Icon FaArrowsRotate" descr="FaArrowsRotat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5520" y="5411784"/>
            <a:ext cx="313822" cy="313822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6217920" y="5175504"/>
            <a:ext cx="4846320" cy="804672"/>
          </a:xfrm>
          <a:prstGeom prst="roundRect">
            <a:avLst>
              <a:gd name="adj" fmla="val 4000"/>
            </a:avLst>
          </a:prstGeom>
          <a:solidFill>
            <a:srgbClr val="FBF7EF"/>
          </a:solidFill>
          <a:ln w="9525">
            <a:solidFill>
              <a:srgbClr val="E7DFD2"/>
            </a:solidFill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355080" y="5221224"/>
            <a:ext cx="457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B95A25"/>
                </a:solidFill>
                <a:latin typeface="Noto Sans KR Black"/>
                <a:ea typeface="Noto Sans KR Black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230368"/>
            <a:ext cx="42062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Noto Sans KR"/>
                <a:ea typeface="Noto Sans KR"/>
              </a:rPr>
              <a:t>같은 시뮬레이션으로 재검증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5577840"/>
            <a:ext cx="4206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5E54"/>
                </a:solidFill>
                <a:latin typeface="Noto Sans KR"/>
                <a:ea typeface="Noto Sans KR"/>
              </a:rPr>
              <a:t>재시작 0 · 1 · 2회, 81층 시작층 함정 해소 여부 확인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FE9DF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6428232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B95A25"/>
                </a:solidFill>
                <a:latin typeface="Noto Sans KR"/>
                <a:ea typeface="Noto Sans KR"/>
              </a:rPr>
              <a:t>다음 ▸ </a:t>
            </a:r>
            <a:r>
              <a:rPr sz="900" b="0" i="0">
                <a:solidFill>
                  <a:srgbClr val="6B5E54"/>
                </a:solidFill>
                <a:latin typeface="Noto Sans KR"/>
                <a:ea typeface="Noto Sans KR"/>
              </a:rPr>
              <a:t>부록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2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1" y="1005840"/>
            <a:ext cx="201168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600" b="0" i="0">
                <a:solidFill>
                  <a:srgbClr val="E97132"/>
                </a:solidFill>
                <a:latin typeface="Noto Sans KR Black"/>
                <a:ea typeface="Noto Sans KR Black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1" y="2148840"/>
            <a:ext cx="42062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0" i="0">
                <a:solidFill>
                  <a:srgbClr val="FFFFFF"/>
                </a:solidFill>
                <a:latin typeface="Noto Sans KR Black"/>
                <a:ea typeface="Noto Sans KR Black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2926080"/>
            <a:ext cx="42062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3B58A"/>
                </a:solidFill>
                <a:latin typeface="Noto Sans KR"/>
                <a:ea typeface="Noto Sans KR"/>
              </a:rPr>
              <a:t>참고용 원표와 정의</a:t>
            </a:r>
          </a:p>
        </p:txBody>
      </p:sp>
      <p:sp>
        <p:nvSpPr>
          <p:cNvPr id="5" name="IconCircle"/>
          <p:cNvSpPr/>
          <p:nvPr/>
        </p:nvSpPr>
        <p:spPr>
          <a:xfrm>
            <a:off x="1097280" y="4160520"/>
            <a:ext cx="960120" cy="96012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 FaBoxArchive" descr="FaBoxArchiv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708" y="4390948"/>
            <a:ext cx="499262" cy="4992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271" y="5257800"/>
            <a:ext cx="4023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D9CFC2"/>
                </a:solidFill>
                <a:latin typeface="Noto Sans KR"/>
                <a:ea typeface="Noto Sans KR"/>
              </a:rPr>
              <a:t>이 장에서 보는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5559552"/>
            <a:ext cx="42062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D9CFC2"/>
                </a:solidFill>
                <a:latin typeface="Noto Sans KR"/>
                <a:ea typeface="Noto Sans KR"/>
              </a:rPr>
              <a:t>45P 용어 · 기호 · 표기 단위 · 46P 핵심 설계 기준 원표 · 47P 기본 보상과 재시작 범위 식 · 48P 성장 단계 배치 규칙 · 49P 1~100층 전체 목표표 (1~25층) · 50P 1~100층 전체 목표표 (26~50층) · 51P 1~100층 전체 목표표 (51~75층) · 52P 1~100층 전체 목표표 (76~100층)</a:t>
            </a:r>
          </a:p>
        </p:txBody>
      </p:sp>
      <p:sp>
        <p:nvSpPr>
          <p:cNvPr id="5" name="Card"/>
          <p:cNvSpPr/>
          <p:nvPr/>
        </p:nvSpPr>
        <p:spPr>
          <a:xfrm>
            <a:off x="5532120" y="1143000"/>
            <a:ext cx="5532120" cy="141732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IconCircle"/>
          <p:cNvSpPr/>
          <p:nvPr/>
        </p:nvSpPr>
        <p:spPr>
          <a:xfrm>
            <a:off x="5715000" y="1527048"/>
            <a:ext cx="640080" cy="64008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 FaBook" descr="FaBoo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619" y="1680667"/>
            <a:ext cx="332841" cy="3328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37960" y="1280160"/>
            <a:ext cx="43891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Noto Sans KR"/>
                <a:ea typeface="Noto Sans KR"/>
              </a:rPr>
              <a:t>용어와 기준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709928"/>
            <a:ext cx="43891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7DFD2"/>
                </a:solidFill>
                <a:latin typeface="Noto Sans KR"/>
                <a:ea typeface="Noto Sans KR"/>
              </a:rPr>
              <a:t>용어 · 기호 · 표기 단위, 핵심 설계 기준 원표</a:t>
            </a:r>
          </a:p>
        </p:txBody>
      </p:sp>
      <p:sp>
        <p:nvSpPr>
          <p:cNvPr id="5" name="Card"/>
          <p:cNvSpPr/>
          <p:nvPr/>
        </p:nvSpPr>
        <p:spPr>
          <a:xfrm>
            <a:off x="5532120" y="2743200"/>
            <a:ext cx="5532120" cy="141732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IconCircle"/>
          <p:cNvSpPr/>
          <p:nvPr/>
        </p:nvSpPr>
        <p:spPr>
          <a:xfrm>
            <a:off x="5715000" y="3127248"/>
            <a:ext cx="640080" cy="64008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 FaRuler" descr="FaRul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619" y="3280867"/>
            <a:ext cx="332841" cy="33284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37960" y="2880360"/>
            <a:ext cx="43891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Noto Sans KR"/>
                <a:ea typeface="Noto Sans KR"/>
              </a:rPr>
              <a:t>계산 규칙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310128"/>
            <a:ext cx="43891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7DFD2"/>
                </a:solidFill>
                <a:latin typeface="Noto Sans KR"/>
                <a:ea typeface="Noto Sans KR"/>
              </a:rPr>
              <a:t>기본 보상과 재시작 범위 식, 성장 단계 배치 규칙</a:t>
            </a:r>
          </a:p>
        </p:txBody>
      </p:sp>
      <p:sp>
        <p:nvSpPr>
          <p:cNvPr id="5" name="Card"/>
          <p:cNvSpPr/>
          <p:nvPr/>
        </p:nvSpPr>
        <p:spPr>
          <a:xfrm>
            <a:off x="5532120" y="4343400"/>
            <a:ext cx="5532120" cy="141732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IconCircle"/>
          <p:cNvSpPr/>
          <p:nvPr/>
        </p:nvSpPr>
        <p:spPr>
          <a:xfrm>
            <a:off x="5715000" y="4727448"/>
            <a:ext cx="640080" cy="64008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 FaTableCells" descr="FaTableCell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8619" y="4881067"/>
            <a:ext cx="332841" cy="33284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7960" y="4480560"/>
            <a:ext cx="43891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Noto Sans KR"/>
                <a:ea typeface="Noto Sans KR"/>
              </a:rPr>
              <a:t>전체 목표표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910328"/>
            <a:ext cx="43891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7DFD2"/>
                </a:solidFill>
                <a:latin typeface="Noto Sans KR"/>
                <a:ea typeface="Noto Sans KR"/>
              </a:rPr>
              <a:t>1~100층의 난이도 · 요구 전투력 · 예상 최종 · 재시작 목표</a:t>
            </a:r>
          </a:p>
        </p:txBody>
      </p:sp>
      <p:sp>
        <p:nvSpPr>
          <p:cNvPr id="5" name="Tracker"/>
          <p:cNvSpPr/>
          <p:nvPr/>
        </p:nvSpPr>
        <p:spPr>
          <a:xfrm>
            <a:off x="113385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① 목적</a:t>
            </a:r>
          </a:p>
        </p:txBody>
      </p:sp>
      <p:sp>
        <p:nvSpPr>
          <p:cNvPr id="5" name="Tracker"/>
          <p:cNvSpPr/>
          <p:nvPr/>
        </p:nvSpPr>
        <p:spPr>
          <a:xfrm>
            <a:off x="196596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② 시스템</a:t>
            </a:r>
          </a:p>
        </p:txBody>
      </p:sp>
      <p:sp>
        <p:nvSpPr>
          <p:cNvPr id="5" name="Tracker"/>
          <p:cNvSpPr/>
          <p:nvPr/>
        </p:nvSpPr>
        <p:spPr>
          <a:xfrm>
            <a:off x="2798064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③ 설계 근거</a:t>
            </a:r>
          </a:p>
        </p:txBody>
      </p:sp>
      <p:sp>
        <p:nvSpPr>
          <p:cNvPr id="5" name="Tracker"/>
          <p:cNvSpPr/>
          <p:nvPr/>
        </p:nvSpPr>
        <p:spPr>
          <a:xfrm>
            <a:off x="3630168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④ 수치 모델</a:t>
            </a:r>
          </a:p>
        </p:txBody>
      </p:sp>
      <p:sp>
        <p:nvSpPr>
          <p:cNvPr id="5" name="Tracker"/>
          <p:cNvSpPr/>
          <p:nvPr/>
        </p:nvSpPr>
        <p:spPr>
          <a:xfrm>
            <a:off x="4462272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⑤ 반영 결과</a:t>
            </a:r>
          </a:p>
        </p:txBody>
      </p:sp>
      <p:sp>
        <p:nvSpPr>
          <p:cNvPr id="5" name="Tracker"/>
          <p:cNvSpPr/>
          <p:nvPr/>
        </p:nvSpPr>
        <p:spPr>
          <a:xfrm>
            <a:off x="5294376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54433A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0" i="0">
                <a:solidFill>
                  <a:srgbClr val="D9CFC2"/>
                </a:solidFill>
                <a:latin typeface="Noto Sans KR"/>
                <a:ea typeface="Noto Sans KR"/>
              </a:rPr>
              <a:t>⑥ 검증</a:t>
            </a:r>
          </a:p>
        </p:txBody>
      </p:sp>
      <p:sp>
        <p:nvSpPr>
          <p:cNvPr id="5" name="Tracker"/>
          <p:cNvSpPr/>
          <p:nvPr/>
        </p:nvSpPr>
        <p:spPr>
          <a:xfrm>
            <a:off x="6126480" y="6455664"/>
            <a:ext cx="786384" cy="2286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9525">
            <a:noFill/>
          </a:ln>
          <a:effectLst>
            <a:outerShdw blurRad="76200" dist="25400" dir="5400000" algn="bl" rotWithShape="0">
              <a:srgbClr val="3C2D23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Noto Sans KR"/>
                <a:ea typeface="Noto Sans KR"/>
              </a:rPr>
              <a:t>부록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</TotalTime>
  <Words>1986</Words>
  <Application>Microsoft Office PowerPoint</Application>
  <PresentationFormat>와이드스크린</PresentationFormat>
  <Paragraphs>348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Noto Sans KR</vt:lpstr>
      <vt:lpstr>Noto Sans KR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도원 박</dc:creator>
  <cp:lastModifiedBy>영웅 김</cp:lastModifiedBy>
  <cp:revision>19</cp:revision>
  <dcterms:created xsi:type="dcterms:W3CDTF">2026-09-29T07:46:10Z</dcterms:created>
  <dcterms:modified xsi:type="dcterms:W3CDTF">2026-10-19T06:45:16Z</dcterms:modified>
</cp:coreProperties>
</file>