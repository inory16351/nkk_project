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87" r:id="rId36"/>
    <p:sldId id="259" r:id="rId9"/>
    <p:sldId id="260" r:id="rId8"/>
    <p:sldId id="261" r:id="rId10"/>
    <p:sldId id="262" r:id="rId11"/>
    <p:sldId id="263" r:id="rId12"/>
    <p:sldId id="264" r:id="rId13"/>
    <p:sldId id="265" r:id="rId7"/>
    <p:sldId id="266" r:id="rId6"/>
    <p:sldId id="267" r:id="rId5"/>
    <p:sldId id="268" r:id="rId4"/>
    <p:sldId id="269" r:id="rId3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13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4866" y="12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누적 플레이타임 vs 처음 깬 최고 층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초반</c:v>
                </c:pt>
              </c:strCache>
            </c:strRef>
          </c:tx>
          <c:spPr>
            <a:ln w="34925">
              <a:solidFill>
                <a:srgbClr val="F4B183"/>
              </a:solidFill>
            </a:ln>
          </c:spPr>
          <c:marker>
            <c:symbol val="circle"/>
            <c:size val="6"/>
            <c:spPr>
              <a:solidFill>
                <a:srgbClr val="F4B183"/>
              </a:solidFill>
              <a:ln>
                <a:solidFill>
                  <a:srgbClr val="F4B183"/>
                </a:solidFill>
              </a:ln>
            </c:spPr>
          </c:marker>
          <c:xVal>
            <c:numRef>
              <c:f>Sheet1!$A$2:$A$7</c:f>
              <c:numCache>
                <c:formatCode>General</c:formatCode>
                <c:ptCount val="6"/>
                <c:pt idx="0">
                  <c:v>0</c:v>
                </c:pt>
                <c:pt idx="1">
                  <c:v>0.016</c:v>
                </c:pt>
                <c:pt idx="2">
                  <c:v>0.035</c:v>
                </c:pt>
                <c:pt idx="3">
                  <c:v>0.059</c:v>
                </c:pt>
                <c:pt idx="4">
                  <c:v>0.088</c:v>
                </c:pt>
                <c:pt idx="5">
                  <c:v>0.401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Sheet1!$B$9</c:f>
              <c:strCache>
                <c:ptCount val="1"/>
                <c:pt idx="0">
                  <c:v>중반</c:v>
                </c:pt>
              </c:strCache>
            </c:strRef>
          </c:tx>
          <c:spPr>
            <a:ln w="34925">
              <a:solidFill>
                <a:srgbClr val="E97132"/>
              </a:solidFill>
            </a:ln>
          </c:spPr>
          <c:marker>
            <c:symbol val="circle"/>
            <c:size val="6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xVal>
            <c:numRef>
              <c:f>Sheet1!$A$10:$A$20</c:f>
              <c:numCache>
                <c:formatCode>General</c:formatCode>
                <c:ptCount val="11"/>
                <c:pt idx="0">
                  <c:v>0.401</c:v>
                </c:pt>
                <c:pt idx="1">
                  <c:v>0.566</c:v>
                </c:pt>
                <c:pt idx="2">
                  <c:v>0.595</c:v>
                </c:pt>
                <c:pt idx="3">
                  <c:v>0.876</c:v>
                </c:pt>
                <c:pt idx="4">
                  <c:v>0.905</c:v>
                </c:pt>
                <c:pt idx="5">
                  <c:v>1.219</c:v>
                </c:pt>
                <c:pt idx="6">
                  <c:v>1.248</c:v>
                </c:pt>
                <c:pt idx="7">
                  <c:v>1.608</c:v>
                </c:pt>
                <c:pt idx="8">
                  <c:v>1.637</c:v>
                </c:pt>
                <c:pt idx="9">
                  <c:v>2.049</c:v>
                </c:pt>
                <c:pt idx="10">
                  <c:v>2.078</c:v>
                </c:pt>
              </c:numCache>
            </c:numRef>
          </c:xVal>
          <c:yVal>
            <c:numRef>
              <c:f>Sheet1!$B$10:$B$20</c:f>
              <c:numCache>
                <c:formatCode>General</c:formatCode>
                <c:ptCount val="11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Sheet1!$B$22</c:f>
              <c:strCache>
                <c:ptCount val="1"/>
                <c:pt idx="0">
                  <c:v>후반</c:v>
                </c:pt>
              </c:strCache>
            </c:strRef>
          </c:tx>
          <c:spPr>
            <a:ln w="34925">
              <a:solidFill>
                <a:srgbClr val="8C8C8C"/>
              </a:solidFill>
            </a:ln>
          </c:spPr>
          <c:marker>
            <c:symbol val="circle"/>
            <c:size val="6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xVal>
            <c:numRef>
              <c:f>Sheet1!$A$23:$A$28</c:f>
              <c:numCache>
                <c:formatCode>General</c:formatCode>
                <c:ptCount val="6"/>
                <c:pt idx="0">
                  <c:v>2.078</c:v>
                </c:pt>
                <c:pt idx="1">
                  <c:v>3.37</c:v>
                </c:pt>
                <c:pt idx="2">
                  <c:v>4.278</c:v>
                </c:pt>
                <c:pt idx="3">
                  <c:v>5.701</c:v>
                </c:pt>
                <c:pt idx="4">
                  <c:v>6.717</c:v>
                </c:pt>
                <c:pt idx="5">
                  <c:v>8.303</c:v>
                </c:pt>
              </c:numCache>
            </c:numRef>
          </c:xVal>
          <c:yVal>
            <c:numRef>
              <c:f>Sheet1!$B$23:$B$28</c:f>
              <c:numCache>
                <c:formatCode>General</c:formatCode>
                <c:ptCount val="6"/>
                <c:pt idx="0">
                  <c:v>15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20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0.0"/>
        </c:scaling>
        <c:delete val="0"/>
        <c:axPos val="b"/>
        <c:majorGridlines>
          <c:spPr>
            <a:ln>
              <a:solidFill>
                <a:srgbClr val="EDEDED"/>
              </a:solidFill>
            </a:ln>
          </c:spPr>
        </c:majorGridlines>
        <c:numFmt formatCode="0&quot;시간&quot;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20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&quot;층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  <c:majorUnit val="5.0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적정 찍찍 (로그 눈금)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적정 찍찍 (1층 = 100)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  <a:ln>
                <a:noFill/>
              </a:ln>
            </c:spPr>
          </c:dPt>
          <c:dPt>
            <c:idx val="1"/>
            <c:spPr>
              <a:solidFill>
                <a:srgbClr val="BFBFBF"/>
              </a:solidFill>
              <a:ln>
                <a:noFill/>
              </a:ln>
            </c:spPr>
          </c:dPt>
          <c:dPt>
            <c:idx val="2"/>
            <c:spPr>
              <a:solidFill>
                <a:srgbClr val="BFBFBF"/>
              </a:solidFill>
              <a:ln>
                <a:noFill/>
              </a:ln>
            </c:spPr>
          </c:dPt>
          <c:dPt>
            <c:idx val="3"/>
            <c:spPr>
              <a:solidFill>
                <a:srgbClr val="BFBFBF"/>
              </a:solidFill>
              <a:ln>
                <a:noFill/>
              </a:ln>
            </c:spPr>
          </c:dPt>
          <c:dPt>
            <c:idx val="4"/>
            <c:spPr>
              <a:solidFill>
                <a:srgbClr val="E97132"/>
              </a:solidFill>
              <a:ln>
                <a:noFill/>
              </a:ln>
            </c:spPr>
          </c:dPt>
          <c:dPt>
            <c:idx val="5"/>
            <c:spPr>
              <a:solidFill>
                <a:srgbClr val="8C8C8C"/>
              </a:solidFill>
              <a:ln>
                <a:noFill/>
              </a:ln>
            </c:spPr>
          </c:dPt>
          <c:dPt>
            <c:idx val="6"/>
            <c:spPr>
              <a:solidFill>
                <a:srgbClr val="8C8C8C"/>
              </a:solidFill>
              <a:ln>
                <a:noFill/>
              </a:ln>
            </c:spPr>
          </c:dPt>
          <c:dPt>
            <c:idx val="7"/>
            <c:spPr>
              <a:solidFill>
                <a:srgbClr val="8C8C8C"/>
              </a:solidFill>
              <a:ln>
                <a:noFill/>
              </a:ln>
            </c:spPr>
          </c:dPt>
          <c:dPt>
            <c:idx val="8"/>
            <c:spPr>
              <a:solidFill>
                <a:srgbClr val="8C8C8C"/>
              </a:solidFill>
              <a:ln>
                <a:noFill/>
              </a:ln>
            </c:spPr>
          </c:dPt>
          <c:dPt>
            <c:idx val="9"/>
            <c:spPr>
              <a:solidFill>
                <a:srgbClr val="8C8C8C"/>
              </a:solidFill>
              <a:ln>
                <a:noFill/>
              </a:ln>
            </c:spPr>
          </c:dPt>
          <c:dPt>
            <c:idx val="10"/>
            <c:spPr>
              <a:solidFill>
                <a:srgbClr val="8C8C8C"/>
              </a:solidFill>
              <a:ln>
                <a:noFill/>
              </a:ln>
            </c:spPr>
          </c:dPt>
          <c:dPt>
            <c:idx val="11"/>
            <c:spPr>
              <a:solidFill>
                <a:srgbClr val="8C8C8C"/>
              </a:solidFill>
              <a:ln>
                <a:noFill/>
              </a:ln>
            </c:spPr>
          </c:dPt>
          <c:dPt>
            <c:idx val="12"/>
            <c:spPr>
              <a:solidFill>
                <a:srgbClr val="8C8C8C"/>
              </a:solidFill>
              <a:ln>
                <a:noFill/>
              </a:ln>
            </c:spPr>
          </c:dPt>
          <c:dPt>
            <c:idx val="13"/>
            <c:spPr>
              <a:solidFill>
                <a:srgbClr val="8C8C8C"/>
              </a:solidFill>
              <a:ln>
                <a:noFill/>
              </a:ln>
            </c:spPr>
          </c:dPt>
          <c:dPt>
            <c:idx val="14"/>
            <c:spPr>
              <a:solidFill>
                <a:srgbClr val="8C8C8C"/>
              </a:solidFill>
              <a:ln>
                <a:noFill/>
              </a:ln>
            </c:spPr>
          </c:dPt>
          <c:dPt>
            <c:idx val="15"/>
            <c:spPr>
              <a:solidFill>
                <a:srgbClr val="E97132"/>
              </a:solidFill>
              <a:ln>
                <a:noFill/>
              </a:ln>
            </c:spPr>
          </c:dPt>
          <c:dPt>
            <c:idx val="16"/>
            <c:spPr>
              <a:solidFill>
                <a:srgbClr val="F4B183"/>
              </a:solidFill>
              <a:ln>
                <a:noFill/>
              </a:ln>
            </c:spPr>
          </c:dPt>
          <c:dPt>
            <c:idx val="17"/>
            <c:spPr>
              <a:solidFill>
                <a:srgbClr val="E97132"/>
              </a:solidFill>
              <a:ln>
                <a:noFill/>
              </a:ln>
            </c:spPr>
          </c:dPt>
          <c:dPt>
            <c:idx val="18"/>
            <c:spPr>
              <a:solidFill>
                <a:srgbClr val="F4B183"/>
              </a:solidFill>
              <a:ln>
                <a:noFill/>
              </a:ln>
            </c:spPr>
          </c:dPt>
          <c:dPt>
            <c:idx val="19"/>
            <c:spPr>
              <a:solidFill>
                <a:srgbClr val="E97132"/>
              </a:solidFill>
              <a:ln>
                <a:noFill/>
              </a:ln>
            </c:spPr>
          </c:dPt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100</c:v>
                </c:pt>
                <c:pt idx="1">
                  <c:v>125</c:v>
                </c:pt>
                <c:pt idx="2">
                  <c:v>156</c:v>
                </c:pt>
                <c:pt idx="3">
                  <c:v>195</c:v>
                </c:pt>
                <c:pt idx="4">
                  <c:v>352</c:v>
                </c:pt>
                <c:pt idx="5">
                  <c:v>464</c:v>
                </c:pt>
                <c:pt idx="6">
                  <c:v>613</c:v>
                </c:pt>
                <c:pt idx="7">
                  <c:v>809</c:v>
                </c:pt>
                <c:pt idx="8">
                  <c:v>1067</c:v>
                </c:pt>
                <c:pt idx="9">
                  <c:v>1409</c:v>
                </c:pt>
                <c:pt idx="10">
                  <c:v>1860</c:v>
                </c:pt>
                <c:pt idx="11">
                  <c:v>2455</c:v>
                </c:pt>
                <c:pt idx="12">
                  <c:v>3240</c:v>
                </c:pt>
                <c:pt idx="13">
                  <c:v>4277</c:v>
                </c:pt>
                <c:pt idx="14">
                  <c:v>5646</c:v>
                </c:pt>
                <c:pt idx="15">
                  <c:v>12421</c:v>
                </c:pt>
                <c:pt idx="16">
                  <c:v>21116</c:v>
                </c:pt>
                <c:pt idx="17">
                  <c:v>44344</c:v>
                </c:pt>
                <c:pt idx="18">
                  <c:v>77602</c:v>
                </c:pt>
                <c:pt idx="19">
                  <c:v>178484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min val="1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난이도 상승 (이전 층 대비 배율)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이전 층 대비 상승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  <a:ln>
                <a:noFill/>
              </a:ln>
            </c:spPr>
          </c:dPt>
          <c:dPt>
            <c:idx val="1"/>
            <c:spPr>
              <a:solidFill>
                <a:srgbClr val="BFBFBF"/>
              </a:solidFill>
              <a:ln>
                <a:noFill/>
              </a:ln>
            </c:spPr>
          </c:dPt>
          <c:dPt>
            <c:idx val="2"/>
            <c:spPr>
              <a:solidFill>
                <a:srgbClr val="BFBFBF"/>
              </a:solidFill>
              <a:ln>
                <a:noFill/>
              </a:ln>
            </c:spPr>
          </c:dPt>
          <c:dPt>
            <c:idx val="3"/>
            <c:spPr>
              <a:solidFill>
                <a:srgbClr val="E97132"/>
              </a:solidFill>
              <a:ln>
                <a:noFill/>
              </a:ln>
            </c:spPr>
          </c:dPt>
          <c:dPt>
            <c:idx val="4"/>
            <c:spPr>
              <a:solidFill>
                <a:srgbClr val="8C8C8C"/>
              </a:solidFill>
              <a:ln>
                <a:noFill/>
              </a:ln>
            </c:spPr>
          </c:dPt>
          <c:dPt>
            <c:idx val="5"/>
            <c:spPr>
              <a:solidFill>
                <a:srgbClr val="8C8C8C"/>
              </a:solidFill>
              <a:ln>
                <a:noFill/>
              </a:ln>
            </c:spPr>
          </c:dPt>
          <c:dPt>
            <c:idx val="6"/>
            <c:spPr>
              <a:solidFill>
                <a:srgbClr val="8C8C8C"/>
              </a:solidFill>
              <a:ln>
                <a:noFill/>
              </a:ln>
            </c:spPr>
          </c:dPt>
          <c:dPt>
            <c:idx val="7"/>
            <c:spPr>
              <a:solidFill>
                <a:srgbClr val="8C8C8C"/>
              </a:solidFill>
              <a:ln>
                <a:noFill/>
              </a:ln>
            </c:spPr>
          </c:dPt>
          <c:dPt>
            <c:idx val="8"/>
            <c:spPr>
              <a:solidFill>
                <a:srgbClr val="8C8C8C"/>
              </a:solidFill>
              <a:ln>
                <a:noFill/>
              </a:ln>
            </c:spPr>
          </c:dPt>
          <c:dPt>
            <c:idx val="9"/>
            <c:spPr>
              <a:solidFill>
                <a:srgbClr val="8C8C8C"/>
              </a:solidFill>
              <a:ln>
                <a:noFill/>
              </a:ln>
            </c:spPr>
          </c:dPt>
          <c:dPt>
            <c:idx val="10"/>
            <c:spPr>
              <a:solidFill>
                <a:srgbClr val="8C8C8C"/>
              </a:solidFill>
              <a:ln>
                <a:noFill/>
              </a:ln>
            </c:spPr>
          </c:dPt>
          <c:dPt>
            <c:idx val="11"/>
            <c:spPr>
              <a:solidFill>
                <a:srgbClr val="8C8C8C"/>
              </a:solidFill>
              <a:ln>
                <a:noFill/>
              </a:ln>
            </c:spPr>
          </c:dPt>
          <c:dPt>
            <c:idx val="12"/>
            <c:spPr>
              <a:solidFill>
                <a:srgbClr val="8C8C8C"/>
              </a:solidFill>
              <a:ln>
                <a:noFill/>
              </a:ln>
            </c:spPr>
          </c:dPt>
          <c:dPt>
            <c:idx val="13"/>
            <c:spPr>
              <a:solidFill>
                <a:srgbClr val="8C8C8C"/>
              </a:solidFill>
              <a:ln>
                <a:noFill/>
              </a:ln>
            </c:spPr>
          </c:dPt>
          <c:dPt>
            <c:idx val="14"/>
            <c:spPr>
              <a:solidFill>
                <a:srgbClr val="E97132"/>
              </a:solidFill>
              <a:ln>
                <a:noFill/>
              </a:ln>
            </c:spPr>
          </c:dPt>
          <c:dPt>
            <c:idx val="15"/>
            <c:spPr>
              <a:solidFill>
                <a:srgbClr val="F4B183"/>
              </a:solidFill>
              <a:ln>
                <a:noFill/>
              </a:ln>
            </c:spPr>
          </c:dPt>
          <c:dPt>
            <c:idx val="16"/>
            <c:spPr>
              <a:solidFill>
                <a:srgbClr val="E97132"/>
              </a:solidFill>
              <a:ln>
                <a:noFill/>
              </a:ln>
            </c:spPr>
          </c:dPt>
          <c:dPt>
            <c:idx val="17"/>
            <c:spPr>
              <a:solidFill>
                <a:srgbClr val="F4B183"/>
              </a:solidFill>
              <a:ln>
                <a:noFill/>
              </a:ln>
            </c:spPr>
          </c:dPt>
          <c:dPt>
            <c:idx val="18"/>
            <c:spPr>
              <a:solidFill>
                <a:srgbClr val="E97132"/>
              </a:solidFill>
              <a:ln>
                <a:noFill/>
              </a:ln>
            </c:spPr>
          </c:dPt>
          <c:cat>
            <c:strRef>
              <c:f>Sheet1!$A$2:$A$20</c:f>
              <c:strCache>
                <c:ptCount val="19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11</c:v>
                </c:pt>
                <c:pt idx="10">
                  <c:v>12</c:v>
                </c:pt>
                <c:pt idx="11">
                  <c:v>13</c:v>
                </c:pt>
                <c:pt idx="12">
                  <c:v>14</c:v>
                </c:pt>
                <c:pt idx="13">
                  <c:v>15</c:v>
                </c:pt>
                <c:pt idx="14">
                  <c:v>16</c:v>
                </c:pt>
                <c:pt idx="15">
                  <c:v>17</c:v>
                </c:pt>
                <c:pt idx="16">
                  <c:v>18</c:v>
                </c:pt>
                <c:pt idx="17">
                  <c:v>19</c:v>
                </c:pt>
                <c:pt idx="18">
                  <c:v>20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1.25</c:v>
                </c:pt>
                <c:pt idx="1">
                  <c:v>1.25</c:v>
                </c:pt>
                <c:pt idx="2">
                  <c:v>1.25</c:v>
                </c:pt>
                <c:pt idx="3">
                  <c:v>1.8</c:v>
                </c:pt>
                <c:pt idx="4">
                  <c:v>1.32</c:v>
                </c:pt>
                <c:pt idx="5">
                  <c:v>1.32</c:v>
                </c:pt>
                <c:pt idx="6">
                  <c:v>1.32</c:v>
                </c:pt>
                <c:pt idx="7">
                  <c:v>1.32</c:v>
                </c:pt>
                <c:pt idx="8">
                  <c:v>1.32</c:v>
                </c:pt>
                <c:pt idx="9">
                  <c:v>1.32</c:v>
                </c:pt>
                <c:pt idx="10">
                  <c:v>1.32</c:v>
                </c:pt>
                <c:pt idx="11">
                  <c:v>1.32</c:v>
                </c:pt>
                <c:pt idx="12">
                  <c:v>1.32</c:v>
                </c:pt>
                <c:pt idx="13">
                  <c:v>1.32</c:v>
                </c:pt>
                <c:pt idx="14">
                  <c:v>2.2</c:v>
                </c:pt>
                <c:pt idx="15">
                  <c:v>1.7</c:v>
                </c:pt>
                <c:pt idx="16">
                  <c:v>2.1</c:v>
                </c:pt>
                <c:pt idx="17">
                  <c:v>1.75</c:v>
                </c:pt>
                <c:pt idx="18">
                  <c:v>2.3</c:v>
                </c:pt>
              </c:numCache>
            </c:numRef>
          </c:val>
        </c:ser>
        <c:dLbls>
          <c:numFmt formatCode="×0.00" sourceLinked="0"/>
          <c:txPr>
            <a:bodyPr/>
            <a:lstStyle/>
            <a:p>
              <a:pPr>
                <a:defRPr sz="800">
                  <a:solidFill>
                    <a:srgbClr val="59595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6"/>
          <c:min val="1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×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돌파 시간 — 적정일 때 vs 아무리 강해도 걸리는 최소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적정 찍찍일 때 돌파 (초)</c:v>
                </c:pt>
              </c:strCache>
            </c:strRef>
          </c:tx>
          <c:spPr>
            <a:solidFill>
              <a:srgbClr val="BFBFBF"/>
            </a:solidFill>
          </c:spPr>
          <c:cat>
            <c:strRef>
              <c:f>Sheet1!$A$2:$A$21</c:f>
              <c:strCache>
                <c:ptCount val="20"/>
                <c:pt idx="0">
                  <c:v>1층
방2</c:v>
                </c:pt>
                <c:pt idx="1">
                  <c:v>2층
방3</c:v>
                </c:pt>
                <c:pt idx="2">
                  <c:v>3층
방3</c:v>
                </c:pt>
                <c:pt idx="3">
                  <c:v>4층
방4</c:v>
                </c:pt>
                <c:pt idx="4">
                  <c:v>5층
방4</c:v>
                </c:pt>
                <c:pt idx="5">
                  <c:v>6층
방5</c:v>
                </c:pt>
                <c:pt idx="6">
                  <c:v>7층
방5</c:v>
                </c:pt>
                <c:pt idx="7">
                  <c:v>8층
방6</c:v>
                </c:pt>
                <c:pt idx="8">
                  <c:v>9층
방6</c:v>
                </c:pt>
                <c:pt idx="9">
                  <c:v>10층
방7</c:v>
                </c:pt>
                <c:pt idx="10">
                  <c:v>11층
방7</c:v>
                </c:pt>
                <c:pt idx="11">
                  <c:v>12층
방8</c:v>
                </c:pt>
                <c:pt idx="12">
                  <c:v>13층
방8</c:v>
                </c:pt>
                <c:pt idx="13">
                  <c:v>14층
방9</c:v>
                </c:pt>
                <c:pt idx="14">
                  <c:v>15층
방9</c:v>
                </c:pt>
                <c:pt idx="15">
                  <c:v>16층
방9</c:v>
                </c:pt>
                <c:pt idx="16">
                  <c:v>17층
방9</c:v>
                </c:pt>
                <c:pt idx="17">
                  <c:v>18층
방9</c:v>
                </c:pt>
                <c:pt idx="18">
                  <c:v>19층
방9</c:v>
                </c:pt>
                <c:pt idx="19">
                  <c:v>20층
방9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108</c:v>
                </c:pt>
                <c:pt idx="1">
                  <c:v>108</c:v>
                </c:pt>
                <c:pt idx="2">
                  <c:v>108</c:v>
                </c:pt>
                <c:pt idx="3">
                  <c:v>108</c:v>
                </c:pt>
                <c:pt idx="4">
                  <c:v>162</c:v>
                </c:pt>
                <c:pt idx="5">
                  <c:v>108</c:v>
                </c:pt>
                <c:pt idx="6">
                  <c:v>108</c:v>
                </c:pt>
                <c:pt idx="7">
                  <c:v>108</c:v>
                </c:pt>
                <c:pt idx="8">
                  <c:v>108</c:v>
                </c:pt>
                <c:pt idx="9">
                  <c:v>108</c:v>
                </c:pt>
                <c:pt idx="10">
                  <c:v>108</c:v>
                </c:pt>
                <c:pt idx="11">
                  <c:v>108</c:v>
                </c:pt>
                <c:pt idx="12">
                  <c:v>108</c:v>
                </c:pt>
                <c:pt idx="13">
                  <c:v>108</c:v>
                </c:pt>
                <c:pt idx="14">
                  <c:v>108</c:v>
                </c:pt>
                <c:pt idx="15">
                  <c:v>162</c:v>
                </c:pt>
                <c:pt idx="16">
                  <c:v>135</c:v>
                </c:pt>
                <c:pt idx="17">
                  <c:v>162</c:v>
                </c:pt>
                <c:pt idx="18">
                  <c:v>135</c:v>
                </c:pt>
                <c:pt idx="19">
                  <c:v>162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충분히 강해도 걸리는 최소 시간 (초) = 방 × 10초 + 계단</c:v>
                </c:pt>
              </c:strCache>
            </c:strRef>
          </c:tx>
          <c:spPr>
            <a:solidFill>
              <a:srgbClr val="E97132"/>
            </a:solidFill>
          </c:spPr>
          <c:cat>
            <c:strRef>
              <c:f>Sheet1!$A$2:$A$21</c:f>
              <c:strCache>
                <c:ptCount val="20"/>
                <c:pt idx="0">
                  <c:v>1층
방2</c:v>
                </c:pt>
                <c:pt idx="1">
                  <c:v>2층
방3</c:v>
                </c:pt>
                <c:pt idx="2">
                  <c:v>3층
방3</c:v>
                </c:pt>
                <c:pt idx="3">
                  <c:v>4층
방4</c:v>
                </c:pt>
                <c:pt idx="4">
                  <c:v>5층
방4</c:v>
                </c:pt>
                <c:pt idx="5">
                  <c:v>6층
방5</c:v>
                </c:pt>
                <c:pt idx="6">
                  <c:v>7층
방5</c:v>
                </c:pt>
                <c:pt idx="7">
                  <c:v>8층
방6</c:v>
                </c:pt>
                <c:pt idx="8">
                  <c:v>9층
방6</c:v>
                </c:pt>
                <c:pt idx="9">
                  <c:v>10층
방7</c:v>
                </c:pt>
                <c:pt idx="10">
                  <c:v>11층
방7</c:v>
                </c:pt>
                <c:pt idx="11">
                  <c:v>12층
방8</c:v>
                </c:pt>
                <c:pt idx="12">
                  <c:v>13층
방8</c:v>
                </c:pt>
                <c:pt idx="13">
                  <c:v>14층
방9</c:v>
                </c:pt>
                <c:pt idx="14">
                  <c:v>15층
방9</c:v>
                </c:pt>
                <c:pt idx="15">
                  <c:v>16층
방9</c:v>
                </c:pt>
                <c:pt idx="16">
                  <c:v>17층
방9</c:v>
                </c:pt>
                <c:pt idx="17">
                  <c:v>18층
방9</c:v>
                </c:pt>
                <c:pt idx="18">
                  <c:v>19층
방9</c:v>
                </c:pt>
                <c:pt idx="19">
                  <c:v>20층
방9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28.0</c:v>
                </c:pt>
                <c:pt idx="1">
                  <c:v>38.0</c:v>
                </c:pt>
                <c:pt idx="2">
                  <c:v>38.0</c:v>
                </c:pt>
                <c:pt idx="3">
                  <c:v>48.0</c:v>
                </c:pt>
                <c:pt idx="4">
                  <c:v>48.0</c:v>
                </c:pt>
                <c:pt idx="5">
                  <c:v>58.0</c:v>
                </c:pt>
                <c:pt idx="6">
                  <c:v>58.0</c:v>
                </c:pt>
                <c:pt idx="7">
                  <c:v>68.0</c:v>
                </c:pt>
                <c:pt idx="8">
                  <c:v>68.0</c:v>
                </c:pt>
                <c:pt idx="9">
                  <c:v>78.0</c:v>
                </c:pt>
                <c:pt idx="10">
                  <c:v>78.0</c:v>
                </c:pt>
                <c:pt idx="11">
                  <c:v>88.0</c:v>
                </c:pt>
                <c:pt idx="12">
                  <c:v>88.0</c:v>
                </c:pt>
                <c:pt idx="13">
                  <c:v>98.0</c:v>
                </c:pt>
                <c:pt idx="14">
                  <c:v>98.0</c:v>
                </c:pt>
                <c:pt idx="15">
                  <c:v>98.0</c:v>
                </c:pt>
                <c:pt idx="16">
                  <c:v>98.0</c:v>
                </c:pt>
                <c:pt idx="17">
                  <c:v>98.0</c:v>
                </c:pt>
                <c:pt idx="18">
                  <c:v>98.0</c:v>
                </c:pt>
                <c:pt idx="19">
                  <c:v>98.0</c:v>
                </c:pt>
              </c:numCache>
            </c:numRef>
          </c:val>
        </c:ser>
        <c:gapWidth val="4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0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&quot;초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30.0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 성장 그래프 — 판당 성장과 층당 난이도 (배율)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판당 플레이어 성장</c:v>
                </c:pt>
              </c:strCache>
            </c:strRef>
          </c:tx>
          <c:spPr>
            <a:solidFill>
              <a:srgbClr val="E97132"/>
            </a:solidFill>
          </c:spPr>
          <c:cat>
            <c:strRef>
              <c:f>Sheet1!$A$2:$A$4</c:f>
              <c:strCache>
                <c:ptCount val="3"/>
                <c:pt idx="0">
                  <c:v>초반 (1~5층)</c:v>
                </c:pt>
                <c:pt idx="1">
                  <c:v>중반 (6~15층)</c:v>
                </c:pt>
                <c:pt idx="2">
                  <c:v>후반 (16층~)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1.34</c:v>
                </c:pt>
                <c:pt idx="1">
                  <c:v>1.74</c:v>
                </c:pt>
                <c:pt idx="2">
                  <c:v>1.3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층당 난이도 상승</c:v>
                </c:pt>
              </c:strCache>
            </c:strRef>
          </c:tx>
          <c:spPr>
            <a:solidFill>
              <a:srgbClr val="BFBFBF"/>
            </a:solidFill>
          </c:spPr>
          <c:cat>
            <c:strRef>
              <c:f>Sheet1!$A$2:$A$4</c:f>
              <c:strCache>
                <c:ptCount val="3"/>
                <c:pt idx="0">
                  <c:v>초반 (1~5층)</c:v>
                </c:pt>
                <c:pt idx="1">
                  <c:v>중반 (6~15층)</c:v>
                </c:pt>
                <c:pt idx="2">
                  <c:v>후반 (16층~)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1.37</c:v>
                </c:pt>
                <c:pt idx="1">
                  <c:v>1.32</c:v>
                </c:pt>
                <c:pt idx="2">
                  <c:v>2.0</c:v>
                </c:pt>
              </c:numCache>
            </c:numRef>
          </c:val>
        </c:ser>
        <c:dLbls>
          <c:numFmt formatCode="×0.00" sourceLinked="0"/>
          <c:txPr>
            <a:bodyPr/>
            <a:lstStyle/>
            <a:p>
              <a:pPr>
                <a:defRPr sz="10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4"/>
          <c:min val="1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×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난이도 곡선 vs 플레이어 성장 곡선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 (적정 찍찍)</c:v>
                </c:pt>
              </c:strCache>
            </c:strRef>
          </c:tx>
          <c:spPr>
            <a:ln w="25400">
              <a:solidFill>
                <a:srgbClr val="8C8C8C"/>
              </a:solidFill>
            </a:ln>
          </c:spPr>
          <c:marker>
            <c:size val="4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100</c:v>
                </c:pt>
                <c:pt idx="1">
                  <c:v>125</c:v>
                </c:pt>
                <c:pt idx="2">
                  <c:v>156</c:v>
                </c:pt>
                <c:pt idx="3">
                  <c:v>195</c:v>
                </c:pt>
                <c:pt idx="4">
                  <c:v>352</c:v>
                </c:pt>
                <c:pt idx="5">
                  <c:v>464</c:v>
                </c:pt>
                <c:pt idx="6">
                  <c:v>613</c:v>
                </c:pt>
                <c:pt idx="7">
                  <c:v>809</c:v>
                </c:pt>
                <c:pt idx="8">
                  <c:v>1067</c:v>
                </c:pt>
                <c:pt idx="9">
                  <c:v>1409</c:v>
                </c:pt>
                <c:pt idx="10">
                  <c:v>1860</c:v>
                </c:pt>
                <c:pt idx="11">
                  <c:v>2455</c:v>
                </c:pt>
                <c:pt idx="12">
                  <c:v>3240</c:v>
                </c:pt>
                <c:pt idx="13">
                  <c:v>4277</c:v>
                </c:pt>
                <c:pt idx="14">
                  <c:v>5646</c:v>
                </c:pt>
                <c:pt idx="15">
                  <c:v>12421</c:v>
                </c:pt>
                <c:pt idx="16">
                  <c:v>21116</c:v>
                </c:pt>
                <c:pt idx="17">
                  <c:v>44344</c:v>
                </c:pt>
                <c:pt idx="18">
                  <c:v>77602</c:v>
                </c:pt>
                <c:pt idx="19">
                  <c:v>178484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플레이어 기준 전투력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ize val="4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100</c:v>
                </c:pt>
                <c:pt idx="1">
                  <c:v>127</c:v>
                </c:pt>
                <c:pt idx="2">
                  <c:v>161</c:v>
                </c:pt>
                <c:pt idx="3">
                  <c:v>205</c:v>
                </c:pt>
                <c:pt idx="4">
                  <c:v>273</c:v>
                </c:pt>
                <c:pt idx="5">
                  <c:v>402</c:v>
                </c:pt>
                <c:pt idx="6">
                  <c:v>606</c:v>
                </c:pt>
                <c:pt idx="7">
                  <c:v>861</c:v>
                </c:pt>
                <c:pt idx="8">
                  <c:v>1188</c:v>
                </c:pt>
                <c:pt idx="9">
                  <c:v>1639</c:v>
                </c:pt>
                <c:pt idx="10">
                  <c:v>2262</c:v>
                </c:pt>
                <c:pt idx="11">
                  <c:v>3121</c:v>
                </c:pt>
                <c:pt idx="12">
                  <c:v>4307</c:v>
                </c:pt>
                <c:pt idx="13">
                  <c:v>5944</c:v>
                </c:pt>
                <c:pt idx="14">
                  <c:v>8203</c:v>
                </c:pt>
                <c:pt idx="15">
                  <c:v>11997</c:v>
                </c:pt>
                <c:pt idx="16">
                  <c:v>18880</c:v>
                </c:pt>
                <c:pt idx="17">
                  <c:v>30626</c:v>
                </c:pt>
                <c:pt idx="18">
                  <c:v>51211</c:v>
                </c:pt>
                <c:pt idx="19">
                  <c:v>88271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0000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50000.0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여유도 = 기준 전투력 ÷ 난이도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전투력 ÷ 난이도</c:v>
                </c:pt>
              </c:strCache>
            </c:strRef>
          </c:tx>
          <c:dPt>
            <c:idx val="0"/>
            <c:spPr>
              <a:solidFill>
                <a:srgbClr val="F4B183"/>
              </a:solidFill>
              <a:ln>
                <a:noFill/>
              </a:ln>
            </c:spPr>
          </c:dPt>
          <c:dPt>
            <c:idx val="1"/>
            <c:spPr>
              <a:solidFill>
                <a:srgbClr val="F4B183"/>
              </a:solidFill>
              <a:ln>
                <a:noFill/>
              </a:ln>
            </c:spPr>
          </c:dPt>
          <c:dPt>
            <c:idx val="2"/>
            <c:spPr>
              <a:solidFill>
                <a:srgbClr val="F4B183"/>
              </a:solidFill>
              <a:ln>
                <a:noFill/>
              </a:ln>
            </c:spPr>
          </c:dPt>
          <c:dPt>
            <c:idx val="3"/>
            <c:spPr>
              <a:solidFill>
                <a:srgbClr val="F4B183"/>
              </a:solidFill>
              <a:ln>
                <a:noFill/>
              </a:ln>
            </c:spPr>
          </c:dPt>
          <c:dPt>
            <c:idx val="4"/>
            <c:spPr>
              <a:solidFill>
                <a:srgbClr val="F4B183"/>
              </a:solidFill>
              <a:ln>
                <a:noFill/>
              </a:ln>
            </c:spPr>
          </c:dPt>
          <c:dPt>
            <c:idx val="5"/>
            <c:spPr>
              <a:solidFill>
                <a:srgbClr val="E97132"/>
              </a:solidFill>
              <a:ln>
                <a:noFill/>
              </a:ln>
            </c:spPr>
          </c:dPt>
          <c:dPt>
            <c:idx val="6"/>
            <c:spPr>
              <a:solidFill>
                <a:srgbClr val="E97132"/>
              </a:solidFill>
              <a:ln>
                <a:noFill/>
              </a:ln>
            </c:spPr>
          </c:dPt>
          <c:dPt>
            <c:idx val="7"/>
            <c:spPr>
              <a:solidFill>
                <a:srgbClr val="E97132"/>
              </a:solidFill>
              <a:ln>
                <a:noFill/>
              </a:ln>
            </c:spPr>
          </c:dPt>
          <c:dPt>
            <c:idx val="8"/>
            <c:spPr>
              <a:solidFill>
                <a:srgbClr val="E97132"/>
              </a:solidFill>
              <a:ln>
                <a:noFill/>
              </a:ln>
            </c:spPr>
          </c:dPt>
          <c:dPt>
            <c:idx val="9"/>
            <c:spPr>
              <a:solidFill>
                <a:srgbClr val="E97132"/>
              </a:solidFill>
              <a:ln>
                <a:noFill/>
              </a:ln>
            </c:spPr>
          </c:dPt>
          <c:dPt>
            <c:idx val="10"/>
            <c:spPr>
              <a:solidFill>
                <a:srgbClr val="E97132"/>
              </a:solidFill>
              <a:ln>
                <a:noFill/>
              </a:ln>
            </c:spPr>
          </c:dPt>
          <c:dPt>
            <c:idx val="11"/>
            <c:spPr>
              <a:solidFill>
                <a:srgbClr val="E97132"/>
              </a:solidFill>
              <a:ln>
                <a:noFill/>
              </a:ln>
            </c:spPr>
          </c:dPt>
          <c:dPt>
            <c:idx val="12"/>
            <c:spPr>
              <a:solidFill>
                <a:srgbClr val="E97132"/>
              </a:solidFill>
              <a:ln>
                <a:noFill/>
              </a:ln>
            </c:spPr>
          </c:dPt>
          <c:dPt>
            <c:idx val="13"/>
            <c:spPr>
              <a:solidFill>
                <a:srgbClr val="E97132"/>
              </a:solidFill>
              <a:ln>
                <a:noFill/>
              </a:ln>
            </c:spPr>
          </c:dPt>
          <c:dPt>
            <c:idx val="14"/>
            <c:spPr>
              <a:solidFill>
                <a:srgbClr val="E97132"/>
              </a:solidFill>
              <a:ln>
                <a:noFill/>
              </a:ln>
            </c:spPr>
          </c:dPt>
          <c:dPt>
            <c:idx val="15"/>
            <c:spPr>
              <a:solidFill>
                <a:srgbClr val="BFBFBF"/>
              </a:solidFill>
              <a:ln>
                <a:noFill/>
              </a:ln>
            </c:spPr>
          </c:dPt>
          <c:dPt>
            <c:idx val="16"/>
            <c:spPr>
              <a:solidFill>
                <a:srgbClr val="BFBFBF"/>
              </a:solidFill>
              <a:ln>
                <a:noFill/>
              </a:ln>
            </c:spPr>
          </c:dPt>
          <c:dPt>
            <c:idx val="17"/>
            <c:spPr>
              <a:solidFill>
                <a:srgbClr val="BFBFBF"/>
              </a:solidFill>
              <a:ln>
                <a:noFill/>
              </a:ln>
            </c:spPr>
          </c:dPt>
          <c:dPt>
            <c:idx val="18"/>
            <c:spPr>
              <a:solidFill>
                <a:srgbClr val="BFBFBF"/>
              </a:solidFill>
              <a:ln>
                <a:noFill/>
              </a:ln>
            </c:spPr>
          </c:dPt>
          <c:dPt>
            <c:idx val="19"/>
            <c:spPr>
              <a:solidFill>
                <a:srgbClr val="BFBFBF"/>
              </a:solidFill>
              <a:ln>
                <a:noFill/>
              </a:ln>
            </c:spPr>
          </c:dPt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1.02</c:v>
                </c:pt>
                <c:pt idx="2">
                  <c:v>1.03</c:v>
                </c:pt>
                <c:pt idx="3">
                  <c:v>1.05</c:v>
                </c:pt>
                <c:pt idx="4">
                  <c:v>0.78</c:v>
                </c:pt>
                <c:pt idx="5">
                  <c:v>0.87</c:v>
                </c:pt>
                <c:pt idx="6">
                  <c:v>0.99</c:v>
                </c:pt>
                <c:pt idx="7">
                  <c:v>1.06</c:v>
                </c:pt>
                <c:pt idx="8">
                  <c:v>1.11</c:v>
                </c:pt>
                <c:pt idx="9">
                  <c:v>1.16</c:v>
                </c:pt>
                <c:pt idx="10">
                  <c:v>1.22</c:v>
                </c:pt>
                <c:pt idx="11">
                  <c:v>1.27</c:v>
                </c:pt>
                <c:pt idx="12">
                  <c:v>1.33</c:v>
                </c:pt>
                <c:pt idx="13">
                  <c:v>1.39</c:v>
                </c:pt>
                <c:pt idx="14">
                  <c:v>1.45</c:v>
                </c:pt>
                <c:pt idx="15">
                  <c:v>0.97</c:v>
                </c:pt>
                <c:pt idx="16">
                  <c:v>0.89</c:v>
                </c:pt>
                <c:pt idx="17">
                  <c:v>0.69</c:v>
                </c:pt>
                <c:pt idx="18">
                  <c:v>0.66</c:v>
                </c:pt>
                <c:pt idx="19">
                  <c:v>0.49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6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0.5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(1~5층)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 (적정 찍찍)</c:v>
                </c:pt>
              </c:strCache>
            </c:strRef>
          </c:tx>
          <c:spPr>
            <a:ln w="25400">
              <a:solidFill>
                <a:srgbClr val="8C8C8C"/>
              </a:solidFill>
            </a:ln>
          </c:spPr>
          <c:marker>
            <c:size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125</c:v>
                </c:pt>
                <c:pt idx="2">
                  <c:v>156</c:v>
                </c:pt>
                <c:pt idx="3">
                  <c:v>195</c:v>
                </c:pt>
                <c:pt idx="4">
                  <c:v>352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플레이어 기준 전투력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127</c:v>
                </c:pt>
                <c:pt idx="2">
                  <c:v>161</c:v>
                </c:pt>
                <c:pt idx="3">
                  <c:v>205</c:v>
                </c:pt>
                <c:pt idx="4">
                  <c:v>273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(5~15층)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 (적정 찍찍)</c:v>
                </c:pt>
              </c:strCache>
            </c:strRef>
          </c:tx>
          <c:spPr>
            <a:ln w="25400">
              <a:solidFill>
                <a:srgbClr val="8C8C8C"/>
              </a:solidFill>
            </a:ln>
          </c:spPr>
          <c:marker>
            <c:size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352</c:v>
                </c:pt>
                <c:pt idx="1">
                  <c:v>464</c:v>
                </c:pt>
                <c:pt idx="2">
                  <c:v>613</c:v>
                </c:pt>
                <c:pt idx="3">
                  <c:v>809</c:v>
                </c:pt>
                <c:pt idx="4">
                  <c:v>1067</c:v>
                </c:pt>
                <c:pt idx="5">
                  <c:v>1409</c:v>
                </c:pt>
                <c:pt idx="6">
                  <c:v>1860</c:v>
                </c:pt>
                <c:pt idx="7">
                  <c:v>2455</c:v>
                </c:pt>
                <c:pt idx="8">
                  <c:v>3240</c:v>
                </c:pt>
                <c:pt idx="9">
                  <c:v>4277</c:v>
                </c:pt>
                <c:pt idx="10">
                  <c:v>5646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플레이어 기준 전투력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Sheet1!$A$2:$A$12</c:f>
              <c:strCache>
                <c:ptCount val="11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273</c:v>
                </c:pt>
                <c:pt idx="1">
                  <c:v>402</c:v>
                </c:pt>
                <c:pt idx="2">
                  <c:v>606</c:v>
                </c:pt>
                <c:pt idx="3">
                  <c:v>861</c:v>
                </c:pt>
                <c:pt idx="4">
                  <c:v>1188</c:v>
                </c:pt>
                <c:pt idx="5">
                  <c:v>1639</c:v>
                </c:pt>
                <c:pt idx="6">
                  <c:v>2262</c:v>
                </c:pt>
                <c:pt idx="7">
                  <c:v>3121</c:v>
                </c:pt>
                <c:pt idx="8">
                  <c:v>4307</c:v>
                </c:pt>
                <c:pt idx="9">
                  <c:v>5944</c:v>
                </c:pt>
                <c:pt idx="10">
                  <c:v>8203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(15~20층)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난이도 (적정 찍찍)</c:v>
                </c:pt>
              </c:strCache>
            </c:strRef>
          </c:tx>
          <c:spPr>
            <a:ln w="25400">
              <a:solidFill>
                <a:srgbClr val="8C8C8C"/>
              </a:solidFill>
            </a:ln>
          </c:spPr>
          <c:marker>
            <c:size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15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20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5646</c:v>
                </c:pt>
                <c:pt idx="1">
                  <c:v>12421</c:v>
                </c:pt>
                <c:pt idx="2">
                  <c:v>21116</c:v>
                </c:pt>
                <c:pt idx="3">
                  <c:v>44344</c:v>
                </c:pt>
                <c:pt idx="4">
                  <c:v>77602</c:v>
                </c:pt>
                <c:pt idx="5">
                  <c:v>178484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플레이어 기준 전투력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15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20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8203</c:v>
                </c:pt>
                <c:pt idx="1">
                  <c:v>11997</c:v>
                </c:pt>
                <c:pt idx="2">
                  <c:v>18880</c:v>
                </c:pt>
                <c:pt idx="3">
                  <c:v>30626</c:v>
                </c:pt>
                <c:pt idx="4">
                  <c:v>51211</c:v>
                </c:pt>
                <c:pt idx="5">
                  <c:v>88271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 성장 그래프 — 판별 최고 층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그 판의 최고 층</c:v>
                </c:pt>
              </c:strCache>
            </c:strRef>
          </c:tx>
          <c:dPt>
            <c:idx val="0"/>
            <c:spPr>
              <a:solidFill>
                <a:srgbClr val="F4B183"/>
              </a:solidFill>
              <a:ln>
                <a:noFill/>
              </a:ln>
            </c:spPr>
          </c:dPt>
          <c:dPt>
            <c:idx val="1"/>
            <c:spPr>
              <a:solidFill>
                <a:srgbClr val="F4B183"/>
              </a:solidFill>
              <a:ln>
                <a:noFill/>
              </a:ln>
            </c:spPr>
          </c:dPt>
          <c:dPt>
            <c:idx val="2"/>
            <c:spPr>
              <a:solidFill>
                <a:srgbClr val="F4B183"/>
              </a:solidFill>
              <a:ln>
                <a:noFill/>
              </a:ln>
            </c:spPr>
          </c:dPt>
          <c:dPt>
            <c:idx val="3"/>
            <c:spPr>
              <a:solidFill>
                <a:srgbClr val="E97132"/>
              </a:solidFill>
              <a:ln>
                <a:noFill/>
              </a:ln>
            </c:spPr>
          </c:dPt>
          <c:dPt>
            <c:idx val="4"/>
            <c:spPr>
              <a:solidFill>
                <a:srgbClr val="E97132"/>
              </a:solidFill>
              <a:ln>
                <a:noFill/>
              </a:ln>
            </c:spPr>
          </c:dPt>
          <c:dPt>
            <c:idx val="5"/>
            <c:spPr>
              <a:solidFill>
                <a:srgbClr val="E97132"/>
              </a:solidFill>
              <a:ln>
                <a:noFill/>
              </a:ln>
            </c:spPr>
          </c:dPt>
          <c:dPt>
            <c:idx val="6"/>
            <c:spPr>
              <a:solidFill>
                <a:srgbClr val="E97132"/>
              </a:solidFill>
              <a:ln>
                <a:noFill/>
              </a:ln>
            </c:spPr>
          </c:dPt>
          <c:dPt>
            <c:idx val="7"/>
            <c:spPr>
              <a:solidFill>
                <a:srgbClr val="E97132"/>
              </a:solidFill>
              <a:ln>
                <a:noFill/>
              </a:ln>
            </c:spPr>
          </c:dPt>
          <c:dPt>
            <c:idx val="8"/>
            <c:spPr>
              <a:solidFill>
                <a:srgbClr val="BFBFBF"/>
              </a:solidFill>
              <a:ln>
                <a:noFill/>
              </a:ln>
            </c:spPr>
          </c:dPt>
          <c:dPt>
            <c:idx val="9"/>
            <c:spPr>
              <a:solidFill>
                <a:srgbClr val="BFBFBF"/>
              </a:solidFill>
              <a:ln>
                <a:noFill/>
              </a:ln>
            </c:spPr>
          </c:dPt>
          <c:dPt>
            <c:idx val="10"/>
            <c:spPr>
              <a:solidFill>
                <a:srgbClr val="BFBFBF"/>
              </a:solidFill>
              <a:ln>
                <a:noFill/>
              </a:ln>
            </c:spPr>
          </c:dPt>
          <c:dPt>
            <c:idx val="11"/>
            <c:spPr>
              <a:solidFill>
                <a:srgbClr val="BFBFBF"/>
              </a:solidFill>
              <a:ln>
                <a:noFill/>
              </a:ln>
            </c:spPr>
          </c:dPt>
          <c:dPt>
            <c:idx val="12"/>
            <c:spPr>
              <a:solidFill>
                <a:srgbClr val="BFBFBF"/>
              </a:solidFill>
              <a:ln>
                <a:noFill/>
              </a:ln>
            </c:spPr>
          </c:dPt>
          <c:dPt>
            <c:idx val="13"/>
            <c:spPr>
              <a:solidFill>
                <a:srgbClr val="BFBFBF"/>
              </a:solidFill>
              <a:ln>
                <a:noFill/>
              </a:ln>
            </c:spPr>
          </c:dPt>
          <c:dPt>
            <c:idx val="14"/>
            <c:spPr>
              <a:solidFill>
                <a:srgbClr val="BFBFBF"/>
              </a:solidFill>
              <a:ln>
                <a:noFill/>
              </a:ln>
            </c:spPr>
          </c:dPt>
          <c:dPt>
            <c:idx val="15"/>
            <c:spPr>
              <a:solidFill>
                <a:srgbClr val="BFBFBF"/>
              </a:solidFill>
              <a:ln>
                <a:noFill/>
              </a:ln>
            </c:spPr>
          </c:dPt>
          <c:dPt>
            <c:idx val="16"/>
            <c:spPr>
              <a:solidFill>
                <a:srgbClr val="BFBFBF"/>
              </a:solidFill>
              <a:ln>
                <a:noFill/>
              </a:ln>
            </c:spPr>
          </c:dPt>
          <c:dPt>
            <c:idx val="17"/>
            <c:spPr>
              <a:solidFill>
                <a:srgbClr val="BFBFBF"/>
              </a:solidFill>
              <a:ln>
                <a:noFill/>
              </a:ln>
            </c:spPr>
          </c:dPt>
          <c:dPt>
            <c:idx val="18"/>
            <c:spPr>
              <a:solidFill>
                <a:srgbClr val="BFBFBF"/>
              </a:solidFill>
              <a:ln>
                <a:noFill/>
              </a:ln>
            </c:spPr>
          </c:dPt>
          <c:dPt>
            <c:idx val="19"/>
            <c:spPr>
              <a:solidFill>
                <a:srgbClr val="BFBFBF"/>
              </a:solidFill>
              <a:ln>
                <a:noFill/>
              </a:ln>
            </c:spPr>
          </c:dPt>
          <c:dPt>
            <c:idx val="20"/>
            <c:spPr>
              <a:solidFill>
                <a:srgbClr val="BFBFBF"/>
              </a:solidFill>
              <a:ln>
                <a:noFill/>
              </a:ln>
            </c:spPr>
          </c:dPt>
          <c:cat>
            <c:strRef>
              <c:f>Sheet1!$A$2:$A$22</c:f>
              <c:strCache>
                <c:ptCount val="21"/>
                <c:pt idx="0">
                  <c:v>1판
10분</c:v>
                </c:pt>
                <c:pt idx="1">
                  <c:v>2판
18분</c:v>
                </c:pt>
                <c:pt idx="2">
                  <c:v>3판
29분</c:v>
                </c:pt>
                <c:pt idx="3">
                  <c:v>4판
46분</c:v>
                </c:pt>
                <c:pt idx="4">
                  <c:v>5판
64분</c:v>
                </c:pt>
                <c:pt idx="5">
                  <c:v>6판
85분</c:v>
                </c:pt>
                <c:pt idx="6">
                  <c:v>7판
108분</c:v>
                </c:pt>
                <c:pt idx="7">
                  <c:v>8판
135분</c:v>
                </c:pt>
                <c:pt idx="8">
                  <c:v>9판
159분</c:v>
                </c:pt>
                <c:pt idx="9">
                  <c:v>10판
183분</c:v>
                </c:pt>
                <c:pt idx="10">
                  <c:v>11판
210분</c:v>
                </c:pt>
                <c:pt idx="11">
                  <c:v>12판
237분</c:v>
                </c:pt>
                <c:pt idx="12">
                  <c:v>13판
265분</c:v>
                </c:pt>
                <c:pt idx="13">
                  <c:v>14판
292분</c:v>
                </c:pt>
                <c:pt idx="14">
                  <c:v>15판
320분</c:v>
                </c:pt>
                <c:pt idx="15">
                  <c:v>16판
350분</c:v>
                </c:pt>
                <c:pt idx="16">
                  <c:v>17판
380분</c:v>
                </c:pt>
                <c:pt idx="17">
                  <c:v>18판
411분</c:v>
                </c:pt>
                <c:pt idx="18">
                  <c:v>19판
442분</c:v>
                </c:pt>
                <c:pt idx="19">
                  <c:v>20판
473분</c:v>
                </c:pt>
                <c:pt idx="20">
                  <c:v>21판
506분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11</c:v>
                </c:pt>
                <c:pt idx="6">
                  <c:v>13</c:v>
                </c:pt>
                <c:pt idx="7">
                  <c:v>15</c:v>
                </c:pt>
                <c:pt idx="8">
                  <c:v>15</c:v>
                </c:pt>
                <c:pt idx="9">
                  <c:v>15</c:v>
                </c:pt>
                <c:pt idx="10">
                  <c:v>16</c:v>
                </c:pt>
                <c:pt idx="11">
                  <c:v>16</c:v>
                </c:pt>
                <c:pt idx="12">
                  <c:v>17</c:v>
                </c:pt>
                <c:pt idx="13">
                  <c:v>17</c:v>
                </c:pt>
                <c:pt idx="14">
                  <c:v>17</c:v>
                </c:pt>
                <c:pt idx="15">
                  <c:v>18</c:v>
                </c:pt>
                <c:pt idx="16">
                  <c:v>18</c:v>
                </c:pt>
                <c:pt idx="17">
                  <c:v>19</c:v>
                </c:pt>
                <c:pt idx="18">
                  <c:v>19</c:v>
                </c:pt>
                <c:pt idx="19">
                  <c:v>19</c:v>
                </c:pt>
                <c:pt idx="20">
                  <c:v>20</c:v>
                </c:pt>
              </c:numCache>
            </c:numRef>
          </c:val>
        </c:ser>
        <c:dLbls>
          <c:numFmt formatCode="0&quot;층&quot;" sourceLinked="0"/>
          <c:txPr>
            <a:bodyPr/>
            <a:lstStyle/>
            <a:p>
              <a:pPr>
                <a:defRPr sz="9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층별 유저 소모 시간 — 이전 층을 처음 깬 뒤 이 층을 처음 깰 때까지 (분, 재도전 · 로비 포함)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머무는 시간 (분)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  <a:ln>
                <a:noFill/>
              </a:ln>
            </c:spPr>
          </c:dPt>
          <c:dPt>
            <c:idx val="1"/>
            <c:spPr>
              <a:solidFill>
                <a:srgbClr val="BFBFBF"/>
              </a:solidFill>
              <a:ln>
                <a:noFill/>
              </a:ln>
            </c:spPr>
          </c:dPt>
          <c:dPt>
            <c:idx val="2"/>
            <c:spPr>
              <a:solidFill>
                <a:srgbClr val="BFBFBF"/>
              </a:solidFill>
              <a:ln>
                <a:noFill/>
              </a:ln>
            </c:spPr>
          </c:dPt>
          <c:dPt>
            <c:idx val="3"/>
            <c:spPr>
              <a:solidFill>
                <a:srgbClr val="BFBFBF"/>
              </a:solidFill>
              <a:ln>
                <a:noFill/>
              </a:ln>
            </c:spPr>
          </c:dPt>
          <c:dPt>
            <c:idx val="4"/>
            <c:spPr>
              <a:solidFill>
                <a:srgbClr val="E97132"/>
              </a:solidFill>
              <a:ln>
                <a:noFill/>
              </a:ln>
            </c:spPr>
          </c:dPt>
          <c:dPt>
            <c:idx val="5"/>
            <c:spPr>
              <a:solidFill>
                <a:srgbClr val="8C8C8C"/>
              </a:solidFill>
              <a:ln>
                <a:noFill/>
              </a:ln>
            </c:spPr>
          </c:dPt>
          <c:dPt>
            <c:idx val="6"/>
            <c:spPr>
              <a:solidFill>
                <a:srgbClr val="8C8C8C"/>
              </a:solidFill>
              <a:ln>
                <a:noFill/>
              </a:ln>
            </c:spPr>
          </c:dPt>
          <c:dPt>
            <c:idx val="7"/>
            <c:spPr>
              <a:solidFill>
                <a:srgbClr val="8C8C8C"/>
              </a:solidFill>
              <a:ln>
                <a:noFill/>
              </a:ln>
            </c:spPr>
          </c:dPt>
          <c:dPt>
            <c:idx val="8"/>
            <c:spPr>
              <a:solidFill>
                <a:srgbClr val="8C8C8C"/>
              </a:solidFill>
              <a:ln>
                <a:noFill/>
              </a:ln>
            </c:spPr>
          </c:dPt>
          <c:dPt>
            <c:idx val="9"/>
            <c:spPr>
              <a:solidFill>
                <a:srgbClr val="8C8C8C"/>
              </a:solidFill>
              <a:ln>
                <a:noFill/>
              </a:ln>
            </c:spPr>
          </c:dPt>
          <c:dPt>
            <c:idx val="10"/>
            <c:spPr>
              <a:solidFill>
                <a:srgbClr val="8C8C8C"/>
              </a:solidFill>
              <a:ln>
                <a:noFill/>
              </a:ln>
            </c:spPr>
          </c:dPt>
          <c:dPt>
            <c:idx val="11"/>
            <c:spPr>
              <a:solidFill>
                <a:srgbClr val="8C8C8C"/>
              </a:solidFill>
              <a:ln>
                <a:noFill/>
              </a:ln>
            </c:spPr>
          </c:dPt>
          <c:dPt>
            <c:idx val="12"/>
            <c:spPr>
              <a:solidFill>
                <a:srgbClr val="8C8C8C"/>
              </a:solidFill>
              <a:ln>
                <a:noFill/>
              </a:ln>
            </c:spPr>
          </c:dPt>
          <c:dPt>
            <c:idx val="13"/>
            <c:spPr>
              <a:solidFill>
                <a:srgbClr val="8C8C8C"/>
              </a:solidFill>
              <a:ln>
                <a:noFill/>
              </a:ln>
            </c:spPr>
          </c:dPt>
          <c:dPt>
            <c:idx val="14"/>
            <c:spPr>
              <a:solidFill>
                <a:srgbClr val="8C8C8C"/>
              </a:solidFill>
              <a:ln>
                <a:noFill/>
              </a:ln>
            </c:spPr>
          </c:dPt>
          <c:dPt>
            <c:idx val="15"/>
            <c:spPr>
              <a:solidFill>
                <a:srgbClr val="E97132"/>
              </a:solidFill>
              <a:ln>
                <a:noFill/>
              </a:ln>
            </c:spPr>
          </c:dPt>
          <c:dPt>
            <c:idx val="16"/>
            <c:spPr>
              <a:solidFill>
                <a:srgbClr val="F4B183"/>
              </a:solidFill>
              <a:ln>
                <a:noFill/>
              </a:ln>
            </c:spPr>
          </c:dPt>
          <c:dPt>
            <c:idx val="17"/>
            <c:spPr>
              <a:solidFill>
                <a:srgbClr val="E97132"/>
              </a:solidFill>
              <a:ln>
                <a:noFill/>
              </a:ln>
            </c:spPr>
          </c:dPt>
          <c:dPt>
            <c:idx val="18"/>
            <c:spPr>
              <a:solidFill>
                <a:srgbClr val="F4B183"/>
              </a:solidFill>
              <a:ln>
                <a:noFill/>
              </a:ln>
            </c:spPr>
          </c:dPt>
          <c:dPt>
            <c:idx val="19"/>
            <c:spPr>
              <a:solidFill>
                <a:srgbClr val="E97132"/>
              </a:solidFill>
              <a:ln>
                <a:noFill/>
              </a:ln>
            </c:spPr>
          </c:dPt>
          <c:cat>
            <c:strRef>
              <c:f>Sheet1!$A$2:$A$21</c:f>
              <c:strCache>
                <c:ptCount val="20"/>
                <c:pt idx="0">
                  <c:v>1층
방2</c:v>
                </c:pt>
                <c:pt idx="1">
                  <c:v>2층
방3</c:v>
                </c:pt>
                <c:pt idx="2">
                  <c:v>3층
방3</c:v>
                </c:pt>
                <c:pt idx="3">
                  <c:v>4층
방4</c:v>
                </c:pt>
                <c:pt idx="4">
                  <c:v>5층
방4</c:v>
                </c:pt>
                <c:pt idx="5">
                  <c:v>6층
방5</c:v>
                </c:pt>
                <c:pt idx="6">
                  <c:v>7층
방5</c:v>
                </c:pt>
                <c:pt idx="7">
                  <c:v>8층
방6</c:v>
                </c:pt>
                <c:pt idx="8">
                  <c:v>9층
방6</c:v>
                </c:pt>
                <c:pt idx="9">
                  <c:v>10층
방7</c:v>
                </c:pt>
                <c:pt idx="10">
                  <c:v>11층
방7</c:v>
                </c:pt>
                <c:pt idx="11">
                  <c:v>12층
방8</c:v>
                </c:pt>
                <c:pt idx="12">
                  <c:v>13층
방8</c:v>
                </c:pt>
                <c:pt idx="13">
                  <c:v>14층
방9</c:v>
                </c:pt>
                <c:pt idx="14">
                  <c:v>15층
방9</c:v>
                </c:pt>
                <c:pt idx="15">
                  <c:v>16층
방9</c:v>
                </c:pt>
                <c:pt idx="16">
                  <c:v>17층
방9</c:v>
                </c:pt>
                <c:pt idx="17">
                  <c:v>18층
방9</c:v>
                </c:pt>
                <c:pt idx="18">
                  <c:v>19층
방9</c:v>
                </c:pt>
                <c:pt idx="19">
                  <c:v>20층
방9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1.2</c:v>
                </c:pt>
                <c:pt idx="2">
                  <c:v>1.4</c:v>
                </c:pt>
                <c:pt idx="3">
                  <c:v>1.7</c:v>
                </c:pt>
                <c:pt idx="4">
                  <c:v>18.8</c:v>
                </c:pt>
                <c:pt idx="5">
                  <c:v>9.9</c:v>
                </c:pt>
                <c:pt idx="6">
                  <c:v>1.7</c:v>
                </c:pt>
                <c:pt idx="7">
                  <c:v>16.8</c:v>
                </c:pt>
                <c:pt idx="8">
                  <c:v>1.7</c:v>
                </c:pt>
                <c:pt idx="9">
                  <c:v>18.9</c:v>
                </c:pt>
                <c:pt idx="10">
                  <c:v>1.7</c:v>
                </c:pt>
                <c:pt idx="11">
                  <c:v>21.6</c:v>
                </c:pt>
                <c:pt idx="12">
                  <c:v>1.7</c:v>
                </c:pt>
                <c:pt idx="13">
                  <c:v>24.7</c:v>
                </c:pt>
                <c:pt idx="14">
                  <c:v>1.7</c:v>
                </c:pt>
                <c:pt idx="15">
                  <c:v>77.5</c:v>
                </c:pt>
                <c:pt idx="16">
                  <c:v>54.4</c:v>
                </c:pt>
                <c:pt idx="17">
                  <c:v>85.4</c:v>
                </c:pt>
                <c:pt idx="18">
                  <c:v>60.9</c:v>
                </c:pt>
                <c:pt idx="19">
                  <c:v>95.2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0B0B0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누적 플레이타임 vs 처음 깬 최고 층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건너뛰기 없음</c:v>
                </c:pt>
              </c:strCache>
            </c:strRef>
          </c:tx>
          <c:spPr>
            <a:ln w="31750">
              <a:solidFill>
                <a:srgbClr val="8C8C8C"/>
              </a:solidFill>
            </a:ln>
          </c:spPr>
          <c:marker>
            <c:symbol val="circle"/>
            <c:size val="5"/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0.016</c:v>
                </c:pt>
                <c:pt idx="2">
                  <c:v>0.035</c:v>
                </c:pt>
                <c:pt idx="3">
                  <c:v>0.059</c:v>
                </c:pt>
                <c:pt idx="4">
                  <c:v>0.088</c:v>
                </c:pt>
                <c:pt idx="5">
                  <c:v>0.401</c:v>
                </c:pt>
                <c:pt idx="6">
                  <c:v>0.566</c:v>
                </c:pt>
                <c:pt idx="7">
                  <c:v>0.595</c:v>
                </c:pt>
                <c:pt idx="8">
                  <c:v>0.876</c:v>
                </c:pt>
                <c:pt idx="9">
                  <c:v>0.905</c:v>
                </c:pt>
                <c:pt idx="10">
                  <c:v>1.219</c:v>
                </c:pt>
                <c:pt idx="11">
                  <c:v>1.248</c:v>
                </c:pt>
                <c:pt idx="12">
                  <c:v>1.608</c:v>
                </c:pt>
                <c:pt idx="13">
                  <c:v>1.637</c:v>
                </c:pt>
                <c:pt idx="14">
                  <c:v>2.049</c:v>
                </c:pt>
                <c:pt idx="15">
                  <c:v>2.078</c:v>
                </c:pt>
                <c:pt idx="16">
                  <c:v>3.37</c:v>
                </c:pt>
                <c:pt idx="17">
                  <c:v>4.278</c:v>
                </c:pt>
                <c:pt idx="18">
                  <c:v>5.701</c:v>
                </c:pt>
                <c:pt idx="19">
                  <c:v>6.717</c:v>
                </c:pt>
                <c:pt idx="20">
                  <c:v>8.303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Sheet1!$B$24</c:f>
              <c:strCache>
                <c:ptCount val="1"/>
                <c:pt idx="0">
                  <c:v>최대로 건너뛰기</c:v>
                </c:pt>
              </c:strCache>
            </c:strRef>
          </c:tx>
          <c:spPr>
            <a:ln w="31750">
              <a:solidFill>
                <a:srgbClr val="E97132"/>
              </a:solidFill>
            </a:ln>
          </c:spPr>
          <c:marker>
            <c:symbol val="circle"/>
            <c:size val="5"/>
            <c:spPr>
              <a:solidFill>
                <a:srgbClr val="E97132"/>
              </a:solidFill>
              <a:ln>
                <a:solidFill>
                  <a:srgbClr val="E97132"/>
                </a:solidFill>
              </a:ln>
            </c:spPr>
          </c:marker>
          <c:xVal>
            <c:numRef>
              <c:f>Sheet1!$A$25:$A$45</c:f>
              <c:numCache>
                <c:formatCode>General</c:formatCode>
                <c:ptCount val="21"/>
                <c:pt idx="0">
                  <c:v>0</c:v>
                </c:pt>
                <c:pt idx="1">
                  <c:v>0.016</c:v>
                </c:pt>
                <c:pt idx="2">
                  <c:v>0.035</c:v>
                </c:pt>
                <c:pt idx="3">
                  <c:v>0.059</c:v>
                </c:pt>
                <c:pt idx="4">
                  <c:v>0.088</c:v>
                </c:pt>
                <c:pt idx="5">
                  <c:v>0.401</c:v>
                </c:pt>
                <c:pt idx="6">
                  <c:v>0.548</c:v>
                </c:pt>
                <c:pt idx="7">
                  <c:v>0.577</c:v>
                </c:pt>
                <c:pt idx="8">
                  <c:v>0.828</c:v>
                </c:pt>
                <c:pt idx="9">
                  <c:v>0.857</c:v>
                </c:pt>
                <c:pt idx="10">
                  <c:v>1.117</c:v>
                </c:pt>
                <c:pt idx="11">
                  <c:v>1.146</c:v>
                </c:pt>
                <c:pt idx="12">
                  <c:v>1.434</c:v>
                </c:pt>
                <c:pt idx="13">
                  <c:v>1.463</c:v>
                </c:pt>
                <c:pt idx="14">
                  <c:v>1.768</c:v>
                </c:pt>
                <c:pt idx="15">
                  <c:v>1.797</c:v>
                </c:pt>
                <c:pt idx="16">
                  <c:v>2.713</c:v>
                </c:pt>
                <c:pt idx="17">
                  <c:v>3.369</c:v>
                </c:pt>
                <c:pt idx="18">
                  <c:v>4.415</c:v>
                </c:pt>
                <c:pt idx="19">
                  <c:v>5.18</c:v>
                </c:pt>
                <c:pt idx="20">
                  <c:v>6.389</c:v>
                </c:pt>
              </c:numCache>
            </c:numRef>
          </c:xVal>
          <c:yVal>
            <c:numRef>
              <c:f>Sheet1!$B$25:$B$45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0.0"/>
        </c:scaling>
        <c:delete val="0"/>
        <c:axPos val="b"/>
        <c:majorGridlines>
          <c:spPr>
            <a:ln>
              <a:solidFill>
                <a:srgbClr val="EDEDED"/>
              </a:solidFill>
            </a:ln>
          </c:spPr>
        </c:majorGridlines>
        <c:numFmt formatCode="0&quot;시간&quot;" sourceLinked="0"/>
        <c:majorTickMark val="out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20.0"/>
          <c:min val="0.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&quot;층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128940872"/>
        <c:crosses val="autoZero"/>
        <c:crossBetween val="midCat"/>
        <c:majorUnit val="5.0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95959"/>
          </a:solidFill>
          <a:latin typeface="Noto Sans KR"/>
          <a:ea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36E70-5542-433F-8775-3EDF9C5AE0B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F35D8-3F1B-4838-9AA9-54A21BBB9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94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393A6-6064-E56E-3CC7-DFBD99E8E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DB02AB-3255-D2EB-3CFF-F102727D9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7D8953-EF9A-5446-14B9-15328A6E5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3AA2A7-4921-285E-8E7C-8F46E43D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BC7F2-F5F0-0533-A0E9-1B81D3A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5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389E6-DF22-238B-C563-2F9F1D4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6C26A-24FF-87FC-F30A-C4B2B44E2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326C4-B6D9-516F-67FD-397EE1D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1C34A6-6FFC-F7CC-4C01-9B3EB433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5DB05-D59B-FA33-685A-4E6B9F11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283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6B36A-C7CE-199F-43D9-2B4BD381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597C3-AEA1-FAE0-E407-28DD8D0B0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5A1085-83E7-EA12-ED4F-9DE404B27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DF431C-56E1-C642-4F67-B774DC4E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9AA2B-B326-9397-B8E6-A23FFA9A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9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E9383-0E57-A2DC-C415-C968ED12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07665B-5634-5B29-6387-A79BACE38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78F0F-8B84-D5C6-443E-195286C943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FBCED5-13EF-C045-55FF-7B7E62DA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2224E5-9AB0-9CCB-347D-5DC6659B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6D396-8184-B7FA-3619-E06FD5F1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25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75A90-C233-E1CC-278F-0339C213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876DDC-4A19-7B00-BACD-AA81B0856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FEF097-737A-0CD1-D299-9114083AF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E4C179-65B8-6728-2552-130364EFDE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BB22C-4B3D-AF9C-1028-950CED609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6C7DECF-95C8-40D9-0D89-C27075B2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6ECB51-558B-8B21-D5FD-5AED61341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6E4D88C-F660-2995-B619-47CD65C0F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135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BB4D96-C3DA-2EBA-CB1C-AB54F16D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09EAE9-77E5-46A5-B514-9E5D47EF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7411C-7C73-5F5A-00C9-1A131247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2D3380-30B8-3382-A9A4-CFBDE599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08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04CBD-D934-1482-365B-560A4B03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024F1F-E81A-267F-CE72-25342AEA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F5C455-C943-9FC6-7BF1-FB6201BE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871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6AB16-80DA-CCE6-B425-8B4AE097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78E645-7AD7-F6FC-7D7E-9549A150C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7FF677-F054-9F55-94B5-2BF069F3F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106BFD-CE99-ED8F-5D6B-A65CDD45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87713-F9FD-636F-55C4-2FA2033D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E4910-C6BD-2158-0C16-22A0BBC5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0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67044-6CC1-91E9-DDB0-9D3FBC93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3C4DC73-3ADB-99EB-751B-01367CF6853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B4AC7-7954-61AE-183D-B2CC3318E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5F8AB9-7B0A-12F0-71E7-D16264D0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5EE15A-84DA-885B-B293-B7046B47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D53620-ECC2-9101-F7EF-007C0E8EA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85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D6A17-418D-C7A1-DE15-4F0A9319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62781E-84EB-82D6-C048-21C97092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3C778-F0BC-515F-0F74-C8C38312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21A88D-A3E4-2FA7-B89C-BE6C991F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72E89-E2A1-72B0-5006-37D4764B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97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D17CC4-D318-E38A-C0DF-FAC64DD71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5AEC1E-287E-7B66-3CF6-3A624189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02AFE-8DCD-99D6-AA91-3E1D48DA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EEFAC-A9E9-0F03-DA76-0934407F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D13154-3A71-08B5-C8BC-5A2DE42D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4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6BEAC52-5ACF-3D3B-572A-8A580134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7A941-5FFE-60C2-6BEE-9AC32BCAF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FB020-A6E6-720E-DBE2-5500BFFD0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07BC3-FE8E-43D9-9669-1305ABD709FE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D48124-2D2C-AC0D-095E-64ECF7C5C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2BBDD3-DA8B-B4C2-2786-B51A86623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515EA-DF8E-4FB8-A334-EEBD497520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3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EA6AB8-3459-4522-53F5-7C1423053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999548" y="0"/>
            <a:ext cx="13031738" cy="73342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0FEDD4-FC25-2665-EB00-EC6FC31A263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00" y="-584200"/>
            <a:ext cx="10476690" cy="114998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0887F5-26E7-4DBC-8B40-F32358FB68A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8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3000"/>
                    </a14:imgEffect>
                    <a14:imgEffect>
                      <a14:saturation sat="68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193" y="1299919"/>
            <a:ext cx="3447438" cy="288669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7A06AEE-6D79-F7C1-BC5F-55B52EC8956B}"/>
              </a:ext>
            </a:extLst>
          </p:cNvPr>
          <p:cNvSpPr/>
          <p:nvPr/>
        </p:nvSpPr>
        <p:spPr>
          <a:xfrm>
            <a:off x="12644430" y="2647178"/>
            <a:ext cx="6553200" cy="23145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67F283C6-905D-F7E0-356B-57BB926D0C48}"/>
              </a:ext>
            </a:extLst>
          </p:cNvPr>
          <p:cNvSpPr txBox="1">
            <a:spLocks/>
          </p:cNvSpPr>
          <p:nvPr/>
        </p:nvSpPr>
        <p:spPr>
          <a:xfrm>
            <a:off x="5639573" y="2025631"/>
            <a:ext cx="5856611" cy="109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o-KR" altLang="en-US" sz="40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층 별 허들 기획서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/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73B0AB-7702-7F91-B4AE-1F49DBB7A08A}"/>
              </a:ext>
            </a:extLst>
          </p:cNvPr>
          <p:cNvSpPr/>
          <p:nvPr/>
        </p:nvSpPr>
        <p:spPr>
          <a:xfrm>
            <a:off x="6430871" y="3043673"/>
            <a:ext cx="4950241" cy="1285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제목 1">
            <a:extLst>
              <a:ext uri="{FF2B5EF4-FFF2-40B4-BE49-F238E27FC236}">
                <a16:creationId xmlns:a16="http://schemas.microsoft.com/office/drawing/2014/main" id="{6D4083D5-045D-076C-58E9-A0AD0661291A}"/>
              </a:ext>
            </a:extLst>
          </p:cNvPr>
          <p:cNvSpPr txBox="1">
            <a:spLocks/>
          </p:cNvSpPr>
          <p:nvPr/>
        </p:nvSpPr>
        <p:spPr>
          <a:xfrm>
            <a:off x="5933131" y="1030384"/>
            <a:ext cx="5534025" cy="10906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j-cs"/>
              </a:defRPr>
            </a:lvl1pPr>
          </a:lstStyle>
          <a:p>
            <a:pPr algn="r"/>
            <a:r>
              <a:rPr lang="ko-KR" altLang="en-US" sz="36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찍찍이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게임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E28EF-886F-0CFD-BEC4-8433CD23A18D}"/>
              </a:ext>
            </a:extLst>
          </p:cNvPr>
          <p:cNvCxnSpPr>
            <a:cxnSpLocks/>
          </p:cNvCxnSpPr>
          <p:nvPr/>
        </p:nvCxnSpPr>
        <p:spPr>
          <a:xfrm flipH="1">
            <a:off x="8069943" y="5602514"/>
            <a:ext cx="331116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234270-9A17-D048-55ED-0940FB5181CB}"/>
              </a:ext>
            </a:extLst>
          </p:cNvPr>
          <p:cNvSpPr txBox="1"/>
          <p:nvPr/>
        </p:nvSpPr>
        <p:spPr>
          <a:xfrm>
            <a:off x="8331701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최초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작성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6DB5F-99B5-2DF5-20D0-7D648CF23BBA}"/>
              </a:ext>
            </a:extLst>
          </p:cNvPr>
          <p:cNvSpPr txBox="1"/>
          <p:nvPr/>
        </p:nvSpPr>
        <p:spPr>
          <a:xfrm>
            <a:off x="8331701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20261008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B9862D-8354-2B26-3755-E5875B6F5F99}"/>
              </a:ext>
            </a:extLst>
          </p:cNvPr>
          <p:cNvSpPr txBox="1"/>
          <p:nvPr/>
        </p:nvSpPr>
        <p:spPr>
          <a:xfrm>
            <a:off x="10153158" y="5681050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문서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최종 수정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762AE9-8E80-5211-7A5B-F60FD5C0C8F2}"/>
              </a:ext>
            </a:extLst>
          </p:cNvPr>
          <p:cNvSpPr txBox="1"/>
          <p:nvPr/>
        </p:nvSpPr>
        <p:spPr>
          <a:xfrm>
            <a:off x="10153158" y="5908388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20261011</a:t>
            </a:r>
            <a:endParaRPr lang="ko-KR" alt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5D466C-90B9-B6E4-29C9-B8988710CC87}"/>
              </a:ext>
            </a:extLst>
          </p:cNvPr>
          <p:cNvSpPr txBox="1"/>
          <p:nvPr/>
        </p:nvSpPr>
        <p:spPr>
          <a:xfrm>
            <a:off x="8331701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8EC428-0738-7268-75BF-5B2C8ADB4509}"/>
              </a:ext>
            </a:extLst>
          </p:cNvPr>
          <p:cNvSpPr txBox="1"/>
          <p:nvPr/>
        </p:nvSpPr>
        <p:spPr>
          <a:xfrm>
            <a:off x="10153158" y="6125755"/>
            <a:ext cx="1343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CE1F9B-BC50-79D3-2842-5337CC455BE8}"/>
              </a:ext>
            </a:extLst>
          </p:cNvPr>
          <p:cNvSpPr txBox="1"/>
          <p:nvPr/>
        </p:nvSpPr>
        <p:spPr>
          <a:xfrm>
            <a:off x="9578387" y="3269557"/>
            <a:ext cx="18887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NKK </a:t>
            </a:r>
            <a:r>
              <a:rPr lang="ko-KR" altLang="en-US" sz="2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980111-F950-876F-8A3C-CF017C1D0629}"/>
              </a:ext>
            </a:extLst>
          </p:cNvPr>
          <p:cNvSpPr txBox="1"/>
          <p:nvPr/>
        </p:nvSpPr>
        <p:spPr>
          <a:xfrm>
            <a:off x="9907458" y="3607535"/>
            <a:ext cx="155969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팀장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박송호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부팀장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정승운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팀원 </a:t>
            </a:r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김규장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박도원</a:t>
            </a:r>
            <a:endParaRPr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r"/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이예성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95DFC10-0916-1978-C9EA-2D391273CF26}"/>
              </a:ext>
            </a:extLst>
          </p:cNvPr>
          <p:cNvCxnSpPr>
            <a:cxnSpLocks/>
          </p:cNvCxnSpPr>
          <p:nvPr/>
        </p:nvCxnSpPr>
        <p:spPr>
          <a:xfrm flipH="1">
            <a:off x="5524500" y="1075469"/>
            <a:ext cx="58566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E522AC8-AA6F-A240-B228-D3E8956DFD76}"/>
              </a:ext>
            </a:extLst>
          </p:cNvPr>
          <p:cNvSpPr txBox="1"/>
          <p:nvPr/>
        </p:nvSpPr>
        <p:spPr>
          <a:xfrm>
            <a:off x="5452970" y="728373"/>
            <a:ext cx="6028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기맞기획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 기업 협약 프로젝트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팀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‘NKK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스튜디오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제작</a:t>
            </a:r>
          </a:p>
        </p:txBody>
      </p:sp>
    </p:spTree>
    <p:extLst>
      <p:ext uri="{BB962C8B-B14F-4D97-AF65-F5344CB8AC3E}">
        <p14:creationId xmlns:p14="http://schemas.microsoft.com/office/powerpoint/2010/main" val="269220691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제목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latin typeface="Noto Sans KR Black"/>
                <a:ea typeface="Noto Sans KR Black"/>
                <a:cs typeface="Noto Sans KR Black"/>
              </a:rPr>
              <a:t> – 로그</a:t>
            </a:r>
          </a:p>
        </p:txBody>
      </p:sp>
      <p:cxnSp>
        <p:nvCxnSpPr>
          <p:cNvPr id="3" name="제목 밑줄"/>
          <p:cNvCxnSpPr/>
          <p:nvPr/>
        </p:nvCxnSpPr>
        <p:spPr>
          <a:xfrm>
            <a:off x="1133475" y="1320596"/>
            <a:ext cx="585661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53312" y="1645920"/>
          <a:ext cx="9482328" cy="47731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85800"/>
                <a:gridCol w="1325880"/>
                <a:gridCol w="1005840"/>
                <a:gridCol w="2011680"/>
                <a:gridCol w="445312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순번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작성일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작성 내용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비고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최초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양식 작성, 문서 생성, 목차 작성, 개요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내용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플레이타임 설계, 층 별 허들(목표 찍찍·벽·시간·보스·방 수), 허들표, 검증 기준 작성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2026-10-08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플레이타임 설계 수정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인게임 기준 구간 목표 반영 (초반 10분·재도전 1~2회 / 중반 40분·5~6회 / 후반 30~40분·5~6회), 연관 허들·허들표·검증 수정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문서 개정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회의 피드백 반영 — 구간 재정의(초반 20~30분 · 중반 ~2시간 반 · 후반 2시간 반~), 층별 방 수 · 제한 시간 180초 통일, 구간별 플레이 경험, 허들 배치(5 · 16층 허들, 17층~ 어려움 · 허들), 난이도 · 성장 곡선, 층별 소모 시간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2026-10-11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박도원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건너뛰기 추가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재도전 시작 층 선택(5층 클리어 시 3층 → 15층 클리어 시 10층 → 20층 클리어 시 15층 최대, 보정 없는 선택형), 해금표 · 플레이타임 영향(건너뛰기 없이 8.4시간 / 최대 건너뛰기 6.5시간), 허들 보상 · 정보 공개 · 남은 결정 반영</a:t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/>
                      </a: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한 장 요약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20층까지 약 8.4시간 — 초반 30분은 손, 중반 2시간은 머리, 후반은 눈과 긴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40280"/>
            <a:ext cx="3182112" cy="438912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 ·  1~5층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79192"/>
            <a:ext cx="31821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2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29분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여기까지 누적 플레이타임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3502152"/>
            <a:ext cx="318211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3584" y="35844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판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93976" y="35844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3판 (재도전 2회)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389534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판당 진척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3976" y="389534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첫 판 4층 → 5층 허들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4206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층당 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42062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2~4개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451713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난이도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3976" y="451713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 → 5층 허들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48280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노는 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93976" y="48280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손 — 조작과 판단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2240280"/>
            <a:ext cx="3182112" cy="43891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 ·  6~15층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8848" y="2679192"/>
            <a:ext cx="31821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2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 15분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여기까지 누적 플레이타임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8848" y="3502152"/>
            <a:ext cx="318211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35844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판 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35844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389534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판당 진척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389534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+2층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4206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층당 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8" y="42062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 → 9개 (늘어남)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51713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난이도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451713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보통 (허들 없음)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48280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노는 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8968" y="48280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머리 — 빌드와 성장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2240280"/>
            <a:ext cx="3182112" cy="43891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 ·  16~20층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2679192"/>
            <a:ext cx="31821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2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8시간 26분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여기까지 누적 플레이타임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3502152"/>
            <a:ext cx="318211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7" y="35844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 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35844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7" y="389534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진척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3895344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2~3판에 1층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7" y="4206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층당 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420624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9개 고정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7" y="4517136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난이도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4517136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 · 어려움만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7" y="48280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노는 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482803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눈 — 연출과 깽판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" y="52852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 한 줄 지도 — 색 = 층 유형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7572" y="5577840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0" y="5577840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44268" y="5577840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42616" y="5577840"/>
            <a:ext cx="470916" cy="38404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40964" y="5577840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39312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37660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36008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34356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32704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31052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27748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26096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24444" y="5577840"/>
            <a:ext cx="470916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22792" y="5577840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21140" y="5577840"/>
            <a:ext cx="470916" cy="384048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19488" y="5577840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17836" y="5577840"/>
            <a:ext cx="470916" cy="384048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616184" y="5577840"/>
            <a:ext cx="470916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33856" y="6108192"/>
            <a:ext cx="146304" cy="14630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98448" y="6035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74519" y="6108192"/>
            <a:ext cx="146304" cy="14630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39112" y="6035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15184" y="6108192"/>
            <a:ext cx="146304" cy="146304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79776" y="6035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0" y="6108192"/>
            <a:ext cx="146304" cy="14630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39312" y="603504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54880" y="6035040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허들 = 5 · 16 · 18 · 20층 / 어려움 = 17 · 19층 / 제한 180초 / 층 건너뛰기 최대 사용 시 20층 약 6.5시간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기획 방향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같은 쥐 게임을 세 번 다르게 — 구간이 바뀔 때마다 플레이 경험과 스타일이 바뀌도록 층과 허들을 짠다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331720"/>
          <a:ext cx="9966960" cy="38039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4206240"/>
                <a:gridCol w="393192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회의 피드백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 문서의 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반영한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초반이 짧고, 순수 메카닉스 재미가 검증되지 않음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= 1~5층 · 20~30분 · 필살기와 다양한 쥐 없이 조작과 전략만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 설계 – 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다양한 쥐 · 연출 · 깽판은 후반에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중반은 '쥐 한두 마리의 필살기', 깽판은 후반(16층~)에 몰아 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 설계 – 중반 · 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인크리멘탈 요소와 선택의 효과가 안 보임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중반은 판당 성장이 난이도보다 가파름 → 판마다 고점 2층 갱신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플레이어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성장 곡선에 기준이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판(런) 단위 성장 곡선을 먼저 정하고 수치를 맞춤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별 난이도 · 플레이어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힘든 구간과 쉬운 구간의 교차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· 16층에 허들, 그 사이 6~15층은 허들 없는 보통 층, 17층부터는 어려움 · 허들만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배치 · 가스 빼기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정보가 너무 많아 빨리 질림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구간별로 화면과 기능을 차등 공개, 20~30시간 정보는 끝까지 숨김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구성과 정보 공개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찍찍이면 일반 60% · 보스 90%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제한 시간은 모든 층 180초 — 쉬움 · 보통 60%, 어려움 75%, 허들 90%로 '목표 돌파 시간'을 정함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별 소모 시간 · 허들표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3856" y="623620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※ 현재 프로젝트는 구조(번식 · 벽 · 총공격 · 승급 · 로비 성장 · 5층마다 보스)만 참고했고, 모든 수치는 이 문서에서 새로 정한다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설계 원칙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627632"/>
            <a:ext cx="4846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16736" y="1810512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179222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구간마다 다른 게임을 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2377440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'손' — 조작과 판단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'머리' — 빌드와 성장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'눈' — 연출과 깽판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 전환 = 새 규칙과 새 화면이 열리는 순간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8776" y="1627632"/>
            <a:ext cx="4846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91656" y="1810512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0296" y="179222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성장 속도로 구간의 성격을 정한다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2377440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초반: 재도전 1~2회로 5층 허들 격파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중반: 판당 성장 ×1.7 &gt; 층당 난이도 ×1.32 → 판마다 고점 2층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중반은 쉽지만 방이 5개 → 9개로 늘어 판이 길어짐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후반: 판당 성장 ×1.30 → 2~3판에 한 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3856" y="4023360"/>
            <a:ext cx="4846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16736" y="4206240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418795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허들로 구간의 문을 단다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4773168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 = 초반 졸업 · 16층 허들 = 후반 입장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6~15층은 허들 없는 보통 층 — 성장이 난이도를 앞지름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17층부터는 어려움 · 허들만, 성장이 빨라지는 만큼 난이도는 더 가파르게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4023360"/>
            <a:ext cx="48463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91656" y="4206240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8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0296" y="418795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적정 찍찍 = 시간 기준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4773168"/>
            <a:ext cx="4434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적정 찍찍일 때 쉬움 · 보통 층은 제한 시간의 60%, 어려움 75%, 허들 90%를 써서 돌파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제한 시간은 모든 층 180초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강해도 방 하나에 최소 10초 — 방이 많은 층은 쉬워도 오래 걸림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개요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용어 정리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00200"/>
          <a:ext cx="9966960" cy="46085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28800"/>
                <a:gridCol w="521208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용어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뜻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 문서의 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(런)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1층부터 다시 올라가는 한 번의 도전 — 제한 시간을 넘기면 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 = 튜토리얼 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 판에서 깬 가장 높은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중반은 판마다 고점 +2층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판과 판 사이 — 치즈 · 훈장으로 영구 성장을 사는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1.5분 · 중반 7분 · 후반 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그 층을 '적정 시간'에 깨는 데 필요한 전투력 (1층 = 100 지수)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352 · 20층 178,484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전투력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 무리 전체의 힘 — 판 안 번식 · 승급 + 로비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판당 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여유도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전투력 ÷ 적정 찍찍 — 1보다 크면 시원하게, 작으면 막힘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0.78 · 15층 1.45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 · 보통 · 어려움 · 허들 — 이전 층 대비 난이도 배율로 구분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 ×1.32 · 허들 ×1.8~2.3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층을 이루는 칸 — 벽을 뚫어 열고 계단 방까지 가야 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4개 · 15층부터 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제한 시간 · 목표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층마다 180초 · 적정 찍찍일 때 깨는 데 드는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 108초 · 허들 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머무는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 층을 처음 깬 뒤 이 층을 처음 깰 때까지 (재도전 · 로비 포함)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19분 · 20층 95분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 성장 곡선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진행에 따라 게임이 주는 성장 (반복 파밍 제외)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난이도 · 성장 곡선 비교 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세 구간 한눈에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초반은 손으로, 중반은 머리로, 후반은 눈으로 — 구간이 바뀌면 같은 쥐 게임의 노는 방법이 바뀐다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3182112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초반  ·  1~5층 클리어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743200"/>
            <a:ext cx="31821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2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20~30분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3520440"/>
            <a:ext cx="31821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9576" y="3611880"/>
            <a:ext cx="3090672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 3개 · 재도전 1~2회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필살기 · 다양한 쥐 없이 번식 · 벽 · 총공격 · 승급만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첫 판에 4층까지 · 막힘은 5층 허들 하나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끝: 5층 허들 격파 → 첫 훈장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98848" y="2286000"/>
            <a:ext cx="3182112" cy="457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 ·  6~15층 클리어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8848" y="2743200"/>
            <a:ext cx="31821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2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누적 2~2.5시간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3520440"/>
            <a:ext cx="31821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3611880"/>
            <a:ext cx="3090672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 5개 · 판마다 고점 +2층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난이도는 쉽지만 방이 5개 → 9개로 늘어 판이 길어짐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'쥐 한두 마리가 필살기를 쓰네?'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판당 성장 ×1.7로 난이도(층당 ×1.32)를 앞지름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 없는 보통 10층 · 끝: 16층 허들 예고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286000"/>
            <a:ext cx="3182112" cy="45720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 ·  16층부터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743200"/>
            <a:ext cx="3182112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28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 반 이후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520440"/>
            <a:ext cx="31821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3611880"/>
            <a:ext cx="3090672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16층 허들부터 매 층이 벽 (어려움 · 허들) · 2~3판에 한 층 · 방 9개 고정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다양한 쥐의 필살기 연쇄 = 깽판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 최종 허들 약 8.4시간 · 21층~ 엔드게임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조각 수급 · 종결 쥐 · 도감 완성(20~30시간)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" y="546811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누적 플레이타임 (로비 포함 · 표준 플레이 기준)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33856" y="5742432"/>
            <a:ext cx="527145" cy="411480"/>
          </a:xfrm>
          <a:prstGeom prst="rect">
            <a:avLst/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61001" y="5742432"/>
            <a:ext cx="1958722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106분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19724" y="5742432"/>
            <a:ext cx="7481091" cy="41148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→  20층 약 8.4시간 · 이후 엔드게임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553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2975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2시간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0415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785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4시간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529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2735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6시간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017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7시간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761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8시간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35056" y="6172200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9시간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지도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20층을 한 장에 — 층마다 유형 · 방 수 · 처음 깨는 판과 시점 · 머무는 시간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1892807" y="2212848"/>
            <a:ext cx="2340864" cy="310896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 1~5층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2212848"/>
            <a:ext cx="4718304" cy="31089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 6~15층</a:t>
            </a:r>
          </a:p>
        </p:txBody>
      </p:sp>
      <p:sp>
        <p:nvSpPr>
          <p:cNvPr id="9" name="Rectangle 8"/>
          <p:cNvSpPr/>
          <p:nvPr/>
        </p:nvSpPr>
        <p:spPr>
          <a:xfrm>
            <a:off x="9025128" y="2212848"/>
            <a:ext cx="2340864" cy="310896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 16~20층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1417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 · 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46120"/>
            <a:ext cx="14173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수 (주황 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767328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난이도 배율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069080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처음 깨는 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70832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처음 깨는 시점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754880"/>
            <a:ext cx="14173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머무는 시간 (분)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200400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8640" y="3721608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8640" y="4041648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" y="4343400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48640" y="4663440"/>
            <a:ext cx="1083564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892807" y="2606040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도입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52243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66543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80844" y="32918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52243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66543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80844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52243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66543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8084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5824728"/>
            <a:ext cx="329184" cy="274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74519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68296" y="2606040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2773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4203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5633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27732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42032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56332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2773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4203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5633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50008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50008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50008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5824728"/>
            <a:ext cx="329184" cy="274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50008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43784" y="2606040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0322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01752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3182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903220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017520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31820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03220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017520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131820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25496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25496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25496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98648" y="5824728"/>
            <a:ext cx="329184" cy="274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25496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19272" y="2606040"/>
            <a:ext cx="438912" cy="54864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37870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9300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0730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37870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493008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07308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37870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49300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60730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00984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00984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00984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5분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74136" y="5824728"/>
            <a:ext cx="329184" cy="2743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300984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794759" y="2606040"/>
            <a:ext cx="43891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5419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96849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08279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85419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968496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082796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854196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968496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082796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76472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×1.80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76472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76472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24분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49624" y="5680613"/>
            <a:ext cx="329184" cy="17154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76472" y="5479445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70248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2968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44398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55828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32968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44398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558284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32968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44398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55828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51960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51960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4판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51960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34분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25112" y="5761824"/>
            <a:ext cx="329184" cy="90335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51960" y="5560656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745736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80517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91947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03377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80517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91947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033772" y="34061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80517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91947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03377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727448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27448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4판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27448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36분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800600" y="5824728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27448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221223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280659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394959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509259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280659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394959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509259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280659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394959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509259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202936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202936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5판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202936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53분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276088" y="5698863"/>
            <a:ext cx="329184" cy="153296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202936" y="5497695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96712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75614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87044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98474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75614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87044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98474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5614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7044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84748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678424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678424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5판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678424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54분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751576" y="5824728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678424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72199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23163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4593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6023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23163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34593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46023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23163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345936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460236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153912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153912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6판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153912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1.2h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227064" y="5679701"/>
            <a:ext cx="329184" cy="17245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153912" y="5478533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647688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70712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82142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93572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70712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82142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93572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707124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82142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935724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629400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629400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6판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629400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1.2h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702552" y="5824728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629400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7123176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718261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29691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41121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18261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29691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741121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182612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296912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411212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104888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104888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7판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104888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1.6h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178040" y="5655064"/>
            <a:ext cx="329184" cy="197095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104888" y="5453896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7598663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765810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77240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88670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65810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777240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788670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658100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772400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886700" y="3520440"/>
            <a:ext cx="91440" cy="91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580375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580375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7판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580375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1.6h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7653527" y="5824728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7580375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074151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813358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824788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836218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813358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824788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36218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13358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824788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36218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8055863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8055863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8판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055863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2.0h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8129015" y="5626777"/>
            <a:ext cx="329184" cy="22538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8055863" y="5425609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8549640" y="2606040"/>
            <a:ext cx="438912" cy="54864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860907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72337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883767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860907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872337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883767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860907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872337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883767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8531352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×1.32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8531352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8판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531352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2.1h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8604504" y="5824728"/>
            <a:ext cx="329184" cy="2743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8531352" y="562356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9025128" y="2606040"/>
            <a:ext cx="43891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908456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19886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313164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08456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19886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313164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084564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198864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313164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9006840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×2.20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9006840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11판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9006840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3.4h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9079992" y="5144988"/>
            <a:ext cx="329184" cy="707171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9006840" y="4943820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78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9500616" y="2606040"/>
            <a:ext cx="438912" cy="54864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956005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67435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88652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56005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67435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88652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560052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674352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88652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9482328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×1.70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9482328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13판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9482328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4.3h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9555480" y="5355771"/>
            <a:ext cx="329184" cy="496388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9482328" y="5154603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54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9976104" y="2606040"/>
            <a:ext cx="43891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1003554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014984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0264140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003554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014984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0264140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0035540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0149840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0264140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9957816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×2.10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9957816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16판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9957816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5.7h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0030968" y="5072902"/>
            <a:ext cx="329184" cy="77925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9957816" y="4871734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85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10451592" y="2606040"/>
            <a:ext cx="438912" cy="54864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51102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62532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739628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51102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62532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739628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51102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62532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739628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0433304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×1.75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0433304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18판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0433304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6.7h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10506456" y="5296460"/>
            <a:ext cx="329184" cy="555699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10433304" y="5095292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61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0927080" y="2606040"/>
            <a:ext cx="438912" cy="5486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</a:t>
            </a:r>
          </a:p>
          <a:p>
            <a:pPr algn="ctr"/>
            <a:r>
              <a:rPr sz="8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098651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110081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1215116" y="32918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98651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110081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1215116" y="34061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98651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110081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1215116" y="3520440"/>
            <a:ext cx="91440" cy="9144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10908792" y="3767328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×2.30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0908792" y="4069080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21판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10908792" y="4370832"/>
            <a:ext cx="4754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8.3h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0981944" y="4983480"/>
            <a:ext cx="329184" cy="8686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10908792" y="4782312"/>
            <a:ext cx="4754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95</a:t>
            </a:r>
          </a:p>
        </p:txBody>
      </p:sp>
      <p:cxnSp>
        <p:nvCxnSpPr>
          <p:cNvPr id="321" name="Connector 320"/>
          <p:cNvCxnSpPr/>
          <p:nvPr/>
        </p:nvCxnSpPr>
        <p:spPr>
          <a:xfrm>
            <a:off x="1874519" y="5852160"/>
            <a:ext cx="9509761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2" name="Rectangle 321"/>
          <p:cNvSpPr/>
          <p:nvPr/>
        </p:nvSpPr>
        <p:spPr>
          <a:xfrm>
            <a:off x="1133856" y="6089903"/>
            <a:ext cx="146304" cy="14630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1298448" y="6016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쉬움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1874519" y="6089903"/>
            <a:ext cx="146304" cy="14630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2039112" y="6016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보통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2615184" y="6089903"/>
            <a:ext cx="146304" cy="146304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2779776" y="6016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3474720" y="6089903"/>
            <a:ext cx="146304" cy="146304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3639312" y="6016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4754880" y="6016752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= 3×3 칸 중 주황 칸 수 · 시점 = 누적 플레이타임 (h = 시간) · 굵은 글씨 = 허들 · 어려움 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진행 곡선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누적 플레이타임에 따라 최고 층이 어떻게 오르나 — 기울기가 곧 구간의 속도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0" y="2240280"/>
            <a:ext cx="1051560" cy="1188720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</a:t>
            </a:r>
          </a:p>
        </p:txBody>
      </p:sp>
      <p:sp>
        <p:nvSpPr>
          <p:cNvPr id="9" name="Rectangle 8"/>
          <p:cNvSpPr/>
          <p:nvPr/>
        </p:nvSpPr>
        <p:spPr>
          <a:xfrm>
            <a:off x="9098280" y="22402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100"/>
              </a:spcAft>
            </a:pPr>
            <a:r>
              <a:rPr sz="2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5분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층당 평균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24분에 5층 첫 돌파 — 짧고 빠르게 규칙을 익힘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3611880"/>
            <a:ext cx="1051560" cy="11887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36118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100"/>
              </a:spcAft>
            </a:pPr>
            <a:r>
              <a:rPr sz="2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10분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층당 평균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2시간 05분에 15층 첫 돌파 — 가장 가파른 기울기, 판마다 2층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4983480"/>
            <a:ext cx="1051560" cy="118872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8280" y="49834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100"/>
              </a:spcAft>
            </a:pPr>
            <a:r>
              <a:rPr sz="2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75분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층당 평균</a:t>
            </a:r>
          </a:p>
          <a:p>
            <a:pPr algn="ctr">
              <a:spcAft>
                <a:spcPts val="1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8시간 18분에 20층 첫 돌파 — 거의 눕는 기울기, 2~3판에 1층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초반 · 순수 메카닉스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필살기 · 다양한 쥐 없이 '번식 → 벽 → 총공격 → 승급'만으로 20~30분을 붙잡는다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475488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플레이 경험 · 스타일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97480"/>
            <a:ext cx="4754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834640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핵심 재미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번식으로 불어나는 무리가 벽을 갉아 길을 여는 맛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플레이 스타일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능동 조작 — 클릭 총공격 타이밍, 어느 벽부터 뚫을지 길 선택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의사결정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언제 승급할지, 치즈를 어떤 첫 스킬에 쓸지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성장 수단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 안의 번식 · 승급 + 로비 1단계 스킬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선택의 효과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스킬 하나를 사면 다음 판 시작 마릿수 · 찍찍 수치가 바로 커지는 걸 크게 보여 줌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실패의 의미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'무엇이 부족했나'를 배우는 학습 — 막힘은 5층 허들 하나뿐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후킹 1회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허들(첫 보스전)에서 필살기를 한 번 시연 → 중반을 예고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25856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판별 진행 (표준 플레이)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2651760"/>
          <a:ext cx="4937760" cy="14630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6928"/>
                <a:gridCol w="1719072"/>
                <a:gridCol w="896112"/>
                <a:gridCol w="896112"/>
                <a:gridCol w="859536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막히는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0분 → 10분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4층 (+4)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10분 → 18분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4층 (+0)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18분 → 29분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(+1)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72200" y="420624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재도전 2회(3판)가 표준, 잘하면 1회(2판)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1판은 튜토리얼 판 — 4층까지 보여 주고 5층 허들에서 첫 막힘 · 방 2~4개의 짧은 층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2~3판은 같은 허들 재도전 — 로비 스킬 효과를 바로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중반 · 성장이 난이도를 앞지름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판마다 고점 +2층 — 난이도는 쉽지만 방이 늘어 한 판이 길어지고, 그 시간을 빌드와 성장 체감으로 채운다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475488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플레이 경험 · 스타일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97480"/>
            <a:ext cx="4754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834640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핵심 재미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'쥐 한두 마리가 필살기를 쓰네?' — 첫 필살기 쥐의 등장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플레이 스타일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조작 반, 로비 빌드 반 — 판 시작 전 계획이 중요해짐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의사결정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어떤 쥐를 키울지, 스킬 트리의 갈래(버티기 vs 빨리 깨기)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성장 수단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 · 10층 · 15층 돌파 훈장 → 새 쥐 · 시작 전력, 로비 스킬 트리 확장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선택의 효과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판당 전투력 ×1.7 — 지난 판에 막힌 층을 이번 판엔 시원하게 통과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실패의 의미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'다음 판엔 어디까지?' — 실패가 곧 다음 목표 확인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리듬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 5개 → 9개 — 쉽게 밀어붙이는 판이 10분에서 20분으로 길어지고, 판 끝에서 2층 새로 뚫기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25856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판별 진행 (표준 플레이)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2651760"/>
          <a:ext cx="493776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6928"/>
                <a:gridCol w="1719072"/>
                <a:gridCol w="896112"/>
                <a:gridCol w="896112"/>
                <a:gridCol w="859536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막히는 곳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29분 → 46분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46분 → 1시간 04분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04분 → 1시간 25분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25분 → 1시간 48분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14층 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48분 → 2시간 15분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15층 (+2)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72200" y="493776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성장 ×1.74 = 층당 난이도(×1.32)의 약 2.0층분 → 고점 +2층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수 6층 5개 → 15층 9개 · 로비 7분(빌드 비중 ↑)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 · 15층은 보상 층(훈장) — 난이도는 보통 그대로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후반 · 깽판과 긴 목표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모아 온 쥐들이 화면을 뒤집는다 — 연출과 깽판을 보여 주고, 2~3판에 한 층이라는 긴 목표로 오래 붙잡는다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2286000"/>
            <a:ext cx="4754880" cy="4114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4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플레이 경험 · 스타일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97480"/>
            <a:ext cx="47548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834640"/>
            <a:ext cx="45720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핵심 재미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다양한 쥐의 필살기가 연쇄로 터지는 깽판, 화면 가득한 무리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플레이 스타일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보는 플레이 — 연출 감상과 굵직한 결정 위주, 손은 덜 바쁨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의사결정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쥐 조합 구성, 어느 쥐를 끝까지 키울지(종결 쥐)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성장 수단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조각 수급 콘텐츠, 종결 쥐 육성(팰월드 종결팰 참고), 높은 훈장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선택의 효과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판당 ×1.30 — 추가 콘텐츠 · 후반으로 옮긴 스킬 성장으로 성장률을 올리고, 난이도는 그보다 더 가파르게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실패의 의미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한 층 한 층이 벽 — 2~3판을 쌓아 한 층을 넘는 성취</a:t>
            </a:r>
          </a:p>
          <a:p>
            <a:pPr algn="l">
              <a:spcAft>
                <a:spcPts val="800"/>
              </a:spcAft>
            </a:pPr>
            <a:r>
              <a:rPr sz="13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긴 목표  </a:t>
            </a:r>
            <a:r>
              <a:rPr sz="13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20층 최종 허들 → 21층~ 엔드게임 → 도감 완성(20~30시간)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25856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판별 진행 (표준 플레이, 20층까지)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2651760"/>
          <a:ext cx="4937760" cy="34564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6928"/>
                <a:gridCol w="1719072"/>
                <a:gridCol w="896112"/>
                <a:gridCol w="896112"/>
                <a:gridCol w="859536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시간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막히는 곳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성장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15분 → 2시간 39분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39분 → 3시간 03분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3시간 03분 → 3시간 30분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3시간 30분 → 3시간 57분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3시간 57분 → 4시간 25분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4시간 25분 → 4시간 52분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×1.28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4시간 52분 → 5시간 20분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×1.28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5시간 20분 → 5시간 50분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×1.28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5시간 50분 → 6시간 20분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어려움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×1.32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6시간 20분 → 6시간 51분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×1.32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6시간 51분 → 7시간 22분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×1.32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7시간 22분 → 7시간 53분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(+0)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×1.32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21판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7시간 53분 → 8시간 26분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(+1)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21층 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×1.32</a:t>
                      </a: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72200" y="6135624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16~20층 = 13판 · 한 층에 2~3판 · 방 9개 고정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허들 층(16 · 18 · 20) 3판, 어려움 층(17 · 19) 2판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한 판의 흐름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 하나의 시간이 어디에 쓰이나 — 깬 층은 빠르게 지나가고, 막힌 층에서 180초를 다 쓰고 끝난다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· 1판</a:t>
            </a:r>
          </a:p>
          <a:p>
            <a:pPr algn="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4층까지 · 8분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2286000"/>
            <a:ext cx="340777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581057" y="2286000"/>
            <a:ext cx="414092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5150" y="2286000"/>
            <a:ext cx="505736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886" y="2286000"/>
            <a:ext cx="620290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21177" y="2286000"/>
            <a:ext cx="1069173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시간 초과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761488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깬 층 1~4층 = 5분  ·  5층 허들에서 180초를 다 쓰고 종료  ·  방 4개까지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72968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· 6판</a:t>
            </a:r>
          </a:p>
          <a:p>
            <a:pPr algn="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11층까지 · 14분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3218688"/>
            <a:ext cx="166315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06595" y="3218688"/>
            <a:ext cx="225714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32310" y="3218688"/>
            <a:ext cx="225714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58024" y="3218688"/>
            <a:ext cx="285113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43137" y="3218688"/>
            <a:ext cx="285113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8251" y="3218688"/>
            <a:ext cx="344511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72762" y="3218688"/>
            <a:ext cx="344511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7274" y="3218688"/>
            <a:ext cx="403910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1184" y="3218688"/>
            <a:ext cx="403910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25094" y="3218688"/>
            <a:ext cx="481436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6531" y="3218688"/>
            <a:ext cx="620290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26821" y="3218688"/>
            <a:ext cx="1069173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12층 시간 초과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694176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깬 층 1~11층 = 11분  ·  12층 보통에서 180초를 다 쓰고 종료  ·  방 7개까지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105656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· 8판</a:t>
            </a:r>
          </a:p>
          <a:p>
            <a:pPr algn="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15층까지 · 19분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80" y="4151376"/>
            <a:ext cx="166315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06595" y="4151376"/>
            <a:ext cx="225714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32310" y="4151376"/>
            <a:ext cx="225714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8024" y="4151376"/>
            <a:ext cx="285113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43137" y="4151376"/>
            <a:ext cx="285113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8251" y="4151376"/>
            <a:ext cx="344511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72762" y="4151376"/>
            <a:ext cx="344511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7274" y="4151376"/>
            <a:ext cx="403910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1184" y="4151376"/>
            <a:ext cx="403910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25094" y="4151376"/>
            <a:ext cx="46330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88403" y="4151376"/>
            <a:ext cx="46330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1711" y="4151376"/>
            <a:ext cx="522707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74419" y="4151376"/>
            <a:ext cx="522707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97126" y="4151376"/>
            <a:ext cx="582105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9232" y="4151376"/>
            <a:ext cx="620290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99522" y="4151376"/>
            <a:ext cx="1069173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16층 시간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40280" y="4626864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깬 층 1~15층 = 16분  ·  16층 허들에서 180초를 다 쓰고 종료  ·  방 9개까지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038344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· 16판</a:t>
            </a:r>
          </a:p>
          <a:p>
            <a:pPr algn="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18층까지 · 25분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40280" y="5084064"/>
            <a:ext cx="166315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06595" y="5084064"/>
            <a:ext cx="225714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32310" y="5084064"/>
            <a:ext cx="225714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58024" y="5084064"/>
            <a:ext cx="285113" cy="45720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43137" y="5084064"/>
            <a:ext cx="285113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28251" y="5084064"/>
            <a:ext cx="344511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72762" y="5084064"/>
            <a:ext cx="344511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7274" y="5084064"/>
            <a:ext cx="403910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21184" y="5084064"/>
            <a:ext cx="403910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925094" y="5084064"/>
            <a:ext cx="46330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88403" y="5084064"/>
            <a:ext cx="463308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51711" y="5084064"/>
            <a:ext cx="522707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74419" y="5084064"/>
            <a:ext cx="522707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97126" y="5084064"/>
            <a:ext cx="582105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79232" y="5084064"/>
            <a:ext cx="582105" cy="45720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61338" y="5084064"/>
            <a:ext cx="582105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643443" y="5084064"/>
            <a:ext cx="582105" cy="457200"/>
          </a:xfrm>
          <a:prstGeom prst="rect">
            <a:avLst/>
          </a:prstGeom>
          <a:solidFill>
            <a:srgbClr val="F4B183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25549" y="5084064"/>
            <a:ext cx="906676" cy="457200"/>
          </a:xfrm>
          <a:prstGeom prst="rect">
            <a:avLst/>
          </a:prstGeom>
          <a:solidFill>
            <a:srgbClr val="E9713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32226" y="5084064"/>
            <a:ext cx="1069173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9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19층 시간 초과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40280" y="555955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깬 층 1~18층 = 22분  ·  19층 어려움에서 180초를 다 쓰고 종료  ·  방 9개까지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240280" y="598932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965960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0분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022236" y="598932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747916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5분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804193" y="598932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529873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10분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7586149" y="598932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311829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15분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368106" y="598932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9093786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20분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1150062" y="5989320"/>
            <a:ext cx="0" cy="73152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0875742" y="605332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25분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240280" y="5989320"/>
            <a:ext cx="8961120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칸 너비 = 그 층에 쓴 시간 · 점선 칸 = 막힌 층 (180초) — 방이 늘어난 중반 · 후반은 깬 층을 지나가는 데만 10~20분이 들어 판이 길어진다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구간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구간별 경험 · 스타일 변화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구간이 바뀌면 '무엇을 하는 게임인지'가 바뀐다 — 조작에서 빌드로, 빌드에서 연출로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86000"/>
          <a:ext cx="9976104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2807208"/>
                <a:gridCol w="2807208"/>
                <a:gridCol w="2807208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(1~5층)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(6~15층)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(16층~)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감각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손 — 조작과 판단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머리 — 빌드와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눈 — 연출과 깽판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핵심 재미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불어나는 무리, 벽 뚫기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필살기 쥐, 훈장 승급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 연쇄, 화면 가득한 무리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주 조작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클릭 총공격 · 길 선택 · 승급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 타이밍 · 스킬 트리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조합 구성 · 큰 결정 위주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진척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1~4층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0.3~0.5층 (2~3판에 1층)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층당 방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2~4개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5~9개 (늘어남)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 고정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판 길이 (로비 포함)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10분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21분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29분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성장 수단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 안 번식 · 승급, 1단계 스킬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훈장, 스킬 트리, 새 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수급, 종결 쥐, 높은 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화면 정보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최소 (무리 · 벽 · 치즈 · 시간)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 훈장 · 도감 · 필살기 게이지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 조각 · 업적 전체 (도감 완성은 끝까지)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실패의 의미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학습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다음 목표 확인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쌓아서 넘는 벽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층 별 난이도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난이도 상승 곡선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적정 찍찍(층을 적정 시간에 깨는 데 필요한 전투력)을 1층 = 100 지수로 정의 — 20층까지 약 ×1,785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6766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635508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가로축 = 층 · 막대 색: 연회색 쉬움 · 회색 보통 · 연주황 어려움 · 주황 허들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286000"/>
            <a:ext cx="3200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· 5층 허들</a:t>
            </a:r>
          </a:p>
          <a:p>
            <a:pPr algn="l">
              <a:spcAft>
                <a:spcPts val="500"/>
              </a:spcAft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 ×1.25 세 층 뒤 5층에서 ×1.8 — 처음이자 유일한 초반 벽</a:t>
            </a:r>
          </a:p>
          <a:p>
            <a:pPr algn="l">
              <a:spcAft>
                <a:spcPts val="500"/>
              </a:spcAft>
            </a:pP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중반 · 허들 없음</a:t>
            </a:r>
          </a:p>
          <a:p>
            <a:pPr algn="l">
              <a:spcAft>
                <a:spcPts val="500"/>
              </a:spcAft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6~15층 보통 ×1.32 일정 — 성장이 난이도를 앞지르는 구간</a:t>
            </a:r>
          </a:p>
          <a:p>
            <a:pPr algn="l">
              <a:spcAft>
                <a:spcPts val="500"/>
              </a:spcAft>
            </a:pP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· 매 층이 벽</a:t>
            </a:r>
          </a:p>
          <a:p>
            <a:pPr algn="l">
              <a:spcAft>
                <a:spcPts val="500"/>
              </a:spcAft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16층 허들 ×2.2부터 어려움 ×1.7대 · 허들 ×2.1~2.3</a:t>
            </a:r>
          </a:p>
          <a:p>
            <a:pPr algn="l">
              <a:spcAft>
                <a:spcPts val="500"/>
              </a:spcAft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층당 상승 초반 ×1.37 · 중반 ×1.32 · 후반 ×2.00</a:t>
            </a:r>
          </a:p>
          <a:p>
            <a:pPr algn="l">
              <a:spcAft>
                <a:spcPts val="500"/>
              </a:spcAft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성장률이 올라가는 만큼 난이도는 그보다 더 가파르게 (다음 장)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층 별 난이도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허들 배치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허들은 구간의 문 — 5층은 초반 졸업, 16층은 후반 입장, 17층부터는 쉬운 층이 없다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6692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614476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가로축 = 층 · 1층은 기준(100)이라 제외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03720" y="2286000"/>
          <a:ext cx="429768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85800"/>
                <a:gridCol w="1097280"/>
                <a:gridCol w="777240"/>
                <a:gridCol w="1737360"/>
              </a:tblGrid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상승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경험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1~4층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조작을 익히며 시원하게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졸업 시험 · 재도전 1~2회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6~15층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×1.32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없음 · 방이 늘어 판이 길어짐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16·18·20층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×2.1~2.3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입장 · 한 층에 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 · 19층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×1.7대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사이의 벽 · 한 층에 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03720" y="5715000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5층마다 있던 보스 구조 대신 허들 위치로 구간을 나눔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시간은 모든 층 180초 — 어려움은 75%, 허들은 90%를 써야 깨는 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층 별 난이도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방 수와 층 시간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방이 늘면 강해도 오래 걸린다 — 중반은 쉬운데도 플레이 시간이 늘어나는 이유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6949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183879" y="2240280"/>
            <a:ext cx="3017520" cy="384048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· 방 2~4개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79" y="2624328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최소 28~48초 — 적정 시간의 1/3 이하. 강해지면 순식간에 지나감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3611880"/>
            <a:ext cx="301752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중반 · 방 5 → 9개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3995928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최소 58초 → 98초 — 적정(108초)에 가까워져 쉬워도 시간이 쌓임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4983480"/>
            <a:ext cx="3017520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후반 · 방 9개 고정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5367528"/>
            <a:ext cx="3017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1~15층을 지나가는 데만 매 판 약 16분 — 그 뒤 매 층이 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플레이어 성장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성장 대 난이도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판당 플레이어 성장 vs 층당 난이도 상승 — 이 둘의 비율이 '한 판에 몇 층 오르나'를 정한다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60350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69480" y="2286000"/>
          <a:ext cx="3840479" cy="22677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960120"/>
                <a:gridCol w="1874519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판당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의미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1.7층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판 4층 → 5층 허들에서 재도전 1~2회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2.0층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성장이 난이도를 앞지름 → 매 판 고점 2층 갱신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0.4층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층당 난이도 ×2.0이 판당 성장을 크게 앞섬 → 2~3판에 한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69480" y="4709160"/>
            <a:ext cx="39319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층 ≈ log(판당 성장) ÷ log(층당 난이도)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성장 = 판 사이 로비 성장(스킬 · 훈장 · 훈련)으로 오르는 '그 판 최고 전투력'의 배율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후반 성장은 판당으론 중반보다 작지만, 콘텐츠 추가 · 스킬 이동으로 층당 기준 성장률은 오른다 (다음 장)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플레이어 성장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난이도 · 성장 곡선 비교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둘 다 후반으로 갈수록 가팔라지지만 — 난이도의 곡률이 더 커서 16층 허들부터 난이도가 앞지름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9436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8720" y="6217920"/>
            <a:ext cx="5760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가로축 = 층 · 세로축 = 1층 = 100 기준 지수 (일반 눈금)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086600" y="2194560"/>
          <a:ext cx="4160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78040" y="4800600"/>
            <a:ext cx="40690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초반 1~5층 · 여유 1.0 안팎</a:t>
            </a:r>
          </a:p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곡선이 거의 겹침 — 5층 허들(0.78)은 1~2회 재도전으로 넘음</a:t>
            </a:r>
          </a:p>
          <a:p>
            <a:pPr algn="l">
              <a:spcAft>
                <a:spcPts val="300"/>
              </a:spcAft>
            </a:pPr>
            <a:r>
              <a:rPr sz="1000" b="1" lang="ko-KR" altLang="en-US">
                <a:solidFill>
                  <a:srgbClr val="E97132"/>
                </a:solidFill>
                <a:latin typeface="Noto Sans KR"/>
                <a:ea typeface="Noto Sans KR"/>
                <a:cs typeface="Noto Sans KR"/>
              </a:rPr>
              <a:t>중반 6~15층 · 최대 1.5배 (15층)</a:t>
            </a:r>
          </a:p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성장이 난이도를 앞질러 한 판에 2층</a:t>
            </a:r>
          </a:p>
          <a:p>
            <a:pPr algn="l">
              <a:spcAft>
                <a:spcPts val="300"/>
              </a:spcAft>
            </a:pPr>
            <a:r>
              <a:rPr sz="10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16층~ · 0.97 → 0.49</a:t>
            </a:r>
          </a:p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성장률도 층당 ×1.55→×1.75로 오르지만 난이도가 더 가파름 — 반복 판 · 조각 파밍으로 메워 2~3판에 한 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플레이어 성장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구간별 곡선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앞 장 그래프를 구간별 눈금으로 나눠 봄 — 초반은 겹치고, 중반은 성장이 위로, 후반은 난이도가 위로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914400" y="2286000"/>
          <a:ext cx="333756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389120" y="2286000"/>
          <a:ext cx="333756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863840" y="2286000"/>
          <a:ext cx="3337560" cy="3246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05840" y="5577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두 선이 거의 겹침 (여유 1.02~1.05)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 허들에서 난이도가 위로 (0.78) → 재도전 1~2회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577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5층 허들 뒤 첫 훈장으로 성장이 따라붙고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8층부터 성장이 위로 — 15층 여유 1.45배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판마다 2층 · 방이 늘어 판은 길어짐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557784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16층 허들(0.97)부터 난이도가 위로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성장도 가팔라지지만 격차가 벌어짐 → 20층 0.49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2~3판에 한 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63550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세로축은 구간마다 다름 (1층 = 100 기준 지수) · 구간 경계 층(5 · 15층)은 양쪽 그래프에 모두 표시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플레이어 성장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판별 고점 갱신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표준 플레이 21판의 고점 — 초반 3판에 5층, 중반 4판에 15층, 후반은 13판에 20층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102412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3856" y="57607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막대 아래 = 판 번호와 그 판이 끝난 누적 시간 (로비 포함)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6199632"/>
            <a:ext cx="164592" cy="164592"/>
          </a:xfrm>
          <a:prstGeom prst="rect">
            <a:avLst/>
          </a:prstGeom>
          <a:solidFill>
            <a:srgbClr val="F4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61264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초반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48256" y="6199632"/>
            <a:ext cx="164592" cy="16459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61264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중반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2656" y="6199632"/>
            <a:ext cx="164592" cy="164592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612648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후반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6126480"/>
            <a:ext cx="7223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중반 막대가 2층씩 뛰고, 후반 막대는 2~3판 동안 같은 높이 — 구간의 성격이 한눈에 보이도록 설계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플레이어 성장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별 소모 시간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적정 찍찍이면 쉬움 · 보통 60% · 어려움 75% · 허들 90% — 층에 머무는 시간은 허들이 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21991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쉬움 · 보통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2194560"/>
            <a:ext cx="420624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57400" y="2194560"/>
            <a:ext cx="2523744" cy="329184"/>
          </a:xfrm>
          <a:prstGeom prst="rect">
            <a:avLst/>
          </a:prstGeom>
          <a:solidFill>
            <a:srgbClr val="BFBFB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108초 (60%)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221991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180초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어려움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7400" y="2624328"/>
            <a:ext cx="420624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7400" y="2624328"/>
            <a:ext cx="3154680" cy="329184"/>
          </a:xfrm>
          <a:prstGeom prst="rect">
            <a:avLst/>
          </a:prstGeom>
          <a:solidFill>
            <a:srgbClr val="F4B183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135초 (75%)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6517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180초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81527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3054096"/>
            <a:ext cx="4206240" cy="329184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57400" y="3054096"/>
            <a:ext cx="3785615" cy="329184"/>
          </a:xfrm>
          <a:prstGeom prst="rect">
            <a:avLst/>
          </a:prstGeom>
          <a:solidFill>
            <a:srgbClr val="E97132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162초 (90%)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081527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180초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48840"/>
            <a:ext cx="39319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제한 시간: 모든 층 180초 (허들 포함)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돌파 시간 ∝ 적정 ÷ 내 전투력 — 적정의 2배면 절반 시간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단, 강해도 방 하나에 최소 10초 → 방 9개 층은 최소 약 1.6분</a:t>
            </a:r>
          </a:p>
          <a:p>
            <a:pPr algn="l" marL="228600" indent="-228600">
              <a:spcAft>
                <a:spcPts val="100"/>
              </a:spcAft>
              <a:buFont typeface="Arial"/>
              <a:buChar char="•"/>
            </a:pPr>
            <a:r>
              <a:rPr sz="11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방 수: 1층 2개 · 5층 4개 · 15층 9개 · 16층~ 9개 고정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1005840" y="3566160"/>
          <a:ext cx="1024128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133856" y="63550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가로축 = 층 · 방 수 · 연회색 쉬움 · 회색 보통 · 연주황 어려움 · 주황 허들 — 중반은 방이 늘며 판 끝 층의 대기가 10분 → 25분으로 길어지고, 후반은 모든 층이 50분 이상의 벽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허들표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1~10층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00200"/>
          <a:ext cx="10277856" cy="44256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"/>
                <a:gridCol w="502920"/>
                <a:gridCol w="594360"/>
                <a:gridCol w="502920"/>
                <a:gridCol w="868680"/>
                <a:gridCol w="731520"/>
                <a:gridCol w="731520"/>
                <a:gridCol w="777240"/>
                <a:gridCol w="1051560"/>
                <a:gridCol w="777240"/>
                <a:gridCol w="3355848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제한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깨는 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깨는 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머무는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체크포인트 · 이 층의 경험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도입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벽 — 번식으로 강해지는 것을 체감 (튜토리얼)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승급 · 적정 찍찍 첫 등장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로비 스킬(치즈 창고) 첫 소개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쉬움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판의 끝 — 여기까지 보여 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352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· 첫 보스전 · 필살기 시연 · 초반 졸업 → 첫 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464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시작 · 첫 훈장 효과로 시원하게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36분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필살기 쥐 (한두 마리)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판에 6~8층 몰아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1,067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스킬 트리 갈래 선택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1,409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13분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 층 · 훈장 · 새 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0807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행 = 허들 · 어려움 층 · 적정 찍찍 = 1층 100 기준 지수 · 목표 돌파 = 적정 찍찍일 때 처음 깨는 시간 (제한 180초의 쉬움 · 보통 60% · 어려움 75% · 허들 90%) · 처음 깨는 시점 = 누적 플레이타임 (로비 포함, 표준 플레이)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허들표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11~20층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600200"/>
          <a:ext cx="10277856" cy="44256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"/>
                <a:gridCol w="502920"/>
                <a:gridCol w="594360"/>
                <a:gridCol w="502920"/>
                <a:gridCol w="868680"/>
                <a:gridCol w="731520"/>
                <a:gridCol w="731520"/>
                <a:gridCol w="777240"/>
                <a:gridCol w="1051560"/>
                <a:gridCol w="777240"/>
                <a:gridCol w="3355848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방 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제한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깨는 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처음 깨는 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머무는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체크포인트 · 이 층의 경험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1,860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15분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 쥐 2~3마리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2,455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37분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빌드 실험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3,240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38분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한 판에 11~13층 몰아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4,277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03분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콘텐츠 예고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5,646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108초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05분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 층 · 중반 졸업 → 16층 허들 예고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12,421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3시간 22분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· 후반 입장 · 조각 수급 콘텐츠 열림 · 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21,116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4시간 17분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 · 필살기 연쇄 '깽판' 본격화 · 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44,344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5시간 42분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· 조합 완성 시험 · 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77,602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135초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6시간 43분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어려움 · 마지막 벽 · 2판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178,484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180초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162초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8시간 18분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· 최종 목표 (약 8.4시간) · 3판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0807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행 = 허들 · 어려움 층 · 적정 찍찍 = 1층 100 기준 지수 · 목표 돌파 = 적정 찍찍일 때 처음 깨는 시간 (제한 180초의 쉬움 · 보통 60% · 어려움 75% · 허들 90%) · 처음 깨는 시점 = 누적 플레이타임 (로비 포함, 표준 플레이)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허들 보상과 가스 빼기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허들을 먼저 정하고 보상은 체감을 잰 뒤에 — 힘든 구간 뒤에는 반드시 쉬어 가는 구간을 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40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시간 장벽과 보상 후보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33856" y="2633472"/>
          <a:ext cx="5120640" cy="27066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51560"/>
                <a:gridCol w="1097280"/>
                <a:gridCol w="2971800"/>
              </a:tblGrid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 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 후보 (체감 측정 후 확정)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훈장 · 새 쥐 · 층 건너뛰기 등장 (3층 시작)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 · 15층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보상 층 — 훈장 · 필살기 쥐 · 15층은 10층 시작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 콘텐츠 해금 · 후반 입장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17층 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수급량 증가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종결 쥐 후보 공개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19층 어려움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높은 훈장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종결 쥐 육성 · 15층 시작 (건너뛰기 최대)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33856" y="539496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① 허들 위치와 요구 시간 확정 → ② 플레이테스트로 체감 측정 → ③ 체감이 큰 허들일수록 큰 보상</a:t>
            </a:r>
          </a:p>
          <a:p>
            <a:pPr algn="l" marL="228600" indent="-228600">
              <a:spcAft>
                <a:spcPts val="3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요구 시간 = 직전 층을 처음 깬 뒤 그 허들을 처음 깰 때까지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402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가스 빼기 구간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63347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12280" y="280720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68833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 뒤 보통 10층</a:t>
            </a:r>
          </a:p>
          <a:p>
            <a:pPr algn="l">
              <a:spcAft>
                <a:spcPts val="1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 없는 중반 — 첫 훈장 효과로 몰아 돌파하며 '강해졌다'를 바로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54787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12280" y="372160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60273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판의 앞 15층</a:t>
            </a:r>
          </a:p>
          <a:p>
            <a:pPr algn="l">
              <a:spcAft>
                <a:spcPts val="1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매 층이 벽인 후반에도 판 앞부분은 순식간에 쓸어 버림 — 성장 체감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446227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12280" y="463600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51713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로비 쉬는 자리</a:t>
            </a:r>
          </a:p>
          <a:p>
            <a:pPr algn="l">
              <a:spcAft>
                <a:spcPts val="1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낮잠 침대 · 도감 구경 — 판과 판 사이 숨 고르기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5376672"/>
            <a:ext cx="4434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12280" y="5550408"/>
            <a:ext cx="457200" cy="4572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6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5431536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후반의 보는 플레이</a:t>
            </a:r>
          </a:p>
          <a:p>
            <a:pPr algn="l">
              <a:spcAft>
                <a:spcPts val="1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연출 감상 위주, 손이 덜 바쁜 판 — 집중이 흐려져도 괜찮게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건너뛰기 · 해금 규칙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재도전 시작 층은 플레이어가 고른다 — 5층 클리어부터 열리고, 간격이 2층 → 5층으로 늘어 최대 15층 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402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최고 클리어 층별 고를 수 있는 가장 높은 시작 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3856" y="2651760"/>
            <a:ext cx="118872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최고 클리어 층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3856" y="3035808"/>
            <a:ext cx="11887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최대 시작 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33856" y="3493008"/>
            <a:ext cx="1188720" cy="329184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1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간격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2576" y="3035808"/>
            <a:ext cx="548640" cy="457200"/>
          </a:xfrm>
          <a:prstGeom prst="rect">
            <a:avLst/>
          </a:prstGeom>
          <a:solidFill>
            <a:srgbClr val="E9713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2257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121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7121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7121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1985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985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1985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849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849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1713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1713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6577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6577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1441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1441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1441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305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6305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305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1169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1169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1169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033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0336" y="3035808"/>
            <a:ext cx="548640" cy="45720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9층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033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08975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08975" y="3035808"/>
            <a:ext cx="548640" cy="457200"/>
          </a:xfrm>
          <a:prstGeom prst="rect">
            <a:avLst/>
          </a:prstGeom>
          <a:solidFill>
            <a:srgbClr val="E9713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08975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5761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57616" y="3035808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5761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06255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06255" y="3035808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06255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5489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54896" y="3035808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5489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0353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03536" y="3035808"/>
            <a:ext cx="548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10층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0353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52176" y="2651760"/>
            <a:ext cx="548640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552176" y="3035808"/>
            <a:ext cx="548640" cy="457200"/>
          </a:xfrm>
          <a:prstGeom prst="rect">
            <a:avLst/>
          </a:prstGeom>
          <a:solidFill>
            <a:srgbClr val="E9713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15층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52176" y="3493008"/>
            <a:ext cx="548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 bIns="36576" wrap="square"/>
          <a:lstStyle/>
          <a:p>
            <a:pPr algn="ctr">
              <a:spcAft>
                <a:spcPts val="300"/>
              </a:spcAft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" y="385876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주황 = 단계가 바뀌는 층 (5층 첫 등장 · 15층 10층 시작 · 20층 15층 시작) · 15~19층 클리어는 10층 시작 유지 · 21층 이후 · 30층 · 무한 모드에서도 최대 15층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33856" y="4251960"/>
            <a:ext cx="169164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등장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25496" y="42519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5층 허들을 처음 깨면 로비의 출발 버튼에 '시작 층' 선택이 열림 — 첫 단계 3층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33856" y="4709160"/>
            <a:ext cx="169164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간격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25496" y="47091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처음엔 2층(5 · 6층 클리어) → 3층(7~9) → 4층(10~13) → 5층(14 · 15) — 16~19층 클리어는 10층 유지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33856" y="5166360"/>
            <a:ext cx="1691640" cy="3840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25496" y="51663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15층 클리어 = 10층 시작, 20층 클리어 = 15층 시작 (20층 허들 보상) — 그 위로는 늘지 않음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33856" y="5623560"/>
            <a:ext cx="1691640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선택형 · 보정 없음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25496" y="56235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건너뛴 층의 번식 · 치즈는 받지 않음 — 시간을 아낄지, 낮은 층부터 불려 갈지 플레이어가 고름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33856" y="6080760"/>
            <a:ext cx="1691640" cy="38404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2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안 막힘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25496" y="6080760"/>
            <a:ext cx="8275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1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언제든 1층 시작 가능 — 건너뛰고 막히면 다음 판에 낮은 층부터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층 건너뛰기 · 플레이타임 영향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건너뛰기 없이 20층까지 약 8.4시간, 매 판 최대로 건너뛰면 약 6.5시간 — 기준 수치는 건너뛰기 없는 쪽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2194560"/>
          <a:ext cx="56692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03720" y="2240280"/>
          <a:ext cx="420624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83080"/>
                <a:gridCol w="1188720"/>
                <a:gridCol w="12344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건너뛰기 없음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최대로 건너뛰기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24분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13분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07분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05분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1시간 48분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3시간 22분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2시간 43분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첫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8시간 18분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6시간 23분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목표 (21판 종료)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8.4시간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약 6.5시간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판 평균 길이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판 평균 길이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29분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03720" y="5623560"/>
            <a:ext cx="4297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20층 이후(21~30층 · 무한 모드)는 15층 시작으로 판마다 약 7분 더 아낌 (10~14층 방 39개)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 수 · 판 전투력은 표준 플레이와 같다고 가정 — 보정이 없어 실제 단축은 이보다 작음 (건너뛰기 사용률은 플레이 로그로 확인)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운영 설계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화면 구성과 정보 공개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33856" y="1572768"/>
            <a:ext cx="141732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300"/>
              </a:spcAft>
            </a:pPr>
            <a:r>
              <a:rPr sz="15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기획 의도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1824228"/>
            <a:ext cx="22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79776" y="157276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36576" bIns="36576" wrap="square"/>
          <a:lstStyle/>
          <a:p>
            <a:pPr algn="l">
              <a:spcAft>
                <a:spcPts val="300"/>
              </a:spcAft>
            </a:pPr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정보는 필요한 순간에 하나씩 — 처음엔 무리 · 벽 · 시간만, 20~30시간 하는 사람에게만 보이는 정보도 남긴다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33856" y="2286000"/>
          <a:ext cx="9966960" cy="38679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1280160"/>
                <a:gridCol w="3291840"/>
                <a:gridCol w="2103120"/>
                <a:gridCol w="1828800"/>
              </a:tblGrid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새로 보여 줄 것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아직 숨길 것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여는 방법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1판 (0~10분)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쥐 무리 · 벽 · 치즈 · 제한 시간 → 10마리에서 승급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나머지 HUD 전부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튜토리얼 대사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2판 (10~18분)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적정 찍찍 · 인구 · 로비 스킬(치즈 창고)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 · 도감 · 필살기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실패 직후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3판 (18~29분)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허들(첫 보스전) 필살기 시연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필살기 게이지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돌파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진입 (30분~)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 · 친구들 도감 · 필살기 게이지 · 훈련 · 시작 층 선택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 · 업적 전체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5층 허들 격파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 · 15층 보상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새 쥐 · 스킬 트리 갈래 · 업적 일부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종결 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훈장 승급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진입 (~2시간 15분)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조각 수급 콘텐츠 · 업적 전체 · 조합 정보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도감 완성 보상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16층 허들 격파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BE5D6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이후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종결 쥐 육성 · 21층~ 엔드게임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허들 격파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20~30시간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도감 완성 · 숨은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—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수집 완료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검증</a:t>
            </a:r>
            <a:r>
              <a:rPr sz="24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 – 검증 지표와 남은 결정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33856" y="1600200"/>
          <a:ext cx="6720840" cy="37856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42316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 지표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목표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 방법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순수 메카닉스 재미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이탈 없이 5층 격파 (20~30분)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테스터 5명 이상, 이탈 시점 · 이유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초반 재도전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1~2회 (2~3판)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로그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판당 고점 갱신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+2층 / 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판별 최고 층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중반 종료 시점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 2~2.5시간 (15층)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로그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후반 진척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2~3판에 한 층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판별 최고 층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돌파 (적정일 때)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 108초 · 어려움 135초 · 허들 162초 (제한 180초)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자동 측정, 층당 4회 이상 중앙값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허들 체감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보통 층 '빠르다' · 허들 '막힌다'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플레이 후 설문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층 건너뛰기 사용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20층 6.5~8.4시간 사이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lang="ko-KR" altLang="en-US">
                          <a:solidFill>
                            <a:srgbClr val="0B0B0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판별 시작 층 · 막힌 층 기록</a:t>
                      </a:r>
                    </a:p>
                  </a:txBody>
                  <a:tcPr marL="54864" marR="54864" marT="18288" marB="182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38160" y="15544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어긋났을 때 조정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965960"/>
            <a:ext cx="3063240" cy="6400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① 그 층의 적정 찍찍</a:t>
            </a:r>
          </a:p>
          <a:p>
            <a:pPr algn="ctr"/>
            <a:r>
              <a:rPr sz="1000" b="0" lang="ko-KR" altLang="en-US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 층만 튀면 그 층만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69780" y="2606039"/>
            <a:ext cx="0" cy="22860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138160" y="2834639"/>
            <a:ext cx="3063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② 로비 성장 수치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판당 성장이 구간 목표와 다를 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669780" y="3474720"/>
            <a:ext cx="0" cy="228600"/>
          </a:xfrm>
          <a:prstGeom prst="line">
            <a:avLst/>
          </a:prstGeom>
          <a:ln w="158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138160" y="3703320"/>
            <a:ext cx="3063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③ 구간 난이도 배율</a:t>
            </a:r>
          </a:p>
          <a:p>
            <a:pPr algn="ctr"/>
            <a:r>
              <a:rPr sz="10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여러 층이 같은 방향으로 어긋날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5440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남은 결정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57607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후반 메인 목표를 20층(건너뛰기 없이 약 8.4시간 · 최대 건너뛰기 약 6.5시간)으로 둘지 · 21~30층과 무한 모드 수치</a:t>
            </a:r>
          </a:p>
          <a:p>
            <a:pPr algn="l" marL="228600" indent="-228600">
              <a:spcAft>
                <a:spcPts val="200"/>
              </a:spcAft>
              <a:buFont typeface="Arial"/>
              <a:buChar char="•"/>
            </a:pPr>
            <a:r>
              <a:rPr sz="12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 보상의 크기 · 조각 수급 콘텐츠와 종결 쥐의 상세 (별도 기획서) · 건너뛰기 사용률을 본 뒤 시작 보정 여부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9084" y="746202"/>
            <a:ext cx="10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 lang="ko-KR" altLang="en-US">
                <a:solidFill>
                  <a:srgbClr val="000000"/>
                </a:solidFill>
                <a:latin typeface="Noto Sans KR Black"/>
                <a:ea typeface="Noto Sans KR Black"/>
                <a:cs typeface="Noto Sans KR Black"/>
              </a:rPr>
              <a:t>목차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33856" y="1316736"/>
            <a:ext cx="58521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1188720" y="162763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89888" y="1517904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개요</a:t>
            </a: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993391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993391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40279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로그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240279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87168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한 장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487168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734056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기획 방향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734056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980944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설계 원칙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980944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227832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용어 정리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27832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377647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3666744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구간 설계</a:t>
            </a: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8P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142231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세 구간 한눈에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142231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389119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층 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389119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636007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진행 곡선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7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882896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초반 · 순수 메카닉스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882896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129783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중반 · 성장이 난이도를 앞지름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5129783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5376671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후반 · 깽판과 긴 목표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376671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623559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7. 한 판의 흐름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5623559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870448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8. 구간별 경험 · 스타일 변화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5870448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162763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1517904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층 별 난이도</a:t>
            </a: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16P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1993391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난이도 상승 곡선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1993391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2240279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허들 배치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69880" y="2240279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2487168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방 수와 층 시간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9880" y="2487168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2953512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56248" y="2843784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플레이어 성장</a:t>
            </a: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19P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3319272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성장 대 난이도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69880" y="3319272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3566160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난이도 · 성장 곡선 비교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69880" y="3566160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3720" y="3813048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구간별 곡선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69880" y="3813048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4059935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판별 고점 갱신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69880" y="4059935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4306824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층 별 소모 시간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69880" y="4306824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4754880"/>
            <a:ext cx="109728" cy="2743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56248" y="4645152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허들표 · 운영 · 검증</a:t>
            </a:r>
            <a:r>
              <a:rPr sz="1500" b="1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 – 24P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5120640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1. 허들표 1~10층 · 11~20층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69880" y="5120640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03720" y="5367527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2. 허들 보상과 가스 빼기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9880" y="5367527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3720" y="5614416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3. 층 건너뛰기 · 해금 규칙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69880" y="5614416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3720" y="5861304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4. 층 건너뛰기 · 플레이타임 영향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69880" y="5861304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03720" y="6108192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5. 화면 구성과 정보 공개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69880" y="6108192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3720" y="6355079"/>
            <a:ext cx="36576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lang="ko-KR" altLang="en-US">
                <a:solidFill>
                  <a:srgbClr val="0B0B0B"/>
                </a:solidFill>
                <a:latin typeface="Noto Sans KR"/>
                <a:ea typeface="Noto Sans KR"/>
                <a:cs typeface="Noto Sans KR"/>
              </a:rPr>
              <a:t>6. 검증 지표와 남은 결정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69880" y="6355079"/>
            <a:ext cx="54864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lang="ko-KR" altLang="en-US">
                <a:solidFill>
                  <a:srgbClr val="595959"/>
                </a:solidFill>
                <a:latin typeface="Noto Sans KR"/>
                <a:ea typeface="Noto Sans KR"/>
                <a:cs typeface="Noto Sans KR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1434</Words>
  <Application>Microsoft Office PowerPoint</Application>
  <PresentationFormat>와이드스크린</PresentationFormat>
  <Paragraphs>290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anthropic-sans</vt:lpstr>
      <vt:lpstr>Noto Sans KR</vt:lpstr>
      <vt:lpstr>Noto Sans KR Black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도원 박</dc:creator>
  <cp:lastModifiedBy>도원 박</cp:lastModifiedBy>
  <cp:revision>22</cp:revision>
  <dcterms:created xsi:type="dcterms:W3CDTF">2026-09-29T07:46:10Z</dcterms:created>
  <dcterms:modified xsi:type="dcterms:W3CDTF">2026-10-05T12:01:17Z</dcterms:modified>
</cp:coreProperties>
</file>