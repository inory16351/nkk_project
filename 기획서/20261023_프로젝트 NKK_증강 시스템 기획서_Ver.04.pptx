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58" r:id="rId3"/>
    <p:sldId id="275" r:id="rId4"/>
    <p:sldId id="276" r:id="rId5"/>
    <p:sldId id="277" r:id="rId6"/>
    <p:sldId id="278" r:id="rId7"/>
    <p:sldId id="279" r:id="rId8"/>
    <p:sldId id="296" r:id="rId9"/>
    <p:sldId id="281" r:id="rId10"/>
    <p:sldId id="297" r:id="rId11"/>
    <p:sldId id="298" r:id="rId12"/>
    <p:sldId id="299" r:id="rId13"/>
    <p:sldId id="303" r:id="rId14"/>
    <p:sldId id="300" r:id="rId15"/>
    <p:sldId id="301" r:id="rId16"/>
    <p:sldId id="302" r:id="rId17"/>
    <p:sldId id="294" r:id="rId18"/>
    <p:sldId id="295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5A25"/>
    <a:srgbClr val="D66E3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0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브론즈</c:v>
                </c:pt>
              </c:strCache>
            </c:strRef>
          </c:tx>
          <c:spPr>
            <a:solidFill>
              <a:srgbClr val="B06E32"/>
            </a:solidFill>
          </c:spPr>
          <c:invertIfNegative val="1"/>
          <c:cat>
            <c:strRef>
              <c:f>Sheet1!$A$2:$A$7</c:f>
              <c:strCache>
                <c:ptCount val="6"/>
                <c:pt idx="0">
                  <c:v>수치</c:v>
                </c:pt>
                <c:pt idx="1">
                  <c:v>타격</c:v>
                </c:pt>
                <c:pt idx="2">
                  <c:v>쥐 변신</c:v>
                </c:pt>
                <c:pt idx="3">
                  <c:v>방 이벤트</c:v>
                </c:pt>
                <c:pt idx="4">
                  <c:v>보상</c:v>
                </c:pt>
                <c:pt idx="5">
                  <c:v>등급 통일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E30-4D1C-ABE7-D6D25080AA6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실버</c:v>
                </c:pt>
              </c:strCache>
            </c:strRef>
          </c:tx>
          <c:spPr>
            <a:solidFill>
              <a:srgbClr val="7D8892"/>
            </a:solidFill>
          </c:spPr>
          <c:invertIfNegative val="1"/>
          <c:cat>
            <c:strRef>
              <c:f>Sheet1!$A$2:$A$7</c:f>
              <c:strCache>
                <c:ptCount val="6"/>
                <c:pt idx="0">
                  <c:v>수치</c:v>
                </c:pt>
                <c:pt idx="1">
                  <c:v>타격</c:v>
                </c:pt>
                <c:pt idx="2">
                  <c:v>쥐 변신</c:v>
                </c:pt>
                <c:pt idx="3">
                  <c:v>방 이벤트</c:v>
                </c:pt>
                <c:pt idx="4">
                  <c:v>보상</c:v>
                </c:pt>
                <c:pt idx="5">
                  <c:v>등급 통일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3</c:v>
                </c:pt>
                <c:pt idx="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1E30-4D1C-ABE7-D6D25080AA6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골드</c:v>
                </c:pt>
              </c:strCache>
            </c:strRef>
          </c:tx>
          <c:spPr>
            <a:solidFill>
              <a:srgbClr val="C89210"/>
            </a:solidFill>
          </c:spPr>
          <c:invertIfNegative val="1"/>
          <c:cat>
            <c:strRef>
              <c:f>Sheet1!$A$2:$A$7</c:f>
              <c:strCache>
                <c:ptCount val="6"/>
                <c:pt idx="0">
                  <c:v>수치</c:v>
                </c:pt>
                <c:pt idx="1">
                  <c:v>타격</c:v>
                </c:pt>
                <c:pt idx="2">
                  <c:v>쥐 변신</c:v>
                </c:pt>
                <c:pt idx="3">
                  <c:v>방 이벤트</c:v>
                </c:pt>
                <c:pt idx="4">
                  <c:v>보상</c:v>
                </c:pt>
                <c:pt idx="5">
                  <c:v>등급 통일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</c:v>
                </c:pt>
                <c:pt idx="1">
                  <c:v>4</c:v>
                </c:pt>
                <c:pt idx="2">
                  <c:v>1</c:v>
                </c:pt>
                <c:pt idx="3">
                  <c:v>3</c:v>
                </c:pt>
                <c:pt idx="4">
                  <c:v>0</c:v>
                </c:pt>
                <c:pt idx="5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1E30-4D1C-ABE7-D6D25080AA6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프리즘</c:v>
                </c:pt>
              </c:strCache>
            </c:strRef>
          </c:tx>
          <c:spPr>
            <a:solidFill>
              <a:srgbClr val="9B5FD0"/>
            </a:solidFill>
          </c:spPr>
          <c:invertIfNegative val="1"/>
          <c:cat>
            <c:strRef>
              <c:f>Sheet1!$A$2:$A$7</c:f>
              <c:strCache>
                <c:ptCount val="6"/>
                <c:pt idx="0">
                  <c:v>수치</c:v>
                </c:pt>
                <c:pt idx="1">
                  <c:v>타격</c:v>
                </c:pt>
                <c:pt idx="2">
                  <c:v>쥐 변신</c:v>
                </c:pt>
                <c:pt idx="3">
                  <c:v>방 이벤트</c:v>
                </c:pt>
                <c:pt idx="4">
                  <c:v>보상</c:v>
                </c:pt>
                <c:pt idx="5">
                  <c:v>등급 통일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0</c:v>
                </c:pt>
                <c:pt idx="5">
                  <c:v>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1E30-4D1C-ABE7-D6D25080AA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t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/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A36E70-5542-433F-8775-3EDF9C5AE0B0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F35D8-3F1B-4838-9AA9-54A21BBB9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940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C393A6-6064-E56E-3CC7-DFBD99E8E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8DB02AB-3255-D2EB-3CFF-F102727D9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7D8953-EF9A-5446-14B9-15328A6E5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3AA2A7-4921-285E-8E7C-8F46E43D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DBC7F2-F5F0-0533-A0E9-1B81D3A9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549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389E6-DF22-238B-C563-2F9F1D4D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56C26A-24FF-87FC-F30A-C4B2B44E2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0326C4-B6D9-516F-67FD-397EE1D8C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1C34A6-6FFC-F7CC-4C01-9B3EB433D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C5DB05-D59B-FA33-685A-4E6B9F11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283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56B36A-C7CE-199F-43D9-2B4BD3817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F597C3-AEA1-FAE0-E407-28DD8D0B0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5A1085-83E7-EA12-ED4F-9DE404B27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DF431C-56E1-C642-4F67-B774DC4EF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19AA2B-B326-9397-B8E6-A23FFA9AD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99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EE9383-0E57-A2DC-C415-C968ED12F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07665B-5634-5B29-6387-A79BACE386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E78F0F-8B84-D5C6-443E-195286C94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FBCED5-13EF-C045-55FF-7B7E62DA1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2224E5-9AB0-9CCB-347D-5DC6659B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B6D396-8184-B7FA-3619-E06FD5F1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257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275A90-C233-E1CC-278F-0339C2136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876DDC-4A19-7B00-BACD-AA81B0856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FEF097-737A-0CD1-D299-9114083AF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E4C179-65B8-6728-2552-130364EFDE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7BB22C-4B3D-AF9C-1028-950CED609C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6C7DECF-95C8-40D9-0D89-C27075B2E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F6ECB51-558B-8B21-D5FD-5AED61341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6E4D88C-F660-2995-B619-47CD65C0F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13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BB4D96-C3DA-2EBA-CB1C-AB54F16D8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09EAE9-77E5-46A5-B514-9E5D47EF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17411C-7C73-5F5A-00C9-1A131247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2D3380-30B8-3382-A9A4-CFBDE599B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081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804CBD-D934-1482-365B-560A4B03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4024F1F-E81A-267F-CE72-25342AEA5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F5C455-C943-9FC6-7BF1-FB6201BE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871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B6AB16-80DA-CCE6-B425-8B4AE097C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78E645-7AD7-F6FC-7D7E-9549A150C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7FF677-F054-9F55-94B5-2BF069F3F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106BFD-CE99-ED8F-5D6B-A65CDD45A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587713-F9FD-636F-55C4-2FA2033DF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7E4910-C6BD-2158-0C16-22A0BBC53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206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D67044-6CC1-91E9-DDB0-9D3FBC932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3C4DC73-3ADB-99EB-751B-01367CF6853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FB4AC7-7954-61AE-183D-B2CC3318E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5F8AB9-7B0A-12F0-71E7-D16264D0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5EE15A-84DA-885B-B293-B7046B47B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D53620-ECC2-9101-F7EF-007C0E8EA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853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DD6A17-418D-C7A1-DE15-4F0A9319B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62781E-84EB-82D6-C048-21C970926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63C778-F0BC-515F-0F74-C8C383129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21A88D-A3E4-2FA7-B89C-BE6C991F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A72E89-E2A1-72B0-5006-37D4764B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978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ED17CC4-D318-E38A-C0DF-FAC64DD718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5AEC1E-287E-7B66-3CF6-3A6241891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602AFE-8DCD-99D6-AA91-3E1D48DAF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3EEFAC-A9E9-0F03-DA76-0934407F1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D13154-3A71-08B5-C8BC-5A2DE42D0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6BEAC52-5ACF-3D3B-572A-8A580134E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37A941-5FFE-60C2-6BEE-9AC32BCAF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AFB020-A6E6-720E-DBE2-5500BFFD0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07BC3-FE8E-43D9-9669-1305ABD709FE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D48124-2D2C-AC0D-095E-64ECF7C5CC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2BBDD3-DA8B-B4C2-2786-B51A86623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036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BEA6AB8-3459-4522-53F5-7C1423053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999548" y="0"/>
            <a:ext cx="13031738" cy="73342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F0FEDD4-FC25-2665-EB00-EC6FC31A263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4500" y="-584200"/>
            <a:ext cx="10476690" cy="114998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C0887F5-26E7-4DBC-8B40-F32358FB68A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8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3000"/>
                    </a14:imgEffect>
                    <a14:imgEffect>
                      <a14:saturation sat="68000"/>
                    </a14:imgEffect>
                    <a14:imgEffect>
                      <a14:brightnessContrast contrast="-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1193" y="1299919"/>
            <a:ext cx="3447438" cy="288669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C7A06AEE-6D79-F7C1-BC5F-55B52EC8956B}"/>
              </a:ext>
            </a:extLst>
          </p:cNvPr>
          <p:cNvSpPr/>
          <p:nvPr/>
        </p:nvSpPr>
        <p:spPr>
          <a:xfrm>
            <a:off x="12644430" y="2647178"/>
            <a:ext cx="6553200" cy="23145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67F283C6-905D-F7E0-356B-57BB926D0C48}"/>
              </a:ext>
            </a:extLst>
          </p:cNvPr>
          <p:cNvSpPr txBox="1">
            <a:spLocks/>
          </p:cNvSpPr>
          <p:nvPr/>
        </p:nvSpPr>
        <p:spPr>
          <a:xfrm>
            <a:off x="5639573" y="2025631"/>
            <a:ext cx="5856611" cy="109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27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시각 효과 중심 증강 기획서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473B0AB-7702-7F91-B4AE-1F49DBB7A08A}"/>
              </a:ext>
            </a:extLst>
          </p:cNvPr>
          <p:cNvSpPr/>
          <p:nvPr/>
        </p:nvSpPr>
        <p:spPr>
          <a:xfrm>
            <a:off x="6430871" y="3043673"/>
            <a:ext cx="4950241" cy="1285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제목 1">
            <a:extLst>
              <a:ext uri="{FF2B5EF4-FFF2-40B4-BE49-F238E27FC236}">
                <a16:creationId xmlns:a16="http://schemas.microsoft.com/office/drawing/2014/main" id="{6D4083D5-045D-076C-58E9-A0AD0661291A}"/>
              </a:ext>
            </a:extLst>
          </p:cNvPr>
          <p:cNvSpPr txBox="1">
            <a:spLocks/>
          </p:cNvSpPr>
          <p:nvPr/>
        </p:nvSpPr>
        <p:spPr>
          <a:xfrm>
            <a:off x="5933131" y="1030384"/>
            <a:ext cx="5534025" cy="10906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j-cs"/>
              </a:defRPr>
            </a:lvl1pPr>
          </a:lstStyle>
          <a:p>
            <a:pPr algn="r"/>
            <a:r>
              <a:rPr lang="ko-KR" altLang="en-US" sz="36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찍!찍!!찍!!! 증강 시스템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87E28EF-886F-0CFD-BEC4-8433CD23A18D}"/>
              </a:ext>
            </a:extLst>
          </p:cNvPr>
          <p:cNvCxnSpPr>
            <a:cxnSpLocks/>
          </p:cNvCxnSpPr>
          <p:nvPr/>
        </p:nvCxnSpPr>
        <p:spPr>
          <a:xfrm flipH="1">
            <a:off x="8069943" y="5602514"/>
            <a:ext cx="331116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B234270-9A17-D048-55ED-0940FB5181CB}"/>
              </a:ext>
            </a:extLst>
          </p:cNvPr>
          <p:cNvSpPr txBox="1"/>
          <p:nvPr/>
        </p:nvSpPr>
        <p:spPr>
          <a:xfrm>
            <a:off x="8331701" y="5681050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최초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작성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46DB5F-99B5-2DF5-20D0-7D648CF23BBA}"/>
              </a:ext>
            </a:extLst>
          </p:cNvPr>
          <p:cNvSpPr txBox="1"/>
          <p:nvPr/>
        </p:nvSpPr>
        <p:spPr>
          <a:xfrm>
            <a:off x="8331701" y="5908388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20261022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B9862D-8354-2B26-3755-E5875B6F5F99}"/>
              </a:ext>
            </a:extLst>
          </p:cNvPr>
          <p:cNvSpPr txBox="1"/>
          <p:nvPr/>
        </p:nvSpPr>
        <p:spPr>
          <a:xfrm>
            <a:off x="10153158" y="5681050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최종 수정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762AE9-8E80-5211-7A5B-F60FD5C0C8F2}"/>
              </a:ext>
            </a:extLst>
          </p:cNvPr>
          <p:cNvSpPr txBox="1"/>
          <p:nvPr/>
        </p:nvSpPr>
        <p:spPr>
          <a:xfrm>
            <a:off x="10153158" y="5908388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>
                <a:latin typeface="Noto Sans KR" panose="020B0200000000000000" pitchFamily="50" charset="-127"/>
                <a:ea typeface="Noto Sans KR" panose="020B0200000000000000" pitchFamily="50" charset="-127"/>
              </a:rPr>
              <a:t>20261023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5D466C-90B9-B6E4-29C9-B8988710CC87}"/>
              </a:ext>
            </a:extLst>
          </p:cNvPr>
          <p:cNvSpPr txBox="1"/>
          <p:nvPr/>
        </p:nvSpPr>
        <p:spPr>
          <a:xfrm>
            <a:off x="8331701" y="6125755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김규장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8EC428-0738-7268-75BF-5B2C8ADB4509}"/>
              </a:ext>
            </a:extLst>
          </p:cNvPr>
          <p:cNvSpPr txBox="1"/>
          <p:nvPr/>
        </p:nvSpPr>
        <p:spPr>
          <a:xfrm>
            <a:off x="10153158" y="6125755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김규장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CE1F9B-BC50-79D3-2842-5337CC455BE8}"/>
              </a:ext>
            </a:extLst>
          </p:cNvPr>
          <p:cNvSpPr txBox="1"/>
          <p:nvPr/>
        </p:nvSpPr>
        <p:spPr>
          <a:xfrm>
            <a:off x="9578387" y="3269557"/>
            <a:ext cx="18887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NKK </a:t>
            </a:r>
            <a:r>
              <a:rPr lang="ko-KR" altLang="en-US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980111-F950-876F-8A3C-CF017C1D0629}"/>
              </a:ext>
            </a:extLst>
          </p:cNvPr>
          <p:cNvSpPr txBox="1"/>
          <p:nvPr/>
        </p:nvSpPr>
        <p:spPr>
          <a:xfrm>
            <a:off x="9907458" y="3607535"/>
            <a:ext cx="155969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팀장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박송호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부팀장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정승운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팀원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김규장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이예성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95DFC10-0916-1978-C9EA-2D391273CF26}"/>
              </a:ext>
            </a:extLst>
          </p:cNvPr>
          <p:cNvCxnSpPr>
            <a:cxnSpLocks/>
          </p:cNvCxnSpPr>
          <p:nvPr/>
        </p:nvCxnSpPr>
        <p:spPr>
          <a:xfrm flipH="1">
            <a:off x="5524500" y="1075469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E522AC8-AA6F-A240-B228-D3E8956DFD76}"/>
              </a:ext>
            </a:extLst>
          </p:cNvPr>
          <p:cNvSpPr txBox="1"/>
          <p:nvPr/>
        </p:nvSpPr>
        <p:spPr>
          <a:xfrm>
            <a:off x="5452970" y="728373"/>
            <a:ext cx="6028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기맞기획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11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 기업 협약 프로젝트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‘NKK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제작</a:t>
            </a:r>
          </a:p>
        </p:txBody>
      </p:sp>
    </p:spTree>
    <p:extLst>
      <p:ext uri="{BB962C8B-B14F-4D97-AF65-F5344CB8AC3E}">
        <p14:creationId xmlns:p14="http://schemas.microsoft.com/office/powerpoint/2010/main" val="2692206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3200" b="0">
                <a:solidFill>
                  <a:srgbClr val="000000"/>
                </a:solidFill>
                <a:latin typeface="Noto Sans KR Black"/>
                <a:ea typeface="Noto Sans KR Black"/>
              </a:rPr>
              <a:t>목차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arker"/>
          <p:cNvSpPr/>
          <p:nvPr/>
        </p:nvSpPr>
        <p:spPr>
          <a:xfrm>
            <a:off x="1554480" y="1783080"/>
            <a:ext cx="109728" cy="23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09928" y="1673352"/>
            <a:ext cx="40233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2400" b="0">
                <a:solidFill>
                  <a:srgbClr val="000000"/>
                </a:solidFill>
                <a:latin typeface="Noto Sans KR Black"/>
                <a:ea typeface="Noto Sans KR Black"/>
              </a:rPr>
              <a:t>개요</a:t>
            </a:r>
            <a:r>
              <a:rPr lang="ko-KR" altLang="en-US" sz="1600" b="1">
                <a:solidFill>
                  <a:srgbClr val="000000"/>
                </a:solidFill>
                <a:latin typeface="Noto Sans KR"/>
                <a:ea typeface="Noto Sans KR"/>
              </a:rPr>
              <a:t> – 4P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12848" y="2112264"/>
            <a:ext cx="3566160" cy="111722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200"/>
              </a:spcAft>
            </a:pPr>
            <a:r>
              <a:rPr lang="en-US" altLang="ko-KR" sz="1400" b="0" dirty="0">
                <a:solidFill>
                  <a:srgbClr val="000000"/>
                </a:solidFill>
                <a:latin typeface="Noto Sans KR"/>
                <a:ea typeface="Noto Sans KR"/>
              </a:rPr>
              <a:t>1. 기획 의도  4P</a:t>
            </a:r>
          </a:p>
          <a:p>
            <a:pPr algn="l" eaLnBrk="1" latinLnBrk="0">
              <a:spcAft>
                <a:spcPts val="200"/>
              </a:spcAft>
            </a:pPr>
            <a:r>
              <a:rPr lang="en-US" altLang="ko-KR" sz="1400" b="0" dirty="0">
                <a:solidFill>
                  <a:srgbClr val="000000"/>
                </a:solidFill>
                <a:latin typeface="Noto Sans KR"/>
                <a:ea typeface="Noto Sans KR"/>
              </a:rPr>
              <a:t>2. 시각 효과 규칙  5P</a:t>
            </a:r>
          </a:p>
          <a:p>
            <a:pPr algn="l" eaLnBrk="1" latinLnBrk="0">
              <a:spcAft>
                <a:spcPts val="200"/>
              </a:spcAft>
            </a:pPr>
            <a:r>
              <a:rPr lang="en-US" altLang="ko-KR" sz="1400" b="0" dirty="0">
                <a:solidFill>
                  <a:srgbClr val="000000"/>
                </a:solidFill>
                <a:latin typeface="Noto Sans KR"/>
                <a:ea typeface="Noto Sans KR"/>
              </a:rPr>
              <a:t>3. 연출 방식  6P</a:t>
            </a:r>
          </a:p>
        </p:txBody>
      </p:sp>
      <p:sp>
        <p:nvSpPr>
          <p:cNvPr id="7" name="Marker"/>
          <p:cNvSpPr/>
          <p:nvPr/>
        </p:nvSpPr>
        <p:spPr>
          <a:xfrm>
            <a:off x="5760720" y="1783080"/>
            <a:ext cx="109728" cy="23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16168" y="1673352"/>
            <a:ext cx="4023360" cy="4247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2400" b="0">
                <a:solidFill>
                  <a:srgbClr val="000000"/>
                </a:solidFill>
                <a:latin typeface="Noto Sans KR Black"/>
                <a:ea typeface="Noto Sans KR Black"/>
              </a:rPr>
              <a:t>증강 구성</a:t>
            </a:r>
            <a:r>
              <a:rPr lang="ko-KR" altLang="en-US" sz="1600" b="1">
                <a:solidFill>
                  <a:srgbClr val="000000"/>
                </a:solidFill>
                <a:latin typeface="Noto Sans KR"/>
                <a:ea typeface="Noto Sans KR"/>
              </a:rPr>
              <a:t> – 7P</a:t>
            </a:r>
            <a:endParaRPr lang="ko-KR" altLang="en-US" sz="2400" b="0">
              <a:solidFill>
                <a:srgbClr val="000000"/>
              </a:solidFill>
              <a:latin typeface="Noto Sans KR Black"/>
              <a:ea typeface="Noto Sans KR Black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19088" y="2112264"/>
            <a:ext cx="3566160" cy="10789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200"/>
              </a:spcAft>
            </a:pPr>
            <a:r>
              <a:rPr lang="ko-KR" altLang="en-US" sz="1400" b="0">
                <a:solidFill>
                  <a:srgbClr val="000000"/>
                </a:solidFill>
                <a:latin typeface="Noto Sans KR"/>
                <a:ea typeface="Noto Sans KR"/>
              </a:rPr>
              <a:t>1. 구성 · 등급 분포  7P</a:t>
            </a:r>
          </a:p>
          <a:p>
            <a:pPr algn="l" eaLnBrk="1" latinLnBrk="0">
              <a:spcAft>
                <a:spcPts val="200"/>
              </a:spcAft>
            </a:pPr>
            <a:r>
              <a:rPr lang="ko-KR" altLang="en-US" sz="1400" b="0">
                <a:solidFill>
                  <a:srgbClr val="000000"/>
                </a:solidFill>
                <a:latin typeface="Noto Sans KR"/>
                <a:ea typeface="Noto Sans KR"/>
              </a:rPr>
              <a:t>2. 카테고리 분류  8P</a:t>
            </a:r>
          </a:p>
          <a:p>
            <a:pPr algn="l" eaLnBrk="1" latinLnBrk="0">
              <a:spcAft>
                <a:spcPts val="200"/>
              </a:spcAft>
            </a:pPr>
            <a:r>
              <a:rPr lang="ko-KR" altLang="en-US" sz="1400" b="0">
                <a:solidFill>
                  <a:srgbClr val="000000"/>
                </a:solidFill>
                <a:latin typeface="Noto Sans KR"/>
                <a:ea typeface="Noto Sans KR"/>
              </a:rPr>
              <a:t>3. 수치 증강  9P</a:t>
            </a:r>
          </a:p>
        </p:txBody>
      </p:sp>
      <p:sp>
        <p:nvSpPr>
          <p:cNvPr id="10" name="Marker"/>
          <p:cNvSpPr/>
          <p:nvPr/>
        </p:nvSpPr>
        <p:spPr>
          <a:xfrm>
            <a:off x="1554480" y="3730752"/>
            <a:ext cx="109728" cy="23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09928" y="3621024"/>
            <a:ext cx="4023360" cy="4247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2400" b="0">
                <a:solidFill>
                  <a:srgbClr val="000000"/>
                </a:solidFill>
                <a:latin typeface="Noto Sans KR Black"/>
                <a:ea typeface="Noto Sans KR Black"/>
              </a:rPr>
              <a:t>시각 효과 증강</a:t>
            </a:r>
            <a:r>
              <a:rPr lang="ko-KR" altLang="en-US" sz="1600" b="1">
                <a:solidFill>
                  <a:srgbClr val="000000"/>
                </a:solidFill>
                <a:latin typeface="Noto Sans KR"/>
                <a:ea typeface="Noto Sans KR"/>
              </a:rPr>
              <a:t> – 10P</a:t>
            </a:r>
            <a:endParaRPr lang="ko-KR" altLang="en-US" sz="2400" b="0">
              <a:solidFill>
                <a:srgbClr val="000000"/>
              </a:solidFill>
              <a:latin typeface="Noto Sans KR Black"/>
              <a:ea typeface="Noto Sans KR Black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12848" y="4059936"/>
            <a:ext cx="3566160" cy="111722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200"/>
              </a:spcAft>
            </a:pPr>
            <a:r>
              <a:rPr lang="en-US" altLang="ko-KR" sz="1400" b="0">
                <a:solidFill>
                  <a:srgbClr val="000000"/>
                </a:solidFill>
                <a:latin typeface="Noto Sans KR"/>
                <a:ea typeface="Noto Sans KR"/>
              </a:rPr>
              <a:t>1. 타격  10P</a:t>
            </a:r>
          </a:p>
          <a:p>
            <a:pPr algn="l" eaLnBrk="1" latinLnBrk="0">
              <a:spcAft>
                <a:spcPts val="200"/>
              </a:spcAft>
            </a:pPr>
            <a:r>
              <a:rPr lang="en-US" altLang="ko-KR" sz="1400" b="0">
                <a:solidFill>
                  <a:srgbClr val="000000"/>
                </a:solidFill>
                <a:latin typeface="Noto Sans KR"/>
                <a:ea typeface="Noto Sans KR"/>
              </a:rPr>
              <a:t>2. 쥐 변신  12P</a:t>
            </a:r>
          </a:p>
          <a:p>
            <a:pPr algn="l" eaLnBrk="1" latinLnBrk="0">
              <a:spcAft>
                <a:spcPts val="200"/>
              </a:spcAft>
            </a:pPr>
            <a:r>
              <a:rPr lang="en-US" altLang="ko-KR" sz="1400" b="0">
                <a:solidFill>
                  <a:srgbClr val="000000"/>
                </a:solidFill>
                <a:latin typeface="Noto Sans KR"/>
                <a:ea typeface="Noto Sans KR"/>
              </a:rPr>
              <a:t>3. 방 이벤트  13P</a:t>
            </a:r>
          </a:p>
          <a:p>
            <a:pPr algn="l" eaLnBrk="1" latinLnBrk="0">
              <a:spcAft>
                <a:spcPts val="200"/>
              </a:spcAft>
            </a:pPr>
            <a:r>
              <a:rPr lang="en-US" altLang="ko-KR" sz="1400" b="0">
                <a:solidFill>
                  <a:srgbClr val="000000"/>
                </a:solidFill>
                <a:latin typeface="Noto Sans KR"/>
                <a:ea typeface="Noto Sans KR"/>
              </a:rPr>
              <a:t>4. 보상  16P</a:t>
            </a:r>
          </a:p>
        </p:txBody>
      </p:sp>
      <p:sp>
        <p:nvSpPr>
          <p:cNvPr id="13" name="Marker"/>
          <p:cNvSpPr/>
          <p:nvPr/>
        </p:nvSpPr>
        <p:spPr>
          <a:xfrm>
            <a:off x="5760720" y="3730752"/>
            <a:ext cx="109728" cy="23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16168" y="3621024"/>
            <a:ext cx="4023360" cy="4247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2400" b="0">
                <a:solidFill>
                  <a:srgbClr val="000000"/>
                </a:solidFill>
                <a:latin typeface="Noto Sans KR Black"/>
                <a:ea typeface="Noto Sans KR Black"/>
              </a:rPr>
              <a:t>등급 통일</a:t>
            </a:r>
            <a:r>
              <a:rPr lang="ko-KR" altLang="en-US" sz="1600" b="1">
                <a:solidFill>
                  <a:srgbClr val="000000"/>
                </a:solidFill>
                <a:latin typeface="Noto Sans KR"/>
                <a:ea typeface="Noto Sans KR"/>
              </a:rPr>
              <a:t> – 17P</a:t>
            </a:r>
            <a:endParaRPr lang="ko-KR" altLang="en-US" sz="2400" b="0">
              <a:solidFill>
                <a:srgbClr val="000000"/>
              </a:solidFill>
              <a:latin typeface="Noto Sans KR Black"/>
              <a:ea typeface="Noto Sans KR Black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4059936"/>
            <a:ext cx="3566160" cy="10789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200"/>
              </a:spcAft>
            </a:pPr>
            <a:r>
              <a:rPr lang="ko-KR" altLang="en-US" sz="1400" b="0">
                <a:solidFill>
                  <a:srgbClr val="000000"/>
                </a:solidFill>
                <a:latin typeface="Noto Sans KR"/>
                <a:ea typeface="Noto Sans KR"/>
              </a:rPr>
              <a:t>1. 판의 모습이 바뀐다  17~18P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69C4F-7865-37A1-27AD-71B312452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0742A394-D6B0-70C4-190D-0AE707D28723}"/>
              </a:ext>
            </a:extLst>
          </p:cNvPr>
          <p:cNvSpPr txBox="1"/>
          <p:nvPr/>
        </p:nvSpPr>
        <p:spPr>
          <a:xfrm>
            <a:off x="1029084" y="713232"/>
            <a:ext cx="2469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개요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- 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로그</a:t>
            </a:r>
            <a:endParaRPr lang="ko-KR" altLang="en-US" sz="3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318F2E6-55D1-41EF-9E71-C1F38FB67817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FAB8CA8-A17B-191F-04D7-CF91C9053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455911"/>
              </p:ext>
            </p:extLst>
          </p:nvPr>
        </p:nvGraphicFramePr>
        <p:xfrm>
          <a:off x="1353344" y="1646764"/>
          <a:ext cx="9485312" cy="4799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587">
                  <a:extLst>
                    <a:ext uri="{9D8B030D-6E8A-4147-A177-3AD203B41FA5}">
                      <a16:colId xmlns:a16="http://schemas.microsoft.com/office/drawing/2014/main" val="2236321220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112456859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368808714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1864867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333418050"/>
                    </a:ext>
                  </a:extLst>
                </a:gridCol>
              </a:tblGrid>
              <a:tr h="4340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순번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044406"/>
                  </a:ext>
                </a:extLst>
              </a:tr>
              <a:tr h="4340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2026-10-22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 err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김규장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문서 최초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증강 시스템 기획 초안 (시각 효과 중심)</a:t>
                      </a:r>
                      <a:b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b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endParaRPr lang="en-US" altLang="ko-KR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473536"/>
                  </a:ext>
                </a:extLst>
              </a:tr>
              <a:tr h="4340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2026-10-23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 err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김규장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구조 재정리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앞니 증강 신설 · 개요 재작성 · 7개 묶음</a:t>
                      </a:r>
                      <a:endParaRPr lang="en-US" altLang="ko-KR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461521"/>
                  </a:ext>
                </a:extLst>
              </a:tr>
              <a:tr h="4340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2026-10-23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 err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김규장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레이아웃 통일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앞니 증강 폐기 · 카드 형식 통일 · 6개 묶음</a:t>
                      </a:r>
                      <a:endParaRPr lang="en-US" altLang="ko-KR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599469"/>
                  </a:ext>
                </a:extLst>
              </a:tr>
              <a:tr h="4340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2026-10-23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 err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김규장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개요 재구성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개요 3장 재구성 · 방 이벤트 등급 기준 · 대분류 표</a:t>
                      </a:r>
                      <a:endParaRPr lang="en-US" altLang="ko-KR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233599"/>
                  </a:ext>
                </a:extLst>
              </a:tr>
              <a:tr h="4340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581830"/>
                  </a:ext>
                </a:extLst>
              </a:tr>
              <a:tr h="434093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916749"/>
                  </a:ext>
                </a:extLst>
              </a:tr>
              <a:tr h="434093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893996"/>
                  </a:ext>
                </a:extLst>
              </a:tr>
              <a:tr h="434093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341072"/>
                  </a:ext>
                </a:extLst>
              </a:tr>
            </a:tbl>
          </a:graphicData>
        </a:graphic>
      </p:graphicFrame>
      <p:sp>
        <p:nvSpPr>
          <p:cNvPr id="25" name="TextBox 3"/>
          <p:cNvSpPr txBox="1"/>
          <p:nvPr/>
        </p:nvSpPr>
        <p:spPr>
          <a:xfrm>
            <a:off x="10881360" y="6327648"/>
            <a:ext cx="548640" cy="2103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>
                <a:solidFill>
                  <a:srgbClr val="6B5E54"/>
                </a:solidFill>
                <a:latin typeface="Noto Sans KR"/>
                <a:ea typeface="Noto Sans KR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567699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기획 의도 - 고르는 순간 판이 바뀐다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327648"/>
            <a:ext cx="548640" cy="2103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>
                <a:solidFill>
                  <a:srgbClr val="6B5E54"/>
                </a:solidFill>
                <a:latin typeface="Noto Sans KR"/>
                <a:ea typeface="Noto Sans KR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572768"/>
            <a:ext cx="996696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Noto Sans KR"/>
                <a:ea typeface="Noto Sans KR"/>
              </a:rPr>
              <a:t>숫자만 오르는 증강은 고른 줄 모른다 → 증강마다 화면에 보이는 변화를 붙인다</a:t>
            </a:r>
            <a:endParaRPr sz="2300" b="1">
              <a:solidFill>
                <a:srgbClr val="000000"/>
              </a:solidFill>
              <a:latin typeface="Noto Sans KR"/>
              <a:ea typeface="Noto Sans KR"/>
            </a:endParaRPr>
          </a:p>
        </p:txBody>
      </p:sp>
      <p:pic>
        <p:nvPicPr>
          <p:cNvPr id="6" name="Picture 5" descr="_기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2286000"/>
            <a:ext cx="4297680" cy="2417445"/>
          </a:xfrm>
          <a:prstGeom prst="rect">
            <a:avLst/>
          </a:prstGeom>
          <a:ln w="9525">
            <a:solidFill>
              <a:srgbClr val="E7DFD2"/>
            </a:solidFill>
          </a:ln>
        </p:spPr>
      </p:pic>
      <p:sp>
        <p:nvSpPr>
          <p:cNvPr id="7" name="Right Arrow 6"/>
          <p:cNvSpPr/>
          <p:nvPr/>
        </p:nvSpPr>
        <p:spPr>
          <a:xfrm>
            <a:off x="5605272" y="3246120"/>
            <a:ext cx="594360" cy="320040"/>
          </a:xfrm>
          <a:prstGeom prst="rightArrow">
            <a:avLst/>
          </a:prstGeom>
          <a:solidFill>
            <a:srgbClr val="E97132"/>
          </a:solidFill>
          <a:ln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천둥 번개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286000"/>
            <a:ext cx="4297680" cy="2417445"/>
          </a:xfrm>
          <a:prstGeom prst="rect">
            <a:avLst/>
          </a:prstGeom>
          <a:ln w="9525">
            <a:solidFill>
              <a:srgbClr val="E7DFD2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1133856" y="4800600"/>
            <a:ext cx="42976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Noto Sans KR"/>
                <a:ea typeface="Noto Sans KR"/>
              </a:rPr>
              <a:t>기본 화면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800600"/>
            <a:ext cx="42976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>
                <a:solidFill>
                  <a:srgbClr val="E97132"/>
                </a:solidFill>
                <a:latin typeface="Noto Sans KR"/>
                <a:ea typeface="Noto Sans KR"/>
              </a:rPr>
              <a:t>천둥 번개 선택 후</a:t>
            </a:r>
          </a:p>
        </p:txBody>
      </p:sp>
      <p:sp>
        <p:nvSpPr>
          <p:cNvPr id="12" name="TextBox 10"/>
          <p:cNvSpPr txBox="1"/>
          <p:nvPr/>
        </p:nvSpPr>
        <p:spPr>
          <a:xfrm>
            <a:off x="1133856" y="5212080"/>
            <a:ext cx="315468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>
                <a:solidFill>
                  <a:srgbClr val="E97132"/>
                </a:solidFill>
                <a:latin typeface="Noto Sans KR"/>
                <a:ea typeface="Noto Sans KR"/>
              </a:rPr>
              <a:t>체감  </a:t>
            </a:r>
            <a:r>
              <a:rPr sz="1500" b="1">
                <a:solidFill>
                  <a:srgbClr val="000000"/>
                </a:solidFill>
                <a:latin typeface="Noto Sans KR"/>
                <a:ea typeface="Noto Sans KR"/>
              </a:rPr>
              <a:t>고른 순간 판에 바로 보인다</a:t>
            </a:r>
            <a:endParaRPr sz="1600" b="0">
              <a:solidFill>
                <a:srgbClr val="000000"/>
              </a:solidFill>
              <a:latin typeface="Noto Sans KR"/>
              <a:ea typeface="Noto Sans KR"/>
            </a:endParaRPr>
          </a:p>
          <a:p>
            <a:pPr algn="l"/>
            <a:r>
              <a:rPr sz="1150" b="0">
                <a:solidFill>
                  <a:srgbClr val="000000"/>
                </a:solidFill>
                <a:latin typeface="Noto Sans KR"/>
                <a:ea typeface="Noto Sans KR"/>
              </a:rPr>
              <a:t>숫자만 오르면 체감이 약함 → 증강 하나에 화면 변화 하나</a:t>
            </a:r>
            <a:endParaRPr sz="1600" b="0">
              <a:solidFill>
                <a:srgbClr val="000000"/>
              </a:solidFill>
              <a:latin typeface="Noto Sans KR"/>
              <a:ea typeface="Noto Sans KR"/>
            </a:endParaRPr>
          </a:p>
        </p:txBody>
      </p:sp>
      <p:sp>
        <p:nvSpPr>
          <p:cNvPr id="13" name="TextBox 10"/>
          <p:cNvSpPr txBox="1"/>
          <p:nvPr/>
        </p:nvSpPr>
        <p:spPr>
          <a:xfrm>
            <a:off x="4517136" y="5212080"/>
            <a:ext cx="315468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>
                <a:solidFill>
                  <a:srgbClr val="E97132"/>
                </a:solidFill>
                <a:latin typeface="Noto Sans KR"/>
                <a:ea typeface="Noto Sans KR"/>
              </a:rPr>
              <a:t>구분  </a:t>
            </a:r>
            <a:r>
              <a:rPr sz="1500" b="1">
                <a:solidFill>
                  <a:srgbClr val="000000"/>
                </a:solidFill>
                <a:latin typeface="Noto Sans KR"/>
                <a:ea typeface="Noto Sans KR"/>
              </a:rPr>
              <a:t>수치 10 · 시각 효과 23</a:t>
            </a:r>
            <a:endParaRPr sz="1600" b="0">
              <a:solidFill>
                <a:srgbClr val="000000"/>
              </a:solidFill>
              <a:latin typeface="Noto Sans KR"/>
              <a:ea typeface="Noto Sans KR"/>
            </a:endParaRPr>
          </a:p>
          <a:p>
            <a:pPr algn="l"/>
            <a:r>
              <a:rPr sz="1150" b="0">
                <a:solidFill>
                  <a:srgbClr val="000000"/>
                </a:solidFill>
                <a:latin typeface="Noto Sans KR"/>
                <a:ea typeface="Noto Sans KR"/>
              </a:rPr>
              <a:t>수치는 표로 빠르게, 시각 효과는 그림 카드로 크게</a:t>
            </a:r>
            <a:endParaRPr sz="1600" b="0">
              <a:solidFill>
                <a:srgbClr val="000000"/>
              </a:solidFill>
              <a:latin typeface="Noto Sans KR"/>
              <a:ea typeface="Noto Sans KR"/>
            </a:endParaRPr>
          </a:p>
        </p:txBody>
      </p:sp>
      <p:sp>
        <p:nvSpPr>
          <p:cNvPr id="14" name="TextBox 10"/>
          <p:cNvSpPr txBox="1"/>
          <p:nvPr/>
        </p:nvSpPr>
        <p:spPr>
          <a:xfrm>
            <a:off x="7900416" y="5212080"/>
            <a:ext cx="315468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>
                <a:solidFill>
                  <a:srgbClr val="E97132"/>
                </a:solidFill>
                <a:latin typeface="Noto Sans KR"/>
                <a:ea typeface="Noto Sans KR"/>
              </a:rPr>
              <a:t>기대  </a:t>
            </a:r>
            <a:r>
              <a:rPr sz="1500" b="1">
                <a:solidFill>
                  <a:srgbClr val="000000"/>
                </a:solidFill>
                <a:latin typeface="Noto Sans KR"/>
                <a:ea typeface="Noto Sans KR"/>
              </a:rPr>
              <a:t>등급이 높을수록 크게</a:t>
            </a:r>
            <a:endParaRPr sz="1600" b="0">
              <a:solidFill>
                <a:srgbClr val="000000"/>
              </a:solidFill>
              <a:latin typeface="Noto Sans KR"/>
              <a:ea typeface="Noto Sans KR"/>
            </a:endParaRPr>
          </a:p>
          <a:p>
            <a:pPr algn="l"/>
            <a:r>
              <a:rPr sz="1150" b="0">
                <a:solidFill>
                  <a:srgbClr val="000000"/>
                </a:solidFill>
                <a:latin typeface="Noto Sans KR"/>
                <a:ea typeface="Noto Sans KR"/>
              </a:rPr>
              <a:t>실버 = 한 곳  ·  골드 = 방 일부  ·  프리즘 = 방 전체</a:t>
            </a:r>
            <a:endParaRPr sz="1600" b="0">
              <a:solidFill>
                <a:srgbClr val="000000"/>
              </a:solidFill>
              <a:latin typeface="Noto Sans KR"/>
              <a:ea typeface="Noto Sans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시각 효과 규칙 - 등급이 범위를 정한다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327648"/>
            <a:ext cx="548640" cy="2103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>
                <a:solidFill>
                  <a:srgbClr val="6B5E54"/>
                </a:solidFill>
                <a:latin typeface="Noto Sans KR"/>
                <a:ea typeface="Noto Sans KR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1554480"/>
            <a:ext cx="31546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700" b="1">
                <a:solidFill>
                  <a:srgbClr val="7D8892"/>
                </a:solidFill>
                <a:latin typeface="Noto Sans KR"/>
                <a:ea typeface="Noto Sans KR"/>
              </a:rPr>
              <a:t>실버</a:t>
            </a:r>
          </a:p>
        </p:txBody>
      </p:sp>
      <p:pic>
        <p:nvPicPr>
          <p:cNvPr id="9" name="Picture 8" descr="풍선 펌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76" y="1965960"/>
            <a:ext cx="2926080" cy="1645920"/>
          </a:xfrm>
          <a:prstGeom prst="rect">
            <a:avLst/>
          </a:prstGeom>
          <a:ln w="9525">
            <a:solidFill>
              <a:srgbClr val="E7DFD2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1133856" y="3703320"/>
            <a:ext cx="3154680" cy="1280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50" b="1">
                <a:solidFill>
                  <a:srgbClr val="E97132"/>
                </a:solidFill>
                <a:latin typeface="Noto Sans KR"/>
                <a:ea typeface="Noto Sans KR"/>
              </a:rPr>
              <a:t>범위  </a:t>
            </a:r>
            <a:r>
              <a:rPr sz="1150" b="1">
                <a:solidFill>
                  <a:srgbClr val="000000"/>
                </a:solidFill>
                <a:latin typeface="Noto Sans KR"/>
                <a:ea typeface="Noto Sans KR"/>
              </a:rPr>
              <a:t>물건 · UI 한 곳</a:t>
            </a:r>
            <a:endParaRPr sz="1200" b="1">
              <a:solidFill>
                <a:srgbClr val="000000"/>
              </a:solidFill>
              <a:latin typeface="Noto Sans KR"/>
              <a:ea typeface="Noto Sans KR"/>
            </a:endParaRPr>
          </a:p>
          <a:p>
            <a:pPr algn="l"/>
            <a:r>
              <a:rPr sz="1150" b="1">
                <a:solidFill>
                  <a:srgbClr val="E97132"/>
                </a:solidFill>
                <a:latin typeface="Noto Sans KR"/>
                <a:ea typeface="Noto Sans KR"/>
              </a:rPr>
              <a:t>크기  </a:t>
            </a:r>
            <a:r>
              <a:rPr sz="1150" b="1">
                <a:solidFill>
                  <a:srgbClr val="000000"/>
                </a:solidFill>
                <a:latin typeface="Noto Sans KR"/>
                <a:ea typeface="Noto Sans KR"/>
              </a:rPr>
              <a:t>쥐 1배 이하 · 카메라 없음</a:t>
            </a:r>
            <a:endParaRPr sz="1200" b="1">
              <a:solidFill>
                <a:srgbClr val="000000"/>
              </a:solidFill>
              <a:latin typeface="Noto Sans KR"/>
              <a:ea typeface="Noto Sans KR"/>
            </a:endParaRPr>
          </a:p>
          <a:p>
            <a:pPr algn="l"/>
            <a:r>
              <a:rPr sz="1150" b="1">
                <a:solidFill>
                  <a:srgbClr val="E97132"/>
                </a:solidFill>
                <a:latin typeface="Noto Sans KR"/>
                <a:ea typeface="Noto Sans KR"/>
              </a:rPr>
              <a:t>상시  </a:t>
            </a:r>
            <a:r>
              <a:rPr sz="1150" b="1">
                <a:solidFill>
                  <a:srgbClr val="000000"/>
                </a:solidFill>
                <a:latin typeface="Noto Sans KR"/>
                <a:ea typeface="Noto Sans KR"/>
              </a:rPr>
              <a:t>UI · 물건 위 표시 1개</a:t>
            </a:r>
            <a:endParaRPr sz="1200" b="1">
              <a:solidFill>
                <a:srgbClr val="000000"/>
              </a:solidFill>
              <a:latin typeface="Noto Sans KR"/>
              <a:ea typeface="Noto Sans KR"/>
            </a:endParaRPr>
          </a:p>
          <a:p>
            <a:pPr algn="l"/>
            <a:r>
              <a:rPr sz="1150" b="1">
                <a:solidFill>
                  <a:srgbClr val="E97132"/>
                </a:solidFill>
                <a:latin typeface="Noto Sans KR"/>
                <a:ea typeface="Noto Sans KR"/>
              </a:rPr>
              <a:t>발동  </a:t>
            </a:r>
            <a:r>
              <a:rPr sz="1150" b="1">
                <a:solidFill>
                  <a:srgbClr val="000000"/>
                </a:solidFill>
                <a:latin typeface="Noto Sans KR"/>
                <a:ea typeface="Noto Sans KR"/>
              </a:rPr>
              <a:t>작은 폭발 · 글자 0.5초</a:t>
            </a:r>
            <a:endParaRPr sz="1200" b="1">
              <a:solidFill>
                <a:srgbClr val="000000"/>
              </a:solidFill>
              <a:latin typeface="Noto Sans KR"/>
              <a:ea typeface="Noto Sans KR"/>
            </a:endParaRPr>
          </a:p>
          <a:p>
            <a:pPr algn="l"/>
            <a:r>
              <a:rPr sz="1150" b="1">
                <a:solidFill>
                  <a:srgbClr val="E97132"/>
                </a:solidFill>
                <a:latin typeface="Noto Sans KR"/>
                <a:ea typeface="Noto Sans KR"/>
              </a:rPr>
              <a:t>예  </a:t>
            </a:r>
            <a:r>
              <a:rPr sz="1150" b="1">
                <a:solidFill>
                  <a:srgbClr val="000000"/>
                </a:solidFill>
                <a:latin typeface="Noto Sans KR"/>
                <a:ea typeface="Noto Sans KR"/>
              </a:rPr>
              <a:t>클릭 폭격 · 잭팟 · 모래시계 · 미다스</a:t>
            </a:r>
            <a:endParaRPr sz="1200" b="1">
              <a:solidFill>
                <a:srgbClr val="000000"/>
              </a:solidFill>
              <a:latin typeface="Noto Sans KR"/>
              <a:ea typeface="Noto Sans K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17136" y="1554480"/>
            <a:ext cx="31546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700" b="1">
                <a:solidFill>
                  <a:srgbClr val="C89210"/>
                </a:solidFill>
                <a:latin typeface="Noto Sans KR"/>
                <a:ea typeface="Noto Sans KR"/>
              </a:rPr>
              <a:t>골드</a:t>
            </a:r>
          </a:p>
        </p:txBody>
      </p:sp>
      <p:pic>
        <p:nvPicPr>
          <p:cNvPr id="12" name="Picture 11" descr="천둥 번개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856" y="1965960"/>
            <a:ext cx="2926080" cy="1645920"/>
          </a:xfrm>
          <a:prstGeom prst="rect">
            <a:avLst/>
          </a:prstGeom>
          <a:ln w="9525">
            <a:solidFill>
              <a:srgbClr val="E7DFD2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4517136" y="3703320"/>
            <a:ext cx="3154680" cy="1280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50" b="1">
                <a:solidFill>
                  <a:srgbClr val="E97132"/>
                </a:solidFill>
                <a:latin typeface="Noto Sans KR"/>
                <a:ea typeface="Noto Sans KR"/>
              </a:rPr>
              <a:t>범위  </a:t>
            </a:r>
            <a:r>
              <a:rPr sz="1150" b="1">
                <a:solidFill>
                  <a:srgbClr val="000000"/>
                </a:solidFill>
                <a:latin typeface="Noto Sans KR"/>
                <a:ea typeface="Noto Sans KR"/>
              </a:rPr>
              <a:t>쥐 무리 · 방 위쪽 일부</a:t>
            </a:r>
            <a:endParaRPr sz="1200" b="1">
              <a:solidFill>
                <a:srgbClr val="000000"/>
              </a:solidFill>
              <a:latin typeface="Noto Sans KR"/>
              <a:ea typeface="Noto Sans KR"/>
            </a:endParaRPr>
          </a:p>
          <a:p>
            <a:pPr algn="l"/>
            <a:r>
              <a:rPr sz="1150" b="1">
                <a:solidFill>
                  <a:srgbClr val="E97132"/>
                </a:solidFill>
                <a:latin typeface="Noto Sans KR"/>
                <a:ea typeface="Noto Sans KR"/>
              </a:rPr>
              <a:t>크기  </a:t>
            </a:r>
            <a:r>
              <a:rPr sz="1150" b="1">
                <a:solidFill>
                  <a:srgbClr val="000000"/>
                </a:solidFill>
                <a:latin typeface="Noto Sans KR"/>
                <a:ea typeface="Noto Sans KR"/>
              </a:rPr>
              <a:t>쥐 1~2배 · 짧은 흔들림</a:t>
            </a:r>
            <a:endParaRPr sz="1200" b="1">
              <a:solidFill>
                <a:srgbClr val="000000"/>
              </a:solidFill>
              <a:latin typeface="Noto Sans KR"/>
              <a:ea typeface="Noto Sans KR"/>
            </a:endParaRPr>
          </a:p>
          <a:p>
            <a:pPr algn="l"/>
            <a:r>
              <a:rPr sz="1150" b="1">
                <a:solidFill>
                  <a:srgbClr val="E97132"/>
                </a:solidFill>
                <a:latin typeface="Noto Sans KR"/>
                <a:ea typeface="Noto Sans KR"/>
              </a:rPr>
              <a:t>상시  </a:t>
            </a:r>
            <a:r>
              <a:rPr sz="1150" b="1">
                <a:solidFill>
                  <a:srgbClr val="000000"/>
                </a:solidFill>
                <a:latin typeface="Noto Sans KR"/>
                <a:ea typeface="Noto Sans KR"/>
              </a:rPr>
              <a:t>쥐 몸 · 천장 표시</a:t>
            </a:r>
            <a:endParaRPr sz="1200" b="1">
              <a:solidFill>
                <a:srgbClr val="000000"/>
              </a:solidFill>
              <a:latin typeface="Noto Sans KR"/>
              <a:ea typeface="Noto Sans KR"/>
            </a:endParaRPr>
          </a:p>
          <a:p>
            <a:pPr algn="l"/>
            <a:r>
              <a:rPr sz="1150" b="1">
                <a:solidFill>
                  <a:srgbClr val="E97132"/>
                </a:solidFill>
                <a:latin typeface="Noto Sans KR"/>
                <a:ea typeface="Noto Sans KR"/>
              </a:rPr>
              <a:t>발동  </a:t>
            </a:r>
            <a:r>
              <a:rPr sz="1150" b="1">
                <a:solidFill>
                  <a:srgbClr val="000000"/>
                </a:solidFill>
                <a:latin typeface="Noto Sans KR"/>
                <a:ea typeface="Noto Sans KR"/>
              </a:rPr>
              <a:t>방 일부 이펙트</a:t>
            </a:r>
            <a:endParaRPr sz="1200" b="1">
              <a:solidFill>
                <a:srgbClr val="000000"/>
              </a:solidFill>
              <a:latin typeface="Noto Sans KR"/>
              <a:ea typeface="Noto Sans KR"/>
            </a:endParaRPr>
          </a:p>
          <a:p>
            <a:pPr algn="l"/>
            <a:r>
              <a:rPr sz="1150" b="1">
                <a:solidFill>
                  <a:srgbClr val="E97132"/>
                </a:solidFill>
                <a:latin typeface="Noto Sans KR"/>
                <a:ea typeface="Noto Sans KR"/>
              </a:rPr>
              <a:t>예  </a:t>
            </a:r>
            <a:r>
              <a:rPr sz="1150" b="1">
                <a:solidFill>
                  <a:srgbClr val="000000"/>
                </a:solidFill>
                <a:latin typeface="Noto Sans KR"/>
                <a:ea typeface="Noto Sans KR"/>
              </a:rPr>
              <a:t>다다다다 · 천둥 번개 · 치즈 비</a:t>
            </a:r>
            <a:endParaRPr sz="1200" b="1">
              <a:solidFill>
                <a:srgbClr val="000000"/>
              </a:solidFill>
              <a:latin typeface="Noto Sans KR"/>
              <a:ea typeface="Noto Sans K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00416" y="1554480"/>
            <a:ext cx="31546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700" b="1">
                <a:solidFill>
                  <a:srgbClr val="9B5FD0"/>
                </a:solidFill>
                <a:latin typeface="Noto Sans KR"/>
                <a:ea typeface="Noto Sans KR"/>
              </a:rPr>
              <a:t>프리즘</a:t>
            </a:r>
          </a:p>
        </p:txBody>
      </p:sp>
      <p:pic>
        <p:nvPicPr>
          <p:cNvPr id="15" name="Picture 14" descr="거울방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6136" y="1965960"/>
            <a:ext cx="2926080" cy="1645920"/>
          </a:xfrm>
          <a:prstGeom prst="rect">
            <a:avLst/>
          </a:prstGeom>
          <a:ln w="9525">
            <a:solidFill>
              <a:srgbClr val="E7DFD2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7900416" y="3703320"/>
            <a:ext cx="3154680" cy="1280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50" b="1">
                <a:solidFill>
                  <a:srgbClr val="E97132"/>
                </a:solidFill>
                <a:latin typeface="Noto Sans KR"/>
                <a:ea typeface="Noto Sans KR"/>
              </a:rPr>
              <a:t>범위  </a:t>
            </a:r>
            <a:r>
              <a:rPr sz="1150" b="1">
                <a:solidFill>
                  <a:srgbClr val="000000"/>
                </a:solidFill>
                <a:latin typeface="Noto Sans KR"/>
                <a:ea typeface="Noto Sans KR"/>
              </a:rPr>
              <a:t>방 전체 · 화면 어디서나</a:t>
            </a:r>
            <a:endParaRPr sz="1200" b="1">
              <a:solidFill>
                <a:srgbClr val="000000"/>
              </a:solidFill>
              <a:latin typeface="Noto Sans KR"/>
              <a:ea typeface="Noto Sans KR"/>
            </a:endParaRPr>
          </a:p>
          <a:p>
            <a:pPr algn="l"/>
            <a:r>
              <a:rPr sz="1150" b="1">
                <a:solidFill>
                  <a:srgbClr val="E97132"/>
                </a:solidFill>
                <a:latin typeface="Noto Sans KR"/>
                <a:ea typeface="Noto Sans KR"/>
              </a:rPr>
              <a:t>크기  </a:t>
            </a:r>
            <a:r>
              <a:rPr sz="1150" b="1">
                <a:solidFill>
                  <a:srgbClr val="000000"/>
                </a:solidFill>
                <a:latin typeface="Noto Sans KR"/>
                <a:ea typeface="Noto Sans KR"/>
              </a:rPr>
              <a:t>쥐 1.8~6배 · 예고 + 강한 흔들림</a:t>
            </a:r>
            <a:endParaRPr sz="1200" b="1">
              <a:solidFill>
                <a:srgbClr val="000000"/>
              </a:solidFill>
              <a:latin typeface="Noto Sans KR"/>
              <a:ea typeface="Noto Sans KR"/>
            </a:endParaRPr>
          </a:p>
          <a:p>
            <a:pPr algn="l"/>
            <a:r>
              <a:rPr sz="1150" b="1">
                <a:solidFill>
                  <a:srgbClr val="E97132"/>
                </a:solidFill>
                <a:latin typeface="Noto Sans KR"/>
                <a:ea typeface="Noto Sans KR"/>
              </a:rPr>
              <a:t>상시  </a:t>
            </a:r>
            <a:r>
              <a:rPr sz="1150" b="1">
                <a:solidFill>
                  <a:srgbClr val="000000"/>
                </a:solidFill>
                <a:latin typeface="Noto Sans KR"/>
                <a:ea typeface="Noto Sans KR"/>
              </a:rPr>
              <a:t>방 바닥 표시</a:t>
            </a:r>
            <a:endParaRPr sz="1200" b="1">
              <a:solidFill>
                <a:srgbClr val="000000"/>
              </a:solidFill>
              <a:latin typeface="Noto Sans KR"/>
              <a:ea typeface="Noto Sans KR"/>
            </a:endParaRPr>
          </a:p>
          <a:p>
            <a:pPr algn="l"/>
            <a:r>
              <a:rPr sz="1150" b="1">
                <a:solidFill>
                  <a:srgbClr val="E97132"/>
                </a:solidFill>
                <a:latin typeface="Noto Sans KR"/>
                <a:ea typeface="Noto Sans KR"/>
              </a:rPr>
              <a:t>발동  </a:t>
            </a:r>
            <a:r>
              <a:rPr sz="1150" b="1">
                <a:solidFill>
                  <a:srgbClr val="000000"/>
                </a:solidFill>
                <a:latin typeface="Noto Sans KR"/>
                <a:ea typeface="Noto Sans KR"/>
              </a:rPr>
              <a:t>큰 소환물 · 거대화</a:t>
            </a:r>
            <a:endParaRPr sz="1200" b="1">
              <a:solidFill>
                <a:srgbClr val="000000"/>
              </a:solidFill>
              <a:latin typeface="Noto Sans KR"/>
              <a:ea typeface="Noto Sans KR"/>
            </a:endParaRPr>
          </a:p>
          <a:p>
            <a:pPr algn="l"/>
            <a:r>
              <a:rPr sz="1150" b="1">
                <a:solidFill>
                  <a:srgbClr val="E97132"/>
                </a:solidFill>
                <a:latin typeface="Noto Sans KR"/>
                <a:ea typeface="Noto Sans KR"/>
              </a:rPr>
              <a:t>예  </a:t>
            </a:r>
            <a:r>
              <a:rPr sz="1150" b="1">
                <a:solidFill>
                  <a:srgbClr val="000000"/>
                </a:solidFill>
                <a:latin typeface="Noto Sans KR"/>
                <a:ea typeface="Noto Sans KR"/>
              </a:rPr>
              <a:t>운석 · 토네이도 · 거대 쥐 출현</a:t>
            </a:r>
            <a:endParaRPr sz="1200" b="1">
              <a:solidFill>
                <a:srgbClr val="000000"/>
              </a:solidFill>
              <a:latin typeface="Noto Sans KR"/>
              <a:ea typeface="Noto Sans KR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33856" y="5303520"/>
            <a:ext cx="9930384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>
                <a:solidFill>
                  <a:srgbClr val="6B5E54"/>
                </a:solidFill>
                <a:latin typeface="Noto Sans KR"/>
                <a:ea typeface="Noto Sans KR"/>
              </a:rPr>
              <a:t>수치 증강 10개는 등급과 관계없이 화면 변화 없음 → 시각 효과는 실버부터 시작 (브론즈 시각 효과 없음)</a:t>
            </a:r>
          </a:p>
          <a:p>
            <a:pPr algn="l"/>
            <a:r>
              <a:rPr sz="1200" b="0">
                <a:solidFill>
                  <a:srgbClr val="6B5E54"/>
                </a:solidFill>
                <a:latin typeface="Noto Sans KR"/>
                <a:ea typeface="Noto Sans KR"/>
              </a:rPr>
              <a:t>덮개 투명도 30% 이하  ·  카메라는 한 번에 하나, 필살기 컷신 우선  ·  글자는 굵은 검정 테두리, 같은 자리 최대 3개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시각 연출 - 5가지 방식과 쓰는 증강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327648"/>
            <a:ext cx="548640" cy="2103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>
                <a:solidFill>
                  <a:srgbClr val="6B5E54"/>
                </a:solidFill>
                <a:latin typeface="Noto Sans KR"/>
                <a:ea typeface="Noto Sans KR"/>
              </a:rPr>
              <a:t>6</a:t>
            </a:r>
          </a:p>
        </p:txBody>
      </p:sp>
      <p:sp>
        <p:nvSpPr>
          <p:cNvPr id="5" name="Card"/>
          <p:cNvSpPr/>
          <p:nvPr/>
        </p:nvSpPr>
        <p:spPr>
          <a:xfrm>
            <a:off x="1133856" y="1572768"/>
            <a:ext cx="3200400" cy="2212848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25296" y="1645920"/>
            <a:ext cx="3017520" cy="310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E97132"/>
                </a:solidFill>
                <a:latin typeface="Noto Sans KR"/>
                <a:ea typeface="Noto Sans KR"/>
              </a:rPr>
              <a:t>쥐 모션</a:t>
            </a:r>
          </a:p>
        </p:txBody>
      </p:sp>
      <p:pic>
        <p:nvPicPr>
          <p:cNvPr id="7" name="Picture 6" descr="쥐 탑 쌓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776" y="2057400"/>
            <a:ext cx="2194560" cy="1234439"/>
          </a:xfrm>
          <a:prstGeom prst="rect">
            <a:avLst/>
          </a:prstGeom>
          <a:ln w="9525">
            <a:solidFill>
              <a:srgbClr val="E7DFD2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225296" y="3346704"/>
            <a:ext cx="301752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>
                <a:solidFill>
                  <a:srgbClr val="E97132"/>
                </a:solidFill>
                <a:latin typeface="Noto Sans KR"/>
                <a:ea typeface="Noto Sans KR"/>
              </a:rPr>
              <a:t>증강  </a:t>
            </a:r>
            <a:r>
              <a:rPr sz="1000" b="0">
                <a:solidFill>
                  <a:srgbClr val="000000"/>
                </a:solidFill>
                <a:latin typeface="Noto Sans KR"/>
                <a:ea typeface="Noto Sans KR"/>
              </a:rPr>
              <a:t>거대 쥐 · 분신 · 쥐 탑 · 다다다다</a:t>
            </a:r>
          </a:p>
          <a:p>
            <a:pPr algn="l"/>
            <a:r>
              <a:rPr sz="1000" b="1">
                <a:solidFill>
                  <a:srgbClr val="E97132"/>
                </a:solidFill>
                <a:latin typeface="Noto Sans KR"/>
                <a:ea typeface="Noto Sans KR"/>
              </a:rPr>
              <a:t>규칙  </a:t>
            </a:r>
            <a:r>
              <a:rPr sz="1000" b="0">
                <a:solidFill>
                  <a:srgbClr val="000000"/>
                </a:solidFill>
                <a:latin typeface="Noto Sans KR"/>
                <a:ea typeface="Noto Sans KR"/>
              </a:rPr>
              <a:t>8~12프레임, 끝나면 원래 걷기</a:t>
            </a:r>
          </a:p>
        </p:txBody>
      </p:sp>
      <p:sp>
        <p:nvSpPr>
          <p:cNvPr id="9" name="Card"/>
          <p:cNvSpPr/>
          <p:nvPr/>
        </p:nvSpPr>
        <p:spPr>
          <a:xfrm>
            <a:off x="4498848" y="1572768"/>
            <a:ext cx="3200400" cy="2212848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645920"/>
            <a:ext cx="3017520" cy="310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E97132"/>
                </a:solidFill>
                <a:latin typeface="Noto Sans KR"/>
                <a:ea typeface="Noto Sans KR"/>
              </a:rPr>
              <a:t>소환물</a:t>
            </a:r>
          </a:p>
        </p:txBody>
      </p:sp>
      <p:pic>
        <p:nvPicPr>
          <p:cNvPr id="11" name="Picture 10" descr="장난감 기차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2057400"/>
            <a:ext cx="2194560" cy="1234439"/>
          </a:xfrm>
          <a:prstGeom prst="rect">
            <a:avLst/>
          </a:prstGeom>
          <a:ln w="9525">
            <a:solidFill>
              <a:srgbClr val="E7DFD2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4590288" y="3346704"/>
            <a:ext cx="301752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>
                <a:solidFill>
                  <a:srgbClr val="E97132"/>
                </a:solidFill>
                <a:latin typeface="Noto Sans KR"/>
                <a:ea typeface="Noto Sans KR"/>
              </a:rPr>
              <a:t>증강  </a:t>
            </a:r>
            <a:r>
              <a:rPr sz="1000" b="0">
                <a:solidFill>
                  <a:srgbClr val="000000"/>
                </a:solidFill>
                <a:latin typeface="Noto Sans KR"/>
                <a:ea typeface="Noto Sans KR"/>
              </a:rPr>
              <a:t>기차 · 운석 · 토네이도 · 치즈 칼날</a:t>
            </a:r>
          </a:p>
          <a:p>
            <a:pPr algn="l"/>
            <a:r>
              <a:rPr sz="1000" b="1">
                <a:solidFill>
                  <a:srgbClr val="E97132"/>
                </a:solidFill>
                <a:latin typeface="Noto Sans KR"/>
                <a:ea typeface="Noto Sans KR"/>
              </a:rPr>
              <a:t>규칙  </a:t>
            </a:r>
            <a:r>
              <a:rPr sz="1000" b="0">
                <a:solidFill>
                  <a:srgbClr val="000000"/>
                </a:solidFill>
                <a:latin typeface="Noto Sans KR"/>
                <a:ea typeface="Noto Sans KR"/>
              </a:rPr>
              <a:t>쥐 2~8배, 화면 밖→안→밖, 그림자</a:t>
            </a:r>
          </a:p>
        </p:txBody>
      </p:sp>
      <p:sp>
        <p:nvSpPr>
          <p:cNvPr id="13" name="Card"/>
          <p:cNvSpPr/>
          <p:nvPr/>
        </p:nvSpPr>
        <p:spPr>
          <a:xfrm>
            <a:off x="7863840" y="1572768"/>
            <a:ext cx="3200400" cy="2212848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79" y="1645920"/>
            <a:ext cx="3017520" cy="310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E97132"/>
                </a:solidFill>
                <a:latin typeface="Noto Sans KR"/>
                <a:ea typeface="Noto Sans KR"/>
              </a:rPr>
              <a:t>물건 변화</a:t>
            </a:r>
          </a:p>
        </p:txBody>
      </p:sp>
      <p:pic>
        <p:nvPicPr>
          <p:cNvPr id="15" name="Picture 14" descr="풍선 펌프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2057400"/>
            <a:ext cx="2194560" cy="1234439"/>
          </a:xfrm>
          <a:prstGeom prst="rect">
            <a:avLst/>
          </a:prstGeom>
          <a:ln w="9525">
            <a:solidFill>
              <a:srgbClr val="E7DFD2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7955279" y="3346704"/>
            <a:ext cx="301752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>
                <a:solidFill>
                  <a:srgbClr val="E97132"/>
                </a:solidFill>
                <a:latin typeface="Noto Sans KR"/>
                <a:ea typeface="Noto Sans KR"/>
              </a:rPr>
              <a:t>증강  </a:t>
            </a:r>
            <a:r>
              <a:rPr sz="1000" b="0">
                <a:solidFill>
                  <a:srgbClr val="000000"/>
                </a:solidFill>
                <a:latin typeface="Noto Sans KR"/>
                <a:ea typeface="Noto Sans KR"/>
              </a:rPr>
              <a:t>찌릿찌릿 · 미다스 · 연쇄 붕괴</a:t>
            </a:r>
          </a:p>
          <a:p>
            <a:pPr algn="l"/>
            <a:r>
              <a:rPr sz="1000" b="1">
                <a:solidFill>
                  <a:srgbClr val="E97132"/>
                </a:solidFill>
                <a:latin typeface="Noto Sans KR"/>
                <a:ea typeface="Noto Sans KR"/>
              </a:rPr>
              <a:t>규칙  </a:t>
            </a:r>
            <a:r>
              <a:rPr sz="1000" b="0">
                <a:solidFill>
                  <a:srgbClr val="000000"/>
                </a:solidFill>
                <a:latin typeface="Noto Sans KR"/>
                <a:ea typeface="Noto Sans KR"/>
              </a:rPr>
              <a:t>0.2~2초 번쩍 · 흔들 → 파편</a:t>
            </a:r>
          </a:p>
        </p:txBody>
      </p:sp>
      <p:sp>
        <p:nvSpPr>
          <p:cNvPr id="17" name="Card"/>
          <p:cNvSpPr/>
          <p:nvPr/>
        </p:nvSpPr>
        <p:spPr>
          <a:xfrm>
            <a:off x="1133856" y="3931920"/>
            <a:ext cx="3200400" cy="2212848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25296" y="4005072"/>
            <a:ext cx="3017520" cy="310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E97132"/>
                </a:solidFill>
                <a:latin typeface="Noto Sans KR"/>
                <a:ea typeface="Noto Sans KR"/>
              </a:rPr>
              <a:t>카메라</a:t>
            </a:r>
          </a:p>
        </p:txBody>
      </p:sp>
      <p:pic>
        <p:nvPicPr>
          <p:cNvPr id="19" name="Picture 18" descr="슬로모션 피니시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6776" y="4416552"/>
            <a:ext cx="2194560" cy="1234439"/>
          </a:xfrm>
          <a:prstGeom prst="rect">
            <a:avLst/>
          </a:prstGeom>
          <a:ln w="9525">
            <a:solidFill>
              <a:srgbClr val="E7DFD2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1225296" y="5705856"/>
            <a:ext cx="301752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dirty="0" err="1">
                <a:solidFill>
                  <a:srgbClr val="E97132"/>
                </a:solidFill>
                <a:latin typeface="Noto Sans KR"/>
                <a:ea typeface="Noto Sans KR"/>
              </a:rPr>
              <a:t>증강</a:t>
            </a:r>
            <a:r>
              <a:rPr sz="1000" b="1" dirty="0">
                <a:solidFill>
                  <a:srgbClr val="E97132"/>
                </a:solidFill>
                <a:latin typeface="Noto Sans KR"/>
                <a:ea typeface="Noto Sans KR"/>
              </a:rPr>
              <a:t>  </a:t>
            </a:r>
            <a:r>
              <a:rPr sz="1000" b="0" dirty="0" err="1">
                <a:solidFill>
                  <a:srgbClr val="000000"/>
                </a:solidFill>
                <a:latin typeface="Noto Sans KR"/>
                <a:ea typeface="Noto Sans KR"/>
              </a:rPr>
              <a:t>거대</a:t>
            </a:r>
            <a:r>
              <a:rPr sz="1000" b="0" dirty="0">
                <a:solidFill>
                  <a:srgbClr val="000000"/>
                </a:solidFill>
                <a:latin typeface="Noto Sans KR"/>
                <a:ea typeface="Noto Sans KR"/>
              </a:rPr>
              <a:t> 쥐 · </a:t>
            </a:r>
            <a:r>
              <a:rPr sz="1000" b="0" dirty="0" err="1">
                <a:solidFill>
                  <a:srgbClr val="000000"/>
                </a:solidFill>
                <a:latin typeface="Noto Sans KR"/>
                <a:ea typeface="Noto Sans KR"/>
              </a:rPr>
              <a:t>운석</a:t>
            </a:r>
            <a:r>
              <a:rPr sz="1000" b="0" dirty="0">
                <a:solidFill>
                  <a:srgbClr val="000000"/>
                </a:solidFill>
                <a:latin typeface="Noto Sans KR"/>
                <a:ea typeface="Noto Sans KR"/>
              </a:rPr>
              <a:t> · </a:t>
            </a:r>
            <a:r>
              <a:rPr sz="1000" b="0" dirty="0" err="1">
                <a:solidFill>
                  <a:srgbClr val="000000"/>
                </a:solidFill>
                <a:latin typeface="Noto Sans KR"/>
                <a:ea typeface="Noto Sans KR"/>
              </a:rPr>
              <a:t>연쇄</a:t>
            </a:r>
            <a:r>
              <a:rPr sz="1000" b="0" dirty="0">
                <a:solidFill>
                  <a:srgbClr val="000000"/>
                </a:solidFill>
                <a:latin typeface="Noto Sans KR"/>
                <a:ea typeface="Noto Sans KR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Noto Sans KR"/>
                <a:ea typeface="Noto Sans KR"/>
              </a:rPr>
              <a:t>붕괴</a:t>
            </a:r>
            <a:r>
              <a:rPr sz="1000" b="0" dirty="0">
                <a:solidFill>
                  <a:srgbClr val="000000"/>
                </a:solidFill>
                <a:latin typeface="Noto Sans KR"/>
                <a:ea typeface="Noto Sans KR"/>
              </a:rPr>
              <a:t> · </a:t>
            </a:r>
            <a:r>
              <a:rPr sz="1000" b="0" dirty="0" err="1">
                <a:solidFill>
                  <a:srgbClr val="000000"/>
                </a:solidFill>
                <a:latin typeface="Noto Sans KR"/>
                <a:ea typeface="Noto Sans KR"/>
              </a:rPr>
              <a:t>승급</a:t>
            </a:r>
            <a:r>
              <a:rPr sz="1000" b="0" dirty="0">
                <a:solidFill>
                  <a:srgbClr val="000000"/>
                </a:solidFill>
                <a:latin typeface="Noto Sans KR"/>
                <a:ea typeface="Noto Sans KR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Noto Sans KR"/>
                <a:ea typeface="Noto Sans KR"/>
              </a:rPr>
              <a:t>폭죽</a:t>
            </a:r>
            <a:endParaRPr sz="1000" b="0" dirty="0">
              <a:solidFill>
                <a:srgbClr val="000000"/>
              </a:solidFill>
              <a:latin typeface="Noto Sans KR"/>
              <a:ea typeface="Noto Sans KR"/>
            </a:endParaRPr>
          </a:p>
          <a:p>
            <a:pPr algn="l"/>
            <a:r>
              <a:rPr sz="1000" b="1" dirty="0" err="1">
                <a:solidFill>
                  <a:srgbClr val="E97132"/>
                </a:solidFill>
                <a:latin typeface="Noto Sans KR"/>
                <a:ea typeface="Noto Sans KR"/>
              </a:rPr>
              <a:t>규칙</a:t>
            </a:r>
            <a:r>
              <a:rPr sz="1000" b="1" dirty="0">
                <a:solidFill>
                  <a:srgbClr val="E97132"/>
                </a:solidFill>
                <a:latin typeface="Noto Sans KR"/>
                <a:ea typeface="Noto Sans KR"/>
              </a:rPr>
              <a:t>  </a:t>
            </a:r>
            <a:r>
              <a:rPr sz="1000" b="0" dirty="0" err="1">
                <a:solidFill>
                  <a:srgbClr val="000000"/>
                </a:solidFill>
                <a:latin typeface="Noto Sans KR"/>
                <a:ea typeface="Noto Sans KR"/>
              </a:rPr>
              <a:t>흔들림</a:t>
            </a:r>
            <a:r>
              <a:rPr sz="1000" b="0" dirty="0">
                <a:solidFill>
                  <a:srgbClr val="000000"/>
                </a:solidFill>
                <a:latin typeface="Noto Sans KR"/>
                <a:ea typeface="Noto Sans KR"/>
              </a:rPr>
              <a:t> 0.2초 · 줌 1.3배 · 한 </a:t>
            </a:r>
            <a:r>
              <a:rPr sz="1000" b="0" dirty="0" err="1">
                <a:solidFill>
                  <a:srgbClr val="000000"/>
                </a:solidFill>
                <a:latin typeface="Noto Sans KR"/>
                <a:ea typeface="Noto Sans KR"/>
              </a:rPr>
              <a:t>번에</a:t>
            </a:r>
            <a:r>
              <a:rPr sz="1000" b="0" dirty="0">
                <a:solidFill>
                  <a:srgbClr val="000000"/>
                </a:solidFill>
                <a:latin typeface="Noto Sans KR"/>
                <a:ea typeface="Noto Sans KR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Noto Sans KR"/>
                <a:ea typeface="Noto Sans KR"/>
              </a:rPr>
              <a:t>하나</a:t>
            </a:r>
            <a:endParaRPr sz="1000" b="0" dirty="0">
              <a:solidFill>
                <a:srgbClr val="000000"/>
              </a:solidFill>
              <a:latin typeface="Noto Sans KR"/>
              <a:ea typeface="Noto Sans KR"/>
            </a:endParaRPr>
          </a:p>
        </p:txBody>
      </p:sp>
      <p:sp>
        <p:nvSpPr>
          <p:cNvPr id="21" name="Card"/>
          <p:cNvSpPr/>
          <p:nvPr/>
        </p:nvSpPr>
        <p:spPr>
          <a:xfrm>
            <a:off x="4498848" y="3931920"/>
            <a:ext cx="3200400" cy="2212848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90288" y="4005072"/>
            <a:ext cx="3017520" cy="310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ko-KR" altLang="en-US" sz="1600" b="1" dirty="0">
                <a:solidFill>
                  <a:srgbClr val="E97132"/>
                </a:solidFill>
                <a:latin typeface="Noto Sans KR"/>
                <a:ea typeface="Noto Sans KR"/>
              </a:rPr>
              <a:t>과장된</a:t>
            </a:r>
            <a:r>
              <a:rPr sz="1600" b="1" dirty="0">
                <a:solidFill>
                  <a:srgbClr val="E97132"/>
                </a:solidFill>
                <a:latin typeface="Noto Sans KR"/>
                <a:ea typeface="Noto Sans KR"/>
              </a:rPr>
              <a:t> </a:t>
            </a:r>
            <a:r>
              <a:rPr sz="1600" b="1" dirty="0" err="1">
                <a:solidFill>
                  <a:srgbClr val="E97132"/>
                </a:solidFill>
                <a:latin typeface="Noto Sans KR"/>
                <a:ea typeface="Noto Sans KR"/>
              </a:rPr>
              <a:t>연출</a:t>
            </a:r>
            <a:endParaRPr sz="1600" b="1" dirty="0">
              <a:solidFill>
                <a:srgbClr val="E97132"/>
              </a:solidFill>
              <a:latin typeface="Noto Sans KR"/>
              <a:ea typeface="Noto Sans KR"/>
            </a:endParaRPr>
          </a:p>
        </p:txBody>
      </p:sp>
      <p:pic>
        <p:nvPicPr>
          <p:cNvPr id="23" name="Picture 22" descr="만화 효과음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768" y="4416552"/>
            <a:ext cx="2194560" cy="1234439"/>
          </a:xfrm>
          <a:prstGeom prst="rect">
            <a:avLst/>
          </a:prstGeom>
          <a:ln w="9525">
            <a:solidFill>
              <a:srgbClr val="E7DFD2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4590288" y="5705856"/>
            <a:ext cx="301752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>
                <a:solidFill>
                  <a:srgbClr val="E97132"/>
                </a:solidFill>
                <a:latin typeface="Noto Sans KR"/>
                <a:ea typeface="Noto Sans KR"/>
              </a:rPr>
              <a:t>증강  </a:t>
            </a:r>
            <a:r>
              <a:rPr sz="1000" b="0">
                <a:solidFill>
                  <a:srgbClr val="000000"/>
                </a:solidFill>
                <a:latin typeface="Noto Sans KR"/>
                <a:ea typeface="Noto Sans KR"/>
              </a:rPr>
              <a:t>다다다다 · 클릭 폭격 · 미다스 · 연쇄 붕괴</a:t>
            </a:r>
          </a:p>
          <a:p>
            <a:pPr algn="l"/>
            <a:r>
              <a:rPr sz="1000" b="1">
                <a:solidFill>
                  <a:srgbClr val="E97132"/>
                </a:solidFill>
                <a:latin typeface="Noto Sans KR"/>
                <a:ea typeface="Noto Sans KR"/>
              </a:rPr>
              <a:t>규칙  </a:t>
            </a:r>
            <a:r>
              <a:rPr sz="1000" b="0">
                <a:solidFill>
                  <a:srgbClr val="000000"/>
                </a:solidFill>
                <a:latin typeface="Noto Sans KR"/>
                <a:ea typeface="Noto Sans KR"/>
              </a:rPr>
              <a:t>글자 쥐 1~3배 · 0.5초 · 같은 자리 3개</a:t>
            </a:r>
          </a:p>
        </p:txBody>
      </p:sp>
      <p:sp>
        <p:nvSpPr>
          <p:cNvPr id="25" name="Card"/>
          <p:cNvSpPr/>
          <p:nvPr/>
        </p:nvSpPr>
        <p:spPr>
          <a:xfrm>
            <a:off x="7863840" y="3931920"/>
            <a:ext cx="3200400" cy="2212848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73568" y="4023360"/>
            <a:ext cx="2980944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E97132"/>
                </a:solidFill>
                <a:latin typeface="Noto Sans KR"/>
                <a:ea typeface="Noto Sans KR"/>
              </a:rPr>
              <a:t>공통 원칙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73568" y="4553712"/>
            <a:ext cx="2980944" cy="1280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모든 시각 효과 증강 = 효과 · 상시 · 발동 3칸</a:t>
            </a:r>
          </a:p>
          <a:p>
            <a:pPr algn="l"/>
            <a:endParaRPr sz="1200" b="0">
              <a:solidFill>
                <a:srgbClr val="000000"/>
              </a:solidFill>
              <a:latin typeface="Noto Sans KR"/>
              <a:ea typeface="Noto Sans KR"/>
            </a:endParaRP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상시는 작게 1개, 발동은 크고 짧게</a:t>
            </a:r>
          </a:p>
          <a:p>
            <a:pPr algn="l"/>
            <a:endParaRPr sz="1200" b="0">
              <a:solidFill>
                <a:srgbClr val="000000"/>
              </a:solidFill>
              <a:latin typeface="Noto Sans KR"/>
              <a:ea typeface="Noto Sans KR"/>
            </a:endParaRP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끝나면 원래 걷기 · 원래 방으로 복귀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증강 구성 - 33개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327648"/>
            <a:ext cx="548640" cy="2103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>
                <a:solidFill>
                  <a:srgbClr val="6B5E54"/>
                </a:solidFill>
                <a:latin typeface="Noto Sans KR"/>
                <a:ea typeface="Noto Sans KR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600200"/>
            <a:ext cx="301752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4200" b="1">
                <a:solidFill>
                  <a:srgbClr val="E97132"/>
                </a:solidFill>
                <a:latin typeface="Noto Sans KR"/>
                <a:ea typeface="Noto Sans KR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2377440"/>
            <a:ext cx="30175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전체 증강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9704" y="1600200"/>
            <a:ext cx="301752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4200" b="1">
                <a:solidFill>
                  <a:srgbClr val="E97132"/>
                </a:solidFill>
                <a:latin typeface="Noto Sans KR"/>
                <a:ea typeface="Noto Sans KR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9704" y="2377440"/>
            <a:ext cx="30175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수치 증강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45552" y="1600200"/>
            <a:ext cx="301752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4200" b="1">
                <a:solidFill>
                  <a:srgbClr val="E97132"/>
                </a:solidFill>
                <a:latin typeface="Noto Sans KR"/>
                <a:ea typeface="Noto Sans KR"/>
              </a:rPr>
              <a:t>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45552" y="2377440"/>
            <a:ext cx="30175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시각 효과 증강 (등급 통일 5 포함)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1133856" y="2926080"/>
          <a:ext cx="9930384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카테고리 분류 - 수치 · 시각 효과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327648"/>
            <a:ext cx="548640" cy="2103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>
                <a:solidFill>
                  <a:srgbClr val="6B5E54"/>
                </a:solidFill>
                <a:latin typeface="Noto Sans KR"/>
                <a:ea typeface="Noto Sans KR"/>
              </a:rPr>
              <a:t>8</a:t>
            </a:r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1133856" y="1645920"/>
          <a:ext cx="9921240" cy="35753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34838452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340247505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대분류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묶음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무엇이 바뀌나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등급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증강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수치 증강 (10)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수치 (10)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쥐 능력치만 오름 · 화면 변화 없음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브4 · 실3 · 골2 · 프1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날카로운 앞니 · 강철 앞니 · 급소 찾기 · 보스 사냥 면허 · 프로틴 셰이크 · 치명적 앞니 · 철거 전문가 · 보스 킬러 · 강철 턱 · 전설의 앞니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rowSpan="5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시각 효과 증강 (23)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타격 (6)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물고 · 누르고 · 부수고 · 승급할 때 터짐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실1 · 골4 · 프1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다다다다 · 찌릿찌릿 이빨 · 회전 치즈 칼날 · 클릭 폭격 · 연쇄 붕괴 · 승급 폭죽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쥐 변신 (3)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쥐가 커지고 · 늘고 · 쌓임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골1 · 프2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거대 쥐 출현 · 분신 소환 · 쥐 탑 쌓기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방 이벤트 (6)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방에 날씨 · 손님 · 축제가 찾아옴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골3 · 프3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천둥 번개 · 치즈 비 · 탄생 축제 · 운석 소환 · 쥐 토네이도 · 장난감 기차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보상 (3)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치즈 · 연구자료 · 시간이 늘어남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실3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미다스의 앞니 · 잭팟 · 모래시계 줍기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등급 통일 (5)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같은 등급 쥐 전원이 한 캐릭터로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골2 · 프3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스케이터 · 골든 햄스터 · 판다 잠옷 정글리안 · 맘스땃쥐 · 5G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20"/>
          <p:cNvSpPr txBox="1"/>
          <p:nvPr/>
        </p:nvSpPr>
        <p:spPr>
          <a:xfrm>
            <a:off x="1133856" y="5532120"/>
            <a:ext cx="9930384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>
                <a:solidFill>
                  <a:srgbClr val="6B5E54"/>
                </a:solidFill>
                <a:latin typeface="Noto Sans KR"/>
                <a:ea typeface="Noto Sans KR"/>
              </a:rPr>
              <a:t>수치 증강 = 화면 변화 없이 표 1장으로 확인  ·  시각 효과 증강 = 효과 · 상시 · 발동 카드로 화면 변화까지 정의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수치 증강 - 10개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327648"/>
            <a:ext cx="548640" cy="2103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>
                <a:solidFill>
                  <a:srgbClr val="6B5E54"/>
                </a:solidFill>
                <a:latin typeface="Noto Sans KR"/>
                <a:ea typeface="Noto Sans KR"/>
              </a:rPr>
              <a:t>9</a:t>
            </a:r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1133856" y="1645920"/>
          <a:ext cx="9921240" cy="43251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등급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이름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효과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06E32"/>
                          </a:solidFill>
                          <a:latin typeface="Noto Sans KR"/>
                          <a:ea typeface="Noto Sans KR"/>
                        </a:rPr>
                        <a:t>브론즈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날카로운 앞니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쥐 공격력 +12%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06E32"/>
                          </a:solidFill>
                          <a:latin typeface="Noto Sans KR"/>
                          <a:ea typeface="Noto Sans KR"/>
                        </a:rPr>
                        <a:t>브론즈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강철 앞니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벽 피해 +20%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06E32"/>
                          </a:solidFill>
                          <a:latin typeface="Noto Sans KR"/>
                          <a:ea typeface="Noto Sans KR"/>
                        </a:rPr>
                        <a:t>브론즈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급소 찾기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치명타 확률 +4%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06E32"/>
                          </a:solidFill>
                          <a:latin typeface="Noto Sans KR"/>
                          <a:ea typeface="Noto Sans KR"/>
                        </a:rPr>
                        <a:t>브론즈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보스 사냥 면허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보스 피해 +20%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7D8892"/>
                          </a:solidFill>
                          <a:latin typeface="Noto Sans KR"/>
                          <a:ea typeface="Noto Sans KR"/>
                        </a:rPr>
                        <a:t>실버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프로틴 셰이크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쥐 공격력 +30%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7D8892"/>
                          </a:solidFill>
                          <a:latin typeface="Noto Sans KR"/>
                          <a:ea typeface="Noto Sans KR"/>
                        </a:rPr>
                        <a:t>실버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치명적 앞니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치명타 확률 +6% · 치명타 피해 +50%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7D8892"/>
                          </a:solidFill>
                          <a:latin typeface="Noto Sans KR"/>
                          <a:ea typeface="Noto Sans KR"/>
                        </a:rPr>
                        <a:t>실버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철거 전문가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벽 피해 +50%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C89210"/>
                          </a:solidFill>
                          <a:latin typeface="Noto Sans KR"/>
                          <a:ea typeface="Noto Sans KR"/>
                        </a:rPr>
                        <a:t>골드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보스 킬러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보스 피해 +60% · 필살기 게이지 충전 +25%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C89210"/>
                          </a:solidFill>
                          <a:latin typeface="Noto Sans KR"/>
                          <a:ea typeface="Noto Sans KR"/>
                        </a:rPr>
                        <a:t>골드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강철 턱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쥐 공격력 +50% · 벽 피해 +40%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9B5FD0"/>
                          </a:solidFill>
                          <a:latin typeface="Noto Sans KR"/>
                          <a:ea typeface="Noto Sans KR"/>
                        </a:rPr>
                        <a:t>프리즘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전설의 앞니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쥐 공격력 +100% · 모든 피해 +30%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타격 증강 - 1/2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327648"/>
            <a:ext cx="548640" cy="2103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>
                <a:solidFill>
                  <a:srgbClr val="6B5E54"/>
                </a:solidFill>
                <a:latin typeface="Noto Sans KR"/>
                <a:ea typeface="Noto Sans KR"/>
              </a:rPr>
              <a:t>10</a:t>
            </a:r>
          </a:p>
        </p:txBody>
      </p:sp>
      <p:sp>
        <p:nvSpPr>
          <p:cNvPr id="5" name="Card"/>
          <p:cNvSpPr/>
          <p:nvPr/>
        </p:nvSpPr>
        <p:spPr>
          <a:xfrm>
            <a:off x="1133856" y="1563624"/>
            <a:ext cx="9930384" cy="146304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3856" y="1600200"/>
            <a:ext cx="9930384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C89210"/>
                </a:solidFill>
                <a:latin typeface="Noto Sans KR"/>
                <a:ea typeface="Noto Sans KR"/>
              </a:rPr>
              <a:t>다다다다 (골드)</a:t>
            </a:r>
            <a:endParaRPr sz="1600" b="1">
              <a:solidFill>
                <a:srgbClr val="9B5FD0"/>
              </a:solidFill>
              <a:latin typeface="Noto Sans KR"/>
              <a:ea typeface="Noto Sans KR"/>
            </a:endParaRPr>
          </a:p>
        </p:txBody>
      </p:sp>
      <p:pic>
        <p:nvPicPr>
          <p:cNvPr id="7" name="Picture 14" descr="다다다다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984248"/>
            <a:ext cx="1691640" cy="950976"/>
          </a:xfrm>
          <a:prstGeom prst="rect">
            <a:avLst/>
          </a:prstGeom>
          <a:ln w="9525">
            <a:solidFill>
              <a:srgbClr val="E7DFD2"/>
            </a:solidFill>
          </a:ln>
        </p:spPr>
      </p:pic>
      <p:sp>
        <p:nvSpPr>
          <p:cNvPr id="8" name="TextBox 9"/>
          <p:cNvSpPr txBox="1"/>
          <p:nvPr/>
        </p:nvSpPr>
        <p:spPr>
          <a:xfrm>
            <a:off x="3154680" y="1929384"/>
            <a:ext cx="78181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Noto Sans KR"/>
                <a:ea typeface="Noto Sans KR"/>
              </a:rPr>
              <a:t>부딪힐 때 25% 확률로 3번 더 공격</a:t>
            </a:r>
            <a:endParaRPr sz="1100" b="0">
              <a:solidFill>
                <a:srgbClr val="000000"/>
              </a:solidFill>
              <a:latin typeface="Noto Sans KR"/>
              <a:ea typeface="Noto Sans KR"/>
            </a:endParaRPr>
          </a:p>
        </p:txBody>
      </p:sp>
      <p:sp>
        <p:nvSpPr>
          <p:cNvPr id="9" name="TextBox 10"/>
          <p:cNvSpPr txBox="1"/>
          <p:nvPr/>
        </p:nvSpPr>
        <p:spPr>
          <a:xfrm>
            <a:off x="3154680" y="2331720"/>
            <a:ext cx="781812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상시: 모든 쥐 뒤에 반투명 잔상 1개가 따라다님</a:t>
            </a:r>
          </a:p>
          <a:p>
            <a:pPr algn="l"/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발동: 잔상 3개가 0.1초 간격으로 같은 물건을 때림 · "다다다" 글자 (쥐 2배)</a:t>
            </a:r>
          </a:p>
        </p:txBody>
      </p:sp>
      <p:sp>
        <p:nvSpPr>
          <p:cNvPr id="10" name="Card"/>
          <p:cNvSpPr/>
          <p:nvPr/>
        </p:nvSpPr>
        <p:spPr>
          <a:xfrm>
            <a:off x="1133856" y="3072384"/>
            <a:ext cx="9930384" cy="146304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5"/>
          <p:cNvSpPr txBox="1"/>
          <p:nvPr/>
        </p:nvSpPr>
        <p:spPr>
          <a:xfrm>
            <a:off x="1133856" y="3108960"/>
            <a:ext cx="9930384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C89210"/>
                </a:solidFill>
                <a:latin typeface="Noto Sans KR"/>
                <a:ea typeface="Noto Sans KR"/>
              </a:rPr>
              <a:t>찌릿찌릿 이빨 (골드)</a:t>
            </a:r>
            <a:endParaRPr sz="1600" b="1">
              <a:solidFill>
                <a:srgbClr val="9B5FD0"/>
              </a:solidFill>
              <a:latin typeface="Noto Sans KR"/>
              <a:ea typeface="Noto Sans KR"/>
            </a:endParaRPr>
          </a:p>
        </p:txBody>
      </p:sp>
      <p:pic>
        <p:nvPicPr>
          <p:cNvPr id="12" name="Picture 14" descr="찌릿찌릿 이빨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493008"/>
            <a:ext cx="1691640" cy="950976"/>
          </a:xfrm>
          <a:prstGeom prst="rect">
            <a:avLst/>
          </a:prstGeom>
          <a:ln w="9525">
            <a:solidFill>
              <a:srgbClr val="E7DFD2"/>
            </a:solidFill>
          </a:ln>
        </p:spPr>
      </p:pic>
      <p:sp>
        <p:nvSpPr>
          <p:cNvPr id="13" name="TextBox 9"/>
          <p:cNvSpPr txBox="1"/>
          <p:nvPr/>
        </p:nvSpPr>
        <p:spPr>
          <a:xfrm>
            <a:off x="3154680" y="3438144"/>
            <a:ext cx="78181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Noto Sans KR"/>
                <a:ea typeface="Noto Sans KR"/>
              </a:rPr>
              <a:t>물 때 8% 확률로 주변 물건 3개 감전 (공격력 ×0.6)</a:t>
            </a:r>
            <a:endParaRPr sz="1100" b="0">
              <a:solidFill>
                <a:srgbClr val="000000"/>
              </a:solidFill>
              <a:latin typeface="Noto Sans KR"/>
              <a:ea typeface="Noto Sans KR"/>
            </a:endParaRPr>
          </a:p>
        </p:txBody>
      </p:sp>
      <p:sp>
        <p:nvSpPr>
          <p:cNvPr id="14" name="TextBox 10"/>
          <p:cNvSpPr txBox="1"/>
          <p:nvPr/>
        </p:nvSpPr>
        <p:spPr>
          <a:xfrm>
            <a:off x="3154680" y="3840480"/>
            <a:ext cx="781812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상시: 쥐 털 끝에 작은 파란 스파크가 가끔 튐</a:t>
            </a:r>
          </a:p>
          <a:p>
            <a:pPr algn="l"/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발동: 물린 물건에서 3개 물건으로 지그재그 파란 번개선 0.3초 · 맞은 물건 하얗게 번쩍</a:t>
            </a:r>
          </a:p>
        </p:txBody>
      </p:sp>
      <p:sp>
        <p:nvSpPr>
          <p:cNvPr id="15" name="Card"/>
          <p:cNvSpPr/>
          <p:nvPr/>
        </p:nvSpPr>
        <p:spPr>
          <a:xfrm>
            <a:off x="1133856" y="4581144"/>
            <a:ext cx="9930384" cy="146304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5"/>
          <p:cNvSpPr txBox="1"/>
          <p:nvPr/>
        </p:nvSpPr>
        <p:spPr>
          <a:xfrm>
            <a:off x="1133856" y="4617720"/>
            <a:ext cx="9930384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9B5FD0"/>
                </a:solidFill>
                <a:latin typeface="Noto Sans KR"/>
                <a:ea typeface="Noto Sans KR"/>
              </a:rPr>
              <a:t>회전 치즈 칼날 (프리즘)</a:t>
            </a:r>
          </a:p>
        </p:txBody>
      </p:sp>
      <p:pic>
        <p:nvPicPr>
          <p:cNvPr id="17" name="Picture 7" descr="회전 치즈 칼날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5001768"/>
            <a:ext cx="1691640" cy="950976"/>
          </a:xfrm>
          <a:prstGeom prst="rect">
            <a:avLst/>
          </a:prstGeom>
          <a:ln w="9525">
            <a:solidFill>
              <a:srgbClr val="E7DFD2"/>
            </a:solidFill>
          </a:ln>
        </p:spPr>
      </p:pic>
      <p:sp>
        <p:nvSpPr>
          <p:cNvPr id="18" name="TextBox 9"/>
          <p:cNvSpPr txBox="1"/>
          <p:nvPr/>
        </p:nvSpPr>
        <p:spPr>
          <a:xfrm>
            <a:off x="3154680" y="4946904"/>
            <a:ext cx="78181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Noto Sans KR"/>
                <a:ea typeface="Noto Sans KR"/>
              </a:rPr>
              <a:t>특정 쥐가 타격할 때 둘레를 치즈 칼날 3개가 돌며 공격 (공격력 ×1.5)</a:t>
            </a:r>
            <a:endParaRPr sz="1100" b="0">
              <a:solidFill>
                <a:srgbClr val="000000"/>
              </a:solidFill>
              <a:latin typeface="Noto Sans KR"/>
              <a:ea typeface="Noto Sans KR"/>
            </a:endParaRPr>
          </a:p>
        </p:txBody>
      </p:sp>
      <p:sp>
        <p:nvSpPr>
          <p:cNvPr id="19" name="TextBox 10"/>
          <p:cNvSpPr txBox="1"/>
          <p:nvPr/>
        </p:nvSpPr>
        <p:spPr>
          <a:xfrm>
            <a:off x="3154680" y="5349240"/>
            <a:ext cx="781812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상시: 무리 가운데 중심 반지름 170 · 2초에 한 바퀴 · 칼날 뒤 노란 궤적</a:t>
            </a:r>
          </a:p>
          <a:p>
            <a:pPr algn="l"/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발동: 칼날이 맞을 때마다 번쩍 · 치즈 조각이 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타격 증강 - 2/2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327648"/>
            <a:ext cx="548640" cy="2103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>
                <a:solidFill>
                  <a:srgbClr val="6B5E54"/>
                </a:solidFill>
                <a:latin typeface="Noto Sans KR"/>
                <a:ea typeface="Noto Sans KR"/>
              </a:rPr>
              <a:t>11</a:t>
            </a:r>
          </a:p>
        </p:txBody>
      </p:sp>
      <p:sp>
        <p:nvSpPr>
          <p:cNvPr id="5" name="Card"/>
          <p:cNvSpPr/>
          <p:nvPr/>
        </p:nvSpPr>
        <p:spPr>
          <a:xfrm>
            <a:off x="1133856" y="1563624"/>
            <a:ext cx="9930384" cy="146304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3856" y="1600200"/>
            <a:ext cx="9930384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7D8892"/>
                </a:solidFill>
                <a:latin typeface="Noto Sans KR"/>
                <a:ea typeface="Noto Sans KR"/>
              </a:rPr>
              <a:t>클릭 폭격 (실버)</a:t>
            </a:r>
            <a:endParaRPr sz="1600" b="1">
              <a:solidFill>
                <a:srgbClr val="9B5FD0"/>
              </a:solidFill>
              <a:latin typeface="Noto Sans KR"/>
              <a:ea typeface="Noto Sans KR"/>
            </a:endParaRPr>
          </a:p>
        </p:txBody>
      </p:sp>
      <p:pic>
        <p:nvPicPr>
          <p:cNvPr id="7" name="Picture 7" descr="클릭 폭격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984248"/>
            <a:ext cx="1691640" cy="950976"/>
          </a:xfrm>
          <a:prstGeom prst="rect">
            <a:avLst/>
          </a:prstGeom>
          <a:ln w="9525">
            <a:solidFill>
              <a:srgbClr val="E7DFD2"/>
            </a:solidFill>
          </a:ln>
        </p:spPr>
      </p:pic>
      <p:sp>
        <p:nvSpPr>
          <p:cNvPr id="8" name="TextBox 9"/>
          <p:cNvSpPr txBox="1"/>
          <p:nvPr/>
        </p:nvSpPr>
        <p:spPr>
          <a:xfrm>
            <a:off x="3154680" y="1929384"/>
            <a:ext cx="78181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Noto Sans KR"/>
                <a:ea typeface="Noto Sans KR"/>
              </a:rPr>
              <a:t>클릭 총공격 때 누를 때마다 낮은 확률로 폭발</a:t>
            </a:r>
            <a:endParaRPr sz="1100" b="0">
              <a:solidFill>
                <a:srgbClr val="000000"/>
              </a:solidFill>
              <a:latin typeface="Noto Sans KR"/>
              <a:ea typeface="Noto Sans KR"/>
            </a:endParaRPr>
          </a:p>
        </p:txBody>
      </p:sp>
      <p:sp>
        <p:nvSpPr>
          <p:cNvPr id="9" name="TextBox 10"/>
          <p:cNvSpPr txBox="1"/>
          <p:nvPr/>
        </p:nvSpPr>
        <p:spPr>
          <a:xfrm>
            <a:off x="3154680" y="2331720"/>
            <a:ext cx="781812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발동: 클릭 지점에서 작은 폭발 · "펑!" 글자</a:t>
            </a:r>
          </a:p>
        </p:txBody>
      </p:sp>
      <p:sp>
        <p:nvSpPr>
          <p:cNvPr id="10" name="Card"/>
          <p:cNvSpPr/>
          <p:nvPr/>
        </p:nvSpPr>
        <p:spPr>
          <a:xfrm>
            <a:off x="1133856" y="3072384"/>
            <a:ext cx="9930384" cy="146304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5"/>
          <p:cNvSpPr txBox="1"/>
          <p:nvPr/>
        </p:nvSpPr>
        <p:spPr>
          <a:xfrm>
            <a:off x="1133856" y="3108960"/>
            <a:ext cx="9930384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C89210"/>
                </a:solidFill>
                <a:latin typeface="Noto Sans KR"/>
                <a:ea typeface="Noto Sans KR"/>
              </a:rPr>
              <a:t>연쇄 붕괴 (골드)</a:t>
            </a:r>
            <a:endParaRPr sz="1600" b="1">
              <a:solidFill>
                <a:srgbClr val="9B5FD0"/>
              </a:solidFill>
              <a:latin typeface="Noto Sans KR"/>
              <a:ea typeface="Noto Sans KR"/>
            </a:endParaRPr>
          </a:p>
        </p:txBody>
      </p:sp>
      <p:pic>
        <p:nvPicPr>
          <p:cNvPr id="12" name="Picture 34" descr="연쇄 붕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493008"/>
            <a:ext cx="1691640" cy="950976"/>
          </a:xfrm>
          <a:prstGeom prst="rect">
            <a:avLst/>
          </a:prstGeom>
          <a:ln w="9525">
            <a:solidFill>
              <a:srgbClr val="E7DFD2"/>
            </a:solidFill>
          </a:ln>
        </p:spPr>
      </p:pic>
      <p:sp>
        <p:nvSpPr>
          <p:cNvPr id="13" name="TextBox 9"/>
          <p:cNvSpPr txBox="1"/>
          <p:nvPr/>
        </p:nvSpPr>
        <p:spPr>
          <a:xfrm>
            <a:off x="3154680" y="3438144"/>
            <a:ext cx="78181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Noto Sans KR"/>
                <a:ea typeface="Noto Sans KR"/>
              </a:rPr>
              <a:t>벽 하나가 무너지면 남은 벽 체력 -15%</a:t>
            </a:r>
            <a:endParaRPr sz="1100" b="0">
              <a:solidFill>
                <a:srgbClr val="000000"/>
              </a:solidFill>
              <a:latin typeface="Noto Sans KR"/>
              <a:ea typeface="Noto Sans KR"/>
            </a:endParaRPr>
          </a:p>
        </p:txBody>
      </p:sp>
      <p:sp>
        <p:nvSpPr>
          <p:cNvPr id="14" name="TextBox 10"/>
          <p:cNvSpPr txBox="1"/>
          <p:nvPr/>
        </p:nvSpPr>
        <p:spPr>
          <a:xfrm>
            <a:off x="3154680" y="3840480"/>
            <a:ext cx="781812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발동: 벽이 무너지면 평소보다 강한 카메라 진동 → 남은 벽마다 "-15%" 글자</a:t>
            </a:r>
          </a:p>
        </p:txBody>
      </p:sp>
      <p:sp>
        <p:nvSpPr>
          <p:cNvPr id="15" name="Card"/>
          <p:cNvSpPr/>
          <p:nvPr/>
        </p:nvSpPr>
        <p:spPr>
          <a:xfrm>
            <a:off x="1133856" y="4581144"/>
            <a:ext cx="9930384" cy="146304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5"/>
          <p:cNvSpPr txBox="1"/>
          <p:nvPr/>
        </p:nvSpPr>
        <p:spPr>
          <a:xfrm>
            <a:off x="1133856" y="4617720"/>
            <a:ext cx="9930384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C89210"/>
                </a:solidFill>
                <a:latin typeface="Noto Sans KR"/>
                <a:ea typeface="Noto Sans KR"/>
              </a:rPr>
              <a:t>승급 폭죽 (골드)</a:t>
            </a:r>
            <a:endParaRPr sz="1600" b="1">
              <a:solidFill>
                <a:srgbClr val="9B5FD0"/>
              </a:solidFill>
              <a:latin typeface="Noto Sans KR"/>
              <a:ea typeface="Noto Sans KR"/>
            </a:endParaRPr>
          </a:p>
        </p:txBody>
      </p:sp>
      <p:pic>
        <p:nvPicPr>
          <p:cNvPr id="17" name="Picture 34" descr="승급 폭죽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5001768"/>
            <a:ext cx="1691640" cy="950976"/>
          </a:xfrm>
          <a:prstGeom prst="rect">
            <a:avLst/>
          </a:prstGeom>
          <a:ln w="9525">
            <a:solidFill>
              <a:srgbClr val="E7DFD2"/>
            </a:solidFill>
          </a:ln>
        </p:spPr>
      </p:pic>
      <p:sp>
        <p:nvSpPr>
          <p:cNvPr id="18" name="TextBox 9"/>
          <p:cNvSpPr txBox="1"/>
          <p:nvPr/>
        </p:nvSpPr>
        <p:spPr>
          <a:xfrm>
            <a:off x="3154680" y="4946904"/>
            <a:ext cx="78181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Noto Sans KR"/>
                <a:ea typeface="Noto Sans KR"/>
              </a:rPr>
              <a:t>승급할 때 새 쥐 자리에서 폭죽 폭발 (반경 220 · 공격력 ×6)</a:t>
            </a:r>
            <a:endParaRPr sz="1100" b="0">
              <a:solidFill>
                <a:srgbClr val="000000"/>
              </a:solidFill>
              <a:latin typeface="Noto Sans KR"/>
              <a:ea typeface="Noto Sans KR"/>
            </a:endParaRPr>
          </a:p>
        </p:txBody>
      </p:sp>
      <p:sp>
        <p:nvSpPr>
          <p:cNvPr id="19" name="TextBox 10"/>
          <p:cNvSpPr txBox="1"/>
          <p:nvPr/>
        </p:nvSpPr>
        <p:spPr>
          <a:xfrm>
            <a:off x="3154680" y="5349240"/>
            <a:ext cx="781812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발동: 폭죽 3발이 위로 솟았다 터짐 → 반경 220 폭발 원 · 화면 흔들림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쥐 변신 증강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327648"/>
            <a:ext cx="548640" cy="2103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>
                <a:solidFill>
                  <a:srgbClr val="6B5E54"/>
                </a:solidFill>
                <a:latin typeface="Noto Sans KR"/>
                <a:ea typeface="Noto Sans KR"/>
              </a:rPr>
              <a:t>12</a:t>
            </a:r>
          </a:p>
        </p:txBody>
      </p:sp>
      <p:sp>
        <p:nvSpPr>
          <p:cNvPr id="5" name="Card"/>
          <p:cNvSpPr/>
          <p:nvPr/>
        </p:nvSpPr>
        <p:spPr>
          <a:xfrm>
            <a:off x="1133856" y="1563624"/>
            <a:ext cx="9930384" cy="146304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3856" y="1600200"/>
            <a:ext cx="9930384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9B5FD0"/>
                </a:solidFill>
                <a:latin typeface="Noto Sans KR"/>
                <a:ea typeface="Noto Sans KR"/>
              </a:rPr>
              <a:t>거대 쥐 출현 (프리즘)</a:t>
            </a:r>
          </a:p>
        </p:txBody>
      </p:sp>
      <p:pic>
        <p:nvPicPr>
          <p:cNvPr id="7" name="Picture 7" descr="거대 쥐 출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984248"/>
            <a:ext cx="1691640" cy="950976"/>
          </a:xfrm>
          <a:prstGeom prst="rect">
            <a:avLst/>
          </a:prstGeom>
          <a:ln w="9525">
            <a:solidFill>
              <a:srgbClr val="E7DFD2"/>
            </a:solidFill>
          </a:ln>
        </p:spPr>
      </p:pic>
      <p:sp>
        <p:nvSpPr>
          <p:cNvPr id="8" name="TextBox 9"/>
          <p:cNvSpPr txBox="1"/>
          <p:nvPr/>
        </p:nvSpPr>
        <p:spPr>
          <a:xfrm>
            <a:off x="3154680" y="1929384"/>
            <a:ext cx="78181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Noto Sans KR"/>
                <a:ea typeface="Noto Sans KR"/>
              </a:rPr>
              <a:t>12초마다 쥐 2마리가 6초 동안 거대화 (크기 ×1.8 · 공격력 ×3)</a:t>
            </a:r>
            <a:endParaRPr sz="1100" b="0">
              <a:solidFill>
                <a:srgbClr val="000000"/>
              </a:solidFill>
              <a:latin typeface="Noto Sans KR"/>
              <a:ea typeface="Noto Sans KR"/>
            </a:endParaRPr>
          </a:p>
        </p:txBody>
      </p:sp>
      <p:sp>
        <p:nvSpPr>
          <p:cNvPr id="9" name="TextBox 10"/>
          <p:cNvSpPr txBox="1"/>
          <p:nvPr/>
        </p:nvSpPr>
        <p:spPr>
          <a:xfrm>
            <a:off x="3154680" y="2331720"/>
            <a:ext cx="781812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상시: 방 바닥에 큰 발자국 무늬</a:t>
            </a:r>
          </a:p>
          <a:p>
            <a:pPr algn="l"/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발동: 0.5초에 걸쳐 커짐 · 그림자 2배 · 걸음마다 화면 흔들림 0.2초 · 먼지 원</a:t>
            </a:r>
          </a:p>
        </p:txBody>
      </p:sp>
      <p:sp>
        <p:nvSpPr>
          <p:cNvPr id="10" name="Card"/>
          <p:cNvSpPr/>
          <p:nvPr/>
        </p:nvSpPr>
        <p:spPr>
          <a:xfrm>
            <a:off x="1133856" y="3072384"/>
            <a:ext cx="9930384" cy="146304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5"/>
          <p:cNvSpPr txBox="1"/>
          <p:nvPr/>
        </p:nvSpPr>
        <p:spPr>
          <a:xfrm>
            <a:off x="1133856" y="3108960"/>
            <a:ext cx="9930384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9B5FD0"/>
                </a:solidFill>
                <a:latin typeface="Noto Sans KR"/>
                <a:ea typeface="Noto Sans KR"/>
              </a:rPr>
              <a:t>분신 소환 (프리즘)</a:t>
            </a:r>
          </a:p>
        </p:txBody>
      </p:sp>
      <p:pic>
        <p:nvPicPr>
          <p:cNvPr id="12" name="Picture 7" descr="거울방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493008"/>
            <a:ext cx="1691640" cy="950976"/>
          </a:xfrm>
          <a:prstGeom prst="rect">
            <a:avLst/>
          </a:prstGeom>
          <a:ln w="9525">
            <a:solidFill>
              <a:srgbClr val="E7DFD2"/>
            </a:solidFill>
          </a:ln>
        </p:spPr>
      </p:pic>
      <p:sp>
        <p:nvSpPr>
          <p:cNvPr id="13" name="TextBox 9"/>
          <p:cNvSpPr txBox="1"/>
          <p:nvPr/>
        </p:nvSpPr>
        <p:spPr>
          <a:xfrm>
            <a:off x="3154680" y="3438144"/>
            <a:ext cx="78181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Noto Sans KR"/>
                <a:ea typeface="Noto Sans KR"/>
              </a:rPr>
              <a:t>특정 시간 동안 모든 쥐가 거울 분신을 소환해 함께 공격</a:t>
            </a:r>
            <a:endParaRPr sz="1100" b="0">
              <a:solidFill>
                <a:srgbClr val="000000"/>
              </a:solidFill>
              <a:latin typeface="Noto Sans KR"/>
              <a:ea typeface="Noto Sans KR"/>
            </a:endParaRPr>
          </a:p>
        </p:txBody>
      </p:sp>
      <p:sp>
        <p:nvSpPr>
          <p:cNvPr id="14" name="TextBox 10"/>
          <p:cNvSpPr txBox="1"/>
          <p:nvPr/>
        </p:nvSpPr>
        <p:spPr>
          <a:xfrm>
            <a:off x="3154680" y="3840480"/>
            <a:ext cx="781812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발동: 쥐와 똑같은 분신이 연기 속에서 튀어나옴 → 시간이 끝나면 연기로 사라짐</a:t>
            </a:r>
          </a:p>
        </p:txBody>
      </p:sp>
      <p:sp>
        <p:nvSpPr>
          <p:cNvPr id="15" name="Card"/>
          <p:cNvSpPr/>
          <p:nvPr/>
        </p:nvSpPr>
        <p:spPr>
          <a:xfrm>
            <a:off x="1133856" y="4581144"/>
            <a:ext cx="9930384" cy="146304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5"/>
          <p:cNvSpPr txBox="1"/>
          <p:nvPr/>
        </p:nvSpPr>
        <p:spPr>
          <a:xfrm>
            <a:off x="1133856" y="4617720"/>
            <a:ext cx="9930384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C89210"/>
                </a:solidFill>
                <a:latin typeface="Noto Sans KR"/>
                <a:ea typeface="Noto Sans KR"/>
              </a:rPr>
              <a:t>쥐 탑 쌓기 (골드)</a:t>
            </a:r>
            <a:endParaRPr sz="1600" b="1">
              <a:solidFill>
                <a:srgbClr val="9B5FD0"/>
              </a:solidFill>
              <a:latin typeface="Noto Sans KR"/>
              <a:ea typeface="Noto Sans KR"/>
            </a:endParaRPr>
          </a:p>
        </p:txBody>
      </p:sp>
      <p:pic>
        <p:nvPicPr>
          <p:cNvPr id="17" name="Picture 14" descr="쥐 탑 쌓기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5001768"/>
            <a:ext cx="1691640" cy="950976"/>
          </a:xfrm>
          <a:prstGeom prst="rect">
            <a:avLst/>
          </a:prstGeom>
          <a:ln w="9525">
            <a:solidFill>
              <a:srgbClr val="E7DFD2"/>
            </a:solidFill>
          </a:ln>
        </p:spPr>
      </p:pic>
      <p:sp>
        <p:nvSpPr>
          <p:cNvPr id="18" name="TextBox 9"/>
          <p:cNvSpPr txBox="1"/>
          <p:nvPr/>
        </p:nvSpPr>
        <p:spPr>
          <a:xfrm>
            <a:off x="3154680" y="4946904"/>
            <a:ext cx="78181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Noto Sans KR"/>
                <a:ea typeface="Noto Sans KR"/>
              </a:rPr>
              <a:t>랜덤 쥐 5마리가 쌓여 합체 · 스탯 합산 · 특성은 1층 쥐 (가장 높은 등급, 같으면 랜덤)</a:t>
            </a:r>
            <a:endParaRPr sz="1100" b="0">
              <a:solidFill>
                <a:srgbClr val="000000"/>
              </a:solidFill>
              <a:latin typeface="Noto Sans KR"/>
              <a:ea typeface="Noto Sans KR"/>
            </a:endParaRPr>
          </a:p>
        </p:txBody>
      </p:sp>
      <p:sp>
        <p:nvSpPr>
          <p:cNvPr id="19" name="TextBox 10"/>
          <p:cNvSpPr txBox="1"/>
          <p:nvPr/>
        </p:nvSpPr>
        <p:spPr>
          <a:xfrm>
            <a:off x="3154680" y="5349240"/>
            <a:ext cx="781812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발동: 5마리가 0.5초 동안 차례로 점프해 쌓임 (높이 쥐 5배) → 1초 흔들흔들 → 쿵 · 화면 흔들림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방 이벤트 증강 - 골드 · 프리즘 구분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327648"/>
            <a:ext cx="548640" cy="2103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>
                <a:solidFill>
                  <a:srgbClr val="6B5E54"/>
                </a:solidFill>
                <a:latin typeface="Noto Sans KR"/>
                <a:ea typeface="Noto Sans KR"/>
              </a:rPr>
              <a:t>13</a:t>
            </a:r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1133856" y="1600200"/>
          <a:ext cx="9921240" cy="42793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기준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2C14E"/>
                          </a:solidFill>
                          <a:latin typeface="Noto Sans KR"/>
                          <a:ea typeface="Noto Sans KR"/>
                        </a:rPr>
                        <a:t>골드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9A2EE"/>
                          </a:solidFill>
                          <a:latin typeface="Noto Sans KR"/>
                          <a:ea typeface="Noto Sans KR"/>
                        </a:rPr>
                        <a:t>프리즘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어디서 나오나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방 위쪽에 고정 (먹구름 · 치즈 구름 · 가랜드)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방 바닥을 직접 이동 · 낙하 (운석 · 토네이도 · 기차)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이펙트 크기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쥐 1배 수준 (번개 줄기 · 치즈 조각 · 색종이)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쥐 4배 이상 (운석 4배 · 토네이도 6배 · 기차는 맵 끝~끝)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닿는 범위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방 일부 (번개 3곳 · 탄생 자리 주변) 또는 획득량 버프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방 전체를 가로지름 · 지나간 길 전부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예고 연출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없음 · 바로 발동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있음 (붉은 원 0.8초 · 화면 밖에서 진입)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카메라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흔들림 없음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화면 흔들림 · 물건이 튕기거나 빨려 들어감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효과 성격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작은 피해 · 버프 · 자원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큰 피해 · 물건을 휩쓸고 지나감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해당 증강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천둥 번개 · 치즈 비 · 탄생 축제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운석 소환 · 쥐 토네이도 · 장난감 기차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판단 규칙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89210"/>
                          </a:solidFill>
                          <a:latin typeface="Noto Sans KR"/>
                          <a:ea typeface="Noto Sans KR"/>
                        </a:rPr>
                        <a:t>아래 프리즘 조건에 하나도 해당 없으면 골드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9B5FD0"/>
                          </a:solidFill>
                          <a:latin typeface="Noto Sans KR"/>
                          <a:ea typeface="Noto Sans KR"/>
                        </a:rPr>
                        <a:t>쥐 4배 이상 소환물이 방 바닥을 지나가면 프리즘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방 이벤트 증강 - 골드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327648"/>
            <a:ext cx="548640" cy="2103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>
                <a:solidFill>
                  <a:srgbClr val="6B5E54"/>
                </a:solidFill>
                <a:latin typeface="Noto Sans KR"/>
                <a:ea typeface="Noto Sans KR"/>
              </a:rPr>
              <a:t>14</a:t>
            </a:r>
          </a:p>
        </p:txBody>
      </p:sp>
      <p:sp>
        <p:nvSpPr>
          <p:cNvPr id="5" name="Card"/>
          <p:cNvSpPr/>
          <p:nvPr/>
        </p:nvSpPr>
        <p:spPr>
          <a:xfrm>
            <a:off x="1133856" y="1563624"/>
            <a:ext cx="9930384" cy="146304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3856" y="1600200"/>
            <a:ext cx="9930384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C89210"/>
                </a:solidFill>
                <a:latin typeface="Noto Sans KR"/>
                <a:ea typeface="Noto Sans KR"/>
              </a:rPr>
              <a:t>천둥 번개 (골드)</a:t>
            </a:r>
            <a:endParaRPr sz="1600" b="1">
              <a:solidFill>
                <a:srgbClr val="9B5FD0"/>
              </a:solidFill>
              <a:latin typeface="Noto Sans KR"/>
              <a:ea typeface="Noto Sans KR"/>
            </a:endParaRPr>
          </a:p>
        </p:txBody>
      </p:sp>
      <p:pic>
        <p:nvPicPr>
          <p:cNvPr id="7" name="Picture 7" descr="천둥 번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984248"/>
            <a:ext cx="1691640" cy="950976"/>
          </a:xfrm>
          <a:prstGeom prst="rect">
            <a:avLst/>
          </a:prstGeom>
          <a:ln w="9525">
            <a:solidFill>
              <a:srgbClr val="E7DFD2"/>
            </a:solidFill>
          </a:ln>
        </p:spPr>
      </p:pic>
      <p:sp>
        <p:nvSpPr>
          <p:cNvPr id="8" name="TextBox 9"/>
          <p:cNvSpPr txBox="1"/>
          <p:nvPr/>
        </p:nvSpPr>
        <p:spPr>
          <a:xfrm>
            <a:off x="3154680" y="1929384"/>
            <a:ext cx="78181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Noto Sans KR"/>
                <a:ea typeface="Noto Sans KR"/>
              </a:rPr>
              <a:t>20초마다 방 위 먹구름에서 번개가 무작위 3곳에 떨어짐</a:t>
            </a:r>
            <a:endParaRPr sz="1100" b="0">
              <a:solidFill>
                <a:srgbClr val="000000"/>
              </a:solidFill>
              <a:latin typeface="Noto Sans KR"/>
              <a:ea typeface="Noto Sans KR"/>
            </a:endParaRPr>
          </a:p>
        </p:txBody>
      </p:sp>
      <p:sp>
        <p:nvSpPr>
          <p:cNvPr id="9" name="TextBox 10"/>
          <p:cNvSpPr txBox="1"/>
          <p:nvPr/>
        </p:nvSpPr>
        <p:spPr>
          <a:xfrm>
            <a:off x="3154680" y="2331720"/>
            <a:ext cx="781812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발동: 예고 없이 번개 줄기 3개가 바로 떨어짐 · 맞은 자리 검게 그을림</a:t>
            </a:r>
          </a:p>
        </p:txBody>
      </p:sp>
      <p:sp>
        <p:nvSpPr>
          <p:cNvPr id="10" name="Card"/>
          <p:cNvSpPr/>
          <p:nvPr/>
        </p:nvSpPr>
        <p:spPr>
          <a:xfrm>
            <a:off x="1133856" y="3072384"/>
            <a:ext cx="9930384" cy="146304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5"/>
          <p:cNvSpPr txBox="1"/>
          <p:nvPr/>
        </p:nvSpPr>
        <p:spPr>
          <a:xfrm>
            <a:off x="1133856" y="3108960"/>
            <a:ext cx="9930384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C89210"/>
                </a:solidFill>
                <a:latin typeface="Noto Sans KR"/>
                <a:ea typeface="Noto Sans KR"/>
              </a:rPr>
              <a:t>치즈 비 (골드)</a:t>
            </a:r>
            <a:endParaRPr sz="1600" b="1">
              <a:solidFill>
                <a:srgbClr val="9B5FD0"/>
              </a:solidFill>
              <a:latin typeface="Noto Sans KR"/>
              <a:ea typeface="Noto Sans KR"/>
            </a:endParaRPr>
          </a:p>
        </p:txBody>
      </p:sp>
      <p:pic>
        <p:nvPicPr>
          <p:cNvPr id="12" name="Picture 7" descr="치즈 비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493008"/>
            <a:ext cx="1691640" cy="950976"/>
          </a:xfrm>
          <a:prstGeom prst="rect">
            <a:avLst/>
          </a:prstGeom>
          <a:ln w="9525">
            <a:solidFill>
              <a:srgbClr val="E7DFD2"/>
            </a:solidFill>
          </a:ln>
        </p:spPr>
      </p:pic>
      <p:sp>
        <p:nvSpPr>
          <p:cNvPr id="13" name="TextBox 9"/>
          <p:cNvSpPr txBox="1"/>
          <p:nvPr/>
        </p:nvSpPr>
        <p:spPr>
          <a:xfrm>
            <a:off x="3154680" y="3438144"/>
            <a:ext cx="78181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Noto Sans KR"/>
                <a:ea typeface="Noto Sans KR"/>
              </a:rPr>
              <a:t>30초마다 5초 동안 치즈 비 · 내리는 동안 치즈 획득량 +30% (수치 조절)</a:t>
            </a:r>
            <a:endParaRPr sz="1100" b="0">
              <a:solidFill>
                <a:srgbClr val="000000"/>
              </a:solidFill>
              <a:latin typeface="Noto Sans KR"/>
              <a:ea typeface="Noto Sans KR"/>
            </a:endParaRPr>
          </a:p>
        </p:txBody>
      </p:sp>
      <p:sp>
        <p:nvSpPr>
          <p:cNvPr id="14" name="TextBox 10"/>
          <p:cNvSpPr txBox="1"/>
          <p:nvPr/>
        </p:nvSpPr>
        <p:spPr>
          <a:xfrm>
            <a:off x="3154680" y="3840480"/>
            <a:ext cx="781812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발동: 방 천장에 노란 치즈 구름 → 치즈 조각이 5초 동안 쏟아짐</a:t>
            </a:r>
          </a:p>
        </p:txBody>
      </p:sp>
      <p:sp>
        <p:nvSpPr>
          <p:cNvPr id="15" name="Card"/>
          <p:cNvSpPr/>
          <p:nvPr/>
        </p:nvSpPr>
        <p:spPr>
          <a:xfrm>
            <a:off x="1133856" y="4581144"/>
            <a:ext cx="9930384" cy="146304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5"/>
          <p:cNvSpPr txBox="1"/>
          <p:nvPr/>
        </p:nvSpPr>
        <p:spPr>
          <a:xfrm>
            <a:off x="1133856" y="4617720"/>
            <a:ext cx="9930384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C89210"/>
                </a:solidFill>
                <a:latin typeface="Noto Sans KR"/>
                <a:ea typeface="Noto Sans KR"/>
              </a:rPr>
              <a:t>탄생 축제 (골드)</a:t>
            </a:r>
            <a:endParaRPr sz="1600" b="1">
              <a:solidFill>
                <a:srgbClr val="9B5FD0"/>
              </a:solidFill>
              <a:latin typeface="Noto Sans KR"/>
              <a:ea typeface="Noto Sans KR"/>
            </a:endParaRPr>
          </a:p>
        </p:txBody>
      </p:sp>
      <p:pic>
        <p:nvPicPr>
          <p:cNvPr id="17" name="Picture 16" descr="탄생 축제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5001768"/>
            <a:ext cx="1691640" cy="950976"/>
          </a:xfrm>
          <a:prstGeom prst="rect">
            <a:avLst/>
          </a:prstGeom>
          <a:ln w="9525">
            <a:solidFill>
              <a:srgbClr val="E7DFD2"/>
            </a:solidFill>
          </a:ln>
        </p:spPr>
      </p:pic>
      <p:sp>
        <p:nvSpPr>
          <p:cNvPr id="18" name="TextBox 9"/>
          <p:cNvSpPr txBox="1"/>
          <p:nvPr/>
        </p:nvSpPr>
        <p:spPr>
          <a:xfrm>
            <a:off x="3154680" y="4946904"/>
            <a:ext cx="78181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Noto Sans KR"/>
                <a:ea typeface="Noto Sans KR"/>
              </a:rPr>
              <a:t>새끼가 태어나면 주변 범위 쥐 4초 광란 (×1.6)</a:t>
            </a:r>
            <a:endParaRPr sz="1100" b="0">
              <a:solidFill>
                <a:srgbClr val="000000"/>
              </a:solidFill>
              <a:latin typeface="Noto Sans KR"/>
              <a:ea typeface="Noto Sans KR"/>
            </a:endParaRPr>
          </a:p>
        </p:txBody>
      </p:sp>
      <p:sp>
        <p:nvSpPr>
          <p:cNvPr id="19" name="TextBox 10"/>
          <p:cNvSpPr txBox="1"/>
          <p:nvPr/>
        </p:nvSpPr>
        <p:spPr>
          <a:xfrm>
            <a:off x="3154680" y="5349240"/>
            <a:ext cx="781812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상시: 방 천장에 파티 가랜드</a:t>
            </a:r>
          </a:p>
          <a:p>
            <a:pPr algn="l"/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발동: 탄생 자리에서 색종이 폭발 · 광란 쥐에게 무지개 테두리 4초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방 이벤트 증강 - 프리즘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327648"/>
            <a:ext cx="548640" cy="2103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>
                <a:solidFill>
                  <a:srgbClr val="6B5E54"/>
                </a:solidFill>
                <a:latin typeface="Noto Sans KR"/>
                <a:ea typeface="Noto Sans KR"/>
              </a:rPr>
              <a:t>15</a:t>
            </a:r>
          </a:p>
        </p:txBody>
      </p:sp>
      <p:sp>
        <p:nvSpPr>
          <p:cNvPr id="5" name="Card"/>
          <p:cNvSpPr/>
          <p:nvPr/>
        </p:nvSpPr>
        <p:spPr>
          <a:xfrm>
            <a:off x="1133856" y="1563624"/>
            <a:ext cx="9930384" cy="146304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3856" y="1600200"/>
            <a:ext cx="9930384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9B5FD0"/>
                </a:solidFill>
                <a:latin typeface="Noto Sans KR"/>
                <a:ea typeface="Noto Sans KR"/>
              </a:rPr>
              <a:t>운석 소환 (프리즘)</a:t>
            </a:r>
          </a:p>
        </p:txBody>
      </p:sp>
      <p:pic>
        <p:nvPicPr>
          <p:cNvPr id="7" name="Picture 14" descr="치즈 종말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984248"/>
            <a:ext cx="1691640" cy="950976"/>
          </a:xfrm>
          <a:prstGeom prst="rect">
            <a:avLst/>
          </a:prstGeom>
          <a:ln w="9525">
            <a:solidFill>
              <a:srgbClr val="E7DFD2"/>
            </a:solidFill>
          </a:ln>
        </p:spPr>
      </p:pic>
      <p:sp>
        <p:nvSpPr>
          <p:cNvPr id="8" name="TextBox 9"/>
          <p:cNvSpPr txBox="1"/>
          <p:nvPr/>
        </p:nvSpPr>
        <p:spPr>
          <a:xfrm>
            <a:off x="3154680" y="1929384"/>
            <a:ext cx="78181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Noto Sans KR"/>
                <a:ea typeface="Noto Sans KR"/>
              </a:rPr>
              <a:t>30초마다 큰 치즈 운석 1개가 바닥으로 낙하</a:t>
            </a:r>
            <a:endParaRPr sz="1100" b="0">
              <a:solidFill>
                <a:srgbClr val="000000"/>
              </a:solidFill>
              <a:latin typeface="Noto Sans KR"/>
              <a:ea typeface="Noto Sans KR"/>
            </a:endParaRPr>
          </a:p>
        </p:txBody>
      </p:sp>
      <p:sp>
        <p:nvSpPr>
          <p:cNvPr id="9" name="TextBox 10"/>
          <p:cNvSpPr txBox="1"/>
          <p:nvPr/>
        </p:nvSpPr>
        <p:spPr>
          <a:xfrm>
            <a:off x="3154680" y="2331720"/>
            <a:ext cx="781812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발동: 0.8초 전 바닥에 붉은 원 그림자가 커짐 → 운석(쥐 4배) 낙하 · 큰 폭발 · 흔들림</a:t>
            </a:r>
          </a:p>
        </p:txBody>
      </p:sp>
      <p:sp>
        <p:nvSpPr>
          <p:cNvPr id="10" name="Card"/>
          <p:cNvSpPr/>
          <p:nvPr/>
        </p:nvSpPr>
        <p:spPr>
          <a:xfrm>
            <a:off x="1133856" y="3072384"/>
            <a:ext cx="9930384" cy="146304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5"/>
          <p:cNvSpPr txBox="1"/>
          <p:nvPr/>
        </p:nvSpPr>
        <p:spPr>
          <a:xfrm>
            <a:off x="1133856" y="3108960"/>
            <a:ext cx="9930384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9B5FD0"/>
                </a:solidFill>
                <a:latin typeface="Noto Sans KR"/>
                <a:ea typeface="Noto Sans KR"/>
              </a:rPr>
              <a:t>쥐 토네이도 (프리즘)</a:t>
            </a:r>
          </a:p>
        </p:txBody>
      </p:sp>
      <p:pic>
        <p:nvPicPr>
          <p:cNvPr id="12" name="Picture 23" descr="쥐 토네이도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493008"/>
            <a:ext cx="1691640" cy="950976"/>
          </a:xfrm>
          <a:prstGeom prst="rect">
            <a:avLst/>
          </a:prstGeom>
          <a:ln w="9525">
            <a:solidFill>
              <a:srgbClr val="E7DFD2"/>
            </a:solidFill>
          </a:ln>
        </p:spPr>
      </p:pic>
      <p:sp>
        <p:nvSpPr>
          <p:cNvPr id="13" name="TextBox 9"/>
          <p:cNvSpPr txBox="1"/>
          <p:nvPr/>
        </p:nvSpPr>
        <p:spPr>
          <a:xfrm>
            <a:off x="3154680" y="3438144"/>
            <a:ext cx="78181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Noto Sans KR"/>
                <a:ea typeface="Noto Sans KR"/>
              </a:rPr>
              <a:t>15초마다 토네이도가 6초 동안 방을 휩씀</a:t>
            </a:r>
            <a:endParaRPr sz="1100" b="0">
              <a:solidFill>
                <a:srgbClr val="000000"/>
              </a:solidFill>
              <a:latin typeface="Noto Sans KR"/>
              <a:ea typeface="Noto Sans KR"/>
            </a:endParaRPr>
          </a:p>
        </p:txBody>
      </p:sp>
      <p:sp>
        <p:nvSpPr>
          <p:cNvPr id="14" name="TextBox 10"/>
          <p:cNvSpPr txBox="1"/>
          <p:nvPr/>
        </p:nvSpPr>
        <p:spPr>
          <a:xfrm>
            <a:off x="3154680" y="3840480"/>
            <a:ext cx="781812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발동: 토네이도(높이 쥐 6배)가 랜덤 위치에 생겨 6초 동안 돌아다님 · 닿은 것은 빙글빙글 빨려 들어감</a:t>
            </a:r>
          </a:p>
        </p:txBody>
      </p:sp>
      <p:sp>
        <p:nvSpPr>
          <p:cNvPr id="15" name="Card"/>
          <p:cNvSpPr/>
          <p:nvPr/>
        </p:nvSpPr>
        <p:spPr>
          <a:xfrm>
            <a:off x="1133856" y="4581144"/>
            <a:ext cx="9930384" cy="146304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5"/>
          <p:cNvSpPr txBox="1"/>
          <p:nvPr/>
        </p:nvSpPr>
        <p:spPr>
          <a:xfrm>
            <a:off x="1133856" y="4617720"/>
            <a:ext cx="9930384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9B5FD0"/>
                </a:solidFill>
                <a:latin typeface="Noto Sans KR"/>
                <a:ea typeface="Noto Sans KR"/>
              </a:rPr>
              <a:t>장난감 기차 (프리즘)</a:t>
            </a:r>
          </a:p>
        </p:txBody>
      </p:sp>
      <p:pic>
        <p:nvPicPr>
          <p:cNvPr id="17" name="Picture 7" descr="장난감 기차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5001768"/>
            <a:ext cx="1691640" cy="950976"/>
          </a:xfrm>
          <a:prstGeom prst="rect">
            <a:avLst/>
          </a:prstGeom>
          <a:ln w="9525">
            <a:solidFill>
              <a:srgbClr val="E7DFD2"/>
            </a:solidFill>
          </a:ln>
        </p:spPr>
      </p:pic>
      <p:sp>
        <p:nvSpPr>
          <p:cNvPr id="18" name="TextBox 9"/>
          <p:cNvSpPr txBox="1"/>
          <p:nvPr/>
        </p:nvSpPr>
        <p:spPr>
          <a:xfrm>
            <a:off x="3154680" y="4946904"/>
            <a:ext cx="78181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Noto Sans KR"/>
                <a:ea typeface="Noto Sans KR"/>
              </a:rPr>
              <a:t>특정 시간마다 기차가 맵 한쪽 끝에서 반대편 끝까지 가로지름 · 지나가는 물건에 피해</a:t>
            </a:r>
            <a:endParaRPr sz="1100" b="0">
              <a:solidFill>
                <a:srgbClr val="000000"/>
              </a:solidFill>
              <a:latin typeface="Noto Sans KR"/>
              <a:ea typeface="Noto Sans KR"/>
            </a:endParaRPr>
          </a:p>
        </p:txBody>
      </p:sp>
      <p:sp>
        <p:nvSpPr>
          <p:cNvPr id="19" name="TextBox 10"/>
          <p:cNvSpPr txBox="1"/>
          <p:nvPr/>
        </p:nvSpPr>
        <p:spPr>
          <a:xfrm>
            <a:off x="3154680" y="5349240"/>
            <a:ext cx="781812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발동: 화면 밖에서 기적 소리와 함께 진입 → 지나간 길의 물건이 튕겨 나감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보상 증강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327648"/>
            <a:ext cx="548640" cy="2103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>
                <a:solidFill>
                  <a:srgbClr val="6B5E54"/>
                </a:solidFill>
                <a:latin typeface="Noto Sans KR"/>
                <a:ea typeface="Noto Sans KR"/>
              </a:rPr>
              <a:t>16</a:t>
            </a:r>
          </a:p>
        </p:txBody>
      </p:sp>
      <p:sp>
        <p:nvSpPr>
          <p:cNvPr id="5" name="Card"/>
          <p:cNvSpPr/>
          <p:nvPr/>
        </p:nvSpPr>
        <p:spPr>
          <a:xfrm>
            <a:off x="1133856" y="1563624"/>
            <a:ext cx="9930384" cy="146304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3856" y="1600200"/>
            <a:ext cx="9930384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7D8892"/>
                </a:solidFill>
                <a:latin typeface="Noto Sans KR"/>
                <a:ea typeface="Noto Sans KR"/>
              </a:rPr>
              <a:t>미다스의 앞니 (실버)</a:t>
            </a:r>
            <a:endParaRPr sz="1600" b="1">
              <a:solidFill>
                <a:srgbClr val="9B5FD0"/>
              </a:solidFill>
              <a:latin typeface="Noto Sans KR"/>
              <a:ea typeface="Noto Sans KR"/>
            </a:endParaRPr>
          </a:p>
        </p:txBody>
      </p:sp>
      <p:pic>
        <p:nvPicPr>
          <p:cNvPr id="7" name="Picture 23" descr="미다스의 앞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984248"/>
            <a:ext cx="1691640" cy="950976"/>
          </a:xfrm>
          <a:prstGeom prst="rect">
            <a:avLst/>
          </a:prstGeom>
          <a:ln w="9525">
            <a:solidFill>
              <a:srgbClr val="E7DFD2"/>
            </a:solidFill>
          </a:ln>
        </p:spPr>
      </p:pic>
      <p:sp>
        <p:nvSpPr>
          <p:cNvPr id="8" name="TextBox 9"/>
          <p:cNvSpPr txBox="1"/>
          <p:nvPr/>
        </p:nvSpPr>
        <p:spPr>
          <a:xfrm>
            <a:off x="3154680" y="1929384"/>
            <a:ext cx="78181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Noto Sans KR"/>
                <a:ea typeface="Noto Sans KR"/>
              </a:rPr>
              <a:t>황금 물건을 부수면 치즈 획득량 +50% (수치 조절)</a:t>
            </a:r>
            <a:endParaRPr sz="1100" b="0">
              <a:solidFill>
                <a:srgbClr val="000000"/>
              </a:solidFill>
              <a:latin typeface="Noto Sans KR"/>
              <a:ea typeface="Noto Sans KR"/>
            </a:endParaRPr>
          </a:p>
        </p:txBody>
      </p:sp>
      <p:sp>
        <p:nvSpPr>
          <p:cNvPr id="9" name="TextBox 10"/>
          <p:cNvSpPr txBox="1"/>
          <p:nvPr/>
        </p:nvSpPr>
        <p:spPr>
          <a:xfrm>
            <a:off x="3154680" y="2331720"/>
            <a:ext cx="781812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상시: 황금 물건 반짝임 2배로 자주</a:t>
            </a:r>
          </a:p>
          <a:p>
            <a:pPr algn="l"/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발동: 황금 물건이 부서질 때 금빛 조각이 튐 · "짤랑" 글자</a:t>
            </a:r>
          </a:p>
        </p:txBody>
      </p:sp>
      <p:sp>
        <p:nvSpPr>
          <p:cNvPr id="10" name="Card"/>
          <p:cNvSpPr/>
          <p:nvPr/>
        </p:nvSpPr>
        <p:spPr>
          <a:xfrm>
            <a:off x="1133856" y="3072384"/>
            <a:ext cx="9930384" cy="146304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5"/>
          <p:cNvSpPr txBox="1"/>
          <p:nvPr/>
        </p:nvSpPr>
        <p:spPr>
          <a:xfrm>
            <a:off x="1133856" y="3108960"/>
            <a:ext cx="9930384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7D8892"/>
                </a:solidFill>
                <a:latin typeface="Noto Sans KR"/>
                <a:ea typeface="Noto Sans KR"/>
              </a:rPr>
              <a:t>잭팟 (실버)</a:t>
            </a:r>
            <a:endParaRPr sz="1600" b="1">
              <a:solidFill>
                <a:srgbClr val="9B5FD0"/>
              </a:solidFill>
              <a:latin typeface="Noto Sans KR"/>
              <a:ea typeface="Noto Sans KR"/>
            </a:endParaRPr>
          </a:p>
        </p:txBody>
      </p:sp>
      <p:pic>
        <p:nvPicPr>
          <p:cNvPr id="12" name="Picture 14" descr="잭팟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493008"/>
            <a:ext cx="1691640" cy="950976"/>
          </a:xfrm>
          <a:prstGeom prst="rect">
            <a:avLst/>
          </a:prstGeom>
          <a:ln w="9525">
            <a:solidFill>
              <a:srgbClr val="E7DFD2"/>
            </a:solidFill>
          </a:ln>
        </p:spPr>
      </p:pic>
      <p:sp>
        <p:nvSpPr>
          <p:cNvPr id="13" name="TextBox 9"/>
          <p:cNvSpPr txBox="1"/>
          <p:nvPr/>
        </p:nvSpPr>
        <p:spPr>
          <a:xfrm>
            <a:off x="3154680" y="3438144"/>
            <a:ext cx="78181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Noto Sans KR"/>
                <a:ea typeface="Noto Sans KR"/>
              </a:rPr>
              <a:t>층 클리어 때 20% 확률로 연구자료 ×3</a:t>
            </a:r>
            <a:endParaRPr sz="1100" b="0">
              <a:solidFill>
                <a:srgbClr val="000000"/>
              </a:solidFill>
              <a:latin typeface="Noto Sans KR"/>
              <a:ea typeface="Noto Sans KR"/>
            </a:endParaRPr>
          </a:p>
        </p:txBody>
      </p:sp>
      <p:sp>
        <p:nvSpPr>
          <p:cNvPr id="14" name="TextBox 10"/>
          <p:cNvSpPr txBox="1"/>
          <p:nvPr/>
        </p:nvSpPr>
        <p:spPr>
          <a:xfrm>
            <a:off x="3154680" y="3840480"/>
            <a:ext cx="781812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상시: 화면 왼쪽 구석에 작은 슬롯머신</a:t>
            </a:r>
          </a:p>
          <a:p>
            <a:pPr algn="l"/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발동: 층 클리어 때 릴이 돌아감 → 당첨이면 777 정렬 · 화면 위에서 연구자료가 1.5초 쏟아짐</a:t>
            </a:r>
          </a:p>
        </p:txBody>
      </p:sp>
      <p:sp>
        <p:nvSpPr>
          <p:cNvPr id="15" name="Card"/>
          <p:cNvSpPr/>
          <p:nvPr/>
        </p:nvSpPr>
        <p:spPr>
          <a:xfrm>
            <a:off x="1133856" y="4581144"/>
            <a:ext cx="9930384" cy="146304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5"/>
          <p:cNvSpPr txBox="1"/>
          <p:nvPr/>
        </p:nvSpPr>
        <p:spPr>
          <a:xfrm>
            <a:off x="1133856" y="4617720"/>
            <a:ext cx="9930384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7D8892"/>
                </a:solidFill>
                <a:latin typeface="Noto Sans KR"/>
                <a:ea typeface="Noto Sans KR"/>
              </a:rPr>
              <a:t>모래시계 줍기 (실버)</a:t>
            </a:r>
            <a:endParaRPr sz="1600" b="1">
              <a:solidFill>
                <a:srgbClr val="9B5FD0"/>
              </a:solidFill>
              <a:latin typeface="Noto Sans KR"/>
              <a:ea typeface="Noto Sans KR"/>
            </a:endParaRPr>
          </a:p>
        </p:txBody>
      </p:sp>
      <p:pic>
        <p:nvPicPr>
          <p:cNvPr id="17" name="Picture 23" descr="모래시계 줍기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5001768"/>
            <a:ext cx="1691640" cy="950976"/>
          </a:xfrm>
          <a:prstGeom prst="rect">
            <a:avLst/>
          </a:prstGeom>
          <a:ln w="9525">
            <a:solidFill>
              <a:srgbClr val="E7DFD2"/>
            </a:solidFill>
          </a:ln>
        </p:spPr>
      </p:pic>
      <p:sp>
        <p:nvSpPr>
          <p:cNvPr id="18" name="TextBox 9"/>
          <p:cNvSpPr txBox="1"/>
          <p:nvPr/>
        </p:nvSpPr>
        <p:spPr>
          <a:xfrm>
            <a:off x="3154680" y="4946904"/>
            <a:ext cx="78181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Noto Sans KR"/>
                <a:ea typeface="Noto Sans KR"/>
              </a:rPr>
              <a:t>물건을 부수면 1% 미만 확률로 모래시계 드롭 · 1개당 시간 +1초</a:t>
            </a:r>
            <a:endParaRPr sz="1100" b="0">
              <a:solidFill>
                <a:srgbClr val="000000"/>
              </a:solidFill>
              <a:latin typeface="Noto Sans KR"/>
              <a:ea typeface="Noto Sans KR"/>
            </a:endParaRPr>
          </a:p>
        </p:txBody>
      </p:sp>
      <p:sp>
        <p:nvSpPr>
          <p:cNvPr id="19" name="TextBox 10"/>
          <p:cNvSpPr txBox="1"/>
          <p:nvPr/>
        </p:nvSpPr>
        <p:spPr>
          <a:xfrm>
            <a:off x="3154680" y="5349240"/>
            <a:ext cx="781812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발동: 모래시계가 시간 UI로 흡수되듯 이동 → 시간 숫자 한 번 반짝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등급 통일 - 판의 모습이 바뀐다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327648"/>
            <a:ext cx="548640" cy="2103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>
                <a:solidFill>
                  <a:srgbClr val="6B5E54"/>
                </a:solidFill>
                <a:latin typeface="Noto Sans KR"/>
                <a:ea typeface="Noto Sans KR"/>
              </a:rPr>
              <a:t>17</a:t>
            </a:r>
          </a:p>
        </p:txBody>
      </p:sp>
      <p:sp>
        <p:nvSpPr>
          <p:cNvPr id="5" name="Card"/>
          <p:cNvSpPr/>
          <p:nvPr/>
        </p:nvSpPr>
        <p:spPr>
          <a:xfrm>
            <a:off x="1133856" y="1563624"/>
            <a:ext cx="9930384" cy="146304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3856" y="1600200"/>
            <a:ext cx="9930384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9B5FD0"/>
                </a:solidFill>
                <a:latin typeface="Noto Sans KR"/>
                <a:ea typeface="Noto Sans KR"/>
              </a:rPr>
              <a:t>스케이터 생쥐 (레어)</a:t>
            </a:r>
          </a:p>
        </p:txBody>
      </p:sp>
      <p:pic>
        <p:nvPicPr>
          <p:cNvPr id="7" name="Picture 6" descr="_통일 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984248"/>
            <a:ext cx="1691640" cy="951547"/>
          </a:xfrm>
          <a:prstGeom prst="rect">
            <a:avLst/>
          </a:prstGeom>
          <a:ln w="9525">
            <a:solidFill>
              <a:srgbClr val="E7DFD2"/>
            </a:solidFill>
          </a:ln>
        </p:spPr>
      </p:pic>
      <p:sp>
        <p:nvSpPr>
          <p:cNvPr id="8" name="Right Arrow 7"/>
          <p:cNvSpPr/>
          <p:nvPr/>
        </p:nvSpPr>
        <p:spPr>
          <a:xfrm>
            <a:off x="3054096" y="2331720"/>
            <a:ext cx="365760" cy="201168"/>
          </a:xfrm>
          <a:prstGeom prst="rightArrow">
            <a:avLst/>
          </a:prstGeom>
          <a:solidFill>
            <a:srgbClr val="E97132"/>
          </a:solidFill>
          <a:ln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_스케이터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152" y="1984248"/>
            <a:ext cx="1691640" cy="951547"/>
          </a:xfrm>
          <a:prstGeom prst="rect">
            <a:avLst/>
          </a:prstGeom>
          <a:ln w="9525">
            <a:solidFill>
              <a:srgbClr val="E7DFD2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31536" y="1874519"/>
            <a:ext cx="5504688" cy="4937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Noto Sans KR"/>
                <a:ea typeface="Noto Sans KR"/>
              </a:rPr>
              <a:t>모든 레어 쥐 → 양복 입은 대머리 생쥐 (겟투워크 캐릭터 참고)
이동 속도가 매우 빠름 · 대머리로 박치기해서 공격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31536" y="2459736"/>
            <a:ext cx="5504688" cy="5394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상시: 레어 쥐 전원 양복 · 대머리 · 달릴 때 넥타이가 뒤로 휘날림
발동: 박치기 때 대머리에 하얀 반짝 · "띵!" 글자</a:t>
            </a:r>
          </a:p>
        </p:txBody>
      </p:sp>
      <p:sp>
        <p:nvSpPr>
          <p:cNvPr id="12" name="Card"/>
          <p:cNvSpPr/>
          <p:nvPr/>
        </p:nvSpPr>
        <p:spPr>
          <a:xfrm>
            <a:off x="1133856" y="3072384"/>
            <a:ext cx="9930384" cy="146304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33856" y="3108960"/>
            <a:ext cx="9930384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C89210"/>
                </a:solidFill>
                <a:latin typeface="Noto Sans KR"/>
                <a:ea typeface="Noto Sans KR"/>
              </a:rPr>
              <a:t>골든 햄스터 생쥐 (일반)</a:t>
            </a:r>
          </a:p>
        </p:txBody>
      </p:sp>
      <p:pic>
        <p:nvPicPr>
          <p:cNvPr id="14" name="Picture 13" descr="_통일 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493008"/>
            <a:ext cx="1691640" cy="951547"/>
          </a:xfrm>
          <a:prstGeom prst="rect">
            <a:avLst/>
          </a:prstGeom>
          <a:ln w="9525">
            <a:solidFill>
              <a:srgbClr val="E7DFD2"/>
            </a:solidFill>
          </a:ln>
        </p:spPr>
      </p:pic>
      <p:sp>
        <p:nvSpPr>
          <p:cNvPr id="15" name="Right Arrow 14"/>
          <p:cNvSpPr/>
          <p:nvPr/>
        </p:nvSpPr>
        <p:spPr>
          <a:xfrm>
            <a:off x="3054096" y="3840480"/>
            <a:ext cx="365760" cy="201168"/>
          </a:xfrm>
          <a:prstGeom prst="rightArrow">
            <a:avLst/>
          </a:prstGeom>
          <a:solidFill>
            <a:srgbClr val="E97132"/>
          </a:solidFill>
          <a:ln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_골든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152" y="3493008"/>
            <a:ext cx="1691640" cy="951547"/>
          </a:xfrm>
          <a:prstGeom prst="rect">
            <a:avLst/>
          </a:prstGeom>
          <a:ln w="9525">
            <a:solidFill>
              <a:srgbClr val="E7DFD2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5431536" y="3383279"/>
            <a:ext cx="5504688" cy="4937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Noto Sans KR"/>
                <a:ea typeface="Noto Sans KR"/>
              </a:rPr>
              <a:t>모든 일반 쥐 → 골든 햄스터 생쥐
항상 공 상태로 굴러다님 · 치즈 담당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31536" y="3968496"/>
            <a:ext cx="5504688" cy="5394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상시: 일반 쥐 전원 황금 공 모양으로 굴러다님
발동: 지나간 자리에 황금 바퀴 자국 (3초 유지)</a:t>
            </a:r>
          </a:p>
        </p:txBody>
      </p:sp>
      <p:sp>
        <p:nvSpPr>
          <p:cNvPr id="19" name="Card"/>
          <p:cNvSpPr/>
          <p:nvPr/>
        </p:nvSpPr>
        <p:spPr>
          <a:xfrm>
            <a:off x="1133856" y="4581144"/>
            <a:ext cx="9930384" cy="146304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33856" y="4617720"/>
            <a:ext cx="9930384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C89210"/>
                </a:solidFill>
                <a:latin typeface="Noto Sans KR"/>
                <a:ea typeface="Noto Sans KR"/>
              </a:rPr>
              <a:t>판다 잠옷 정글리안 생쥐 (일반)</a:t>
            </a:r>
          </a:p>
        </p:txBody>
      </p:sp>
      <p:pic>
        <p:nvPicPr>
          <p:cNvPr id="21" name="Picture 20" descr="_통일 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5001768"/>
            <a:ext cx="1691640" cy="951547"/>
          </a:xfrm>
          <a:prstGeom prst="rect">
            <a:avLst/>
          </a:prstGeom>
          <a:ln w="9525">
            <a:solidFill>
              <a:srgbClr val="E7DFD2"/>
            </a:solidFill>
          </a:ln>
        </p:spPr>
      </p:pic>
      <p:sp>
        <p:nvSpPr>
          <p:cNvPr id="22" name="Right Arrow 21"/>
          <p:cNvSpPr/>
          <p:nvPr/>
        </p:nvSpPr>
        <p:spPr>
          <a:xfrm>
            <a:off x="3054096" y="5349240"/>
            <a:ext cx="365760" cy="201168"/>
          </a:xfrm>
          <a:prstGeom prst="rightArrow">
            <a:avLst/>
          </a:prstGeom>
          <a:solidFill>
            <a:srgbClr val="E97132"/>
          </a:solidFill>
          <a:ln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_판다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2152" y="5001768"/>
            <a:ext cx="1691640" cy="951547"/>
          </a:xfrm>
          <a:prstGeom prst="rect">
            <a:avLst/>
          </a:prstGeom>
          <a:ln w="9525">
            <a:solidFill>
              <a:srgbClr val="E7DFD2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431536" y="4892040"/>
            <a:ext cx="5504688" cy="4937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Noto Sans KR"/>
                <a:ea typeface="Noto Sans KR"/>
              </a:rPr>
              <a:t>모든 일반 쥐 → 판다 잠옷 정글리안 생쥐
항상 몸을 말아 대포알처럼 튕겨다님 · 피해 담당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31536" y="5477256"/>
            <a:ext cx="5504688" cy="5394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상시: 일반 쥐 전원 몸을 만 판다 공
발동: 벽 · 물건에 튕길 때마다 충격 원 · "쿵" 글자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등급 통일 - 공통 적용 규칙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327648"/>
            <a:ext cx="548640" cy="2103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>
                <a:solidFill>
                  <a:srgbClr val="6B5E54"/>
                </a:solidFill>
                <a:latin typeface="Noto Sans KR"/>
                <a:ea typeface="Noto Sans KR"/>
              </a:rPr>
              <a:t>18</a:t>
            </a:r>
          </a:p>
        </p:txBody>
      </p:sp>
      <p:sp>
        <p:nvSpPr>
          <p:cNvPr id="5" name="Card"/>
          <p:cNvSpPr/>
          <p:nvPr/>
        </p:nvSpPr>
        <p:spPr>
          <a:xfrm>
            <a:off x="1133856" y="1563624"/>
            <a:ext cx="9930384" cy="146304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3856" y="1600200"/>
            <a:ext cx="9930384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9B5FD0"/>
                </a:solidFill>
                <a:latin typeface="Noto Sans KR"/>
                <a:ea typeface="Noto Sans KR"/>
              </a:rPr>
              <a:t>맘스땃쥐 생쥐 (에픽)</a:t>
            </a:r>
          </a:p>
        </p:txBody>
      </p:sp>
      <p:pic>
        <p:nvPicPr>
          <p:cNvPr id="7" name="Picture 6" descr="_통일 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984248"/>
            <a:ext cx="1691640" cy="951547"/>
          </a:xfrm>
          <a:prstGeom prst="rect">
            <a:avLst/>
          </a:prstGeom>
          <a:ln w="9525">
            <a:solidFill>
              <a:srgbClr val="E7DFD2"/>
            </a:solidFill>
          </a:ln>
        </p:spPr>
      </p:pic>
      <p:sp>
        <p:nvSpPr>
          <p:cNvPr id="8" name="Right Arrow 7"/>
          <p:cNvSpPr/>
          <p:nvPr/>
        </p:nvSpPr>
        <p:spPr>
          <a:xfrm>
            <a:off x="3054096" y="2331720"/>
            <a:ext cx="365760" cy="201168"/>
          </a:xfrm>
          <a:prstGeom prst="rightArrow">
            <a:avLst/>
          </a:prstGeom>
          <a:solidFill>
            <a:srgbClr val="E97132"/>
          </a:solidFill>
          <a:ln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_맘스땃쥐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152" y="1984248"/>
            <a:ext cx="1691640" cy="951547"/>
          </a:xfrm>
          <a:prstGeom prst="rect">
            <a:avLst/>
          </a:prstGeom>
          <a:ln w="9525">
            <a:solidFill>
              <a:srgbClr val="E7DFD2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31536" y="1874519"/>
            <a:ext cx="5504688" cy="4937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Noto Sans KR"/>
                <a:ea typeface="Noto Sans KR"/>
              </a:rPr>
              <a:t>모든 에픽 쥐 → 맘스땃쥐 생쥐
버거 최대 8층까지 쌓임 · 박치기 피해 +50%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31536" y="2459736"/>
            <a:ext cx="5504688" cy="5394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상시: 에픽 쥐 전원 버거 몸 · 패티가 위로 한 층씩 쌓임 (몸 너비는 그대로)
발동: 8층 박치기 때 버거 재료가 사방으로 흩어짐</a:t>
            </a:r>
          </a:p>
        </p:txBody>
      </p:sp>
      <p:sp>
        <p:nvSpPr>
          <p:cNvPr id="12" name="Card"/>
          <p:cNvSpPr/>
          <p:nvPr/>
        </p:nvSpPr>
        <p:spPr>
          <a:xfrm>
            <a:off x="1133856" y="3072384"/>
            <a:ext cx="9930384" cy="146304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33856" y="3108960"/>
            <a:ext cx="9930384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9B5FD0"/>
                </a:solidFill>
                <a:latin typeface="Noto Sans KR"/>
                <a:ea typeface="Noto Sans KR"/>
              </a:rPr>
              <a:t>5G 생쥐 (에픽)</a:t>
            </a:r>
          </a:p>
        </p:txBody>
      </p:sp>
      <p:pic>
        <p:nvPicPr>
          <p:cNvPr id="14" name="Picture 13" descr="_통일 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493008"/>
            <a:ext cx="1691640" cy="951547"/>
          </a:xfrm>
          <a:prstGeom prst="rect">
            <a:avLst/>
          </a:prstGeom>
          <a:ln w="9525">
            <a:solidFill>
              <a:srgbClr val="E7DFD2"/>
            </a:solidFill>
          </a:ln>
        </p:spPr>
      </p:pic>
      <p:sp>
        <p:nvSpPr>
          <p:cNvPr id="15" name="Right Arrow 14"/>
          <p:cNvSpPr/>
          <p:nvPr/>
        </p:nvSpPr>
        <p:spPr>
          <a:xfrm>
            <a:off x="3054096" y="3840480"/>
            <a:ext cx="365760" cy="201168"/>
          </a:xfrm>
          <a:prstGeom prst="rightArrow">
            <a:avLst/>
          </a:prstGeom>
          <a:solidFill>
            <a:srgbClr val="E97132"/>
          </a:solidFill>
          <a:ln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_5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152" y="3493008"/>
            <a:ext cx="1691640" cy="951547"/>
          </a:xfrm>
          <a:prstGeom prst="rect">
            <a:avLst/>
          </a:prstGeom>
          <a:ln w="9525">
            <a:solidFill>
              <a:srgbClr val="E7DFD2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5431536" y="3383279"/>
            <a:ext cx="5504688" cy="4937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Noto Sans KR"/>
                <a:ea typeface="Noto Sans KR"/>
              </a:rPr>
              <a:t>모든 에픽 쥐 → 5G 생쥐
주변 동료 수와 상관없이 모든 쥐에게 데이터를 전송해 쥐를 강화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31536" y="3968496"/>
            <a:ext cx="5504688" cy="5394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상시: 화면 위 '5G' 신호 막대 · 모든 쥐 사이 얇은 반투명 전파선
발동: 데이터 전송 때 전파선 위로 빛 점이 달려감</a:t>
            </a:r>
          </a:p>
        </p:txBody>
      </p:sp>
      <p:sp>
        <p:nvSpPr>
          <p:cNvPr id="19" name="Card"/>
          <p:cNvSpPr/>
          <p:nvPr/>
        </p:nvSpPr>
        <p:spPr>
          <a:xfrm>
            <a:off x="1133856" y="4718304"/>
            <a:ext cx="4855464" cy="667512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25296" y="4754880"/>
            <a:ext cx="123444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Noto Sans KR"/>
                <a:ea typeface="Noto Sans KR"/>
              </a:rPr>
              <a:t>적용 대상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7168" y="4764024"/>
            <a:ext cx="338328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Noto Sans KR"/>
                <a:ea typeface="Noto Sans KR"/>
              </a:rPr>
              <a:t>이후 태어나는 쥐도 포함. 원래 스킬 대신 통일된 쥐 스킬 사용</a:t>
            </a:r>
          </a:p>
        </p:txBody>
      </p:sp>
      <p:sp>
        <p:nvSpPr>
          <p:cNvPr id="22" name="Card"/>
          <p:cNvSpPr/>
          <p:nvPr/>
        </p:nvSpPr>
        <p:spPr>
          <a:xfrm>
            <a:off x="6208776" y="4718304"/>
            <a:ext cx="4855464" cy="667512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0216" y="4754880"/>
            <a:ext cx="123444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Noto Sans KR"/>
                <a:ea typeface="Noto Sans KR"/>
              </a:rPr>
              <a:t>동시 장착 제한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2088" y="4764024"/>
            <a:ext cx="338328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Noto Sans KR"/>
                <a:ea typeface="Noto Sans KR"/>
              </a:rPr>
              <a:t>같은 등급 통일은 동시 장착 불가: 골든 햄스터 ↔ 판다, 맘스땃쥐 ↔ 5G</a:t>
            </a:r>
          </a:p>
        </p:txBody>
      </p:sp>
      <p:sp>
        <p:nvSpPr>
          <p:cNvPr id="25" name="Card"/>
          <p:cNvSpPr/>
          <p:nvPr/>
        </p:nvSpPr>
        <p:spPr>
          <a:xfrm>
            <a:off x="1133856" y="5458968"/>
            <a:ext cx="4855464" cy="667512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25296" y="5495544"/>
            <a:ext cx="123444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Noto Sans KR"/>
                <a:ea typeface="Noto Sans KR"/>
              </a:rPr>
              <a:t>5G 전송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87168" y="5504688"/>
            <a:ext cx="338328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Noto Sans KR"/>
                <a:ea typeface="Noto Sans KR"/>
              </a:rPr>
              <a:t>쥐 수와 관계없이 데이터 전송은 한 번만 적용</a:t>
            </a:r>
          </a:p>
        </p:txBody>
      </p:sp>
      <p:sp>
        <p:nvSpPr>
          <p:cNvPr id="28" name="Card"/>
          <p:cNvSpPr/>
          <p:nvPr/>
        </p:nvSpPr>
        <p:spPr>
          <a:xfrm>
            <a:off x="6208776" y="5458968"/>
            <a:ext cx="4855464" cy="667512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0216" y="5495544"/>
            <a:ext cx="123444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Noto Sans KR"/>
                <a:ea typeface="Noto Sans KR"/>
              </a:rPr>
              <a:t>해제 시 복귀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2088" y="5504688"/>
            <a:ext cx="338328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Noto Sans KR"/>
                <a:ea typeface="Noto Sans KR"/>
              </a:rPr>
              <a:t>장착을 빼면 원래 모습과 스킬로 복귀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</TotalTime>
  <Words>2150</Words>
  <Application>Microsoft Office PowerPoint</Application>
  <PresentationFormat>와이드스크린</PresentationFormat>
  <Paragraphs>321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Noto Sans KR</vt:lpstr>
      <vt:lpstr>Noto Sans KR Black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도원 박</dc:creator>
  <cp:lastModifiedBy>user</cp:lastModifiedBy>
  <cp:revision>25</cp:revision>
  <dcterms:created xsi:type="dcterms:W3CDTF">2026-09-29T07:46:10Z</dcterms:created>
  <dcterms:modified xsi:type="dcterms:W3CDTF">2026-10-23T01:32:36Z</dcterms:modified>
</cp:coreProperties>
</file>