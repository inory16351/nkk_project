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8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9" r:id="rId12"/>
    <p:sldId id="267" r:id="rId13"/>
    <p:sldId id="268" r:id="rId14"/>
    <p:sldId id="269" r:id="rId15"/>
    <p:sldId id="271" r:id="rId16"/>
    <p:sldId id="272" r:id="rId17"/>
    <p:sldId id="273" r:id="rId18"/>
    <p:sldId id="280" r:id="rId19"/>
    <p:sldId id="274" r:id="rId20"/>
    <p:sldId id="270" r:id="rId21"/>
    <p:sldId id="275" r:id="rId22"/>
    <p:sldId id="276" r:id="rId23"/>
    <p:sldId id="277" r:id="rId24"/>
    <p:sldId id="278" r:id="rId25"/>
    <p:sldId id="283" r:id="rId26"/>
    <p:sldId id="284" r:id="rId27"/>
    <p:sldId id="285" r:id="rId28"/>
    <p:sldId id="286" r:id="rId29"/>
    <p:sldId id="287" r:id="rId30"/>
    <p:sldId id="281" r:id="rId31"/>
    <p:sldId id="282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8C8C8C"/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 vs 처음 깬 최고 층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초반</c:v>
                </c:pt>
              </c:strCache>
            </c:strRef>
          </c:tx>
          <c:spPr>
            <a:ln w="34925">
              <a:solidFill>
                <a:srgbClr val="F4B183"/>
              </a:solidFill>
            </a:ln>
          </c:spPr>
          <c:marker>
            <c:symbol val="circle"/>
            <c:size val="6"/>
            <c:spPr>
              <a:solidFill>
                <a:srgbClr val="F4B183"/>
              </a:solidFill>
              <a:ln>
                <a:solidFill>
                  <a:srgbClr val="F4B183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1.6E-2</c:v>
                </c:pt>
                <c:pt idx="2">
                  <c:v>3.5000000000000003E-2</c:v>
                </c:pt>
                <c:pt idx="3">
                  <c:v>5.8999999999999997E-2</c:v>
                </c:pt>
                <c:pt idx="4">
                  <c:v>8.7999999999999995E-2</c:v>
                </c:pt>
                <c:pt idx="5">
                  <c:v>0.40100000000000002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874-4C24-8242-1C7EA2D0AA85}"/>
            </c:ext>
          </c:extLst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중반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circle"/>
            <c:size val="6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Sheet1!$A$10:$A$20</c:f>
              <c:numCache>
                <c:formatCode>General</c:formatCode>
                <c:ptCount val="11"/>
                <c:pt idx="0">
                  <c:v>0.40100000000000002</c:v>
                </c:pt>
                <c:pt idx="1">
                  <c:v>0.56599999999999995</c:v>
                </c:pt>
                <c:pt idx="2">
                  <c:v>0.59499999999999997</c:v>
                </c:pt>
                <c:pt idx="3">
                  <c:v>0.876</c:v>
                </c:pt>
                <c:pt idx="4">
                  <c:v>0.90500000000000003</c:v>
                </c:pt>
                <c:pt idx="5">
                  <c:v>1.2190000000000001</c:v>
                </c:pt>
                <c:pt idx="6">
                  <c:v>1.248</c:v>
                </c:pt>
                <c:pt idx="7">
                  <c:v>1.6080000000000001</c:v>
                </c:pt>
                <c:pt idx="8">
                  <c:v>1.637</c:v>
                </c:pt>
                <c:pt idx="9">
                  <c:v>2.0489999999999999</c:v>
                </c:pt>
                <c:pt idx="10">
                  <c:v>2.0779999999999998</c:v>
                </c:pt>
              </c:numCache>
            </c:numRef>
          </c:xVal>
          <c:yVal>
            <c:numRef>
              <c:f>Sheet1!$B$10:$B$20</c:f>
              <c:numCache>
                <c:formatCode>General</c:formatCod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874-4C24-8242-1C7EA2D0AA85}"/>
            </c:ext>
          </c:extLst>
        </c:ser>
        <c:ser>
          <c:idx val="2"/>
          <c:order val="2"/>
          <c:tx>
            <c:strRef>
              <c:f>Sheet1!$B$22</c:f>
              <c:strCache>
                <c:ptCount val="1"/>
                <c:pt idx="0">
                  <c:v>후반</c:v>
                </c:pt>
              </c:strCache>
            </c:strRef>
          </c:tx>
          <c:spPr>
            <a:ln w="34925">
              <a:solidFill>
                <a:srgbClr val="8C8C8C"/>
              </a:solidFill>
            </a:ln>
          </c:spPr>
          <c:marker>
            <c:symbol val="circle"/>
            <c:size val="6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Sheet1!$A$23:$A$28</c:f>
              <c:numCache>
                <c:formatCode>General</c:formatCode>
                <c:ptCount val="6"/>
                <c:pt idx="0">
                  <c:v>2.0779999999999998</c:v>
                </c:pt>
                <c:pt idx="1">
                  <c:v>2.9649999999999999</c:v>
                </c:pt>
                <c:pt idx="2">
                  <c:v>3.8719999999999999</c:v>
                </c:pt>
                <c:pt idx="3">
                  <c:v>5.2949999999999999</c:v>
                </c:pt>
                <c:pt idx="4">
                  <c:v>6.7990000000000004</c:v>
                </c:pt>
                <c:pt idx="5">
                  <c:v>8.3849999999999998</c:v>
                </c:pt>
              </c:numCache>
            </c:numRef>
          </c:xVal>
          <c:yVal>
            <c:numRef>
              <c:f>Sheet1!$B$23:$B$28</c:f>
              <c:numCache>
                <c:formatCode>General</c:formatCod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874-4C24-8242-1C7EA2D0A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9"/>
          <c:min val="0"/>
        </c:scaling>
        <c:delete val="0"/>
        <c:axPos val="b"/>
        <c:majorGridlines>
          <c:spPr>
            <a:ln>
              <a:solidFill>
                <a:srgbClr val="EDEDED"/>
              </a:solidFill>
            </a:ln>
          </c:spPr>
        </c:majorGridlines>
        <c:numFmt formatCode="0&quot;시간&quot;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129643912"/>
        <c:crosses val="autoZero"/>
        <c:crossBetween val="midCat"/>
        <c:majorUnit val="1"/>
      </c:valAx>
      <c:valAx>
        <c:axId val="-2129643912"/>
        <c:scaling>
          <c:orientation val="minMax"/>
          <c:max val="2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층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128940872"/>
        <c:crosses val="autoZero"/>
        <c:crossBetween val="midCat"/>
        <c:majorUnit val="5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 그래프 — 판별 최고 층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그 판의 최고 층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14C-4B4A-AF4E-5F7FAAB429E6}"/>
              </c:ext>
            </c:extLst>
          </c:dPt>
          <c:dPt>
            <c:idx val="1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14C-4B4A-AF4E-5F7FAAB429E6}"/>
              </c:ext>
            </c:extLst>
          </c:dPt>
          <c:dPt>
            <c:idx val="2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314C-4B4A-AF4E-5F7FAAB429E6}"/>
              </c:ext>
            </c:extLst>
          </c:dPt>
          <c:dPt>
            <c:idx val="3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314C-4B4A-AF4E-5F7FAAB429E6}"/>
              </c:ext>
            </c:extLst>
          </c:dPt>
          <c:dPt>
            <c:idx val="4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314C-4B4A-AF4E-5F7FAAB429E6}"/>
              </c:ext>
            </c:extLst>
          </c:dPt>
          <c:dPt>
            <c:idx val="5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314C-4B4A-AF4E-5F7FAAB429E6}"/>
              </c:ext>
            </c:extLst>
          </c:dPt>
          <c:dPt>
            <c:idx val="6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314C-4B4A-AF4E-5F7FAAB429E6}"/>
              </c:ext>
            </c:extLst>
          </c:dPt>
          <c:dPt>
            <c:idx val="7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314C-4B4A-AF4E-5F7FAAB429E6}"/>
              </c:ext>
            </c:extLst>
          </c:dPt>
          <c:dPt>
            <c:idx val="8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314C-4B4A-AF4E-5F7FAAB429E6}"/>
              </c:ext>
            </c:extLst>
          </c:dPt>
          <c:dPt>
            <c:idx val="9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314C-4B4A-AF4E-5F7FAAB429E6}"/>
              </c:ext>
            </c:extLst>
          </c:dPt>
          <c:dPt>
            <c:idx val="1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314C-4B4A-AF4E-5F7FAAB429E6}"/>
              </c:ext>
            </c:extLst>
          </c:dPt>
          <c:dPt>
            <c:idx val="1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314C-4B4A-AF4E-5F7FAAB429E6}"/>
              </c:ext>
            </c:extLst>
          </c:dPt>
          <c:dPt>
            <c:idx val="1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314C-4B4A-AF4E-5F7FAAB429E6}"/>
              </c:ext>
            </c:extLst>
          </c:dPt>
          <c:dPt>
            <c:idx val="1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314C-4B4A-AF4E-5F7FAAB429E6}"/>
              </c:ext>
            </c:extLst>
          </c:dPt>
          <c:dPt>
            <c:idx val="14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314C-4B4A-AF4E-5F7FAAB429E6}"/>
              </c:ext>
            </c:extLst>
          </c:dPt>
          <c:dPt>
            <c:idx val="15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314C-4B4A-AF4E-5F7FAAB429E6}"/>
              </c:ext>
            </c:extLst>
          </c:dPt>
          <c:dPt>
            <c:idx val="16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314C-4B4A-AF4E-5F7FAAB429E6}"/>
              </c:ext>
            </c:extLst>
          </c:dPt>
          <c:dPt>
            <c:idx val="17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314C-4B4A-AF4E-5F7FAAB429E6}"/>
              </c:ext>
            </c:extLst>
          </c:dPt>
          <c:dPt>
            <c:idx val="18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314C-4B4A-AF4E-5F7FAAB429E6}"/>
              </c:ext>
            </c:extLst>
          </c:dPt>
          <c:dPt>
            <c:idx val="19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314C-4B4A-AF4E-5F7FAAB429E6}"/>
              </c:ext>
            </c:extLst>
          </c:dPt>
          <c:dPt>
            <c:idx val="2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9-314C-4B4A-AF4E-5F7FAAB429E6}"/>
              </c:ext>
            </c:extLst>
          </c:dPt>
          <c:dLbls>
            <c:numFmt formatCode="0&quot;층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0B0B0B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1판
10분</c:v>
                </c:pt>
                <c:pt idx="1">
                  <c:v>2판
18분</c:v>
                </c:pt>
                <c:pt idx="2">
                  <c:v>3판
29분</c:v>
                </c:pt>
                <c:pt idx="3">
                  <c:v>4판
46분</c:v>
                </c:pt>
                <c:pt idx="4">
                  <c:v>5판
1시간
04분</c:v>
                </c:pt>
                <c:pt idx="5">
                  <c:v>6판
1시간
25분</c:v>
                </c:pt>
                <c:pt idx="6">
                  <c:v>7판
1시간
48분</c:v>
                </c:pt>
                <c:pt idx="7">
                  <c:v>8판
2시간
15분</c:v>
                </c:pt>
                <c:pt idx="8">
                  <c:v>9판
2시간
39분</c:v>
                </c:pt>
                <c:pt idx="9">
                  <c:v>10판
3시간
06분</c:v>
                </c:pt>
                <c:pt idx="10">
                  <c:v>11판
3시간
32분</c:v>
                </c:pt>
                <c:pt idx="11">
                  <c:v>12판
4시간
00분</c:v>
                </c:pt>
                <c:pt idx="12">
                  <c:v>13판
4시간
28분</c:v>
                </c:pt>
                <c:pt idx="13">
                  <c:v>14판
4시간
56분</c:v>
                </c:pt>
                <c:pt idx="14">
                  <c:v>15판
5시간
26분</c:v>
                </c:pt>
                <c:pt idx="15">
                  <c:v>16판
5시간
55분</c:v>
                </c:pt>
                <c:pt idx="16">
                  <c:v>17판
6시간
25분</c:v>
                </c:pt>
                <c:pt idx="17">
                  <c:v>18판
6시간
56분</c:v>
                </c:pt>
                <c:pt idx="18">
                  <c:v>19판
7시간
27분</c:v>
                </c:pt>
                <c:pt idx="19">
                  <c:v>20판
7시간
58분</c:v>
                </c:pt>
                <c:pt idx="20">
                  <c:v>21판
8시간
31분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15</c:v>
                </c:pt>
                <c:pt idx="9">
                  <c:v>16</c:v>
                </c:pt>
                <c:pt idx="10">
                  <c:v>16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18</c:v>
                </c:pt>
                <c:pt idx="15">
                  <c:v>18</c:v>
                </c:pt>
                <c:pt idx="16">
                  <c:v>18</c:v>
                </c:pt>
                <c:pt idx="17">
                  <c:v>19</c:v>
                </c:pt>
                <c:pt idx="18">
                  <c:v>19</c:v>
                </c:pt>
                <c:pt idx="19">
                  <c:v>19</c:v>
                </c:pt>
                <c:pt idx="2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314C-4B4A-AF4E-5F7FAAB429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적정 찍찍 (로그 눈금)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 (1층 = 100)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F8D-456A-AAF8-F39E8C563186}"/>
              </c:ext>
            </c:extLst>
          </c:dPt>
          <c:dPt>
            <c:idx val="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F8D-456A-AAF8-F39E8C563186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F8D-456A-AAF8-F39E8C563186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F8D-456A-AAF8-F39E8C563186}"/>
              </c:ext>
            </c:extLst>
          </c:dPt>
          <c:dPt>
            <c:idx val="4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9F8D-456A-AAF8-F39E8C563186}"/>
              </c:ext>
            </c:extLst>
          </c:dPt>
          <c:dPt>
            <c:idx val="5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9F8D-456A-AAF8-F39E8C563186}"/>
              </c:ext>
            </c:extLst>
          </c:dPt>
          <c:dPt>
            <c:idx val="6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9F8D-456A-AAF8-F39E8C563186}"/>
              </c:ext>
            </c:extLst>
          </c:dPt>
          <c:dPt>
            <c:idx val="7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9F8D-456A-AAF8-F39E8C563186}"/>
              </c:ext>
            </c:extLst>
          </c:dPt>
          <c:dPt>
            <c:idx val="8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9F8D-456A-AAF8-F39E8C563186}"/>
              </c:ext>
            </c:extLst>
          </c:dPt>
          <c:dPt>
            <c:idx val="9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9F8D-456A-AAF8-F39E8C563186}"/>
              </c:ext>
            </c:extLst>
          </c:dPt>
          <c:dPt>
            <c:idx val="10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9F8D-456A-AAF8-F39E8C563186}"/>
              </c:ext>
            </c:extLst>
          </c:dPt>
          <c:dPt>
            <c:idx val="11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9F8D-456A-AAF8-F39E8C563186}"/>
              </c:ext>
            </c:extLst>
          </c:dPt>
          <c:dPt>
            <c:idx val="12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9F8D-456A-AAF8-F39E8C563186}"/>
              </c:ext>
            </c:extLst>
          </c:dPt>
          <c:dPt>
            <c:idx val="13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9F8D-456A-AAF8-F39E8C563186}"/>
              </c:ext>
            </c:extLst>
          </c:dPt>
          <c:dPt>
            <c:idx val="14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9F8D-456A-AAF8-F39E8C563186}"/>
              </c:ext>
            </c:extLst>
          </c:dPt>
          <c:dPt>
            <c:idx val="15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9F8D-456A-AAF8-F39E8C563186}"/>
              </c:ext>
            </c:extLst>
          </c:dPt>
          <c:dPt>
            <c:idx val="16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9F8D-456A-AAF8-F39E8C563186}"/>
              </c:ext>
            </c:extLst>
          </c:dPt>
          <c:dPt>
            <c:idx val="17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9F8D-456A-AAF8-F39E8C563186}"/>
              </c:ext>
            </c:extLst>
          </c:dPt>
          <c:dPt>
            <c:idx val="18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9F8D-456A-AAF8-F39E8C563186}"/>
              </c:ext>
            </c:extLst>
          </c:dPt>
          <c:dPt>
            <c:idx val="19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9F8D-456A-AAF8-F39E8C56318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595959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9F8D-456A-AAF8-F39E8C5631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orientation val="minMax"/>
          <c:min val="1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상승 (이전 층 대비 배율)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이전 층 대비 상승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B29-429C-87BD-133CDF078EB8}"/>
              </c:ext>
            </c:extLst>
          </c:dPt>
          <c:dPt>
            <c:idx val="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B29-429C-87BD-133CDF078EB8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B29-429C-87BD-133CDF078EB8}"/>
              </c:ext>
            </c:extLst>
          </c:dPt>
          <c:dPt>
            <c:idx val="3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0B29-429C-87BD-133CDF078EB8}"/>
              </c:ext>
            </c:extLst>
          </c:dPt>
          <c:dPt>
            <c:idx val="4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0B29-429C-87BD-133CDF078EB8}"/>
              </c:ext>
            </c:extLst>
          </c:dPt>
          <c:dPt>
            <c:idx val="5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0B29-429C-87BD-133CDF078EB8}"/>
              </c:ext>
            </c:extLst>
          </c:dPt>
          <c:dPt>
            <c:idx val="6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0B29-429C-87BD-133CDF078EB8}"/>
              </c:ext>
            </c:extLst>
          </c:dPt>
          <c:dPt>
            <c:idx val="7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0B29-429C-87BD-133CDF078EB8}"/>
              </c:ext>
            </c:extLst>
          </c:dPt>
          <c:dPt>
            <c:idx val="8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0B29-429C-87BD-133CDF078EB8}"/>
              </c:ext>
            </c:extLst>
          </c:dPt>
          <c:dPt>
            <c:idx val="9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0B29-429C-87BD-133CDF078EB8}"/>
              </c:ext>
            </c:extLst>
          </c:dPt>
          <c:dPt>
            <c:idx val="10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0B29-429C-87BD-133CDF078EB8}"/>
              </c:ext>
            </c:extLst>
          </c:dPt>
          <c:dPt>
            <c:idx val="11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0B29-429C-87BD-133CDF078EB8}"/>
              </c:ext>
            </c:extLst>
          </c:dPt>
          <c:dPt>
            <c:idx val="12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0B29-429C-87BD-133CDF078EB8}"/>
              </c:ext>
            </c:extLst>
          </c:dPt>
          <c:dPt>
            <c:idx val="13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0B29-429C-87BD-133CDF078EB8}"/>
              </c:ext>
            </c:extLst>
          </c:dPt>
          <c:dPt>
            <c:idx val="14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0B29-429C-87BD-133CDF078EB8}"/>
              </c:ext>
            </c:extLst>
          </c:dPt>
          <c:dPt>
            <c:idx val="15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0B29-429C-87BD-133CDF078EB8}"/>
              </c:ext>
            </c:extLst>
          </c:dPt>
          <c:dPt>
            <c:idx val="16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0B29-429C-87BD-133CDF078EB8}"/>
              </c:ext>
            </c:extLst>
          </c:dPt>
          <c:dPt>
            <c:idx val="17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0B29-429C-87BD-133CDF078EB8}"/>
              </c:ext>
            </c:extLst>
          </c:dPt>
          <c:dPt>
            <c:idx val="18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0B29-429C-87BD-133CDF078EB8}"/>
              </c:ext>
            </c:extLst>
          </c:dPt>
          <c:dLbls>
            <c:numFmt formatCode="\×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595959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1.8</c:v>
                </c:pt>
                <c:pt idx="4">
                  <c:v>1.32</c:v>
                </c:pt>
                <c:pt idx="5">
                  <c:v>1.32</c:v>
                </c:pt>
                <c:pt idx="6">
                  <c:v>1.32</c:v>
                </c:pt>
                <c:pt idx="7">
                  <c:v>1.32</c:v>
                </c:pt>
                <c:pt idx="8">
                  <c:v>1.32</c:v>
                </c:pt>
                <c:pt idx="9">
                  <c:v>1.32</c:v>
                </c:pt>
                <c:pt idx="10">
                  <c:v>1.32</c:v>
                </c:pt>
                <c:pt idx="11">
                  <c:v>1.32</c:v>
                </c:pt>
                <c:pt idx="12">
                  <c:v>1.32</c:v>
                </c:pt>
                <c:pt idx="13">
                  <c:v>1.32</c:v>
                </c:pt>
                <c:pt idx="14">
                  <c:v>1.75</c:v>
                </c:pt>
                <c:pt idx="15">
                  <c:v>1.7</c:v>
                </c:pt>
                <c:pt idx="16">
                  <c:v>2.1</c:v>
                </c:pt>
                <c:pt idx="17">
                  <c:v>2.2000000000000002</c:v>
                </c:pt>
                <c:pt idx="18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0B29-429C-87BD-133CDF078E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6"/>
          <c:min val="1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\×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유저 소모 시간 — 이전 층을 처음 깬 뒤 이 층을 처음 깰 때까지 (분, 재도전 · 로비 포함)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머무는 시간 (분)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EF4-49C6-AF2B-E374E1FC7A39}"/>
              </c:ext>
            </c:extLst>
          </c:dPt>
          <c:dPt>
            <c:idx val="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EF4-49C6-AF2B-E374E1FC7A39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EF4-49C6-AF2B-E374E1FC7A39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EF4-49C6-AF2B-E374E1FC7A39}"/>
              </c:ext>
            </c:extLst>
          </c:dPt>
          <c:dPt>
            <c:idx val="4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EF4-49C6-AF2B-E374E1FC7A39}"/>
              </c:ext>
            </c:extLst>
          </c:dPt>
          <c:dPt>
            <c:idx val="5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AEF4-49C6-AF2B-E374E1FC7A39}"/>
              </c:ext>
            </c:extLst>
          </c:dPt>
          <c:dPt>
            <c:idx val="6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AEF4-49C6-AF2B-E374E1FC7A39}"/>
              </c:ext>
            </c:extLst>
          </c:dPt>
          <c:dPt>
            <c:idx val="7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AEF4-49C6-AF2B-E374E1FC7A39}"/>
              </c:ext>
            </c:extLst>
          </c:dPt>
          <c:dPt>
            <c:idx val="8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AEF4-49C6-AF2B-E374E1FC7A39}"/>
              </c:ext>
            </c:extLst>
          </c:dPt>
          <c:dPt>
            <c:idx val="9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AEF4-49C6-AF2B-E374E1FC7A39}"/>
              </c:ext>
            </c:extLst>
          </c:dPt>
          <c:dPt>
            <c:idx val="10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AEF4-49C6-AF2B-E374E1FC7A39}"/>
              </c:ext>
            </c:extLst>
          </c:dPt>
          <c:dPt>
            <c:idx val="11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AEF4-49C6-AF2B-E374E1FC7A39}"/>
              </c:ext>
            </c:extLst>
          </c:dPt>
          <c:dPt>
            <c:idx val="12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AEF4-49C6-AF2B-E374E1FC7A39}"/>
              </c:ext>
            </c:extLst>
          </c:dPt>
          <c:dPt>
            <c:idx val="13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AEF4-49C6-AF2B-E374E1FC7A39}"/>
              </c:ext>
            </c:extLst>
          </c:dPt>
          <c:dPt>
            <c:idx val="14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AEF4-49C6-AF2B-E374E1FC7A39}"/>
              </c:ext>
            </c:extLst>
          </c:dPt>
          <c:dPt>
            <c:idx val="15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AEF4-49C6-AF2B-E374E1FC7A39}"/>
              </c:ext>
            </c:extLst>
          </c:dPt>
          <c:dPt>
            <c:idx val="16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AEF4-49C6-AF2B-E374E1FC7A39}"/>
              </c:ext>
            </c:extLst>
          </c:dPt>
          <c:dPt>
            <c:idx val="17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AEF4-49C6-AF2B-E374E1FC7A39}"/>
              </c:ext>
            </c:extLst>
          </c:dPt>
          <c:dPt>
            <c:idx val="18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AEF4-49C6-AF2B-E374E1FC7A39}"/>
              </c:ext>
            </c:extLst>
          </c:dPt>
          <c:dPt>
            <c:idx val="19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AEF4-49C6-AF2B-E374E1FC7A39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0B0B0B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1.2</c:v>
                </c:pt>
                <c:pt idx="2">
                  <c:v>1.4</c:v>
                </c:pt>
                <c:pt idx="3">
                  <c:v>1.7</c:v>
                </c:pt>
                <c:pt idx="4">
                  <c:v>18.8</c:v>
                </c:pt>
                <c:pt idx="5">
                  <c:v>9.9</c:v>
                </c:pt>
                <c:pt idx="6">
                  <c:v>1.7</c:v>
                </c:pt>
                <c:pt idx="7">
                  <c:v>16.8</c:v>
                </c:pt>
                <c:pt idx="8">
                  <c:v>1.7</c:v>
                </c:pt>
                <c:pt idx="9">
                  <c:v>18.899999999999999</c:v>
                </c:pt>
                <c:pt idx="10">
                  <c:v>1.7</c:v>
                </c:pt>
                <c:pt idx="11">
                  <c:v>21.6</c:v>
                </c:pt>
                <c:pt idx="12">
                  <c:v>1.7</c:v>
                </c:pt>
                <c:pt idx="13">
                  <c:v>24.7</c:v>
                </c:pt>
                <c:pt idx="14">
                  <c:v>1.7</c:v>
                </c:pt>
                <c:pt idx="15">
                  <c:v>53.2</c:v>
                </c:pt>
                <c:pt idx="16">
                  <c:v>54.4</c:v>
                </c:pt>
                <c:pt idx="17">
                  <c:v>85.4</c:v>
                </c:pt>
                <c:pt idx="18">
                  <c:v>90.2</c:v>
                </c:pt>
                <c:pt idx="19">
                  <c:v>95.1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AEF4-49C6-AF2B-E374E1FC7A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돌파 시간 — 적정일 때 vs 아무리 강해도 걸리는 최소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찍찍일 때 돌파 (초)</c:v>
                </c:pt>
              </c:strCache>
            </c:strRef>
          </c:tx>
          <c:spPr>
            <a:solidFill>
              <a:srgbClr val="BFBFBF"/>
            </a:solidFill>
          </c:spPr>
          <c:invertIfNegative val="1"/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108</c:v>
                </c:pt>
                <c:pt idx="1">
                  <c:v>108</c:v>
                </c:pt>
                <c:pt idx="2">
                  <c:v>108</c:v>
                </c:pt>
                <c:pt idx="3">
                  <c:v>108</c:v>
                </c:pt>
                <c:pt idx="4">
                  <c:v>162</c:v>
                </c:pt>
                <c:pt idx="5">
                  <c:v>108</c:v>
                </c:pt>
                <c:pt idx="6">
                  <c:v>108</c:v>
                </c:pt>
                <c:pt idx="7">
                  <c:v>108</c:v>
                </c:pt>
                <c:pt idx="8">
                  <c:v>108</c:v>
                </c:pt>
                <c:pt idx="9">
                  <c:v>108</c:v>
                </c:pt>
                <c:pt idx="10">
                  <c:v>108</c:v>
                </c:pt>
                <c:pt idx="11">
                  <c:v>108</c:v>
                </c:pt>
                <c:pt idx="12">
                  <c:v>108</c:v>
                </c:pt>
                <c:pt idx="13">
                  <c:v>108</c:v>
                </c:pt>
                <c:pt idx="14">
                  <c:v>108</c:v>
                </c:pt>
                <c:pt idx="15">
                  <c:v>162</c:v>
                </c:pt>
                <c:pt idx="16">
                  <c:v>135</c:v>
                </c:pt>
                <c:pt idx="17">
                  <c:v>162</c:v>
                </c:pt>
                <c:pt idx="18">
                  <c:v>135</c:v>
                </c:pt>
                <c:pt idx="19">
                  <c:v>162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0FB-4E99-ABF1-125011A29D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충분히 강해도 걸리는 최소 시간 (초) = 방 × 10초 + 계단</c:v>
                </c:pt>
              </c:strCache>
            </c:strRef>
          </c:tx>
          <c:spPr>
            <a:solidFill>
              <a:srgbClr val="E97132"/>
            </a:solidFill>
          </c:spPr>
          <c:invertIfNegative val="1"/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28</c:v>
                </c:pt>
                <c:pt idx="1">
                  <c:v>38</c:v>
                </c:pt>
                <c:pt idx="2">
                  <c:v>38</c:v>
                </c:pt>
                <c:pt idx="3">
                  <c:v>48</c:v>
                </c:pt>
                <c:pt idx="4">
                  <c:v>48</c:v>
                </c:pt>
                <c:pt idx="5">
                  <c:v>58</c:v>
                </c:pt>
                <c:pt idx="6">
                  <c:v>58</c:v>
                </c:pt>
                <c:pt idx="7">
                  <c:v>68</c:v>
                </c:pt>
                <c:pt idx="8">
                  <c:v>68</c:v>
                </c:pt>
                <c:pt idx="9">
                  <c:v>78</c:v>
                </c:pt>
                <c:pt idx="10">
                  <c:v>78</c:v>
                </c:pt>
                <c:pt idx="11">
                  <c:v>88</c:v>
                </c:pt>
                <c:pt idx="12">
                  <c:v>88</c:v>
                </c:pt>
                <c:pt idx="13">
                  <c:v>98</c:v>
                </c:pt>
                <c:pt idx="14">
                  <c:v>98</c:v>
                </c:pt>
                <c:pt idx="15">
                  <c:v>98</c:v>
                </c:pt>
                <c:pt idx="16">
                  <c:v>98</c:v>
                </c:pt>
                <c:pt idx="17">
                  <c:v>98</c:v>
                </c:pt>
                <c:pt idx="18">
                  <c:v>98</c:v>
                </c:pt>
                <c:pt idx="19">
                  <c:v>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0FB-4E99-ABF1-125011A29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8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초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  <c:majorUnit val="30"/>
      </c:valAx>
    </c:plotArea>
    <c:legend>
      <c:legendPos val="t"/>
      <c:overlay val="0"/>
      <c:txPr>
        <a:bodyPr/>
        <a:lstStyle/>
        <a:p>
          <a:pPr>
            <a:defRPr sz="900"/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적정 찍찍 (1층 = 100 · 로그 눈금)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B88-4595-A532-E661781D24B3}"/>
              </c:ext>
            </c:extLst>
          </c:dPt>
          <c:dPt>
            <c:idx val="1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B88-4595-A532-E661781D24B3}"/>
              </c:ext>
            </c:extLst>
          </c:dPt>
          <c:dPt>
            <c:idx val="2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B88-4595-A532-E661781D24B3}"/>
              </c:ext>
            </c:extLst>
          </c:dPt>
          <c:dPt>
            <c:idx val="3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B88-4595-A532-E661781D24B3}"/>
              </c:ext>
            </c:extLst>
          </c:dPt>
          <c:dPt>
            <c:idx val="4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1B88-4595-A532-E661781D24B3}"/>
              </c:ext>
            </c:extLst>
          </c:dPt>
          <c:dPt>
            <c:idx val="5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1B88-4595-A532-E661781D24B3}"/>
              </c:ext>
            </c:extLst>
          </c:dPt>
          <c:dPt>
            <c:idx val="6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1B88-4595-A532-E661781D24B3}"/>
              </c:ext>
            </c:extLst>
          </c:dPt>
          <c:dPt>
            <c:idx val="7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1B88-4595-A532-E661781D24B3}"/>
              </c:ext>
            </c:extLst>
          </c:dPt>
          <c:dPt>
            <c:idx val="8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1B88-4595-A532-E661781D24B3}"/>
              </c:ext>
            </c:extLst>
          </c:dPt>
          <c:dPt>
            <c:idx val="9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1B88-4595-A532-E661781D24B3}"/>
              </c:ext>
            </c:extLst>
          </c:dPt>
          <c:dPt>
            <c:idx val="10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1B88-4595-A532-E661781D24B3}"/>
              </c:ext>
            </c:extLst>
          </c:dPt>
          <c:dPt>
            <c:idx val="11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1B88-4595-A532-E661781D24B3}"/>
              </c:ext>
            </c:extLst>
          </c:dPt>
          <c:dPt>
            <c:idx val="12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1B88-4595-A532-E661781D24B3}"/>
              </c:ext>
            </c:extLst>
          </c:dPt>
          <c:dPt>
            <c:idx val="13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1B88-4595-A532-E661781D24B3}"/>
              </c:ext>
            </c:extLst>
          </c:dPt>
          <c:dPt>
            <c:idx val="14"/>
            <c:invertIfNegative val="1"/>
            <c:bubble3D val="0"/>
            <c:spPr>
              <a:solidFill>
                <a:srgbClr val="8C8C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1B88-4595-A532-E661781D24B3}"/>
              </c:ext>
            </c:extLst>
          </c:dPt>
          <c:dPt>
            <c:idx val="15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1B88-4595-A532-E661781D24B3}"/>
              </c:ext>
            </c:extLst>
          </c:dPt>
          <c:dPt>
            <c:idx val="16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1B88-4595-A532-E661781D24B3}"/>
              </c:ext>
            </c:extLst>
          </c:dPt>
          <c:dPt>
            <c:idx val="17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1B88-4595-A532-E661781D24B3}"/>
              </c:ext>
            </c:extLst>
          </c:dPt>
          <c:dPt>
            <c:idx val="18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1B88-4595-A532-E661781D24B3}"/>
              </c:ext>
            </c:extLst>
          </c:dPt>
          <c:dPt>
            <c:idx val="19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1B88-4595-A532-E661781D24B3}"/>
              </c:ext>
            </c:extLst>
          </c:dPt>
          <c:dPt>
            <c:idx val="20"/>
            <c:invertIfNegative val="1"/>
            <c:bubble3D val="0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9-1B88-4595-A532-E661781D24B3}"/>
              </c:ext>
            </c:extLst>
          </c:dPt>
          <c:dPt>
            <c:idx val="21"/>
            <c:invertIfNegative val="1"/>
            <c:bubble3D val="0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B-1B88-4595-A532-E661781D24B3}"/>
              </c:ext>
            </c:extLst>
          </c:dPt>
          <c:dPt>
            <c:idx val="22"/>
            <c:invertIfNegative val="1"/>
            <c:bubble3D val="0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D-1B88-4595-A532-E661781D24B3}"/>
              </c:ext>
            </c:extLst>
          </c:dPt>
          <c:dPt>
            <c:idx val="23"/>
            <c:invertIfNegative val="1"/>
            <c:bubble3D val="0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2F-1B88-4595-A532-E661781D24B3}"/>
              </c:ext>
            </c:extLst>
          </c:dPt>
          <c:dPt>
            <c:idx val="24"/>
            <c:invertIfNegative val="1"/>
            <c:bubble3D val="0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31-1B88-4595-A532-E661781D24B3}"/>
              </c:ext>
            </c:extLst>
          </c:dPt>
          <c:dPt>
            <c:idx val="25"/>
            <c:invertIfNegative val="1"/>
            <c:bubble3D val="0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33-1B88-4595-A532-E661781D24B3}"/>
              </c:ext>
            </c:extLst>
          </c:dPt>
          <c:dPt>
            <c:idx val="26"/>
            <c:invertIfNegative val="1"/>
            <c:bubble3D val="0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35-1B88-4595-A532-E661781D24B3}"/>
              </c:ext>
            </c:extLst>
          </c:dPt>
          <c:dPt>
            <c:idx val="27"/>
            <c:invertIfNegative val="1"/>
            <c:bubble3D val="0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37-1B88-4595-A532-E661781D24B3}"/>
              </c:ext>
            </c:extLst>
          </c:dPt>
          <c:dPt>
            <c:idx val="28"/>
            <c:invertIfNegative val="1"/>
            <c:bubble3D val="0"/>
            <c:spPr>
              <a:solidFill>
                <a:srgbClr val="F4B183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39-1B88-4595-A532-E661781D24B3}"/>
              </c:ext>
            </c:extLst>
          </c:dPt>
          <c:dPt>
            <c:idx val="29"/>
            <c:invertIfNegative val="1"/>
            <c:bubble3D val="0"/>
            <c:spPr>
              <a:solidFill>
                <a:srgbClr val="E97132"/>
              </a:solidFill>
              <a:ln w="12700">
                <a:solidFill>
                  <a:srgbClr val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3B-1B88-4595-A532-E661781D24B3}"/>
              </c:ext>
            </c:extLst>
          </c:dPt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  <c:pt idx="20">
                  <c:v>325927</c:v>
                </c:pt>
                <c:pt idx="21">
                  <c:v>554076</c:v>
                </c:pt>
                <c:pt idx="22">
                  <c:v>1163559</c:v>
                </c:pt>
                <c:pt idx="23">
                  <c:v>2559829</c:v>
                </c:pt>
                <c:pt idx="24">
                  <c:v>6143590</c:v>
                </c:pt>
                <c:pt idx="25">
                  <c:v>10751283</c:v>
                </c:pt>
                <c:pt idx="26">
                  <c:v>18277181</c:v>
                </c:pt>
                <c:pt idx="27">
                  <c:v>38382079</c:v>
                </c:pt>
                <c:pt idx="28">
                  <c:v>84440574</c:v>
                </c:pt>
                <c:pt idx="29">
                  <c:v>202657377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1B88-4595-A532-E661781D24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orientation val="minMax"/>
          <c:min val="10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 그래프 — 판당 성장과 층당 난이도 (배율)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판당 플레이어 성장</c:v>
                </c:pt>
              </c:strCache>
            </c:strRef>
          </c:tx>
          <c:spPr>
            <a:solidFill>
              <a:srgbClr val="E97132"/>
            </a:solidFill>
          </c:spPr>
          <c:invertIfNegative val="1"/>
          <c:dLbls>
            <c:numFmt formatCode="\×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초반 (1~5층)</c:v>
                </c:pt>
                <c:pt idx="1">
                  <c:v>중반 (6~15층)</c:v>
                </c:pt>
                <c:pt idx="2">
                  <c:v>후반 (16층~)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1.34</c:v>
                </c:pt>
                <c:pt idx="1">
                  <c:v>1.74</c:v>
                </c:pt>
                <c:pt idx="2">
                  <c:v>1.31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2A8-4D50-BFF0-A9CD946BD3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층당 난이도 상승</c:v>
                </c:pt>
              </c:strCache>
            </c:strRef>
          </c:tx>
          <c:spPr>
            <a:solidFill>
              <a:srgbClr val="BFBFBF"/>
            </a:solidFill>
          </c:spPr>
          <c:invertIfNegative val="1"/>
          <c:dLbls>
            <c:numFmt formatCode="\×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초반 (1~5층)</c:v>
                </c:pt>
                <c:pt idx="1">
                  <c:v>중반 (6~15층)</c:v>
                </c:pt>
                <c:pt idx="2">
                  <c:v>후반 (16층~)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1.37</c:v>
                </c:pt>
                <c:pt idx="1">
                  <c:v>1.32</c:v>
                </c:pt>
                <c:pt idx="2">
                  <c:v>2.0099999999999998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2A8-4D50-BFF0-A9CD946BD3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4"/>
          <c:min val="1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\×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곡선 vs 플레이어 성장 곡선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ymbol val="diamond"/>
            <c:size val="4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9881</c:v>
                </c:pt>
                <c:pt idx="16">
                  <c:v>16797</c:v>
                </c:pt>
                <c:pt idx="17">
                  <c:v>35273</c:v>
                </c:pt>
                <c:pt idx="18">
                  <c:v>77602</c:v>
                </c:pt>
                <c:pt idx="19">
                  <c:v>186244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395-43FB-B4A2-2693E35D4F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square"/>
            <c:size val="4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100</c:v>
                </c:pt>
                <c:pt idx="1">
                  <c:v>127</c:v>
                </c:pt>
                <c:pt idx="2">
                  <c:v>161</c:v>
                </c:pt>
                <c:pt idx="3">
                  <c:v>205</c:v>
                </c:pt>
                <c:pt idx="4">
                  <c:v>273</c:v>
                </c:pt>
                <c:pt idx="5">
                  <c:v>402</c:v>
                </c:pt>
                <c:pt idx="6">
                  <c:v>601</c:v>
                </c:pt>
                <c:pt idx="7">
                  <c:v>836</c:v>
                </c:pt>
                <c:pt idx="8">
                  <c:v>1120</c:v>
                </c:pt>
                <c:pt idx="9">
                  <c:v>1501</c:v>
                </c:pt>
                <c:pt idx="10">
                  <c:v>2011</c:v>
                </c:pt>
                <c:pt idx="11">
                  <c:v>2694</c:v>
                </c:pt>
                <c:pt idx="12">
                  <c:v>3611</c:v>
                </c:pt>
                <c:pt idx="13">
                  <c:v>4838</c:v>
                </c:pt>
                <c:pt idx="14">
                  <c:v>6483</c:v>
                </c:pt>
                <c:pt idx="15">
                  <c:v>9343</c:v>
                </c:pt>
                <c:pt idx="16">
                  <c:v>14855</c:v>
                </c:pt>
                <c:pt idx="17">
                  <c:v>24852</c:v>
                </c:pt>
                <c:pt idx="18">
                  <c:v>43749</c:v>
                </c:pt>
                <c:pt idx="19">
                  <c:v>81034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395-43FB-B4A2-2693E35D4F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orientation val="minMax"/>
          <c:max val="1000000"/>
          <c:min val="10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여유도 = 기준 전투력 ÷ 난이도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전투력 ÷ 난이도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C2B-424B-8660-6B98987988C3}"/>
              </c:ext>
            </c:extLst>
          </c:dPt>
          <c:dPt>
            <c:idx val="1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C2B-424B-8660-6B98987988C3}"/>
              </c:ext>
            </c:extLst>
          </c:dPt>
          <c:dPt>
            <c:idx val="2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C2B-424B-8660-6B98987988C3}"/>
              </c:ext>
            </c:extLst>
          </c:dPt>
          <c:dPt>
            <c:idx val="3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C2B-424B-8660-6B98987988C3}"/>
              </c:ext>
            </c:extLst>
          </c:dPt>
          <c:dPt>
            <c:idx val="4"/>
            <c:invertIfNegative val="1"/>
            <c:bubble3D val="0"/>
            <c:spPr>
              <a:solidFill>
                <a:srgbClr val="F4B1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CC2B-424B-8660-6B98987988C3}"/>
              </c:ext>
            </c:extLst>
          </c:dPt>
          <c:dPt>
            <c:idx val="5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CC2B-424B-8660-6B98987988C3}"/>
              </c:ext>
            </c:extLst>
          </c:dPt>
          <c:dPt>
            <c:idx val="6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CC2B-424B-8660-6B98987988C3}"/>
              </c:ext>
            </c:extLst>
          </c:dPt>
          <c:dPt>
            <c:idx val="7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CC2B-424B-8660-6B98987988C3}"/>
              </c:ext>
            </c:extLst>
          </c:dPt>
          <c:dPt>
            <c:idx val="8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CC2B-424B-8660-6B98987988C3}"/>
              </c:ext>
            </c:extLst>
          </c:dPt>
          <c:dPt>
            <c:idx val="9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CC2B-424B-8660-6B98987988C3}"/>
              </c:ext>
            </c:extLst>
          </c:dPt>
          <c:dPt>
            <c:idx val="10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CC2B-424B-8660-6B98987988C3}"/>
              </c:ext>
            </c:extLst>
          </c:dPt>
          <c:dPt>
            <c:idx val="11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CC2B-424B-8660-6B98987988C3}"/>
              </c:ext>
            </c:extLst>
          </c:dPt>
          <c:dPt>
            <c:idx val="12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CC2B-424B-8660-6B98987988C3}"/>
              </c:ext>
            </c:extLst>
          </c:dPt>
          <c:dPt>
            <c:idx val="13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CC2B-424B-8660-6B98987988C3}"/>
              </c:ext>
            </c:extLst>
          </c:dPt>
          <c:dPt>
            <c:idx val="14"/>
            <c:invertIfNegative val="1"/>
            <c:bubble3D val="0"/>
            <c:spPr>
              <a:solidFill>
                <a:srgbClr val="E971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CC2B-424B-8660-6B98987988C3}"/>
              </c:ext>
            </c:extLst>
          </c:dPt>
          <c:dPt>
            <c:idx val="15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CC2B-424B-8660-6B98987988C3}"/>
              </c:ext>
            </c:extLst>
          </c:dPt>
          <c:dPt>
            <c:idx val="16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CC2B-424B-8660-6B98987988C3}"/>
              </c:ext>
            </c:extLst>
          </c:dPt>
          <c:dPt>
            <c:idx val="17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CC2B-424B-8660-6B98987988C3}"/>
              </c:ext>
            </c:extLst>
          </c:dPt>
          <c:dPt>
            <c:idx val="18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CC2B-424B-8660-6B98987988C3}"/>
              </c:ext>
            </c:extLst>
          </c:dPt>
          <c:dPt>
            <c:idx val="19"/>
            <c:invertIfNegative val="1"/>
            <c:bubble3D val="0"/>
            <c:spPr>
              <a:solidFill>
                <a:srgbClr val="BFBFB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CC2B-424B-8660-6B98987988C3}"/>
              </c:ext>
            </c:extLst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1.02</c:v>
                </c:pt>
                <c:pt idx="2">
                  <c:v>1.03</c:v>
                </c:pt>
                <c:pt idx="3">
                  <c:v>1.05</c:v>
                </c:pt>
                <c:pt idx="4">
                  <c:v>0.78</c:v>
                </c:pt>
                <c:pt idx="5">
                  <c:v>0.87</c:v>
                </c:pt>
                <c:pt idx="6">
                  <c:v>0.98</c:v>
                </c:pt>
                <c:pt idx="7">
                  <c:v>1.03</c:v>
                </c:pt>
                <c:pt idx="8">
                  <c:v>1.05</c:v>
                </c:pt>
                <c:pt idx="9">
                  <c:v>1.07</c:v>
                </c:pt>
                <c:pt idx="10">
                  <c:v>1.08</c:v>
                </c:pt>
                <c:pt idx="11">
                  <c:v>1.1000000000000001</c:v>
                </c:pt>
                <c:pt idx="12">
                  <c:v>1.1100000000000001</c:v>
                </c:pt>
                <c:pt idx="13">
                  <c:v>1.1299999999999999</c:v>
                </c:pt>
                <c:pt idx="14">
                  <c:v>1.1499999999999999</c:v>
                </c:pt>
                <c:pt idx="15">
                  <c:v>0.95</c:v>
                </c:pt>
                <c:pt idx="16">
                  <c:v>0.88</c:v>
                </c:pt>
                <c:pt idx="17">
                  <c:v>0.7</c:v>
                </c:pt>
                <c:pt idx="18">
                  <c:v>0.56000000000000005</c:v>
                </c:pt>
                <c:pt idx="19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CC2B-424B-8660-6B9898798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6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  <c:majorUnit val="0.5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(1~5층)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ymbol val="diamond"/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7A-4181-BBA7-F689A4CE25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squar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127</c:v>
                </c:pt>
                <c:pt idx="2">
                  <c:v>161</c:v>
                </c:pt>
                <c:pt idx="3">
                  <c:v>205</c:v>
                </c:pt>
                <c:pt idx="4">
                  <c:v>273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7A-4181-BBA7-F689A4CE25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(5~15층)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ymbol val="diamond"/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352</c:v>
                </c:pt>
                <c:pt idx="1">
                  <c:v>464</c:v>
                </c:pt>
                <c:pt idx="2">
                  <c:v>613</c:v>
                </c:pt>
                <c:pt idx="3">
                  <c:v>809</c:v>
                </c:pt>
                <c:pt idx="4">
                  <c:v>1067</c:v>
                </c:pt>
                <c:pt idx="5">
                  <c:v>1409</c:v>
                </c:pt>
                <c:pt idx="6">
                  <c:v>1860</c:v>
                </c:pt>
                <c:pt idx="7">
                  <c:v>2455</c:v>
                </c:pt>
                <c:pt idx="8">
                  <c:v>3240</c:v>
                </c:pt>
                <c:pt idx="9">
                  <c:v>4277</c:v>
                </c:pt>
                <c:pt idx="10">
                  <c:v>5646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E2-4DD4-BC55-BEE9A9BBD5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squar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273</c:v>
                </c:pt>
                <c:pt idx="1">
                  <c:v>402</c:v>
                </c:pt>
                <c:pt idx="2">
                  <c:v>601</c:v>
                </c:pt>
                <c:pt idx="3">
                  <c:v>836</c:v>
                </c:pt>
                <c:pt idx="4">
                  <c:v>1120</c:v>
                </c:pt>
                <c:pt idx="5">
                  <c:v>1501</c:v>
                </c:pt>
                <c:pt idx="6">
                  <c:v>2011</c:v>
                </c:pt>
                <c:pt idx="7">
                  <c:v>2694</c:v>
                </c:pt>
                <c:pt idx="8">
                  <c:v>3611</c:v>
                </c:pt>
                <c:pt idx="9">
                  <c:v>4838</c:v>
                </c:pt>
                <c:pt idx="10">
                  <c:v>6483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E2-4DD4-BC55-BEE9A9BBD5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(15~20층)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ymbol val="diamond"/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5646</c:v>
                </c:pt>
                <c:pt idx="1">
                  <c:v>9881</c:v>
                </c:pt>
                <c:pt idx="2">
                  <c:v>16797</c:v>
                </c:pt>
                <c:pt idx="3">
                  <c:v>35273</c:v>
                </c:pt>
                <c:pt idx="4">
                  <c:v>77602</c:v>
                </c:pt>
                <c:pt idx="5">
                  <c:v>186244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15-4B71-9E8C-D0E0CB1D53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squar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6483</c:v>
                </c:pt>
                <c:pt idx="1">
                  <c:v>9343</c:v>
                </c:pt>
                <c:pt idx="2">
                  <c:v>14855</c:v>
                </c:pt>
                <c:pt idx="3">
                  <c:v>24852</c:v>
                </c:pt>
                <c:pt idx="4">
                  <c:v>43749</c:v>
                </c:pt>
                <c:pt idx="5">
                  <c:v>81034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15-4B71-9E8C-D0E0CB1D5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 vs 처음 깬 최고 층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건너뛰기 없음</c:v>
                </c:pt>
              </c:strCache>
            </c:strRef>
          </c:tx>
          <c:spPr>
            <a:ln w="31750">
              <a:solidFill>
                <a:srgbClr val="8C8C8C"/>
              </a:solidFill>
            </a:ln>
          </c:spPr>
          <c:marker>
            <c:symbol val="circle"/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1.6E-2</c:v>
                </c:pt>
                <c:pt idx="2">
                  <c:v>3.5000000000000003E-2</c:v>
                </c:pt>
                <c:pt idx="3">
                  <c:v>5.8999999999999997E-2</c:v>
                </c:pt>
                <c:pt idx="4">
                  <c:v>8.7999999999999995E-2</c:v>
                </c:pt>
                <c:pt idx="5">
                  <c:v>0.40100000000000002</c:v>
                </c:pt>
                <c:pt idx="6">
                  <c:v>0.56599999999999995</c:v>
                </c:pt>
                <c:pt idx="7">
                  <c:v>0.59499999999999997</c:v>
                </c:pt>
                <c:pt idx="8">
                  <c:v>0.876</c:v>
                </c:pt>
                <c:pt idx="9">
                  <c:v>0.90500000000000003</c:v>
                </c:pt>
                <c:pt idx="10">
                  <c:v>1.2190000000000001</c:v>
                </c:pt>
                <c:pt idx="11">
                  <c:v>1.248</c:v>
                </c:pt>
                <c:pt idx="12">
                  <c:v>1.6080000000000001</c:v>
                </c:pt>
                <c:pt idx="13">
                  <c:v>1.637</c:v>
                </c:pt>
                <c:pt idx="14">
                  <c:v>2.0489999999999999</c:v>
                </c:pt>
                <c:pt idx="15">
                  <c:v>2.0779999999999998</c:v>
                </c:pt>
                <c:pt idx="16">
                  <c:v>2.9649999999999999</c:v>
                </c:pt>
                <c:pt idx="17">
                  <c:v>3.8719999999999999</c:v>
                </c:pt>
                <c:pt idx="18">
                  <c:v>5.2949999999999999</c:v>
                </c:pt>
                <c:pt idx="19">
                  <c:v>6.7990000000000004</c:v>
                </c:pt>
                <c:pt idx="20">
                  <c:v>8.3849999999999998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291-4727-8177-915EDAC1FD7E}"/>
            </c:ext>
          </c:extLst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최대로 건너뛰기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Sheet1!$A$25:$A$45</c:f>
              <c:numCache>
                <c:formatCode>General</c:formatCode>
                <c:ptCount val="21"/>
                <c:pt idx="0">
                  <c:v>0</c:v>
                </c:pt>
                <c:pt idx="1">
                  <c:v>1.6E-2</c:v>
                </c:pt>
                <c:pt idx="2">
                  <c:v>3.5000000000000003E-2</c:v>
                </c:pt>
                <c:pt idx="3">
                  <c:v>5.8999999999999997E-2</c:v>
                </c:pt>
                <c:pt idx="4">
                  <c:v>8.7999999999999995E-2</c:v>
                </c:pt>
                <c:pt idx="5">
                  <c:v>0.40100000000000002</c:v>
                </c:pt>
                <c:pt idx="6">
                  <c:v>0.54800000000000004</c:v>
                </c:pt>
                <c:pt idx="7">
                  <c:v>0.57699999999999996</c:v>
                </c:pt>
                <c:pt idx="8">
                  <c:v>0.82799999999999996</c:v>
                </c:pt>
                <c:pt idx="9">
                  <c:v>0.85699999999999998</c:v>
                </c:pt>
                <c:pt idx="10">
                  <c:v>1.117</c:v>
                </c:pt>
                <c:pt idx="11">
                  <c:v>1.1459999999999999</c:v>
                </c:pt>
                <c:pt idx="12">
                  <c:v>1.4339999999999999</c:v>
                </c:pt>
                <c:pt idx="13">
                  <c:v>1.4630000000000001</c:v>
                </c:pt>
                <c:pt idx="14">
                  <c:v>1.768</c:v>
                </c:pt>
                <c:pt idx="15">
                  <c:v>1.7969999999999999</c:v>
                </c:pt>
                <c:pt idx="16">
                  <c:v>2.4329999999999998</c:v>
                </c:pt>
                <c:pt idx="17">
                  <c:v>3.089</c:v>
                </c:pt>
                <c:pt idx="18">
                  <c:v>4.1349999999999998</c:v>
                </c:pt>
                <c:pt idx="19">
                  <c:v>5.2619999999999996</c:v>
                </c:pt>
                <c:pt idx="20">
                  <c:v>6.4710000000000001</c:v>
                </c:pt>
              </c:numCache>
            </c:numRef>
          </c:xVal>
          <c:yVal>
            <c:numRef>
              <c:f>Sheet1!$B$25:$B$45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291-4727-8177-915EDAC1FD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9"/>
          <c:min val="0"/>
        </c:scaling>
        <c:delete val="0"/>
        <c:axPos val="b"/>
        <c:majorGridlines>
          <c:spPr>
            <a:ln>
              <a:solidFill>
                <a:srgbClr val="EDEDED"/>
              </a:solidFill>
            </a:ln>
          </c:spPr>
        </c:majorGridlines>
        <c:numFmt formatCode="0&quot;시간&quot;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129643912"/>
        <c:crosses val="autoZero"/>
        <c:crossBetween val="midCat"/>
        <c:majorUnit val="1"/>
      </c:valAx>
      <c:valAx>
        <c:axId val="-2129643912"/>
        <c:scaling>
          <c:orientation val="minMax"/>
          <c:max val="2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층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ko-KR"/>
          </a:p>
        </c:txPr>
        <c:crossAx val="-2128940872"/>
        <c:crosses val="autoZero"/>
        <c:crossBetween val="midCat"/>
        <c:majorUnit val="5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층 별 허들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" name="TOC 1001"/>
          <p:cNvSpPr/>
          <p:nvPr/>
        </p:nvSpPr>
        <p:spPr>
          <a:xfrm>
            <a:off x="77724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02" name="TOC 1002"/>
          <p:cNvSpPr txBox="1"/>
          <p:nvPr/>
        </p:nvSpPr>
        <p:spPr>
          <a:xfrm>
            <a:off x="97840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개요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2P</a:t>
            </a:r>
          </a:p>
        </p:txBody>
      </p:sp>
      <p:sp>
        <p:nvSpPr>
          <p:cNvPr id="1003" name="TOC 1003"/>
          <p:cNvSpPr txBox="1"/>
          <p:nvPr/>
        </p:nvSpPr>
        <p:spPr>
          <a:xfrm>
            <a:off x="114300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</p:txBody>
      </p:sp>
      <p:sp>
        <p:nvSpPr>
          <p:cNvPr id="1004" name="TOC 1004"/>
          <p:cNvSpPr txBox="1"/>
          <p:nvPr/>
        </p:nvSpPr>
        <p:spPr>
          <a:xfrm>
            <a:off x="3794759" y="1965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05" name="TOC 1005"/>
          <p:cNvSpPr txBox="1"/>
          <p:nvPr/>
        </p:nvSpPr>
        <p:spPr>
          <a:xfrm>
            <a:off x="114300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</p:txBody>
      </p:sp>
      <p:sp>
        <p:nvSpPr>
          <p:cNvPr id="1006" name="TOC 1006"/>
          <p:cNvSpPr txBox="1"/>
          <p:nvPr/>
        </p:nvSpPr>
        <p:spPr>
          <a:xfrm>
            <a:off x="3794759" y="2194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007" name="TOC 1007"/>
          <p:cNvSpPr txBox="1"/>
          <p:nvPr/>
        </p:nvSpPr>
        <p:spPr>
          <a:xfrm>
            <a:off x="114300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난이도 목표</a:t>
            </a:r>
          </a:p>
        </p:txBody>
      </p:sp>
      <p:sp>
        <p:nvSpPr>
          <p:cNvPr id="1008" name="TOC 1008"/>
          <p:cNvSpPr txBox="1"/>
          <p:nvPr/>
        </p:nvSpPr>
        <p:spPr>
          <a:xfrm>
            <a:off x="3794759" y="24231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009" name="TOC 1009"/>
          <p:cNvSpPr txBox="1"/>
          <p:nvPr/>
        </p:nvSpPr>
        <p:spPr>
          <a:xfrm>
            <a:off x="114300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기획 방향</a:t>
            </a:r>
          </a:p>
        </p:txBody>
      </p:sp>
      <p:sp>
        <p:nvSpPr>
          <p:cNvPr id="1010" name="TOC 1010"/>
          <p:cNvSpPr txBox="1"/>
          <p:nvPr/>
        </p:nvSpPr>
        <p:spPr>
          <a:xfrm>
            <a:off x="3794759" y="26517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011" name="TOC 1011"/>
          <p:cNvSpPr txBox="1"/>
          <p:nvPr/>
        </p:nvSpPr>
        <p:spPr>
          <a:xfrm>
            <a:off x="114300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설계 원칙</a:t>
            </a:r>
          </a:p>
        </p:txBody>
      </p:sp>
      <p:sp>
        <p:nvSpPr>
          <p:cNvPr id="1012" name="TOC 1012"/>
          <p:cNvSpPr txBox="1"/>
          <p:nvPr/>
        </p:nvSpPr>
        <p:spPr>
          <a:xfrm>
            <a:off x="3794759" y="28803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013" name="TOC 1013"/>
          <p:cNvSpPr txBox="1"/>
          <p:nvPr/>
        </p:nvSpPr>
        <p:spPr>
          <a:xfrm>
            <a:off x="1143000" y="3108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용어 정리</a:t>
            </a:r>
          </a:p>
        </p:txBody>
      </p:sp>
      <p:sp>
        <p:nvSpPr>
          <p:cNvPr id="1014" name="TOC 1014"/>
          <p:cNvSpPr txBox="1"/>
          <p:nvPr/>
        </p:nvSpPr>
        <p:spPr>
          <a:xfrm>
            <a:off x="3794759" y="3108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015" name="TOC 1015"/>
          <p:cNvSpPr/>
          <p:nvPr/>
        </p:nvSpPr>
        <p:spPr>
          <a:xfrm>
            <a:off x="777240" y="35478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16" name="TOC 1016"/>
          <p:cNvSpPr txBox="1"/>
          <p:nvPr/>
        </p:nvSpPr>
        <p:spPr>
          <a:xfrm>
            <a:off x="978408" y="34381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설계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8P</a:t>
            </a:r>
          </a:p>
        </p:txBody>
      </p:sp>
      <p:sp>
        <p:nvSpPr>
          <p:cNvPr id="1017" name="TOC 1017"/>
          <p:cNvSpPr txBox="1"/>
          <p:nvPr/>
        </p:nvSpPr>
        <p:spPr>
          <a:xfrm>
            <a:off x="1143000" y="3886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구간 별 요약</a:t>
            </a:r>
          </a:p>
        </p:txBody>
      </p:sp>
      <p:sp>
        <p:nvSpPr>
          <p:cNvPr id="1018" name="TOC 1018"/>
          <p:cNvSpPr txBox="1"/>
          <p:nvPr/>
        </p:nvSpPr>
        <p:spPr>
          <a:xfrm>
            <a:off x="3794759" y="38862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1019" name="TOC 1019"/>
          <p:cNvSpPr txBox="1"/>
          <p:nvPr/>
        </p:nvSpPr>
        <p:spPr>
          <a:xfrm>
            <a:off x="1143000" y="4114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층 지도</a:t>
            </a:r>
          </a:p>
        </p:txBody>
      </p:sp>
      <p:sp>
        <p:nvSpPr>
          <p:cNvPr id="1020" name="TOC 1020"/>
          <p:cNvSpPr txBox="1"/>
          <p:nvPr/>
        </p:nvSpPr>
        <p:spPr>
          <a:xfrm>
            <a:off x="3794759" y="41148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1021" name="TOC 1021"/>
          <p:cNvSpPr txBox="1"/>
          <p:nvPr/>
        </p:nvSpPr>
        <p:spPr>
          <a:xfrm>
            <a:off x="1143000" y="4343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진행 곡선</a:t>
            </a:r>
          </a:p>
        </p:txBody>
      </p:sp>
      <p:sp>
        <p:nvSpPr>
          <p:cNvPr id="1022" name="TOC 1022"/>
          <p:cNvSpPr txBox="1"/>
          <p:nvPr/>
        </p:nvSpPr>
        <p:spPr>
          <a:xfrm>
            <a:off x="3794759" y="43434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1023" name="TOC 1023"/>
          <p:cNvSpPr txBox="1"/>
          <p:nvPr/>
        </p:nvSpPr>
        <p:spPr>
          <a:xfrm>
            <a:off x="1143000" y="4572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판별 고점 갱신</a:t>
            </a:r>
          </a:p>
        </p:txBody>
      </p:sp>
      <p:sp>
        <p:nvSpPr>
          <p:cNvPr id="1024" name="TOC 1024"/>
          <p:cNvSpPr txBox="1"/>
          <p:nvPr/>
        </p:nvSpPr>
        <p:spPr>
          <a:xfrm>
            <a:off x="3794759" y="45720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1025" name="TOC 1025"/>
          <p:cNvSpPr txBox="1"/>
          <p:nvPr/>
        </p:nvSpPr>
        <p:spPr>
          <a:xfrm>
            <a:off x="1143000" y="4800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초반 · 순수 메카닉스</a:t>
            </a:r>
          </a:p>
        </p:txBody>
      </p:sp>
      <p:sp>
        <p:nvSpPr>
          <p:cNvPr id="1026" name="TOC 1026"/>
          <p:cNvSpPr txBox="1"/>
          <p:nvPr/>
        </p:nvSpPr>
        <p:spPr>
          <a:xfrm>
            <a:off x="3794759" y="48006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1027" name="TOC 1027"/>
          <p:cNvSpPr txBox="1"/>
          <p:nvPr/>
        </p:nvSpPr>
        <p:spPr>
          <a:xfrm>
            <a:off x="1143000" y="5029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중반 · 성장이 난이도를 앞지름</a:t>
            </a:r>
          </a:p>
        </p:txBody>
      </p:sp>
      <p:sp>
        <p:nvSpPr>
          <p:cNvPr id="1028" name="TOC 1028"/>
          <p:cNvSpPr txBox="1"/>
          <p:nvPr/>
        </p:nvSpPr>
        <p:spPr>
          <a:xfrm>
            <a:off x="3794759" y="50292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1029" name="TOC 1029"/>
          <p:cNvSpPr txBox="1"/>
          <p:nvPr/>
        </p:nvSpPr>
        <p:spPr>
          <a:xfrm>
            <a:off x="1143000" y="5257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후반 · 깽판과 긴 목표</a:t>
            </a:r>
          </a:p>
        </p:txBody>
      </p:sp>
      <p:sp>
        <p:nvSpPr>
          <p:cNvPr id="1030" name="TOC 1030"/>
          <p:cNvSpPr txBox="1"/>
          <p:nvPr/>
        </p:nvSpPr>
        <p:spPr>
          <a:xfrm>
            <a:off x="3794759" y="52578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1031" name="TOC 1031"/>
          <p:cNvSpPr txBox="1"/>
          <p:nvPr/>
        </p:nvSpPr>
        <p:spPr>
          <a:xfrm>
            <a:off x="1143000" y="5486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 구간별 경험 · 스타일 변화</a:t>
            </a:r>
          </a:p>
        </p:txBody>
      </p:sp>
      <p:sp>
        <p:nvSpPr>
          <p:cNvPr id="1032" name="TOC 1032"/>
          <p:cNvSpPr txBox="1"/>
          <p:nvPr/>
        </p:nvSpPr>
        <p:spPr>
          <a:xfrm>
            <a:off x="3794759" y="54864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1033" name="TOC 1033"/>
          <p:cNvSpPr/>
          <p:nvPr/>
        </p:nvSpPr>
        <p:spPr>
          <a:xfrm>
            <a:off x="452628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34" name="TOC 1034"/>
          <p:cNvSpPr txBox="1"/>
          <p:nvPr/>
        </p:nvSpPr>
        <p:spPr>
          <a:xfrm>
            <a:off x="472744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별 난이도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16P</a:t>
            </a:r>
          </a:p>
        </p:txBody>
      </p:sp>
      <p:sp>
        <p:nvSpPr>
          <p:cNvPr id="1035" name="TOC 1035"/>
          <p:cNvSpPr txBox="1"/>
          <p:nvPr/>
        </p:nvSpPr>
        <p:spPr>
          <a:xfrm>
            <a:off x="489204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난이도 상승 곡선</a:t>
            </a:r>
          </a:p>
        </p:txBody>
      </p:sp>
      <p:sp>
        <p:nvSpPr>
          <p:cNvPr id="1036" name="TOC 1036"/>
          <p:cNvSpPr txBox="1"/>
          <p:nvPr/>
        </p:nvSpPr>
        <p:spPr>
          <a:xfrm>
            <a:off x="7543799" y="1965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1037" name="TOC 1037"/>
          <p:cNvSpPr txBox="1"/>
          <p:nvPr/>
        </p:nvSpPr>
        <p:spPr>
          <a:xfrm>
            <a:off x="489204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허들 배치</a:t>
            </a:r>
          </a:p>
        </p:txBody>
      </p:sp>
      <p:sp>
        <p:nvSpPr>
          <p:cNvPr id="1038" name="TOC 1038"/>
          <p:cNvSpPr txBox="1"/>
          <p:nvPr/>
        </p:nvSpPr>
        <p:spPr>
          <a:xfrm>
            <a:off x="7543799" y="2194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1039" name="TOC 1039"/>
          <p:cNvSpPr txBox="1"/>
          <p:nvPr/>
        </p:nvSpPr>
        <p:spPr>
          <a:xfrm>
            <a:off x="489204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층 별 소모 시간</a:t>
            </a:r>
          </a:p>
        </p:txBody>
      </p:sp>
      <p:sp>
        <p:nvSpPr>
          <p:cNvPr id="1040" name="TOC 1040"/>
          <p:cNvSpPr txBox="1"/>
          <p:nvPr/>
        </p:nvSpPr>
        <p:spPr>
          <a:xfrm>
            <a:off x="7543799" y="24231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1041" name="TOC 1041"/>
          <p:cNvSpPr txBox="1"/>
          <p:nvPr/>
        </p:nvSpPr>
        <p:spPr>
          <a:xfrm>
            <a:off x="489204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방 수와 층 시간</a:t>
            </a:r>
          </a:p>
        </p:txBody>
      </p:sp>
      <p:sp>
        <p:nvSpPr>
          <p:cNvPr id="1042" name="TOC 1042"/>
          <p:cNvSpPr txBox="1"/>
          <p:nvPr/>
        </p:nvSpPr>
        <p:spPr>
          <a:xfrm>
            <a:off x="7543799" y="26517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1043" name="TOC 1043"/>
          <p:cNvSpPr txBox="1"/>
          <p:nvPr/>
        </p:nvSpPr>
        <p:spPr>
          <a:xfrm>
            <a:off x="489204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한 판의 흐름</a:t>
            </a:r>
          </a:p>
        </p:txBody>
      </p:sp>
      <p:sp>
        <p:nvSpPr>
          <p:cNvPr id="1044" name="TOC 1044"/>
          <p:cNvSpPr txBox="1"/>
          <p:nvPr/>
        </p:nvSpPr>
        <p:spPr>
          <a:xfrm>
            <a:off x="7543799" y="28803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045" name="TOC 1045"/>
          <p:cNvSpPr txBox="1"/>
          <p:nvPr/>
        </p:nvSpPr>
        <p:spPr>
          <a:xfrm>
            <a:off x="4892040" y="3108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21층 이후 적정 난이도</a:t>
            </a:r>
          </a:p>
        </p:txBody>
      </p:sp>
      <p:sp>
        <p:nvSpPr>
          <p:cNvPr id="1046" name="TOC 1046"/>
          <p:cNvSpPr txBox="1"/>
          <p:nvPr/>
        </p:nvSpPr>
        <p:spPr>
          <a:xfrm>
            <a:off x="7543799" y="3108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1047" name="TOC 1047"/>
          <p:cNvSpPr/>
          <p:nvPr/>
        </p:nvSpPr>
        <p:spPr>
          <a:xfrm>
            <a:off x="4526280" y="35478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48" name="TOC 1048"/>
          <p:cNvSpPr txBox="1"/>
          <p:nvPr/>
        </p:nvSpPr>
        <p:spPr>
          <a:xfrm>
            <a:off x="4727448" y="34381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22P</a:t>
            </a:r>
          </a:p>
        </p:txBody>
      </p:sp>
      <p:sp>
        <p:nvSpPr>
          <p:cNvPr id="1049" name="TOC 1049"/>
          <p:cNvSpPr txBox="1"/>
          <p:nvPr/>
        </p:nvSpPr>
        <p:spPr>
          <a:xfrm>
            <a:off x="4892040" y="3886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성장 대 난이도</a:t>
            </a:r>
          </a:p>
        </p:txBody>
      </p:sp>
      <p:sp>
        <p:nvSpPr>
          <p:cNvPr id="1050" name="TOC 1050"/>
          <p:cNvSpPr txBox="1"/>
          <p:nvPr/>
        </p:nvSpPr>
        <p:spPr>
          <a:xfrm>
            <a:off x="7543799" y="38862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1051" name="TOC 1051"/>
          <p:cNvSpPr txBox="1"/>
          <p:nvPr/>
        </p:nvSpPr>
        <p:spPr>
          <a:xfrm>
            <a:off x="4892040" y="4114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난이도 · 성장 곡선 비교</a:t>
            </a:r>
          </a:p>
        </p:txBody>
      </p:sp>
      <p:sp>
        <p:nvSpPr>
          <p:cNvPr id="1052" name="TOC 1052"/>
          <p:cNvSpPr txBox="1"/>
          <p:nvPr/>
        </p:nvSpPr>
        <p:spPr>
          <a:xfrm>
            <a:off x="7543799" y="41148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1053" name="TOC 1053"/>
          <p:cNvSpPr txBox="1"/>
          <p:nvPr/>
        </p:nvSpPr>
        <p:spPr>
          <a:xfrm>
            <a:off x="4892040" y="4343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구간별 성장 곡선</a:t>
            </a:r>
          </a:p>
        </p:txBody>
      </p:sp>
      <p:sp>
        <p:nvSpPr>
          <p:cNvPr id="1054" name="TOC 1054"/>
          <p:cNvSpPr txBox="1"/>
          <p:nvPr/>
        </p:nvSpPr>
        <p:spPr>
          <a:xfrm>
            <a:off x="7543799" y="43434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1055" name="TOC 1055"/>
          <p:cNvSpPr/>
          <p:nvPr/>
        </p:nvSpPr>
        <p:spPr>
          <a:xfrm>
            <a:off x="827532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56" name="TOC 1056"/>
          <p:cNvSpPr txBox="1"/>
          <p:nvPr/>
        </p:nvSpPr>
        <p:spPr>
          <a:xfrm>
            <a:off x="8476488" y="1517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운영 설계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25P</a:t>
            </a:r>
          </a:p>
        </p:txBody>
      </p:sp>
      <p:sp>
        <p:nvSpPr>
          <p:cNvPr id="1057" name="TOC 1057"/>
          <p:cNvSpPr txBox="1"/>
          <p:nvPr/>
        </p:nvSpPr>
        <p:spPr>
          <a:xfrm>
            <a:off x="8641080" y="1965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허들 보상과 가스 빼기</a:t>
            </a:r>
          </a:p>
        </p:txBody>
      </p:sp>
      <p:sp>
        <p:nvSpPr>
          <p:cNvPr id="1058" name="TOC 1058"/>
          <p:cNvSpPr txBox="1"/>
          <p:nvPr/>
        </p:nvSpPr>
        <p:spPr>
          <a:xfrm>
            <a:off x="11292839" y="19659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1059" name="TOC 1059"/>
          <p:cNvSpPr txBox="1"/>
          <p:nvPr/>
        </p:nvSpPr>
        <p:spPr>
          <a:xfrm>
            <a:off x="8641080" y="2194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층 건너뛰기 · 해금 규칙</a:t>
            </a:r>
          </a:p>
        </p:txBody>
      </p:sp>
      <p:sp>
        <p:nvSpPr>
          <p:cNvPr id="1060" name="TOC 1060"/>
          <p:cNvSpPr txBox="1"/>
          <p:nvPr/>
        </p:nvSpPr>
        <p:spPr>
          <a:xfrm>
            <a:off x="11292839" y="21945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1061" name="TOC 1061"/>
          <p:cNvSpPr txBox="1"/>
          <p:nvPr/>
        </p:nvSpPr>
        <p:spPr>
          <a:xfrm>
            <a:off x="8641080" y="2423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층 건너뛰기 · 플레이타임 영향</a:t>
            </a:r>
          </a:p>
        </p:txBody>
      </p:sp>
      <p:sp>
        <p:nvSpPr>
          <p:cNvPr id="1062" name="TOC 1062"/>
          <p:cNvSpPr txBox="1"/>
          <p:nvPr/>
        </p:nvSpPr>
        <p:spPr>
          <a:xfrm>
            <a:off x="11292839" y="24231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1063" name="TOC 1063"/>
          <p:cNvSpPr txBox="1"/>
          <p:nvPr/>
        </p:nvSpPr>
        <p:spPr>
          <a:xfrm>
            <a:off x="8641080" y="26517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화면 구성과 정보 공개</a:t>
            </a:r>
          </a:p>
        </p:txBody>
      </p:sp>
      <p:sp>
        <p:nvSpPr>
          <p:cNvPr id="1064" name="TOC 1064"/>
          <p:cNvSpPr txBox="1"/>
          <p:nvPr/>
        </p:nvSpPr>
        <p:spPr>
          <a:xfrm>
            <a:off x="11292839" y="26517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1065" name="TOC 1065"/>
          <p:cNvSpPr txBox="1"/>
          <p:nvPr/>
        </p:nvSpPr>
        <p:spPr>
          <a:xfrm>
            <a:off x="864108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검증 지표와 남은 결정</a:t>
            </a:r>
          </a:p>
        </p:txBody>
      </p:sp>
      <p:sp>
        <p:nvSpPr>
          <p:cNvPr id="1066" name="TOC 1066"/>
          <p:cNvSpPr txBox="1"/>
          <p:nvPr/>
        </p:nvSpPr>
        <p:spPr>
          <a:xfrm>
            <a:off x="11292839" y="288036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1067" name="TOC 1067"/>
          <p:cNvSpPr/>
          <p:nvPr/>
        </p:nvSpPr>
        <p:spPr>
          <a:xfrm>
            <a:off x="8275320" y="33192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68" name="TOC 1068"/>
          <p:cNvSpPr txBox="1"/>
          <p:nvPr/>
        </p:nvSpPr>
        <p:spPr>
          <a:xfrm>
            <a:off x="8476488" y="32095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부록</a:t>
            </a:r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30P</a:t>
            </a:r>
          </a:p>
        </p:txBody>
      </p:sp>
      <p:sp>
        <p:nvSpPr>
          <p:cNvPr id="1069" name="TOC 1069"/>
          <p:cNvSpPr txBox="1"/>
          <p:nvPr/>
        </p:nvSpPr>
        <p:spPr>
          <a:xfrm>
            <a:off x="864108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허들표 1~10층</a:t>
            </a:r>
          </a:p>
        </p:txBody>
      </p:sp>
      <p:sp>
        <p:nvSpPr>
          <p:cNvPr id="1070" name="TOC 1070"/>
          <p:cNvSpPr txBox="1"/>
          <p:nvPr/>
        </p:nvSpPr>
        <p:spPr>
          <a:xfrm>
            <a:off x="11292839" y="36576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1071" name="TOC 1071"/>
          <p:cNvSpPr txBox="1"/>
          <p:nvPr/>
        </p:nvSpPr>
        <p:spPr>
          <a:xfrm>
            <a:off x="8641080" y="3886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허들표 11~20층</a:t>
            </a:r>
          </a:p>
        </p:txBody>
      </p:sp>
      <p:sp>
        <p:nvSpPr>
          <p:cNvPr id="1072" name="TOC 1072"/>
          <p:cNvSpPr txBox="1"/>
          <p:nvPr/>
        </p:nvSpPr>
        <p:spPr>
          <a:xfrm>
            <a:off x="11292839" y="388620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>
                <a:latin typeface="Noto Sans KR Black"/>
                <a:ea typeface="Noto Sans KR Black"/>
                <a:cs typeface="Noto Sans KR Black"/>
              </a:rPr>
              <a:t> – 로그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840666"/>
              </p:ext>
            </p:extLst>
          </p:nvPr>
        </p:nvGraphicFramePr>
        <p:xfrm>
          <a:off x="1353312" y="1645920"/>
          <a:ext cx="9482328" cy="5477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내용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최초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양식 작성, 문서 생성, 목차 작성, 개요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내용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설계, 층 별 허들(목표 찍찍·벽·시간·보스·방 수), 허들표, 검증 기준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인게임 기준 구간 목표 반영 (초반 10분·재도전 1~2회 / 중반 40분·5~6회 / 후반 30~40분·5~6회), 연관 허들·허들표·검증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개정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회의 피드백 반영 — 구간 재정의(초반 20~30분 · 중반 ~2시간 반 · 후반 2시간 반~), 층별 방 수 · 제한 시간 180초 통일, 구간별 플레이 경험, 허들 배치(5 · 16층 허들, 17층~ 어려움 · 허들), 난이도 · 성장 곡선, 층별 소모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건너뛰기 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 시작 층 선택(5층 클리어 시 3층 → 15층 클리어 시 10층 → 20층 클리어 시 15층 최대, 보정 없는 선택형), 해금표 · 플레이타임 영향(건너뛰기 없이 8.4시간 / 최대 건너뛰기 6.5시간), 허들 보상 · 정보 공개 · 남은 결정 반영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허들 조정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 완화(×2.2 → ×1.75, 3판 → 2판), 19층(×2.2, 2판 → 3판) · 20층(×2.4) 강화로 총 플레이타임 유지, 기준 성장 곡선 조정(16층 여유 0.97 → 0.95, 15층 → 16층 낙차 축소), 21~30층 적정 난이도(16~20층 배율 반복) 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  <a:endParaRPr lang="ko-KR" altLang="en-US" sz="1300" b="0" dirty="0">
                        <a:solidFill>
                          <a:srgbClr val="0B0B0B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레이아웃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레이아웃 수정 및 내용 정리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목표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9597"/>
            <a:ext cx="6300216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자동 플레이 기준 목표 플레이 타임 배분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1947672"/>
            <a:ext cx="3182112" cy="43891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5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 ·  1~5층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386584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n-US" altLang="ko-KR" sz="26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</a:t>
            </a:r>
            <a:r>
              <a:rPr lang="ko-KR" altLang="en-US" sz="26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분</a:t>
            </a:r>
          </a:p>
          <a:p>
            <a:pPr algn="ctr"/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플레이타임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209544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3584" y="3291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32918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 (재도전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6027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36027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 4층 → 5층 허들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39136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3913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 →  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42245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42245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4,5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층에서 재도전 </a:t>
            </a:r>
            <a:r>
              <a:rPr lang="en-US" altLang="ko-KR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1~2</a:t>
            </a:r>
            <a:r>
              <a:rPr lang="ko-KR" altLang="en-US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</a:t>
            </a:r>
            <a:endParaRPr lang="ko-KR" altLang="en-US" sz="12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43584" y="4535424"/>
            <a:ext cx="914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재미 요소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535424"/>
            <a:ext cx="2194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요소들을 알아가는 재미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1947672"/>
            <a:ext cx="3182112" cy="43891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2386584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26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15분</a:t>
            </a:r>
          </a:p>
          <a:p>
            <a:pPr algn="ctr"/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플레이타임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3209544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08576" y="3291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2918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약 5판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6027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36027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평균 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39136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3913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 → 9개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2245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2245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난이도 상승 </a:t>
            </a:r>
            <a:r>
              <a:rPr lang="en-US" altLang="ko-KR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&lt;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4535424"/>
            <a:ext cx="914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재미 요소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53542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수치 상승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 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활용하는 재미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1947672"/>
            <a:ext cx="3182112" cy="43891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16~20층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386584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26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 3</a:t>
            </a:r>
            <a:r>
              <a:rPr lang="en-US" altLang="ko-KR" sz="26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ko-KR" altLang="en-US" sz="26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분</a:t>
            </a:r>
          </a:p>
          <a:p>
            <a:pPr algn="ctr"/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플레이타임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209544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73567" y="3291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2918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7" y="36027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6027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2~3판에 1층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7" y="39136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3913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9개 고정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7" y="42245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2245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난이도 상승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&gt; 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7" y="4535424"/>
            <a:ext cx="914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재미 요소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53542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막힌 허들을 뚫고 나아가는 재미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" y="5093209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한 줄 지도 — 색 = 층 유형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7572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4268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42616" y="5385817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40964" y="5385817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39312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37660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6008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34356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32704" y="5385817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31052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27748" y="5385817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6096" y="5385817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24444" y="5385817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22792" y="5385817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21140" y="5385817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19488" y="5385817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17836" y="5385817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16184" y="5385817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33856" y="5916169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298448" y="586914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74519" y="5916169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039112" y="586914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15184" y="5916169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79776" y="586914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5916169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39312" y="5869144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매우 어려움</a:t>
            </a:r>
            <a:endParaRPr lang="ko-KR" altLang="en-US" sz="1000" b="0" dirty="0">
              <a:solidFill>
                <a:srgbClr val="59595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65828" y="5843017"/>
            <a:ext cx="65836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 = 5 · 16 · 18 · 20층 / 어려움 = 17 · 19층 / 제한 180초 </a:t>
            </a: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/ 전부 자동 플레이 기준</a:t>
            </a:r>
            <a:endParaRPr lang="ko-KR" altLang="en-US" sz="1000" b="0" dirty="0">
              <a:solidFill>
                <a:srgbClr val="595959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기획 방향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02496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개선안 적용 방안 및 적용 위치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698136"/>
              </p:ext>
            </p:extLst>
          </p:nvPr>
        </p:nvGraphicFramePr>
        <p:xfrm>
          <a:off x="1133856" y="1932990"/>
          <a:ext cx="9966960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회의 내용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적용 방안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반영한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약 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 분량, 순수 </a:t>
                      </a:r>
                      <a:endParaRPr lang="en-US" altLang="ko-KR" sz="1100" b="0" dirty="0">
                        <a:solidFill>
                          <a:srgbClr val="0B0B0B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  <a:p>
                      <a:pPr algn="l"/>
                      <a:r>
                        <a:rPr lang="ko-KR" altLang="en-US" sz="11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메카닉스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재미만으로 진행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= 1~5층 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20~30분 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기능 해금 및 기능 조작으로만 진행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구간 설계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다양한 쥐와 </a:t>
                      </a:r>
                      <a:r>
                        <a:rPr lang="ko-KR" altLang="en-US" sz="11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수집 및 연출은 후반 재미 요소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‘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폭탄 기능으로 사용하는 제한된 </a:t>
                      </a:r>
                      <a:r>
                        <a:rPr lang="ko-KR" altLang="en-US" sz="11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’, </a:t>
                      </a:r>
                      <a:endParaRPr lang="en-US" altLang="ko-KR" sz="1100" b="0" dirty="0">
                        <a:solidFill>
                          <a:srgbClr val="0B0B0B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후반은 자동 발동되는 </a:t>
                      </a:r>
                      <a:r>
                        <a:rPr lang="ko-KR" altLang="en-US" sz="11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및 패시브 스킬을 기반으로 진행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구간 설계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인크리멘탈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요소가 안 보임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후반의 가파른 플레이어 성장과 그보다 가파른 난이도 상승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플레이어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곡선에 기준이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 플레이 타임과 허들 구간을 먼저 정하고 수치를 조절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난이도 · 플레이어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힘든 구간과 쉬운 구간의 교차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· 16층에 허들을 두고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그 사이 6~15층은 비교적 쉽게 배치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배치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정보가 너무 많아 빨리 질림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구간별로 화면과 기능을 차등 공개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구간에 순차적 기능 해금을 두고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, </a:t>
                      </a:r>
                    </a:p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이를 재미 요소의 일부로 삼음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</a:t>
                      </a:r>
                      <a:r>
                        <a:rPr lang="ko-KR" altLang="en-US" sz="11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찍찍이면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endParaRPr lang="en-US" altLang="ko-KR" sz="1100" b="0" dirty="0">
                        <a:solidFill>
                          <a:srgbClr val="0B0B0B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일반 60% · 보스 90%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시간은 모든 층 180초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, </a:t>
                      </a:r>
                    </a:p>
                    <a:p>
                      <a:pPr algn="l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 시간</a:t>
                      </a:r>
                      <a:r>
                        <a:rPr lang="en-US" altLang="ko-KR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 · 보통 60%, 어려움 75%, 허들 90%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소모 시간 · </a:t>
                      </a:r>
                      <a:r>
                        <a:rPr lang="ko-KR" altLang="en-US" sz="11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허들표</a:t>
                      </a:r>
                      <a:endParaRPr lang="ko-KR" altLang="en-US" sz="1100" b="0" dirty="0">
                        <a:solidFill>
                          <a:srgbClr val="0B0B0B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5837478"/>
            <a:ext cx="10058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현재 프로젝트는 구조(번식 · 벽 · </a:t>
            </a:r>
            <a:r>
              <a:rPr lang="ko-KR" altLang="en-US" sz="10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수동</a:t>
            </a:r>
            <a:r>
              <a:rPr lang="en-US" altLang="ko-KR" sz="10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0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자동 진행</a:t>
            </a: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lang="ko-KR" altLang="en-US" sz="10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별 구조</a:t>
            </a: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· 성장 · 5층마다 보스 등)만 참고했고, 모든 수치는 이 문서에서 새로 설정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설계 원칙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627632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1673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92224"/>
            <a:ext cx="40233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구간별 재미 요소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377440"/>
            <a:ext cx="443484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</a:t>
            </a:r>
            <a:r>
              <a:rPr lang="en-US" altLang="ko-KR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배워 가는 재미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</a:t>
            </a:r>
            <a:r>
              <a:rPr lang="en-US" altLang="ko-KR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 </a:t>
            </a:r>
            <a:r>
              <a:rPr lang="ko-KR" altLang="en-US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성장과 결과 확인의 재미</a:t>
            </a:r>
            <a:endParaRPr lang="en-US" altLang="ko-KR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–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수치 상승의 재미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627632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39165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1792224"/>
            <a:ext cx="40233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별 난이도</a:t>
            </a:r>
            <a:r>
              <a:rPr lang="en-US" altLang="ko-KR" sz="17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7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377440"/>
            <a:ext cx="4434840" cy="1007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-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재도전 1~2회로 5층 허들 격파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판마다 고점 2층 상승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중반은 쉽지만 방이 5개 → 9개로 늘어 플레이타임은 상승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2~3판에 고점 한 층 상승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4023360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1673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4187952"/>
            <a:ext cx="40233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별 허들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773168"/>
            <a:ext cx="4434840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= 초반 졸업  </a:t>
            </a:r>
            <a:endParaRPr lang="en-US" altLang="ko-KR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허들 = 후반 입장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6~15층은 허들 없는 보통 층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: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성장이 난이도를 앞지르는   구간이라 꾸준히 고점을 갱신하는 재미를 위해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4023360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9165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4187952"/>
            <a:ext cx="40233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시간으로 게임 난이도 체감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773168"/>
            <a:ext cx="4434840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</a:t>
            </a:r>
            <a:r>
              <a:rPr lang="ko-KR" altLang="en-US" sz="1300" b="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찍찍일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때 쉬움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보통 층은 제한 시간의 60%, 어려움 75%, 허들 90%를 써서 돌파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제한 시간은 모든 층 180초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하나에 최소 10초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방이 많은 층은 쉬워도 오래 걸림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용어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114425"/>
              </p:ext>
            </p:extLst>
          </p:nvPr>
        </p:nvGraphicFramePr>
        <p:xfrm>
          <a:off x="1133856" y="1600200"/>
          <a:ext cx="9824430" cy="451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2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1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(런)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인게임</a:t>
                      </a:r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입장 후 게임 오버 되기까지의 한 번의 도전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플레이어가 도달한 가장 높은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= </a:t>
                      </a:r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플레이어</a:t>
                      </a:r>
                      <a:r>
                        <a:rPr lang="en-US" altLang="ko-KR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여유도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플레이어</a:t>
                      </a:r>
                      <a:r>
                        <a:rPr lang="en-US" altLang="ko-KR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찍찍</a:t>
                      </a:r>
                      <a:r>
                        <a:rPr lang="en-US" altLang="ko-KR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전투력</a:t>
                      </a:r>
                      <a:r>
                        <a:rPr lang="en-US" altLang="ko-KR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÷ 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 · 보통 · 어려움 · 매우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층을 처음 깬 뒤 이 층을 처음 깰 때까지 (재도전 · 로비 포함)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639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성장 곡선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진행에 따라 게임이 주는 성장 (반복 </a:t>
                      </a:r>
                      <a:r>
                        <a:rPr lang="ko-KR" altLang="en-US" sz="1400" b="0" dirty="0" err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파밍</a:t>
                      </a:r>
                      <a:r>
                        <a:rPr lang="ko-KR" altLang="en-US" sz="14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제외)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 별 요약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33856" y="1887271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초반  ·  1~5층 클리어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344471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2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20~30분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121711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6" y="3213151"/>
            <a:ext cx="3090672" cy="9464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재도전 1~2회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기능 해금하며 기본 기능만으로 진행</a:t>
            </a:r>
            <a:endParaRPr lang="en-US" altLang="ko-KR" sz="12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판에 4층 도달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5층에서 재도전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회</a:t>
            </a:r>
            <a:endParaRPr lang="en-US" altLang="ko-KR" sz="12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끝: 5층 허들 격파 → 첫 훈장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1887271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 클리어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344471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2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2~2.5시간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3121711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3213151"/>
            <a:ext cx="3090672" cy="15388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5개 · 판마다 고점 +2층</a:t>
            </a:r>
            <a:endParaRPr lang="en-US" altLang="ko-KR" sz="12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ko-KR" altLang="en-US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성장 ×1.7로 난이도(층당 ×1.32)</a:t>
            </a:r>
            <a:r>
              <a:rPr lang="ko-KR" altLang="en-US" sz="120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를</a:t>
            </a:r>
            <a:r>
              <a:rPr lang="ko-KR" altLang="en-US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앞지름</a:t>
            </a:r>
            <a:endParaRPr lang="ko-KR" altLang="en-US" sz="12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난이도는 쉽지만 방이 5개 → 9개로 늘어 플레이 타임 상승</a:t>
            </a:r>
            <a:endParaRPr lang="en-US" altLang="ko-KR" sz="12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유저가 사용할 수 있는 </a:t>
            </a:r>
            <a:r>
              <a:rPr lang="ko-KR" altLang="en-US" sz="1200" b="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기능 추가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끝: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보스 격파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887271"/>
            <a:ext cx="3182112" cy="45720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16층부터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344471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2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반 이후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121711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3213151"/>
            <a:ext cx="3090672" cy="1315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16층부터 매 층이 벽(어려움 </a:t>
            </a:r>
            <a:r>
              <a:rPr lang="en-US" altLang="ko-KR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매우 어려움) 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 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2~3판에 한 층 · 방 9개 고정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다양한 쥐의 자동 사용 </a:t>
            </a:r>
            <a:r>
              <a:rPr lang="ko-KR" altLang="en-US" sz="1200" b="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연쇄</a:t>
            </a:r>
            <a:endParaRPr lang="en-US" altLang="ko-KR" sz="12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누적 플레</a:t>
            </a:r>
            <a:r>
              <a:rPr lang="ko-KR" altLang="en-US" sz="12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 타임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약 8.5시간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이후 스테이지 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30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층까지</a:t>
            </a:r>
            <a:r>
              <a:rPr lang="en-US" altLang="ko-KR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</a:t>
            </a: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이후 무한 모드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069383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플레이타임 (로비 포함 · 표준 플레이 기준)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3856" y="5343703"/>
            <a:ext cx="527145" cy="41148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61001" y="5343703"/>
            <a:ext cx="1958722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106분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9724" y="5343703"/>
            <a:ext cx="7481091" cy="41148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→  20층 약 8.5시간 </a:t>
            </a:r>
            <a:r>
              <a:rPr lang="en-US" altLang="ko-KR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이후 후반 구간 스타일 반복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5536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2975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0415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7856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296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2735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0176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7616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35056" y="5773471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9시간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지도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유형 </a:t>
            </a:r>
            <a:r>
              <a:rPr lang="en-US" altLang="ko-KR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방 수 </a:t>
            </a:r>
            <a:r>
              <a:rPr lang="en-US" altLang="ko-KR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클리어에 필요한 트라이 횟수 </a:t>
            </a:r>
            <a:r>
              <a:rPr lang="en-US" altLang="ko-KR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머무는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892807" y="1915752"/>
            <a:ext cx="2340864" cy="310896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 1~5층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915752"/>
            <a:ext cx="4718304" cy="31089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6~15층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1915752"/>
            <a:ext cx="2340864" cy="3108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16~20층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08944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000" b="1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·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49024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000" b="1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 (주황 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7023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000" b="1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난이도 배율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32200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트라이 횟수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188816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필요 플레이 타임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75200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ko-KR" altLang="en-US" sz="1000" b="1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별 필요 플레이 타임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903304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" y="3424512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" y="3744552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" y="4046304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449436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92807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도입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52243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66543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80844" y="29947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52243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66543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80844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52243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066543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80844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19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5527632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74519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8296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773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54203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633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427732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542032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656332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427732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542032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656332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350008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0008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0008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5527632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50008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43784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0322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1752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13182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903220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017520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131820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903220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017520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131820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25496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25496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25496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98648" y="5527632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825496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9272" y="2308944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4</a:t>
            </a:r>
          </a:p>
          <a:p>
            <a:pPr algn="ctr"/>
            <a:r>
              <a:rPr lang="ko-KR" altLang="en-US" sz="800" b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7870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49300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60730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37870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493008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607308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378708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493008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607308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300984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00984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00984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74136" y="5527632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300984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94759" y="2308944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  <a:p>
            <a:pPr algn="ctr"/>
            <a:r>
              <a:rPr lang="ko-KR" altLang="en-US" sz="8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5419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96849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08279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85419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968496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082796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854196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968496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082796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76472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×1.80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76472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76472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49624" y="5401414"/>
            <a:ext cx="329184" cy="153649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776472" y="5200246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70248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6</a:t>
            </a:r>
          </a:p>
          <a:p>
            <a:pPr algn="ctr"/>
            <a:r>
              <a:rPr lang="ko-KR" altLang="en-US" sz="800" b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2968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44398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55828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329684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443984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558284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329684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443984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558284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51960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51960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4판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51960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34분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25112" y="5474152"/>
            <a:ext cx="329184" cy="80911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251960" y="527298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45736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7</a:t>
            </a:r>
          </a:p>
          <a:p>
            <a:pPr algn="ctr"/>
            <a:r>
              <a:rPr lang="ko-KR" altLang="en-US" sz="800" b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80517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491947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03377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805172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919472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5033772" y="31090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805172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4919472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033772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727448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27448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27448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36분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800600" y="5527632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727448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221223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8</a:t>
            </a:r>
          </a:p>
          <a:p>
            <a:pPr algn="ctr"/>
            <a:r>
              <a:rPr lang="ko-KR" altLang="en-US" sz="800" b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80659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5394959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5509259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5280659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5394959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5509259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5280659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5394959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5509259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202936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02936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02936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53분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76088" y="5417759"/>
            <a:ext cx="329184" cy="137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202936" y="5216591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96712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9</a:t>
            </a:r>
          </a:p>
          <a:p>
            <a:pPr algn="ctr"/>
            <a:r>
              <a:rPr lang="ko-KR" altLang="en-US" sz="800" b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75614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587044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98474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575614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87044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598474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756148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870448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5984748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5678424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678424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78424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54분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51576" y="5527632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678424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72199" y="2308944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  <a:p>
            <a:pPr algn="ctr"/>
            <a:r>
              <a:rPr lang="ko-KR" altLang="en-US" sz="8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3163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634593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646023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623163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634593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646023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6231636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6345936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460236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153912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53912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6판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53912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13분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227064" y="5400596"/>
            <a:ext cx="329184" cy="154467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153912" y="5199428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647688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11</a:t>
            </a:r>
          </a:p>
          <a:p>
            <a:pPr algn="ctr"/>
            <a:r>
              <a:rPr lang="ko-KR" altLang="en-US" sz="800" b="0" dirty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70712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682142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693572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6707124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821424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935724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6707124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821424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6935724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629400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629400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6판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629400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15분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702552" y="5527632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6629400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123176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12</a:t>
            </a:r>
          </a:p>
          <a:p>
            <a:pPr algn="ctr"/>
            <a:r>
              <a:rPr lang="ko-KR" altLang="en-US" sz="800" b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18261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729691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741121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7182612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7296912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7411212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7182612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7296912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7411212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7104888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104888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7판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104888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37분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5378529"/>
            <a:ext cx="329184" cy="17653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7104888" y="5177361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598663" y="2308944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13</a:t>
            </a:r>
          </a:p>
          <a:p>
            <a:pPr algn="ctr"/>
            <a:r>
              <a:rPr lang="ko-KR" altLang="en-US" sz="800" b="0" dirty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65810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777240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788670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7658100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7772400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886700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7658100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7772400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7886700" y="3223344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7580375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580375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7판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580375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38분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653527" y="5527632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580375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074151" y="2308944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  <a:p>
            <a:pPr algn="ctr"/>
            <a:r>
              <a:rPr lang="ko-KR" altLang="en-US" sz="8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13358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824788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836218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813358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824788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836218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8133588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8247888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8362188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8055863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055863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8판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055863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03분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129015" y="5353194"/>
            <a:ext cx="329184" cy="201869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8055863" y="5152026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8549640" y="2308944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  <a:p>
            <a:pPr algn="ctr"/>
            <a:r>
              <a:rPr lang="ko-KR" altLang="en-US" sz="8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60907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872337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883767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860907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872337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883767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8609076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8723376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8837676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8531352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531352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8판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531352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05분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604504" y="5527632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8531352" y="532646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025128" y="2308944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  <a:p>
            <a:pPr algn="ctr"/>
            <a:r>
              <a:rPr lang="ko-KR" altLang="en-US" sz="8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08456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919886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9313164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9084564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9198864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9313164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9084564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9198864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9313164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9006840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×1.75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9006840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10판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006840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58분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079992" y="5120267"/>
            <a:ext cx="329184" cy="43479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9006840" y="4919099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53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500616" y="2308944"/>
            <a:ext cx="438912" cy="54864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56005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967435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9788652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9560052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9674352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9788652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9560052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9674352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9788652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9482328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×1.70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482328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12판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482328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3시간</a:t>
            </a:r>
          </a:p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52분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9555480" y="5110459"/>
            <a:ext cx="329184" cy="4446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9482328" y="4909291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54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9976104" y="2308944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  <a:p>
            <a:pPr algn="ctr"/>
            <a:r>
              <a:rPr lang="ko-KR" altLang="en-US" sz="8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003554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1014984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10264140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10035540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10149840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10264140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10035540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10149840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10264140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957816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×2.10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957816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15판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9957816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5시간</a:t>
            </a:r>
          </a:p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18분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030968" y="4857100"/>
            <a:ext cx="329184" cy="69796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9957816" y="4655932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85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0451592" y="2308944"/>
            <a:ext cx="438912" cy="54864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51102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1062532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10739628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1051102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1062532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10739628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10511028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10625328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10739628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10433304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×2.20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433304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18판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433304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6시간</a:t>
            </a:r>
          </a:p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48분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10506456" y="4817871"/>
            <a:ext cx="329184" cy="73719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10433304" y="4616703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90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2308944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  <a:p>
            <a:pPr algn="ctr"/>
            <a:r>
              <a:rPr lang="ko-KR" altLang="en-US" sz="8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098651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8" name="Rectangle 307"/>
          <p:cNvSpPr/>
          <p:nvPr/>
        </p:nvSpPr>
        <p:spPr>
          <a:xfrm>
            <a:off x="1110081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9" name="Rectangle 308"/>
          <p:cNvSpPr/>
          <p:nvPr/>
        </p:nvSpPr>
        <p:spPr>
          <a:xfrm>
            <a:off x="11215116" y="29947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0" name="Rectangle 309"/>
          <p:cNvSpPr/>
          <p:nvPr/>
        </p:nvSpPr>
        <p:spPr>
          <a:xfrm>
            <a:off x="1098651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1" name="Rectangle 310"/>
          <p:cNvSpPr/>
          <p:nvPr/>
        </p:nvSpPr>
        <p:spPr>
          <a:xfrm>
            <a:off x="1110081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2" name="Rectangle 311"/>
          <p:cNvSpPr/>
          <p:nvPr/>
        </p:nvSpPr>
        <p:spPr>
          <a:xfrm>
            <a:off x="11215116" y="31090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3" name="Rectangle 312"/>
          <p:cNvSpPr/>
          <p:nvPr/>
        </p:nvSpPr>
        <p:spPr>
          <a:xfrm>
            <a:off x="10986516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11100816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5" name="Rectangle 314"/>
          <p:cNvSpPr/>
          <p:nvPr/>
        </p:nvSpPr>
        <p:spPr>
          <a:xfrm>
            <a:off x="11215116" y="3223344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6" name="TextBox 315"/>
          <p:cNvSpPr txBox="1"/>
          <p:nvPr/>
        </p:nvSpPr>
        <p:spPr>
          <a:xfrm>
            <a:off x="10908792" y="347023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×2.40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0908792" y="3771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21판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0908792" y="407373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</a:t>
            </a:r>
          </a:p>
          <a:p>
            <a:pPr algn="ctr"/>
            <a:r>
              <a:rPr lang="ko-KR" altLang="en-US" sz="8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23분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0981944" y="4777824"/>
            <a:ext cx="329184" cy="7772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0" name="TextBox 319"/>
          <p:cNvSpPr txBox="1"/>
          <p:nvPr/>
        </p:nvSpPr>
        <p:spPr>
          <a:xfrm>
            <a:off x="10908792" y="4576656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8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95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1874519" y="5555064"/>
            <a:ext cx="9509761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Rectangle 321"/>
          <p:cNvSpPr/>
          <p:nvPr/>
        </p:nvSpPr>
        <p:spPr>
          <a:xfrm>
            <a:off x="1133856" y="5792807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1298448" y="571965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874519" y="5792807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2039112" y="571965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2615184" y="5792807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2779776" y="571965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3474720" y="5792807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3639312" y="5719656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매우 어려움</a:t>
            </a:r>
            <a:endParaRPr lang="ko-KR" altLang="en-US" sz="1000" b="0" dirty="0">
              <a:solidFill>
                <a:srgbClr val="59595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4754880" y="5719656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= 3×3 칸 중 주황 칸 수 · 시점 = 누적 플레이타임 · 굵은 글씨 = 허들 · 어려움 층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93C0EA5C-933D-B52A-EC3D-9642139F0F31}"/>
              </a:ext>
            </a:extLst>
          </p:cNvPr>
          <p:cNvSpPr txBox="1"/>
          <p:nvPr/>
        </p:nvSpPr>
        <p:spPr>
          <a:xfrm>
            <a:off x="1081278" y="-1093113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한 줄 지도 — 색 = 층 유형</a:t>
            </a:r>
          </a:p>
        </p:txBody>
      </p:sp>
      <p:sp>
        <p:nvSpPr>
          <p:cNvPr id="392" name="Rectangle 46">
            <a:extLst>
              <a:ext uri="{FF2B5EF4-FFF2-40B4-BE49-F238E27FC236}">
                <a16:creationId xmlns:a16="http://schemas.microsoft.com/office/drawing/2014/main" id="{21A5505D-987D-FABA-367D-1E99200DC230}"/>
              </a:ext>
            </a:extLst>
          </p:cNvPr>
          <p:cNvSpPr/>
          <p:nvPr/>
        </p:nvSpPr>
        <p:spPr>
          <a:xfrm>
            <a:off x="1094994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94" name="Rectangle 47">
            <a:extLst>
              <a:ext uri="{FF2B5EF4-FFF2-40B4-BE49-F238E27FC236}">
                <a16:creationId xmlns:a16="http://schemas.microsoft.com/office/drawing/2014/main" id="{0CEB548F-A212-9287-7760-79EBFE2CEA80}"/>
              </a:ext>
            </a:extLst>
          </p:cNvPr>
          <p:cNvSpPr/>
          <p:nvPr/>
        </p:nvSpPr>
        <p:spPr>
          <a:xfrm>
            <a:off x="1593342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96" name="Rectangle 48">
            <a:extLst>
              <a:ext uri="{FF2B5EF4-FFF2-40B4-BE49-F238E27FC236}">
                <a16:creationId xmlns:a16="http://schemas.microsoft.com/office/drawing/2014/main" id="{4A437D4B-79BE-7196-2E33-1D364E6D984C}"/>
              </a:ext>
            </a:extLst>
          </p:cNvPr>
          <p:cNvSpPr/>
          <p:nvPr/>
        </p:nvSpPr>
        <p:spPr>
          <a:xfrm>
            <a:off x="2091690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98" name="Rectangle 49">
            <a:extLst>
              <a:ext uri="{FF2B5EF4-FFF2-40B4-BE49-F238E27FC236}">
                <a16:creationId xmlns:a16="http://schemas.microsoft.com/office/drawing/2014/main" id="{38B55F1C-7745-83D1-300E-53A8C50EC5CF}"/>
              </a:ext>
            </a:extLst>
          </p:cNvPr>
          <p:cNvSpPr/>
          <p:nvPr/>
        </p:nvSpPr>
        <p:spPr>
          <a:xfrm>
            <a:off x="2590038" y="-800505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0" name="Rectangle 50">
            <a:extLst>
              <a:ext uri="{FF2B5EF4-FFF2-40B4-BE49-F238E27FC236}">
                <a16:creationId xmlns:a16="http://schemas.microsoft.com/office/drawing/2014/main" id="{5ECE95E2-8D69-825C-EB70-826EB89C27F3}"/>
              </a:ext>
            </a:extLst>
          </p:cNvPr>
          <p:cNvSpPr/>
          <p:nvPr/>
        </p:nvSpPr>
        <p:spPr>
          <a:xfrm>
            <a:off x="3088386" y="-800505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02" name="Rectangle 51">
            <a:extLst>
              <a:ext uri="{FF2B5EF4-FFF2-40B4-BE49-F238E27FC236}">
                <a16:creationId xmlns:a16="http://schemas.microsoft.com/office/drawing/2014/main" id="{27790575-DC42-615B-0AD4-D1538D7B3CA4}"/>
              </a:ext>
            </a:extLst>
          </p:cNvPr>
          <p:cNvSpPr/>
          <p:nvPr/>
        </p:nvSpPr>
        <p:spPr>
          <a:xfrm>
            <a:off x="3586734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04" name="Rectangle 52">
            <a:extLst>
              <a:ext uri="{FF2B5EF4-FFF2-40B4-BE49-F238E27FC236}">
                <a16:creationId xmlns:a16="http://schemas.microsoft.com/office/drawing/2014/main" id="{CDFF6B72-1655-CEDD-7BDA-BB52D92567E7}"/>
              </a:ext>
            </a:extLst>
          </p:cNvPr>
          <p:cNvSpPr/>
          <p:nvPr/>
        </p:nvSpPr>
        <p:spPr>
          <a:xfrm>
            <a:off x="4085082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06" name="Rectangle 53">
            <a:extLst>
              <a:ext uri="{FF2B5EF4-FFF2-40B4-BE49-F238E27FC236}">
                <a16:creationId xmlns:a16="http://schemas.microsoft.com/office/drawing/2014/main" id="{D9772E0C-4425-4BBA-A9B0-7EDBBCA4CF40}"/>
              </a:ext>
            </a:extLst>
          </p:cNvPr>
          <p:cNvSpPr/>
          <p:nvPr/>
        </p:nvSpPr>
        <p:spPr>
          <a:xfrm>
            <a:off x="4583430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08" name="Rectangle 54">
            <a:extLst>
              <a:ext uri="{FF2B5EF4-FFF2-40B4-BE49-F238E27FC236}">
                <a16:creationId xmlns:a16="http://schemas.microsoft.com/office/drawing/2014/main" id="{930438FB-548B-857D-463C-1D7A231A233D}"/>
              </a:ext>
            </a:extLst>
          </p:cNvPr>
          <p:cNvSpPr/>
          <p:nvPr/>
        </p:nvSpPr>
        <p:spPr>
          <a:xfrm>
            <a:off x="5081778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10" name="Rectangle 55">
            <a:extLst>
              <a:ext uri="{FF2B5EF4-FFF2-40B4-BE49-F238E27FC236}">
                <a16:creationId xmlns:a16="http://schemas.microsoft.com/office/drawing/2014/main" id="{EB9AC52E-FC22-9D8A-18BC-86C5F506D31A}"/>
              </a:ext>
            </a:extLst>
          </p:cNvPr>
          <p:cNvSpPr/>
          <p:nvPr/>
        </p:nvSpPr>
        <p:spPr>
          <a:xfrm>
            <a:off x="5580126" y="-800505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12" name="Rectangle 56">
            <a:extLst>
              <a:ext uri="{FF2B5EF4-FFF2-40B4-BE49-F238E27FC236}">
                <a16:creationId xmlns:a16="http://schemas.microsoft.com/office/drawing/2014/main" id="{18F25DF3-278D-225F-F652-7360D781ABD7}"/>
              </a:ext>
            </a:extLst>
          </p:cNvPr>
          <p:cNvSpPr/>
          <p:nvPr/>
        </p:nvSpPr>
        <p:spPr>
          <a:xfrm>
            <a:off x="6078474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14" name="Rectangle 57">
            <a:extLst>
              <a:ext uri="{FF2B5EF4-FFF2-40B4-BE49-F238E27FC236}">
                <a16:creationId xmlns:a16="http://schemas.microsoft.com/office/drawing/2014/main" id="{92FC9256-3FC3-7E9D-7F17-7A489001F10B}"/>
              </a:ext>
            </a:extLst>
          </p:cNvPr>
          <p:cNvSpPr/>
          <p:nvPr/>
        </p:nvSpPr>
        <p:spPr>
          <a:xfrm>
            <a:off x="6576822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16" name="Rectangle 58">
            <a:extLst>
              <a:ext uri="{FF2B5EF4-FFF2-40B4-BE49-F238E27FC236}">
                <a16:creationId xmlns:a16="http://schemas.microsoft.com/office/drawing/2014/main" id="{478B6F47-FFF4-FECD-6467-1CCC4BD284CD}"/>
              </a:ext>
            </a:extLst>
          </p:cNvPr>
          <p:cNvSpPr/>
          <p:nvPr/>
        </p:nvSpPr>
        <p:spPr>
          <a:xfrm>
            <a:off x="7075170" y="-800505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chemeClr val="tx1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418" name="Rectangle 59">
            <a:extLst>
              <a:ext uri="{FF2B5EF4-FFF2-40B4-BE49-F238E27FC236}">
                <a16:creationId xmlns:a16="http://schemas.microsoft.com/office/drawing/2014/main" id="{F6EBBA77-9B8B-AA32-8521-120BF9E62117}"/>
              </a:ext>
            </a:extLst>
          </p:cNvPr>
          <p:cNvSpPr/>
          <p:nvPr/>
        </p:nvSpPr>
        <p:spPr>
          <a:xfrm>
            <a:off x="7573518" y="-800505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20" name="Rectangle 60">
            <a:extLst>
              <a:ext uri="{FF2B5EF4-FFF2-40B4-BE49-F238E27FC236}">
                <a16:creationId xmlns:a16="http://schemas.microsoft.com/office/drawing/2014/main" id="{C751EAF8-79CD-DF50-3883-AAB7CF8FEEF3}"/>
              </a:ext>
            </a:extLst>
          </p:cNvPr>
          <p:cNvSpPr/>
          <p:nvPr/>
        </p:nvSpPr>
        <p:spPr>
          <a:xfrm>
            <a:off x="8071866" y="-800505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22" name="Rectangle 61">
            <a:extLst>
              <a:ext uri="{FF2B5EF4-FFF2-40B4-BE49-F238E27FC236}">
                <a16:creationId xmlns:a16="http://schemas.microsoft.com/office/drawing/2014/main" id="{A6F80304-6ED6-B90E-9F5B-27702451B89A}"/>
              </a:ext>
            </a:extLst>
          </p:cNvPr>
          <p:cNvSpPr/>
          <p:nvPr/>
        </p:nvSpPr>
        <p:spPr>
          <a:xfrm>
            <a:off x="8570214" y="-800505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24" name="Rectangle 62">
            <a:extLst>
              <a:ext uri="{FF2B5EF4-FFF2-40B4-BE49-F238E27FC236}">
                <a16:creationId xmlns:a16="http://schemas.microsoft.com/office/drawing/2014/main" id="{D2A55756-E2F6-F0FD-47A3-8B18EB812D7F}"/>
              </a:ext>
            </a:extLst>
          </p:cNvPr>
          <p:cNvSpPr/>
          <p:nvPr/>
        </p:nvSpPr>
        <p:spPr>
          <a:xfrm>
            <a:off x="9068562" y="-800505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26" name="Rectangle 63">
            <a:extLst>
              <a:ext uri="{FF2B5EF4-FFF2-40B4-BE49-F238E27FC236}">
                <a16:creationId xmlns:a16="http://schemas.microsoft.com/office/drawing/2014/main" id="{041BEBFA-10AF-EE51-318F-C6AB637AF064}"/>
              </a:ext>
            </a:extLst>
          </p:cNvPr>
          <p:cNvSpPr/>
          <p:nvPr/>
        </p:nvSpPr>
        <p:spPr>
          <a:xfrm>
            <a:off x="9566910" y="-800505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428" name="Rectangle 64">
            <a:extLst>
              <a:ext uri="{FF2B5EF4-FFF2-40B4-BE49-F238E27FC236}">
                <a16:creationId xmlns:a16="http://schemas.microsoft.com/office/drawing/2014/main" id="{ABE09688-5C38-2056-2C60-05A95FEE4513}"/>
              </a:ext>
            </a:extLst>
          </p:cNvPr>
          <p:cNvSpPr/>
          <p:nvPr/>
        </p:nvSpPr>
        <p:spPr>
          <a:xfrm>
            <a:off x="10065258" y="-800505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430" name="Rectangle 65">
            <a:extLst>
              <a:ext uri="{FF2B5EF4-FFF2-40B4-BE49-F238E27FC236}">
                <a16:creationId xmlns:a16="http://schemas.microsoft.com/office/drawing/2014/main" id="{8458F2EB-B1B8-6CC9-1068-11326F220A20}"/>
              </a:ext>
            </a:extLst>
          </p:cNvPr>
          <p:cNvSpPr/>
          <p:nvPr/>
        </p:nvSpPr>
        <p:spPr>
          <a:xfrm>
            <a:off x="10563606" y="-800505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432" name="Rectangle 66">
            <a:extLst>
              <a:ext uri="{FF2B5EF4-FFF2-40B4-BE49-F238E27FC236}">
                <a16:creationId xmlns:a16="http://schemas.microsoft.com/office/drawing/2014/main" id="{D4706A6E-A5AB-9463-89FB-643269E55332}"/>
              </a:ext>
            </a:extLst>
          </p:cNvPr>
          <p:cNvSpPr/>
          <p:nvPr/>
        </p:nvSpPr>
        <p:spPr>
          <a:xfrm>
            <a:off x="1081278" y="-270153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DDB3AF5D-DED9-BC14-609A-4D758A382C03}"/>
              </a:ext>
            </a:extLst>
          </p:cNvPr>
          <p:cNvSpPr txBox="1"/>
          <p:nvPr/>
        </p:nvSpPr>
        <p:spPr>
          <a:xfrm>
            <a:off x="1245870" y="-31717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436" name="Rectangle 68">
            <a:extLst>
              <a:ext uri="{FF2B5EF4-FFF2-40B4-BE49-F238E27FC236}">
                <a16:creationId xmlns:a16="http://schemas.microsoft.com/office/drawing/2014/main" id="{5CA7B6AC-23A0-E5FE-3212-756C9D5175DE}"/>
              </a:ext>
            </a:extLst>
          </p:cNvPr>
          <p:cNvSpPr/>
          <p:nvPr/>
        </p:nvSpPr>
        <p:spPr>
          <a:xfrm>
            <a:off x="1821941" y="-270153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286F9437-EE32-2A31-3499-A229A7B2B2E6}"/>
              </a:ext>
            </a:extLst>
          </p:cNvPr>
          <p:cNvSpPr txBox="1"/>
          <p:nvPr/>
        </p:nvSpPr>
        <p:spPr>
          <a:xfrm>
            <a:off x="1986534" y="-31717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440" name="Rectangle 70">
            <a:extLst>
              <a:ext uri="{FF2B5EF4-FFF2-40B4-BE49-F238E27FC236}">
                <a16:creationId xmlns:a16="http://schemas.microsoft.com/office/drawing/2014/main" id="{BEDF9727-0ECF-FD5E-DE46-0DA4CB4A2AD5}"/>
              </a:ext>
            </a:extLst>
          </p:cNvPr>
          <p:cNvSpPr/>
          <p:nvPr/>
        </p:nvSpPr>
        <p:spPr>
          <a:xfrm>
            <a:off x="2562606" y="-270153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700A7A5C-FC01-EC5B-68DC-95D0FEBC0A51}"/>
              </a:ext>
            </a:extLst>
          </p:cNvPr>
          <p:cNvSpPr txBox="1"/>
          <p:nvPr/>
        </p:nvSpPr>
        <p:spPr>
          <a:xfrm>
            <a:off x="2727198" y="-31717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444" name="Rectangle 72">
            <a:extLst>
              <a:ext uri="{FF2B5EF4-FFF2-40B4-BE49-F238E27FC236}">
                <a16:creationId xmlns:a16="http://schemas.microsoft.com/office/drawing/2014/main" id="{8F2304CF-43B5-3050-AB97-A499BD058939}"/>
              </a:ext>
            </a:extLst>
          </p:cNvPr>
          <p:cNvSpPr/>
          <p:nvPr/>
        </p:nvSpPr>
        <p:spPr>
          <a:xfrm>
            <a:off x="3422142" y="-270153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61F2B95E-6380-2B0A-B3E9-9AA1B9B6EE53}"/>
              </a:ext>
            </a:extLst>
          </p:cNvPr>
          <p:cNvSpPr txBox="1"/>
          <p:nvPr/>
        </p:nvSpPr>
        <p:spPr>
          <a:xfrm>
            <a:off x="3586734" y="-317178"/>
            <a:ext cx="10972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매우 어려움</a:t>
            </a:r>
            <a:endParaRPr lang="ko-KR" altLang="en-US" sz="1000" b="0" dirty="0">
              <a:solidFill>
                <a:srgbClr val="595959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진행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495373"/>
              </p:ext>
            </p:extLst>
          </p:nvPr>
        </p:nvGraphicFramePr>
        <p:xfrm>
          <a:off x="1005840" y="1623060"/>
          <a:ext cx="67665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0" y="1668780"/>
            <a:ext cx="1051560" cy="118872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6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6687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ko-KR" altLang="en-US" sz="2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5분</a:t>
            </a: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24분에 5층 클리어</a:t>
            </a:r>
            <a:endParaRPr lang="en-US" altLang="ko-KR" sz="10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짧고 빠르게 규칙을 익힘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040380"/>
            <a:ext cx="1051560" cy="11887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30403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ko-KR" altLang="en-US" sz="2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10분</a:t>
            </a: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05분에 15층 클리어</a:t>
            </a:r>
            <a:endParaRPr lang="en-US" altLang="ko-KR" sz="10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 가파른 기울기, 판마다 2층</a:t>
            </a:r>
            <a:endParaRPr lang="en-US" altLang="ko-KR" sz="10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지나야 하는 방 수가 많아 플레이     타임 상승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411980"/>
            <a:ext cx="1051560" cy="11887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44119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ko-KR" altLang="en-US" sz="24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76분</a:t>
            </a: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 23분에 20층 클리어</a:t>
            </a:r>
            <a:endParaRPr lang="en-US" altLang="ko-KR" sz="10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spcAft>
                <a:spcPts val="100"/>
              </a:spcAft>
            </a:pPr>
            <a:r>
              <a:rPr lang="ko-KR" altLang="en-US" sz="10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완만한 기울기, 2~3판에 1층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판별 고점 갱신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표준 플레이 21판의 판별 고점 — 초반 3판 · 중반 5판 · 후반 13판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10241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57607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막대 아래 = 판 번호와 그 판이 끝난 누적 시간 (로비 포함)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6199632"/>
            <a:ext cx="164592" cy="16459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6" y="6199632"/>
            <a:ext cx="164592" cy="16459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중반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6199632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6053328"/>
            <a:ext cx="91440" cy="32918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0" y="6053328"/>
            <a:ext cx="6995160" cy="329184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중반은 판마다 2층 상승, 후반은 2~3판 동안 고점 유지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초반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요소들을 해금하며 사용해 보는 구간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042718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454198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3584" y="2591358"/>
            <a:ext cx="4572000" cy="25083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기능들을 해금하여 새로운 기능을 사용해 보는 재미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lang="ko-KR" altLang="en-US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높은 수동 조작 효율</a:t>
            </a:r>
            <a:endParaRPr lang="ko-KR" altLang="en-US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언제 </a:t>
            </a:r>
            <a:r>
              <a:rPr lang="ko-KR" altLang="en-US" sz="1300" b="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승급할지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, 치즈를 어떤 첫 스킬에 쓸지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안의 번식 · 승급 + 로비 1단계 스킬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해금한 스킬 및 기능에 따라 다음 판 플레이 경험이 크게 변경됨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.</a:t>
            </a:r>
            <a:endParaRPr lang="ko-KR" altLang="en-US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lang="ko-KR" altLang="en-US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기능 해금 이후 성장을 통해 기능의 역할 및 수치를 최초로 접하게 됨</a:t>
            </a:r>
            <a:endParaRPr lang="ko-KR" altLang="en-US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Aft>
                <a:spcPts val="800"/>
              </a:spcAft>
            </a:pPr>
            <a:r>
              <a:rPr lang="ko-KR" altLang="en-US" sz="1300" b="1" dirty="0" err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후킹</a:t>
            </a: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 요소  </a:t>
            </a:r>
            <a:r>
              <a:rPr lang="ko-KR" altLang="en-US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그래픽을 통한 시각적 요소</a:t>
            </a:r>
            <a:r>
              <a:rPr lang="en-US" altLang="ko-KR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게임을 탐험하는 재미</a:t>
            </a:r>
            <a:endParaRPr lang="ko-KR" altLang="en-US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0" y="201528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749482"/>
              </p:ext>
            </p:extLst>
          </p:nvPr>
        </p:nvGraphicFramePr>
        <p:xfrm>
          <a:off x="6172200" y="2408478"/>
          <a:ext cx="493776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0분 → 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 (+4)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10분 →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 (+0)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18분 → 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(+1)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3962958"/>
            <a:ext cx="4937760" cy="8207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재도전 2회(3판)가 표준, </a:t>
            </a:r>
            <a:r>
              <a:rPr lang="ko-KR" altLang="en-US" sz="11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수동 조작 시</a:t>
            </a: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 1회(2판)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1판은 튜토리얼 판 — 4층까지 보여 주고 5층 허들에서 첫 막힘 · 방 2~4개의 짧은 층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같은 구간 재도전 — 해금한 기능에 따른 차이를 확인하기 좋음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중반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68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성장하는 재미를 위한 낮은 난이도와 길어지는 플레이 타임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1956374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367854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3584" y="2505014"/>
            <a:ext cx="4572000" cy="22057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성장할 때마다 고점을 갱신하는 재미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lang="ko-KR" altLang="en-US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당 플레이 타임이 점차 </a:t>
            </a:r>
            <a:r>
              <a:rPr lang="ko-KR" altLang="en-US" sz="130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길어짐</a:t>
            </a:r>
            <a:endParaRPr lang="ko-KR" altLang="en-US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lang="ko-KR" altLang="en-US" sz="1300" b="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인게임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내에서 높은 성장과 자원 수급을 위해 최대한 많은 방을 돌아갈 지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vs </a:t>
            </a:r>
            <a:r>
              <a:rPr lang="ko-KR" altLang="en-US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빠르게 계단을 찾아 고점을 갱신할 지</a:t>
            </a:r>
            <a:endParaRPr lang="ko-KR" altLang="en-US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</a:t>
            </a:r>
            <a:r>
              <a:rPr lang="en-US" altLang="ko-KR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10층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/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15층 돌파 훈장을 이용한 등급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	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상승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전투력 ×1.7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지난 판에 막힌 층을 이번 판엔 시원하게 통과</a:t>
            </a:r>
            <a:endParaRPr lang="en-US" altLang="ko-KR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Aft>
                <a:spcPts val="800"/>
              </a:spcAft>
            </a:pPr>
            <a:r>
              <a:rPr lang="ko-KR" altLang="en-US" sz="1300" b="1" dirty="0" err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후킹</a:t>
            </a: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 요소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다음 재도전 시 확실하게 클리어 할 수 있다는 확신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2894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527736"/>
              </p:ext>
            </p:extLst>
          </p:nvPr>
        </p:nvGraphicFramePr>
        <p:xfrm>
          <a:off x="6172200" y="2322134"/>
          <a:ext cx="49377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29분 → 46분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46분 → 1시간 04분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04분 → 1시간 25분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25분 → 1시간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48분 → 2시간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4608134"/>
            <a:ext cx="4937760" cy="6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×1.74 = 층당 난이도(×1.32)의 약 2.0층분 → 고점 +2층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 6층 5개 → 15층 9개(플레이 타임 ↑)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100" b="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 · 15층은 보상 층(훈장) — 보스 층이지만 쉽게 돌파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후반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16736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다양한 시각적 연출과 수집 요소를 배치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29084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쥐들을 수집하고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수집 결과에 의해  자동 </a:t>
            </a:r>
            <a:r>
              <a:rPr lang="ko-KR" altLang="en-US" sz="1300" b="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시전되는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   필살기를 획득 및 사용하는 재미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연출 감상 및 방치 위주, 비교적 낮은 수동 효율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어떤 쥐를 끝까지 키울 지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추후 추가될 쥐 조각 수급   기능 기준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)</a:t>
            </a:r>
            <a:endParaRPr lang="ko-KR" altLang="en-US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수급 콘텐츠, 쥐 추가 육성 등</a:t>
            </a:r>
            <a:r>
              <a:rPr lang="en-US" altLang="ko-KR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현재 기획 중</a:t>
            </a:r>
            <a:r>
              <a:rPr lang="en-US" altLang="ko-KR" sz="130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)</a:t>
            </a:r>
            <a:endParaRPr lang="ko-KR" altLang="en-US" sz="1300" b="0" dirty="0">
              <a:solidFill>
                <a:srgbClr val="0B0B0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×1.31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추가 콘텐츠 </a:t>
            </a:r>
            <a:r>
              <a:rPr lang="en-US" altLang="ko-KR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후반 반복 스킬로        성장률을 올리고, 난이도는 그보다 더 가파르게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2~3판을 쌓아 한 층을 넘는 성취</a:t>
            </a:r>
          </a:p>
          <a:p>
            <a:pPr algn="l">
              <a:spcAft>
                <a:spcPts val="800"/>
              </a:spcAft>
            </a:pPr>
            <a:r>
              <a:rPr lang="ko-KR" altLang="en-US" sz="1300" b="1" dirty="0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긴 목표  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최종 허들 → 21층~ </a:t>
            </a:r>
            <a:r>
              <a:rPr lang="ko-KR" altLang="en-US" sz="1300" b="0" dirty="0" err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엔드게임</a:t>
            </a:r>
            <a:r>
              <a:rPr lang="ko-KR" altLang="en-US" sz="13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→ 도감 완성(20~30시간)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플레이, 20층까지)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15분 → 2시간 39분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39분 → 3시간 06분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06분 → 3시간 32분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32분 → 4시간 00분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00분 → 4시간 28분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28분 → 4시간 56분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56분 → 5시간 26분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26분 → 5시간 55분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55분 → 6시간 25분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25분 → 6시간 56분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56분 → 7시간 27분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27분 → 7시간 58분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58분 → 8시간 31분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21층 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6135624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16~20층 = 13판 · 한 층에 2~3판 · 방 9개 고정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 · 17층 한 층에 2판, 18 · 19 · 20층 한 층에 3판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lang="ko-KR" altLang="en-US" sz="2400" b="0" dirty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구간별 경험 · 스타일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68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구간별 설계 및 경험 변화 요약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527574"/>
              </p:ext>
            </p:extLst>
          </p:nvPr>
        </p:nvGraphicFramePr>
        <p:xfrm>
          <a:off x="1133856" y="2286000"/>
          <a:ext cx="997610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(1~5층)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(6~15층)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(16층~)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감각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순차적 기능 해금에 따른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기능 강화에 따른 고점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수치 상승과 난이도 상승의 경쟁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새로운 기능을 사용해 보는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성장할 때마다 고점을 갱신하는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수집 및 성장 요소를 통한 꾸준한 성장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 조작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클릭 총공격 · 길 선택 ·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타이밍 · 스킬 트리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추후 추가될 성장 요소 위주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진척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0.3~0.5층 (2~3판에 1층)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층당 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5~9개 (늘어남)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 고정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 길이 (로비 포함)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수단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안 번식 · 승급, 1단계 스킬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훈장, 스킬 트리, 새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수급, 종결 쥐, 높은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 (무리 · 벽 · 치즈 · 시간)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훈장 · 도감 · 필살기 게이지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조각 · 업적 전체 (도감 완성은 끝까지)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실패의 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목표 확인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쌓아서 넘는 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상승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18470"/>
              </p:ext>
            </p:extLst>
          </p:nvPr>
        </p:nvGraphicFramePr>
        <p:xfrm>
          <a:off x="1005840" y="1694231"/>
          <a:ext cx="67665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01000" y="2088438"/>
            <a:ext cx="3200400" cy="3080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ko-KR" altLang="en-US" sz="15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5층 허들</a:t>
            </a:r>
          </a:p>
          <a:p>
            <a:pPr algn="l">
              <a:spcAft>
                <a:spcPts val="500"/>
              </a:spcAft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×1.25 세 층 뒤 5층에서 ×1.8 — 처음이자 유일한 초반 벽</a:t>
            </a:r>
          </a:p>
          <a:p>
            <a:pPr algn="l">
              <a:spcAft>
                <a:spcPts val="500"/>
              </a:spcAft>
            </a:pPr>
            <a:r>
              <a:rPr lang="ko-KR" altLang="en-US" sz="15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허들 없음</a:t>
            </a:r>
          </a:p>
          <a:p>
            <a:pPr algn="l">
              <a:spcAft>
                <a:spcPts val="500"/>
              </a:spcAft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6~15층 보통 ×1.32 일정 — 성장이 난이도를  앞지르는 구간</a:t>
            </a:r>
          </a:p>
          <a:p>
            <a:pPr algn="l">
              <a:spcAft>
                <a:spcPts val="500"/>
              </a:spcAft>
            </a:pPr>
            <a:r>
              <a:rPr lang="ko-KR" altLang="en-US" sz="1500" b="1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· 매 층이 벽</a:t>
            </a:r>
          </a:p>
          <a:p>
            <a:pPr algn="l">
              <a:spcAft>
                <a:spcPts val="500"/>
              </a:spcAft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허들은 ×1.75로 완화 · 17층 ×1.7 → 18~20층 ×2.1~2.4</a:t>
            </a:r>
          </a:p>
          <a:p>
            <a:pPr algn="l">
              <a:spcAft>
                <a:spcPts val="500"/>
              </a:spcAft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층당 상승 초반 ×1.37 · 중반 ×1.32 · 후반 ×2.01</a:t>
            </a:r>
          </a:p>
          <a:p>
            <a:pPr algn="l">
              <a:spcAft>
                <a:spcPts val="500"/>
              </a:spcAft>
            </a:pPr>
            <a:r>
              <a:rPr lang="ko-KR" altLang="en-US" sz="12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성장률 상승보다 더 가파른 난이도 상승 (「난이도 · 성장 곡선 비교」 참고)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 배치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구간의 경계 역할을 하는 허들 위치와 층 유형별 상승 배율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00163"/>
              </p:ext>
            </p:extLst>
          </p:nvPr>
        </p:nvGraphicFramePr>
        <p:xfrm>
          <a:off x="1005840" y="2013585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5963793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1층은 기준(100)이라 제외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361903"/>
              </p:ext>
            </p:extLst>
          </p:nvPr>
        </p:nvGraphicFramePr>
        <p:xfrm>
          <a:off x="6903720" y="2105025"/>
          <a:ext cx="429768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상승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조작 학습 · 빠른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졸업 시험 · 재도전 1~2회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6~15층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없음 · 방이 늘어 판이 길어짐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입장 · 완화 ·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 · 19층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 · ×2.2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사이의 벽 · 2판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 · 20층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 · ×2.4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층에 3판 · 20층 최종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5534025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5층마다 있던 보스 구조 대신 허들 위치로 구간을 나눔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목표 돌파 시간은 다음 장 「층 별 소모 시간」 참고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별 소모 시간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유형별 목표 돌파 시간과 층에 머무는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042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· 보통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932991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57400" y="1932991"/>
            <a:ext cx="2523744" cy="329184"/>
          </a:xfrm>
          <a:prstGeom prst="rect">
            <a:avLst/>
          </a:prstGeom>
          <a:solidFill>
            <a:srgbClr val="BFBFB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108초 (60%)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96042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90191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362759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57400" y="2362759"/>
            <a:ext cx="3154680" cy="329184"/>
          </a:xfrm>
          <a:prstGeom prst="rect">
            <a:avLst/>
          </a:prstGeom>
          <a:solidFill>
            <a:srgbClr val="F4B183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135초 (75%)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390191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1995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2792527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57400" y="2792527"/>
            <a:ext cx="3785615" cy="329184"/>
          </a:xfrm>
          <a:prstGeom prst="rect">
            <a:avLst/>
          </a:prstGeom>
          <a:solidFill>
            <a:srgbClr val="E9713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162초 (90%)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81995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887271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시간: 모든 층 180초 (허들 포함)</a:t>
            </a:r>
          </a:p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돌파 시간 ∝ 적정 ÷ 내 전투력 — 적정의 2배면 절반 시간</a:t>
            </a:r>
          </a:p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단, 강해도 방 하나에 최소 10초 → 방 9개 층은 최소 약 1.6분</a:t>
            </a:r>
          </a:p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수: 1층 2개 · 5층 4개 · 15층 9개 · 16층~ 9개 고정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113484"/>
              </p:ext>
            </p:extLst>
          </p:nvPr>
        </p:nvGraphicFramePr>
        <p:xfrm>
          <a:off x="1005840" y="3304591"/>
          <a:ext cx="102412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Rectangle 20"/>
          <p:cNvSpPr/>
          <p:nvPr/>
        </p:nvSpPr>
        <p:spPr>
          <a:xfrm>
            <a:off x="1133856" y="6029503"/>
            <a:ext cx="91440" cy="34747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25296" y="6029503"/>
            <a:ext cx="9875520" cy="347472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판 끝 층 대기 10분 → 25분 증가, 후반은 모든 층이 50분 이상의 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방 수와 층 시간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수 증가에 따른 층 돌파 시간과 중반 플레이 타임 상승 구조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9494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83879" y="2240280"/>
            <a:ext cx="3017520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방 2~4개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26243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28~48초 — 적정 시간의 1/3 이하, 성장 후 빠른 통과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3611880"/>
            <a:ext cx="301752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· 방 5 → 9개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39959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58초 → 98초 — 적정(108초)에 근접, 쉬운 층에서도 시간 누적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4983480"/>
            <a:ext cx="301752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· 방 9개 고정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53675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1~15층 통과에만 매 판 약 16분 소요 — 이후 매 층이 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한 판의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 dirty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구간별 한 판의 시간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9263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1판</a:t>
            </a:r>
          </a:p>
          <a:p>
            <a:pPr algn="r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4층까지 · 8분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038350"/>
            <a:ext cx="348500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8780" y="2038350"/>
            <a:ext cx="42347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2256" y="2038350"/>
            <a:ext cx="51719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9453" y="2038350"/>
            <a:ext cx="63434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3800" y="2038350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시간 초과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513838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1~4층 = 5분  ·  5층 허들에서 180초를 다 쓰고 종료  ·  방 4개까지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5318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6판</a:t>
            </a:r>
          </a:p>
          <a:p>
            <a:pPr algn="r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11층까지 · 14분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971038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10364" y="2971038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41194" y="2971038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2023" y="2971038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3597" y="2971038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5171" y="2971038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7490" y="2971038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59808" y="2971038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871" y="2971038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5934" y="2971038"/>
            <a:ext cx="492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8281" y="2971038"/>
            <a:ext cx="634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2628" y="2971038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12층 시간 초과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446526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1~11층 = 11분  ·  12층 보통에서 180초를 다 쓰고 종료  ·  방 7개까지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858006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8판</a:t>
            </a:r>
          </a:p>
          <a:p>
            <a:pPr algn="r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15층까지 · 19분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3903726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410364" y="3903726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41194" y="3903726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72023" y="3903726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3597" y="3903726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55171" y="3903726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07490" y="3903726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59808" y="3903726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871" y="3903726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5934" y="3903726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59742" y="3903726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33550" y="3903726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8102" y="3903726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02654" y="3903726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97951" y="3903726"/>
            <a:ext cx="63434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32298" y="3903726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시간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4379214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1~15층 = 16분  ·  16층 허들에서 180초를 다 쓰고 종료  ·  방 9개까지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790694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· 16판</a:t>
            </a:r>
          </a:p>
          <a:p>
            <a:pPr algn="r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18층까지 · 25분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4836414"/>
            <a:ext cx="17008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410364" y="4836414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41194" y="4836414"/>
            <a:ext cx="230829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72023" y="4836414"/>
            <a:ext cx="29157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3597" y="4836414"/>
            <a:ext cx="29157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55171" y="4836414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07490" y="4836414"/>
            <a:ext cx="35231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59808" y="4836414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871" y="4836414"/>
            <a:ext cx="413063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5934" y="4836414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59742" y="4836414"/>
            <a:ext cx="4738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33550" y="4836414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8102" y="4836414"/>
            <a:ext cx="534552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02654" y="4836414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97951" y="4836414"/>
            <a:ext cx="59529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93248" y="4836414"/>
            <a:ext cx="595296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8545" y="4836414"/>
            <a:ext cx="595296" cy="457200"/>
          </a:xfrm>
          <a:prstGeom prst="rect">
            <a:avLst/>
          </a:prstGeom>
          <a:solidFill>
            <a:srgbClr val="F4B18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83842" y="4836414"/>
            <a:ext cx="724155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7997" y="4836414"/>
            <a:ext cx="1093402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9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19층 시간 초과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40280" y="531190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1~18층 = 22분  ·  19층 어려움에서 180초를 다 쓰고 종료  ·  방 9개까지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240280" y="574167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965960" y="580567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0분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062617" y="574167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788297" y="580567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5분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84954" y="574167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610634" y="580567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10분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707292" y="574167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32972" y="580567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15분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529629" y="574167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255309" y="580567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9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20분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240280" y="5741670"/>
            <a:ext cx="896112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1133856" y="5988558"/>
            <a:ext cx="91440" cy="34747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225296" y="5988558"/>
            <a:ext cx="9875520" cy="347472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늘어난 중반 · 후반은 깬 층을 지나가는 데만 10~20분 — 판이 길어지는 이유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21층 이후 적정 난이도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16~20층 배율을 반복하는 21~30층 적정 난이도와 이후 무한 모드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7607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1447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검은 테두리 = 21~30층 (연장) · 색 = 층 유형 (주황 허들 · 연주황 어려움)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2240280"/>
          <a:ext cx="4443984" cy="3319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건너뛰기 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9시간 31분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07분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55만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10시간 42분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116만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12시간 32분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256만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14시간 26분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614만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16시간 26분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11시간 20분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1,075만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17시간 50분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1,828만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19시간 17분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3,838만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21시간 32분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14시간 43분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8,444만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23시간 51분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16시간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17시간 58분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562356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×1.30 그대로일 때 — 21~30층 26판, 30층 약 26.2시간 (최대 건너뛰기 약 18.0시간)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 추가 성장 요소(업데이트 예정)가 판당 성장을 올리면 이 시간 단축 · 방 9개 · 제한 180초 동일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성장 대 난이도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플레이어 성장과 층당 난이도 상승의 비율로 정하는 판당 진척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2286000"/>
          <a:ext cx="3840479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1.7층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판 4층 → 5층 허들에서 재도전 1~2회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2.0층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성장이 난이도를 앞지름 → 매 판 고점 2층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0.4층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층당 난이도 ×2.0이 판당 성장을 크게 앞섬 → 2~3판에 한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4709160"/>
            <a:ext cx="3931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층 ≈ log(판당 성장) ÷ log(층당 난이도)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= 판 사이 로비 성장(스킬 · 훈장 · 훈련)으로 오르는 '그 판 최고 전투력'의 배율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1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 판당 성장은 중반보다 작지만, 콘텐츠 추가 · 스킬 이동으로 층당 기준 성장률은 상승 (다음 장)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· 성장 곡선 비교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곡선과 플레이어 기준 성장 곡선의 비교 및 여유도 변화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21792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세로축 = 1층 = 100 기준 지수 (로그 눈금 — 간격이 같으면 배율이 같음)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086600" y="2194560"/>
          <a:ext cx="4160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78040" y="4800600"/>
            <a:ext cx="4069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1~5층 · 여유 1.0 안팎</a:t>
            </a:r>
          </a:p>
          <a:p>
            <a:pPr algn="l">
              <a:spcAft>
                <a:spcPts val="300"/>
              </a:spcAft>
            </a:pPr>
            <a:r>
              <a:rPr lang="ko-KR" altLang="en-US" sz="10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곡선이 거의 겹침 — 5층 허들(0.78)은 재도전 1~2회로 돌파</a:t>
            </a:r>
          </a:p>
          <a:p>
            <a:pPr algn="l">
              <a:spcAft>
                <a:spcPts val="300"/>
              </a:spcAft>
            </a:pPr>
            <a:r>
              <a:rPr lang="ko-KR" altLang="en-US" sz="1000" b="1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중반 6~15층 · 최대 1.15배 (15층)</a:t>
            </a:r>
          </a:p>
          <a:p>
            <a:pPr algn="l">
              <a:spcAft>
                <a:spcPts val="300"/>
              </a:spcAft>
            </a:pPr>
            <a:r>
              <a:rPr lang="ko-KR" altLang="en-US" sz="10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성장이 난이도를 앞질러 한 판에 2층</a:t>
            </a:r>
          </a:p>
          <a:p>
            <a:pPr algn="l">
              <a:spcAft>
                <a:spcPts val="300"/>
              </a:spcAft>
            </a:pPr>
            <a:r>
              <a:rPr lang="ko-KR" altLang="en-US" sz="10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16층~ · 0.95 → 0.44</a:t>
            </a:r>
          </a:p>
          <a:p>
            <a:pPr algn="l">
              <a:spcAft>
                <a:spcPts val="300"/>
              </a:spcAft>
            </a:pPr>
            <a:r>
              <a:rPr lang="ko-KR" altLang="en-US" sz="10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성장률도 층당 ×1.55 → ×1.90로 상승, 난이도는 그보다 가파른 상승 — 반복 판 · 조각 파밍으로 메워 2~3판에 한 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구간별 성장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앞 장 곡선을 구간별 눈금으로 나눈 초반 · 중반 · 후반 상세 비교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286000"/>
          <a:ext cx="33375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89120" y="2286000"/>
          <a:ext cx="33375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863840" y="2286000"/>
          <a:ext cx="33375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두 선이 거의 겹침 (여유 1.02~1.05)</a:t>
            </a:r>
          </a:p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허들에서 난이도가 위로 (0.78) → 재도전 1~2회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허들 뒤 첫 훈장으로 성장 회복</a:t>
            </a:r>
          </a:p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8층부터 성장이 위로 — 15층 여유 1.15배</a:t>
            </a:r>
          </a:p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판마다 2층 · 방이 늘어 판은 길어짐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16층 허들(0.95)부터 난이도가 위로 — 15층 1.15에서 낙차를 줄여 진입</a:t>
            </a:r>
          </a:p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성장 가속에도 격차 확대 → 20층 0.44</a:t>
            </a:r>
          </a:p>
          <a:p>
            <a:pPr marL="228600" indent="-228600" algn="l">
              <a:spcAft>
                <a:spcPts val="1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2~3판에 한 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63550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세로축은 구간마다 다름 (1층 = 100 기준 지수) · 구간 경계 층(5 · 15층)은 양쪽 그래프에 모두 표시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 보상과 가스 빼기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허들별 보상 후보와 힘든 구간 뒤 쉬어 가는 구간 배치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시간 장벽과 보상 후보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33856" y="2633472"/>
          <a:ext cx="5120640" cy="2706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후보 (체감 측정 후 확정)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훈장 · 새 쥐 · 층 건너뛰기 등장 (3층 시작)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· 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— 훈장 · 필살기 쥐 · 15층은 10층 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콘텐츠 해금 · 후반 입장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수급량 증가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후보 공개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높은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육성 · 15층 시작 (건너뛰기 최대)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3856" y="539496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① 허들 위치와 요구 시간 확정 → ② 플레이테스트로 체감 측정 → ③ 체감이 큰 허들일수록 큰 보상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요구 시간 = 직전 층을 처음 깬 뒤 그 허들을 처음 깰 때까지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가스 빼기 구간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6334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12280" y="28072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883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뒤 보통 10층</a:t>
            </a:r>
          </a:p>
          <a:p>
            <a:pPr algn="l">
              <a:spcAft>
                <a:spcPts val="1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없는 중반 — 첫 훈장 효과로 몰아 돌파, 즉각적인 성장 체감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5478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12280" y="37216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027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판의 앞 15층</a:t>
            </a:r>
          </a:p>
          <a:p>
            <a:pPr algn="l">
              <a:spcAft>
                <a:spcPts val="1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매 층이 벽인 후반에도 판 앞부분은 빠르게 돌파 — 성장 체감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4622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12280" y="46360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5171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쉬는 자리</a:t>
            </a:r>
          </a:p>
          <a:p>
            <a:pPr algn="l">
              <a:spcAft>
                <a:spcPts val="1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낮잠 침대 · 도감 구경 — 판과 판 사이 숨 고르기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3766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12280" y="55504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4315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후반의 보는 플레이</a:t>
            </a:r>
          </a:p>
          <a:p>
            <a:pPr algn="l">
              <a:spcAft>
                <a:spcPts val="1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연출 감상 위주, 조작 부담이 적은 판 — 집중 부담 완화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건너뛰기 · 해금 규칙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층에 따른 재도전 시작 층 선택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층별 고를 수 있는 가장 높은 시작 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51760"/>
            <a:ext cx="11887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035808"/>
            <a:ext cx="11887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최대 시작 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3856" y="3493008"/>
            <a:ext cx="118872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간격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2576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25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7121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712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85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84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849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171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71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57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144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1441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144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116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169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16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033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03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08975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08975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08975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76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761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576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06255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06255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06255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548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5489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48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35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353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035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521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52176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521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" y="385876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= 단계가 바뀌는 층 (5층 첫 등장 · 15층 10층 시작 · 20층 15층 시작) · 15~19층 클리어는 10층 시작 유지 · 21층 이후 · 30층 · 무한 모드에서도 최대 15층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33856" y="42519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등장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25496" y="42519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첫 돌파 시 로비 출발 버튼에 '시작 층' 선택 해금 — 첫 단계 3층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33856" y="47091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간격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25496" y="47091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2층(5 · 6층 클리어) → 3층(7~9) → 4층(10~13) → 5층(14 · 15) — 16~19층 클리어는 10층 유지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33856" y="51663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25496" y="51663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15층 클리어 = 10층 시작, 20층 클리어 = 15층 시작 (20층 허들 보상) — 이후 추가 확장 없음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33856" y="5623560"/>
            <a:ext cx="169164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선택형 · 보정 없음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25496" y="56235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건너뛴 층의 번식 · 치즈 미지급 — 시간 절약과 낮은 층부터의 성장 중 플레이어 선택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33856" y="6080760"/>
            <a:ext cx="169164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 막힘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25496" y="60807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1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언제든 1층 시작 가능 — 건너뛰고 막히면 다음 판에 낮은 층부터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건너뛰기 · 플레이타임 영향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건너뛰기 사용 여부에 따른 20층까지의 플레이 타임 비교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6692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03720" y="2240280"/>
          <a:ext cx="42062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건너뛰기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최대로 건너뛰기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07분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58분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26분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23분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28분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목표 (21판 종료)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8.5시간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6.6시간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 평균 길이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판 평균 길이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03720" y="562356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20층 이후(21~30층 · 무한 모드)는 15층 시작으로 판마다 약 7분 추가 단축 (10~14층 방 39개)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수 · 판 전투력은 표준 플레이와 동일 가정 — 보정이 없어 실제 단축 폭은 이보다 작음 (건너뛰기 사용률은 플레이 로그로 확인)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화면 구성과 정보 공개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33856" y="1330977"/>
            <a:ext cx="8321040" cy="50292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>
              <a:spcAft>
                <a:spcPts val="300"/>
              </a:spcAft>
            </a:pPr>
            <a:r>
              <a:rPr lang="ko-KR" altLang="en-US" sz="14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필요한 순간에 하나씩 여는 시점별 화면 정보 공개 순서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3867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 보여 줄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아직 숨길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여는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 (0~10분)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무리 · 벽 · 치즈 · 제한 시간 → 10마리에서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나머지 HUD 전부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튜토리얼 대사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 (10~18분)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 · 인구 · 로비 스킬(치즈 창고)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· 도감 · 필살기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실패 직후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 (18~29분)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허들(첫 보스전) 필살기 시연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게이지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진입 (30분~)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· 친구들 도감 · 필살기 게이지 · 훈련 · 시작 층 선택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· 업적 전체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· 15층 보상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쥐 · 스킬 트리 갈래 · 업적 일부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진입 (~2시간 15분)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콘텐츠 · 업적 전체 · 조합 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도감 완성 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이후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육성 · 21층~ 엔드게임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20~30시간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도감 완성 · 숨은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수집 완료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검증 지표와 남은 결정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672084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지표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순수 메카닉스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이탈 없이 5층 격파 (20~30분)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테스터 5명 이상, 이탈 시점 · 이유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재도전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1~2회 (2~3판)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로그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판당 고점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+2층 /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최고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종료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2~2.5시간 (15층)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로그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진척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2~3판에 한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최고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돌파 (적정일 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108초 · 어려움 135초 · 허들 162초 (제한 180초)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측정, 층당 4회 이상 중앙값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체감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층 '빠르다' · 허들 '막힌다'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후 설문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건너뛰기 사용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6.6~8.5시간 사이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시작 층 · 막힌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0" y="1554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어긋났을 때 조정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965960"/>
            <a:ext cx="3063240" cy="6400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① 그 층의 적정 찍찍</a:t>
            </a:r>
          </a:p>
          <a:p>
            <a:pPr algn="ctr"/>
            <a:r>
              <a:rPr lang="ko-KR" altLang="en-US" sz="10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층만 튀면 그 층만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69780" y="2606039"/>
            <a:ext cx="0" cy="2286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38160" y="2834639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② 로비 성장 수치</a:t>
            </a:r>
          </a:p>
          <a:p>
            <a:pPr algn="ctr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성장이 구간 목표와 다를 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69780" y="3474720"/>
            <a:ext cx="0" cy="2286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138160" y="3703320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ko-KR" altLang="en-US" sz="13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③ 구간 난이도 배율</a:t>
            </a:r>
          </a:p>
          <a:p>
            <a:pPr algn="ctr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여러 층이 같은 방향으로 어긋날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500" b="1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남은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5760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메인 목표를 20층(건너뛰기 없이 약 8.5시간 · 최대 건너뛰기 약 6.6시간)으로 둘지 · 21~30층과 무한 모드 수치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ko-KR" altLang="en-US" sz="1200" b="0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보상의 크기 · 조각 수급 콘텐츠와 종결 쥐의 상세 (별도 기획서) · 건너뛰기 사용률을 본 뒤 시작 보정 여부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허들표 1~10층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벽 — 번식을 통한 성장 체감 (튜토리얼)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승급 · 적정 찍찍 첫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스킬(치즈 창고) 첫 소개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판의 끝 — 1판 공개 범위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첫 보스전 · 필살기 시연 · 초반 졸업 → 첫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시작 · 첫 훈장 효과로 빠른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필살기 쥐 (한두 마리)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판에 6~8층 몰아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스킬 트리 갈래 선택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· 훈장 · 새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08076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허들 · 어려움 · 적정 찍찍 = 1층 100 지수 · 목표 돌파 = 적정 찍찍일 때 (제한 180초) · 시점 = 누적 플레이타임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부록</a:t>
            </a:r>
            <a:r>
              <a:rPr lang="ko-KR" altLang="en-US" sz="2400" b="0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허들표 11~20층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쥐 2~3마리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37분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빌드 실험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38분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판에 11~13층 몰아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4,277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콘텐츠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· 중반 졸업 → 16층 허들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9,881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58분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후반 입장 · 조각 수급 콘텐츠 열림 · 2판 (완화)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16,797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52분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 · 필살기 연쇄 '깽판' 본격화 ·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35,273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조합 완성 시험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77,602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 · 마지막 벽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186,244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23분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최종 목표 (약 8.5시간)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" y="608076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1000" b="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허들 · 어려움 · 적정 찍찍 = 1층 100 지수 · 목표 돌파 = 적정 찍찍일 때 (제한 180초) · 시점 = 누적 플레이타임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5970</Words>
  <Application>Microsoft Office PowerPoint</Application>
  <PresentationFormat>와이드스크린</PresentationFormat>
  <Paragraphs>1412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27</cp:revision>
  <dcterms:created xsi:type="dcterms:W3CDTF">2026-09-29T07:46:10Z</dcterms:created>
  <dcterms:modified xsi:type="dcterms:W3CDTF">2026-10-12T03:50:34Z</dcterms:modified>
</cp:coreProperties>
</file>