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75" r:id="rId4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9"/>
    <p:sldId id="286" r:id="rId8"/>
    <p:sldId id="287" r:id="rId7"/>
    <p:sldId id="288" r:id="rId6"/>
    <p:sldId id="289" r:id="rId5"/>
    <p:sldId id="29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A25"/>
    <a:srgbClr val="D66E3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title>
      <c:tx>
        <c:rich>
          <a:bodyPr/>
          <a:lstStyle/>
          <a:p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층별 적정 찍찍 (로그 눈금)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</c:v>
                </c:pt>
              </c:strCache>
            </c:strRef>
          </c:tx>
          <c:spPr>
            <a:ln w="28575">
              <a:solidFill>
                <a:srgbClr val="3C2D23"/>
              </a:solidFill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300.0</c:v>
                </c:pt>
                <c:pt idx="1">
                  <c:v>500.0</c:v>
                </c:pt>
                <c:pt idx="2">
                  <c:v>661.0</c:v>
                </c:pt>
                <c:pt idx="3">
                  <c:v>873.0</c:v>
                </c:pt>
                <c:pt idx="4">
                  <c:v>1500.0</c:v>
                </c:pt>
                <c:pt idx="5">
                  <c:v>1360.0</c:v>
                </c:pt>
                <c:pt idx="6">
                  <c:v>1600.0</c:v>
                </c:pt>
                <c:pt idx="7">
                  <c:v>1890.0</c:v>
                </c:pt>
                <c:pt idx="8">
                  <c:v>2900.0</c:v>
                </c:pt>
                <c:pt idx="9">
                  <c:v>3010.0</c:v>
                </c:pt>
                <c:pt idx="10">
                  <c:v>3070.0</c:v>
                </c:pt>
                <c:pt idx="11">
                  <c:v>3610.0</c:v>
                </c:pt>
                <c:pt idx="12">
                  <c:v>5500.0</c:v>
                </c:pt>
                <c:pt idx="13">
                  <c:v>4850.0</c:v>
                </c:pt>
                <c:pt idx="14">
                  <c:v>6400.0</c:v>
                </c:pt>
                <c:pt idx="15">
                  <c:v>6380.0</c:v>
                </c:pt>
                <c:pt idx="16">
                  <c:v>7310.0</c:v>
                </c:pt>
                <c:pt idx="17">
                  <c:v>10900.0</c:v>
                </c:pt>
                <c:pt idx="18">
                  <c:v>9990.0</c:v>
                </c:pt>
                <c:pt idx="19">
                  <c:v>13700.0</c:v>
                </c:pt>
                <c:pt idx="20">
                  <c:v>14200.0</c:v>
                </c:pt>
                <c:pt idx="21">
                  <c:v>16900.0</c:v>
                </c:pt>
                <c:pt idx="22">
                  <c:v>26200.0</c:v>
                </c:pt>
                <c:pt idx="23">
                  <c:v>23600.0</c:v>
                </c:pt>
                <c:pt idx="24">
                  <c:v>31800.0</c:v>
                </c:pt>
                <c:pt idx="25">
                  <c:v>32400.0</c:v>
                </c:pt>
                <c:pt idx="26">
                  <c:v>37900.0</c:v>
                </c:pt>
                <c:pt idx="27">
                  <c:v>57700.0</c:v>
                </c:pt>
                <c:pt idx="28">
                  <c:v>56700.0</c:v>
                </c:pt>
                <c:pt idx="29">
                  <c:v>83400.0</c:v>
                </c:pt>
                <c:pt idx="30">
                  <c:v>92700.0</c:v>
                </c:pt>
                <c:pt idx="31">
                  <c:v>119000.0</c:v>
                </c:pt>
                <c:pt idx="32">
                  <c:v>151000.0</c:v>
                </c:pt>
                <c:pt idx="33">
                  <c:v>252000.0</c:v>
                </c:pt>
                <c:pt idx="34">
                  <c:v>247000.0</c:v>
                </c:pt>
                <c:pt idx="35">
                  <c:v>237000.0</c:v>
                </c:pt>
                <c:pt idx="36">
                  <c:v>263000.0</c:v>
                </c:pt>
                <c:pt idx="37">
                  <c:v>291000.0</c:v>
                </c:pt>
                <c:pt idx="38">
                  <c:v>322000.0</c:v>
                </c:pt>
                <c:pt idx="39">
                  <c:v>464000.0</c:v>
                </c:pt>
                <c:pt idx="40">
                  <c:v>378000.0</c:v>
                </c:pt>
                <c:pt idx="41">
                  <c:v>399000.0</c:v>
                </c:pt>
                <c:pt idx="42">
                  <c:v>422000.0</c:v>
                </c:pt>
                <c:pt idx="43">
                  <c:v>447000.0</c:v>
                </c:pt>
                <c:pt idx="44">
                  <c:v>543000.0</c:v>
                </c:pt>
                <c:pt idx="45">
                  <c:v>650000.0</c:v>
                </c:pt>
                <c:pt idx="46">
                  <c:v>630000.0</c:v>
                </c:pt>
                <c:pt idx="47">
                  <c:v>794000.0</c:v>
                </c:pt>
                <c:pt idx="48">
                  <c:v>1000000.0</c:v>
                </c:pt>
                <c:pt idx="49">
                  <c:v>1450000.0</c:v>
                </c:pt>
                <c:pt idx="50">
                  <c:v>1590000.0</c:v>
                </c:pt>
                <c:pt idx="51">
                  <c:v>2600000.0</c:v>
                </c:pt>
                <c:pt idx="52">
                  <c:v>2290000.0</c:v>
                </c:pt>
                <c:pt idx="53">
                  <c:v>2610000.0</c:v>
                </c:pt>
                <c:pt idx="54">
                  <c:v>3440000.0</c:v>
                </c:pt>
                <c:pt idx="55">
                  <c:v>3410000.0</c:v>
                </c:pt>
                <c:pt idx="56">
                  <c:v>3900000.0</c:v>
                </c:pt>
                <c:pt idx="57">
                  <c:v>5790000.0</c:v>
                </c:pt>
                <c:pt idx="58">
                  <c:v>5240000.0</c:v>
                </c:pt>
                <c:pt idx="59">
                  <c:v>7080000.0</c:v>
                </c:pt>
                <c:pt idx="60">
                  <c:v>7240000.0</c:v>
                </c:pt>
                <c:pt idx="61">
                  <c:v>8520000.0</c:v>
                </c:pt>
                <c:pt idx="62">
                  <c:v>10000000.0</c:v>
                </c:pt>
                <c:pt idx="63">
                  <c:v>15300000.0</c:v>
                </c:pt>
                <c:pt idx="64">
                  <c:v>14900000.0</c:v>
                </c:pt>
                <c:pt idx="65">
                  <c:v>14300000.0</c:v>
                </c:pt>
                <c:pt idx="66">
                  <c:v>15800000.0</c:v>
                </c:pt>
                <c:pt idx="67">
                  <c:v>17400000.0</c:v>
                </c:pt>
                <c:pt idx="68">
                  <c:v>19200000.0</c:v>
                </c:pt>
                <c:pt idx="69">
                  <c:v>27500000.0</c:v>
                </c:pt>
                <c:pt idx="70">
                  <c:v>22400000.0</c:v>
                </c:pt>
                <c:pt idx="71">
                  <c:v>23700000.0</c:v>
                </c:pt>
                <c:pt idx="72">
                  <c:v>25200000.0</c:v>
                </c:pt>
                <c:pt idx="73">
                  <c:v>26700000.0</c:v>
                </c:pt>
                <c:pt idx="74">
                  <c:v>32500000.0</c:v>
                </c:pt>
                <c:pt idx="75">
                  <c:v>30000000.0</c:v>
                </c:pt>
                <c:pt idx="76">
                  <c:v>41300000.0</c:v>
                </c:pt>
                <c:pt idx="77">
                  <c:v>33600000.0</c:v>
                </c:pt>
                <c:pt idx="78">
                  <c:v>35400000.0</c:v>
                </c:pt>
                <c:pt idx="79">
                  <c:v>43000000.0</c:v>
                </c:pt>
                <c:pt idx="80">
                  <c:v>39500000.0</c:v>
                </c:pt>
                <c:pt idx="81">
                  <c:v>41700000.0</c:v>
                </c:pt>
                <c:pt idx="82">
                  <c:v>44000000.0</c:v>
                </c:pt>
                <c:pt idx="83">
                  <c:v>60500000.0</c:v>
                </c:pt>
                <c:pt idx="84">
                  <c:v>56200000.0</c:v>
                </c:pt>
                <c:pt idx="85">
                  <c:v>51300000.0</c:v>
                </c:pt>
                <c:pt idx="86">
                  <c:v>53900000.0</c:v>
                </c:pt>
                <c:pt idx="87">
                  <c:v>56600000.0</c:v>
                </c:pt>
                <c:pt idx="88">
                  <c:v>59500000.0</c:v>
                </c:pt>
                <c:pt idx="89">
                  <c:v>71800000.0</c:v>
                </c:pt>
                <c:pt idx="90">
                  <c:v>65600000.0</c:v>
                </c:pt>
                <c:pt idx="91">
                  <c:v>89600000.0</c:v>
                </c:pt>
                <c:pt idx="92">
                  <c:v>71000000.0</c:v>
                </c:pt>
                <c:pt idx="93">
                  <c:v>84100000.0</c:v>
                </c:pt>
                <c:pt idx="94">
                  <c:v>75300000.0</c:v>
                </c:pt>
                <c:pt idx="95">
                  <c:v>77600000.0</c:v>
                </c:pt>
                <c:pt idx="96">
                  <c:v>91900000.0</c:v>
                </c:pt>
                <c:pt idx="97">
                  <c:v>82300000.0</c:v>
                </c:pt>
                <c:pt idx="98">
                  <c:v>84800000.0</c:v>
                </c:pt>
                <c:pt idx="99">
                  <c:v>122000000.0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훈장 허들 층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7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4">
                  <c:v>1500.0</c:v>
                </c:pt>
                <c:pt idx="8">
                  <c:v>2900.0</c:v>
                </c:pt>
                <c:pt idx="12">
                  <c:v>5500.0</c:v>
                </c:pt>
                <c:pt idx="17">
                  <c:v>10900.0</c:v>
                </c:pt>
                <c:pt idx="22">
                  <c:v>26200.0</c:v>
                </c:pt>
                <c:pt idx="27">
                  <c:v>57700.0</c:v>
                </c:pt>
                <c:pt idx="33">
                  <c:v>252000.0</c:v>
                </c:pt>
                <c:pt idx="39">
                  <c:v>464000.0</c:v>
                </c:pt>
                <c:pt idx="45">
                  <c:v>650000.0</c:v>
                </c:pt>
                <c:pt idx="51">
                  <c:v>2600000.0</c:v>
                </c:pt>
                <c:pt idx="57">
                  <c:v>5790000.0</c:v>
                </c:pt>
                <c:pt idx="63">
                  <c:v>15300000.0</c:v>
                </c:pt>
                <c:pt idx="69">
                  <c:v>27500000.0</c:v>
                </c:pt>
                <c:pt idx="76">
                  <c:v>41300000.0</c:v>
                </c:pt>
                <c:pt idx="83">
                  <c:v>60500000.0</c:v>
                </c:pt>
                <c:pt idx="91">
                  <c:v>89600000.0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logBase val="10"/>
          <c:max val="1000000000.0"/>
          <c:min val="10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적정 찍찍</a:t>
                </a:r>
              </a:p>
            </c:rich>
          </c:tx>
          <c:layout/>
          <c:overlay val="0"/>
        </c:title>
        <c:numFmt formatCode="[&gt;=1000000]0,,&quot;M&quot;;[&gt;=1000]0,&quot;K&quot;;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B5E54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title>
      <c:tx>
        <c:rich>
          <a:bodyPr/>
          <a:lstStyle/>
          <a:p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120초 안에 통과하는 최소 전투력 ÷ 적정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완화 전</c:v>
                </c:pt>
              </c:strCache>
            </c:strRef>
          </c:tx>
          <c:spPr>
            <a:solidFill>
              <a:srgbClr val="3C2D23"/>
            </a:solidFill>
          </c:spPr>
          <c:cat>
            <c:strRef>
              <c:f>Sheet1!$A$2:$A$11</c:f>
              <c:strCache>
                <c:ptCount val="10"/>
                <c:pt idx="0">
                  <c:v>1층</c:v>
                </c:pt>
                <c:pt idx="1">
                  <c:v>2층</c:v>
                </c:pt>
                <c:pt idx="2">
                  <c:v>3층</c:v>
                </c:pt>
                <c:pt idx="3">
                  <c:v>4층</c:v>
                </c:pt>
                <c:pt idx="4">
                  <c:v>5층</c:v>
                </c:pt>
                <c:pt idx="5">
                  <c:v>6층</c:v>
                </c:pt>
                <c:pt idx="6">
                  <c:v>7층</c:v>
                </c:pt>
                <c:pt idx="7">
                  <c:v>8층</c:v>
                </c:pt>
                <c:pt idx="8">
                  <c:v>9층</c:v>
                </c:pt>
                <c:pt idx="9">
                  <c:v>10층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0.78</c:v>
                </c:pt>
                <c:pt idx="1">
                  <c:v>0.78</c:v>
                </c:pt>
                <c:pt idx="2">
                  <c:v>0.78</c:v>
                </c:pt>
                <c:pt idx="3">
                  <c:v>0.78</c:v>
                </c:pt>
                <c:pt idx="4">
                  <c:v>0.87</c:v>
                </c:pt>
                <c:pt idx="5">
                  <c:v>0.78</c:v>
                </c:pt>
                <c:pt idx="6">
                  <c:v>0.78</c:v>
                </c:pt>
                <c:pt idx="7">
                  <c:v>0.78</c:v>
                </c:pt>
                <c:pt idx="8">
                  <c:v>0.87</c:v>
                </c:pt>
                <c:pt idx="9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완화 후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Sheet1!$A$2:$A$11</c:f>
              <c:strCache>
                <c:ptCount val="10"/>
                <c:pt idx="0">
                  <c:v>1층</c:v>
                </c:pt>
                <c:pt idx="1">
                  <c:v>2층</c:v>
                </c:pt>
                <c:pt idx="2">
                  <c:v>3층</c:v>
                </c:pt>
                <c:pt idx="3">
                  <c:v>4층</c:v>
                </c:pt>
                <c:pt idx="4">
                  <c:v>5층</c:v>
                </c:pt>
                <c:pt idx="5">
                  <c:v>6층</c:v>
                </c:pt>
                <c:pt idx="6">
                  <c:v>7층</c:v>
                </c:pt>
                <c:pt idx="7">
                  <c:v>8층</c:v>
                </c:pt>
                <c:pt idx="8">
                  <c:v>9층</c:v>
                </c:pt>
                <c:pt idx="9">
                  <c:v>10층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0.56</c:v>
                </c:pt>
                <c:pt idx="1">
                  <c:v>0.59</c:v>
                </c:pt>
                <c:pt idx="2">
                  <c:v>0.61</c:v>
                </c:pt>
                <c:pt idx="3">
                  <c:v>0.64</c:v>
                </c:pt>
                <c:pt idx="4">
                  <c:v>0.75</c:v>
                </c:pt>
                <c:pt idx="5">
                  <c:v>0.69</c:v>
                </c:pt>
                <c:pt idx="6">
                  <c:v>0.71</c:v>
                </c:pt>
                <c:pt idx="7">
                  <c:v>0.74</c:v>
                </c:pt>
                <c:pt idx="8">
                  <c:v>0.85</c:v>
                </c:pt>
                <c:pt idx="9">
                  <c:v>0.87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전투력 ÷ 적정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6B5E54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title>
      <c:tx>
        <c:rich>
          <a:bodyPr/>
          <a:lstStyle/>
          <a:p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훈장 승급 시점 (누적 시간)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클릭 적극</c:v>
                </c:pt>
              </c:strCache>
            </c:strRef>
          </c:tx>
          <c:spPr>
            <a:ln w="28575">
              <a:solidFill>
                <a:srgbClr val="3C2D23"/>
              </a:solidFill>
            </a:ln>
          </c:spPr>
          <c:marker>
            <c:symbol val="diamond"/>
            <c:size val="5"/>
            <c:spPr>
              <a:solidFill>
                <a:srgbClr val="3C2D23"/>
              </a:solidFill>
              <a:ln>
                <a:solidFill>
                  <a:srgbClr val="3C2D23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0.468</c:v>
                </c:pt>
                <c:pt idx="2">
                  <c:v>0.711</c:v>
                </c:pt>
                <c:pt idx="3">
                  <c:v>1.043</c:v>
                </c:pt>
                <c:pt idx="4">
                  <c:v>1.604</c:v>
                </c:pt>
                <c:pt idx="5">
                  <c:v>2.2</c:v>
                </c:pt>
                <c:pt idx="6">
                  <c:v>2.807</c:v>
                </c:pt>
                <c:pt idx="7">
                  <c:v>3.501</c:v>
                </c:pt>
                <c:pt idx="8">
                  <c:v>4.082</c:v>
                </c:pt>
                <c:pt idx="9">
                  <c:v>4.413</c:v>
                </c:pt>
                <c:pt idx="10">
                  <c:v>5.095</c:v>
                </c:pt>
                <c:pt idx="11">
                  <c:v>5.616</c:v>
                </c:pt>
                <c:pt idx="12">
                  <c:v>6.358</c:v>
                </c:pt>
                <c:pt idx="13">
                  <c:v>6.713</c:v>
                </c:pt>
                <c:pt idx="14">
                  <c:v>7.073</c:v>
                </c:pt>
                <c:pt idx="15">
                  <c:v>7.675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거의 안 함</c:v>
                </c:pt>
              </c:strCache>
            </c:strRef>
          </c:tx>
          <c:spPr>
            <a:ln w="28575">
              <a:solidFill>
                <a:srgbClr val="ED7D31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0.647</c:v>
                </c:pt>
                <c:pt idx="2">
                  <c:v>1.015</c:v>
                </c:pt>
                <c:pt idx="3">
                  <c:v>1.419</c:v>
                </c:pt>
                <c:pt idx="4">
                  <c:v>2.12</c:v>
                </c:pt>
                <c:pt idx="5">
                  <c:v>2.75</c:v>
                </c:pt>
                <c:pt idx="6">
                  <c:v>3.581</c:v>
                </c:pt>
                <c:pt idx="7">
                  <c:v>4.461</c:v>
                </c:pt>
                <c:pt idx="8">
                  <c:v>4.979</c:v>
                </c:pt>
                <c:pt idx="9">
                  <c:v>5.666</c:v>
                </c:pt>
                <c:pt idx="10">
                  <c:v>6.434</c:v>
                </c:pt>
                <c:pt idx="11">
                  <c:v>6.992</c:v>
                </c:pt>
                <c:pt idx="12">
                  <c:v>7.802</c:v>
                </c:pt>
                <c:pt idx="13">
                  <c:v>8.402</c:v>
                </c:pt>
                <c:pt idx="14">
                  <c:v>8.938</c:v>
                </c:pt>
                <c:pt idx="15">
                  <c:v>9.369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훈장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시간 (h)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B5E54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title>
      <c:tx>
        <c:rich>
          <a:bodyPr/>
          <a:lstStyle/>
          <a:p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판이 끝난 층 (판 수)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클릭 적극</c:v>
                </c:pt>
              </c:strCache>
            </c:strRef>
          </c:tx>
          <c:spPr>
            <a:solidFill>
              <a:srgbClr val="3C2D23"/>
            </a:solidFill>
          </c:spPr>
          <c:cat>
            <c:strRef>
              <c:f>Sheet1!$A$2:$A$27</c:f>
              <c:strCache>
                <c:ptCount val="26"/>
                <c:pt idx="0">
                  <c:v>4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15</c:v>
                </c:pt>
                <c:pt idx="5">
                  <c:v>18</c:v>
                </c:pt>
                <c:pt idx="6">
                  <c:v>20</c:v>
                </c:pt>
                <c:pt idx="7">
                  <c:v>22</c:v>
                </c:pt>
                <c:pt idx="8">
                  <c:v>23</c:v>
                </c:pt>
                <c:pt idx="9">
                  <c:v>28</c:v>
                </c:pt>
                <c:pt idx="10">
                  <c:v>30</c:v>
                </c:pt>
                <c:pt idx="11">
                  <c:v>31</c:v>
                </c:pt>
                <c:pt idx="12">
                  <c:v>33</c:v>
                </c:pt>
                <c:pt idx="13">
                  <c:v>34</c:v>
                </c:pt>
                <c:pt idx="14">
                  <c:v>40</c:v>
                </c:pt>
                <c:pt idx="15">
                  <c:v>46</c:v>
                </c:pt>
                <c:pt idx="16">
                  <c:v>49</c:v>
                </c:pt>
                <c:pt idx="17">
                  <c:v>50</c:v>
                </c:pt>
                <c:pt idx="18">
                  <c:v>52</c:v>
                </c:pt>
                <c:pt idx="19">
                  <c:v>58</c:v>
                </c:pt>
                <c:pt idx="20">
                  <c:v>63</c:v>
                </c:pt>
                <c:pt idx="21">
                  <c:v>64</c:v>
                </c:pt>
                <c:pt idx="22">
                  <c:v>70</c:v>
                </c:pt>
                <c:pt idx="23">
                  <c:v>77</c:v>
                </c:pt>
                <c:pt idx="24">
                  <c:v>84</c:v>
                </c:pt>
                <c:pt idx="25">
                  <c:v>92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0</c:v>
                </c:pt>
                <c:pt idx="12">
                  <c:v>2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0</c:v>
                </c:pt>
                <c:pt idx="21">
                  <c:v>2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  <c:pt idx="2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거의 안 함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Sheet1!$A$2:$A$27</c:f>
              <c:strCache>
                <c:ptCount val="26"/>
                <c:pt idx="0">
                  <c:v>4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15</c:v>
                </c:pt>
                <c:pt idx="5">
                  <c:v>18</c:v>
                </c:pt>
                <c:pt idx="6">
                  <c:v>20</c:v>
                </c:pt>
                <c:pt idx="7">
                  <c:v>22</c:v>
                </c:pt>
                <c:pt idx="8">
                  <c:v>23</c:v>
                </c:pt>
                <c:pt idx="9">
                  <c:v>28</c:v>
                </c:pt>
                <c:pt idx="10">
                  <c:v>30</c:v>
                </c:pt>
                <c:pt idx="11">
                  <c:v>31</c:v>
                </c:pt>
                <c:pt idx="12">
                  <c:v>33</c:v>
                </c:pt>
                <c:pt idx="13">
                  <c:v>34</c:v>
                </c:pt>
                <c:pt idx="14">
                  <c:v>40</c:v>
                </c:pt>
                <c:pt idx="15">
                  <c:v>46</c:v>
                </c:pt>
                <c:pt idx="16">
                  <c:v>49</c:v>
                </c:pt>
                <c:pt idx="17">
                  <c:v>50</c:v>
                </c:pt>
                <c:pt idx="18">
                  <c:v>52</c:v>
                </c:pt>
                <c:pt idx="19">
                  <c:v>58</c:v>
                </c:pt>
                <c:pt idx="20">
                  <c:v>63</c:v>
                </c:pt>
                <c:pt idx="21">
                  <c:v>64</c:v>
                </c:pt>
                <c:pt idx="22">
                  <c:v>70</c:v>
                </c:pt>
                <c:pt idx="23">
                  <c:v>77</c:v>
                </c:pt>
                <c:pt idx="24">
                  <c:v>84</c:v>
                </c:pt>
                <c:pt idx="25">
                  <c:v>92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0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판 수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.0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6B5E54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27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층 난이도 · 훈장 허들 분석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찍!찍!!찍!!! 밸런스 시스템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20261021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20261021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arker"/>
          <p:cNvSpPr/>
          <p:nvPr/>
        </p:nvSpPr>
        <p:spPr>
          <a:xfrm>
            <a:off x="1554480" y="1783080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09928" y="1673352"/>
            <a:ext cx="4023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</a:rPr>
              <a:t>개요</a:t>
            </a: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2112264"/>
            <a:ext cx="3566160" cy="11172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1. 목차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2. 로그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3. 시스템 개요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4. 설계 목표</a:t>
            </a:r>
          </a:p>
        </p:txBody>
      </p:sp>
      <p:sp>
        <p:nvSpPr>
          <p:cNvPr id="7" name="Marker"/>
          <p:cNvSpPr/>
          <p:nvPr/>
        </p:nvSpPr>
        <p:spPr>
          <a:xfrm>
            <a:off x="5760720" y="1783080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16168" y="1673352"/>
            <a:ext cx="40233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난이도 구조</a:t>
            </a: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 – 6P</a:t>
            </a:r>
            <a:endParaRPr lang="ko-KR" altLang="en-US" sz="1600" b="1" dirty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9088" y="2112264"/>
            <a:ext cx="3566160" cy="10789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1. 적정 찍찍 · 시간 모델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2. 층 유형 · 적정 곡선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3. 초반 계단 벽 완화</a:t>
            </a:r>
          </a:p>
        </p:txBody>
      </p:sp>
      <p:sp>
        <p:nvSpPr>
          <p:cNvPr id="10" name="Marker"/>
          <p:cNvSpPr/>
          <p:nvPr/>
        </p:nvSpPr>
        <p:spPr>
          <a:xfrm>
            <a:off x="1554480" y="3730752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09928" y="3621024"/>
            <a:ext cx="40233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허들 시스템</a:t>
            </a: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 – 10P</a:t>
            </a:r>
            <a:endParaRPr lang="ko-KR" altLang="en-US" sz="1600" b="1" dirty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12848" y="4059936"/>
            <a:ext cx="3566160" cy="11172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1. 훈장 허들 구조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2. 훈장 승급 조건 · 시점</a:t>
            </a:r>
          </a:p>
          <a:p>
            <a:pPr algn="l" eaLnBrk="1" latinLnBrk="0">
              <a:spcAft>
                <a:spcPts val="200"/>
              </a:spcAft>
            </a:pPr>
            <a:r>
              <a:rPr lang="en-US" altLang="ko-KR" sz="1600" b="0" dirty="0">
                <a:solidFill>
                  <a:srgbClr val="000000"/>
                </a:solidFill>
                <a:latin typeface="Noto Sans KR"/>
                <a:ea typeface="Noto Sans KR"/>
              </a:rPr>
              <a:t>3. 시작 층 규칙</a:t>
            </a:r>
          </a:p>
        </p:txBody>
      </p:sp>
      <p:sp>
        <p:nvSpPr>
          <p:cNvPr id="13" name="Marker"/>
          <p:cNvSpPr/>
          <p:nvPr/>
        </p:nvSpPr>
        <p:spPr>
          <a:xfrm>
            <a:off x="5760720" y="3730752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16168" y="3621024"/>
            <a:ext cx="40233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분석 · 개선</a:t>
            </a: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 – 14P</a:t>
            </a:r>
            <a:endParaRPr lang="ko-KR" altLang="en-US" sz="1600" b="1" dirty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4059936"/>
            <a:ext cx="3566160" cy="10789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1. 시뮬레이션 결과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2. 막힘 분석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3. 문제점</a:t>
            </a:r>
          </a:p>
          <a:p>
            <a:pPr algn="l" eaLnBrk="1" latinLnBrk="0">
              <a:spcAft>
                <a:spcPts val="200"/>
              </a:spcAft>
            </a:pPr>
            <a:r>
              <a:rPr lang="ko-KR" altLang="en-US" sz="1600" b="0">
                <a:solidFill>
                  <a:srgbClr val="000000"/>
                </a:solidFill>
                <a:latin typeface="Noto Sans KR"/>
                <a:ea typeface="Noto Sans KR"/>
              </a:rPr>
              <a:t>4. 개선 방향 · 결정 필요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2469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로그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98003"/>
              </p:ext>
            </p:extLst>
          </p:nvPr>
        </p:nvGraphicFramePr>
        <p:xfrm>
          <a:off x="1353344" y="1646764"/>
          <a:ext cx="9485312" cy="411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87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6880871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864867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</a:tblGrid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박송호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밸런스 · 허들 분석, 문서 초안 작성,</a:t>
                      </a:r>
                      <a:b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초반 계단 벽 완화 반영</a:t>
                      </a:r>
                      <a:b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61521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9946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3359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81830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1674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89399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4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1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시스템 개요</a:t>
            </a:r>
          </a:p>
        </p:txBody>
      </p:sp>
      <p:cxnSp>
        <p:nvCxnSpPr>
          <p:cNvPr id="1002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3" name="Card"/>
          <p:cNvSpPr/>
          <p:nvPr/>
        </p:nvSpPr>
        <p:spPr>
          <a:xfrm>
            <a:off x="11341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4" name="TextBox 4"/>
          <p:cNvSpPr txBox="1"/>
          <p:nvPr/>
        </p:nvSpPr>
        <p:spPr>
          <a:xfrm>
            <a:off x="11341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100층</a:t>
            </a:r>
          </a:p>
        </p:txBody>
      </p:sp>
      <p:sp>
        <p:nvSpPr>
          <p:cNvPr id="1005" name="TextBox 5"/>
          <p:cNvSpPr txBox="1"/>
          <p:nvPr/>
        </p:nvSpPr>
        <p:spPr>
          <a:xfrm>
            <a:off x="11341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보스 5층마다 · 최종 100층</a:t>
            </a:r>
          </a:p>
        </p:txBody>
      </p:sp>
      <p:sp>
        <p:nvSpPr>
          <p:cNvPr id="1006" name="Card"/>
          <p:cNvSpPr/>
          <p:nvPr/>
        </p:nvSpPr>
        <p:spPr>
          <a:xfrm>
            <a:off x="36487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7" name="TextBox 4"/>
          <p:cNvSpPr txBox="1"/>
          <p:nvPr/>
        </p:nvSpPr>
        <p:spPr>
          <a:xfrm>
            <a:off x="36487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16훈장</a:t>
            </a:r>
          </a:p>
        </p:txBody>
      </p:sp>
      <p:sp>
        <p:nvSpPr>
          <p:cNvPr id="1008" name="TextBox 5"/>
          <p:cNvSpPr txBox="1"/>
          <p:nvPr/>
        </p:nvSpPr>
        <p:spPr>
          <a:xfrm>
            <a:off x="36487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훈장 승급 직전 층 = 큰 허들</a:t>
            </a:r>
          </a:p>
        </p:txBody>
      </p:sp>
      <p:sp>
        <p:nvSpPr>
          <p:cNvPr id="1009" name="Card"/>
          <p:cNvSpPr/>
          <p:nvPr/>
        </p:nvSpPr>
        <p:spPr>
          <a:xfrm>
            <a:off x="61633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0" name="TextBox 4"/>
          <p:cNvSpPr txBox="1"/>
          <p:nvPr/>
        </p:nvSpPr>
        <p:spPr>
          <a:xfrm>
            <a:off x="61633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120초</a:t>
            </a:r>
          </a:p>
        </p:txBody>
      </p:sp>
      <p:sp>
        <p:nvSpPr>
          <p:cNvPr id="1011" name="TextBox 5"/>
          <p:cNvSpPr txBox="1"/>
          <p:nvPr/>
        </p:nvSpPr>
        <p:spPr>
          <a:xfrm>
            <a:off x="61633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층 기본 제한시간</a:t>
            </a:r>
          </a:p>
        </p:txBody>
      </p:sp>
      <p:sp>
        <p:nvSpPr>
          <p:cNvPr id="1012" name="Card"/>
          <p:cNvSpPr/>
          <p:nvPr/>
        </p:nvSpPr>
        <p:spPr>
          <a:xfrm>
            <a:off x="86779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3" name="TextBox 4"/>
          <p:cNvSpPr txBox="1"/>
          <p:nvPr/>
        </p:nvSpPr>
        <p:spPr>
          <a:xfrm>
            <a:off x="86779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8~10h</a:t>
            </a:r>
          </a:p>
        </p:txBody>
      </p:sp>
      <p:sp>
        <p:nvSpPr>
          <p:cNvPr id="1014" name="TextBox 5"/>
          <p:cNvSpPr txBox="1"/>
          <p:nvPr/>
        </p:nvSpPr>
        <p:spPr>
          <a:xfrm>
            <a:off x="86779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100층 클리어 (시뮬레이션)</a:t>
            </a:r>
          </a:p>
        </p:txBody>
      </p:sp>
      <p:sp>
        <p:nvSpPr>
          <p:cNvPr id="1015" name="TextBox 15"/>
          <p:cNvSpPr txBox="1"/>
          <p:nvPr/>
        </p:nvSpPr>
        <p:spPr>
          <a:xfrm>
            <a:off x="1134110" y="3611879"/>
            <a:ext cx="9692640" cy="1905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1200"/>
              </a:spcAft>
            </a:pP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목표   </a:t>
            </a:r>
            <a:r>
              <a:rPr lang="ko-KR" altLang="en-US" sz="1600" b="0" dirty="0">
                <a:solidFill>
                  <a:srgbClr val="000000"/>
                </a:solidFill>
                <a:latin typeface="Noto Sans KR"/>
                <a:ea typeface="Noto Sans KR"/>
              </a:rPr>
              <a:t>전투력이 모자라면 막히고, 훈장 승급으로 강해지면 시원하게 뚫리는 '막힘 → 성장 → 돌파' 반복</a:t>
            </a:r>
          </a:p>
          <a:p>
            <a:pPr algn="l" eaLnBrk="1" latinLnBrk="0">
              <a:spcAft>
                <a:spcPts val="1200"/>
              </a:spcAft>
            </a:pP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원칙 1   </a:t>
            </a:r>
            <a:r>
              <a:rPr lang="ko-KR" altLang="en-US" sz="1600" b="0" dirty="0">
                <a:solidFill>
                  <a:srgbClr val="000000"/>
                </a:solidFill>
                <a:latin typeface="Noto Sans KR"/>
                <a:ea typeface="Noto Sans KR"/>
              </a:rPr>
              <a:t>적정 찍찍(층마다 필요한 무리 전투력)이 모든 난이도의 기준 — 벽 · 물건 · 보스 · 보상이 같은 지수</a:t>
            </a:r>
          </a:p>
          <a:p>
            <a:pPr algn="l" eaLnBrk="1" latinLnBrk="0">
              <a:spcAft>
                <a:spcPts val="1200"/>
              </a:spcAft>
            </a:pP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원칙 2   </a:t>
            </a:r>
            <a:r>
              <a:rPr lang="ko-KR" altLang="en-US" sz="1600" b="0" dirty="0">
                <a:solidFill>
                  <a:srgbClr val="000000"/>
                </a:solidFill>
                <a:latin typeface="Noto Sans KR"/>
                <a:ea typeface="Noto Sans KR"/>
              </a:rPr>
              <a:t>큰 허들 = 훈장 승급 직전 층, 보스 층은 가벼운 허들 (적정 ×1.15)</a:t>
            </a:r>
          </a:p>
          <a:p>
            <a:pPr algn="l" eaLnBrk="1" latinLnBrk="0">
              <a:spcAft>
                <a:spcPts val="1200"/>
              </a:spcAft>
            </a:pPr>
            <a:r>
              <a:rPr lang="ko-KR" altLang="en-US" sz="1600" b="1" dirty="0">
                <a:solidFill>
                  <a:srgbClr val="000000"/>
                </a:solidFill>
                <a:latin typeface="Noto Sans KR"/>
                <a:ea typeface="Noto Sans KR"/>
              </a:rPr>
              <a:t>원칙 3   </a:t>
            </a:r>
            <a:r>
              <a:rPr lang="ko-KR" altLang="en-US" sz="1600" b="0" dirty="0">
                <a:solidFill>
                  <a:srgbClr val="000000"/>
                </a:solidFill>
                <a:latin typeface="Noto Sans KR"/>
                <a:ea typeface="Noto Sans KR"/>
              </a:rPr>
              <a:t>시작 층은 최고 클리어 −3 까지 건너뛰기 → 판마다 몸풀기 층을 짧게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6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설계 목표</a:t>
            </a:r>
          </a:p>
        </p:txBody>
      </p:sp>
      <p:cxnSp>
        <p:nvCxnSpPr>
          <p:cNvPr id="1017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Card"/>
          <p:cNvSpPr/>
          <p:nvPr/>
        </p:nvSpPr>
        <p:spPr>
          <a:xfrm>
            <a:off x="1134110" y="1645920"/>
            <a:ext cx="4846320" cy="12979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9" name="TextBox 4"/>
          <p:cNvSpPr txBox="1"/>
          <p:nvPr/>
        </p:nvSpPr>
        <p:spPr>
          <a:xfrm>
            <a:off x="1316990" y="1755139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성장 체감</a:t>
            </a:r>
          </a:p>
        </p:txBody>
      </p:sp>
      <p:sp>
        <p:nvSpPr>
          <p:cNvPr id="1020" name="TextBox 5"/>
          <p:cNvSpPr txBox="1"/>
          <p:nvPr/>
        </p:nvSpPr>
        <p:spPr>
          <a:xfrm>
            <a:off x="1316990" y="2176779"/>
            <a:ext cx="4480560" cy="7137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훈장 끝 상태로 허들 층을 겨우 넘음 → 승급하면 다음 층부터 전투력이 적정을 넉넉히 넘어 시원하게 뚫림</a:t>
            </a:r>
          </a:p>
        </p:txBody>
      </p:sp>
      <p:sp>
        <p:nvSpPr>
          <p:cNvPr id="1021" name="Card"/>
          <p:cNvSpPr/>
          <p:nvPr/>
        </p:nvSpPr>
        <p:spPr>
          <a:xfrm>
            <a:off x="6163310" y="1645920"/>
            <a:ext cx="4846320" cy="12979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2" name="TextBox 4"/>
          <p:cNvSpPr txBox="1"/>
          <p:nvPr/>
        </p:nvSpPr>
        <p:spPr>
          <a:xfrm>
            <a:off x="6346190" y="1755139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허들 시점 고르게</a:t>
            </a:r>
          </a:p>
        </p:txBody>
      </p:sp>
      <p:sp>
        <p:nvSpPr>
          <p:cNvPr id="1023" name="TextBox 5"/>
          <p:cNvSpPr txBox="1"/>
          <p:nvPr/>
        </p:nvSpPr>
        <p:spPr>
          <a:xfrm>
            <a:off x="6346190" y="2176779"/>
            <a:ext cx="4480560" cy="7137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훈장 조건 층을 6 → 85층에 흩뿌려 승급이 약 0.3~0.8시간마다 한 번씩 오게 함</a:t>
            </a:r>
          </a:p>
        </p:txBody>
      </p:sp>
      <p:sp>
        <p:nvSpPr>
          <p:cNvPr id="1024" name="Card"/>
          <p:cNvSpPr/>
          <p:nvPr/>
        </p:nvSpPr>
        <p:spPr>
          <a:xfrm>
            <a:off x="1134110" y="3108960"/>
            <a:ext cx="4846320" cy="12979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5" name="TextBox 4"/>
          <p:cNvSpPr txBox="1"/>
          <p:nvPr/>
        </p:nvSpPr>
        <p:spPr>
          <a:xfrm>
            <a:off x="1316990" y="3218180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목표 플레이 시간</a:t>
            </a:r>
          </a:p>
        </p:txBody>
      </p:sp>
      <p:sp>
        <p:nvSpPr>
          <p:cNvPr id="1026" name="TextBox 5"/>
          <p:cNvSpPr txBox="1"/>
          <p:nvPr/>
        </p:nvSpPr>
        <p:spPr>
          <a:xfrm>
            <a:off x="1316990" y="3639820"/>
            <a:ext cx="4480560" cy="7137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100층 클리어: 클릭 적극 10h · 거의 안 함 15h (누적 16층 2h · 30층 4h · 50층 6.5h · 70층 9h)</a:t>
            </a:r>
          </a:p>
        </p:txBody>
      </p:sp>
      <p:sp>
        <p:nvSpPr>
          <p:cNvPr id="1027" name="Card"/>
          <p:cNvSpPr/>
          <p:nvPr/>
        </p:nvSpPr>
        <p:spPr>
          <a:xfrm>
            <a:off x="6163310" y="3108960"/>
            <a:ext cx="4846320" cy="12979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8" name="TextBox 4"/>
          <p:cNvSpPr txBox="1"/>
          <p:nvPr/>
        </p:nvSpPr>
        <p:spPr>
          <a:xfrm>
            <a:off x="6346190" y="3218180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반복 부담 줄이기</a:t>
            </a:r>
          </a:p>
        </p:txBody>
      </p:sp>
      <p:sp>
        <p:nvSpPr>
          <p:cNvPr id="1029" name="TextBox 5"/>
          <p:cNvSpPr txBox="1"/>
          <p:nvPr/>
        </p:nvSpPr>
        <p:spPr>
          <a:xfrm>
            <a:off x="6346190" y="3639820"/>
            <a:ext cx="4480560" cy="7137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시작 층 = 최고 클리어 −3, 넘은 허들 아래로는 안 내려감 → 판 하나 7~25분</a:t>
            </a:r>
          </a:p>
        </p:txBody>
      </p:sp>
      <p:sp>
        <p:nvSpPr>
          <p:cNvPr id="1030" name="Card"/>
          <p:cNvSpPr/>
          <p:nvPr/>
        </p:nvSpPr>
        <p:spPr>
          <a:xfrm>
            <a:off x="1134110" y="4572000"/>
            <a:ext cx="9875520" cy="12979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1" name="TextBox 4"/>
          <p:cNvSpPr txBox="1"/>
          <p:nvPr/>
        </p:nvSpPr>
        <p:spPr>
          <a:xfrm>
            <a:off x="1316990" y="4681220"/>
            <a:ext cx="95097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층만이 아닌 성장</a:t>
            </a:r>
          </a:p>
        </p:txBody>
      </p:sp>
      <p:sp>
        <p:nvSpPr>
          <p:cNvPr id="1032" name="TextBox 5"/>
          <p:cNvSpPr txBox="1"/>
          <p:nvPr/>
        </p:nvSpPr>
        <p:spPr>
          <a:xfrm>
            <a:off x="1316990" y="5102860"/>
            <a:ext cx="9509760" cy="7137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승급 조건에 조각 레벨 합 · 스킬 트리 전부 · 도감(11훈장~)을 함께 걸어 쥐 훈련 · 수집도 같이 하게 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3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난이도 구조 - 적정 찍찍 · 시간 모델</a:t>
            </a:r>
          </a:p>
        </p:txBody>
      </p:sp>
      <p:cxnSp>
        <p:nvCxnSpPr>
          <p:cNvPr id="1034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Card"/>
          <p:cNvSpPr/>
          <p:nvPr/>
        </p:nvSpPr>
        <p:spPr>
          <a:xfrm>
            <a:off x="1134110" y="1645920"/>
            <a:ext cx="4846320" cy="2032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6" name="TextBox 4"/>
          <p:cNvSpPr txBox="1"/>
          <p:nvPr/>
        </p:nvSpPr>
        <p:spPr>
          <a:xfrm>
            <a:off x="1316990" y="1755139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적정 찍찍</a:t>
            </a:r>
          </a:p>
        </p:txBody>
      </p:sp>
      <p:sp>
        <p:nvSpPr>
          <p:cNvPr id="1037" name="TextBox 9"/>
          <p:cNvSpPr txBox="1"/>
          <p:nvPr/>
        </p:nvSpPr>
        <p:spPr>
          <a:xfrm>
            <a:off x="1316990" y="2230120"/>
            <a:ext cx="4480560" cy="1397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찍찍!!(무리 공격력 합)이 이만큼이면 목표 시간 안에 깸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1층 300 · 30층 8.3만 · 50층 145만 · 100층 1.2억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벽 · 물건 체력, 치즈 · 연구자료 보상이 같은 지수를 따름</a:t>
            </a:r>
          </a:p>
        </p:txBody>
      </p:sp>
      <p:sp>
        <p:nvSpPr>
          <p:cNvPr id="1038" name="Card"/>
          <p:cNvSpPr/>
          <p:nvPr/>
        </p:nvSpPr>
        <p:spPr>
          <a:xfrm>
            <a:off x="6163310" y="1645920"/>
            <a:ext cx="4846320" cy="2032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9" name="TextBox 4"/>
          <p:cNvSpPr txBox="1"/>
          <p:nvPr/>
        </p:nvSpPr>
        <p:spPr>
          <a:xfrm>
            <a:off x="6346190" y="1755139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벽 피해 감산</a:t>
            </a:r>
          </a:p>
        </p:txBody>
      </p:sp>
      <p:sp>
        <p:nvSpPr>
          <p:cNvPr id="1040" name="TextBox 9"/>
          <p:cNvSpPr txBox="1"/>
          <p:nvPr/>
        </p:nvSpPr>
        <p:spPr>
          <a:xfrm>
            <a:off x="6346190" y="2230120"/>
            <a:ext cx="4480560" cy="1397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전투력 &lt; 적정이면 벽 피해 × (전투력 ÷ 적정)^지수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계단 방 벽 지수 1.5 · 일반 벽 0.5 (초반은 아래 완화)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계단까지 경로 벽 체력 합의 절반이 계단 방 벽 하나</a:t>
            </a:r>
          </a:p>
        </p:txBody>
      </p:sp>
      <p:sp>
        <p:nvSpPr>
          <p:cNvPr id="1041" name="Card"/>
          <p:cNvSpPr/>
          <p:nvPr/>
        </p:nvSpPr>
        <p:spPr>
          <a:xfrm>
            <a:off x="1134110" y="3840479"/>
            <a:ext cx="4846320" cy="2032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2" name="TextBox 4"/>
          <p:cNvSpPr txBox="1"/>
          <p:nvPr/>
        </p:nvSpPr>
        <p:spPr>
          <a:xfrm>
            <a:off x="1316990" y="3949700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시간 모델 (목표 초)</a:t>
            </a:r>
          </a:p>
        </p:txBody>
      </p:sp>
      <p:sp>
        <p:nvSpPr>
          <p:cNvPr id="1043" name="TextBox 9"/>
          <p:cNvSpPr txBox="1"/>
          <p:nvPr/>
        </p:nvSpPr>
        <p:spPr>
          <a:xfrm>
            <a:off x="1316990" y="4424680"/>
            <a:ext cx="4480560" cy="1397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전투력 = 적정일 때: 보통 · 쉬움 72초 · 보스 90초 · 허들 = 그 훈장 끝 제한시간의 70%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r&lt;1 이면 시간 ≈ 목표 초 × 0.8 × r^-1.5 (r = 전투력 ÷ 적정)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제한시간(120초 + 스킬)을 넘으면 판 종료</a:t>
            </a:r>
          </a:p>
        </p:txBody>
      </p:sp>
      <p:sp>
        <p:nvSpPr>
          <p:cNvPr id="1044" name="Card"/>
          <p:cNvSpPr/>
          <p:nvPr/>
        </p:nvSpPr>
        <p:spPr>
          <a:xfrm>
            <a:off x="6163310" y="3840479"/>
            <a:ext cx="4846320" cy="2032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5" name="TextBox 4"/>
          <p:cNvSpPr txBox="1"/>
          <p:nvPr/>
        </p:nvSpPr>
        <p:spPr>
          <a:xfrm>
            <a:off x="6346190" y="3949700"/>
            <a:ext cx="4480560" cy="3835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700" b="1">
                <a:solidFill>
                  <a:srgbClr val="000000"/>
                </a:solidFill>
                <a:latin typeface="Noto Sans KR"/>
                <a:ea typeface="Noto Sans KR"/>
              </a:rPr>
              <a:t>HUD 적정 표시</a:t>
            </a:r>
          </a:p>
        </p:txBody>
      </p:sp>
      <p:sp>
        <p:nvSpPr>
          <p:cNvPr id="1046" name="TextBox 9"/>
          <p:cNvSpPr txBox="1"/>
          <p:nvPr/>
        </p:nvSpPr>
        <p:spPr>
          <a:xfrm>
            <a:off x="6346190" y="4424680"/>
            <a:ext cx="4480560" cy="1397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'제한시간 85% 로 깨는 전투력'을 적정으로 표시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찍찍!! ≥ 표시 적정이면 깰 수 있다는 신호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벽 감산 · 보스 체력은 테이블 적정 그대로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7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난이도 구조 - 층 유형</a:t>
            </a:r>
          </a:p>
        </p:txBody>
      </p:sp>
      <p:cxnSp>
        <p:nvCxnSpPr>
          <p:cNvPr id="1048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Grade 일반">
            <a:extLst>
              <a:ext uri="{FF2B5EF4-FFF2-40B4-BE49-F238E27FC236}">
                <a16:creationId xmlns:a16="http://schemas.microsoft.com/office/drawing/2014/main" id="{3ACF8864-4854-986B-AE5E-030FEBCA2C32}"/>
              </a:ext>
            </a:extLst>
          </p:cNvPr>
          <p:cNvSpPr/>
          <p:nvPr/>
        </p:nvSpPr>
        <p:spPr>
          <a:xfrm>
            <a:off x="1134110" y="1691639"/>
            <a:ext cx="566420" cy="566420"/>
          </a:xfrm>
          <a:prstGeom prst="ellipse">
            <a:avLst/>
          </a:prstGeom>
          <a:solidFill>
            <a:srgbClr val="D66E34"/>
          </a:solidFill>
          <a:ln w="19050">
            <a:solidFill>
              <a:srgbClr val="B95A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7432" rIns="0" bIns="27432" rtlCol="0" anchor="ctr"/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Noto Sans KR"/>
                <a:ea typeface="Noto Sans KR"/>
              </a:rPr>
              <a:t>보통</a:t>
            </a:r>
            <a:endParaRPr lang="ko-KR" altLang="en-US" sz="1200" b="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1050" name="Grade 일반"/>
          <p:cNvSpPr/>
          <p:nvPr/>
        </p:nvSpPr>
        <p:spPr>
          <a:xfrm>
            <a:off x="2500629" y="1691639"/>
            <a:ext cx="566420" cy="566420"/>
          </a:xfrm>
          <a:prstGeom prst="ellipse">
            <a:avLst/>
          </a:prstGeom>
          <a:solidFill>
            <a:srgbClr val="A7ADB7"/>
          </a:solidFill>
          <a:ln w="19050">
            <a:solidFill>
              <a:srgbClr val="7D8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7432" rIns="0" bIns="27432" rtlCol="0" anchor="ctr"/>
          <a:lstStyle/>
          <a:p>
            <a:pPr algn="ctr"/>
            <a:r>
              <a:rPr lang="ko-KR" altLang="en-US" sz="1200" b="0" dirty="0">
                <a:solidFill>
                  <a:srgbClr val="FFFFFF"/>
                </a:solidFill>
                <a:latin typeface="Noto Sans KR"/>
                <a:ea typeface="Noto Sans KR"/>
              </a:rPr>
              <a:t>쉬움</a:t>
            </a:r>
          </a:p>
        </p:txBody>
      </p:sp>
      <p:sp>
        <p:nvSpPr>
          <p:cNvPr id="1051" name="Grade 레어"/>
          <p:cNvSpPr/>
          <p:nvPr/>
        </p:nvSpPr>
        <p:spPr>
          <a:xfrm>
            <a:off x="3867150" y="1691639"/>
            <a:ext cx="566420" cy="566420"/>
          </a:xfrm>
          <a:prstGeom prst="ellipse">
            <a:avLst/>
          </a:prstGeom>
          <a:solidFill>
            <a:srgbClr val="D9A53A"/>
          </a:solidFill>
          <a:ln w="19050">
            <a:solidFill>
              <a:srgbClr val="B07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7432" rIns="0" bIns="27432" rtlCol="0" anchor="ctr"/>
          <a:lstStyle/>
          <a:p>
            <a:pPr algn="ctr"/>
            <a:r>
              <a:rPr lang="ko-KR" altLang="en-US" sz="1200" b="0">
                <a:solidFill>
                  <a:srgbClr val="FFFFFF"/>
                </a:solidFill>
                <a:latin typeface="Noto Sans KR"/>
                <a:ea typeface="Noto Sans KR"/>
              </a:rPr>
              <a:t>보스</a:t>
            </a:r>
          </a:p>
        </p:txBody>
      </p:sp>
      <p:sp>
        <p:nvSpPr>
          <p:cNvPr id="1052" name="Grade 에픽"/>
          <p:cNvSpPr/>
          <p:nvPr/>
        </p:nvSpPr>
        <p:spPr>
          <a:xfrm>
            <a:off x="5233670" y="1691639"/>
            <a:ext cx="566420" cy="566420"/>
          </a:xfrm>
          <a:prstGeom prst="ellipse">
            <a:avLst/>
          </a:prstGeom>
          <a:solidFill>
            <a:srgbClr val="8E6CC8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27432" rIns="0" bIns="27432" rtlCol="0" anchor="ctr"/>
          <a:lstStyle/>
          <a:p>
            <a:pPr algn="ctr"/>
            <a:r>
              <a:rPr lang="ko-KR" altLang="en-US" sz="1200" b="0">
                <a:solidFill>
                  <a:srgbClr val="FFFFFF"/>
                </a:solidFill>
                <a:latin typeface="Noto Sans KR"/>
                <a:ea typeface="Noto Sans KR"/>
              </a:rPr>
              <a:t>허들</a:t>
            </a:r>
          </a:p>
        </p:txBody>
      </p:sp>
      <p:graphicFrame>
        <p:nvGraphicFramePr>
          <p:cNvPr id="1053" name="Table"/>
          <p:cNvGraphicFramePr>
            <a:graphicFrameLocks noGrp="1"/>
          </p:cNvGraphicFramePr>
          <p:nvPr/>
        </p:nvGraphicFramePr>
        <p:xfrm>
          <a:off x="1134110" y="2514600"/>
          <a:ext cx="9931400" cy="24003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16000"/>
                <a:gridCol w="2413000"/>
                <a:gridCol w="2540000"/>
                <a:gridCol w="1778000"/>
                <a:gridCol w="2184400"/>
              </a:tblGrid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 (예)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적정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목표 초 (적정일 때)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의도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도입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300 (고정)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조작 · 벽 파괴 익히기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D66E34"/>
                          </a:solidFill>
                          <a:latin typeface="Noto Sans KR"/>
                          <a:ea typeface="Noto Sans KR"/>
                        </a:rPr>
                        <a:t>보통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2~4 · 7 · 8 · 11 · 12 …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추세 (허들 사이 기하 보간)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 진행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7D838C"/>
                          </a:solidFill>
                          <a:latin typeface="Noto Sans KR"/>
                          <a:ea typeface="Noto Sans KR"/>
                        </a:rPr>
                        <a:t>쉬움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 · 14 · 19 · 24 … (허들 다음 층)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추세 (허들 층의 0.8~1.0배)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뒤 시원하게 돌파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B07F1E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 · 15 · 20 · 25 · 30 …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추세 × 1.15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90초 (보스전 40%)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가벼운 허들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7E57C2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 · 9 · 13 · 18 · 23 … 84 · 92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 훈장 끝 전투력 (추세 × 1.3)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훈장 끝 제한시간 70%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전 큰 허들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추세 × 1.4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최종 보스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  <p:sp>
        <p:nvSpPr>
          <p:cNvPr id="1054" name="TextBox 6"/>
          <p:cNvSpPr txBox="1"/>
          <p:nvPr/>
        </p:nvSpPr>
        <p:spPr>
          <a:xfrm>
            <a:off x="1134110" y="5016500"/>
            <a:ext cx="9930130" cy="101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허들 층 = 다음 훈장 조건 층 −1 (훈장 t 를 다 키운 상태로 겨우 넘는 층), 16훈장 트리 전부 = 92층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허들 층 적정은 앞 층의 1.2~1.7배, 넘은 다음 층은 0.8~1.0배로 내려감 · 92층 뒤는 층당 ×1.03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5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난이도 구조 - 적정 곡선</a:t>
            </a:r>
          </a:p>
        </p:txBody>
      </p:sp>
      <p:cxnSp>
        <p:nvCxnSpPr>
          <p:cNvPr id="1056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57" name="Chart 1056"/>
          <p:cNvGraphicFramePr>
            <a:graphicFrameLocks noGrp="1"/>
          </p:cNvGraphicFramePr>
          <p:nvPr/>
        </p:nvGraphicFramePr>
        <p:xfrm>
          <a:off x="1134110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57" name="Card"/>
          <p:cNvSpPr/>
          <p:nvPr/>
        </p:nvSpPr>
        <p:spPr>
          <a:xfrm>
            <a:off x="7726680" y="1691639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8" name="TextBox 5"/>
          <p:cNvSpPr txBox="1"/>
          <p:nvPr/>
        </p:nvSpPr>
        <p:spPr>
          <a:xfrm>
            <a:off x="7863840" y="1800860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800" b="1">
                <a:solidFill>
                  <a:srgbClr val="000000"/>
                </a:solidFill>
                <a:latin typeface="Noto Sans KR"/>
                <a:ea typeface="Noto Sans KR"/>
              </a:rPr>
              <a:t>곡선 규칙</a:t>
            </a:r>
          </a:p>
        </p:txBody>
      </p:sp>
      <p:sp>
        <p:nvSpPr>
          <p:cNvPr id="1059" name="TextBox 6"/>
          <p:cNvSpPr txBox="1"/>
          <p:nvPr/>
        </p:nvSpPr>
        <p:spPr>
          <a:xfrm>
            <a:off x="7909559" y="2286000"/>
            <a:ext cx="3017520" cy="3749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허들 층 적정 = 그 훈장 끝 전투력 × 증강 배율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허들 사이는 기하 보간 (층마다 고르게 커짐)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1층 300 → 30층 8.3만 → 50층 145만 → 100층 1.2억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31층부터 증강 배율 (칸당 +8%, 2~5칸)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92층 뒤 층당 ×1.03, 100층 최종 보스 ×1.4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난이도 구조 - 초반 계단 벽 완화</a:t>
            </a:r>
          </a:p>
        </p:txBody>
      </p:sp>
      <p:cxnSp>
        <p:nvCxnSpPr>
          <p:cNvPr id="1061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62" name="Chart 1061"/>
          <p:cNvGraphicFramePr>
            <a:graphicFrameLocks noGrp="1"/>
          </p:cNvGraphicFramePr>
          <p:nvPr/>
        </p:nvGraphicFramePr>
        <p:xfrm>
          <a:off x="1134110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62" name="Card"/>
          <p:cNvSpPr/>
          <p:nvPr/>
        </p:nvSpPr>
        <p:spPr>
          <a:xfrm>
            <a:off x="7726680" y="1691639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3" name="TextBox 5"/>
          <p:cNvSpPr txBox="1"/>
          <p:nvPr/>
        </p:nvSpPr>
        <p:spPr>
          <a:xfrm>
            <a:off x="7863840" y="1800860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800" b="1">
                <a:solidFill>
                  <a:srgbClr val="000000"/>
                </a:solidFill>
                <a:latin typeface="Noto Sans KR"/>
                <a:ea typeface="Noto Sans KR"/>
              </a:rPr>
              <a:t>완화 규칙</a:t>
            </a:r>
          </a:p>
        </p:txBody>
      </p:sp>
      <p:sp>
        <p:nvSpPr>
          <p:cNvPr id="1064" name="TextBox 6"/>
          <p:cNvSpPr txBox="1"/>
          <p:nvPr/>
        </p:nvSpPr>
        <p:spPr>
          <a:xfrm>
            <a:off x="7909559" y="2286000"/>
            <a:ext cx="3017520" cy="3749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문제: 첫 판(적정의 0.6~0.75배)에서 일반 벽은 뚫리는데 계단 벽만 거의 안 깎임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계단 벽 감산 지수 0.5 → 1.5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계단 벽 체력 ×0.4 → ×1.0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둘 다 1층 → 10층 사이 고르게 (2층 계단 벽 1.06만 → 0.49만)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1~4층 통과선 0.78 → 0.56~0.64배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계단 방이 바로 옆이어도 계단 벽 몫은 경로 합의 절반 (예전엔 합 전체 → 두 배로 튐)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10층부터 그대로 → 허들 구조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5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허들 시스템 - 훈장 허들 구조</a:t>
            </a:r>
          </a:p>
        </p:txBody>
      </p:sp>
      <p:cxnSp>
        <p:nvCxnSpPr>
          <p:cNvPr id="1066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Card"/>
          <p:cNvSpPr/>
          <p:nvPr/>
        </p:nvSpPr>
        <p:spPr>
          <a:xfrm>
            <a:off x="1134110" y="1691639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8" name="TextBox 12"/>
          <p:cNvSpPr txBox="1"/>
          <p:nvPr/>
        </p:nvSpPr>
        <p:spPr>
          <a:xfrm>
            <a:off x="1316990" y="180086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200" b="0">
                <a:solidFill>
                  <a:srgbClr val="000000"/>
                </a:solidFill>
                <a:latin typeface="Noto Sans KR Black"/>
                <a:ea typeface="Noto Sans KR Black"/>
              </a:rPr>
              <a:t>1단계</a:t>
            </a:r>
            <a:r>
              <a:rPr lang="ko-KR" altLang="en-US" sz="1400" b="0">
                <a:solidFill>
                  <a:srgbClr val="6B5E54"/>
                </a:solidFill>
                <a:latin typeface="Noto Sans KR"/>
                <a:ea typeface="Noto Sans KR"/>
              </a:rPr>
              <a:t>   막힘</a:t>
            </a:r>
          </a:p>
        </p:txBody>
      </p:sp>
      <p:sp>
        <p:nvSpPr>
          <p:cNvPr id="1069" name="TextBox 9"/>
          <p:cNvSpPr txBox="1"/>
          <p:nvPr/>
        </p:nvSpPr>
        <p:spPr>
          <a:xfrm>
            <a:off x="1316990" y="2423160"/>
            <a:ext cx="2651760" cy="241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다음 훈장 조건 층 바로 앞 층이 허들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지금 훈장 트리를 다 찍어야 겨우 넘음 (전투력 ≈ 적정)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덜 키웠으면 여기서 판 종료</a:t>
            </a:r>
          </a:p>
        </p:txBody>
      </p:sp>
      <p:cxnSp>
        <p:nvCxnSpPr>
          <p:cNvPr id="1070" name="Arrow"/>
          <p:cNvCxnSpPr/>
          <p:nvPr/>
        </p:nvCxnSpPr>
        <p:spPr>
          <a:xfrm>
            <a:off x="4178300" y="3337560"/>
            <a:ext cx="35687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1" name="Card"/>
          <p:cNvSpPr/>
          <p:nvPr/>
        </p:nvSpPr>
        <p:spPr>
          <a:xfrm>
            <a:off x="4563110" y="1691639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2" name="TextBox 12"/>
          <p:cNvSpPr txBox="1"/>
          <p:nvPr/>
        </p:nvSpPr>
        <p:spPr>
          <a:xfrm>
            <a:off x="4745990" y="180086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200" b="0">
                <a:solidFill>
                  <a:srgbClr val="000000"/>
                </a:solidFill>
                <a:latin typeface="Noto Sans KR Black"/>
                <a:ea typeface="Noto Sans KR Black"/>
              </a:rPr>
              <a:t>2단계</a:t>
            </a:r>
            <a:r>
              <a:rPr lang="ko-KR" altLang="en-US" sz="1400" b="0">
                <a:solidFill>
                  <a:srgbClr val="6B5E54"/>
                </a:solidFill>
                <a:latin typeface="Noto Sans KR"/>
                <a:ea typeface="Noto Sans KR"/>
              </a:rPr>
              <a:t>   승급</a:t>
            </a:r>
          </a:p>
        </p:txBody>
      </p:sp>
      <p:sp>
        <p:nvSpPr>
          <p:cNvPr id="1073" name="TextBox 9"/>
          <p:cNvSpPr txBox="1"/>
          <p:nvPr/>
        </p:nvSpPr>
        <p:spPr>
          <a:xfrm>
            <a:off x="4745990" y="2423160"/>
            <a:ext cx="2651760" cy="241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조건 층 도달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연구자료 (조건 층 보상 × 3.6)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조각 레벨 합 · 스킬 트리 전부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11훈장부터 도감 수</a:t>
            </a:r>
          </a:p>
        </p:txBody>
      </p:sp>
      <p:cxnSp>
        <p:nvCxnSpPr>
          <p:cNvPr id="1074" name="Arrow"/>
          <p:cNvCxnSpPr/>
          <p:nvPr/>
        </p:nvCxnSpPr>
        <p:spPr>
          <a:xfrm>
            <a:off x="7607300" y="3337560"/>
            <a:ext cx="35687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5" name="Card"/>
          <p:cNvSpPr/>
          <p:nvPr/>
        </p:nvSpPr>
        <p:spPr>
          <a:xfrm>
            <a:off x="7992109" y="1691639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6" name="TextBox 12"/>
          <p:cNvSpPr txBox="1"/>
          <p:nvPr/>
        </p:nvSpPr>
        <p:spPr>
          <a:xfrm>
            <a:off x="8174989" y="180086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200" b="0">
                <a:solidFill>
                  <a:srgbClr val="000000"/>
                </a:solidFill>
                <a:latin typeface="Noto Sans KR Black"/>
                <a:ea typeface="Noto Sans KR Black"/>
              </a:rPr>
              <a:t>3단계</a:t>
            </a:r>
            <a:r>
              <a:rPr lang="ko-KR" altLang="en-US" sz="1400" b="0">
                <a:solidFill>
                  <a:srgbClr val="6B5E54"/>
                </a:solidFill>
                <a:latin typeface="Noto Sans KR"/>
                <a:ea typeface="Noto Sans KR"/>
              </a:rPr>
              <a:t>   돌파</a:t>
            </a:r>
          </a:p>
        </p:txBody>
      </p:sp>
      <p:sp>
        <p:nvSpPr>
          <p:cNvPr id="1077" name="TextBox 9"/>
          <p:cNvSpPr txBox="1"/>
          <p:nvPr/>
        </p:nvSpPr>
        <p:spPr>
          <a:xfrm>
            <a:off x="8174989" y="2423160"/>
            <a:ext cx="2651760" cy="241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새 훈장 트리로 전투력 상승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허들 다음 층 적정이 0.8~1.0배로 내려감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몇 층을 시원하게 뚫고 다음 허들까지</a:t>
            </a:r>
          </a:p>
        </p:txBody>
      </p:sp>
      <p:sp>
        <p:nvSpPr>
          <p:cNvPr id="1078" name="TextBox 14"/>
          <p:cNvSpPr txBox="1"/>
          <p:nvPr/>
        </p:nvSpPr>
        <p:spPr>
          <a:xfrm>
            <a:off x="1134110" y="5257800"/>
            <a:ext cx="9930130" cy="5067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400"/>
              </a:spcAft>
            </a:pPr>
            <a:r>
              <a:rPr lang="ko-KR" altLang="en-US" sz="1300" b="0" dirty="0">
                <a:solidFill>
                  <a:srgbClr val="6B5E54"/>
                </a:solidFill>
                <a:latin typeface="Noto Sans KR"/>
                <a:ea typeface="Noto Sans KR"/>
              </a:rPr>
              <a:t>보스 층(5층마다)은 적정 ×1.15 의 가벼운 허들 — 막힘은 대부분 훈장 허들 층에서 생기게 설계</a:t>
            </a:r>
          </a:p>
          <a:p>
            <a:pPr algn="l" eaLnBrk="1" latinLnBrk="0">
              <a:spcAft>
                <a:spcPts val="400"/>
              </a:spcAft>
            </a:pPr>
            <a:r>
              <a:rPr lang="ko-KR" altLang="en-US" sz="1300" b="0" dirty="0">
                <a:solidFill>
                  <a:srgbClr val="6B5E54"/>
                </a:solidFill>
                <a:latin typeface="Noto Sans KR"/>
                <a:ea typeface="Noto Sans KR"/>
              </a:rPr>
              <a:t>훈장 조건 층 · 허들 · 조각 조건은 Tools/tier_gates.py 한 곳에서 관리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9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허들 시스템 - 훈장 승급 조건 · 시점</a:t>
            </a:r>
          </a:p>
        </p:txBody>
      </p:sp>
      <p:cxnSp>
        <p:nvCxnSpPr>
          <p:cNvPr id="1080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81" name="Table"/>
          <p:cNvGraphicFramePr>
            <a:graphicFrameLocks noGrp="1"/>
          </p:cNvGraphicFramePr>
          <p:nvPr/>
        </p:nvGraphicFramePr>
        <p:xfrm>
          <a:off x="1134110" y="1549400"/>
          <a:ext cx="993140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1200"/>
                <a:gridCol w="1905000"/>
                <a:gridCol w="1041400"/>
                <a:gridCol w="1041400"/>
                <a:gridCol w="1041400"/>
                <a:gridCol w="1397000"/>
                <a:gridCol w="1397000"/>
                <a:gridCol w="1397000"/>
              </a:tblGrid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이름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조건 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허들 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조각 합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승급 연구자료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승급 (클릭)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승급 (미클릭)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도둑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0.5h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하수구 정찰병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0.7h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탈출 설계자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연구소 브로커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1.6h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2.1h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반란 지휘관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1,700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2.2h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2.8h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쥐들의 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4,070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2.8h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3.6h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전설의 탈옥왕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34층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3.5h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4.5h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지하 제국 총독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41층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2.7만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4.1h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5.0h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초월 실험체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47층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46층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4.5만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5.7h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연구소 점령자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53층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52층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5.1h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도시의 그림자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38만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5.6h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7.0h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공화국 의장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64층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108만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7.8h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행성 탈출자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161만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6.7h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은하 방랑자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78층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77층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242만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7.1h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8.9h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찍찍!! 신화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84층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403만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7.7h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2" name="TextBox 14"/>
          <p:cNvSpPr txBox="1"/>
          <p:nvPr/>
        </p:nvSpPr>
        <p:spPr>
          <a:xfrm>
            <a:off x="1134110" y="6070600"/>
            <a:ext cx="9930130" cy="381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400"/>
              </a:spcAft>
            </a:pPr>
            <a:r>
              <a:rPr lang="ko-KR" altLang="en-US" sz="1300" b="0" dirty="0">
                <a:solidFill>
                  <a:srgbClr val="6B5E54"/>
                </a:solidFill>
                <a:latin typeface="Noto Sans KR"/>
                <a:ea typeface="Noto Sans KR"/>
              </a:rPr>
              <a:t>승급 시점 = 시뮬레이션(balance_sim) 기준 누적 플레이 시간 · 16훈장 트리 전부는 92층 허들 · 11훈장부터 도감 수 조건 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3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허들 시스템 - 승급 간격</a:t>
            </a:r>
          </a:p>
        </p:txBody>
      </p:sp>
      <p:cxnSp>
        <p:nvCxnSpPr>
          <p:cNvPr id="1084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85" name="Chart 1084"/>
          <p:cNvGraphicFramePr>
            <a:graphicFrameLocks noGrp="1"/>
          </p:cNvGraphicFramePr>
          <p:nvPr/>
        </p:nvGraphicFramePr>
        <p:xfrm>
          <a:off x="1134110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85" name="Card"/>
          <p:cNvSpPr/>
          <p:nvPr/>
        </p:nvSpPr>
        <p:spPr>
          <a:xfrm>
            <a:off x="7726680" y="1691639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6" name="TextBox 5"/>
          <p:cNvSpPr txBox="1"/>
          <p:nvPr/>
        </p:nvSpPr>
        <p:spPr>
          <a:xfrm>
            <a:off x="7863840" y="1800860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800" b="1">
                <a:solidFill>
                  <a:srgbClr val="000000"/>
                </a:solidFill>
                <a:latin typeface="Noto Sans KR"/>
                <a:ea typeface="Noto Sans KR"/>
              </a:rPr>
              <a:t>분석</a:t>
            </a:r>
          </a:p>
        </p:txBody>
      </p:sp>
      <p:sp>
        <p:nvSpPr>
          <p:cNvPr id="1087" name="TextBox 6"/>
          <p:cNvSpPr txBox="1"/>
          <p:nvPr/>
        </p:nvSpPr>
        <p:spPr>
          <a:xfrm>
            <a:off x="7909559" y="2286000"/>
            <a:ext cx="3017520" cy="3749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승급 간격 클릭 0.24~0.74h · 미클릭 0.37~0.88h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평균 간격 클릭 0.51h · 미클릭 0.62h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긴 간격: 8훈장 · 13훈장 (비용이 앞 훈장보다 크게 뜀)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짧은 간격: 3훈장 · 10훈장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16훈장: 클릭 7.7h · 미클릭 9.4h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8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허들 시스템 - 시작 층 규칙</a:t>
            </a:r>
          </a:p>
        </p:txBody>
      </p:sp>
      <p:cxnSp>
        <p:nvCxnSpPr>
          <p:cNvPr id="1089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Card"/>
          <p:cNvSpPr/>
          <p:nvPr/>
        </p:nvSpPr>
        <p:spPr>
          <a:xfrm>
            <a:off x="1134110" y="164592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1" name="TextBox 4"/>
          <p:cNvSpPr txBox="1"/>
          <p:nvPr/>
        </p:nvSpPr>
        <p:spPr>
          <a:xfrm>
            <a:off x="1325880" y="182880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1. 시작 층 상한</a:t>
            </a:r>
          </a:p>
        </p:txBody>
      </p:sp>
      <p:sp>
        <p:nvSpPr>
          <p:cNvPr id="1092" name="TextBox 5"/>
          <p:cNvSpPr txBox="1"/>
          <p:nvPr/>
        </p:nvSpPr>
        <p:spPr>
          <a:xfrm>
            <a:off x="4114800" y="184658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최고 클리어 층 − 3 (모든 층 같은 규칙, 2026-10-21 완화 — 예전엔 17층 클리어해도 10층부터)</a:t>
            </a:r>
          </a:p>
        </p:txBody>
      </p:sp>
      <p:sp>
        <p:nvSpPr>
          <p:cNvPr id="1093" name="Card"/>
          <p:cNvSpPr/>
          <p:nvPr/>
        </p:nvSpPr>
        <p:spPr>
          <a:xfrm>
            <a:off x="1134110" y="254254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4" name="TextBox 4"/>
          <p:cNvSpPr txBox="1"/>
          <p:nvPr/>
        </p:nvSpPr>
        <p:spPr>
          <a:xfrm>
            <a:off x="1325880" y="27254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2. 허들 아래로 안 감</a:t>
            </a:r>
          </a:p>
        </p:txBody>
      </p:sp>
      <p:sp>
        <p:nvSpPr>
          <p:cNvPr id="1095" name="TextBox 5"/>
          <p:cNvSpPr txBox="1"/>
          <p:nvPr/>
        </p:nvSpPr>
        <p:spPr>
          <a:xfrm>
            <a:off x="4114800" y="274320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넘은 훈장 허들 다음 층보다 아래로는 내려가지 않음 → 넘은 허들을 다시 안 넘어도 됨</a:t>
            </a:r>
          </a:p>
        </p:txBody>
      </p:sp>
      <p:sp>
        <p:nvSpPr>
          <p:cNvPr id="1096" name="Card"/>
          <p:cNvSpPr/>
          <p:nvPr/>
        </p:nvSpPr>
        <p:spPr>
          <a:xfrm>
            <a:off x="1134110" y="3439159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7" name="TextBox 4"/>
          <p:cNvSpPr txBox="1"/>
          <p:nvPr/>
        </p:nvSpPr>
        <p:spPr>
          <a:xfrm>
            <a:off x="1325880" y="3622039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3. 스테이지 스킵 노드</a:t>
            </a:r>
          </a:p>
        </p:txBody>
      </p:sp>
      <p:sp>
        <p:nvSpPr>
          <p:cNvPr id="1098" name="TextBox 5"/>
          <p:cNvSpPr txBox="1"/>
          <p:nvPr/>
        </p:nvSpPr>
        <p:spPr>
          <a:xfrm>
            <a:off x="4114800" y="3639819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공용 스킬 노드로 상한까지 시작 층을 올림 (훈장별 누적 7 · 11 · 15 … 99층)</a:t>
            </a:r>
          </a:p>
        </p:txBody>
      </p:sp>
      <p:sp>
        <p:nvSpPr>
          <p:cNvPr id="1099" name="Card"/>
          <p:cNvSpPr/>
          <p:nvPr/>
        </p:nvSpPr>
        <p:spPr>
          <a:xfrm>
            <a:off x="1134110" y="433578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0" name="TextBox 4"/>
          <p:cNvSpPr txBox="1"/>
          <p:nvPr/>
        </p:nvSpPr>
        <p:spPr>
          <a:xfrm>
            <a:off x="1325880" y="4518659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4. 판 길이</a:t>
            </a:r>
          </a:p>
        </p:txBody>
      </p:sp>
      <p:sp>
        <p:nvSpPr>
          <p:cNvPr id="1101" name="TextBox 5"/>
          <p:cNvSpPr txBox="1"/>
          <p:nvPr/>
        </p:nvSpPr>
        <p:spPr>
          <a:xfrm>
            <a:off x="4114800" y="453644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판 하나 7~25분 (평균 14분), 시작 층과 최고 클리어 차이 3층 이하</a:t>
            </a:r>
          </a:p>
        </p:txBody>
      </p:sp>
      <p:sp>
        <p:nvSpPr>
          <p:cNvPr id="1102" name="Card"/>
          <p:cNvSpPr/>
          <p:nvPr/>
        </p:nvSpPr>
        <p:spPr>
          <a:xfrm>
            <a:off x="1134110" y="523240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3" name="TextBox 4"/>
          <p:cNvSpPr txBox="1"/>
          <p:nvPr/>
        </p:nvSpPr>
        <p:spPr>
          <a:xfrm>
            <a:off x="1325880" y="541528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5. 남은 위험</a:t>
            </a:r>
          </a:p>
        </p:txBody>
      </p:sp>
      <p:sp>
        <p:nvSpPr>
          <p:cNvPr id="1104" name="TextBox 5"/>
          <p:cNvSpPr txBox="1"/>
          <p:nvPr/>
        </p:nvSpPr>
        <p:spPr>
          <a:xfrm>
            <a:off x="4114800" y="543306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판 첫 층에서 쥐가 적은 채로 높은 층을 만나는 손해 → 실제 플레이로 확인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5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분석 - 시뮬레이션 결과</a:t>
            </a:r>
          </a:p>
        </p:txBody>
      </p:sp>
      <p:cxnSp>
        <p:nvCxnSpPr>
          <p:cNvPr id="1106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7" name="Card"/>
          <p:cNvSpPr/>
          <p:nvPr/>
        </p:nvSpPr>
        <p:spPr>
          <a:xfrm>
            <a:off x="11341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8" name="TextBox 4"/>
          <p:cNvSpPr txBox="1"/>
          <p:nvPr/>
        </p:nvSpPr>
        <p:spPr>
          <a:xfrm>
            <a:off x="11341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8.0h</a:t>
            </a:r>
          </a:p>
        </p:txBody>
      </p:sp>
      <p:sp>
        <p:nvSpPr>
          <p:cNvPr id="1109" name="TextBox 5"/>
          <p:cNvSpPr txBox="1"/>
          <p:nvPr/>
        </p:nvSpPr>
        <p:spPr>
          <a:xfrm>
            <a:off x="11341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클릭 적극 100층 (목표 10h)</a:t>
            </a:r>
          </a:p>
        </p:txBody>
      </p:sp>
      <p:sp>
        <p:nvSpPr>
          <p:cNvPr id="1110" name="Card"/>
          <p:cNvSpPr/>
          <p:nvPr/>
        </p:nvSpPr>
        <p:spPr>
          <a:xfrm>
            <a:off x="36487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1" name="TextBox 4"/>
          <p:cNvSpPr txBox="1"/>
          <p:nvPr/>
        </p:nvSpPr>
        <p:spPr>
          <a:xfrm>
            <a:off x="36487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9.8h</a:t>
            </a:r>
          </a:p>
        </p:txBody>
      </p:sp>
      <p:sp>
        <p:nvSpPr>
          <p:cNvPr id="1112" name="TextBox 5"/>
          <p:cNvSpPr txBox="1"/>
          <p:nvPr/>
        </p:nvSpPr>
        <p:spPr>
          <a:xfrm>
            <a:off x="36487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거의 안 함 100층 (목표 15h)</a:t>
            </a:r>
          </a:p>
        </p:txBody>
      </p:sp>
      <p:sp>
        <p:nvSpPr>
          <p:cNvPr id="1113" name="Card"/>
          <p:cNvSpPr/>
          <p:nvPr/>
        </p:nvSpPr>
        <p:spPr>
          <a:xfrm>
            <a:off x="61633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4" name="TextBox 4"/>
          <p:cNvSpPr txBox="1"/>
          <p:nvPr/>
        </p:nvSpPr>
        <p:spPr>
          <a:xfrm>
            <a:off x="61633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35판</a:t>
            </a:r>
          </a:p>
        </p:txBody>
      </p:sp>
      <p:sp>
        <p:nvSpPr>
          <p:cNvPr id="1115" name="TextBox 5"/>
          <p:cNvSpPr txBox="1"/>
          <p:nvPr/>
        </p:nvSpPr>
        <p:spPr>
          <a:xfrm>
            <a:off x="61633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클릭 판 수 (미클릭 43판)</a:t>
            </a:r>
          </a:p>
        </p:txBody>
      </p:sp>
      <p:sp>
        <p:nvSpPr>
          <p:cNvPr id="1116" name="Card"/>
          <p:cNvSpPr/>
          <p:nvPr/>
        </p:nvSpPr>
        <p:spPr>
          <a:xfrm>
            <a:off x="8677910" y="1691639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7" name="TextBox 4"/>
          <p:cNvSpPr txBox="1"/>
          <p:nvPr/>
        </p:nvSpPr>
        <p:spPr>
          <a:xfrm>
            <a:off x="8677910" y="18745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3400" b="0" dirty="0">
                <a:solidFill>
                  <a:srgbClr val="000000"/>
                </a:solidFill>
                <a:latin typeface="Noto Sans KR Black"/>
                <a:ea typeface="Noto Sans KR Black"/>
              </a:rPr>
              <a:t>74%</a:t>
            </a:r>
          </a:p>
        </p:txBody>
      </p:sp>
      <p:sp>
        <p:nvSpPr>
          <p:cNvPr id="1118" name="TextBox 5"/>
          <p:cNvSpPr txBox="1"/>
          <p:nvPr/>
        </p:nvSpPr>
        <p:spPr>
          <a:xfrm>
            <a:off x="8677910" y="2606040"/>
            <a:ext cx="2286000" cy="4864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6B5E54"/>
                </a:solidFill>
                <a:latin typeface="Noto Sans KR"/>
                <a:ea typeface="Noto Sans KR"/>
              </a:rPr>
              <a:t>판이 훈장 허들 층에서 끝난 비율</a:t>
            </a:r>
          </a:p>
        </p:txBody>
      </p:sp>
      <p:graphicFrame>
        <p:nvGraphicFramePr>
          <p:cNvPr id="1119" name="Table"/>
          <p:cNvGraphicFramePr>
            <a:graphicFrameLocks noGrp="1"/>
          </p:cNvGraphicFramePr>
          <p:nvPr/>
        </p:nvGraphicFramePr>
        <p:xfrm>
          <a:off x="1134110" y="3556000"/>
          <a:ext cx="9930130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6000"/>
                <a:gridCol w="2540000"/>
                <a:gridCol w="2540000"/>
                <a:gridCol w="2564130"/>
              </a:tblGrid>
              <a:tr h="3556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 (첫 클리어)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목표 (누적)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클릭 적극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거의 안 함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2.6h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6.5h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4.6h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5.9h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6.7h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8.4h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클릭 10h · 미클릭 15h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8.0h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9.8h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0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분석 - 막힘 분석</a:t>
            </a:r>
          </a:p>
        </p:txBody>
      </p:sp>
      <p:cxnSp>
        <p:nvCxnSpPr>
          <p:cNvPr id="1121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22" name="Chart 1121"/>
          <p:cNvGraphicFramePr>
            <a:graphicFrameLocks noGrp="1"/>
          </p:cNvGraphicFramePr>
          <p:nvPr/>
        </p:nvGraphicFramePr>
        <p:xfrm>
          <a:off x="1134110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22" name="Card"/>
          <p:cNvSpPr/>
          <p:nvPr/>
        </p:nvSpPr>
        <p:spPr>
          <a:xfrm>
            <a:off x="7726680" y="1691639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3" name="TextBox 5"/>
          <p:cNvSpPr txBox="1"/>
          <p:nvPr/>
        </p:nvSpPr>
        <p:spPr>
          <a:xfrm>
            <a:off x="7863840" y="1800860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eaLnBrk="1" latinLnBrk="0">
              <a:spcAft>
                <a:spcPts val="0"/>
              </a:spcAft>
            </a:pPr>
            <a:r>
              <a:rPr lang="ko-KR" altLang="en-US" sz="1800" b="1">
                <a:solidFill>
                  <a:srgbClr val="000000"/>
                </a:solidFill>
                <a:latin typeface="Noto Sans KR"/>
                <a:ea typeface="Noto Sans KR"/>
              </a:rPr>
              <a:t>분석</a:t>
            </a:r>
          </a:p>
        </p:txBody>
      </p:sp>
      <p:sp>
        <p:nvSpPr>
          <p:cNvPr id="1124" name="TextBox 6"/>
          <p:cNvSpPr txBox="1"/>
          <p:nvPr/>
        </p:nvSpPr>
        <p:spPr>
          <a:xfrm>
            <a:off x="7909559" y="2286000"/>
            <a:ext cx="3017520" cy="3749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판이 끝난 층의 약 3/4 이 훈장 허들 층 (클릭 25/34 · 미클릭 31/42)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허들 하나당 1~3판 막힘 → 설계 의도대로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허들 밖: 4층(첫 판) · 22 · 33층(허들 바로 앞) · 30 · 50층(보스)</a:t>
            </a:r>
          </a:p>
          <a:p>
            <a:pPr marL="201168" indent="-182880" algn="l" eaLnBrk="1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b="0">
                <a:solidFill>
                  <a:srgbClr val="000000"/>
                </a:solidFill>
                <a:latin typeface="Noto Sans KR"/>
                <a:ea typeface="Noto Sans KR"/>
              </a:rPr>
              <a:t>보스 층은 거의 안 막힘 = 가벼운 허들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5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분석 - 문제점</a:t>
            </a:r>
          </a:p>
        </p:txBody>
      </p:sp>
      <p:cxnSp>
        <p:nvCxnSpPr>
          <p:cNvPr id="1126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" name="Card"/>
          <p:cNvSpPr/>
          <p:nvPr/>
        </p:nvSpPr>
        <p:spPr>
          <a:xfrm>
            <a:off x="1134110" y="164592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8" name="TextBox 4"/>
          <p:cNvSpPr txBox="1"/>
          <p:nvPr/>
        </p:nvSpPr>
        <p:spPr>
          <a:xfrm>
            <a:off x="1325880" y="182880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1. 짧은 플레이 시간</a:t>
            </a:r>
          </a:p>
        </p:txBody>
      </p:sp>
      <p:sp>
        <p:nvSpPr>
          <p:cNvPr id="1129" name="TextBox 5"/>
          <p:cNvSpPr txBox="1"/>
          <p:nvPr/>
        </p:nvSpPr>
        <p:spPr>
          <a:xfrm>
            <a:off x="4114800" y="184658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클릭 8.0h · 미클릭 9.8h (목표 10h · 15h), 클릭 · 미클릭 차이가 1.2배뿐 (목표 1.5배)</a:t>
            </a:r>
          </a:p>
        </p:txBody>
      </p:sp>
      <p:sp>
        <p:nvSpPr>
          <p:cNvPr id="1130" name="Card"/>
          <p:cNvSpPr/>
          <p:nvPr/>
        </p:nvSpPr>
        <p:spPr>
          <a:xfrm>
            <a:off x="1134110" y="254254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1" name="TextBox 4"/>
          <p:cNvSpPr txBox="1"/>
          <p:nvPr/>
        </p:nvSpPr>
        <p:spPr>
          <a:xfrm>
            <a:off x="1325880" y="27254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2. 초반 계단 벽</a:t>
            </a:r>
          </a:p>
        </p:txBody>
      </p:sp>
      <p:sp>
        <p:nvSpPr>
          <p:cNvPr id="1132" name="TextBox 5"/>
          <p:cNvSpPr txBox="1"/>
          <p:nvPr/>
        </p:nvSpPr>
        <p:spPr>
          <a:xfrm>
            <a:off x="4114800" y="274320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첫 판 전투력이 적정의 0.6~0.75배 → 계단 벽만 안 깎임 (1~9층 완화 · 바로 옆 계단 방 쏠림 수정, Play 확인 필요)</a:t>
            </a:r>
          </a:p>
        </p:txBody>
      </p:sp>
      <p:sp>
        <p:nvSpPr>
          <p:cNvPr id="1133" name="Card"/>
          <p:cNvSpPr/>
          <p:nvPr/>
        </p:nvSpPr>
        <p:spPr>
          <a:xfrm>
            <a:off x="1134110" y="3439159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4" name="TextBox 4"/>
          <p:cNvSpPr txBox="1"/>
          <p:nvPr/>
        </p:nvSpPr>
        <p:spPr>
          <a:xfrm>
            <a:off x="1325880" y="3622039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3. 허들 앞 층 막힘</a:t>
            </a:r>
          </a:p>
        </p:txBody>
      </p:sp>
      <p:sp>
        <p:nvSpPr>
          <p:cNvPr id="1135" name="TextBox 5"/>
          <p:cNvSpPr txBox="1"/>
          <p:nvPr/>
        </p:nvSpPr>
        <p:spPr>
          <a:xfrm>
            <a:off x="4114800" y="3639819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22 · 33층처럼 허들 바로 앞 보통 층에서 판이 끝남 — 허들 직전 추세가 가파름</a:t>
            </a:r>
          </a:p>
        </p:txBody>
      </p:sp>
      <p:sp>
        <p:nvSpPr>
          <p:cNvPr id="1136" name="Card"/>
          <p:cNvSpPr/>
          <p:nvPr/>
        </p:nvSpPr>
        <p:spPr>
          <a:xfrm>
            <a:off x="1134110" y="433578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7" name="TextBox 4"/>
          <p:cNvSpPr txBox="1"/>
          <p:nvPr/>
        </p:nvSpPr>
        <p:spPr>
          <a:xfrm>
            <a:off x="1325880" y="4518659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4. 가정값 미측정</a:t>
            </a:r>
          </a:p>
        </p:txBody>
      </p:sp>
      <p:sp>
        <p:nvSpPr>
          <p:cNvPr id="1138" name="TextBox 5"/>
          <p:cNvSpPr txBox="1"/>
          <p:nvPr/>
        </p:nvSpPr>
        <p:spPr>
          <a:xfrm>
            <a:off x="4114800" y="453644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31층~ 전투력 · 미클릭 배율(1.35) · 층당 출생은 추정값 → 대표 층 측정 필요</a:t>
            </a:r>
          </a:p>
        </p:txBody>
      </p:sp>
      <p:sp>
        <p:nvSpPr>
          <p:cNvPr id="1139" name="Card"/>
          <p:cNvSpPr/>
          <p:nvPr/>
        </p:nvSpPr>
        <p:spPr>
          <a:xfrm>
            <a:off x="1134110" y="523240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0" name="TextBox 4"/>
          <p:cNvSpPr txBox="1"/>
          <p:nvPr/>
        </p:nvSpPr>
        <p:spPr>
          <a:xfrm>
            <a:off x="1325880" y="541528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5. 9훈장 자동 승급</a:t>
            </a:r>
          </a:p>
        </p:txBody>
      </p:sp>
      <p:sp>
        <p:nvSpPr>
          <p:cNvPr id="1141" name="TextBox 5"/>
          <p:cNvSpPr txBox="1"/>
          <p:nvPr/>
        </p:nvSpPr>
        <p:spPr>
          <a:xfrm>
            <a:off x="4114800" y="543306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자동 승급이 쥐 수를 줄여 오히려 약해짐 (측정 때 끔) — 설계 결정 필요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42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개선 - 단계별 적용</a:t>
            </a:r>
          </a:p>
        </p:txBody>
      </p:sp>
      <p:cxnSp>
        <p:nvCxnSpPr>
          <p:cNvPr id="1143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4" name="Card"/>
          <p:cNvSpPr/>
          <p:nvPr/>
        </p:nvSpPr>
        <p:spPr>
          <a:xfrm>
            <a:off x="1134110" y="1691639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5" name="TextBox 12"/>
          <p:cNvSpPr txBox="1"/>
          <p:nvPr/>
        </p:nvSpPr>
        <p:spPr>
          <a:xfrm>
            <a:off x="1316990" y="180086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200" b="0">
                <a:solidFill>
                  <a:srgbClr val="000000"/>
                </a:solidFill>
                <a:latin typeface="Noto Sans KR Black"/>
                <a:ea typeface="Noto Sans KR Black"/>
              </a:rPr>
              <a:t>1단계</a:t>
            </a:r>
            <a:r>
              <a:rPr lang="ko-KR" altLang="en-US" sz="1400" b="0">
                <a:solidFill>
                  <a:srgbClr val="6B5E54"/>
                </a:solidFill>
                <a:latin typeface="Noto Sans KR"/>
                <a:ea typeface="Noto Sans KR"/>
              </a:rPr>
              <a:t>   측정</a:t>
            </a:r>
          </a:p>
        </p:txBody>
      </p:sp>
      <p:sp>
        <p:nvSpPr>
          <p:cNvPr id="1146" name="TextBox 9"/>
          <p:cNvSpPr txBox="1"/>
          <p:nvPr/>
        </p:nvSpPr>
        <p:spPr>
          <a:xfrm>
            <a:off x="1316990" y="2423160"/>
            <a:ext cx="2651760" cy="241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초반 1~10층 실제 판 (계단 벽 완화 확인)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대표 층 5곳 측정 (31~100층)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훈장별 전투력 · 시간 모델 보정</a:t>
            </a:r>
          </a:p>
        </p:txBody>
      </p:sp>
      <p:cxnSp>
        <p:nvCxnSpPr>
          <p:cNvPr id="1147" name="Arrow"/>
          <p:cNvCxnSpPr/>
          <p:nvPr/>
        </p:nvCxnSpPr>
        <p:spPr>
          <a:xfrm>
            <a:off x="4178300" y="3337560"/>
            <a:ext cx="35687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8" name="Card"/>
          <p:cNvSpPr/>
          <p:nvPr/>
        </p:nvSpPr>
        <p:spPr>
          <a:xfrm>
            <a:off x="4563110" y="1691639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9" name="TextBox 12"/>
          <p:cNvSpPr txBox="1"/>
          <p:nvPr/>
        </p:nvSpPr>
        <p:spPr>
          <a:xfrm>
            <a:off x="4745990" y="180086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200" b="0">
                <a:solidFill>
                  <a:srgbClr val="000000"/>
                </a:solidFill>
                <a:latin typeface="Noto Sans KR Black"/>
                <a:ea typeface="Noto Sans KR Black"/>
              </a:rPr>
              <a:t>2단계</a:t>
            </a:r>
            <a:r>
              <a:rPr lang="ko-KR" altLang="en-US" sz="1400" b="0">
                <a:solidFill>
                  <a:srgbClr val="6B5E54"/>
                </a:solidFill>
                <a:latin typeface="Noto Sans KR"/>
                <a:ea typeface="Noto Sans KR"/>
              </a:rPr>
              <a:t>   조정</a:t>
            </a:r>
          </a:p>
        </p:txBody>
      </p:sp>
      <p:sp>
        <p:nvSpPr>
          <p:cNvPr id="1150" name="TextBox 9"/>
          <p:cNvSpPr txBox="1"/>
          <p:nvPr/>
        </p:nvSpPr>
        <p:spPr>
          <a:xfrm>
            <a:off x="4745990" y="2423160"/>
            <a:ext cx="2651760" cy="241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허들 앞 층 추세를 완만하게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시간을 늘릴 땐 승급 비용(RANK_K) 또는 시작 층 −4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허들 하나당 막힘 판 수 맞추기</a:t>
            </a:r>
          </a:p>
        </p:txBody>
      </p:sp>
      <p:cxnSp>
        <p:nvCxnSpPr>
          <p:cNvPr id="1151" name="Arrow"/>
          <p:cNvCxnSpPr/>
          <p:nvPr/>
        </p:nvCxnSpPr>
        <p:spPr>
          <a:xfrm>
            <a:off x="7607300" y="3337560"/>
            <a:ext cx="35687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2" name="Card"/>
          <p:cNvSpPr/>
          <p:nvPr/>
        </p:nvSpPr>
        <p:spPr>
          <a:xfrm>
            <a:off x="7992109" y="1691639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3" name="TextBox 12"/>
          <p:cNvSpPr txBox="1"/>
          <p:nvPr/>
        </p:nvSpPr>
        <p:spPr>
          <a:xfrm>
            <a:off x="8174989" y="180086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2200" b="0">
                <a:solidFill>
                  <a:srgbClr val="000000"/>
                </a:solidFill>
                <a:latin typeface="Noto Sans KR Black"/>
                <a:ea typeface="Noto Sans KR Black"/>
              </a:rPr>
              <a:t>3단계</a:t>
            </a:r>
            <a:r>
              <a:rPr lang="ko-KR" altLang="en-US" sz="1400" b="0">
                <a:solidFill>
                  <a:srgbClr val="6B5E54"/>
                </a:solidFill>
                <a:latin typeface="Noto Sans KR"/>
                <a:ea typeface="Noto Sans KR"/>
              </a:rPr>
              <a:t>   검증</a:t>
            </a:r>
          </a:p>
        </p:txBody>
      </p:sp>
      <p:sp>
        <p:nvSpPr>
          <p:cNvPr id="1154" name="TextBox 9"/>
          <p:cNvSpPr txBox="1"/>
          <p:nvPr/>
        </p:nvSpPr>
        <p:spPr>
          <a:xfrm>
            <a:off x="8174989" y="2423160"/>
            <a:ext cx="2651760" cy="241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balance_sim · 엑셀 시뮬레이터로 목표 시간 확인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플레이 테스트로 허들 체감 확인</a:t>
            </a:r>
          </a:p>
          <a:p>
            <a:pPr marL="201168" indent="-182880" latinLnBrk="0">
              <a:spcAft>
                <a:spcPts val="800"/>
              </a:spcAft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/>
                <a:ea typeface="Noto Sans KR"/>
              </a:rPr>
              <a:t>웹 빌드 · itch.io 업데이트</a:t>
            </a:r>
          </a:p>
        </p:txBody>
      </p:sp>
      <p:sp>
        <p:nvSpPr>
          <p:cNvPr id="1155" name="TextBox 14"/>
          <p:cNvSpPr txBox="1"/>
          <p:nvPr/>
        </p:nvSpPr>
        <p:spPr>
          <a:xfrm>
            <a:off x="1134110" y="5257800"/>
            <a:ext cx="9930130" cy="5067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400"/>
              </a:spcAft>
            </a:pPr>
            <a:r>
              <a:rPr lang="ko-KR" altLang="en-US" sz="1300" b="0" dirty="0">
                <a:solidFill>
                  <a:srgbClr val="6B5E54"/>
                </a:solidFill>
                <a:latin typeface="Noto Sans KR"/>
                <a:ea typeface="Noto Sans KR"/>
              </a:rPr>
              <a:t>생성 순서: gen_stage_table → gen_economy → gen_skill_tree → … → xlsx2json → balance_sim</a:t>
            </a:r>
          </a:p>
          <a:p>
            <a:pPr algn="l" eaLnBrk="1" latinLnBrk="0">
              <a:spcAft>
                <a:spcPts val="400"/>
              </a:spcAft>
            </a:pPr>
            <a:r>
              <a:rPr lang="ko-KR" altLang="en-US" sz="1300" b="0" dirty="0">
                <a:solidFill>
                  <a:srgbClr val="6B5E54"/>
                </a:solidFill>
                <a:latin typeface="Noto Sans KR"/>
                <a:ea typeface="Noto Sans KR"/>
              </a:rPr>
              <a:t>초반 계단 벽 수치는 StageManager 인스펙터(earlyStairsHp · earlyGateStairs · earlyEndFloor)에서 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6" name="Title"/>
          <p:cNvSpPr txBox="1"/>
          <p:nvPr/>
        </p:nvSpPr>
        <p:spPr>
          <a:xfrm>
            <a:off x="1033780" y="7137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개선 - 결정 필요 사항</a:t>
            </a:r>
          </a:p>
        </p:txBody>
      </p:sp>
      <p:cxnSp>
        <p:nvCxnSpPr>
          <p:cNvPr id="1157" name="Title Line"/>
          <p:cNvCxnSpPr/>
          <p:nvPr/>
        </p:nvCxnSpPr>
        <p:spPr>
          <a:xfrm>
            <a:off x="1134110" y="1320800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8" name="Card"/>
          <p:cNvSpPr/>
          <p:nvPr/>
        </p:nvSpPr>
        <p:spPr>
          <a:xfrm>
            <a:off x="1134110" y="164592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9" name="TextBox 4"/>
          <p:cNvSpPr txBox="1"/>
          <p:nvPr/>
        </p:nvSpPr>
        <p:spPr>
          <a:xfrm>
            <a:off x="1325880" y="182880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1. 목표 플레이 시간</a:t>
            </a:r>
          </a:p>
        </p:txBody>
      </p:sp>
      <p:sp>
        <p:nvSpPr>
          <p:cNvPr id="1160" name="TextBox 5"/>
          <p:cNvSpPr txBox="1"/>
          <p:nvPr/>
        </p:nvSpPr>
        <p:spPr>
          <a:xfrm>
            <a:off x="4114800" y="184658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지금 클릭 8.0h · 미클릭 9.8h. 10h · 15h 로 늘릴지, 지금 길이를 새 목표로 삼을지</a:t>
            </a:r>
          </a:p>
        </p:txBody>
      </p:sp>
      <p:sp>
        <p:nvSpPr>
          <p:cNvPr id="1161" name="Card"/>
          <p:cNvSpPr/>
          <p:nvPr/>
        </p:nvSpPr>
        <p:spPr>
          <a:xfrm>
            <a:off x="1134110" y="254254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2" name="TextBox 4"/>
          <p:cNvSpPr txBox="1"/>
          <p:nvPr/>
        </p:nvSpPr>
        <p:spPr>
          <a:xfrm>
            <a:off x="1325880" y="27254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2. 클릭 · 미클릭 차이</a:t>
            </a:r>
          </a:p>
        </p:txBody>
      </p:sp>
      <p:sp>
        <p:nvSpPr>
          <p:cNvPr id="1163" name="TextBox 5"/>
          <p:cNvSpPr txBox="1"/>
          <p:nvPr/>
        </p:nvSpPr>
        <p:spPr>
          <a:xfrm>
            <a:off x="4114800" y="274320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클릭 보상(총공격 · 필살기)을 키울지, 미클릭을 더 느리게 둘지</a:t>
            </a:r>
          </a:p>
        </p:txBody>
      </p:sp>
      <p:sp>
        <p:nvSpPr>
          <p:cNvPr id="1164" name="Card"/>
          <p:cNvSpPr/>
          <p:nvPr/>
        </p:nvSpPr>
        <p:spPr>
          <a:xfrm>
            <a:off x="1134110" y="3439159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5" name="TextBox 4"/>
          <p:cNvSpPr txBox="1"/>
          <p:nvPr/>
        </p:nvSpPr>
        <p:spPr>
          <a:xfrm>
            <a:off x="1325880" y="3622039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3. 초반 계단 벽 완화 폭</a:t>
            </a:r>
          </a:p>
        </p:txBody>
      </p:sp>
      <p:sp>
        <p:nvSpPr>
          <p:cNvPr id="1166" name="TextBox 5"/>
          <p:cNvSpPr txBox="1"/>
          <p:nvPr/>
        </p:nvSpPr>
        <p:spPr>
          <a:xfrm>
            <a:off x="4114800" y="3639819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1층 체력 ×0.4 · 지수 0.5 → 10층 원래대로 (바로 옆 계단 방도 절반). 플레이 뒤 확정</a:t>
            </a:r>
          </a:p>
        </p:txBody>
      </p:sp>
      <p:sp>
        <p:nvSpPr>
          <p:cNvPr id="1167" name="Card"/>
          <p:cNvSpPr/>
          <p:nvPr/>
        </p:nvSpPr>
        <p:spPr>
          <a:xfrm>
            <a:off x="1134110" y="433578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8" name="TextBox 4"/>
          <p:cNvSpPr txBox="1"/>
          <p:nvPr/>
        </p:nvSpPr>
        <p:spPr>
          <a:xfrm>
            <a:off x="1325880" y="4518659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4. 허들 세기</a:t>
            </a:r>
          </a:p>
        </p:txBody>
      </p:sp>
      <p:sp>
        <p:nvSpPr>
          <p:cNvPr id="1169" name="TextBox 5"/>
          <p:cNvSpPr txBox="1"/>
          <p:nvPr/>
        </p:nvSpPr>
        <p:spPr>
          <a:xfrm>
            <a:off x="4114800" y="453644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허들 배율 1.3 (넘은 뒤 적정이 내려가는 폭), 허들 하나당 막힘 판 수 목표 (지금 1~3판)</a:t>
            </a:r>
          </a:p>
        </p:txBody>
      </p:sp>
      <p:sp>
        <p:nvSpPr>
          <p:cNvPr id="1170" name="Card"/>
          <p:cNvSpPr/>
          <p:nvPr/>
        </p:nvSpPr>
        <p:spPr>
          <a:xfrm>
            <a:off x="1134110" y="5232400"/>
            <a:ext cx="9930130" cy="7493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1" name="TextBox 4"/>
          <p:cNvSpPr txBox="1"/>
          <p:nvPr/>
        </p:nvSpPr>
        <p:spPr>
          <a:xfrm>
            <a:off x="1325880" y="541528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600" b="1">
                <a:solidFill>
                  <a:srgbClr val="000000"/>
                </a:solidFill>
                <a:latin typeface="Noto Sans KR"/>
                <a:ea typeface="Noto Sans KR"/>
              </a:rPr>
              <a:t>5. 9훈장 자동 승급</a:t>
            </a:r>
          </a:p>
        </p:txBody>
      </p:sp>
      <p:sp>
        <p:nvSpPr>
          <p:cNvPr id="1172" name="TextBox 5"/>
          <p:cNvSpPr txBox="1"/>
          <p:nvPr/>
        </p:nvSpPr>
        <p:spPr>
          <a:xfrm>
            <a:off x="4114800" y="5433060"/>
            <a:ext cx="6812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1400" b="0" dirty="0">
                <a:solidFill>
                  <a:srgbClr val="000000"/>
                </a:solidFill>
                <a:latin typeface="Noto Sans KR"/>
                <a:ea typeface="Noto Sans KR"/>
              </a:rPr>
              <a:t>남길 마릿수를 늘릴지, 꽉 찼을 때만 자동 승급할지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1986</Words>
  <Application>Microsoft Office PowerPoint</Application>
  <PresentationFormat>와이드스크린</PresentationFormat>
  <Paragraphs>348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영웅 김</cp:lastModifiedBy>
  <cp:revision>19</cp:revision>
  <dcterms:created xsi:type="dcterms:W3CDTF">2026-09-29T07:46:10Z</dcterms:created>
  <dcterms:modified xsi:type="dcterms:W3CDTF">2026-10-19T06:45:16Z</dcterms:modified>
</cp:coreProperties>
</file>