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88" r:id="rId37"/>
    <p:sldId id="259" r:id="rId9"/>
    <p:sldId id="260" r:id="rId8"/>
    <p:sldId id="261" r:id="rId10"/>
    <p:sldId id="262" r:id="rId11"/>
    <p:sldId id="263" r:id="rId12"/>
    <p:sldId id="264" r:id="rId13"/>
    <p:sldId id="265" r:id="rId7"/>
    <p:sldId id="266" r:id="rId6"/>
    <p:sldId id="267" r:id="rId5"/>
    <p:sldId id="268" r:id="rId4"/>
    <p:sldId id="269" r:id="rId3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4866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 vs 처음 깬 최고 층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초반</c:v>
                </c:pt>
              </c:strCache>
            </c:strRef>
          </c:tx>
          <c:spPr>
            <a:ln w="34925">
              <a:solidFill>
                <a:srgbClr val="F4B183"/>
              </a:solidFill>
            </a:ln>
          </c:spPr>
          <c:marker>
            <c:symbol val="circle"/>
            <c:size val="6"/>
            <c:spPr>
              <a:solidFill>
                <a:srgbClr val="F4B183"/>
              </a:solidFill>
              <a:ln>
                <a:solidFill>
                  <a:srgbClr val="F4B183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중반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circle"/>
            <c:size val="6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Sheet1!$A$10:$A$20</c:f>
              <c:numCache>
                <c:formatCode>General</c:formatCode>
                <c:ptCount val="11"/>
                <c:pt idx="0">
                  <c:v>0.401</c:v>
                </c:pt>
                <c:pt idx="1">
                  <c:v>0.566</c:v>
                </c:pt>
                <c:pt idx="2">
                  <c:v>0.595</c:v>
                </c:pt>
                <c:pt idx="3">
                  <c:v>0.876</c:v>
                </c:pt>
                <c:pt idx="4">
                  <c:v>0.905</c:v>
                </c:pt>
                <c:pt idx="5">
                  <c:v>1.219</c:v>
                </c:pt>
                <c:pt idx="6">
                  <c:v>1.248</c:v>
                </c:pt>
                <c:pt idx="7">
                  <c:v>1.608</c:v>
                </c:pt>
                <c:pt idx="8">
                  <c:v>1.637</c:v>
                </c:pt>
                <c:pt idx="9">
                  <c:v>2.049</c:v>
                </c:pt>
                <c:pt idx="10">
                  <c:v>2.078</c:v>
                </c:pt>
              </c:numCache>
            </c:numRef>
          </c:xVal>
          <c:yVal>
            <c:numRef>
              <c:f>Sheet1!$B$10:$B$20</c:f>
              <c:numCache>
                <c:formatCode>General</c:formatCod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Sheet1!$B$22</c:f>
              <c:strCache>
                <c:ptCount val="1"/>
                <c:pt idx="0">
                  <c:v>후반</c:v>
                </c:pt>
              </c:strCache>
            </c:strRef>
          </c:tx>
          <c:spPr>
            <a:ln w="34925">
              <a:solidFill>
                <a:srgbClr val="8C8C8C"/>
              </a:solidFill>
            </a:ln>
          </c:spPr>
          <c:marker>
            <c:symbol val="circle"/>
            <c:size val="6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Sheet1!$A$23:$A$28</c:f>
              <c:numCache>
                <c:formatCode>General</c:formatCode>
                <c:ptCount val="6"/>
                <c:pt idx="0">
                  <c:v>2.078</c:v>
                </c:pt>
                <c:pt idx="1">
                  <c:v>2.965</c:v>
                </c:pt>
                <c:pt idx="2">
                  <c:v>3.872</c:v>
                </c:pt>
                <c:pt idx="3">
                  <c:v>5.295</c:v>
                </c:pt>
                <c:pt idx="4">
                  <c:v>6.799</c:v>
                </c:pt>
                <c:pt idx="5">
                  <c:v>8.385</c:v>
                </c:pt>
              </c:numCache>
            </c:numRef>
          </c:xVal>
          <c:yVal>
            <c:numRef>
              <c:f>Sheet1!$B$23:$B$28</c:f>
              <c:numCache>
                <c:formatCode>General</c:formatCod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0.0"/>
        </c:scaling>
        <c:delete val="0"/>
        <c:axPos val="b"/>
        <c:majorGridlines>
          <c:spPr>
            <a:ln>
              <a:solidFill>
                <a:srgbClr val="EDEDED"/>
              </a:solidFill>
            </a:ln>
          </c:spPr>
        </c:majorGridlines>
        <c:numFmt formatCode="0&quot;시간&quot;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층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적정 찍찍 (로그 눈금)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 (1층 = 100)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BFBFBF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8C8C8C"/>
              </a:solidFill>
              <a:ln>
                <a:noFill/>
              </a:ln>
            </c:spPr>
          </c:dPt>
          <c:dPt>
            <c:idx val="15"/>
            <c:spPr>
              <a:solidFill>
                <a:srgbClr val="E97132"/>
              </a:solidFill>
              <a:ln>
                <a:noFill/>
              </a:ln>
            </c:spPr>
          </c:dPt>
          <c:dPt>
            <c:idx val="16"/>
            <c:spPr>
              <a:solidFill>
                <a:srgbClr val="F4B183"/>
              </a:solidFill>
              <a:ln>
                <a:noFill/>
              </a:ln>
            </c:spPr>
          </c:dPt>
          <c:dPt>
            <c:idx val="17"/>
            <c:spPr>
              <a:solidFill>
                <a:srgbClr val="E97132"/>
              </a:solidFill>
              <a:ln>
                <a:noFill/>
              </a:ln>
            </c:spPr>
          </c:dPt>
          <c:dPt>
            <c:idx val="18"/>
            <c:spPr>
              <a:solidFill>
                <a:srgbClr val="F4B183"/>
              </a:solidFill>
              <a:ln>
                <a:noFill/>
              </a:ln>
            </c:spPr>
          </c:dPt>
          <c:dPt>
            <c:idx val="19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in val="1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상승 (이전 층 대비 배율)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이전 층 대비 상승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E97132"/>
              </a:solidFill>
              <a:ln>
                <a:noFill/>
              </a:ln>
            </c:spPr>
          </c:dPt>
          <c:dPt>
            <c:idx val="4"/>
            <c:spPr>
              <a:solidFill>
                <a:srgbClr val="8C8C8C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E97132"/>
              </a:solidFill>
              <a:ln>
                <a:noFill/>
              </a:ln>
            </c:spPr>
          </c:dPt>
          <c:dPt>
            <c:idx val="15"/>
            <c:spPr>
              <a:solidFill>
                <a:srgbClr val="F4B183"/>
              </a:solidFill>
              <a:ln>
                <a:noFill/>
              </a:ln>
            </c:spPr>
          </c:dPt>
          <c:dPt>
            <c:idx val="16"/>
            <c:spPr>
              <a:solidFill>
                <a:srgbClr val="E97132"/>
              </a:solidFill>
              <a:ln>
                <a:noFill/>
              </a:ln>
            </c:spPr>
          </c:dPt>
          <c:dPt>
            <c:idx val="17"/>
            <c:spPr>
              <a:solidFill>
                <a:srgbClr val="F4B183"/>
              </a:solidFill>
              <a:ln>
                <a:noFill/>
              </a:ln>
            </c:spPr>
          </c:dPt>
          <c:dPt>
            <c:idx val="18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Sheet1!$A$2:$A$20</c:f>
              <c:strCache>
                <c:ptCount val="1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1.8</c:v>
                </c:pt>
                <c:pt idx="4">
                  <c:v>1.32</c:v>
                </c:pt>
                <c:pt idx="5">
                  <c:v>1.32</c:v>
                </c:pt>
                <c:pt idx="6">
                  <c:v>1.32</c:v>
                </c:pt>
                <c:pt idx="7">
                  <c:v>1.32</c:v>
                </c:pt>
                <c:pt idx="8">
                  <c:v>1.32</c:v>
                </c:pt>
                <c:pt idx="9">
                  <c:v>1.32</c:v>
                </c:pt>
                <c:pt idx="10">
                  <c:v>1.32</c:v>
                </c:pt>
                <c:pt idx="11">
                  <c:v>1.32</c:v>
                </c:pt>
                <c:pt idx="12">
                  <c:v>1.32</c:v>
                </c:pt>
                <c:pt idx="13">
                  <c:v>1.32</c:v>
                </c:pt>
                <c:pt idx="14">
                  <c:v>1.75</c:v>
                </c:pt>
                <c:pt idx="15">
                  <c:v>1.7</c:v>
                </c:pt>
                <c:pt idx="16">
                  <c:v>2.1</c:v>
                </c:pt>
                <c:pt idx="17">
                  <c:v>2.2</c:v>
                </c:pt>
                <c:pt idx="18">
                  <c:v>2.4</c:v>
                </c:pt>
              </c:numCache>
            </c:numRef>
          </c:val>
        </c:ser>
        <c:dLbls>
          <c:numFmt formatCode="×0.0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6"/>
          <c:min val="1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×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돌파 시간 — 적정일 때 vs 아무리 강해도 걸리는 최소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찍찍일 때 돌파 (초)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108</c:v>
                </c:pt>
                <c:pt idx="1">
                  <c:v>108</c:v>
                </c:pt>
                <c:pt idx="2">
                  <c:v>108</c:v>
                </c:pt>
                <c:pt idx="3">
                  <c:v>108</c:v>
                </c:pt>
                <c:pt idx="4">
                  <c:v>162</c:v>
                </c:pt>
                <c:pt idx="5">
                  <c:v>108</c:v>
                </c:pt>
                <c:pt idx="6">
                  <c:v>108</c:v>
                </c:pt>
                <c:pt idx="7">
                  <c:v>108</c:v>
                </c:pt>
                <c:pt idx="8">
                  <c:v>108</c:v>
                </c:pt>
                <c:pt idx="9">
                  <c:v>108</c:v>
                </c:pt>
                <c:pt idx="10">
                  <c:v>108</c:v>
                </c:pt>
                <c:pt idx="11">
                  <c:v>108</c:v>
                </c:pt>
                <c:pt idx="12">
                  <c:v>108</c:v>
                </c:pt>
                <c:pt idx="13">
                  <c:v>108</c:v>
                </c:pt>
                <c:pt idx="14">
                  <c:v>108</c:v>
                </c:pt>
                <c:pt idx="15">
                  <c:v>162</c:v>
                </c:pt>
                <c:pt idx="16">
                  <c:v>135</c:v>
                </c:pt>
                <c:pt idx="17">
                  <c:v>162</c:v>
                </c:pt>
                <c:pt idx="18">
                  <c:v>135</c:v>
                </c:pt>
                <c:pt idx="19">
                  <c:v>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충분히 강해도 걸리는 최소 시간 (초) = 방 × 10초 + 계단</c:v>
                </c:pt>
              </c:strCache>
            </c:strRef>
          </c:tx>
          <c:spPr>
            <a:solidFill>
              <a:srgbClr val="E97132"/>
            </a:solidFill>
          </c:spPr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28.0</c:v>
                </c:pt>
                <c:pt idx="1">
                  <c:v>38.0</c:v>
                </c:pt>
                <c:pt idx="2">
                  <c:v>38.0</c:v>
                </c:pt>
                <c:pt idx="3">
                  <c:v>48.0</c:v>
                </c:pt>
                <c:pt idx="4">
                  <c:v>48.0</c:v>
                </c:pt>
                <c:pt idx="5">
                  <c:v>58.0</c:v>
                </c:pt>
                <c:pt idx="6">
                  <c:v>58.0</c:v>
                </c:pt>
                <c:pt idx="7">
                  <c:v>68.0</c:v>
                </c:pt>
                <c:pt idx="8">
                  <c:v>68.0</c:v>
                </c:pt>
                <c:pt idx="9">
                  <c:v>78.0</c:v>
                </c:pt>
                <c:pt idx="10">
                  <c:v>78.0</c:v>
                </c:pt>
                <c:pt idx="11">
                  <c:v>88.0</c:v>
                </c:pt>
                <c:pt idx="12">
                  <c:v>88.0</c:v>
                </c:pt>
                <c:pt idx="13">
                  <c:v>98.0</c:v>
                </c:pt>
                <c:pt idx="14">
                  <c:v>98.0</c:v>
                </c:pt>
                <c:pt idx="15">
                  <c:v>98.0</c:v>
                </c:pt>
                <c:pt idx="16">
                  <c:v>98.0</c:v>
                </c:pt>
                <c:pt idx="17">
                  <c:v>98.0</c:v>
                </c:pt>
                <c:pt idx="18">
                  <c:v>98.0</c:v>
                </c:pt>
                <c:pt idx="19">
                  <c:v>98.0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초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30.0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적정 찍찍 (1층 = 100 · 로그 눈금)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BFBFBF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8C8C8C"/>
              </a:solidFill>
              <a:ln>
                <a:noFill/>
              </a:ln>
            </c:spPr>
          </c:dPt>
          <c:dPt>
            <c:idx val="15"/>
            <c:spPr>
              <a:solidFill>
                <a:srgbClr val="E97132"/>
              </a:solidFill>
              <a:ln>
                <a:noFill/>
              </a:ln>
            </c:spPr>
          </c:dPt>
          <c:dPt>
            <c:idx val="16"/>
            <c:spPr>
              <a:solidFill>
                <a:srgbClr val="F4B183"/>
              </a:solidFill>
              <a:ln>
                <a:noFill/>
              </a:ln>
            </c:spPr>
          </c:dPt>
          <c:dPt>
            <c:idx val="17"/>
            <c:spPr>
              <a:solidFill>
                <a:srgbClr val="E97132"/>
              </a:solidFill>
              <a:ln>
                <a:noFill/>
              </a:ln>
            </c:spPr>
          </c:dPt>
          <c:dPt>
            <c:idx val="18"/>
            <c:spPr>
              <a:solidFill>
                <a:srgbClr val="F4B183"/>
              </a:solidFill>
              <a:ln>
                <a:noFill/>
              </a:ln>
            </c:spPr>
          </c:dPt>
          <c:dPt>
            <c:idx val="19"/>
            <c:spPr>
              <a:solidFill>
                <a:srgbClr val="E97132"/>
              </a:solidFill>
              <a:ln>
                <a:noFill/>
              </a:ln>
            </c:spPr>
          </c:dPt>
          <c:dPt>
            <c:idx val="20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1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</c:dPt>
          <c:dPt>
            <c:idx val="22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3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</c:dPt>
          <c:dPt>
            <c:idx val="24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5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6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</c:dPt>
          <c:dPt>
            <c:idx val="27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8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</c:dPt>
          <c:dPt>
            <c:idx val="29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  <c:pt idx="20">
                  <c:v>325927</c:v>
                </c:pt>
                <c:pt idx="21">
                  <c:v>554076</c:v>
                </c:pt>
                <c:pt idx="22">
                  <c:v>1163559</c:v>
                </c:pt>
                <c:pt idx="23">
                  <c:v>2559829</c:v>
                </c:pt>
                <c:pt idx="24">
                  <c:v>6143590</c:v>
                </c:pt>
                <c:pt idx="25">
                  <c:v>10751283</c:v>
                </c:pt>
                <c:pt idx="26">
                  <c:v>18277181</c:v>
                </c:pt>
                <c:pt idx="27">
                  <c:v>38382079</c:v>
                </c:pt>
                <c:pt idx="28">
                  <c:v>84440574</c:v>
                </c:pt>
                <c:pt idx="29">
                  <c:v>202657377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in val="10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 그래프 — 판당 성장과 층당 난이도 (배율)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판당 플레이어 성장</c:v>
                </c:pt>
              </c:strCache>
            </c:strRef>
          </c:tx>
          <c:spPr>
            <a:solidFill>
              <a:srgbClr val="E97132"/>
            </a:solidFill>
          </c:spPr>
          <c:cat>
            <c:strRef>
              <c:f>Sheet1!$A$2:$A$4</c:f>
              <c:strCache>
                <c:ptCount val="3"/>
                <c:pt idx="0">
                  <c:v>초반 (1~5층)</c:v>
                </c:pt>
                <c:pt idx="1">
                  <c:v>중반 (6~15층)</c:v>
                </c:pt>
                <c:pt idx="2">
                  <c:v>후반 (16층~)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1.34</c:v>
                </c:pt>
                <c:pt idx="1">
                  <c:v>1.74</c:v>
                </c:pt>
                <c:pt idx="2">
                  <c:v>1.31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층당 난이도 상승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Sheet1!$A$2:$A$4</c:f>
              <c:strCache>
                <c:ptCount val="3"/>
                <c:pt idx="0">
                  <c:v>초반 (1~5층)</c:v>
                </c:pt>
                <c:pt idx="1">
                  <c:v>중반 (6~15층)</c:v>
                </c:pt>
                <c:pt idx="2">
                  <c:v>후반 (16층~)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1.37</c:v>
                </c:pt>
                <c:pt idx="1">
                  <c:v>1.32</c:v>
                </c:pt>
                <c:pt idx="2">
                  <c:v>2.01</c:v>
                </c:pt>
              </c:numCache>
            </c:numRef>
          </c:val>
        </c:ser>
        <c:dLbls>
          <c:numFmt formatCode="×0.0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4"/>
          <c:min val="1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×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곡선 vs 플레이어 성장 곡선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4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4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100</c:v>
                </c:pt>
                <c:pt idx="1">
                  <c:v>127</c:v>
                </c:pt>
                <c:pt idx="2">
                  <c:v>161</c:v>
                </c:pt>
                <c:pt idx="3">
                  <c:v>205</c:v>
                </c:pt>
                <c:pt idx="4">
                  <c:v>273</c:v>
                </c:pt>
                <c:pt idx="5">
                  <c:v>402</c:v>
                </c:pt>
                <c:pt idx="6">
                  <c:v>601</c:v>
                </c:pt>
                <c:pt idx="7">
                  <c:v>836</c:v>
                </c:pt>
                <c:pt idx="8">
                  <c:v>1120</c:v>
                </c:pt>
                <c:pt idx="9">
                  <c:v>1501</c:v>
                </c:pt>
                <c:pt idx="10">
                  <c:v>2011</c:v>
                </c:pt>
                <c:pt idx="11">
                  <c:v>2694</c:v>
                </c:pt>
                <c:pt idx="12">
                  <c:v>3611</c:v>
                </c:pt>
                <c:pt idx="13">
                  <c:v>4838</c:v>
                </c:pt>
                <c:pt idx="14">
                  <c:v>6483</c:v>
                </c:pt>
                <c:pt idx="15">
                  <c:v>9343</c:v>
                </c:pt>
                <c:pt idx="16">
                  <c:v>14855</c:v>
                </c:pt>
                <c:pt idx="17">
                  <c:v>24852</c:v>
                </c:pt>
                <c:pt idx="18">
                  <c:v>43749</c:v>
                </c:pt>
                <c:pt idx="19">
                  <c:v>81034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0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50000.0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여유도 = 기준 전투력 ÷ 난이도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전투력 ÷ 난이도</c:v>
                </c:pt>
              </c:strCache>
            </c:strRef>
          </c:tx>
          <c:dPt>
            <c:idx val="0"/>
            <c:spPr>
              <a:solidFill>
                <a:srgbClr val="F4B183"/>
              </a:solidFill>
              <a:ln>
                <a:noFill/>
              </a:ln>
            </c:spPr>
          </c:dPt>
          <c:dPt>
            <c:idx val="1"/>
            <c:spPr>
              <a:solidFill>
                <a:srgbClr val="F4B183"/>
              </a:solidFill>
              <a:ln>
                <a:noFill/>
              </a:ln>
            </c:spPr>
          </c:dPt>
          <c:dPt>
            <c:idx val="2"/>
            <c:spPr>
              <a:solidFill>
                <a:srgbClr val="F4B183"/>
              </a:solidFill>
              <a:ln>
                <a:noFill/>
              </a:ln>
            </c:spPr>
          </c:dPt>
          <c:dPt>
            <c:idx val="3"/>
            <c:spPr>
              <a:solidFill>
                <a:srgbClr val="F4B183"/>
              </a:solidFill>
              <a:ln>
                <a:noFill/>
              </a:ln>
            </c:spPr>
          </c:dPt>
          <c:dPt>
            <c:idx val="4"/>
            <c:spPr>
              <a:solidFill>
                <a:srgbClr val="F4B183"/>
              </a:solidFill>
              <a:ln>
                <a:noFill/>
              </a:ln>
            </c:spPr>
          </c:dPt>
          <c:dPt>
            <c:idx val="5"/>
            <c:spPr>
              <a:solidFill>
                <a:srgbClr val="E97132"/>
              </a:solidFill>
              <a:ln>
                <a:noFill/>
              </a:ln>
            </c:spPr>
          </c:dPt>
          <c:dPt>
            <c:idx val="6"/>
            <c:spPr>
              <a:solidFill>
                <a:srgbClr val="E97132"/>
              </a:solidFill>
              <a:ln>
                <a:noFill/>
              </a:ln>
            </c:spPr>
          </c:dPt>
          <c:dPt>
            <c:idx val="7"/>
            <c:spPr>
              <a:solidFill>
                <a:srgbClr val="E97132"/>
              </a:solidFill>
              <a:ln>
                <a:noFill/>
              </a:ln>
            </c:spPr>
          </c:dPt>
          <c:dPt>
            <c:idx val="8"/>
            <c:spPr>
              <a:solidFill>
                <a:srgbClr val="E97132"/>
              </a:solidFill>
              <a:ln>
                <a:noFill/>
              </a:ln>
            </c:spPr>
          </c:dPt>
          <c:dPt>
            <c:idx val="9"/>
            <c:spPr>
              <a:solidFill>
                <a:srgbClr val="E97132"/>
              </a:solidFill>
              <a:ln>
                <a:noFill/>
              </a:ln>
            </c:spPr>
          </c:dPt>
          <c:dPt>
            <c:idx val="10"/>
            <c:spPr>
              <a:solidFill>
                <a:srgbClr val="E97132"/>
              </a:solidFill>
              <a:ln>
                <a:noFill/>
              </a:ln>
            </c:spPr>
          </c:dPt>
          <c:dPt>
            <c:idx val="11"/>
            <c:spPr>
              <a:solidFill>
                <a:srgbClr val="E97132"/>
              </a:solidFill>
              <a:ln>
                <a:noFill/>
              </a:ln>
            </c:spPr>
          </c:dPt>
          <c:dPt>
            <c:idx val="12"/>
            <c:spPr>
              <a:solidFill>
                <a:srgbClr val="E97132"/>
              </a:solidFill>
              <a:ln>
                <a:noFill/>
              </a:ln>
            </c:spPr>
          </c:dPt>
          <c:dPt>
            <c:idx val="13"/>
            <c:spPr>
              <a:solidFill>
                <a:srgbClr val="E97132"/>
              </a:solidFill>
              <a:ln>
                <a:noFill/>
              </a:ln>
            </c:spPr>
          </c:dPt>
          <c:dPt>
            <c:idx val="14"/>
            <c:spPr>
              <a:solidFill>
                <a:srgbClr val="E97132"/>
              </a:solidFill>
              <a:ln>
                <a:noFill/>
              </a:ln>
            </c:spPr>
          </c:dPt>
          <c:dPt>
            <c:idx val="15"/>
            <c:spPr>
              <a:solidFill>
                <a:srgbClr val="BFBFBF"/>
              </a:solidFill>
              <a:ln>
                <a:noFill/>
              </a:ln>
            </c:spPr>
          </c:dPt>
          <c:dPt>
            <c:idx val="16"/>
            <c:spPr>
              <a:solidFill>
                <a:srgbClr val="BFBFBF"/>
              </a:solidFill>
              <a:ln>
                <a:noFill/>
              </a:ln>
            </c:spPr>
          </c:dPt>
          <c:dPt>
            <c:idx val="17"/>
            <c:spPr>
              <a:solidFill>
                <a:srgbClr val="BFBFBF"/>
              </a:solidFill>
              <a:ln>
                <a:noFill/>
              </a:ln>
            </c:spPr>
          </c:dPt>
          <c:dPt>
            <c:idx val="18"/>
            <c:spPr>
              <a:solidFill>
                <a:srgbClr val="BFBFBF"/>
              </a:solidFill>
              <a:ln>
                <a:noFill/>
              </a:ln>
            </c:spPr>
          </c:dPt>
          <c:dPt>
            <c:idx val="19"/>
            <c:spPr>
              <a:solidFill>
                <a:srgbClr val="BFBFBF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1.02</c:v>
                </c:pt>
                <c:pt idx="2">
                  <c:v>1.03</c:v>
                </c:pt>
                <c:pt idx="3">
                  <c:v>1.05</c:v>
                </c:pt>
                <c:pt idx="4">
                  <c:v>0.78</c:v>
                </c:pt>
                <c:pt idx="5">
                  <c:v>0.87</c:v>
                </c:pt>
                <c:pt idx="6">
                  <c:v>0.98</c:v>
                </c:pt>
                <c:pt idx="7">
                  <c:v>1.03</c:v>
                </c:pt>
                <c:pt idx="8">
                  <c:v>1.05</c:v>
                </c:pt>
                <c:pt idx="9">
                  <c:v>1.07</c:v>
                </c:pt>
                <c:pt idx="10">
                  <c:v>1.08</c:v>
                </c:pt>
                <c:pt idx="11">
                  <c:v>1.1</c:v>
                </c:pt>
                <c:pt idx="12">
                  <c:v>1.11</c:v>
                </c:pt>
                <c:pt idx="13">
                  <c:v>1.13</c:v>
                </c:pt>
                <c:pt idx="14">
                  <c:v>1.15</c:v>
                </c:pt>
                <c:pt idx="15">
                  <c:v>0.95</c:v>
                </c:pt>
                <c:pt idx="16">
                  <c:v>0.88</c:v>
                </c:pt>
                <c:pt idx="17">
                  <c:v>0.7</c:v>
                </c:pt>
                <c:pt idx="18">
                  <c:v>0.56</c:v>
                </c:pt>
                <c:pt idx="19">
                  <c:v>0.44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(1~5층)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127</c:v>
                </c:pt>
                <c:pt idx="2">
                  <c:v>161</c:v>
                </c:pt>
                <c:pt idx="3">
                  <c:v>205</c:v>
                </c:pt>
                <c:pt idx="4">
                  <c:v>273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(5~15층)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352</c:v>
                </c:pt>
                <c:pt idx="1">
                  <c:v>464</c:v>
                </c:pt>
                <c:pt idx="2">
                  <c:v>613</c:v>
                </c:pt>
                <c:pt idx="3">
                  <c:v>809</c:v>
                </c:pt>
                <c:pt idx="4">
                  <c:v>1067</c:v>
                </c:pt>
                <c:pt idx="5">
                  <c:v>1409</c:v>
                </c:pt>
                <c:pt idx="6">
                  <c:v>1860</c:v>
                </c:pt>
                <c:pt idx="7">
                  <c:v>2455</c:v>
                </c:pt>
                <c:pt idx="8">
                  <c:v>3240</c:v>
                </c:pt>
                <c:pt idx="9">
                  <c:v>4277</c:v>
                </c:pt>
                <c:pt idx="10">
                  <c:v>5646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273</c:v>
                </c:pt>
                <c:pt idx="1">
                  <c:v>402</c:v>
                </c:pt>
                <c:pt idx="2">
                  <c:v>601</c:v>
                </c:pt>
                <c:pt idx="3">
                  <c:v>836</c:v>
                </c:pt>
                <c:pt idx="4">
                  <c:v>1120</c:v>
                </c:pt>
                <c:pt idx="5">
                  <c:v>1501</c:v>
                </c:pt>
                <c:pt idx="6">
                  <c:v>2011</c:v>
                </c:pt>
                <c:pt idx="7">
                  <c:v>2694</c:v>
                </c:pt>
                <c:pt idx="8">
                  <c:v>3611</c:v>
                </c:pt>
                <c:pt idx="9">
                  <c:v>4838</c:v>
                </c:pt>
                <c:pt idx="10">
                  <c:v>6483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(15~20층)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5646</c:v>
                </c:pt>
                <c:pt idx="1">
                  <c:v>9881</c:v>
                </c:pt>
                <c:pt idx="2">
                  <c:v>16797</c:v>
                </c:pt>
                <c:pt idx="3">
                  <c:v>35273</c:v>
                </c:pt>
                <c:pt idx="4">
                  <c:v>77602</c:v>
                </c:pt>
                <c:pt idx="5">
                  <c:v>186244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6483</c:v>
                </c:pt>
                <c:pt idx="1">
                  <c:v>9343</c:v>
                </c:pt>
                <c:pt idx="2">
                  <c:v>14855</c:v>
                </c:pt>
                <c:pt idx="3">
                  <c:v>24852</c:v>
                </c:pt>
                <c:pt idx="4">
                  <c:v>43749</c:v>
                </c:pt>
                <c:pt idx="5">
                  <c:v>81034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 그래프 — 판별 최고 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그 판의 최고 층</c:v>
                </c:pt>
              </c:strCache>
            </c:strRef>
          </c:tx>
          <c:dPt>
            <c:idx val="0"/>
            <c:spPr>
              <a:solidFill>
                <a:srgbClr val="F4B183"/>
              </a:solidFill>
              <a:ln>
                <a:noFill/>
              </a:ln>
            </c:spPr>
          </c:dPt>
          <c:dPt>
            <c:idx val="1"/>
            <c:spPr>
              <a:solidFill>
                <a:srgbClr val="F4B183"/>
              </a:solidFill>
              <a:ln>
                <a:noFill/>
              </a:ln>
            </c:spPr>
          </c:dPt>
          <c:dPt>
            <c:idx val="2"/>
            <c:spPr>
              <a:solidFill>
                <a:srgbClr val="F4B183"/>
              </a:solidFill>
              <a:ln>
                <a:noFill/>
              </a:ln>
            </c:spPr>
          </c:dPt>
          <c:dPt>
            <c:idx val="3"/>
            <c:spPr>
              <a:solidFill>
                <a:srgbClr val="E97132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E97132"/>
              </a:solidFill>
              <a:ln>
                <a:noFill/>
              </a:ln>
            </c:spPr>
          </c:dPt>
          <c:dPt>
            <c:idx val="6"/>
            <c:spPr>
              <a:solidFill>
                <a:srgbClr val="E97132"/>
              </a:solidFill>
              <a:ln>
                <a:noFill/>
              </a:ln>
            </c:spPr>
          </c:dPt>
          <c:dPt>
            <c:idx val="7"/>
            <c:spPr>
              <a:solidFill>
                <a:srgbClr val="E97132"/>
              </a:solidFill>
              <a:ln>
                <a:noFill/>
              </a:ln>
            </c:spPr>
          </c:dPt>
          <c:dPt>
            <c:idx val="8"/>
            <c:spPr>
              <a:solidFill>
                <a:srgbClr val="BFBFBF"/>
              </a:solidFill>
              <a:ln>
                <a:noFill/>
              </a:ln>
            </c:spPr>
          </c:dPt>
          <c:dPt>
            <c:idx val="9"/>
            <c:spPr>
              <a:solidFill>
                <a:srgbClr val="BFBFBF"/>
              </a:solidFill>
              <a:ln>
                <a:noFill/>
              </a:ln>
            </c:spPr>
          </c:dPt>
          <c:dPt>
            <c:idx val="1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1"/>
            <c:spPr>
              <a:solidFill>
                <a:srgbClr val="BFBFBF"/>
              </a:solidFill>
              <a:ln>
                <a:noFill/>
              </a:ln>
            </c:spPr>
          </c:dPt>
          <c:dPt>
            <c:idx val="12"/>
            <c:spPr>
              <a:solidFill>
                <a:srgbClr val="BFBFBF"/>
              </a:solidFill>
              <a:ln>
                <a:noFill/>
              </a:ln>
            </c:spPr>
          </c:dPt>
          <c:dPt>
            <c:idx val="13"/>
            <c:spPr>
              <a:solidFill>
                <a:srgbClr val="BFBFBF"/>
              </a:solidFill>
              <a:ln>
                <a:noFill/>
              </a:ln>
            </c:spPr>
          </c:dPt>
          <c:dPt>
            <c:idx val="14"/>
            <c:spPr>
              <a:solidFill>
                <a:srgbClr val="BFBFBF"/>
              </a:solidFill>
              <a:ln>
                <a:noFill/>
              </a:ln>
            </c:spPr>
          </c:dPt>
          <c:dPt>
            <c:idx val="15"/>
            <c:spPr>
              <a:solidFill>
                <a:srgbClr val="BFBFBF"/>
              </a:solidFill>
              <a:ln>
                <a:noFill/>
              </a:ln>
            </c:spPr>
          </c:dPt>
          <c:dPt>
            <c:idx val="16"/>
            <c:spPr>
              <a:solidFill>
                <a:srgbClr val="BFBFBF"/>
              </a:solidFill>
              <a:ln>
                <a:noFill/>
              </a:ln>
            </c:spPr>
          </c:dPt>
          <c:dPt>
            <c:idx val="17"/>
            <c:spPr>
              <a:solidFill>
                <a:srgbClr val="BFBFBF"/>
              </a:solidFill>
              <a:ln>
                <a:noFill/>
              </a:ln>
            </c:spPr>
          </c:dPt>
          <c:dPt>
            <c:idx val="18"/>
            <c:spPr>
              <a:solidFill>
                <a:srgbClr val="BFBFBF"/>
              </a:solidFill>
              <a:ln>
                <a:noFill/>
              </a:ln>
            </c:spPr>
          </c:dPt>
          <c:dPt>
            <c:idx val="19"/>
            <c:spPr>
              <a:solidFill>
                <a:srgbClr val="BFBFBF"/>
              </a:solidFill>
              <a:ln>
                <a:noFill/>
              </a:ln>
            </c:spPr>
          </c:dPt>
          <c:dPt>
            <c:idx val="20"/>
            <c:spPr>
              <a:solidFill>
                <a:srgbClr val="BFBFBF"/>
              </a:solidFill>
              <a:ln>
                <a:noFill/>
              </a:ln>
            </c:spPr>
          </c:dPt>
          <c:cat>
            <c:strRef>
              <c:f>Sheet1!$A$2:$A$22</c:f>
              <c:strCache>
                <c:ptCount val="21"/>
                <c:pt idx="0">
                  <c:v>1판
10분</c:v>
                </c:pt>
                <c:pt idx="1">
                  <c:v>2판
18분</c:v>
                </c:pt>
                <c:pt idx="2">
                  <c:v>3판
29분</c:v>
                </c:pt>
                <c:pt idx="3">
                  <c:v>4판
46분</c:v>
                </c:pt>
                <c:pt idx="4">
                  <c:v>5판
64분</c:v>
                </c:pt>
                <c:pt idx="5">
                  <c:v>6판
85분</c:v>
                </c:pt>
                <c:pt idx="6">
                  <c:v>7판
108분</c:v>
                </c:pt>
                <c:pt idx="7">
                  <c:v>8판
135분</c:v>
                </c:pt>
                <c:pt idx="8">
                  <c:v>9판
159분</c:v>
                </c:pt>
                <c:pt idx="9">
                  <c:v>10판
186분</c:v>
                </c:pt>
                <c:pt idx="10">
                  <c:v>11판
212분</c:v>
                </c:pt>
                <c:pt idx="11">
                  <c:v>12판
240분</c:v>
                </c:pt>
                <c:pt idx="12">
                  <c:v>13판
268분</c:v>
                </c:pt>
                <c:pt idx="13">
                  <c:v>14판
296분</c:v>
                </c:pt>
                <c:pt idx="14">
                  <c:v>15판
326분</c:v>
                </c:pt>
                <c:pt idx="15">
                  <c:v>16판
355분</c:v>
                </c:pt>
                <c:pt idx="16">
                  <c:v>17판
385분</c:v>
                </c:pt>
                <c:pt idx="17">
                  <c:v>18판
416분</c:v>
                </c:pt>
                <c:pt idx="18">
                  <c:v>19판
447분</c:v>
                </c:pt>
                <c:pt idx="19">
                  <c:v>20판
478분</c:v>
                </c:pt>
                <c:pt idx="20">
                  <c:v>21판
511분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15</c:v>
                </c:pt>
                <c:pt idx="9">
                  <c:v>16</c:v>
                </c:pt>
                <c:pt idx="10">
                  <c:v>16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18</c:v>
                </c:pt>
                <c:pt idx="15">
                  <c:v>18</c:v>
                </c:pt>
                <c:pt idx="16">
                  <c:v>18</c:v>
                </c:pt>
                <c:pt idx="17">
                  <c:v>19</c:v>
                </c:pt>
                <c:pt idx="18">
                  <c:v>19</c:v>
                </c:pt>
                <c:pt idx="19">
                  <c:v>19</c:v>
                </c:pt>
                <c:pt idx="20">
                  <c:v>20</c:v>
                </c:pt>
              </c:numCache>
            </c:numRef>
          </c:val>
        </c:ser>
        <c:dLbls>
          <c:numFmt formatCode="0&quot;층&quot;" sourceLinked="0"/>
          <c:txPr>
            <a:bodyPr/>
            <a:lstStyle/>
            <a:p>
              <a:pPr>
                <a:defRPr sz="9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유저 소모 시간 — 이전 층을 처음 깬 뒤 이 층을 처음 깰 때까지 (분, 재도전 · 로비 포함)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머무는 시간 (분)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BFBFBF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8C8C8C"/>
              </a:solidFill>
              <a:ln>
                <a:noFill/>
              </a:ln>
            </c:spPr>
          </c:dPt>
          <c:dPt>
            <c:idx val="15"/>
            <c:spPr>
              <a:solidFill>
                <a:srgbClr val="E97132"/>
              </a:solidFill>
              <a:ln>
                <a:noFill/>
              </a:ln>
            </c:spPr>
          </c:dPt>
          <c:dPt>
            <c:idx val="16"/>
            <c:spPr>
              <a:solidFill>
                <a:srgbClr val="F4B183"/>
              </a:solidFill>
              <a:ln>
                <a:noFill/>
              </a:ln>
            </c:spPr>
          </c:dPt>
          <c:dPt>
            <c:idx val="17"/>
            <c:spPr>
              <a:solidFill>
                <a:srgbClr val="E97132"/>
              </a:solidFill>
              <a:ln>
                <a:noFill/>
              </a:ln>
            </c:spPr>
          </c:dPt>
          <c:dPt>
            <c:idx val="18"/>
            <c:spPr>
              <a:solidFill>
                <a:srgbClr val="F4B183"/>
              </a:solidFill>
              <a:ln>
                <a:noFill/>
              </a:ln>
            </c:spPr>
          </c:dPt>
          <c:dPt>
            <c:idx val="19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1.2</c:v>
                </c:pt>
                <c:pt idx="2">
                  <c:v>1.4</c:v>
                </c:pt>
                <c:pt idx="3">
                  <c:v>1.7</c:v>
                </c:pt>
                <c:pt idx="4">
                  <c:v>18.8</c:v>
                </c:pt>
                <c:pt idx="5">
                  <c:v>9.9</c:v>
                </c:pt>
                <c:pt idx="6">
                  <c:v>1.7</c:v>
                </c:pt>
                <c:pt idx="7">
                  <c:v>16.8</c:v>
                </c:pt>
                <c:pt idx="8">
                  <c:v>1.7</c:v>
                </c:pt>
                <c:pt idx="9">
                  <c:v>18.9</c:v>
                </c:pt>
                <c:pt idx="10">
                  <c:v>1.7</c:v>
                </c:pt>
                <c:pt idx="11">
                  <c:v>21.6</c:v>
                </c:pt>
                <c:pt idx="12">
                  <c:v>1.7</c:v>
                </c:pt>
                <c:pt idx="13">
                  <c:v>24.7</c:v>
                </c:pt>
                <c:pt idx="14">
                  <c:v>1.7</c:v>
                </c:pt>
                <c:pt idx="15">
                  <c:v>53.2</c:v>
                </c:pt>
                <c:pt idx="16">
                  <c:v>54.4</c:v>
                </c:pt>
                <c:pt idx="17">
                  <c:v>85.4</c:v>
                </c:pt>
                <c:pt idx="18">
                  <c:v>90.2</c:v>
                </c:pt>
                <c:pt idx="19">
                  <c:v>95.1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 vs 처음 깬 최고 층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건너뛰기 없음</c:v>
                </c:pt>
              </c:strCache>
            </c:strRef>
          </c:tx>
          <c:spPr>
            <a:ln w="31750">
              <a:solidFill>
                <a:srgbClr val="8C8C8C"/>
              </a:solidFill>
            </a:ln>
          </c:spPr>
          <c:marker>
            <c:symbol val="circle"/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  <c:pt idx="6">
                  <c:v>0.566</c:v>
                </c:pt>
                <c:pt idx="7">
                  <c:v>0.595</c:v>
                </c:pt>
                <c:pt idx="8">
                  <c:v>0.876</c:v>
                </c:pt>
                <c:pt idx="9">
                  <c:v>0.905</c:v>
                </c:pt>
                <c:pt idx="10">
                  <c:v>1.219</c:v>
                </c:pt>
                <c:pt idx="11">
                  <c:v>1.248</c:v>
                </c:pt>
                <c:pt idx="12">
                  <c:v>1.608</c:v>
                </c:pt>
                <c:pt idx="13">
                  <c:v>1.637</c:v>
                </c:pt>
                <c:pt idx="14">
                  <c:v>2.049</c:v>
                </c:pt>
                <c:pt idx="15">
                  <c:v>2.078</c:v>
                </c:pt>
                <c:pt idx="16">
                  <c:v>2.965</c:v>
                </c:pt>
                <c:pt idx="17">
                  <c:v>3.872</c:v>
                </c:pt>
                <c:pt idx="18">
                  <c:v>5.295</c:v>
                </c:pt>
                <c:pt idx="19">
                  <c:v>6.799</c:v>
                </c:pt>
                <c:pt idx="20">
                  <c:v>8.385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최대로 건너뛰기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Sheet1!$A$25:$A$45</c:f>
              <c:numCache>
                <c:formatCode>General</c:formatCode>
                <c:ptCount val="21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  <c:pt idx="6">
                  <c:v>0.548</c:v>
                </c:pt>
                <c:pt idx="7">
                  <c:v>0.577</c:v>
                </c:pt>
                <c:pt idx="8">
                  <c:v>0.828</c:v>
                </c:pt>
                <c:pt idx="9">
                  <c:v>0.857</c:v>
                </c:pt>
                <c:pt idx="10">
                  <c:v>1.117</c:v>
                </c:pt>
                <c:pt idx="11">
                  <c:v>1.146</c:v>
                </c:pt>
                <c:pt idx="12">
                  <c:v>1.434</c:v>
                </c:pt>
                <c:pt idx="13">
                  <c:v>1.463</c:v>
                </c:pt>
                <c:pt idx="14">
                  <c:v>1.768</c:v>
                </c:pt>
                <c:pt idx="15">
                  <c:v>1.797</c:v>
                </c:pt>
                <c:pt idx="16">
                  <c:v>2.433</c:v>
                </c:pt>
                <c:pt idx="17">
                  <c:v>3.089</c:v>
                </c:pt>
                <c:pt idx="18">
                  <c:v>4.135</c:v>
                </c:pt>
                <c:pt idx="19">
                  <c:v>5.262</c:v>
                </c:pt>
                <c:pt idx="20">
                  <c:v>6.471</c:v>
                </c:pt>
              </c:numCache>
            </c:numRef>
          </c:xVal>
          <c:yVal>
            <c:numRef>
              <c:f>Sheet1!$B$25:$B$45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0.0"/>
        </c:scaling>
        <c:delete val="0"/>
        <c:axPos val="b"/>
        <c:majorGridlines>
          <c:spPr>
            <a:ln>
              <a:solidFill>
                <a:srgbClr val="EDEDED"/>
              </a:solidFill>
            </a:ln>
          </c:spPr>
        </c:majorGridlines>
        <c:numFmt formatCode="0&quot;시간&quot;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층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층 별 허들 기획서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/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53312" y="1645920"/>
          <a:ext cx="9482328" cy="4773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325880"/>
                <a:gridCol w="1005840"/>
                <a:gridCol w="2011680"/>
                <a:gridCol w="445312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내용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최초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양식 작성, 문서 생성, 목차 작성, 개요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내용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설계, 층 별 허들(목표 찍찍·벽·시간·보스·방 수), 허들표, 검증 기준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인게임 기준 구간 목표 반영 (초반 10분·재도전 1~2회 / 중반 40분·5~6회 / 후반 30~40분·5~6회), 연관 허들·허들표·검증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개정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회의 피드백 반영 — 구간 재정의(초반 20~30분 · 중반 ~2시간 반 · 후반 2시간 반~), 층별 방 수 · 제한 시간 180초 통일, 구간별 플레이 경험, 허들 배치(5 · 16층 허들, 17층~ 어려움 · 허들), 난이도 · 성장 곡선, 층별 소모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건너뛰기 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 시작 층 선택(5층 클리어 시 3층 → 15층 클리어 시 10층 → 20층 클리어 시 15층 최대, 보정 없는 선택형), 해금표 · 플레이타임 영향(건너뛰기 없이 8.4시간 / 최대 건너뛰기 6.5시간), 허들 보상 · 정보 공개 · 남은 결정 반영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허들 조정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 완화(×2.2 → ×1.75, 3판 → 2판), 19층(×2.2, 2판 → 3판) · 20층(×2.4) 강화로 총 플레이타임 유지, 기준 성장 곡선 조정(16층 여유 0.97 → 0.95, 15층 → 16층 낙차 축소), 21~30층 적정 난이도(16~20층 배율 반복) 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한 장 요약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20층까지 약 8.5시간 — 초반 30분은 손, 중반 2시간은 머리, 후반은 눈과 긴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40280"/>
            <a:ext cx="3182112" cy="43891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 ·  1~5층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29분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 (재도전 2회)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 4층 → 5층 허들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→ 5층 허들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손 — 조작과 판단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240280"/>
            <a:ext cx="3182112" cy="43891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15분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+2층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 → 9개 (늘어남)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보통 (허들 없음)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머리 — 빌드와 성장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240280"/>
            <a:ext cx="3182112" cy="43891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16~20층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 31분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7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7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2~3판에 1층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7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9개 고정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7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· 어려움만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7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눈 — 연출과 깽판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" y="52852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한 줄 지도 — 색 = 층 유형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7572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4268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42616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40964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39312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37660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6008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34356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32704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31052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27748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6096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24444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22792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21140" y="5577840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19488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17836" y="5577840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16184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33856" y="6108192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98448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74519" y="6108192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39112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15184" y="6108192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79776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6108192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39312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0" y="6035040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 = 5 · 16 · 18 · 20층 / 어려움 = 17 · 19층 / 제한 180초 / 층 건너뛰기 최대 사용 시 20층 약 6.6시간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기획 방향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같은 쥐 게임을 세 번 다르게 — 구간이 바뀔 때마다 플레이 경험과 스타일이 바뀌도록 층과 허들을 짠다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331720"/>
          <a:ext cx="9966960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206240"/>
                <a:gridCol w="39319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회의 피드백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문서의 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반영한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초반이 짧고, 순수 메카닉스 재미가 검증되지 않음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= 1~5층 · 20~30분 · 필살기와 다양한 쥐 없이 조작과 전략만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 설계 – 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다양한 쥐 · 연출 · 깽판은 후반에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'쥐 한두 마리의 필살기', 깽판은 후반(16층~)에 몰아 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 설계 – 중반 · 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인크리멘탈 요소와 선택의 효과가 안 보임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판당 성장이 난이도보다 가파름 → 판마다 고점 2층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플레이어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곡선에 기준이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판(런) 단위 성장 곡선을 먼저 정하고 수치를 맞춤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난이도 · 플레이어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힘든 구간과 쉬운 구간의 교차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· 16층에 허들, 그 사이 6~15층은 허들 없는 보통 층, 17층부터는 어려움 · 허들만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배치 · 가스 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정보가 너무 많아 빨리 질림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구간별로 화면과 기능을 차등 공개, 20~30시간 정보는 끝까지 숨김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구성과 정보 공개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찍찍이면 일반 60% · 보스 90%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시간은 모든 층 180초 — 쉬움 · 보통 60%, 어려움 75%, 허들 90%로 '목표 돌파 시간'을 정함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소모 시간 · 허들표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6236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현재 프로젝트는 구조(번식 · 벽 · 총공격 · 승급 · 로비 성장 · 5층마다 보스)만 참고했고, 모든 수치는 이 문서에서 새로 정한다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설계 원칙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627632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1673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구간마다 다른 게임을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'손' — 조작과 판단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'머리' — 빌드와 성장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'눈' — 연출과 깽판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전환 = 새 규칙과 새 화면이 열리는 순간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627632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9165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 속도로 구간의 성격을 정한다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초반: 재도전 1~2회로 5층 허들 격파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중반: 판당 성장 ×1.7 &gt; 층당 난이도 ×1.32 → 판마다 고점 2층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중반은 쉽지만 방이 5개 → 9개로 늘어 판이 길어짐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후반: 판당 성장 ×1.31 → 2~3판에 한 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4023360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1673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허들로 구간의 문을 단다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= 초반 졸업 · 16층 허들 = 후반 입장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6~15층은 허들 없는 보통 층 — 성장이 난이도를 앞지름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17층부터는 어려움 · 허들만, 성장이 빨라지는 만큼 난이도는 더 가파르게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4023360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165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 = 시간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찍찍일 때 쉬움 · 보통 층은 제한 시간의 60%, 어려움 75%, 허들 90%를 써서 돌파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제한 시간은 모든 층 180초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강해도 방 하나에 최소 10초 — 방이 많은 층은 쉬워도 오래 걸림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용어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52120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문서의 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(런)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1층부터 다시 올라가는 한 번의 도전 — 제한 시간을 넘기면 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 = 튜토리얼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판에서 깬 가장 높은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판마다 고점 +2층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판과 판 사이 — 치즈 · 훈장으로 영구 성장을 사는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1.5분 · 중반 7분 · 후반 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층을 '적정 시간'에 깨는 데 필요한 전투력 (1층 = 100 지수)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352 · 20층 186,244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무리 전체의 힘 — 판 안 번식 · 승급 + 로비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판당 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여유도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전투력 ÷ 적정 찍찍 — 1보다 크면 시원하게, 작으면 막힘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0.78 · 15층 1.15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 · 보통 · 어려움 · 허들 — 이전 층 대비 난이도 배율로 구분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×1.32 · 허들 ×1.75~2.4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층을 이루는 칸 — 벽을 뚫어 열고 계단 방까지 가야 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4개 · 15층부터 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 · 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층마다 180초 · 적정 찍찍일 때 깨는 데 드는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108초 · 허들 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층을 처음 깬 뒤 이 층을 처음 깰 때까지 (재도전 · 로비 포함)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19분 · 20층 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성장 곡선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진행에 따라 게임이 주는 성장 (반복 파밍 제외)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난이도 · 성장 곡선 비교 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세 구간 한눈에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초반은 손으로, 중반은 머리로, 후반은 눈으로 — 구간이 바뀌면 같은 쥐 게임의 노는 방법이 바뀐다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초반  ·  1~5층 클리어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20~30분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3개 · 재도전 1~2회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· 다양한 쥐 없이 번식 · 벽 · 총공격 · 승급만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판에 4층까지 · 막힘은 5층 허들 하나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끝: 5층 허들 격파 → 첫 훈장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 클리어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2~2.5시간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5개 · 판마다 고점 +2층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난이도는 쉽지만 방이 5개 → 9개로 늘어 판이 길어짐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'쥐 한두 마리가 필살기를 쓰네?'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성장 ×1.7로 난이도(층당 ×1.32)를 앞지름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없는 보통 10층 · 끝: 16층 허들 예고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182112" cy="45720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16층부터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반 이후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허들부터 매 층이 벽 (어려움 · 허들) · 2~3판에 한 층 · 방 9개 고정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다양한 쥐의 필살기 연쇄 = 깽판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최종 허들 약 8.5시간 · 21층~ 엔드게임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수급 · 종결 쥐 · 도감 완성(20~30시간)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468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플레이타임 (로비 포함 · 표준 플레이 기준)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3856" y="5742432"/>
            <a:ext cx="527145" cy="41148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61001" y="5742432"/>
            <a:ext cx="1958722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106분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9724" y="5742432"/>
            <a:ext cx="7481091" cy="41148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→  20층 약 8.5시간 · 이후 엔드게임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553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297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041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785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29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273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017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761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3505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9시간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지도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20층을 한 장에 — 층마다 유형 · 방 수 · 처음 깨는 판과 시점 · 머무는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892807" y="2212848"/>
            <a:ext cx="2340864" cy="310896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 1~5층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2212848"/>
            <a:ext cx="4718304" cy="31089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6~15층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2212848"/>
            <a:ext cx="2340864" cy="3108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16~20층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·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46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 (주황 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767328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난이도 배율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69080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처음 깨는 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70832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처음 깨는 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54880"/>
            <a:ext cx="1417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머무는 시간 (분)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20040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" y="372160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" y="404164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" y="434340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466344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92807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도입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52243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66543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80844" y="32918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52243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6543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80844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52243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66543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8084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4519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8296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77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420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563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277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420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63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277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420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563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5000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000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0008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50008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43784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032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175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318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032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175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318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032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175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318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2549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2549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25496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98648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25496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9272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787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930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073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7870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93008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07308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787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930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073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0098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0098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00984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74136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00984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94759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541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9684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827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85419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68496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82796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541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9684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0827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7647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×1.80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7647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76472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49624" y="5680433"/>
            <a:ext cx="329184" cy="17172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76472" y="5479265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70248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296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4439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582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2968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44398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558284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296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4439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582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5196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5196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4판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51960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34분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25112" y="5761729"/>
            <a:ext cx="329184" cy="9043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51960" y="5560561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45736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8051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9194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0337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80517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91947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03377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8051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9194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337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72744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2744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27448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36분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800600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27448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221223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806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3949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5092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2806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949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5092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2806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3949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5092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20293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0293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02936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53분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76088" y="5698702"/>
            <a:ext cx="329184" cy="153457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202936" y="5497534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96712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7561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8704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847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7561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8704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9847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561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704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847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67842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67842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78424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54분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51576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678424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72199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316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459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602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2316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3459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4602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23163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34593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46023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5391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5391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6판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53912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1.2h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227064" y="5679520"/>
            <a:ext cx="329184" cy="172639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153912" y="547835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647688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7071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214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9357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7071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8214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9357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70712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82142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93572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62940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62940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6판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629400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1.2h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702552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629400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123176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1826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2969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4112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1826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2969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4112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18261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29691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41121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10488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10488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7판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104888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1.6h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5654857"/>
            <a:ext cx="329184" cy="19730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04888" y="5453689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598663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6581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7724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8867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6581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7724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8867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65810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77240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8670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580375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580375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7판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580375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1.6h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653527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580375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074151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1335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2478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3621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1335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2478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3621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1335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2478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3621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055863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055863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8판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055863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2.0h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129015" y="5626540"/>
            <a:ext cx="329184" cy="225619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055863" y="542537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8549640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6090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7233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8376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6090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7233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8376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6090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87233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8376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53135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53135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8판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531352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2.1h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604504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531352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025128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0845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1988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3131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0845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1988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3131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0845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1988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3131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900684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×1.75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900684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10판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006840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3.0h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079992" y="5366210"/>
            <a:ext cx="329184" cy="485949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006840" y="516504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53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500616" y="2606040"/>
            <a:ext cx="438912" cy="54864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5600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6743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886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5600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6743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886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5600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6743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886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48232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×1.70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48232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12판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482328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3.9h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9555480" y="5355249"/>
            <a:ext cx="329184" cy="49691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482328" y="5154081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54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9976104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00355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1498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2641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0355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1498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2641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0355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1498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2641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95781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×2.10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95781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15판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9957816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5.3h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030968" y="5072083"/>
            <a:ext cx="329184" cy="78007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9957816" y="4870915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85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0451592" y="2606040"/>
            <a:ext cx="438912" cy="54864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5110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6253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7396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5110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6253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7396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5110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6253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7396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043330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×2.20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43330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18판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433304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6.8h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10506456" y="5028238"/>
            <a:ext cx="329184" cy="823921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10433304" y="482707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90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09865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11008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12151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9865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11008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12151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9865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11008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12151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090879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×2.40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090879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21판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0908792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8.4h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0981944" y="4983480"/>
            <a:ext cx="329184" cy="868679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0908792" y="478231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95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1874519" y="5852160"/>
            <a:ext cx="9509761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Rectangle 321"/>
          <p:cNvSpPr/>
          <p:nvPr/>
        </p:nvSpPr>
        <p:spPr>
          <a:xfrm>
            <a:off x="1133856" y="6089903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298448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874519" y="6089903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2039112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2615184" y="6089903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2779776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3474720" y="6089903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3639312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754880" y="601675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= 3×3 칸 중 주황 칸 수 · 시점 = 누적 플레이타임 (h = 시간) · 굵은 글씨 = 허들 · 어려움 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진행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플레이타임에 따라 최고 층이 어떻게 오르나 — 기울기가 곧 구간의 속도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0" y="2240280"/>
            <a:ext cx="1051560" cy="118872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22402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24분에 5층 첫 돌파 — 짧고 빠르게 규칙을 익힘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611880"/>
            <a:ext cx="1051560" cy="11887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36118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05분에 15층 첫 돌파 — 가장 가파른 기울기, 판마다 2층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983480"/>
            <a:ext cx="1051560" cy="11887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49834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76분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 23분에 20층 첫 돌파 — 거의 눕는 기울기, 2~3판에 1층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초반 · 순수 메카닉스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· 다양한 쥐 없이 '번식 → 벽 → 총공격 → 승급'만으로 20~30분을 붙잡는다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번식으로 불어나는 무리가 벽을 갉아 길을 여는 맛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능동 조작 — 클릭 총공격 타이밍, 어느 벽부터 뚫을지 길 선택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언제 승급할지, 치즈를 어떤 첫 스킬에 쓸지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안의 번식 · 승급 + 로비 1단계 스킬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스킬 하나를 사면 다음 판 시작 마릿수 · 찍찍 수치가 바로 커지는 걸 크게 보여 줌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'무엇이 부족했나'를 배우는 학습 — 막힘은 5층 허들 하나뿐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후킹 1회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허들(첫 보스전)에서 필살기를 한 번 시연 → 중반을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0분 → 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 (+4)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10분 →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 (+0)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18분 → 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(+1)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42062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재도전 2회(3판)가 표준, 잘하면 1회(2판)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1판은 튜토리얼 판 — 4층까지 보여 주고 5층 허들에서 첫 막힘 · 방 2~4개의 짧은 층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2~3판은 같은 허들 재도전 — 로비 스킬 효과를 바로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중반 · 성장이 난이도를 앞지름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판마다 고점 +2층 — 난이도는 쉽지만 방이 늘어 한 판이 길어지고, 그 시간을 빌드와 성장 체감으로 채운다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'쥐 한두 마리가 필살기를 쓰네?' — 첫 필살기 쥐의 등장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조작 반, 로비 빌드 반 — 판 시작 전 계획이 중요해짐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어떤 쥐를 키울지, 스킬 트리의 갈래(버티기 vs 빨리 깨기)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· 10층 · 15층 돌파 훈장 → 새 쥐 · 시작 전력, 로비 스킬 트리 확장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전투력 ×1.7 — 지난 판에 막힌 층을 이번 판엔 시원하게 통과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'다음 판엔 어디까지?' — 실패가 곧 다음 목표 확인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리듬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5개 → 9개 — 쉽게 밀어붙이는 판이 10분에서 20분으로 길어지고, 판 끝에서 2층 새로 뚫기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29분 → 46분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46분 → 1시간 04분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04분 → 1시간 25분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25분 → 1시간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48분 → 2시간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49377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×1.74 = 층당 난이도(×1.32)의 약 2.0층분 → 고점 +2층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 6층 5개 → 15층 9개 · 로비 7분(빌드 비중 ↑)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 · 15층은 보상 층(훈장) — 난이도는 보통 그대로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후반 · 깽판과 긴 목표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모아 온 쥐들이 화면을 뒤집는다 — 연출과 깽판을 보여 주고, 2~3판에 한 층이라는 긴 목표로 오래 붙잡는다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다양한 쥐의 필살기가 연쇄로 터지는 깽판, 화면 가득한 무리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보는 플레이 — 연출 감상과 굵직한 결정 위주, 손은 덜 바쁨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조합 구성, 어느 쥐를 끝까지 키울지(종결 쥐)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수급 콘텐츠, 종결 쥐 육성(팰월드 종결팰 참고), 높은 훈장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×1.31 — 추가 콘텐츠 · 후반으로 옮긴 스킬 성장으로 성장률을 올리고, 난이도는 그보다 더 가파르게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한 층 한 층이 벽 — 2~3판을 쌓아 한 층을 넘는 성취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긴 목표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최종 허들 → 21층~ 엔드게임 → 도감 완성(20~30시간)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플레이, 20층까지)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15분 → 2시간 39분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39분 → 3시간 06분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06분 → 3시간 32분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32분 → 4시간 00분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00분 → 4시간 28분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28분 → 4시간 56분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56분 → 5시간 26분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26분 → 5시간 55분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55분 → 6시간 25분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25분 → 6시간 56분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56분 → 7시간 27분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27분 → 7시간 58분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58분 → 8시간 31분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21층 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6135624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16~20층 = 13판 · 한 층에 2~3판 · 방 9개 고정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 · 17층 한 층에 2판, 18 · 19 · 20층 한 층에 3판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한 판의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하나의 시간이 어디에 쓰이나 — 깬 층은 빠르게 지나가고, 막힌 층에서 180초를 다 쓰고 끝난다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1판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4층까지 · 8분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286000"/>
            <a:ext cx="348500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8780" y="2286000"/>
            <a:ext cx="42347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2256" y="2286000"/>
            <a:ext cx="51719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9453" y="2286000"/>
            <a:ext cx="63434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3800" y="2286000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시간 초과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761488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1~4층 = 5분  ·  5층 허들에서 180초를 다 쓰고 종료  ·  방 4개까지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72968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6판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11층까지 · 14분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3218688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10364" y="3218688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41194" y="3218688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2023" y="3218688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3597" y="3218688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5171" y="3218688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7490" y="3218688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59808" y="3218688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871" y="3218688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5934" y="3218688"/>
            <a:ext cx="492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8281" y="3218688"/>
            <a:ext cx="634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2628" y="3218688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12층 시간 초과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694176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1~11층 = 11분  ·  12층 보통에서 180초를 다 쓰고 종료  ·  방 7개까지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105656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8판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15층까지 · 19분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4151376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10364" y="4151376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41194" y="4151376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72023" y="4151376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3597" y="4151376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55171" y="4151376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07490" y="4151376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59808" y="4151376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871" y="4151376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5934" y="4151376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59742" y="4151376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33550" y="4151376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8102" y="4151376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02654" y="4151376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97951" y="4151376"/>
            <a:ext cx="634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32298" y="4151376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시간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4626864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1~15층 = 16분  ·  16층 허들에서 180초를 다 쓰고 종료  ·  방 9개까지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038344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· 16판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18층까지 · 25분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5084064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10364" y="5084064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41194" y="5084064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72023" y="5084064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3597" y="5084064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55171" y="5084064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07490" y="5084064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59808" y="5084064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871" y="5084064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5934" y="5084064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59742" y="5084064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33550" y="5084064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8102" y="5084064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02654" y="5084064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97951" y="5084064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93248" y="5084064"/>
            <a:ext cx="595296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8545" y="5084064"/>
            <a:ext cx="595296" cy="457200"/>
          </a:xfrm>
          <a:prstGeom prst="rect">
            <a:avLst/>
          </a:prstGeom>
          <a:solidFill>
            <a:srgbClr val="F4B18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83842" y="5084064"/>
            <a:ext cx="724155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7997" y="5084064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19층 시간 초과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40280" y="555955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1~18층 = 22분  ·  19층 어려움에서 180초를 다 쓰고 종료  ·  방 9개까지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240280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965960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0분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062617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788297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5분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84954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610634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10분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707292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32972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15분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529629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255309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20분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240280" y="5989320"/>
            <a:ext cx="896112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칸 너비 = 그 층에 쓴 시간 · 점선 칸 = 막힌 층 (180초) — 방이 늘어난 중반 · 후반은 깬 층을 지나가는 데만 10~20분이 들어 판이 길어진다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구간별 경험 · 스타일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구간이 바뀌면 '무엇을 하는 게임인지'가 바뀐다 — 조작에서 빌드로, 빌드에서 연출로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76104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2807208"/>
                <a:gridCol w="2807208"/>
                <a:gridCol w="280720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(1~5층)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(6~15층)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(16층~)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감각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 — 조작과 판단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머리 — 빌드와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눈 — 연출과 깽판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불어나는 무리, 벽 뚫기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필살기 쥐, 훈장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연쇄, 화면 가득한 무리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 조작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클릭 총공격 · 길 선택 ·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타이밍 · 스킬 트리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조합 구성 · 큰 결정 위주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진척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0.3~0.5층 (2~3판에 1층)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층당 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5~9개 (늘어남)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 고정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 길이 (로비 포함)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수단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안 번식 · 승급, 1단계 스킬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훈장, 스킬 트리, 새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수급, 종결 쥐, 높은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 (무리 · 벽 · 치즈 · 시간)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훈장 · 도감 · 필살기 게이지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조각 · 업적 전체 (도감 완성은 끝까지)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실패의 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목표 확인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쌓아서 넘는 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상승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찍찍(층을 적정 시간에 깨는 데 필요한 전투력)을 1층 = 100 지수로 정의 — 20층까지 약 ×1,862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3550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막대 색: 연회색 쉬움 · 회색 보통 · 연주황 어려움 · 주황 허들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86000"/>
            <a:ext cx="3200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5층 허들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×1.25 세 층 뒤 5층에서 ×1.8 — 처음이자 유일한 초반 벽</a:t>
            </a:r>
          </a:p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허들 없음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6~15층 보통 ×1.32 일정 — 성장이 난이도를 앞지르는 구간</a:t>
            </a:r>
          </a:p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· 매 층이 벽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허들은 ×1.75로 완화 · 17층 ×1.7 → 18~20층 ×2.1~2.4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층당 상승 초반 ×1.37 · 중반 ×1.32 · 후반 ×2.01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성장률이 올라가는 만큼 난이도는 그보다 더 가파르게 (다음 장)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 배치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허들은 구간의 문 — 5층은 초반 졸업, 16층은 후반 입장, 17층부터는 쉬운 층이 없다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1447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1층은 기준(100)이라 제외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2286000"/>
          <a:ext cx="42976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960120"/>
                <a:gridCol w="1097280"/>
                <a:gridCol w="16002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상승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조작을 익히며 시원하게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졸업 시험 · 재도전 1~2회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6~15층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없음 · 방이 늘어 판이 길어짐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입장 · 완화 ·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 · 19층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 · ×2.2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사이의 벽 · 2판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 · 20층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 · ×2.4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층에 3판 · 20층 최종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5715000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5층마다 있던 보스 구조 대신 허들 위치로 구간을 나눔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시간은 모든 층 180초 — 어려움은 75%, 허들은 90%를 써야 깨는 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방 수와 층 시간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늘면 강해도 오래 걸린다 — 중반은 쉬운데도 플레이 시간이 늘어나는 이유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83879" y="2240280"/>
            <a:ext cx="3017520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방 2~4개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26243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28~48초 — 적정 시간의 1/3 이하. 강해지면 순식간에 지나감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3611880"/>
            <a:ext cx="301752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· 방 5 → 9개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39959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58초 → 98초 — 적정(108초)에 가까워져 쉬워도 시간이 쌓임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4983480"/>
            <a:ext cx="301752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· 방 9개 고정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53675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1~15층을 지나가는 데만 매 판 약 16분 — 그 뒤 매 층이 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21층 이후 적정 난이도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21~30층은 16~20층 배율을 그대로 되풀이 — 30층 적정 찍찍 약 2.0억, 30층 다음은 무한 모드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7607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1447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검은 테두리 = 21~30층 (연장) · 색 = 층 유형 (주황 허들 · 연주황 어려움)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2240280"/>
          <a:ext cx="4361688" cy="33192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"/>
                <a:gridCol w="566928"/>
                <a:gridCol w="548640"/>
                <a:gridCol w="713232"/>
                <a:gridCol w="502920"/>
                <a:gridCol w="822960"/>
                <a:gridCol w="82296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건너뛰기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9.5시간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7.1시간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10.7시간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7.8시간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116만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12.5시간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8.9시간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256만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14.4시간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10.1시간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614만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16.4시간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11.3시간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1,075만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17.8시간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12.2시간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1,828만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19.3시간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13.2시간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3,838만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21.5시간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14.7시간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8,444만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23.8시간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16.3시간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26.2시간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18.0시간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562356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×1.30 그대로일 때 — 21~30층 26판, 30층 약 26.2시간 (최대 건너뛰기 약 18.0시간)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 추가 성장 요소(업데이트 예정)가 판당 성장을 올리면 이 시간이 줄어듦 · 방 9개 · 제한 180초 동일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성장 대 난이도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플레이어 성장 vs 층당 난이도 상승 — 이 둘의 비율이 '한 판에 몇 층 오르나'를 정한다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0350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2286000"/>
          <a:ext cx="3840479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960120"/>
                <a:gridCol w="1874519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1.7층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판 4층 → 5층 허들에서 재도전 1~2회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2.0층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성장이 난이도를 앞지름 → 매 판 고점 2층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0.4층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층당 난이도 ×2.0이 판당 성장을 크게 앞섬 → 2~3판에 한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4709160"/>
            <a:ext cx="3931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층 ≈ log(판당 성장) ÷ log(층당 난이도)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= 판 사이 로비 성장(스킬 · 훈장 · 훈련)으로 오르는 '그 판 최고 전투력'의 배율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 성장은 판당으론 중반보다 작지만, 콘텐츠 추가 · 스킬 이동으로 층당 기준 성장률은 오른다 (다음 장)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· 성장 곡선 비교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둘 다 후반으로 갈수록 가팔라지지만 — 난이도의 곡률이 더 커서 16층 허들부터 난이도가 앞지름 (격차는 줄임)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943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21792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세로축 = 1층 = 100 기준 지수 (일반 눈금)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086600" y="2194560"/>
          <a:ext cx="4160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78040" y="4800600"/>
            <a:ext cx="4069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1~5층 · 여유 1.0 안팎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곡선이 거의 겹침 — 5층 허들(0.78)은 1~2회 재도전으로 넘음</a:t>
            </a:r>
          </a:p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중반 6~15층 · 최대 1.1배 (15층)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성장이 난이도를 앞질러 한 판에 2층</a:t>
            </a:r>
          </a:p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16층~ · 0.95 → 0.44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성장률도 층당 ×1.55→×1.90로 오르지만 난이도가 더 가파름 — 반복 판 · 조각 파밍으로 메워 2~3판에 한 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구간별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앞 장 그래프를 구간별 눈금으로 나눠 봄 — 초반은 겹치고, 중반은 성장이 위로, 후반은 난이도가 위로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8912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86384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두 선이 거의 겹침 (여유 1.02~1.05)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허들에서 난이도가 위로 (0.78) → 재도전 1~2회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허들 뒤 첫 훈장으로 성장이 따라붙고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8층부터 성장이 위로 — 15층 여유 1.15배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판마다 2층 · 방이 늘어 판은 길어짐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16층 허들(0.95)부터 난이도가 위로 — 15층 1.15에서 낙차를 줄여 진입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성장도 가팔라지지만 격차가 벌어짐 → 20층 0.44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2~3판에 한 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63550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세로축은 구간마다 다름 (1층 = 100 기준 지수) · 구간 경계 층(5 · 15층)은 양쪽 그래프에 모두 표시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판별 고점 갱신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표준 플레이 21판의 고점 — 초반 3판에 5층, 중반 4판에 15층, 후반은 13판에 20층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10241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57607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막대 아래 = 판 번호와 그 판이 끝난 누적 시간 (로비 포함)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6199632"/>
            <a:ext cx="164592" cy="16459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6" y="6199632"/>
            <a:ext cx="164592" cy="16459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중반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6199632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612648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중반 막대가 2층씩 뛰고, 후반 막대는 2~3판 동안 같은 높이 — 구간의 성격이 한눈에 보이도록 설계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별 소모 시간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찍찍이면 쉬움 · 보통 60% · 어려움 75% · 허들 90% — 층에 머무는 시간은 허들이 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21991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· 보통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2194560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2194560"/>
            <a:ext cx="2523744" cy="329184"/>
          </a:xfrm>
          <a:prstGeom prst="rect">
            <a:avLst/>
          </a:prstGeom>
          <a:solidFill>
            <a:srgbClr val="BFBFB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108초 (60%)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221991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624328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2624328"/>
            <a:ext cx="3154680" cy="329184"/>
          </a:xfrm>
          <a:prstGeom prst="rect">
            <a:avLst/>
          </a:prstGeom>
          <a:solidFill>
            <a:srgbClr val="F4B183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135초 (75%)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651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81527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054096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0" y="3054096"/>
            <a:ext cx="3785615" cy="329184"/>
          </a:xfrm>
          <a:prstGeom prst="rect">
            <a:avLst/>
          </a:prstGeom>
          <a:solidFill>
            <a:srgbClr val="E9713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162초 (90%)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081527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48840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시간: 모든 층 180초 (허들 포함)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돌파 시간 ∝ 적정 ÷ 내 전투력 — 적정의 2배면 절반 시간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단, 강해도 방 하나에 최소 10초 → 방 9개 층은 최소 약 1.6분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수: 1층 2개 · 5층 4개 · 15층 9개 · 16층~ 9개 고정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1005840" y="3566160"/>
          <a:ext cx="1024128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33856" y="63550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방 수 · 연회색 쉬움 · 회색 보통 · 연주황 어려움 · 주황 허들 — 중반은 방이 늘며 판 끝 층의 대기가 10분 → 25분으로 길어지고, 후반은 모든 층이 50분 이상의 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허들표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1~10층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0277856" cy="4425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"/>
                <a:gridCol w="502920"/>
                <a:gridCol w="594360"/>
                <a:gridCol w="502920"/>
                <a:gridCol w="868680"/>
                <a:gridCol w="731520"/>
                <a:gridCol w="731520"/>
                <a:gridCol w="777240"/>
                <a:gridCol w="1051560"/>
                <a:gridCol w="777240"/>
                <a:gridCol w="3355848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벽 — 번식으로 강해지는 것을 체감 (튜토리얼)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승급 · 적정 찍찍 첫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스킬(치즈 창고) 첫 소개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판의 끝 — 여기까지 보여 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첫 보스전 · 필살기 시연 · 초반 졸업 → 첫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시작 · 첫 훈장 효과로 시원하게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필살기 쥐 (한두 마리)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판에 6~8층 몰아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스킬 트리 갈래 선택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· 훈장 · 새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0807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허들 · 어려움 층 · 적정 찍찍 = 1층 100 기준 지수 · 목표 돌파 = 적정 찍찍일 때 처음 깨는 시간 (제한 180초의 쉬움 · 보통 60% · 어려움 75% · 허들 90%) · 처음 깨는 시점 = 누적 플레이타임 (로비 포함, 표준 플레이)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허들표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11~20층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0277856" cy="4425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"/>
                <a:gridCol w="502920"/>
                <a:gridCol w="594360"/>
                <a:gridCol w="502920"/>
                <a:gridCol w="868680"/>
                <a:gridCol w="731520"/>
                <a:gridCol w="731520"/>
                <a:gridCol w="777240"/>
                <a:gridCol w="1051560"/>
                <a:gridCol w="777240"/>
                <a:gridCol w="3355848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쥐 2~3마리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37분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빌드 실험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38분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판에 11~13층 몰아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4,277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콘텐츠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· 중반 졸업 → 16층 허들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9,881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58분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후반 입장 · 조각 수급 콘텐츠 열림 · 2판 (완화)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16,797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52분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 · 필살기 연쇄 '깽판' 본격화 ·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35,273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조합 완성 시험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77,602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 · 마지막 벽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186,244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23분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최종 목표 (약 8.5시간)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0807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허들 · 어려움 층 · 적정 찍찍 = 1층 100 기준 지수 · 목표 돌파 = 적정 찍찍일 때 처음 깨는 시간 (제한 180초의 쉬움 · 보통 60% · 어려움 75% · 허들 90%) · 처음 깨는 시점 = 누적 플레이타임 (로비 포함, 표준 플레이)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 보상과 가스 빼기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허들을 먼저 정하고 보상은 체감을 잰 뒤에 — 힘든 구간 뒤에는 반드시 쉬어 가는 구간을 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시간 장벽과 보상 후보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33856" y="2633472"/>
          <a:ext cx="5120640" cy="2706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1097280"/>
                <a:gridCol w="2971800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후보 (체감 측정 후 확정)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훈장 · 새 쥐 · 층 건너뛰기 등장 (3층 시작)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· 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— 훈장 · 필살기 쥐 · 15층은 10층 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콘텐츠 해금 · 후반 입장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수급량 증가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후보 공개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높은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육성 · 15층 시작 (건너뛰기 최대)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3856" y="539496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① 허들 위치와 요구 시간 확정 → ② 플레이테스트로 체감 측정 → ③ 체감이 큰 허들일수록 큰 보상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요구 시간 = 직전 층을 처음 깬 뒤 그 허들을 처음 깰 때까지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가스 빼기 구간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6334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12280" y="28072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883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뒤 보통 10층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없는 중반 — 첫 훈장 효과로 몰아 돌파하며 '강해졌다'를 바로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5478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12280" y="37216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027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판의 앞 15층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매 층이 벽인 후반에도 판 앞부분은 순식간에 쓸어 버림 — 성장 체감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4622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46360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5171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쉬는 자리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낮잠 침대 · 도감 구경 — 판과 판 사이 숨 고르기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3766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80" y="55504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4315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후반의 보는 플레이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연출 감상 위주, 손이 덜 바쁜 판 — 집중이 흐려져도 괜찮게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건너뛰기 · 해금 규칙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 시작 층은 플레이어가 고른다 — 5층 클리어부터 열리고, 간격이 2층 → 5층으로 늘어 최대 15층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층별 고를 수 있는 가장 높은 시작 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51760"/>
            <a:ext cx="11887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035808"/>
            <a:ext cx="11887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최대 시작 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3856" y="3493008"/>
            <a:ext cx="118872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간격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2576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25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7121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712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85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84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849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171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71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57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144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1441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144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116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169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16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033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03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08975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08975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08975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76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761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576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06255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06255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06255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548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5489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48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35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353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035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521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52176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521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" y="385876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= 단계가 바뀌는 층 (5층 첫 등장 · 15층 10층 시작 · 20층 15층 시작) · 15~19층 클리어는 10층 시작 유지 · 21층 이후 · 30층 · 무한 모드에서도 최대 15층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33856" y="42519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등장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25496" y="42519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허들을 처음 깨면 로비의 출발 버튼에 '시작 층' 선택이 열림 — 첫 단계 3층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33856" y="47091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간격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25496" y="47091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처음엔 2층(5 · 6층 클리어) → 3층(7~9) → 4층(10~13) → 5층(14 · 15) — 16~19층 클리어는 10층 유지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33856" y="51663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25496" y="51663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15층 클리어 = 10층 시작, 20층 클리어 = 15층 시작 (20층 허들 보상) — 그 위로는 늘지 않음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33856" y="5623560"/>
            <a:ext cx="169164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선택형 · 보정 없음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25496" y="56235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건너뛴 층의 번식 · 치즈는 받지 않음 — 시간을 아낄지, 낮은 층부터 불려 갈지 플레이어가 고름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33856" y="6080760"/>
            <a:ext cx="169164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 막힘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25496" y="60807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언제든 1층 시작 가능 — 건너뛰고 막히면 다음 판에 낮은 층부터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건너뛰기 · 플레이타임 영향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건너뛰기 없이 20층까지 약 8.5시간, 매 판 최대로 건너뛰면 약 6.6시간 — 기준 수치는 건너뛰기 없는 쪽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669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03720" y="2240280"/>
          <a:ext cx="420624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188720"/>
                <a:gridCol w="12344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건너뛰기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최대로 건너뛰기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07분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58분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26분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23분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28분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목표 (21판 종료)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8.5시간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6.6시간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 평균 길이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판 평균 길이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03720" y="562356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20층 이후(21~30층 · 무한 모드)는 15층 시작으로 판마다 약 7분 더 아낌 (10~14층 방 39개)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수 · 판 전투력은 표준 플레이와 같다고 가정 — 보정이 없어 실제 단축은 이보다 작음 (건너뛰기 사용률은 플레이 로그로 확인)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화면 구성과 정보 공개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정보는 필요한 순간에 하나씩 — 처음엔 무리 · 벽 · 시간만, 20~30시간 하는 사람에게만 보이는 정보도 남긴다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38679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280160"/>
                <a:gridCol w="3291840"/>
                <a:gridCol w="2103120"/>
                <a:gridCol w="182880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 보여 줄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아직 숨길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여는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 (0~10분)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무리 · 벽 · 치즈 · 제한 시간 → 10마리에서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나머지 HUD 전부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튜토리얼 대사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 (10~18분)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 · 인구 · 로비 스킬(치즈 창고)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· 도감 · 필살기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실패 직후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 (18~29분)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허들(첫 보스전) 필살기 시연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게이지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진입 (30분~)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· 친구들 도감 · 필살기 게이지 · 훈련 · 시작 층 선택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· 업적 전체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· 15층 보상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쥐 · 스킬 트리 갈래 · 업적 일부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진입 (~2시간 15분)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콘텐츠 · 업적 전체 · 조합 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도감 완성 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이후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육성 · 21층~ 엔드게임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20~30시간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도감 완성 · 숨은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수집 완료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검증 지표와 남은 결정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6720840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42316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지표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순수 메카닉스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이탈 없이 5층 격파 (20~30분)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테스터 5명 이상, 이탈 시점 · 이유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재도전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1~2회 (2~3판)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로그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판당 고점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+2층 /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최고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종료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2~2.5시간 (15층)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로그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진척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2~3판에 한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최고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돌파 (적정일 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108초 · 어려움 135초 · 허들 162초 (제한 180초)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측정, 층당 4회 이상 중앙값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체감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층 '빠르다' · 허들 '막힌다'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후 설문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건너뛰기 사용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6.6~8.5시간 사이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시작 층 · 막힌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0" y="1554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어긋났을 때 조정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965960"/>
            <a:ext cx="3063240" cy="6400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① 그 층의 적정 찍찍</a:t>
            </a:r>
          </a:p>
          <a:p>
            <a:pPr algn="ctr"/>
            <a:r>
              <a:rPr sz="10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층만 튀면 그 층만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69780" y="2606039"/>
            <a:ext cx="0" cy="2286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38160" y="2834639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② 로비 성장 수치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성장이 구간 목표와 다를 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69780" y="3474720"/>
            <a:ext cx="0" cy="2286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138160" y="3703320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③ 구간 난이도 배율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여러 층이 같은 방향으로 어긋날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남은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5760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메인 목표를 20층(건너뛰기 없이 약 8.5시간 · 최대 건너뛰기 약 6.6시간)으로 둘지 · 21~30층과 무한 모드 수치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보상의 크기 · 조각 수급 콘텐츠와 종결 쥐의 상세 (별도 기획서) · 건너뛰기 사용률을 본 뒤 시작 보정 여부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8872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89888" y="151790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개요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659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9659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945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945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231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한 장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231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517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기획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517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8803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설계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803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089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용어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1089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59359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348386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설계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9319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세 구간 한눈에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9319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605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층 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605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3891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진행 곡선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3891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177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초반 · 순수 메카닉스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6177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8463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중반 · 성장이 난이도를 앞지름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8463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0749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후반 · 깽판과 긴 목표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0749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3035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한 판의 흐름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3035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5321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 구간별 경험 · 스타일 변화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5321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151790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별 난이도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16P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19659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난이도 상승 곡선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19659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21945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허들 배치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21945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24231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방 수와 층 시간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4231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6517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21층 이후 적정 난이도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265176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30906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6248" y="298094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20P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42900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성장 대 난이도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34290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365760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난이도 · 성장 곡선 비교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36576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388620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구간별 곡선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38862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411480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판별 고점 갱신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41148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434340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층 별 소모 시간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69880" y="434340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473659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6248" y="462686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허들표 · 운영 · 검증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25P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50749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허들표 1~10층 · 11~20층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50749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53035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허들 보상과 가스 빼기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69880" y="53035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55321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층 건너뛰기 · 해금 규칙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55321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3720" y="57607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층 건너뛰기 · 플레이타임 영향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80" y="57607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59893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화면 구성과 정보 공개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69880" y="59893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62179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검증 지표와 남은 결정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80" y="62179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1434</Words>
  <Application>Microsoft Office PowerPoint</Application>
  <PresentationFormat>와이드스크린</PresentationFormat>
  <Paragraphs>290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anthropic-sans</vt:lpstr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22</cp:revision>
  <dcterms:created xsi:type="dcterms:W3CDTF">2026-09-29T07:46:10Z</dcterms:created>
  <dcterms:modified xsi:type="dcterms:W3CDTF">2026-10-05T12:01:17Z</dcterms:modified>
</cp:coreProperties>
</file>