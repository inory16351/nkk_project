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eg"/>
  <Override PartName="/ppt/media/image3.jpg" ContentType="image/jpeg"/>
  <Override PartName="/ppt/media/image4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6.jpg" ContentType="image/jpeg"/>
  <Override PartName="/ppt/notesSlides/notesSlide4.xml" ContentType="application/vnd.openxmlformats-officedocument.presentationml.notesSlide+xml"/>
  <Override PartName="/ppt/media/image7.jpg" ContentType="image/jpeg"/>
  <Override PartName="/ppt/notesSlides/notesSlide5.xml" ContentType="application/vnd.openxmlformats-officedocument.presentationml.notesSlide+xml"/>
  <Override PartName="/ppt/media/image8.jpg" ContentType="image/jpeg"/>
  <Override PartName="/ppt/notesSlides/notesSlide6.xml" ContentType="application/vnd.openxmlformats-officedocument.presentationml.notesSlide+xml"/>
  <Override PartName="/ppt/media/image9.jpg" ContentType="image/jpeg"/>
  <Override PartName="/ppt/notesSlides/notesSlide7.xml" ContentType="application/vnd.openxmlformats-officedocument.presentationml.notesSlide+xml"/>
  <Override PartName="/ppt/media/image10.jpg" ContentType="image/jpeg"/>
  <Override PartName="/ppt/notesSlides/notesSlide8.xml" ContentType="application/vnd.openxmlformats-officedocument.presentationml.notesSlide+xml"/>
  <Override PartName="/ppt/media/image11.jpg" ContentType="image/jpeg"/>
  <Override PartName="/ppt/notesSlides/notesSlide9.xml" ContentType="application/vnd.openxmlformats-officedocument.presentationml.notesSlide+xml"/>
  <Override PartName="/ppt/media/image13.jpg" ContentType="image/jpeg"/>
  <Override PartName="/ppt/media/image14.jpg" ContentType="image/jpeg"/>
  <Override PartName="/ppt/media/image15.jpg" ContentType="image/jpeg"/>
  <Override PartName="/ppt/notesSlides/notesSlide10.xml" ContentType="application/vnd.openxmlformats-officedocument.presentationml.notesSlide+xml"/>
  <Override PartName="/ppt/media/image16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15" r:id="rId2"/>
    <p:sldId id="317" r:id="rId3"/>
    <p:sldId id="318" r:id="rId4"/>
    <p:sldId id="319" r:id="rId5"/>
    <p:sldId id="322" r:id="rId6"/>
    <p:sldId id="324" r:id="rId7"/>
    <p:sldId id="325" r:id="rId8"/>
    <p:sldId id="320" r:id="rId9"/>
    <p:sldId id="327" r:id="rId10"/>
    <p:sldId id="32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63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13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354" y="102"/>
      </p:cViewPr>
      <p:guideLst>
        <p:guide pos="386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F7D74-76CC-4EFB-B80F-BDCEA0446637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76EF2-5C63-4136-96C2-F653914DC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415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AB64D-1741-80BE-5DAE-B0DD5820A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6FE6BB-C210-47D4-F1A5-988ACEE5C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954ED1-ADC0-33BA-40D3-FB53E1527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309B0E-7EA2-891D-5A7F-18B7E29B6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514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AE8D0-F791-48B5-8D49-9585167E8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86587B-35C0-C6AA-B5B5-F19283458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EA398D-AF79-D2DC-502B-0F20A0B34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5D6D6E-CC7D-90A0-A181-8D2B830CF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204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40DD4-BDC3-B37E-8644-FC5A69090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09FC46-BEA6-6BD4-7115-F29CD8D69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D5CC13-F622-AC4C-9A50-A4F239A6B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B81AF-9085-A2A7-BB98-5512C2BF8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99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B3361-859C-DF6E-9B3B-2CF2D70C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B238E0-5639-5C90-2DCA-EEE3A02C7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69421B-0D61-2A25-33AB-1ADF1F294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CEF00A-6E70-9116-7001-1E5BC16DA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853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B05E-61C1-728E-BBED-B7FF13FF8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CEE00F-CFC3-7E66-67E6-BEFF2DAF3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5931A2-BD66-31C4-B551-0431BC2D2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BF1917-D235-0896-1992-568B4C398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379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A700A-2D43-9004-6170-A71CA91AC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AF5332-946A-7CC0-331C-97A15B462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E13F0C-C3D7-3627-B0B5-D2FD21019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DE2BC2-D8E3-9F9A-D600-D75BE8604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063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CA04F-A103-DAAB-A14F-7BCA6DC34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9F139E-1C86-1ACE-BBE3-8E81F79ED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0AFC5E-9B76-66C0-BDD0-CC1E77F9D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D745A0-9097-3477-300B-AF9099573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946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B0206-803A-5C19-D574-BE2FF3270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F2E88F-38D7-A8AF-52F3-C52B4680A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279C0D-22C7-B878-DF72-37C3B1539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694-2C80-D358-8B9A-5406528E5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313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B811A-F9D5-0E40-834F-A1D25699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7BB583-AD13-66D6-21AE-319FB7886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2BC965-2B21-E3C3-362D-014744BA8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2C591-6DEA-C072-8056-C6CC9703C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706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AD465-FDDD-3C80-2755-02A4F566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67B2B4-864F-5D42-41B8-BA55D9D66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8F2C13-A2FC-DD7F-FC60-0914583A0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9D9DB6-6B8A-39C5-F44F-BCE53716B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F35D8-3F1B-4838-9AA9-54A21BBB9EB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663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9A3DA5-DCC9-5D67-F03B-4DCD7C931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9FF283E-2317-F8F2-27AB-22E741D6E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71AAA0-96F2-3E7F-AD3A-0B216D34C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0F65-256F-491A-A89B-BB171B9228C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930EFD-BE7D-18DA-F2F6-C508E12C7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342236-4A57-EB13-A87E-FE5A0C5A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3400-4C2F-4A5B-B121-121186B56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52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B8CD9-D60B-0930-8C19-DEBBD742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85EDC6-2294-C1BE-8B46-6A4FDFC7D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A50AD6-0E4D-0E7F-861D-04C1336AB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0F65-256F-491A-A89B-BB171B9228C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E077AD-B4AF-D147-BFAF-B75AB2FFF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C515D4-6676-6587-900C-229755F5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3400-4C2F-4A5B-B121-121186B56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6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FE93C8-08B9-529C-BFE9-D091A04A0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2A42FF-D5A7-12AC-5FF5-EF92C974C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31ACE3-C6A1-06A7-3E39-D73562041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0F65-256F-491A-A89B-BB171B9228C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2CBD0-CB9E-5004-31CC-21258A07D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29BDC-DAAC-0B6B-E0FA-3AABC13D9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3400-4C2F-4A5B-B121-121186B56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437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70A86-BC5D-73F6-A189-F5ED67B6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0509FC-8D8C-D236-43A8-9AAD9346A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5091B8-CF72-89D3-002A-356758C39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2FD94B-3172-46DD-5F2C-C7B57D200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0F65-256F-491A-A89B-BB171B9228C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192442-93DD-4CD8-5F4C-A684E37FB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F92E98-A29D-CE11-0AC1-1686EEC44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3400-4C2F-4A5B-B121-121186B56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992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22B678-96FC-BD02-28FA-795487848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7444DB-6F43-F57A-79A0-0D4DFF427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D54A9E-BF8E-6AF9-C9E6-2B19A2ED6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257DA8-A856-0409-C087-362746E9B1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73121AF-9904-5857-9D94-8C7AD7A0C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657996-F669-BF41-1C4E-341FF4A99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0F65-256F-491A-A89B-BB171B9228C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529EE3-C3F6-F83F-4C01-AEB7D54A7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61BD2CA-B141-26E4-1D13-CED116B29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3400-4C2F-4A5B-B121-121186B56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4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FAAA3-D075-C5C3-0BDE-83AC7F7E3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702CB6-DE00-761C-055C-A3ABDD236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0F65-256F-491A-A89B-BB171B9228C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25F000-7508-146B-9554-407CDB8EA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B37D1E-458B-AF2E-70A4-54D3AB5B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3400-4C2F-4A5B-B121-121186B56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22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2FD8C92-8647-2A5E-DEBD-D161005D2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0F65-256F-491A-A89B-BB171B9228C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DC8A2BE-28ED-8362-1F3B-7D74447C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10CE6D-9282-2FE3-AB55-3F0BC8D6B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3400-4C2F-4A5B-B121-121186B56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856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A4FC6-C1A0-3A6E-CB73-CCD4B8EAB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F6CE4D-FBBB-C45A-BDD6-31566BFCB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F7D5A0-E02C-1C6C-614C-D6558CCB5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F12EC3-BA78-1ABF-0018-CD4076493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0F65-256F-491A-A89B-BB171B9228C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9FEF48-0B36-C802-BB47-2E09F0CE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82A5AA-5929-011D-9EF5-AB58CE40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3400-4C2F-4A5B-B121-121186B56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589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93C0E-F221-03D7-3125-5A7BAEB7A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0E9709-CE39-00FD-54BC-20E15F71EB2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EC1A00-4A88-2A9F-3B33-BE45FDCA0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7827AC-CA07-A10A-FB22-C535571E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0F65-256F-491A-A89B-BB171B9228C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C15514-38E9-55F1-E5C2-9172CA61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8FDA29-4B16-526E-FB09-2204E9A9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3400-4C2F-4A5B-B121-121186B56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696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39B59-3748-90E5-3EAD-D43F74B4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39EE7-02E8-B4E8-AD62-46AD25A94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7AA796-E4F8-1387-E6F3-4F835FD39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0F65-256F-491A-A89B-BB171B9228C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17F9DC-F9CF-287E-F48A-B05ADA86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7CA1B-9D38-FC20-4584-42ACEC204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3400-4C2F-4A5B-B121-121186B56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275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CEF4E5-82EA-CBC5-7E19-3E15B1940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D265BE-08A3-9B06-189C-59D958DE8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D81D5F-84BC-6E5B-C6A6-30525403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0F65-256F-491A-A89B-BB171B9228C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20B860-2916-9DDA-4AAD-9DA71E530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B3EDAC-E6BB-76A6-CDC3-6FAF7931D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3400-4C2F-4A5B-B121-121186B56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212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812BCE2-C683-A3B7-37BB-2E1E3A194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921759-1D02-1137-DD07-B62E2E515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08CADF-39FF-D5B9-CCA4-3ECD2E6CB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870F65-256F-491A-A89B-BB171B9228C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72EB51-8EDA-3C7B-38A6-1F4C26B1F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441D7A-577B-0F14-D795-6909AE816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A3400-4C2F-4A5B-B121-121186B56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031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87A2F-EED7-4553-EFF2-FD8F1E75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3243B6-CD8A-645E-AA74-55BF060DC035}"/>
              </a:ext>
            </a:extLst>
          </p:cNvPr>
          <p:cNvSpPr txBox="1"/>
          <p:nvPr/>
        </p:nvSpPr>
        <p:spPr>
          <a:xfrm>
            <a:off x="1029084" y="22232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신화쥐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– 찍찍 탐정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F175D0B-3EDE-81CF-AB9B-2D79E89E7027}"/>
              </a:ext>
            </a:extLst>
          </p:cNvPr>
          <p:cNvCxnSpPr>
            <a:cxnSpLocks/>
          </p:cNvCxnSpPr>
          <p:nvPr/>
        </p:nvCxnSpPr>
        <p:spPr>
          <a:xfrm flipH="1">
            <a:off x="1133475" y="796721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Shape 4">
            <a:extLst>
              <a:ext uri="{FF2B5EF4-FFF2-40B4-BE49-F238E27FC236}">
                <a16:creationId xmlns:a16="http://schemas.microsoft.com/office/drawing/2014/main" id="{9701A1FA-73BC-9F92-8B2F-C9E097C9ED04}"/>
              </a:ext>
            </a:extLst>
          </p:cNvPr>
          <p:cNvSpPr/>
          <p:nvPr/>
        </p:nvSpPr>
        <p:spPr>
          <a:xfrm>
            <a:off x="1133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D9786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4" name="Text 5">
            <a:extLst>
              <a:ext uri="{FF2B5EF4-FFF2-40B4-BE49-F238E27FC236}">
                <a16:creationId xmlns:a16="http://schemas.microsoft.com/office/drawing/2014/main" id="{297F878A-6C04-D2A5-595F-A5F36AC36625}"/>
              </a:ext>
            </a:extLst>
          </p:cNvPr>
          <p:cNvSpPr/>
          <p:nvPr/>
        </p:nvSpPr>
        <p:spPr>
          <a:xfrm>
            <a:off x="1133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신화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6" name="Shape 6">
            <a:extLst>
              <a:ext uri="{FF2B5EF4-FFF2-40B4-BE49-F238E27FC236}">
                <a16:creationId xmlns:a16="http://schemas.microsoft.com/office/drawing/2014/main" id="{DC455AD9-8AEA-1D31-3C71-689B7DB0AED7}"/>
              </a:ext>
            </a:extLst>
          </p:cNvPr>
          <p:cNvSpPr/>
          <p:nvPr/>
        </p:nvSpPr>
        <p:spPr>
          <a:xfrm>
            <a:off x="2276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8A5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8" name="Text 7">
            <a:extLst>
              <a:ext uri="{FF2B5EF4-FFF2-40B4-BE49-F238E27FC236}">
                <a16:creationId xmlns:a16="http://schemas.microsoft.com/office/drawing/2014/main" id="{3F81C814-F730-8B5C-8E4B-DB6CB4B0206D}"/>
              </a:ext>
            </a:extLst>
          </p:cNvPr>
          <p:cNvSpPr/>
          <p:nvPr/>
        </p:nvSpPr>
        <p:spPr>
          <a:xfrm>
            <a:off x="2276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티어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1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2" name="Text 9">
            <a:extLst>
              <a:ext uri="{FF2B5EF4-FFF2-40B4-BE49-F238E27FC236}">
                <a16:creationId xmlns:a16="http://schemas.microsoft.com/office/drawing/2014/main" id="{408A6C16-8AD0-5E29-8570-299D26EF7EE1}"/>
              </a:ext>
            </a:extLst>
          </p:cNvPr>
          <p:cNvSpPr/>
          <p:nvPr/>
        </p:nvSpPr>
        <p:spPr>
          <a:xfrm>
            <a:off x="3419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돌파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4" name="Shape 10">
            <a:extLst>
              <a:ext uri="{FF2B5EF4-FFF2-40B4-BE49-F238E27FC236}">
                <a16:creationId xmlns:a16="http://schemas.microsoft.com/office/drawing/2014/main" id="{E4F316D4-1680-0EDA-C5C3-1E2AABF396E1}"/>
              </a:ext>
            </a:extLst>
          </p:cNvPr>
          <p:cNvSpPr/>
          <p:nvPr/>
        </p:nvSpPr>
        <p:spPr>
          <a:xfrm>
            <a:off x="3535680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6" name="Text 11">
            <a:extLst>
              <a:ext uri="{FF2B5EF4-FFF2-40B4-BE49-F238E27FC236}">
                <a16:creationId xmlns:a16="http://schemas.microsoft.com/office/drawing/2014/main" id="{326AE1C6-1592-2812-2D3E-61108D1BD72D}"/>
              </a:ext>
            </a:extLst>
          </p:cNvPr>
          <p:cNvSpPr/>
          <p:nvPr/>
        </p:nvSpPr>
        <p:spPr>
          <a:xfrm>
            <a:off x="3535680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공격력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64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8" name="Shape 12">
            <a:extLst>
              <a:ext uri="{FF2B5EF4-FFF2-40B4-BE49-F238E27FC236}">
                <a16:creationId xmlns:a16="http://schemas.microsoft.com/office/drawing/2014/main" id="{6987F5B7-9E88-F060-C6F2-1949F96AC76B}"/>
              </a:ext>
            </a:extLst>
          </p:cNvPr>
          <p:cNvSpPr/>
          <p:nvPr/>
        </p:nvSpPr>
        <p:spPr>
          <a:xfrm>
            <a:off x="4678680" y="1126998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0" name="Text 13">
            <a:extLst>
              <a:ext uri="{FF2B5EF4-FFF2-40B4-BE49-F238E27FC236}">
                <a16:creationId xmlns:a16="http://schemas.microsoft.com/office/drawing/2014/main" id="{C750FE83-8D7A-31A8-5AFF-3356E4434C02}"/>
              </a:ext>
            </a:extLst>
          </p:cNvPr>
          <p:cNvSpPr/>
          <p:nvPr/>
        </p:nvSpPr>
        <p:spPr>
          <a:xfrm>
            <a:off x="4678680" y="116357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물건파괴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50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82" name="Image 0" descr="/workspace/artifacts/skill_hero.jpg">
            <a:extLst>
              <a:ext uri="{FF2B5EF4-FFF2-40B4-BE49-F238E27FC236}">
                <a16:creationId xmlns:a16="http://schemas.microsoft.com/office/drawing/2014/main" id="{A62915C7-E64F-49B6-76A6-09C3AA8B04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3475" y="1628775"/>
            <a:ext cx="3461719" cy="1864003"/>
          </a:xfrm>
          <a:prstGeom prst="rect">
            <a:avLst/>
          </a:prstGeom>
        </p:spPr>
      </p:pic>
      <p:sp>
        <p:nvSpPr>
          <p:cNvPr id="1084" name="Shape 14">
            <a:extLst>
              <a:ext uri="{FF2B5EF4-FFF2-40B4-BE49-F238E27FC236}">
                <a16:creationId xmlns:a16="http://schemas.microsoft.com/office/drawing/2014/main" id="{7F829002-AFED-F382-ED67-5DD3CEDEB3A5}"/>
              </a:ext>
            </a:extLst>
          </p:cNvPr>
          <p:cNvSpPr/>
          <p:nvPr/>
        </p:nvSpPr>
        <p:spPr>
          <a:xfrm>
            <a:off x="1133475" y="1628775"/>
            <a:ext cx="3461719" cy="1864003"/>
          </a:xfrm>
          <a:prstGeom prst="roundRect">
            <a:avLst>
              <a:gd name="adj" fmla="val 4082"/>
            </a:avLst>
          </a:prstGeom>
          <a:ln w="12700">
            <a:solidFill>
              <a:srgbClr val="E4D8C8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6" name="Shape 15">
            <a:extLst>
              <a:ext uri="{FF2B5EF4-FFF2-40B4-BE49-F238E27FC236}">
                <a16:creationId xmlns:a16="http://schemas.microsoft.com/office/drawing/2014/main" id="{DC5FB49E-0FE0-F41A-3F46-E5ADAAFFABC3}"/>
              </a:ext>
            </a:extLst>
          </p:cNvPr>
          <p:cNvSpPr/>
          <p:nvPr/>
        </p:nvSpPr>
        <p:spPr>
          <a:xfrm>
            <a:off x="4732141" y="1628775"/>
            <a:ext cx="6025674" cy="852116"/>
          </a:xfrm>
          <a:prstGeom prst="roundRect">
            <a:avLst>
              <a:gd name="adj" fmla="val 7143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8" name="Text 16">
            <a:extLst>
              <a:ext uri="{FF2B5EF4-FFF2-40B4-BE49-F238E27FC236}">
                <a16:creationId xmlns:a16="http://schemas.microsoft.com/office/drawing/2014/main" id="{0DF507F8-F276-E50A-AA25-8DA8D6513885}"/>
              </a:ext>
            </a:extLst>
          </p:cNvPr>
          <p:cNvSpPr/>
          <p:nvPr/>
        </p:nvSpPr>
        <p:spPr>
          <a:xfrm>
            <a:off x="4861480" y="1689640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레퍼런스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0" name="Text 17">
            <a:extLst>
              <a:ext uri="{FF2B5EF4-FFF2-40B4-BE49-F238E27FC236}">
                <a16:creationId xmlns:a16="http://schemas.microsoft.com/office/drawing/2014/main" id="{464A68C5-F2F6-CF34-DB2A-9AB4EC600E8C}"/>
              </a:ext>
            </a:extLst>
          </p:cNvPr>
          <p:cNvSpPr/>
          <p:nvPr/>
        </p:nvSpPr>
        <p:spPr>
          <a:xfrm>
            <a:off x="4861480" y="1887453"/>
            <a:ext cx="5744172" cy="48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명탐정</a:t>
            </a:r>
            <a:r>
              <a:rPr lang="en-US" sz="1300" dirty="0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코</a:t>
            </a:r>
            <a:r>
              <a:rPr lang="ko-KR" altLang="en-US" sz="1300" dirty="0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난을 패러디</a:t>
            </a:r>
            <a:r>
              <a:rPr lang="en-US" altLang="ko-KR" sz="1300" dirty="0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. </a:t>
            </a:r>
            <a:r>
              <a:rPr lang="ko-KR" altLang="en-US" sz="1300" dirty="0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추리능력과 축구공을 활용하며 나비넥타이가 특징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2" name="Shape 18">
            <a:extLst>
              <a:ext uri="{FF2B5EF4-FFF2-40B4-BE49-F238E27FC236}">
                <a16:creationId xmlns:a16="http://schemas.microsoft.com/office/drawing/2014/main" id="{4EA9817B-B173-7509-E6CC-4A8E3174AA71}"/>
              </a:ext>
            </a:extLst>
          </p:cNvPr>
          <p:cNvSpPr/>
          <p:nvPr/>
        </p:nvSpPr>
        <p:spPr>
          <a:xfrm>
            <a:off x="4732141" y="2556972"/>
            <a:ext cx="6025674" cy="935805"/>
          </a:xfrm>
          <a:prstGeom prst="roundRect">
            <a:avLst>
              <a:gd name="adj" fmla="val 6504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4" name="Text 19">
            <a:extLst>
              <a:ext uri="{FF2B5EF4-FFF2-40B4-BE49-F238E27FC236}">
                <a16:creationId xmlns:a16="http://schemas.microsoft.com/office/drawing/2014/main" id="{060FC285-0F57-DC6A-F0FD-B403AEDBA07B}"/>
              </a:ext>
            </a:extLst>
          </p:cNvPr>
          <p:cNvSpPr/>
          <p:nvPr/>
        </p:nvSpPr>
        <p:spPr>
          <a:xfrm>
            <a:off x="4861480" y="2617838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기획의도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6" name="Text 20">
            <a:extLst>
              <a:ext uri="{FF2B5EF4-FFF2-40B4-BE49-F238E27FC236}">
                <a16:creationId xmlns:a16="http://schemas.microsoft.com/office/drawing/2014/main" id="{02AB52F5-291D-F666-A050-6BEC122B1493}"/>
              </a:ext>
            </a:extLst>
          </p:cNvPr>
          <p:cNvSpPr/>
          <p:nvPr/>
        </p:nvSpPr>
        <p:spPr>
          <a:xfrm>
            <a:off x="4861480" y="2815650"/>
            <a:ext cx="5744172" cy="547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물건 파괴를 전문적으로 하는 탐정 쥐 체력이 높은 까다로운 물건을 손쉽게 파괴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AB20793-68B9-D701-3855-DF467DF6C146}"/>
              </a:ext>
            </a:extLst>
          </p:cNvPr>
          <p:cNvGrpSpPr/>
          <p:nvPr/>
        </p:nvGrpSpPr>
        <p:grpSpPr>
          <a:xfrm>
            <a:off x="1133475" y="3637333"/>
            <a:ext cx="9738463" cy="2896817"/>
            <a:chOff x="1133475" y="3637333"/>
            <a:chExt cx="9738463" cy="2404183"/>
          </a:xfrm>
        </p:grpSpPr>
        <p:sp>
          <p:nvSpPr>
            <p:cNvPr id="1098" name="Shape 21">
              <a:extLst>
                <a:ext uri="{FF2B5EF4-FFF2-40B4-BE49-F238E27FC236}">
                  <a16:creationId xmlns:a16="http://schemas.microsoft.com/office/drawing/2014/main" id="{369492A2-5EA4-F8D4-4066-BF4F267FDD06}"/>
                </a:ext>
              </a:extLst>
            </p:cNvPr>
            <p:cNvSpPr/>
            <p:nvPr/>
          </p:nvSpPr>
          <p:spPr>
            <a:xfrm>
              <a:off x="1133475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0" name="Shape 22">
              <a:extLst>
                <a:ext uri="{FF2B5EF4-FFF2-40B4-BE49-F238E27FC236}">
                  <a16:creationId xmlns:a16="http://schemas.microsoft.com/office/drawing/2014/main" id="{1921FDB1-65D8-9C25-A3D4-928511FEE79E}"/>
                </a:ext>
              </a:extLst>
            </p:cNvPr>
            <p:cNvSpPr/>
            <p:nvPr/>
          </p:nvSpPr>
          <p:spPr>
            <a:xfrm>
              <a:off x="1133475" y="3637333"/>
              <a:ext cx="60865" cy="2404183"/>
            </a:xfrm>
            <a:prstGeom prst="rect">
              <a:avLst/>
            </a:prstGeom>
            <a:solidFill>
              <a:srgbClr val="6F8A6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4" name="Text 23">
              <a:extLst>
                <a:ext uri="{FF2B5EF4-FFF2-40B4-BE49-F238E27FC236}">
                  <a16:creationId xmlns:a16="http://schemas.microsoft.com/office/drawing/2014/main" id="{69D8BD3B-CB90-221C-53EB-711720944880}"/>
                </a:ext>
              </a:extLst>
            </p:cNvPr>
            <p:cNvSpPr/>
            <p:nvPr/>
          </p:nvSpPr>
          <p:spPr>
            <a:xfrm>
              <a:off x="1285638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F8A6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패시브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6" name="Text 24">
              <a:extLst>
                <a:ext uri="{FF2B5EF4-FFF2-40B4-BE49-F238E27FC236}">
                  <a16:creationId xmlns:a16="http://schemas.microsoft.com/office/drawing/2014/main" id="{7A01E31B-0A4D-7941-E37E-2AA71A175AC5}"/>
                </a:ext>
              </a:extLst>
            </p:cNvPr>
            <p:cNvSpPr/>
            <p:nvPr/>
          </p:nvSpPr>
          <p:spPr>
            <a:xfrm>
              <a:off x="1285638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단서 수집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8" name="Text 25">
              <a:extLst>
                <a:ext uri="{FF2B5EF4-FFF2-40B4-BE49-F238E27FC236}">
                  <a16:creationId xmlns:a16="http://schemas.microsoft.com/office/drawing/2014/main" id="{10753C22-45C8-14B6-222E-0C14C8FF350B}"/>
                </a:ext>
              </a:extLst>
            </p:cNvPr>
            <p:cNvSpPr/>
            <p:nvPr/>
          </p:nvSpPr>
          <p:spPr>
            <a:xfrm>
              <a:off x="1285638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물건을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파괴할때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마다 단서를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개 얻습니다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모은 단서와 비례해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필살기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피해량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증가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  <a:p>
              <a:pPr marL="0" indent="0">
                <a:buNone/>
              </a:pP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필살기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사용시 단서 초기화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0" name="Shape 26">
              <a:extLst>
                <a:ext uri="{FF2B5EF4-FFF2-40B4-BE49-F238E27FC236}">
                  <a16:creationId xmlns:a16="http://schemas.microsoft.com/office/drawing/2014/main" id="{DD41FDCA-8814-BE48-FE3B-64D079C77F1B}"/>
                </a:ext>
              </a:extLst>
            </p:cNvPr>
            <p:cNvSpPr/>
            <p:nvPr/>
          </p:nvSpPr>
          <p:spPr>
            <a:xfrm>
              <a:off x="4420206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2" name="Shape 27">
              <a:extLst>
                <a:ext uri="{FF2B5EF4-FFF2-40B4-BE49-F238E27FC236}">
                  <a16:creationId xmlns:a16="http://schemas.microsoft.com/office/drawing/2014/main" id="{C02B8D96-C462-9EED-616B-AE2FF57A9218}"/>
                </a:ext>
              </a:extLst>
            </p:cNvPr>
            <p:cNvSpPr/>
            <p:nvPr/>
          </p:nvSpPr>
          <p:spPr>
            <a:xfrm>
              <a:off x="4420206" y="3637333"/>
              <a:ext cx="60865" cy="2404183"/>
            </a:xfrm>
            <a:prstGeom prst="rect">
              <a:avLst/>
            </a:prstGeom>
            <a:solidFill>
              <a:srgbClr val="3D6BA8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6" name="Text 28">
              <a:extLst>
                <a:ext uri="{FF2B5EF4-FFF2-40B4-BE49-F238E27FC236}">
                  <a16:creationId xmlns:a16="http://schemas.microsoft.com/office/drawing/2014/main" id="{9FD6A3CA-2A2A-5A46-4999-7D70FA9E2CB1}"/>
                </a:ext>
              </a:extLst>
            </p:cNvPr>
            <p:cNvSpPr/>
            <p:nvPr/>
          </p:nvSpPr>
          <p:spPr>
            <a:xfrm>
              <a:off x="4572370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3D6BA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액티브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8" name="Text 29">
              <a:extLst>
                <a:ext uri="{FF2B5EF4-FFF2-40B4-BE49-F238E27FC236}">
                  <a16:creationId xmlns:a16="http://schemas.microsoft.com/office/drawing/2014/main" id="{8A4785F6-335E-B0C8-D5CD-C4D662594B9A}"/>
                </a:ext>
              </a:extLst>
            </p:cNvPr>
            <p:cNvSpPr/>
            <p:nvPr/>
          </p:nvSpPr>
          <p:spPr>
            <a:xfrm>
              <a:off x="4572370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축구공 킥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0" name="Text 30">
              <a:extLst>
                <a:ext uri="{FF2B5EF4-FFF2-40B4-BE49-F238E27FC236}">
                  <a16:creationId xmlns:a16="http://schemas.microsoft.com/office/drawing/2014/main" id="{5F352DFB-3F2D-3313-FB1F-87984EECD3C8}"/>
                </a:ext>
              </a:extLst>
            </p:cNvPr>
            <p:cNvSpPr/>
            <p:nvPr/>
          </p:nvSpPr>
          <p:spPr>
            <a:xfrm>
              <a:off x="4572370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발동조건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10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초마다 자동으로 발동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</a:t>
              </a:r>
            </a:p>
            <a:p>
              <a:pPr marL="0" indent="0">
                <a:buNone/>
              </a:pP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효과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</a:t>
              </a: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나와 가장 가까운 물건으로 축구공 발사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endParaRPr>
            </a:p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축구공은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4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회동안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당구공 처럼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팅기며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물건을 맞춘다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2" name="Shape 31">
              <a:extLst>
                <a:ext uri="{FF2B5EF4-FFF2-40B4-BE49-F238E27FC236}">
                  <a16:creationId xmlns:a16="http://schemas.microsoft.com/office/drawing/2014/main" id="{7ED815A2-E2AE-0D3D-7A9D-8391165326D3}"/>
                </a:ext>
              </a:extLst>
            </p:cNvPr>
            <p:cNvSpPr/>
            <p:nvPr/>
          </p:nvSpPr>
          <p:spPr>
            <a:xfrm>
              <a:off x="7706938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4" name="Shape 32">
              <a:extLst>
                <a:ext uri="{FF2B5EF4-FFF2-40B4-BE49-F238E27FC236}">
                  <a16:creationId xmlns:a16="http://schemas.microsoft.com/office/drawing/2014/main" id="{1DA4582C-55AB-7397-66A3-9C54FD45C1E0}"/>
                </a:ext>
              </a:extLst>
            </p:cNvPr>
            <p:cNvSpPr/>
            <p:nvPr/>
          </p:nvSpPr>
          <p:spPr>
            <a:xfrm>
              <a:off x="7706938" y="3637333"/>
              <a:ext cx="60865" cy="2404183"/>
            </a:xfrm>
            <a:prstGeom prst="rect">
              <a:avLst/>
            </a:prstGeom>
            <a:solidFill>
              <a:srgbClr val="C9745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8" name="Text 33">
              <a:extLst>
                <a:ext uri="{FF2B5EF4-FFF2-40B4-BE49-F238E27FC236}">
                  <a16:creationId xmlns:a16="http://schemas.microsoft.com/office/drawing/2014/main" id="{F641D716-A7D1-CDEC-F886-013C1B826F75}"/>
                </a:ext>
              </a:extLst>
            </p:cNvPr>
            <p:cNvSpPr/>
            <p:nvPr/>
          </p:nvSpPr>
          <p:spPr>
            <a:xfrm>
              <a:off x="7859101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C9745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필살기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0" name="Text 34">
              <a:extLst>
                <a:ext uri="{FF2B5EF4-FFF2-40B4-BE49-F238E27FC236}">
                  <a16:creationId xmlns:a16="http://schemas.microsoft.com/office/drawing/2014/main" id="{C7B0D8B1-177D-80BC-8DC0-FC03E93A8C13}"/>
                </a:ext>
              </a:extLst>
            </p:cNvPr>
            <p:cNvSpPr/>
            <p:nvPr/>
          </p:nvSpPr>
          <p:spPr>
            <a:xfrm>
              <a:off x="7859101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진실은 언제나 하나</a:t>
              </a:r>
              <a:r>
                <a:rPr lang="en-US" altLang="ko-KR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!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2" name="Text 35">
              <a:extLst>
                <a:ext uri="{FF2B5EF4-FFF2-40B4-BE49-F238E27FC236}">
                  <a16:creationId xmlns:a16="http://schemas.microsoft.com/office/drawing/2014/main" id="{FB30BAA7-E43C-FF6E-4962-319AE14AA1D4}"/>
                </a:ext>
              </a:extLst>
            </p:cNvPr>
            <p:cNvSpPr/>
            <p:nvPr/>
          </p:nvSpPr>
          <p:spPr>
            <a:xfrm>
              <a:off x="7859101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가장 체력이 높은 물건에 강력한 피해를 준다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연출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: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손가락으로 물건을 가리키며 그 물건을 즉시 파괴된다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42EC9A8-6913-403D-1A4A-466AE89BD9EF}"/>
              </a:ext>
            </a:extLst>
          </p:cNvPr>
          <p:cNvSpPr txBox="1"/>
          <p:nvPr/>
        </p:nvSpPr>
        <p:spPr>
          <a:xfrm>
            <a:off x="7077075" y="1106924"/>
            <a:ext cx="3642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업적: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🏆 범인은 제일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강한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놈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0128200-6216-1B43-1A3F-9EAA5F04B5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407" y="3709912"/>
            <a:ext cx="2560000" cy="1440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5754BB7-FF12-879D-0427-655A6C1D8F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41" y="3709912"/>
            <a:ext cx="2560000" cy="144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88BDBB4-2BF8-ABC3-729B-4BA3812FF2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652" y="3709912"/>
            <a:ext cx="256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94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0C343-8FA4-0943-6E86-0BAA23D27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C94171-493B-3493-74A4-22A811624A8E}"/>
              </a:ext>
            </a:extLst>
          </p:cNvPr>
          <p:cNvSpPr txBox="1"/>
          <p:nvPr/>
        </p:nvSpPr>
        <p:spPr>
          <a:xfrm>
            <a:off x="1029084" y="22232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신화쥐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– 치즈 </a:t>
            </a:r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퐁듀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쥐 </a:t>
            </a:r>
            <a:r>
              <a:rPr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임시 예시샘플</a:t>
            </a:r>
            <a:r>
              <a:rPr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5D28D19-E9FF-0262-A66D-4373B163AB46}"/>
              </a:ext>
            </a:extLst>
          </p:cNvPr>
          <p:cNvCxnSpPr>
            <a:cxnSpLocks/>
          </p:cNvCxnSpPr>
          <p:nvPr/>
        </p:nvCxnSpPr>
        <p:spPr>
          <a:xfrm flipH="1">
            <a:off x="1133475" y="796721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Shape 4">
            <a:extLst>
              <a:ext uri="{FF2B5EF4-FFF2-40B4-BE49-F238E27FC236}">
                <a16:creationId xmlns:a16="http://schemas.microsoft.com/office/drawing/2014/main" id="{C985FF52-9A9E-038E-E2FE-D11793600B0A}"/>
              </a:ext>
            </a:extLst>
          </p:cNvPr>
          <p:cNvSpPr/>
          <p:nvPr/>
        </p:nvSpPr>
        <p:spPr>
          <a:xfrm>
            <a:off x="1133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D9786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4" name="Text 5">
            <a:extLst>
              <a:ext uri="{FF2B5EF4-FFF2-40B4-BE49-F238E27FC236}">
                <a16:creationId xmlns:a16="http://schemas.microsoft.com/office/drawing/2014/main" id="{E838477B-BF5B-8161-E882-F19A6145E505}"/>
              </a:ext>
            </a:extLst>
          </p:cNvPr>
          <p:cNvSpPr/>
          <p:nvPr/>
        </p:nvSpPr>
        <p:spPr>
          <a:xfrm>
            <a:off x="1133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신화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6" name="Shape 6">
            <a:extLst>
              <a:ext uri="{FF2B5EF4-FFF2-40B4-BE49-F238E27FC236}">
                <a16:creationId xmlns:a16="http://schemas.microsoft.com/office/drawing/2014/main" id="{2333CF10-593C-8D16-B7A8-CBED28B03BB7}"/>
              </a:ext>
            </a:extLst>
          </p:cNvPr>
          <p:cNvSpPr/>
          <p:nvPr/>
        </p:nvSpPr>
        <p:spPr>
          <a:xfrm>
            <a:off x="2276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8A5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8" name="Text 7">
            <a:extLst>
              <a:ext uri="{FF2B5EF4-FFF2-40B4-BE49-F238E27FC236}">
                <a16:creationId xmlns:a16="http://schemas.microsoft.com/office/drawing/2014/main" id="{2B703E7B-00AC-364F-05DA-13BF29BFCF95}"/>
              </a:ext>
            </a:extLst>
          </p:cNvPr>
          <p:cNvSpPr/>
          <p:nvPr/>
        </p:nvSpPr>
        <p:spPr>
          <a:xfrm>
            <a:off x="2276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티어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3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2" name="Text 9">
            <a:extLst>
              <a:ext uri="{FF2B5EF4-FFF2-40B4-BE49-F238E27FC236}">
                <a16:creationId xmlns:a16="http://schemas.microsoft.com/office/drawing/2014/main" id="{5D4D9EB9-4431-6036-111E-54EACA76A0B4}"/>
              </a:ext>
            </a:extLst>
          </p:cNvPr>
          <p:cNvSpPr/>
          <p:nvPr/>
        </p:nvSpPr>
        <p:spPr>
          <a:xfrm>
            <a:off x="3419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돌파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4" name="Shape 10">
            <a:extLst>
              <a:ext uri="{FF2B5EF4-FFF2-40B4-BE49-F238E27FC236}">
                <a16:creationId xmlns:a16="http://schemas.microsoft.com/office/drawing/2014/main" id="{7B360A0C-B3D5-FAD2-E024-23BAB219DC31}"/>
              </a:ext>
            </a:extLst>
          </p:cNvPr>
          <p:cNvSpPr/>
          <p:nvPr/>
        </p:nvSpPr>
        <p:spPr>
          <a:xfrm>
            <a:off x="3535680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6" name="Text 11">
            <a:extLst>
              <a:ext uri="{FF2B5EF4-FFF2-40B4-BE49-F238E27FC236}">
                <a16:creationId xmlns:a16="http://schemas.microsoft.com/office/drawing/2014/main" id="{AED4879C-6BEE-0E60-9565-157190AD5A4A}"/>
              </a:ext>
            </a:extLst>
          </p:cNvPr>
          <p:cNvSpPr/>
          <p:nvPr/>
        </p:nvSpPr>
        <p:spPr>
          <a:xfrm>
            <a:off x="3535680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공격력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80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8" name="Shape 12">
            <a:extLst>
              <a:ext uri="{FF2B5EF4-FFF2-40B4-BE49-F238E27FC236}">
                <a16:creationId xmlns:a16="http://schemas.microsoft.com/office/drawing/2014/main" id="{CB8DF248-0D98-9E6A-C462-5EE596BBB7B7}"/>
              </a:ext>
            </a:extLst>
          </p:cNvPr>
          <p:cNvSpPr/>
          <p:nvPr/>
        </p:nvSpPr>
        <p:spPr>
          <a:xfrm>
            <a:off x="4678680" y="1126998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0" name="Text 13">
            <a:extLst>
              <a:ext uri="{FF2B5EF4-FFF2-40B4-BE49-F238E27FC236}">
                <a16:creationId xmlns:a16="http://schemas.microsoft.com/office/drawing/2014/main" id="{46ABCF94-3538-4317-802D-1FD7D876260C}"/>
              </a:ext>
            </a:extLst>
          </p:cNvPr>
          <p:cNvSpPr/>
          <p:nvPr/>
        </p:nvSpPr>
        <p:spPr>
          <a:xfrm>
            <a:off x="4678680" y="116357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치즈 수집 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50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6" name="Shape 15">
            <a:extLst>
              <a:ext uri="{FF2B5EF4-FFF2-40B4-BE49-F238E27FC236}">
                <a16:creationId xmlns:a16="http://schemas.microsoft.com/office/drawing/2014/main" id="{52EAB353-3C4B-4842-7128-715AD85E73F9}"/>
              </a:ext>
            </a:extLst>
          </p:cNvPr>
          <p:cNvSpPr/>
          <p:nvPr/>
        </p:nvSpPr>
        <p:spPr>
          <a:xfrm>
            <a:off x="4732141" y="1628775"/>
            <a:ext cx="6025674" cy="852116"/>
          </a:xfrm>
          <a:prstGeom prst="roundRect">
            <a:avLst>
              <a:gd name="adj" fmla="val 7143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8" name="Text 16">
            <a:extLst>
              <a:ext uri="{FF2B5EF4-FFF2-40B4-BE49-F238E27FC236}">
                <a16:creationId xmlns:a16="http://schemas.microsoft.com/office/drawing/2014/main" id="{C9DAC4C1-3754-4534-E73F-BCF11B7D35A0}"/>
              </a:ext>
            </a:extLst>
          </p:cNvPr>
          <p:cNvSpPr/>
          <p:nvPr/>
        </p:nvSpPr>
        <p:spPr>
          <a:xfrm>
            <a:off x="4861480" y="1689640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레퍼런스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0" name="Text 17">
            <a:extLst>
              <a:ext uri="{FF2B5EF4-FFF2-40B4-BE49-F238E27FC236}">
                <a16:creationId xmlns:a16="http://schemas.microsoft.com/office/drawing/2014/main" id="{099B3161-58C6-6493-19E9-6776E559966E}"/>
              </a:ext>
            </a:extLst>
          </p:cNvPr>
          <p:cNvSpPr/>
          <p:nvPr/>
        </p:nvSpPr>
        <p:spPr>
          <a:xfrm>
            <a:off x="4861480" y="1887453"/>
            <a:ext cx="5744172" cy="48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테스터훈 치즈분수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패러디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촬영당시 입은 하와이완 티셔츠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치즈가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묻은게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특징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2" name="Shape 18">
            <a:extLst>
              <a:ext uri="{FF2B5EF4-FFF2-40B4-BE49-F238E27FC236}">
                <a16:creationId xmlns:a16="http://schemas.microsoft.com/office/drawing/2014/main" id="{81D1F0A2-2C47-0747-F849-CCC4970A702D}"/>
              </a:ext>
            </a:extLst>
          </p:cNvPr>
          <p:cNvSpPr/>
          <p:nvPr/>
        </p:nvSpPr>
        <p:spPr>
          <a:xfrm>
            <a:off x="4732141" y="2556972"/>
            <a:ext cx="6025674" cy="935805"/>
          </a:xfrm>
          <a:prstGeom prst="roundRect">
            <a:avLst>
              <a:gd name="adj" fmla="val 6504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4" name="Text 19">
            <a:extLst>
              <a:ext uri="{FF2B5EF4-FFF2-40B4-BE49-F238E27FC236}">
                <a16:creationId xmlns:a16="http://schemas.microsoft.com/office/drawing/2014/main" id="{EB4D2BC5-D681-78DB-8B63-61DECBD97CD9}"/>
              </a:ext>
            </a:extLst>
          </p:cNvPr>
          <p:cNvSpPr/>
          <p:nvPr/>
        </p:nvSpPr>
        <p:spPr>
          <a:xfrm>
            <a:off x="4861480" y="2617838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기획의도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6" name="Text 20">
            <a:extLst>
              <a:ext uri="{FF2B5EF4-FFF2-40B4-BE49-F238E27FC236}">
                <a16:creationId xmlns:a16="http://schemas.microsoft.com/office/drawing/2014/main" id="{B73B007E-8804-ADCE-41C7-B3156D4DFA28}"/>
              </a:ext>
            </a:extLst>
          </p:cNvPr>
          <p:cNvSpPr/>
          <p:nvPr/>
        </p:nvSpPr>
        <p:spPr>
          <a:xfrm>
            <a:off x="4861480" y="2815650"/>
            <a:ext cx="5744172" cy="547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360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도 방향으로 공격하며 치즈를 활용하여 공격하는 쥐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7BFDF75-DF76-A6D7-7743-6C00F1796CAA}"/>
              </a:ext>
            </a:extLst>
          </p:cNvPr>
          <p:cNvGrpSpPr/>
          <p:nvPr/>
        </p:nvGrpSpPr>
        <p:grpSpPr>
          <a:xfrm>
            <a:off x="1133475" y="3637333"/>
            <a:ext cx="9738463" cy="2896817"/>
            <a:chOff x="1133475" y="3637333"/>
            <a:chExt cx="9738463" cy="2404183"/>
          </a:xfrm>
        </p:grpSpPr>
        <p:sp>
          <p:nvSpPr>
            <p:cNvPr id="1098" name="Shape 21">
              <a:extLst>
                <a:ext uri="{FF2B5EF4-FFF2-40B4-BE49-F238E27FC236}">
                  <a16:creationId xmlns:a16="http://schemas.microsoft.com/office/drawing/2014/main" id="{FA96DFE4-A118-3AB6-44A0-6EC1FD49E6C8}"/>
                </a:ext>
              </a:extLst>
            </p:cNvPr>
            <p:cNvSpPr/>
            <p:nvPr/>
          </p:nvSpPr>
          <p:spPr>
            <a:xfrm>
              <a:off x="1133475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0" name="Shape 22">
              <a:extLst>
                <a:ext uri="{FF2B5EF4-FFF2-40B4-BE49-F238E27FC236}">
                  <a16:creationId xmlns:a16="http://schemas.microsoft.com/office/drawing/2014/main" id="{EDC7BC92-3B2D-B20D-8F05-A2EE76CDD562}"/>
                </a:ext>
              </a:extLst>
            </p:cNvPr>
            <p:cNvSpPr/>
            <p:nvPr/>
          </p:nvSpPr>
          <p:spPr>
            <a:xfrm>
              <a:off x="1133475" y="3637333"/>
              <a:ext cx="60865" cy="2404183"/>
            </a:xfrm>
            <a:prstGeom prst="rect">
              <a:avLst/>
            </a:prstGeom>
            <a:solidFill>
              <a:srgbClr val="6F8A6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4" name="Text 23">
              <a:extLst>
                <a:ext uri="{FF2B5EF4-FFF2-40B4-BE49-F238E27FC236}">
                  <a16:creationId xmlns:a16="http://schemas.microsoft.com/office/drawing/2014/main" id="{031F88C1-2B76-C2BC-DFD4-F89D82B91E04}"/>
                </a:ext>
              </a:extLst>
            </p:cNvPr>
            <p:cNvSpPr/>
            <p:nvPr/>
          </p:nvSpPr>
          <p:spPr>
            <a:xfrm>
              <a:off x="1285638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F8A6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패시브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6" name="Text 24">
              <a:extLst>
                <a:ext uri="{FF2B5EF4-FFF2-40B4-BE49-F238E27FC236}">
                  <a16:creationId xmlns:a16="http://schemas.microsoft.com/office/drawing/2014/main" id="{BB0953E1-F303-46FE-9342-8F47E53F339A}"/>
                </a:ext>
              </a:extLst>
            </p:cNvPr>
            <p:cNvSpPr/>
            <p:nvPr/>
          </p:nvSpPr>
          <p:spPr>
            <a:xfrm>
              <a:off x="1285638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 추가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8" name="Text 25">
              <a:extLst>
                <a:ext uri="{FF2B5EF4-FFF2-40B4-BE49-F238E27FC236}">
                  <a16:creationId xmlns:a16="http://schemas.microsoft.com/office/drawing/2014/main" id="{680BBA3C-E522-0001-F40A-0BD1E9F1067C}"/>
                </a:ext>
              </a:extLst>
            </p:cNvPr>
            <p:cNvSpPr/>
            <p:nvPr/>
          </p:nvSpPr>
          <p:spPr>
            <a:xfrm>
              <a:off x="1285638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 쥐의 액티브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필살기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스킬로 적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처치시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치즈획득량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100%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증가 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0" name="Shape 26">
              <a:extLst>
                <a:ext uri="{FF2B5EF4-FFF2-40B4-BE49-F238E27FC236}">
                  <a16:creationId xmlns:a16="http://schemas.microsoft.com/office/drawing/2014/main" id="{31FC267B-21B2-D987-3C92-EDD2EBAB53FA}"/>
                </a:ext>
              </a:extLst>
            </p:cNvPr>
            <p:cNvSpPr/>
            <p:nvPr/>
          </p:nvSpPr>
          <p:spPr>
            <a:xfrm>
              <a:off x="4420206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2" name="Shape 27">
              <a:extLst>
                <a:ext uri="{FF2B5EF4-FFF2-40B4-BE49-F238E27FC236}">
                  <a16:creationId xmlns:a16="http://schemas.microsoft.com/office/drawing/2014/main" id="{2FA0DD31-B90C-4B73-0D99-A590FB790CF6}"/>
                </a:ext>
              </a:extLst>
            </p:cNvPr>
            <p:cNvSpPr/>
            <p:nvPr/>
          </p:nvSpPr>
          <p:spPr>
            <a:xfrm>
              <a:off x="4420206" y="3637333"/>
              <a:ext cx="60865" cy="2404183"/>
            </a:xfrm>
            <a:prstGeom prst="rect">
              <a:avLst/>
            </a:prstGeom>
            <a:solidFill>
              <a:srgbClr val="3D6BA8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6" name="Text 28">
              <a:extLst>
                <a:ext uri="{FF2B5EF4-FFF2-40B4-BE49-F238E27FC236}">
                  <a16:creationId xmlns:a16="http://schemas.microsoft.com/office/drawing/2014/main" id="{F94B3427-875F-A55F-BA06-08A89ADA9781}"/>
                </a:ext>
              </a:extLst>
            </p:cNvPr>
            <p:cNvSpPr/>
            <p:nvPr/>
          </p:nvSpPr>
          <p:spPr>
            <a:xfrm>
              <a:off x="4572370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3D6BA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액티브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8" name="Text 29">
              <a:extLst>
                <a:ext uri="{FF2B5EF4-FFF2-40B4-BE49-F238E27FC236}">
                  <a16:creationId xmlns:a16="http://schemas.microsoft.com/office/drawing/2014/main" id="{C4F54D64-FBF8-5F10-3B9D-506F14777531}"/>
                </a:ext>
              </a:extLst>
            </p:cNvPr>
            <p:cNvSpPr/>
            <p:nvPr/>
          </p:nvSpPr>
          <p:spPr>
            <a:xfrm>
              <a:off x="4572370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 분수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0" name="Text 30">
              <a:extLst>
                <a:ext uri="{FF2B5EF4-FFF2-40B4-BE49-F238E27FC236}">
                  <a16:creationId xmlns:a16="http://schemas.microsoft.com/office/drawing/2014/main" id="{CEEE6B30-35DF-903F-91DF-D10E5A429607}"/>
                </a:ext>
              </a:extLst>
            </p:cNvPr>
            <p:cNvSpPr/>
            <p:nvPr/>
          </p:nvSpPr>
          <p:spPr>
            <a:xfrm>
              <a:off x="4572370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발동조건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5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초마다 자동으로 발동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</a:t>
              </a:r>
            </a:p>
            <a:p>
              <a:pPr marL="0" indent="0">
                <a:buNone/>
              </a:pP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효과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8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방향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(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각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45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도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)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로 일정한 각도로 특정주기 마다 치즈 탄환 발사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2" name="Shape 31">
              <a:extLst>
                <a:ext uri="{FF2B5EF4-FFF2-40B4-BE49-F238E27FC236}">
                  <a16:creationId xmlns:a16="http://schemas.microsoft.com/office/drawing/2014/main" id="{241BC11F-3F2C-A507-05BA-4BC7874FB7D9}"/>
                </a:ext>
              </a:extLst>
            </p:cNvPr>
            <p:cNvSpPr/>
            <p:nvPr/>
          </p:nvSpPr>
          <p:spPr>
            <a:xfrm>
              <a:off x="7706938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4" name="Shape 32">
              <a:extLst>
                <a:ext uri="{FF2B5EF4-FFF2-40B4-BE49-F238E27FC236}">
                  <a16:creationId xmlns:a16="http://schemas.microsoft.com/office/drawing/2014/main" id="{46D960A2-E4A0-F674-7FB8-00355BEF6A55}"/>
                </a:ext>
              </a:extLst>
            </p:cNvPr>
            <p:cNvSpPr/>
            <p:nvPr/>
          </p:nvSpPr>
          <p:spPr>
            <a:xfrm>
              <a:off x="7706938" y="3637333"/>
              <a:ext cx="60865" cy="2404183"/>
            </a:xfrm>
            <a:prstGeom prst="rect">
              <a:avLst/>
            </a:prstGeom>
            <a:solidFill>
              <a:srgbClr val="C9745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8" name="Text 33">
              <a:extLst>
                <a:ext uri="{FF2B5EF4-FFF2-40B4-BE49-F238E27FC236}">
                  <a16:creationId xmlns:a16="http://schemas.microsoft.com/office/drawing/2014/main" id="{F00C73D9-AC5D-D97B-8765-26134A2F580A}"/>
                </a:ext>
              </a:extLst>
            </p:cNvPr>
            <p:cNvSpPr/>
            <p:nvPr/>
          </p:nvSpPr>
          <p:spPr>
            <a:xfrm>
              <a:off x="7859101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C9745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필살기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0" name="Text 34">
              <a:extLst>
                <a:ext uri="{FF2B5EF4-FFF2-40B4-BE49-F238E27FC236}">
                  <a16:creationId xmlns:a16="http://schemas.microsoft.com/office/drawing/2014/main" id="{AA77D2A6-1478-9A4E-A8C7-852062BE9B7A}"/>
                </a:ext>
              </a:extLst>
            </p:cNvPr>
            <p:cNvSpPr/>
            <p:nvPr/>
          </p:nvSpPr>
          <p:spPr>
            <a:xfrm>
              <a:off x="7859101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 err="1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회전회오리</a:t>
              </a: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!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2" name="Text 35">
              <a:extLst>
                <a:ext uri="{FF2B5EF4-FFF2-40B4-BE49-F238E27FC236}">
                  <a16:creationId xmlns:a16="http://schemas.microsoft.com/office/drawing/2014/main" id="{263E3960-31C0-ACA7-CF54-042B10F602FC}"/>
                </a:ext>
              </a:extLst>
            </p:cNvPr>
            <p:cNvSpPr/>
            <p:nvPr/>
          </p:nvSpPr>
          <p:spPr>
            <a:xfrm>
              <a:off x="7859101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치즈가 팽이처럼 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4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초동안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빙글빙글 회전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0" indent="0">
                <a:buNone/>
              </a:pP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래퍼런스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가렌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E)</a:t>
              </a:r>
            </a:p>
            <a:p>
              <a:pPr marL="0" indent="0">
                <a:buNone/>
              </a:pP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0.4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초 마다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번씩 타격하여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10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번타격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B9CD37D-7BE8-B9CA-486D-780CE0CFA51E}"/>
              </a:ext>
            </a:extLst>
          </p:cNvPr>
          <p:cNvSpPr txBox="1"/>
          <p:nvPr/>
        </p:nvSpPr>
        <p:spPr>
          <a:xfrm>
            <a:off x="7077075" y="1106924"/>
            <a:ext cx="3642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업적: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🏆 범인은 제일 비싼 놈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B80EAE4A-5859-4AC1-E133-EBB3A521E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647" y="1628775"/>
            <a:ext cx="3277424" cy="184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93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A3DFD-9F52-9C62-4E6A-923B78509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383AA7-86BE-44B7-CC48-DBE47FD11E19}"/>
              </a:ext>
            </a:extLst>
          </p:cNvPr>
          <p:cNvSpPr txBox="1"/>
          <p:nvPr/>
        </p:nvSpPr>
        <p:spPr>
          <a:xfrm>
            <a:off x="1029084" y="22232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신화쥐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– </a:t>
            </a:r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폭탄마법사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쥐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A9D119E-D61E-DFD1-C4C9-9D3C9C387720}"/>
              </a:ext>
            </a:extLst>
          </p:cNvPr>
          <p:cNvCxnSpPr>
            <a:cxnSpLocks/>
          </p:cNvCxnSpPr>
          <p:nvPr/>
        </p:nvCxnSpPr>
        <p:spPr>
          <a:xfrm flipH="1">
            <a:off x="1133475" y="796721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Shape 4">
            <a:extLst>
              <a:ext uri="{FF2B5EF4-FFF2-40B4-BE49-F238E27FC236}">
                <a16:creationId xmlns:a16="http://schemas.microsoft.com/office/drawing/2014/main" id="{5BCDC63C-CF6B-3D7E-8AE2-395101A6852D}"/>
              </a:ext>
            </a:extLst>
          </p:cNvPr>
          <p:cNvSpPr/>
          <p:nvPr/>
        </p:nvSpPr>
        <p:spPr>
          <a:xfrm>
            <a:off x="1133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D9786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4" name="Text 5">
            <a:extLst>
              <a:ext uri="{FF2B5EF4-FFF2-40B4-BE49-F238E27FC236}">
                <a16:creationId xmlns:a16="http://schemas.microsoft.com/office/drawing/2014/main" id="{E4C9B705-0CA7-730D-137C-0B8A114CB2E5}"/>
              </a:ext>
            </a:extLst>
          </p:cNvPr>
          <p:cNvSpPr/>
          <p:nvPr/>
        </p:nvSpPr>
        <p:spPr>
          <a:xfrm>
            <a:off x="1133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신화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6" name="Shape 6">
            <a:extLst>
              <a:ext uri="{FF2B5EF4-FFF2-40B4-BE49-F238E27FC236}">
                <a16:creationId xmlns:a16="http://schemas.microsoft.com/office/drawing/2014/main" id="{2BC45E05-71F3-E1EC-E4A9-04F529B695C0}"/>
              </a:ext>
            </a:extLst>
          </p:cNvPr>
          <p:cNvSpPr/>
          <p:nvPr/>
        </p:nvSpPr>
        <p:spPr>
          <a:xfrm>
            <a:off x="2276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8A5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8" name="Text 7">
            <a:extLst>
              <a:ext uri="{FF2B5EF4-FFF2-40B4-BE49-F238E27FC236}">
                <a16:creationId xmlns:a16="http://schemas.microsoft.com/office/drawing/2014/main" id="{28980402-0E7E-4BD9-2438-5388ED87CE01}"/>
              </a:ext>
            </a:extLst>
          </p:cNvPr>
          <p:cNvSpPr/>
          <p:nvPr/>
        </p:nvSpPr>
        <p:spPr>
          <a:xfrm>
            <a:off x="2276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티어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6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2" name="Text 9">
            <a:extLst>
              <a:ext uri="{FF2B5EF4-FFF2-40B4-BE49-F238E27FC236}">
                <a16:creationId xmlns:a16="http://schemas.microsoft.com/office/drawing/2014/main" id="{5AE637B1-49F9-F12D-93D7-F348B78E7F49}"/>
              </a:ext>
            </a:extLst>
          </p:cNvPr>
          <p:cNvSpPr/>
          <p:nvPr/>
        </p:nvSpPr>
        <p:spPr>
          <a:xfrm>
            <a:off x="3419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돌파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4" name="Shape 10">
            <a:extLst>
              <a:ext uri="{FF2B5EF4-FFF2-40B4-BE49-F238E27FC236}">
                <a16:creationId xmlns:a16="http://schemas.microsoft.com/office/drawing/2014/main" id="{2D268A8B-681A-149F-8FC1-38CE723C8041}"/>
              </a:ext>
            </a:extLst>
          </p:cNvPr>
          <p:cNvSpPr/>
          <p:nvPr/>
        </p:nvSpPr>
        <p:spPr>
          <a:xfrm>
            <a:off x="3535680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6" name="Text 11">
            <a:extLst>
              <a:ext uri="{FF2B5EF4-FFF2-40B4-BE49-F238E27FC236}">
                <a16:creationId xmlns:a16="http://schemas.microsoft.com/office/drawing/2014/main" id="{2674CB74-4B93-FD8E-0C27-17023DCA2152}"/>
              </a:ext>
            </a:extLst>
          </p:cNvPr>
          <p:cNvSpPr/>
          <p:nvPr/>
        </p:nvSpPr>
        <p:spPr>
          <a:xfrm>
            <a:off x="3535680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공격력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160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높음</a:t>
            </a: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8" name="Shape 12">
            <a:extLst>
              <a:ext uri="{FF2B5EF4-FFF2-40B4-BE49-F238E27FC236}">
                <a16:creationId xmlns:a16="http://schemas.microsoft.com/office/drawing/2014/main" id="{2C6CB921-B99D-9FE1-FD57-351723B8D441}"/>
              </a:ext>
            </a:extLst>
          </p:cNvPr>
          <p:cNvSpPr/>
          <p:nvPr/>
        </p:nvSpPr>
        <p:spPr>
          <a:xfrm>
            <a:off x="4678680" y="1126998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0" name="Text 13">
            <a:extLst>
              <a:ext uri="{FF2B5EF4-FFF2-40B4-BE49-F238E27FC236}">
                <a16:creationId xmlns:a16="http://schemas.microsoft.com/office/drawing/2014/main" id="{D7313EFE-1831-D62A-20D3-87E7A4E258F9}"/>
              </a:ext>
            </a:extLst>
          </p:cNvPr>
          <p:cNvSpPr/>
          <p:nvPr/>
        </p:nvSpPr>
        <p:spPr>
          <a:xfrm>
            <a:off x="4678680" y="116357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게이지 </a:t>
            </a: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3000</a:t>
            </a:r>
            <a:b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</a:b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(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매우 높음</a:t>
            </a: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6" name="Shape 15">
            <a:extLst>
              <a:ext uri="{FF2B5EF4-FFF2-40B4-BE49-F238E27FC236}">
                <a16:creationId xmlns:a16="http://schemas.microsoft.com/office/drawing/2014/main" id="{7E194F0D-2EED-3838-51DF-16368D2ABFBA}"/>
              </a:ext>
            </a:extLst>
          </p:cNvPr>
          <p:cNvSpPr/>
          <p:nvPr/>
        </p:nvSpPr>
        <p:spPr>
          <a:xfrm>
            <a:off x="4732141" y="1628775"/>
            <a:ext cx="6025674" cy="852116"/>
          </a:xfrm>
          <a:prstGeom prst="roundRect">
            <a:avLst>
              <a:gd name="adj" fmla="val 7143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8" name="Text 16">
            <a:extLst>
              <a:ext uri="{FF2B5EF4-FFF2-40B4-BE49-F238E27FC236}">
                <a16:creationId xmlns:a16="http://schemas.microsoft.com/office/drawing/2014/main" id="{72156F81-FD9E-5890-EF70-AAC12C6BAFA2}"/>
              </a:ext>
            </a:extLst>
          </p:cNvPr>
          <p:cNvSpPr/>
          <p:nvPr/>
        </p:nvSpPr>
        <p:spPr>
          <a:xfrm>
            <a:off x="4861480" y="1689640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레퍼런스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0" name="Text 17">
            <a:extLst>
              <a:ext uri="{FF2B5EF4-FFF2-40B4-BE49-F238E27FC236}">
                <a16:creationId xmlns:a16="http://schemas.microsoft.com/office/drawing/2014/main" id="{473D3358-FDD9-195D-0A33-2D7F2CCDF1F1}"/>
              </a:ext>
            </a:extLst>
          </p:cNvPr>
          <p:cNvSpPr/>
          <p:nvPr/>
        </p:nvSpPr>
        <p:spPr>
          <a:xfrm>
            <a:off x="4861480" y="1887453"/>
            <a:ext cx="5744172" cy="48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스킬 메커니즘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이름은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코노스바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메구밍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패러디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외형은 폭탄 사용을 강조 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2" name="Shape 18">
            <a:extLst>
              <a:ext uri="{FF2B5EF4-FFF2-40B4-BE49-F238E27FC236}">
                <a16:creationId xmlns:a16="http://schemas.microsoft.com/office/drawing/2014/main" id="{BAEE1885-D163-451B-A57D-C0DF179C31F5}"/>
              </a:ext>
            </a:extLst>
          </p:cNvPr>
          <p:cNvSpPr/>
          <p:nvPr/>
        </p:nvSpPr>
        <p:spPr>
          <a:xfrm>
            <a:off x="4732141" y="2556972"/>
            <a:ext cx="6025674" cy="935805"/>
          </a:xfrm>
          <a:prstGeom prst="roundRect">
            <a:avLst>
              <a:gd name="adj" fmla="val 6504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4" name="Text 19">
            <a:extLst>
              <a:ext uri="{FF2B5EF4-FFF2-40B4-BE49-F238E27FC236}">
                <a16:creationId xmlns:a16="http://schemas.microsoft.com/office/drawing/2014/main" id="{5A20F596-6315-497A-9F7F-871716AD243E}"/>
              </a:ext>
            </a:extLst>
          </p:cNvPr>
          <p:cNvSpPr/>
          <p:nvPr/>
        </p:nvSpPr>
        <p:spPr>
          <a:xfrm>
            <a:off x="4861480" y="2617838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기획의도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6" name="Text 20">
            <a:extLst>
              <a:ext uri="{FF2B5EF4-FFF2-40B4-BE49-F238E27FC236}">
                <a16:creationId xmlns:a16="http://schemas.microsoft.com/office/drawing/2014/main" id="{9DB91B88-18D0-E4DA-0293-10DF34E15FB3}"/>
              </a:ext>
            </a:extLst>
          </p:cNvPr>
          <p:cNvSpPr/>
          <p:nvPr/>
        </p:nvSpPr>
        <p:spPr>
          <a:xfrm>
            <a:off x="4861480" y="2815650"/>
            <a:ext cx="5744172" cy="547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익스플로전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필살기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올인한 컨셉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반동으로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사용후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기절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9E82F23-0123-1D32-0858-A1DD0311D463}"/>
              </a:ext>
            </a:extLst>
          </p:cNvPr>
          <p:cNvGrpSpPr/>
          <p:nvPr/>
        </p:nvGrpSpPr>
        <p:grpSpPr>
          <a:xfrm>
            <a:off x="1133475" y="3637333"/>
            <a:ext cx="9738463" cy="2896817"/>
            <a:chOff x="1133475" y="3637333"/>
            <a:chExt cx="9738463" cy="2404183"/>
          </a:xfrm>
        </p:grpSpPr>
        <p:sp>
          <p:nvSpPr>
            <p:cNvPr id="1098" name="Shape 21">
              <a:extLst>
                <a:ext uri="{FF2B5EF4-FFF2-40B4-BE49-F238E27FC236}">
                  <a16:creationId xmlns:a16="http://schemas.microsoft.com/office/drawing/2014/main" id="{341FCD13-E3E4-C33C-3C21-BA5874A75B14}"/>
                </a:ext>
              </a:extLst>
            </p:cNvPr>
            <p:cNvSpPr/>
            <p:nvPr/>
          </p:nvSpPr>
          <p:spPr>
            <a:xfrm>
              <a:off x="1133475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0" name="Shape 22">
              <a:extLst>
                <a:ext uri="{FF2B5EF4-FFF2-40B4-BE49-F238E27FC236}">
                  <a16:creationId xmlns:a16="http://schemas.microsoft.com/office/drawing/2014/main" id="{9477E5F6-D3C0-8EB8-BF5F-2F11149FDCE8}"/>
                </a:ext>
              </a:extLst>
            </p:cNvPr>
            <p:cNvSpPr/>
            <p:nvPr/>
          </p:nvSpPr>
          <p:spPr>
            <a:xfrm>
              <a:off x="1133475" y="3637333"/>
              <a:ext cx="60865" cy="2404183"/>
            </a:xfrm>
            <a:prstGeom prst="rect">
              <a:avLst/>
            </a:prstGeom>
            <a:solidFill>
              <a:srgbClr val="6F8A6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4" name="Text 23">
              <a:extLst>
                <a:ext uri="{FF2B5EF4-FFF2-40B4-BE49-F238E27FC236}">
                  <a16:creationId xmlns:a16="http://schemas.microsoft.com/office/drawing/2014/main" id="{FDCAD85D-6244-B052-37A3-50057A83F005}"/>
                </a:ext>
              </a:extLst>
            </p:cNvPr>
            <p:cNvSpPr/>
            <p:nvPr/>
          </p:nvSpPr>
          <p:spPr>
            <a:xfrm>
              <a:off x="1285638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F8A6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패시브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6" name="Text 24">
              <a:extLst>
                <a:ext uri="{FF2B5EF4-FFF2-40B4-BE49-F238E27FC236}">
                  <a16:creationId xmlns:a16="http://schemas.microsoft.com/office/drawing/2014/main" id="{09BA7216-9B1C-ADBC-5839-0B91AE298A0C}"/>
                </a:ext>
              </a:extLst>
            </p:cNvPr>
            <p:cNvSpPr/>
            <p:nvPr/>
          </p:nvSpPr>
          <p:spPr>
            <a:xfrm>
              <a:off x="1285638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 err="1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폭렬에</a:t>
              </a: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올인</a:t>
              </a:r>
              <a:r>
                <a:rPr lang="en-US" altLang="ko-KR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!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8" name="Text 25">
              <a:extLst>
                <a:ext uri="{FF2B5EF4-FFF2-40B4-BE49-F238E27FC236}">
                  <a16:creationId xmlns:a16="http://schemas.microsoft.com/office/drawing/2014/main" id="{F62EFF10-6162-1020-4D54-9B50F8D79994}"/>
                </a:ext>
              </a:extLst>
            </p:cNvPr>
            <p:cNvSpPr/>
            <p:nvPr/>
          </p:nvSpPr>
          <p:spPr>
            <a:xfrm>
              <a:off x="1285638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공격력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30%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감소</a:t>
              </a:r>
            </a:p>
            <a:p>
              <a:pPr marL="0" indent="0">
                <a:buNone/>
              </a:pP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필살기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피해량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200%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증가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0" indent="0">
                <a:buNone/>
              </a:pP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필살기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시전 후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8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초간 기절</a:t>
              </a:r>
            </a:p>
            <a:p>
              <a:pPr marL="0" indent="0">
                <a:buNone/>
              </a:pP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0" name="Shape 26">
              <a:extLst>
                <a:ext uri="{FF2B5EF4-FFF2-40B4-BE49-F238E27FC236}">
                  <a16:creationId xmlns:a16="http://schemas.microsoft.com/office/drawing/2014/main" id="{A6C31D2F-44B1-5062-F322-9ACF89EA9FA8}"/>
                </a:ext>
              </a:extLst>
            </p:cNvPr>
            <p:cNvSpPr/>
            <p:nvPr/>
          </p:nvSpPr>
          <p:spPr>
            <a:xfrm>
              <a:off x="4420206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2" name="Shape 27">
              <a:extLst>
                <a:ext uri="{FF2B5EF4-FFF2-40B4-BE49-F238E27FC236}">
                  <a16:creationId xmlns:a16="http://schemas.microsoft.com/office/drawing/2014/main" id="{20981524-DD3A-0112-B92D-B2FDE1D02179}"/>
                </a:ext>
              </a:extLst>
            </p:cNvPr>
            <p:cNvSpPr/>
            <p:nvPr/>
          </p:nvSpPr>
          <p:spPr>
            <a:xfrm>
              <a:off x="4420206" y="3637333"/>
              <a:ext cx="60865" cy="2404183"/>
            </a:xfrm>
            <a:prstGeom prst="rect">
              <a:avLst/>
            </a:prstGeom>
            <a:solidFill>
              <a:srgbClr val="3D6BA8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6" name="Text 28">
              <a:extLst>
                <a:ext uri="{FF2B5EF4-FFF2-40B4-BE49-F238E27FC236}">
                  <a16:creationId xmlns:a16="http://schemas.microsoft.com/office/drawing/2014/main" id="{E6A799D9-BC93-E83B-70AE-9F729AE60DC9}"/>
                </a:ext>
              </a:extLst>
            </p:cNvPr>
            <p:cNvSpPr/>
            <p:nvPr/>
          </p:nvSpPr>
          <p:spPr>
            <a:xfrm>
              <a:off x="4572370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3D6BA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액티브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8" name="Text 29">
              <a:extLst>
                <a:ext uri="{FF2B5EF4-FFF2-40B4-BE49-F238E27FC236}">
                  <a16:creationId xmlns:a16="http://schemas.microsoft.com/office/drawing/2014/main" id="{3F75AF26-C778-4769-8B62-E7E98C25F330}"/>
                </a:ext>
              </a:extLst>
            </p:cNvPr>
            <p:cNvSpPr/>
            <p:nvPr/>
          </p:nvSpPr>
          <p:spPr>
            <a:xfrm>
              <a:off x="4572370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영창 준비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0" name="Text 30">
              <a:extLst>
                <a:ext uri="{FF2B5EF4-FFF2-40B4-BE49-F238E27FC236}">
                  <a16:creationId xmlns:a16="http://schemas.microsoft.com/office/drawing/2014/main" id="{06EE81B3-60C4-C7E8-D874-020650BA8163}"/>
                </a:ext>
              </a:extLst>
            </p:cNvPr>
            <p:cNvSpPr/>
            <p:nvPr/>
          </p:nvSpPr>
          <p:spPr>
            <a:xfrm>
              <a:off x="4572370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발동조건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en-US" altLang="ko-KR" sz="1200" dirty="0" err="1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Destroy_Item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(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물건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파괴시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)</a:t>
              </a:r>
            </a:p>
            <a:p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효과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기존의 행동을 멈추고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필살기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게이지를 충전한다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2" name="Shape 31">
              <a:extLst>
                <a:ext uri="{FF2B5EF4-FFF2-40B4-BE49-F238E27FC236}">
                  <a16:creationId xmlns:a16="http://schemas.microsoft.com/office/drawing/2014/main" id="{31BD6F99-5AA8-4EB6-B93A-95537A486AFC}"/>
                </a:ext>
              </a:extLst>
            </p:cNvPr>
            <p:cNvSpPr/>
            <p:nvPr/>
          </p:nvSpPr>
          <p:spPr>
            <a:xfrm>
              <a:off x="7706938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4" name="Shape 32">
              <a:extLst>
                <a:ext uri="{FF2B5EF4-FFF2-40B4-BE49-F238E27FC236}">
                  <a16:creationId xmlns:a16="http://schemas.microsoft.com/office/drawing/2014/main" id="{2C9C5ED7-E61E-8EA9-821C-DCA33A532AE8}"/>
                </a:ext>
              </a:extLst>
            </p:cNvPr>
            <p:cNvSpPr/>
            <p:nvPr/>
          </p:nvSpPr>
          <p:spPr>
            <a:xfrm>
              <a:off x="7706938" y="3637333"/>
              <a:ext cx="60865" cy="2404183"/>
            </a:xfrm>
            <a:prstGeom prst="rect">
              <a:avLst/>
            </a:prstGeom>
            <a:solidFill>
              <a:srgbClr val="C9745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8" name="Text 33">
              <a:extLst>
                <a:ext uri="{FF2B5EF4-FFF2-40B4-BE49-F238E27FC236}">
                  <a16:creationId xmlns:a16="http://schemas.microsoft.com/office/drawing/2014/main" id="{FB5E1D3C-27B0-A15E-F859-491098343C69}"/>
                </a:ext>
              </a:extLst>
            </p:cNvPr>
            <p:cNvSpPr/>
            <p:nvPr/>
          </p:nvSpPr>
          <p:spPr>
            <a:xfrm>
              <a:off x="7859101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C9745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필살기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0" name="Text 34">
              <a:extLst>
                <a:ext uri="{FF2B5EF4-FFF2-40B4-BE49-F238E27FC236}">
                  <a16:creationId xmlns:a16="http://schemas.microsoft.com/office/drawing/2014/main" id="{00186A4D-5B88-1AEA-680D-9BC991F07AC1}"/>
                </a:ext>
              </a:extLst>
            </p:cNvPr>
            <p:cNvSpPr/>
            <p:nvPr/>
          </p:nvSpPr>
          <p:spPr>
            <a:xfrm>
              <a:off x="7859101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익스플로전</a:t>
              </a:r>
              <a:r>
                <a:rPr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~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2" name="Text 35">
              <a:extLst>
                <a:ext uri="{FF2B5EF4-FFF2-40B4-BE49-F238E27FC236}">
                  <a16:creationId xmlns:a16="http://schemas.microsoft.com/office/drawing/2014/main" id="{AB46A39D-F998-9B7F-24E5-4EABF2B21BD1}"/>
                </a:ext>
              </a:extLst>
            </p:cNvPr>
            <p:cNvSpPr/>
            <p:nvPr/>
          </p:nvSpPr>
          <p:spPr>
            <a:xfrm>
              <a:off x="7859101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화면 전체를 덮으며 매우 강력한 데미지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연쇄 폭발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X ,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한번에 매우 강력한 핵폭발 같은 느낌으로 나타냄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E35A4373-B357-5437-54E2-80F5E8B44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2498" y="1628775"/>
            <a:ext cx="2739721" cy="184355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A4A352-0BCA-30E2-9E76-47EF022F441F}"/>
              </a:ext>
            </a:extLst>
          </p:cNvPr>
          <p:cNvSpPr txBox="1"/>
          <p:nvPr/>
        </p:nvSpPr>
        <p:spPr>
          <a:xfrm>
            <a:off x="7077075" y="1106924"/>
            <a:ext cx="3642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업적: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🏆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폭발은 예술이다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!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9454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27C97-1FAB-A3FD-105E-BB41DD35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7B8A64-CF73-FA91-3BAC-BC9F3662D49A}"/>
              </a:ext>
            </a:extLst>
          </p:cNvPr>
          <p:cNvSpPr txBox="1"/>
          <p:nvPr/>
        </p:nvSpPr>
        <p:spPr>
          <a:xfrm>
            <a:off x="1029084" y="22232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에픽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쥐 – 구운 쥐포 쥐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8FBB782-142E-69D5-6ADB-55B36ACE8D03}"/>
              </a:ext>
            </a:extLst>
          </p:cNvPr>
          <p:cNvCxnSpPr>
            <a:cxnSpLocks/>
          </p:cNvCxnSpPr>
          <p:nvPr/>
        </p:nvCxnSpPr>
        <p:spPr>
          <a:xfrm flipH="1">
            <a:off x="1133475" y="796721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Shape 4">
            <a:extLst>
              <a:ext uri="{FF2B5EF4-FFF2-40B4-BE49-F238E27FC236}">
                <a16:creationId xmlns:a16="http://schemas.microsoft.com/office/drawing/2014/main" id="{7B045B41-1C4D-0A36-E00E-131D93D7A43A}"/>
              </a:ext>
            </a:extLst>
          </p:cNvPr>
          <p:cNvSpPr/>
          <p:nvPr/>
        </p:nvSpPr>
        <p:spPr>
          <a:xfrm>
            <a:off x="1133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D9786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4" name="Text 5">
            <a:extLst>
              <a:ext uri="{FF2B5EF4-FFF2-40B4-BE49-F238E27FC236}">
                <a16:creationId xmlns:a16="http://schemas.microsoft.com/office/drawing/2014/main" id="{3977BE17-C51E-F1C7-F49A-22ACE1232ED6}"/>
              </a:ext>
            </a:extLst>
          </p:cNvPr>
          <p:cNvSpPr/>
          <p:nvPr/>
        </p:nvSpPr>
        <p:spPr>
          <a:xfrm>
            <a:off x="1133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에픽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6" name="Shape 6">
            <a:extLst>
              <a:ext uri="{FF2B5EF4-FFF2-40B4-BE49-F238E27FC236}">
                <a16:creationId xmlns:a16="http://schemas.microsoft.com/office/drawing/2014/main" id="{8DF01879-2E9F-915A-9526-BB3192F10D14}"/>
              </a:ext>
            </a:extLst>
          </p:cNvPr>
          <p:cNvSpPr/>
          <p:nvPr/>
        </p:nvSpPr>
        <p:spPr>
          <a:xfrm>
            <a:off x="2276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8A5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8" name="Text 7">
            <a:extLst>
              <a:ext uri="{FF2B5EF4-FFF2-40B4-BE49-F238E27FC236}">
                <a16:creationId xmlns:a16="http://schemas.microsoft.com/office/drawing/2014/main" id="{956405E6-DD0C-07C0-B5F8-BCCEB8920CA3}"/>
              </a:ext>
            </a:extLst>
          </p:cNvPr>
          <p:cNvSpPr/>
          <p:nvPr/>
        </p:nvSpPr>
        <p:spPr>
          <a:xfrm>
            <a:off x="2276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티어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1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2" name="Text 9">
            <a:extLst>
              <a:ext uri="{FF2B5EF4-FFF2-40B4-BE49-F238E27FC236}">
                <a16:creationId xmlns:a16="http://schemas.microsoft.com/office/drawing/2014/main" id="{3153B2D7-CE6D-A55A-C30D-0C01EF134A86}"/>
              </a:ext>
            </a:extLst>
          </p:cNvPr>
          <p:cNvSpPr/>
          <p:nvPr/>
        </p:nvSpPr>
        <p:spPr>
          <a:xfrm>
            <a:off x="3419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돌파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4" name="Shape 10">
            <a:extLst>
              <a:ext uri="{FF2B5EF4-FFF2-40B4-BE49-F238E27FC236}">
                <a16:creationId xmlns:a16="http://schemas.microsoft.com/office/drawing/2014/main" id="{3BC85F64-F83A-2A2E-AE2B-0F83E0EBF675}"/>
              </a:ext>
            </a:extLst>
          </p:cNvPr>
          <p:cNvSpPr/>
          <p:nvPr/>
        </p:nvSpPr>
        <p:spPr>
          <a:xfrm>
            <a:off x="3535680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6" name="Text 11">
            <a:extLst>
              <a:ext uri="{FF2B5EF4-FFF2-40B4-BE49-F238E27FC236}">
                <a16:creationId xmlns:a16="http://schemas.microsoft.com/office/drawing/2014/main" id="{C58E99F9-32E0-EABA-A684-A4BCCA326DBA}"/>
              </a:ext>
            </a:extLst>
          </p:cNvPr>
          <p:cNvSpPr/>
          <p:nvPr/>
        </p:nvSpPr>
        <p:spPr>
          <a:xfrm>
            <a:off x="3535680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공격력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10</a:t>
            </a:r>
            <a:b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</a:b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(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보통 </a:t>
            </a: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8" name="Shape 12">
            <a:extLst>
              <a:ext uri="{FF2B5EF4-FFF2-40B4-BE49-F238E27FC236}">
                <a16:creationId xmlns:a16="http://schemas.microsoft.com/office/drawing/2014/main" id="{14195C7B-F213-3FCD-9106-08BC3893FDA6}"/>
              </a:ext>
            </a:extLst>
          </p:cNvPr>
          <p:cNvSpPr/>
          <p:nvPr/>
        </p:nvSpPr>
        <p:spPr>
          <a:xfrm>
            <a:off x="4678680" y="1126998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0" name="Text 13">
            <a:extLst>
              <a:ext uri="{FF2B5EF4-FFF2-40B4-BE49-F238E27FC236}">
                <a16:creationId xmlns:a16="http://schemas.microsoft.com/office/drawing/2014/main" id="{F2C6B6B4-4137-9AD3-997D-C2C4128637EC}"/>
              </a:ext>
            </a:extLst>
          </p:cNvPr>
          <p:cNvSpPr/>
          <p:nvPr/>
        </p:nvSpPr>
        <p:spPr>
          <a:xfrm>
            <a:off x="4678680" y="116357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X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6" name="Shape 15">
            <a:extLst>
              <a:ext uri="{FF2B5EF4-FFF2-40B4-BE49-F238E27FC236}">
                <a16:creationId xmlns:a16="http://schemas.microsoft.com/office/drawing/2014/main" id="{D2FDB28D-B41B-32C5-9431-676E41ED4638}"/>
              </a:ext>
            </a:extLst>
          </p:cNvPr>
          <p:cNvSpPr/>
          <p:nvPr/>
        </p:nvSpPr>
        <p:spPr>
          <a:xfrm>
            <a:off x="4732141" y="1628775"/>
            <a:ext cx="6025674" cy="852116"/>
          </a:xfrm>
          <a:prstGeom prst="roundRect">
            <a:avLst>
              <a:gd name="adj" fmla="val 7143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8" name="Text 16">
            <a:extLst>
              <a:ext uri="{FF2B5EF4-FFF2-40B4-BE49-F238E27FC236}">
                <a16:creationId xmlns:a16="http://schemas.microsoft.com/office/drawing/2014/main" id="{ADCC7011-B736-4FCA-895B-2C27F554B884}"/>
              </a:ext>
            </a:extLst>
          </p:cNvPr>
          <p:cNvSpPr/>
          <p:nvPr/>
        </p:nvSpPr>
        <p:spPr>
          <a:xfrm>
            <a:off x="4861480" y="1689640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레퍼런스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0" name="Text 17">
            <a:extLst>
              <a:ext uri="{FF2B5EF4-FFF2-40B4-BE49-F238E27FC236}">
                <a16:creationId xmlns:a16="http://schemas.microsoft.com/office/drawing/2014/main" id="{7F8CA026-5A5B-66B6-FE2A-2CC56E71C4A4}"/>
              </a:ext>
            </a:extLst>
          </p:cNvPr>
          <p:cNvSpPr/>
          <p:nvPr/>
        </p:nvSpPr>
        <p:spPr>
          <a:xfrm>
            <a:off x="4861480" y="1887453"/>
            <a:ext cx="5744172" cy="48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쥐포를 쥐모양으로 만든 형태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맛있어 보이는 외형과 질감 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2" name="Shape 18">
            <a:extLst>
              <a:ext uri="{FF2B5EF4-FFF2-40B4-BE49-F238E27FC236}">
                <a16:creationId xmlns:a16="http://schemas.microsoft.com/office/drawing/2014/main" id="{F669736A-AC57-7C73-8968-394018149671}"/>
              </a:ext>
            </a:extLst>
          </p:cNvPr>
          <p:cNvSpPr/>
          <p:nvPr/>
        </p:nvSpPr>
        <p:spPr>
          <a:xfrm>
            <a:off x="4732141" y="2556972"/>
            <a:ext cx="6025674" cy="935805"/>
          </a:xfrm>
          <a:prstGeom prst="roundRect">
            <a:avLst>
              <a:gd name="adj" fmla="val 6504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4" name="Text 19">
            <a:extLst>
              <a:ext uri="{FF2B5EF4-FFF2-40B4-BE49-F238E27FC236}">
                <a16:creationId xmlns:a16="http://schemas.microsoft.com/office/drawing/2014/main" id="{72115EBA-F14A-B227-3970-334447C21D58}"/>
              </a:ext>
            </a:extLst>
          </p:cNvPr>
          <p:cNvSpPr/>
          <p:nvPr/>
        </p:nvSpPr>
        <p:spPr>
          <a:xfrm>
            <a:off x="4861480" y="2617838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기획의도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6" name="Text 20">
            <a:extLst>
              <a:ext uri="{FF2B5EF4-FFF2-40B4-BE49-F238E27FC236}">
                <a16:creationId xmlns:a16="http://schemas.microsoft.com/office/drawing/2014/main" id="{B83BB592-B3A2-CB70-CF9C-1CB6199E2656}"/>
              </a:ext>
            </a:extLst>
          </p:cNvPr>
          <p:cNvSpPr/>
          <p:nvPr/>
        </p:nvSpPr>
        <p:spPr>
          <a:xfrm>
            <a:off x="4861480" y="2815650"/>
            <a:ext cx="5744172" cy="547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맛있어 보이는 외형과 질감이 핵심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자가버프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적에게 소량의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디버프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729D241-CAB3-A026-C223-5CD2E5A1B13C}"/>
              </a:ext>
            </a:extLst>
          </p:cNvPr>
          <p:cNvGrpSpPr/>
          <p:nvPr/>
        </p:nvGrpSpPr>
        <p:grpSpPr>
          <a:xfrm>
            <a:off x="1133475" y="3637333"/>
            <a:ext cx="9738463" cy="2896817"/>
            <a:chOff x="1133475" y="3637333"/>
            <a:chExt cx="9738463" cy="2404183"/>
          </a:xfrm>
        </p:grpSpPr>
        <p:sp>
          <p:nvSpPr>
            <p:cNvPr id="1098" name="Shape 21">
              <a:extLst>
                <a:ext uri="{FF2B5EF4-FFF2-40B4-BE49-F238E27FC236}">
                  <a16:creationId xmlns:a16="http://schemas.microsoft.com/office/drawing/2014/main" id="{891E6656-2218-A720-957F-5E878BF23256}"/>
                </a:ext>
              </a:extLst>
            </p:cNvPr>
            <p:cNvSpPr/>
            <p:nvPr/>
          </p:nvSpPr>
          <p:spPr>
            <a:xfrm>
              <a:off x="1133475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0" name="Shape 22">
              <a:extLst>
                <a:ext uri="{FF2B5EF4-FFF2-40B4-BE49-F238E27FC236}">
                  <a16:creationId xmlns:a16="http://schemas.microsoft.com/office/drawing/2014/main" id="{94ACC74B-A439-0CF1-B476-08E290ED411E}"/>
                </a:ext>
              </a:extLst>
            </p:cNvPr>
            <p:cNvSpPr/>
            <p:nvPr/>
          </p:nvSpPr>
          <p:spPr>
            <a:xfrm>
              <a:off x="1133475" y="3637333"/>
              <a:ext cx="60865" cy="2404183"/>
            </a:xfrm>
            <a:prstGeom prst="rect">
              <a:avLst/>
            </a:prstGeom>
            <a:solidFill>
              <a:srgbClr val="6F8A6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4" name="Text 23">
              <a:extLst>
                <a:ext uri="{FF2B5EF4-FFF2-40B4-BE49-F238E27FC236}">
                  <a16:creationId xmlns:a16="http://schemas.microsoft.com/office/drawing/2014/main" id="{B49F03A8-105D-913E-D3B0-01421FF87D57}"/>
                </a:ext>
              </a:extLst>
            </p:cNvPr>
            <p:cNvSpPr/>
            <p:nvPr/>
          </p:nvSpPr>
          <p:spPr>
            <a:xfrm>
              <a:off x="1285638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F8A6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패시브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6" name="Text 24">
              <a:extLst>
                <a:ext uri="{FF2B5EF4-FFF2-40B4-BE49-F238E27FC236}">
                  <a16:creationId xmlns:a16="http://schemas.microsoft.com/office/drawing/2014/main" id="{FF67D1D1-2446-68CA-1C90-C8725D34070D}"/>
                </a:ext>
              </a:extLst>
            </p:cNvPr>
            <p:cNvSpPr/>
            <p:nvPr/>
          </p:nvSpPr>
          <p:spPr>
            <a:xfrm>
              <a:off x="1285638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조미된 단맛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8" name="Text 25">
              <a:extLst>
                <a:ext uri="{FF2B5EF4-FFF2-40B4-BE49-F238E27FC236}">
                  <a16:creationId xmlns:a16="http://schemas.microsoft.com/office/drawing/2014/main" id="{8159F012-4930-2637-425E-6027FAAC03BA}"/>
                </a:ext>
              </a:extLst>
            </p:cNvPr>
            <p:cNvSpPr/>
            <p:nvPr/>
          </p:nvSpPr>
          <p:spPr>
            <a:xfrm>
              <a:off x="1285638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 쥐가 공격한 적은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2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초간 받는 피해가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8%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증가한다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.(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구워진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상태일 때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12%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로 증가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</a:p>
          </p:txBody>
        </p:sp>
        <p:sp>
          <p:nvSpPr>
            <p:cNvPr id="1110" name="Shape 26">
              <a:extLst>
                <a:ext uri="{FF2B5EF4-FFF2-40B4-BE49-F238E27FC236}">
                  <a16:creationId xmlns:a16="http://schemas.microsoft.com/office/drawing/2014/main" id="{E66747FC-79A7-A9EF-061B-C9B2823878F9}"/>
                </a:ext>
              </a:extLst>
            </p:cNvPr>
            <p:cNvSpPr/>
            <p:nvPr/>
          </p:nvSpPr>
          <p:spPr>
            <a:xfrm>
              <a:off x="4420206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2" name="Shape 27">
              <a:extLst>
                <a:ext uri="{FF2B5EF4-FFF2-40B4-BE49-F238E27FC236}">
                  <a16:creationId xmlns:a16="http://schemas.microsoft.com/office/drawing/2014/main" id="{9C144084-15E4-CC62-3878-5E98F5591037}"/>
                </a:ext>
              </a:extLst>
            </p:cNvPr>
            <p:cNvSpPr/>
            <p:nvPr/>
          </p:nvSpPr>
          <p:spPr>
            <a:xfrm>
              <a:off x="4420206" y="3637333"/>
              <a:ext cx="60865" cy="2404183"/>
            </a:xfrm>
            <a:prstGeom prst="rect">
              <a:avLst/>
            </a:prstGeom>
            <a:solidFill>
              <a:srgbClr val="3D6BA8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6" name="Text 28">
              <a:extLst>
                <a:ext uri="{FF2B5EF4-FFF2-40B4-BE49-F238E27FC236}">
                  <a16:creationId xmlns:a16="http://schemas.microsoft.com/office/drawing/2014/main" id="{15FBEDFE-9A68-0D22-41F1-BCE90254310D}"/>
                </a:ext>
              </a:extLst>
            </p:cNvPr>
            <p:cNvSpPr/>
            <p:nvPr/>
          </p:nvSpPr>
          <p:spPr>
            <a:xfrm>
              <a:off x="4572370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3D6BA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액티브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8" name="Text 29">
              <a:extLst>
                <a:ext uri="{FF2B5EF4-FFF2-40B4-BE49-F238E27FC236}">
                  <a16:creationId xmlns:a16="http://schemas.microsoft.com/office/drawing/2014/main" id="{4AE78F93-7BF3-9625-902C-93D4C4121932}"/>
                </a:ext>
              </a:extLst>
            </p:cNvPr>
            <p:cNvSpPr/>
            <p:nvPr/>
          </p:nvSpPr>
          <p:spPr>
            <a:xfrm>
              <a:off x="4572370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스스로 굽기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0" name="Text 30">
              <a:extLst>
                <a:ext uri="{FF2B5EF4-FFF2-40B4-BE49-F238E27FC236}">
                  <a16:creationId xmlns:a16="http://schemas.microsoft.com/office/drawing/2014/main" id="{D19F1AD3-FD98-EE0F-1E48-8579C0D6A8DB}"/>
                </a:ext>
              </a:extLst>
            </p:cNvPr>
            <p:cNvSpPr/>
            <p:nvPr/>
          </p:nvSpPr>
          <p:spPr>
            <a:xfrm>
              <a:off x="4572370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발동조건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: Interval (10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초마다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</a:p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효과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: 3.5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초간 스스로 에게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버프 공격력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+35%</a:t>
              </a:r>
            </a:p>
            <a:p>
              <a:pPr marL="0" indent="0">
                <a:buNone/>
              </a:pP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2" name="Shape 31">
              <a:extLst>
                <a:ext uri="{FF2B5EF4-FFF2-40B4-BE49-F238E27FC236}">
                  <a16:creationId xmlns:a16="http://schemas.microsoft.com/office/drawing/2014/main" id="{EA46F6EA-46E1-1AE0-0186-315F21A573F9}"/>
                </a:ext>
              </a:extLst>
            </p:cNvPr>
            <p:cNvSpPr/>
            <p:nvPr/>
          </p:nvSpPr>
          <p:spPr>
            <a:xfrm>
              <a:off x="7706938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4" name="Shape 32">
              <a:extLst>
                <a:ext uri="{FF2B5EF4-FFF2-40B4-BE49-F238E27FC236}">
                  <a16:creationId xmlns:a16="http://schemas.microsoft.com/office/drawing/2014/main" id="{3F3D0038-4171-EE30-FFF0-CB84AEA59242}"/>
                </a:ext>
              </a:extLst>
            </p:cNvPr>
            <p:cNvSpPr/>
            <p:nvPr/>
          </p:nvSpPr>
          <p:spPr>
            <a:xfrm>
              <a:off x="7706938" y="3637333"/>
              <a:ext cx="60865" cy="2404183"/>
            </a:xfrm>
            <a:prstGeom prst="rect">
              <a:avLst/>
            </a:prstGeom>
            <a:solidFill>
              <a:srgbClr val="C9745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8" name="Text 33">
              <a:extLst>
                <a:ext uri="{FF2B5EF4-FFF2-40B4-BE49-F238E27FC236}">
                  <a16:creationId xmlns:a16="http://schemas.microsoft.com/office/drawing/2014/main" id="{ADE18E38-FAB7-086E-E6DE-8C43CF338704}"/>
                </a:ext>
              </a:extLst>
            </p:cNvPr>
            <p:cNvSpPr/>
            <p:nvPr/>
          </p:nvSpPr>
          <p:spPr>
            <a:xfrm>
              <a:off x="7859101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C9745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필살기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297DCD6-5CE5-6A25-931B-C0880702F1AB}"/>
              </a:ext>
            </a:extLst>
          </p:cNvPr>
          <p:cNvSpPr txBox="1"/>
          <p:nvPr/>
        </p:nvSpPr>
        <p:spPr>
          <a:xfrm>
            <a:off x="7077075" y="1106924"/>
            <a:ext cx="3642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업적: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70BABCE6-1109-526A-F6D7-BD214B658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9102" y="1628775"/>
            <a:ext cx="2746514" cy="1843551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508397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C86B2-70C2-4515-2BBF-4422052EE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736448-E307-72FE-9027-604238DFBF3D}"/>
              </a:ext>
            </a:extLst>
          </p:cNvPr>
          <p:cNvSpPr txBox="1"/>
          <p:nvPr/>
        </p:nvSpPr>
        <p:spPr>
          <a:xfrm>
            <a:off x="1029084" y="22232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유니크 쥐 – 정비공 쥐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DDC979D-6CDD-A505-E86C-7DC8DEB992A6}"/>
              </a:ext>
            </a:extLst>
          </p:cNvPr>
          <p:cNvCxnSpPr>
            <a:cxnSpLocks/>
          </p:cNvCxnSpPr>
          <p:nvPr/>
        </p:nvCxnSpPr>
        <p:spPr>
          <a:xfrm flipH="1">
            <a:off x="1133475" y="796721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Shape 4">
            <a:extLst>
              <a:ext uri="{FF2B5EF4-FFF2-40B4-BE49-F238E27FC236}">
                <a16:creationId xmlns:a16="http://schemas.microsoft.com/office/drawing/2014/main" id="{4C0DE1BC-D915-6645-DCC2-20BC197767B8}"/>
              </a:ext>
            </a:extLst>
          </p:cNvPr>
          <p:cNvSpPr/>
          <p:nvPr/>
        </p:nvSpPr>
        <p:spPr>
          <a:xfrm>
            <a:off x="1133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D9786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4" name="Text 5">
            <a:extLst>
              <a:ext uri="{FF2B5EF4-FFF2-40B4-BE49-F238E27FC236}">
                <a16:creationId xmlns:a16="http://schemas.microsoft.com/office/drawing/2014/main" id="{8B5E1B2E-7B63-7C3F-DC71-5008C4FA3C33}"/>
              </a:ext>
            </a:extLst>
          </p:cNvPr>
          <p:cNvSpPr/>
          <p:nvPr/>
        </p:nvSpPr>
        <p:spPr>
          <a:xfrm>
            <a:off x="1133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유니크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6" name="Shape 6">
            <a:extLst>
              <a:ext uri="{FF2B5EF4-FFF2-40B4-BE49-F238E27FC236}">
                <a16:creationId xmlns:a16="http://schemas.microsoft.com/office/drawing/2014/main" id="{3F7FCEEF-6CB4-BF06-AE8C-BDB7118D69D4}"/>
              </a:ext>
            </a:extLst>
          </p:cNvPr>
          <p:cNvSpPr/>
          <p:nvPr/>
        </p:nvSpPr>
        <p:spPr>
          <a:xfrm>
            <a:off x="2276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8A5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8" name="Text 7">
            <a:extLst>
              <a:ext uri="{FF2B5EF4-FFF2-40B4-BE49-F238E27FC236}">
                <a16:creationId xmlns:a16="http://schemas.microsoft.com/office/drawing/2014/main" id="{BA28C5C5-3BBE-2C4A-4A9B-20676D5943F3}"/>
              </a:ext>
            </a:extLst>
          </p:cNvPr>
          <p:cNvSpPr/>
          <p:nvPr/>
        </p:nvSpPr>
        <p:spPr>
          <a:xfrm>
            <a:off x="2276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티어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2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2" name="Text 9">
            <a:extLst>
              <a:ext uri="{FF2B5EF4-FFF2-40B4-BE49-F238E27FC236}">
                <a16:creationId xmlns:a16="http://schemas.microsoft.com/office/drawing/2014/main" id="{6F70BFE5-D426-72C2-2A43-34F92DB7EA5B}"/>
              </a:ext>
            </a:extLst>
          </p:cNvPr>
          <p:cNvSpPr/>
          <p:nvPr/>
        </p:nvSpPr>
        <p:spPr>
          <a:xfrm>
            <a:off x="3419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돌파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4" name="Shape 10">
            <a:extLst>
              <a:ext uri="{FF2B5EF4-FFF2-40B4-BE49-F238E27FC236}">
                <a16:creationId xmlns:a16="http://schemas.microsoft.com/office/drawing/2014/main" id="{8E34C6C2-72EB-5769-C4AB-CB0BBD8A8E3F}"/>
              </a:ext>
            </a:extLst>
          </p:cNvPr>
          <p:cNvSpPr/>
          <p:nvPr/>
        </p:nvSpPr>
        <p:spPr>
          <a:xfrm>
            <a:off x="3535680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6" name="Text 11">
            <a:extLst>
              <a:ext uri="{FF2B5EF4-FFF2-40B4-BE49-F238E27FC236}">
                <a16:creationId xmlns:a16="http://schemas.microsoft.com/office/drawing/2014/main" id="{BF353BC0-4F6A-1E08-73E3-F5BAC13B37F3}"/>
              </a:ext>
            </a:extLst>
          </p:cNvPr>
          <p:cNvSpPr/>
          <p:nvPr/>
        </p:nvSpPr>
        <p:spPr>
          <a:xfrm>
            <a:off x="3535680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공격력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15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낮음</a:t>
            </a: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6" name="Shape 15">
            <a:extLst>
              <a:ext uri="{FF2B5EF4-FFF2-40B4-BE49-F238E27FC236}">
                <a16:creationId xmlns:a16="http://schemas.microsoft.com/office/drawing/2014/main" id="{3454A086-127C-8285-6BD4-9ED3B7A0141A}"/>
              </a:ext>
            </a:extLst>
          </p:cNvPr>
          <p:cNvSpPr/>
          <p:nvPr/>
        </p:nvSpPr>
        <p:spPr>
          <a:xfrm>
            <a:off x="4732141" y="1628775"/>
            <a:ext cx="6025674" cy="852116"/>
          </a:xfrm>
          <a:prstGeom prst="roundRect">
            <a:avLst>
              <a:gd name="adj" fmla="val 7143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8" name="Text 16">
            <a:extLst>
              <a:ext uri="{FF2B5EF4-FFF2-40B4-BE49-F238E27FC236}">
                <a16:creationId xmlns:a16="http://schemas.microsoft.com/office/drawing/2014/main" id="{8CF6AEB2-BFE7-61BF-43E8-375FD3E07231}"/>
              </a:ext>
            </a:extLst>
          </p:cNvPr>
          <p:cNvSpPr/>
          <p:nvPr/>
        </p:nvSpPr>
        <p:spPr>
          <a:xfrm>
            <a:off x="4861480" y="1689640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레퍼런스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0" name="Text 17">
            <a:extLst>
              <a:ext uri="{FF2B5EF4-FFF2-40B4-BE49-F238E27FC236}">
                <a16:creationId xmlns:a16="http://schemas.microsoft.com/office/drawing/2014/main" id="{4ABFE048-C378-C170-BD9D-A20BBB6AE5C2}"/>
              </a:ext>
            </a:extLst>
          </p:cNvPr>
          <p:cNvSpPr/>
          <p:nvPr/>
        </p:nvSpPr>
        <p:spPr>
          <a:xfrm>
            <a:off x="4861480" y="1887453"/>
            <a:ext cx="5744172" cy="48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따로 없음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정비공에 어울리는 외형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작업복과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고글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연장이 핵심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2" name="Shape 18">
            <a:extLst>
              <a:ext uri="{FF2B5EF4-FFF2-40B4-BE49-F238E27FC236}">
                <a16:creationId xmlns:a16="http://schemas.microsoft.com/office/drawing/2014/main" id="{D6E178CF-B9C1-A451-C90B-7B9B0B5DF853}"/>
              </a:ext>
            </a:extLst>
          </p:cNvPr>
          <p:cNvSpPr/>
          <p:nvPr/>
        </p:nvSpPr>
        <p:spPr>
          <a:xfrm>
            <a:off x="4732141" y="2556972"/>
            <a:ext cx="6025674" cy="935805"/>
          </a:xfrm>
          <a:prstGeom prst="roundRect">
            <a:avLst>
              <a:gd name="adj" fmla="val 6504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4" name="Text 19">
            <a:extLst>
              <a:ext uri="{FF2B5EF4-FFF2-40B4-BE49-F238E27FC236}">
                <a16:creationId xmlns:a16="http://schemas.microsoft.com/office/drawing/2014/main" id="{0C0A1E49-0791-0826-3E09-BCB7123822BD}"/>
              </a:ext>
            </a:extLst>
          </p:cNvPr>
          <p:cNvSpPr/>
          <p:nvPr/>
        </p:nvSpPr>
        <p:spPr>
          <a:xfrm>
            <a:off x="4861480" y="2617838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기획의도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6" name="Text 20">
            <a:extLst>
              <a:ext uri="{FF2B5EF4-FFF2-40B4-BE49-F238E27FC236}">
                <a16:creationId xmlns:a16="http://schemas.microsoft.com/office/drawing/2014/main" id="{C3643D8F-EBB0-3014-938E-B11A517BDC22}"/>
              </a:ext>
            </a:extLst>
          </p:cNvPr>
          <p:cNvSpPr/>
          <p:nvPr/>
        </p:nvSpPr>
        <p:spPr>
          <a:xfrm>
            <a:off x="4861480" y="2815650"/>
            <a:ext cx="5744172" cy="547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부품수집후 강화를 통해 강력한 아군에게 버프를 주는 서포터 쥐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EDCCC21-A0D4-BE64-C0BC-44E8B43DA1EF}"/>
              </a:ext>
            </a:extLst>
          </p:cNvPr>
          <p:cNvGrpSpPr/>
          <p:nvPr/>
        </p:nvGrpSpPr>
        <p:grpSpPr>
          <a:xfrm>
            <a:off x="1133475" y="3637333"/>
            <a:ext cx="9738463" cy="2896817"/>
            <a:chOff x="1133475" y="3637333"/>
            <a:chExt cx="9738463" cy="2404183"/>
          </a:xfrm>
        </p:grpSpPr>
        <p:sp>
          <p:nvSpPr>
            <p:cNvPr id="1098" name="Shape 21">
              <a:extLst>
                <a:ext uri="{FF2B5EF4-FFF2-40B4-BE49-F238E27FC236}">
                  <a16:creationId xmlns:a16="http://schemas.microsoft.com/office/drawing/2014/main" id="{69F8DF97-F0C9-1A8C-6A87-B7F0184005B8}"/>
                </a:ext>
              </a:extLst>
            </p:cNvPr>
            <p:cNvSpPr/>
            <p:nvPr/>
          </p:nvSpPr>
          <p:spPr>
            <a:xfrm>
              <a:off x="1133475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0" name="Shape 22">
              <a:extLst>
                <a:ext uri="{FF2B5EF4-FFF2-40B4-BE49-F238E27FC236}">
                  <a16:creationId xmlns:a16="http://schemas.microsoft.com/office/drawing/2014/main" id="{9B2CB1EE-50D9-75FA-22B2-9864348ADFA4}"/>
                </a:ext>
              </a:extLst>
            </p:cNvPr>
            <p:cNvSpPr/>
            <p:nvPr/>
          </p:nvSpPr>
          <p:spPr>
            <a:xfrm>
              <a:off x="1133475" y="3637333"/>
              <a:ext cx="60865" cy="2404183"/>
            </a:xfrm>
            <a:prstGeom prst="rect">
              <a:avLst/>
            </a:prstGeom>
            <a:solidFill>
              <a:srgbClr val="6F8A6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4" name="Text 23">
              <a:extLst>
                <a:ext uri="{FF2B5EF4-FFF2-40B4-BE49-F238E27FC236}">
                  <a16:creationId xmlns:a16="http://schemas.microsoft.com/office/drawing/2014/main" id="{81DB54B9-A7C9-1E70-B67F-78E922A86E43}"/>
                </a:ext>
              </a:extLst>
            </p:cNvPr>
            <p:cNvSpPr/>
            <p:nvPr/>
          </p:nvSpPr>
          <p:spPr>
            <a:xfrm>
              <a:off x="1285638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F8A6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패시브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6" name="Text 24">
              <a:extLst>
                <a:ext uri="{FF2B5EF4-FFF2-40B4-BE49-F238E27FC236}">
                  <a16:creationId xmlns:a16="http://schemas.microsoft.com/office/drawing/2014/main" id="{54868403-B776-61CA-C15B-1DD9611AB7E8}"/>
                </a:ext>
              </a:extLst>
            </p:cNvPr>
            <p:cNvSpPr/>
            <p:nvPr/>
          </p:nvSpPr>
          <p:spPr>
            <a:xfrm>
              <a:off x="1285638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부품 수집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8" name="Text 25">
              <a:extLst>
                <a:ext uri="{FF2B5EF4-FFF2-40B4-BE49-F238E27FC236}">
                  <a16:creationId xmlns:a16="http://schemas.microsoft.com/office/drawing/2014/main" id="{4A52EAF6-418E-0AE0-53C4-38C6B2073658}"/>
                </a:ext>
              </a:extLst>
            </p:cNvPr>
            <p:cNvSpPr/>
            <p:nvPr/>
          </p:nvSpPr>
          <p:spPr>
            <a:xfrm>
              <a:off x="1285638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물건을 파괴할 때마다 부품을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개 획득</a:t>
              </a:r>
              <a:b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부품은 최대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10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개까지 보유 가능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0" name="Shape 26">
              <a:extLst>
                <a:ext uri="{FF2B5EF4-FFF2-40B4-BE49-F238E27FC236}">
                  <a16:creationId xmlns:a16="http://schemas.microsoft.com/office/drawing/2014/main" id="{C320BBBB-DFA4-4E61-AFB3-B3087DBB759D}"/>
                </a:ext>
              </a:extLst>
            </p:cNvPr>
            <p:cNvSpPr/>
            <p:nvPr/>
          </p:nvSpPr>
          <p:spPr>
            <a:xfrm>
              <a:off x="4420206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2" name="Shape 27">
              <a:extLst>
                <a:ext uri="{FF2B5EF4-FFF2-40B4-BE49-F238E27FC236}">
                  <a16:creationId xmlns:a16="http://schemas.microsoft.com/office/drawing/2014/main" id="{8C52BAD2-391C-17E0-EFD5-413439EB8165}"/>
                </a:ext>
              </a:extLst>
            </p:cNvPr>
            <p:cNvSpPr/>
            <p:nvPr/>
          </p:nvSpPr>
          <p:spPr>
            <a:xfrm>
              <a:off x="4420206" y="3637333"/>
              <a:ext cx="60865" cy="2404183"/>
            </a:xfrm>
            <a:prstGeom prst="rect">
              <a:avLst/>
            </a:prstGeom>
            <a:solidFill>
              <a:srgbClr val="3D6BA8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6" name="Text 28">
              <a:extLst>
                <a:ext uri="{FF2B5EF4-FFF2-40B4-BE49-F238E27FC236}">
                  <a16:creationId xmlns:a16="http://schemas.microsoft.com/office/drawing/2014/main" id="{DDA476C8-2EB2-D5EB-69A8-C10E8EB82F49}"/>
                </a:ext>
              </a:extLst>
            </p:cNvPr>
            <p:cNvSpPr/>
            <p:nvPr/>
          </p:nvSpPr>
          <p:spPr>
            <a:xfrm>
              <a:off x="4572370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3D6BA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액티브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8" name="Text 29">
              <a:extLst>
                <a:ext uri="{FF2B5EF4-FFF2-40B4-BE49-F238E27FC236}">
                  <a16:creationId xmlns:a16="http://schemas.microsoft.com/office/drawing/2014/main" id="{58E412BA-3E50-C7DB-A21C-E46F592C9BF4}"/>
                </a:ext>
              </a:extLst>
            </p:cNvPr>
            <p:cNvSpPr/>
            <p:nvPr/>
          </p:nvSpPr>
          <p:spPr>
            <a:xfrm>
              <a:off x="4572370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긴급 강화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0" name="Text 30">
              <a:extLst>
                <a:ext uri="{FF2B5EF4-FFF2-40B4-BE49-F238E27FC236}">
                  <a16:creationId xmlns:a16="http://schemas.microsoft.com/office/drawing/2014/main" id="{9D46DFD3-4FF4-777B-B243-ECDA28934189}"/>
                </a:ext>
              </a:extLst>
            </p:cNvPr>
            <p:cNvSpPr/>
            <p:nvPr/>
          </p:nvSpPr>
          <p:spPr>
            <a:xfrm>
              <a:off x="4572370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발동조건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부품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2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개 이상 보유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,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범위안에 쥐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O</a:t>
              </a:r>
            </a:p>
            <a:p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효과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부품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2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개이상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보유시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범위 안에 있는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쥐중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가장 강한 쥐 부터 정비해서  버프 부여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2" name="Shape 31">
              <a:extLst>
                <a:ext uri="{FF2B5EF4-FFF2-40B4-BE49-F238E27FC236}">
                  <a16:creationId xmlns:a16="http://schemas.microsoft.com/office/drawing/2014/main" id="{42C2183E-A29E-25FC-FFAF-32EED1E67CA5}"/>
                </a:ext>
              </a:extLst>
            </p:cNvPr>
            <p:cNvSpPr/>
            <p:nvPr/>
          </p:nvSpPr>
          <p:spPr>
            <a:xfrm>
              <a:off x="7706938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4" name="Shape 32">
              <a:extLst>
                <a:ext uri="{FF2B5EF4-FFF2-40B4-BE49-F238E27FC236}">
                  <a16:creationId xmlns:a16="http://schemas.microsoft.com/office/drawing/2014/main" id="{E693001C-F2C7-569A-11AD-94A7253D03EA}"/>
                </a:ext>
              </a:extLst>
            </p:cNvPr>
            <p:cNvSpPr/>
            <p:nvPr/>
          </p:nvSpPr>
          <p:spPr>
            <a:xfrm>
              <a:off x="7706938" y="3637333"/>
              <a:ext cx="60865" cy="2404183"/>
            </a:xfrm>
            <a:prstGeom prst="rect">
              <a:avLst/>
            </a:prstGeom>
            <a:solidFill>
              <a:srgbClr val="C9745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8" name="Text 33">
              <a:extLst>
                <a:ext uri="{FF2B5EF4-FFF2-40B4-BE49-F238E27FC236}">
                  <a16:creationId xmlns:a16="http://schemas.microsoft.com/office/drawing/2014/main" id="{8349FC22-B930-DAE0-6850-D33D17848F17}"/>
                </a:ext>
              </a:extLst>
            </p:cNvPr>
            <p:cNvSpPr/>
            <p:nvPr/>
          </p:nvSpPr>
          <p:spPr>
            <a:xfrm>
              <a:off x="7859101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C9745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필살기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7543C2A-F036-7943-9D14-D485AE9543C7}"/>
              </a:ext>
            </a:extLst>
          </p:cNvPr>
          <p:cNvSpPr txBox="1"/>
          <p:nvPr/>
        </p:nvSpPr>
        <p:spPr>
          <a:xfrm>
            <a:off x="7077075" y="1106924"/>
            <a:ext cx="3642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업적: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804E1740-C61D-0A23-B69B-89F7016E9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2498" y="1628775"/>
            <a:ext cx="2739721" cy="184355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12" name="Shape 12">
            <a:extLst>
              <a:ext uri="{FF2B5EF4-FFF2-40B4-BE49-F238E27FC236}">
                <a16:creationId xmlns:a16="http://schemas.microsoft.com/office/drawing/2014/main" id="{37845138-F6CB-549C-1133-31F8A98910DC}"/>
              </a:ext>
            </a:extLst>
          </p:cNvPr>
          <p:cNvSpPr/>
          <p:nvPr/>
        </p:nvSpPr>
        <p:spPr>
          <a:xfrm>
            <a:off x="4678680" y="1126998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9E0F16A-7404-DFC0-317D-8DDE3C475B50}"/>
              </a:ext>
            </a:extLst>
          </p:cNvPr>
          <p:cNvSpPr/>
          <p:nvPr/>
        </p:nvSpPr>
        <p:spPr>
          <a:xfrm>
            <a:off x="4678680" y="116357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X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2981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E1189-E48F-9D47-ACCC-FE22C34A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4D110B-1D63-7316-C2C2-B2A78C63335D}"/>
              </a:ext>
            </a:extLst>
          </p:cNvPr>
          <p:cNvSpPr txBox="1"/>
          <p:nvPr/>
        </p:nvSpPr>
        <p:spPr>
          <a:xfrm>
            <a:off x="1029084" y="22232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유니크 쥐 – 흰 갑주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3110356-53DE-C8DE-C40C-FE94F35B4D18}"/>
              </a:ext>
            </a:extLst>
          </p:cNvPr>
          <p:cNvCxnSpPr>
            <a:cxnSpLocks/>
          </p:cNvCxnSpPr>
          <p:nvPr/>
        </p:nvCxnSpPr>
        <p:spPr>
          <a:xfrm flipH="1">
            <a:off x="1133475" y="796721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Shape 4">
            <a:extLst>
              <a:ext uri="{FF2B5EF4-FFF2-40B4-BE49-F238E27FC236}">
                <a16:creationId xmlns:a16="http://schemas.microsoft.com/office/drawing/2014/main" id="{99B269BD-8048-9902-808E-897CEBE22619}"/>
              </a:ext>
            </a:extLst>
          </p:cNvPr>
          <p:cNvSpPr/>
          <p:nvPr/>
        </p:nvSpPr>
        <p:spPr>
          <a:xfrm>
            <a:off x="1133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D9786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4" name="Text 5">
            <a:extLst>
              <a:ext uri="{FF2B5EF4-FFF2-40B4-BE49-F238E27FC236}">
                <a16:creationId xmlns:a16="http://schemas.microsoft.com/office/drawing/2014/main" id="{9E638CA7-CB95-3D29-F08A-80D3F748B03F}"/>
              </a:ext>
            </a:extLst>
          </p:cNvPr>
          <p:cNvSpPr/>
          <p:nvPr/>
        </p:nvSpPr>
        <p:spPr>
          <a:xfrm>
            <a:off x="1133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유니크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6" name="Shape 6">
            <a:extLst>
              <a:ext uri="{FF2B5EF4-FFF2-40B4-BE49-F238E27FC236}">
                <a16:creationId xmlns:a16="http://schemas.microsoft.com/office/drawing/2014/main" id="{FC53C937-C42F-3B35-B9B7-9D25499B7DA5}"/>
              </a:ext>
            </a:extLst>
          </p:cNvPr>
          <p:cNvSpPr/>
          <p:nvPr/>
        </p:nvSpPr>
        <p:spPr>
          <a:xfrm>
            <a:off x="2276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8A5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8" name="Text 7">
            <a:extLst>
              <a:ext uri="{FF2B5EF4-FFF2-40B4-BE49-F238E27FC236}">
                <a16:creationId xmlns:a16="http://schemas.microsoft.com/office/drawing/2014/main" id="{8C87E259-65A1-9E51-69C3-434369F88A0C}"/>
              </a:ext>
            </a:extLst>
          </p:cNvPr>
          <p:cNvSpPr/>
          <p:nvPr/>
        </p:nvSpPr>
        <p:spPr>
          <a:xfrm>
            <a:off x="2276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티어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4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2" name="Text 9">
            <a:extLst>
              <a:ext uri="{FF2B5EF4-FFF2-40B4-BE49-F238E27FC236}">
                <a16:creationId xmlns:a16="http://schemas.microsoft.com/office/drawing/2014/main" id="{E23FAF38-87CF-5A9B-9EF9-440EFE4DBD32}"/>
              </a:ext>
            </a:extLst>
          </p:cNvPr>
          <p:cNvSpPr/>
          <p:nvPr/>
        </p:nvSpPr>
        <p:spPr>
          <a:xfrm>
            <a:off x="3419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돌파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4" name="Shape 10">
            <a:extLst>
              <a:ext uri="{FF2B5EF4-FFF2-40B4-BE49-F238E27FC236}">
                <a16:creationId xmlns:a16="http://schemas.microsoft.com/office/drawing/2014/main" id="{FC214AC2-4016-B3F7-95BE-DA3CB05FC346}"/>
              </a:ext>
            </a:extLst>
          </p:cNvPr>
          <p:cNvSpPr/>
          <p:nvPr/>
        </p:nvSpPr>
        <p:spPr>
          <a:xfrm>
            <a:off x="3535680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6" name="Text 11">
            <a:extLst>
              <a:ext uri="{FF2B5EF4-FFF2-40B4-BE49-F238E27FC236}">
                <a16:creationId xmlns:a16="http://schemas.microsoft.com/office/drawing/2014/main" id="{B6DDCC45-ECE5-C4B5-F478-6E4465339CEA}"/>
              </a:ext>
            </a:extLst>
          </p:cNvPr>
          <p:cNvSpPr/>
          <p:nvPr/>
        </p:nvSpPr>
        <p:spPr>
          <a:xfrm>
            <a:off x="3535680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공격력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35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높음</a:t>
            </a: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6" name="Shape 15">
            <a:extLst>
              <a:ext uri="{FF2B5EF4-FFF2-40B4-BE49-F238E27FC236}">
                <a16:creationId xmlns:a16="http://schemas.microsoft.com/office/drawing/2014/main" id="{D299A426-D58D-0492-0116-F0E5DBEA1872}"/>
              </a:ext>
            </a:extLst>
          </p:cNvPr>
          <p:cNvSpPr/>
          <p:nvPr/>
        </p:nvSpPr>
        <p:spPr>
          <a:xfrm>
            <a:off x="4732141" y="1628775"/>
            <a:ext cx="6025674" cy="852116"/>
          </a:xfrm>
          <a:prstGeom prst="roundRect">
            <a:avLst>
              <a:gd name="adj" fmla="val 7143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8" name="Text 16">
            <a:extLst>
              <a:ext uri="{FF2B5EF4-FFF2-40B4-BE49-F238E27FC236}">
                <a16:creationId xmlns:a16="http://schemas.microsoft.com/office/drawing/2014/main" id="{F71C97AA-203E-FBB5-D008-EB168F01BB6B}"/>
              </a:ext>
            </a:extLst>
          </p:cNvPr>
          <p:cNvSpPr/>
          <p:nvPr/>
        </p:nvSpPr>
        <p:spPr>
          <a:xfrm>
            <a:off x="4861480" y="1689640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레퍼런스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0" name="Text 17">
            <a:extLst>
              <a:ext uri="{FF2B5EF4-FFF2-40B4-BE49-F238E27FC236}">
                <a16:creationId xmlns:a16="http://schemas.microsoft.com/office/drawing/2014/main" id="{EC9597D5-4B43-D11B-50B7-BDE08E556769}"/>
              </a:ext>
            </a:extLst>
          </p:cNvPr>
          <p:cNvSpPr/>
          <p:nvPr/>
        </p:nvSpPr>
        <p:spPr>
          <a:xfrm>
            <a:off x="4861480" y="1887453"/>
            <a:ext cx="5744172" cy="48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스타워즈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스톰트루퍼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패러디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흰 갑옷 바탕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총알이 빗나가는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밈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기반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2" name="Shape 18">
            <a:extLst>
              <a:ext uri="{FF2B5EF4-FFF2-40B4-BE49-F238E27FC236}">
                <a16:creationId xmlns:a16="http://schemas.microsoft.com/office/drawing/2014/main" id="{DE46FDC8-DC9A-11FD-61AB-18A1854F5557}"/>
              </a:ext>
            </a:extLst>
          </p:cNvPr>
          <p:cNvSpPr/>
          <p:nvPr/>
        </p:nvSpPr>
        <p:spPr>
          <a:xfrm>
            <a:off x="4732141" y="2556972"/>
            <a:ext cx="6025674" cy="935805"/>
          </a:xfrm>
          <a:prstGeom prst="roundRect">
            <a:avLst>
              <a:gd name="adj" fmla="val 6504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4" name="Text 19">
            <a:extLst>
              <a:ext uri="{FF2B5EF4-FFF2-40B4-BE49-F238E27FC236}">
                <a16:creationId xmlns:a16="http://schemas.microsoft.com/office/drawing/2014/main" id="{8221F830-D121-567C-E8C8-D5AED94D76C0}"/>
              </a:ext>
            </a:extLst>
          </p:cNvPr>
          <p:cNvSpPr/>
          <p:nvPr/>
        </p:nvSpPr>
        <p:spPr>
          <a:xfrm>
            <a:off x="4861480" y="2617838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기획의도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6" name="Text 20">
            <a:extLst>
              <a:ext uri="{FF2B5EF4-FFF2-40B4-BE49-F238E27FC236}">
                <a16:creationId xmlns:a16="http://schemas.microsoft.com/office/drawing/2014/main" id="{982E9C6F-91E6-BC43-A5C3-0A391E35ED82}"/>
              </a:ext>
            </a:extLst>
          </p:cNvPr>
          <p:cNvSpPr/>
          <p:nvPr/>
        </p:nvSpPr>
        <p:spPr>
          <a:xfrm>
            <a:off x="4861480" y="2815650"/>
            <a:ext cx="5744172" cy="547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일정 시간마다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블래스터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발사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종종 맞추다 못 맞추다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하는 느낌이 중요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8" name="Shape 21">
            <a:extLst>
              <a:ext uri="{FF2B5EF4-FFF2-40B4-BE49-F238E27FC236}">
                <a16:creationId xmlns:a16="http://schemas.microsoft.com/office/drawing/2014/main" id="{01417A17-4792-69E0-D80A-075428238652}"/>
              </a:ext>
            </a:extLst>
          </p:cNvPr>
          <p:cNvSpPr/>
          <p:nvPr/>
        </p:nvSpPr>
        <p:spPr>
          <a:xfrm>
            <a:off x="1133475" y="3637333"/>
            <a:ext cx="3165000" cy="2896817"/>
          </a:xfrm>
          <a:prstGeom prst="roundRect">
            <a:avLst>
              <a:gd name="adj" fmla="val 3165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0" name="Shape 22">
            <a:extLst>
              <a:ext uri="{FF2B5EF4-FFF2-40B4-BE49-F238E27FC236}">
                <a16:creationId xmlns:a16="http://schemas.microsoft.com/office/drawing/2014/main" id="{6EA5D151-E1F7-30FA-8498-7892BCD4B2D7}"/>
              </a:ext>
            </a:extLst>
          </p:cNvPr>
          <p:cNvSpPr/>
          <p:nvPr/>
        </p:nvSpPr>
        <p:spPr>
          <a:xfrm>
            <a:off x="1133475" y="3637333"/>
            <a:ext cx="60865" cy="2896817"/>
          </a:xfrm>
          <a:prstGeom prst="rect">
            <a:avLst/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4" name="Text 23">
            <a:extLst>
              <a:ext uri="{FF2B5EF4-FFF2-40B4-BE49-F238E27FC236}">
                <a16:creationId xmlns:a16="http://schemas.microsoft.com/office/drawing/2014/main" id="{547EFBC6-B823-FA60-0B97-5C005DFD580B}"/>
              </a:ext>
            </a:extLst>
          </p:cNvPr>
          <p:cNvSpPr/>
          <p:nvPr/>
        </p:nvSpPr>
        <p:spPr>
          <a:xfrm>
            <a:off x="1285638" y="5214082"/>
            <a:ext cx="2860674" cy="201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패시브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6" name="Text 24">
            <a:extLst>
              <a:ext uri="{FF2B5EF4-FFF2-40B4-BE49-F238E27FC236}">
                <a16:creationId xmlns:a16="http://schemas.microsoft.com/office/drawing/2014/main" id="{6885DF20-36DF-0D28-E315-9D20DBCD7B0F}"/>
              </a:ext>
            </a:extLst>
          </p:cNvPr>
          <p:cNvSpPr/>
          <p:nvPr/>
        </p:nvSpPr>
        <p:spPr>
          <a:xfrm>
            <a:off x="1285638" y="5397424"/>
            <a:ext cx="2860674" cy="275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조준 보정</a:t>
            </a:r>
            <a:endParaRPr 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8" name="Text 25">
            <a:extLst>
              <a:ext uri="{FF2B5EF4-FFF2-40B4-BE49-F238E27FC236}">
                <a16:creationId xmlns:a16="http://schemas.microsoft.com/office/drawing/2014/main" id="{14108C32-7B20-025F-9F8B-C435DE526EA7}"/>
              </a:ext>
            </a:extLst>
          </p:cNvPr>
          <p:cNvSpPr/>
          <p:nvPr/>
        </p:nvSpPr>
        <p:spPr>
          <a:xfrm>
            <a:off x="1285638" y="5709107"/>
            <a:ext cx="2860674" cy="69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블래스터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사격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액티브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빗나갈때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마다 명중률이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10%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증가한다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(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명중시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초기화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 캐릭터는 공격 성공 확률이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70%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  <p:sp>
        <p:nvSpPr>
          <p:cNvPr id="1110" name="Shape 26">
            <a:extLst>
              <a:ext uri="{FF2B5EF4-FFF2-40B4-BE49-F238E27FC236}">
                <a16:creationId xmlns:a16="http://schemas.microsoft.com/office/drawing/2014/main" id="{A447C4C9-E09F-7699-6FEF-D355C177F3EE}"/>
              </a:ext>
            </a:extLst>
          </p:cNvPr>
          <p:cNvSpPr/>
          <p:nvPr/>
        </p:nvSpPr>
        <p:spPr>
          <a:xfrm>
            <a:off x="4420206" y="3637333"/>
            <a:ext cx="3165000" cy="2896817"/>
          </a:xfrm>
          <a:prstGeom prst="roundRect">
            <a:avLst>
              <a:gd name="adj" fmla="val 3165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2" name="Shape 27">
            <a:extLst>
              <a:ext uri="{FF2B5EF4-FFF2-40B4-BE49-F238E27FC236}">
                <a16:creationId xmlns:a16="http://schemas.microsoft.com/office/drawing/2014/main" id="{FC22086D-EC73-E947-7493-E90E875FEDF6}"/>
              </a:ext>
            </a:extLst>
          </p:cNvPr>
          <p:cNvSpPr/>
          <p:nvPr/>
        </p:nvSpPr>
        <p:spPr>
          <a:xfrm>
            <a:off x="4420206" y="3637333"/>
            <a:ext cx="60865" cy="2896817"/>
          </a:xfrm>
          <a:prstGeom prst="rect">
            <a:avLst/>
          </a:prstGeom>
          <a:solidFill>
            <a:srgbClr val="3D6BA8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6" name="Text 28">
            <a:extLst>
              <a:ext uri="{FF2B5EF4-FFF2-40B4-BE49-F238E27FC236}">
                <a16:creationId xmlns:a16="http://schemas.microsoft.com/office/drawing/2014/main" id="{A062C678-789B-3EF0-3D63-BC5BA36C452C}"/>
              </a:ext>
            </a:extLst>
          </p:cNvPr>
          <p:cNvSpPr/>
          <p:nvPr/>
        </p:nvSpPr>
        <p:spPr>
          <a:xfrm>
            <a:off x="4572370" y="5214082"/>
            <a:ext cx="2860674" cy="201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D6BA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액티브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8" name="Text 29">
            <a:extLst>
              <a:ext uri="{FF2B5EF4-FFF2-40B4-BE49-F238E27FC236}">
                <a16:creationId xmlns:a16="http://schemas.microsoft.com/office/drawing/2014/main" id="{49CAD79A-DDBD-9446-3A1C-F4288D525731}"/>
              </a:ext>
            </a:extLst>
          </p:cNvPr>
          <p:cNvSpPr/>
          <p:nvPr/>
        </p:nvSpPr>
        <p:spPr>
          <a:xfrm>
            <a:off x="4572370" y="5397424"/>
            <a:ext cx="2860674" cy="275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 err="1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블래스터</a:t>
            </a:r>
            <a:r>
              <a:rPr lang="ko-KR" altLang="en-US" sz="1600" b="1" dirty="0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사격</a:t>
            </a:r>
            <a:endParaRPr 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0" name="Text 30">
            <a:extLst>
              <a:ext uri="{FF2B5EF4-FFF2-40B4-BE49-F238E27FC236}">
                <a16:creationId xmlns:a16="http://schemas.microsoft.com/office/drawing/2014/main" id="{D81FF6D5-C9FE-3B65-DB80-24337EF01EE0}"/>
              </a:ext>
            </a:extLst>
          </p:cNvPr>
          <p:cNvSpPr/>
          <p:nvPr/>
        </p:nvSpPr>
        <p:spPr>
          <a:xfrm>
            <a:off x="4572370" y="5709107"/>
            <a:ext cx="2860674" cy="696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발동조건</a:t>
            </a: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: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Interval (6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초마다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)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  <a:cs typeface="WenQuanYi Zen Hei" pitchFamily="34" charset="-120"/>
            </a:endParaRPr>
          </a:p>
          <a:p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효과</a:t>
            </a: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: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전방으로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블래스터를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3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발 발사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  <a:cs typeface="WenQuanYi Zen Hei" pitchFamily="34" charset="-120"/>
            </a:endParaRPr>
          </a:p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발 모두 명중하면 추가 피해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50%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추가 발생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2" name="Shape 31">
            <a:extLst>
              <a:ext uri="{FF2B5EF4-FFF2-40B4-BE49-F238E27FC236}">
                <a16:creationId xmlns:a16="http://schemas.microsoft.com/office/drawing/2014/main" id="{D16A93B6-E4AC-34EF-945C-B801C5777115}"/>
              </a:ext>
            </a:extLst>
          </p:cNvPr>
          <p:cNvSpPr/>
          <p:nvPr/>
        </p:nvSpPr>
        <p:spPr>
          <a:xfrm>
            <a:off x="7706938" y="3637333"/>
            <a:ext cx="3165000" cy="2896817"/>
          </a:xfrm>
          <a:prstGeom prst="roundRect">
            <a:avLst>
              <a:gd name="adj" fmla="val 3165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4" name="Shape 32">
            <a:extLst>
              <a:ext uri="{FF2B5EF4-FFF2-40B4-BE49-F238E27FC236}">
                <a16:creationId xmlns:a16="http://schemas.microsoft.com/office/drawing/2014/main" id="{3FEA69F7-319B-E0F7-DF09-CEBCD9BC980E}"/>
              </a:ext>
            </a:extLst>
          </p:cNvPr>
          <p:cNvSpPr/>
          <p:nvPr/>
        </p:nvSpPr>
        <p:spPr>
          <a:xfrm>
            <a:off x="7706938" y="3637333"/>
            <a:ext cx="60865" cy="2896817"/>
          </a:xfrm>
          <a:prstGeom prst="rect">
            <a:avLst/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8" name="Text 33">
            <a:extLst>
              <a:ext uri="{FF2B5EF4-FFF2-40B4-BE49-F238E27FC236}">
                <a16:creationId xmlns:a16="http://schemas.microsoft.com/office/drawing/2014/main" id="{4062B39B-BB2A-F959-6501-FA4A8821EDDB}"/>
              </a:ext>
            </a:extLst>
          </p:cNvPr>
          <p:cNvSpPr/>
          <p:nvPr/>
        </p:nvSpPr>
        <p:spPr>
          <a:xfrm>
            <a:off x="7859101" y="5214082"/>
            <a:ext cx="2860674" cy="201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필살기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81F8D6-F708-8780-6CD8-1E94C99E2D0E}"/>
              </a:ext>
            </a:extLst>
          </p:cNvPr>
          <p:cNvSpPr txBox="1"/>
          <p:nvPr/>
        </p:nvSpPr>
        <p:spPr>
          <a:xfrm>
            <a:off x="7077075" y="1106924"/>
            <a:ext cx="3642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업적: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4B819DA0-4CAF-DA31-CB41-6BC1C4533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2498" y="1628775"/>
            <a:ext cx="2739720" cy="184355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12" name="Shape 12">
            <a:extLst>
              <a:ext uri="{FF2B5EF4-FFF2-40B4-BE49-F238E27FC236}">
                <a16:creationId xmlns:a16="http://schemas.microsoft.com/office/drawing/2014/main" id="{6B71CF26-7451-F33A-AB34-AAD09AFC4CF9}"/>
              </a:ext>
            </a:extLst>
          </p:cNvPr>
          <p:cNvSpPr/>
          <p:nvPr/>
        </p:nvSpPr>
        <p:spPr>
          <a:xfrm>
            <a:off x="4678680" y="1126998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A8DDB1F-0F27-8D15-7AB1-F1B53AD5C77B}"/>
              </a:ext>
            </a:extLst>
          </p:cNvPr>
          <p:cNvSpPr/>
          <p:nvPr/>
        </p:nvSpPr>
        <p:spPr>
          <a:xfrm>
            <a:off x="4678680" y="116357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X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5659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27922-52CB-C541-834F-8E9CA9E45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3E1C54-668F-0F63-8FF5-C6B906FB1643}"/>
              </a:ext>
            </a:extLst>
          </p:cNvPr>
          <p:cNvSpPr txBox="1"/>
          <p:nvPr/>
        </p:nvSpPr>
        <p:spPr>
          <a:xfrm>
            <a:off x="1029084" y="22232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에픽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쥐 – 폭탄 쥐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336C0DF-FA78-6F86-6F38-1D7CDD690AC8}"/>
              </a:ext>
            </a:extLst>
          </p:cNvPr>
          <p:cNvCxnSpPr>
            <a:cxnSpLocks/>
          </p:cNvCxnSpPr>
          <p:nvPr/>
        </p:nvCxnSpPr>
        <p:spPr>
          <a:xfrm flipH="1">
            <a:off x="1133475" y="796721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Shape 4">
            <a:extLst>
              <a:ext uri="{FF2B5EF4-FFF2-40B4-BE49-F238E27FC236}">
                <a16:creationId xmlns:a16="http://schemas.microsoft.com/office/drawing/2014/main" id="{1C95B86D-747E-0E46-1E1E-5088B0C4BF59}"/>
              </a:ext>
            </a:extLst>
          </p:cNvPr>
          <p:cNvSpPr/>
          <p:nvPr/>
        </p:nvSpPr>
        <p:spPr>
          <a:xfrm>
            <a:off x="1133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D9786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4" name="Text 5">
            <a:extLst>
              <a:ext uri="{FF2B5EF4-FFF2-40B4-BE49-F238E27FC236}">
                <a16:creationId xmlns:a16="http://schemas.microsoft.com/office/drawing/2014/main" id="{C5806041-62AE-E312-9C5D-C77DF0D67B78}"/>
              </a:ext>
            </a:extLst>
          </p:cNvPr>
          <p:cNvSpPr/>
          <p:nvPr/>
        </p:nvSpPr>
        <p:spPr>
          <a:xfrm>
            <a:off x="1133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에픽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6" name="Shape 6">
            <a:extLst>
              <a:ext uri="{FF2B5EF4-FFF2-40B4-BE49-F238E27FC236}">
                <a16:creationId xmlns:a16="http://schemas.microsoft.com/office/drawing/2014/main" id="{E4FE0BF4-9389-823C-7504-2103015A1AF0}"/>
              </a:ext>
            </a:extLst>
          </p:cNvPr>
          <p:cNvSpPr/>
          <p:nvPr/>
        </p:nvSpPr>
        <p:spPr>
          <a:xfrm>
            <a:off x="2276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8A5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8" name="Text 7">
            <a:extLst>
              <a:ext uri="{FF2B5EF4-FFF2-40B4-BE49-F238E27FC236}">
                <a16:creationId xmlns:a16="http://schemas.microsoft.com/office/drawing/2014/main" id="{70775A1B-5195-88AA-A37D-CC906027841D}"/>
              </a:ext>
            </a:extLst>
          </p:cNvPr>
          <p:cNvSpPr/>
          <p:nvPr/>
        </p:nvSpPr>
        <p:spPr>
          <a:xfrm>
            <a:off x="2276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티어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4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2" name="Text 9">
            <a:extLst>
              <a:ext uri="{FF2B5EF4-FFF2-40B4-BE49-F238E27FC236}">
                <a16:creationId xmlns:a16="http://schemas.microsoft.com/office/drawing/2014/main" id="{721E67C3-2BD4-242E-20DC-207A61BFE13D}"/>
              </a:ext>
            </a:extLst>
          </p:cNvPr>
          <p:cNvSpPr/>
          <p:nvPr/>
        </p:nvSpPr>
        <p:spPr>
          <a:xfrm>
            <a:off x="3419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돌파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4" name="Shape 10">
            <a:extLst>
              <a:ext uri="{FF2B5EF4-FFF2-40B4-BE49-F238E27FC236}">
                <a16:creationId xmlns:a16="http://schemas.microsoft.com/office/drawing/2014/main" id="{8AAFBDBD-6866-22E9-C019-93CF68292755}"/>
              </a:ext>
            </a:extLst>
          </p:cNvPr>
          <p:cNvSpPr/>
          <p:nvPr/>
        </p:nvSpPr>
        <p:spPr>
          <a:xfrm>
            <a:off x="3535680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6" name="Text 11">
            <a:extLst>
              <a:ext uri="{FF2B5EF4-FFF2-40B4-BE49-F238E27FC236}">
                <a16:creationId xmlns:a16="http://schemas.microsoft.com/office/drawing/2014/main" id="{48C73964-A1A3-5C9F-27E9-C5225C1FD8B7}"/>
              </a:ext>
            </a:extLst>
          </p:cNvPr>
          <p:cNvSpPr/>
          <p:nvPr/>
        </p:nvSpPr>
        <p:spPr>
          <a:xfrm>
            <a:off x="3535680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공격력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35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매우 높음</a:t>
            </a: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6" name="Shape 15">
            <a:extLst>
              <a:ext uri="{FF2B5EF4-FFF2-40B4-BE49-F238E27FC236}">
                <a16:creationId xmlns:a16="http://schemas.microsoft.com/office/drawing/2014/main" id="{BF0704CD-56DA-ED90-3DB8-15853CD6EA7E}"/>
              </a:ext>
            </a:extLst>
          </p:cNvPr>
          <p:cNvSpPr/>
          <p:nvPr/>
        </p:nvSpPr>
        <p:spPr>
          <a:xfrm>
            <a:off x="4732141" y="1628775"/>
            <a:ext cx="6025674" cy="852116"/>
          </a:xfrm>
          <a:prstGeom prst="roundRect">
            <a:avLst>
              <a:gd name="adj" fmla="val 7143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8" name="Text 16">
            <a:extLst>
              <a:ext uri="{FF2B5EF4-FFF2-40B4-BE49-F238E27FC236}">
                <a16:creationId xmlns:a16="http://schemas.microsoft.com/office/drawing/2014/main" id="{839AE677-27AE-1ACE-370D-1EE862475199}"/>
              </a:ext>
            </a:extLst>
          </p:cNvPr>
          <p:cNvSpPr/>
          <p:nvPr/>
        </p:nvSpPr>
        <p:spPr>
          <a:xfrm>
            <a:off x="4861480" y="1689640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레퍼런스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0" name="Text 17">
            <a:extLst>
              <a:ext uri="{FF2B5EF4-FFF2-40B4-BE49-F238E27FC236}">
                <a16:creationId xmlns:a16="http://schemas.microsoft.com/office/drawing/2014/main" id="{1D36C03B-30A3-EF0A-CD3C-0356DA516827}"/>
              </a:ext>
            </a:extLst>
          </p:cNvPr>
          <p:cNvSpPr/>
          <p:nvPr/>
        </p:nvSpPr>
        <p:spPr>
          <a:xfrm>
            <a:off x="4861480" y="1887453"/>
            <a:ext cx="5744172" cy="48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단순한 폭탄을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래퍼런스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잡은 쥐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2" name="Shape 18">
            <a:extLst>
              <a:ext uri="{FF2B5EF4-FFF2-40B4-BE49-F238E27FC236}">
                <a16:creationId xmlns:a16="http://schemas.microsoft.com/office/drawing/2014/main" id="{AE6E6F62-5567-65FD-0B54-7780E92FF06B}"/>
              </a:ext>
            </a:extLst>
          </p:cNvPr>
          <p:cNvSpPr/>
          <p:nvPr/>
        </p:nvSpPr>
        <p:spPr>
          <a:xfrm>
            <a:off x="4732141" y="2556972"/>
            <a:ext cx="6025674" cy="935805"/>
          </a:xfrm>
          <a:prstGeom prst="roundRect">
            <a:avLst>
              <a:gd name="adj" fmla="val 6504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4" name="Text 19">
            <a:extLst>
              <a:ext uri="{FF2B5EF4-FFF2-40B4-BE49-F238E27FC236}">
                <a16:creationId xmlns:a16="http://schemas.microsoft.com/office/drawing/2014/main" id="{B20B5AE4-DCD6-3657-F514-71C03F4B4E17}"/>
              </a:ext>
            </a:extLst>
          </p:cNvPr>
          <p:cNvSpPr/>
          <p:nvPr/>
        </p:nvSpPr>
        <p:spPr>
          <a:xfrm>
            <a:off x="4861480" y="2617838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기획의도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6" name="Text 20">
            <a:extLst>
              <a:ext uri="{FF2B5EF4-FFF2-40B4-BE49-F238E27FC236}">
                <a16:creationId xmlns:a16="http://schemas.microsoft.com/office/drawing/2014/main" id="{50FE51CB-773A-FAEA-EF96-CD6044F54840}"/>
              </a:ext>
            </a:extLst>
          </p:cNvPr>
          <p:cNvSpPr/>
          <p:nvPr/>
        </p:nvSpPr>
        <p:spPr>
          <a:xfrm>
            <a:off x="4861480" y="2815650"/>
            <a:ext cx="5744172" cy="547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일회용으로 강력한 폭발로 벽에 큰 데미지를 주는 쥐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8" name="Shape 21">
            <a:extLst>
              <a:ext uri="{FF2B5EF4-FFF2-40B4-BE49-F238E27FC236}">
                <a16:creationId xmlns:a16="http://schemas.microsoft.com/office/drawing/2014/main" id="{9439EB9A-7152-AFC8-70D5-98B5E156A012}"/>
              </a:ext>
            </a:extLst>
          </p:cNvPr>
          <p:cNvSpPr/>
          <p:nvPr/>
        </p:nvSpPr>
        <p:spPr>
          <a:xfrm>
            <a:off x="1133475" y="3637333"/>
            <a:ext cx="3165000" cy="2896817"/>
          </a:xfrm>
          <a:prstGeom prst="roundRect">
            <a:avLst>
              <a:gd name="adj" fmla="val 3165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0" name="Shape 22">
            <a:extLst>
              <a:ext uri="{FF2B5EF4-FFF2-40B4-BE49-F238E27FC236}">
                <a16:creationId xmlns:a16="http://schemas.microsoft.com/office/drawing/2014/main" id="{A30EFA14-579F-3AF0-81F1-BF4E0D47121B}"/>
              </a:ext>
            </a:extLst>
          </p:cNvPr>
          <p:cNvSpPr/>
          <p:nvPr/>
        </p:nvSpPr>
        <p:spPr>
          <a:xfrm>
            <a:off x="1133475" y="3637333"/>
            <a:ext cx="60865" cy="2896817"/>
          </a:xfrm>
          <a:prstGeom prst="rect">
            <a:avLst/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4" name="Text 23">
            <a:extLst>
              <a:ext uri="{FF2B5EF4-FFF2-40B4-BE49-F238E27FC236}">
                <a16:creationId xmlns:a16="http://schemas.microsoft.com/office/drawing/2014/main" id="{AC638417-295B-2B6E-87AF-909C0200A5F9}"/>
              </a:ext>
            </a:extLst>
          </p:cNvPr>
          <p:cNvSpPr/>
          <p:nvPr/>
        </p:nvSpPr>
        <p:spPr>
          <a:xfrm>
            <a:off x="1285638" y="5214082"/>
            <a:ext cx="2860674" cy="201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패시브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6" name="Text 24">
            <a:extLst>
              <a:ext uri="{FF2B5EF4-FFF2-40B4-BE49-F238E27FC236}">
                <a16:creationId xmlns:a16="http://schemas.microsoft.com/office/drawing/2014/main" id="{279B943D-5037-0EFF-6DB1-E24A96087399}"/>
              </a:ext>
            </a:extLst>
          </p:cNvPr>
          <p:cNvSpPr/>
          <p:nvPr/>
        </p:nvSpPr>
        <p:spPr>
          <a:xfrm>
            <a:off x="1285638" y="5397424"/>
            <a:ext cx="2860674" cy="275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 err="1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타들어가는</a:t>
            </a:r>
            <a:r>
              <a:rPr lang="ko-KR" altLang="en-US" sz="1600" b="1" dirty="0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심지</a:t>
            </a:r>
            <a:endParaRPr 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8" name="Text 25">
            <a:extLst>
              <a:ext uri="{FF2B5EF4-FFF2-40B4-BE49-F238E27FC236}">
                <a16:creationId xmlns:a16="http://schemas.microsoft.com/office/drawing/2014/main" id="{D7FA30F7-79D0-628E-9007-A7F74F0AA915}"/>
              </a:ext>
            </a:extLst>
          </p:cNvPr>
          <p:cNvSpPr/>
          <p:nvPr/>
        </p:nvSpPr>
        <p:spPr>
          <a:xfrm>
            <a:off x="1285638" y="5709107"/>
            <a:ext cx="2860674" cy="696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Interval ,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생성 후 일정시간이 경과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(30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초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심지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꼬리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조금씩 짧아지는 연출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액티브 이 친구는 바로 해금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0" name="Shape 26">
            <a:extLst>
              <a:ext uri="{FF2B5EF4-FFF2-40B4-BE49-F238E27FC236}">
                <a16:creationId xmlns:a16="http://schemas.microsoft.com/office/drawing/2014/main" id="{FC8571A7-9621-FAF6-3DF8-CE90FA51A0FC}"/>
              </a:ext>
            </a:extLst>
          </p:cNvPr>
          <p:cNvSpPr/>
          <p:nvPr/>
        </p:nvSpPr>
        <p:spPr>
          <a:xfrm>
            <a:off x="4420206" y="3637333"/>
            <a:ext cx="3165000" cy="2896817"/>
          </a:xfrm>
          <a:prstGeom prst="roundRect">
            <a:avLst>
              <a:gd name="adj" fmla="val 3165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2" name="Shape 27">
            <a:extLst>
              <a:ext uri="{FF2B5EF4-FFF2-40B4-BE49-F238E27FC236}">
                <a16:creationId xmlns:a16="http://schemas.microsoft.com/office/drawing/2014/main" id="{498136A7-47A3-E783-23D5-852FD3CE7EE6}"/>
              </a:ext>
            </a:extLst>
          </p:cNvPr>
          <p:cNvSpPr/>
          <p:nvPr/>
        </p:nvSpPr>
        <p:spPr>
          <a:xfrm>
            <a:off x="4420206" y="3637333"/>
            <a:ext cx="60865" cy="2896817"/>
          </a:xfrm>
          <a:prstGeom prst="rect">
            <a:avLst/>
          </a:prstGeom>
          <a:solidFill>
            <a:srgbClr val="3D6BA8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6" name="Text 28">
            <a:extLst>
              <a:ext uri="{FF2B5EF4-FFF2-40B4-BE49-F238E27FC236}">
                <a16:creationId xmlns:a16="http://schemas.microsoft.com/office/drawing/2014/main" id="{EB860EB9-488D-8F0B-21ED-367D03844CF7}"/>
              </a:ext>
            </a:extLst>
          </p:cNvPr>
          <p:cNvSpPr/>
          <p:nvPr/>
        </p:nvSpPr>
        <p:spPr>
          <a:xfrm>
            <a:off x="4572370" y="5214082"/>
            <a:ext cx="2860674" cy="201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D6BA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액티브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8" name="Text 29">
            <a:extLst>
              <a:ext uri="{FF2B5EF4-FFF2-40B4-BE49-F238E27FC236}">
                <a16:creationId xmlns:a16="http://schemas.microsoft.com/office/drawing/2014/main" id="{02336709-9D09-1278-1D0F-14F93A402AB3}"/>
              </a:ext>
            </a:extLst>
          </p:cNvPr>
          <p:cNvSpPr/>
          <p:nvPr/>
        </p:nvSpPr>
        <p:spPr>
          <a:xfrm>
            <a:off x="4572370" y="5397424"/>
            <a:ext cx="2860674" cy="275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4B454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자폭</a:t>
            </a:r>
            <a:endParaRPr 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0" name="Text 30">
            <a:extLst>
              <a:ext uri="{FF2B5EF4-FFF2-40B4-BE49-F238E27FC236}">
                <a16:creationId xmlns:a16="http://schemas.microsoft.com/office/drawing/2014/main" id="{DB95A83C-8BB9-2936-529B-4C548A0FB1BA}"/>
              </a:ext>
            </a:extLst>
          </p:cNvPr>
          <p:cNvSpPr/>
          <p:nvPr/>
        </p:nvSpPr>
        <p:spPr>
          <a:xfrm>
            <a:off x="4572370" y="5709107"/>
            <a:ext cx="2860674" cy="696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발동조건</a:t>
            </a: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: </a:t>
            </a:r>
            <a:r>
              <a:rPr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패시브 스택이 가득 </a:t>
            </a:r>
            <a:r>
              <a:rPr lang="ko-KR" altLang="en-US" sz="1200" b="1" dirty="0" err="1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찼을때</a:t>
            </a:r>
            <a:endParaRPr lang="ko-KR" altLang="ko-KR" sz="1200" dirty="0"/>
          </a:p>
          <a:p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가장 가까운 벽으로 돌진 하여 큰 폭발 후 소멸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폭발 후 쥐 소멸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2" name="Shape 31">
            <a:extLst>
              <a:ext uri="{FF2B5EF4-FFF2-40B4-BE49-F238E27FC236}">
                <a16:creationId xmlns:a16="http://schemas.microsoft.com/office/drawing/2014/main" id="{0C104D59-ADDD-91D9-0F5F-090A55CD25E0}"/>
              </a:ext>
            </a:extLst>
          </p:cNvPr>
          <p:cNvSpPr/>
          <p:nvPr/>
        </p:nvSpPr>
        <p:spPr>
          <a:xfrm>
            <a:off x="7706938" y="3637333"/>
            <a:ext cx="3165000" cy="2896817"/>
          </a:xfrm>
          <a:prstGeom prst="roundRect">
            <a:avLst>
              <a:gd name="adj" fmla="val 3165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4" name="Shape 32">
            <a:extLst>
              <a:ext uri="{FF2B5EF4-FFF2-40B4-BE49-F238E27FC236}">
                <a16:creationId xmlns:a16="http://schemas.microsoft.com/office/drawing/2014/main" id="{35E223C9-5958-AA61-A7F0-913C0D87DFA4}"/>
              </a:ext>
            </a:extLst>
          </p:cNvPr>
          <p:cNvSpPr/>
          <p:nvPr/>
        </p:nvSpPr>
        <p:spPr>
          <a:xfrm>
            <a:off x="7706938" y="3637333"/>
            <a:ext cx="60865" cy="2896817"/>
          </a:xfrm>
          <a:prstGeom prst="rect">
            <a:avLst/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8" name="Text 33">
            <a:extLst>
              <a:ext uri="{FF2B5EF4-FFF2-40B4-BE49-F238E27FC236}">
                <a16:creationId xmlns:a16="http://schemas.microsoft.com/office/drawing/2014/main" id="{36F3DB44-92ED-2214-0A43-E102F7F3F916}"/>
              </a:ext>
            </a:extLst>
          </p:cNvPr>
          <p:cNvSpPr/>
          <p:nvPr/>
        </p:nvSpPr>
        <p:spPr>
          <a:xfrm>
            <a:off x="7859101" y="5214082"/>
            <a:ext cx="2860674" cy="201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필살기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A7CD3-05B6-025B-C50B-E3D82872F864}"/>
              </a:ext>
            </a:extLst>
          </p:cNvPr>
          <p:cNvSpPr txBox="1"/>
          <p:nvPr/>
        </p:nvSpPr>
        <p:spPr>
          <a:xfrm>
            <a:off x="7077075" y="1106924"/>
            <a:ext cx="3642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업적: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130ABBAC-A932-E5F0-5855-085F6058C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2498" y="1628775"/>
            <a:ext cx="2739720" cy="1843549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12" name="Shape 12">
            <a:extLst>
              <a:ext uri="{FF2B5EF4-FFF2-40B4-BE49-F238E27FC236}">
                <a16:creationId xmlns:a16="http://schemas.microsoft.com/office/drawing/2014/main" id="{113CD177-3C64-5183-3001-1092283B8EC3}"/>
              </a:ext>
            </a:extLst>
          </p:cNvPr>
          <p:cNvSpPr/>
          <p:nvPr/>
        </p:nvSpPr>
        <p:spPr>
          <a:xfrm>
            <a:off x="4678680" y="1126998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56677D-8751-FC84-E8E3-242DAAB6945C}"/>
              </a:ext>
            </a:extLst>
          </p:cNvPr>
          <p:cNvSpPr/>
          <p:nvPr/>
        </p:nvSpPr>
        <p:spPr>
          <a:xfrm>
            <a:off x="4678680" y="116357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X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718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74687-56F5-C7CF-F4EB-EFDF27912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38C40A-90E1-9724-6AEA-524983DEAD75}"/>
              </a:ext>
            </a:extLst>
          </p:cNvPr>
          <p:cNvSpPr txBox="1"/>
          <p:nvPr/>
        </p:nvSpPr>
        <p:spPr>
          <a:xfrm>
            <a:off x="1029084" y="22232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에픽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쥐 – </a:t>
            </a:r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맘스땃쥐</a:t>
            </a:r>
            <a:endParaRPr lang="ko-KR" altLang="en-US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A5444CA-5AC1-64EB-90E0-121DA00027E8}"/>
              </a:ext>
            </a:extLst>
          </p:cNvPr>
          <p:cNvCxnSpPr>
            <a:cxnSpLocks/>
          </p:cNvCxnSpPr>
          <p:nvPr/>
        </p:nvCxnSpPr>
        <p:spPr>
          <a:xfrm flipH="1">
            <a:off x="1133475" y="796721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Shape 4">
            <a:extLst>
              <a:ext uri="{FF2B5EF4-FFF2-40B4-BE49-F238E27FC236}">
                <a16:creationId xmlns:a16="http://schemas.microsoft.com/office/drawing/2014/main" id="{9E4DBA64-208C-2326-B58B-E4595B2002CF}"/>
              </a:ext>
            </a:extLst>
          </p:cNvPr>
          <p:cNvSpPr/>
          <p:nvPr/>
        </p:nvSpPr>
        <p:spPr>
          <a:xfrm>
            <a:off x="1133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D9786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4" name="Text 5">
            <a:extLst>
              <a:ext uri="{FF2B5EF4-FFF2-40B4-BE49-F238E27FC236}">
                <a16:creationId xmlns:a16="http://schemas.microsoft.com/office/drawing/2014/main" id="{75CE598C-2FD3-BE5D-872F-584AAD94F223}"/>
              </a:ext>
            </a:extLst>
          </p:cNvPr>
          <p:cNvSpPr/>
          <p:nvPr/>
        </p:nvSpPr>
        <p:spPr>
          <a:xfrm>
            <a:off x="1133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에픽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6" name="Shape 6">
            <a:extLst>
              <a:ext uri="{FF2B5EF4-FFF2-40B4-BE49-F238E27FC236}">
                <a16:creationId xmlns:a16="http://schemas.microsoft.com/office/drawing/2014/main" id="{FE00CB0C-ED99-CEB3-DBB3-8383EC73172A}"/>
              </a:ext>
            </a:extLst>
          </p:cNvPr>
          <p:cNvSpPr/>
          <p:nvPr/>
        </p:nvSpPr>
        <p:spPr>
          <a:xfrm>
            <a:off x="2276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8A5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8" name="Text 7">
            <a:extLst>
              <a:ext uri="{FF2B5EF4-FFF2-40B4-BE49-F238E27FC236}">
                <a16:creationId xmlns:a16="http://schemas.microsoft.com/office/drawing/2014/main" id="{3772C6BA-24BB-797B-F1DA-6A584D4F9818}"/>
              </a:ext>
            </a:extLst>
          </p:cNvPr>
          <p:cNvSpPr/>
          <p:nvPr/>
        </p:nvSpPr>
        <p:spPr>
          <a:xfrm>
            <a:off x="2276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티어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2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2" name="Text 9">
            <a:extLst>
              <a:ext uri="{FF2B5EF4-FFF2-40B4-BE49-F238E27FC236}">
                <a16:creationId xmlns:a16="http://schemas.microsoft.com/office/drawing/2014/main" id="{500DFDB4-48F6-359E-6CF3-DB049DF08A78}"/>
              </a:ext>
            </a:extLst>
          </p:cNvPr>
          <p:cNvSpPr/>
          <p:nvPr/>
        </p:nvSpPr>
        <p:spPr>
          <a:xfrm>
            <a:off x="3419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돌파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4" name="Shape 10">
            <a:extLst>
              <a:ext uri="{FF2B5EF4-FFF2-40B4-BE49-F238E27FC236}">
                <a16:creationId xmlns:a16="http://schemas.microsoft.com/office/drawing/2014/main" id="{70CDAC87-D13D-3E89-08BB-00E5CEEE18C2}"/>
              </a:ext>
            </a:extLst>
          </p:cNvPr>
          <p:cNvSpPr/>
          <p:nvPr/>
        </p:nvSpPr>
        <p:spPr>
          <a:xfrm>
            <a:off x="3535680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6" name="Text 11">
            <a:extLst>
              <a:ext uri="{FF2B5EF4-FFF2-40B4-BE49-F238E27FC236}">
                <a16:creationId xmlns:a16="http://schemas.microsoft.com/office/drawing/2014/main" id="{CABE1DF6-979A-A1CF-FF90-75876F6B160B}"/>
              </a:ext>
            </a:extLst>
          </p:cNvPr>
          <p:cNvSpPr/>
          <p:nvPr/>
        </p:nvSpPr>
        <p:spPr>
          <a:xfrm>
            <a:off x="3535680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공격력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20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(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높음</a:t>
            </a: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8" name="Shape 12">
            <a:extLst>
              <a:ext uri="{FF2B5EF4-FFF2-40B4-BE49-F238E27FC236}">
                <a16:creationId xmlns:a16="http://schemas.microsoft.com/office/drawing/2014/main" id="{289D2DFF-2CFF-2684-7E89-EC7414593AD3}"/>
              </a:ext>
            </a:extLst>
          </p:cNvPr>
          <p:cNvSpPr/>
          <p:nvPr/>
        </p:nvSpPr>
        <p:spPr>
          <a:xfrm>
            <a:off x="4678680" y="1126998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0" name="Text 13">
            <a:extLst>
              <a:ext uri="{FF2B5EF4-FFF2-40B4-BE49-F238E27FC236}">
                <a16:creationId xmlns:a16="http://schemas.microsoft.com/office/drawing/2014/main" id="{21E0E39F-DAF4-26CC-6893-FC1DF5F3900F}"/>
              </a:ext>
            </a:extLst>
          </p:cNvPr>
          <p:cNvSpPr/>
          <p:nvPr/>
        </p:nvSpPr>
        <p:spPr>
          <a:xfrm>
            <a:off x="4678680" y="116357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X</a:t>
            </a:r>
          </a:p>
        </p:txBody>
      </p:sp>
      <p:sp>
        <p:nvSpPr>
          <p:cNvPr id="1086" name="Shape 15">
            <a:extLst>
              <a:ext uri="{FF2B5EF4-FFF2-40B4-BE49-F238E27FC236}">
                <a16:creationId xmlns:a16="http://schemas.microsoft.com/office/drawing/2014/main" id="{39FD351F-50D6-3226-B5B2-974D115736F1}"/>
              </a:ext>
            </a:extLst>
          </p:cNvPr>
          <p:cNvSpPr/>
          <p:nvPr/>
        </p:nvSpPr>
        <p:spPr>
          <a:xfrm>
            <a:off x="4732141" y="1628775"/>
            <a:ext cx="6025674" cy="852116"/>
          </a:xfrm>
          <a:prstGeom prst="roundRect">
            <a:avLst>
              <a:gd name="adj" fmla="val 7143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8" name="Text 16">
            <a:extLst>
              <a:ext uri="{FF2B5EF4-FFF2-40B4-BE49-F238E27FC236}">
                <a16:creationId xmlns:a16="http://schemas.microsoft.com/office/drawing/2014/main" id="{46AA6B07-D014-B1A0-2DBA-9624FD3A25FC}"/>
              </a:ext>
            </a:extLst>
          </p:cNvPr>
          <p:cNvSpPr/>
          <p:nvPr/>
        </p:nvSpPr>
        <p:spPr>
          <a:xfrm>
            <a:off x="4861480" y="1689640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레퍼런스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0" name="Text 17">
            <a:extLst>
              <a:ext uri="{FF2B5EF4-FFF2-40B4-BE49-F238E27FC236}">
                <a16:creationId xmlns:a16="http://schemas.microsoft.com/office/drawing/2014/main" id="{C9D8261C-696A-7D79-3F80-37388F31ED13}"/>
              </a:ext>
            </a:extLst>
          </p:cNvPr>
          <p:cNvSpPr/>
          <p:nvPr/>
        </p:nvSpPr>
        <p:spPr>
          <a:xfrm>
            <a:off x="4861480" y="1887453"/>
            <a:ext cx="5744172" cy="48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맘스터치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브랜드 햄버거 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점점 두꺼워 지는 외형이 핵심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2" name="Shape 18">
            <a:extLst>
              <a:ext uri="{FF2B5EF4-FFF2-40B4-BE49-F238E27FC236}">
                <a16:creationId xmlns:a16="http://schemas.microsoft.com/office/drawing/2014/main" id="{110CACEE-6683-5DDF-C3C9-EA43C6B8628A}"/>
              </a:ext>
            </a:extLst>
          </p:cNvPr>
          <p:cNvSpPr/>
          <p:nvPr/>
        </p:nvSpPr>
        <p:spPr>
          <a:xfrm>
            <a:off x="4732141" y="2556972"/>
            <a:ext cx="6025674" cy="935805"/>
          </a:xfrm>
          <a:prstGeom prst="roundRect">
            <a:avLst>
              <a:gd name="adj" fmla="val 6504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4" name="Text 19">
            <a:extLst>
              <a:ext uri="{FF2B5EF4-FFF2-40B4-BE49-F238E27FC236}">
                <a16:creationId xmlns:a16="http://schemas.microsoft.com/office/drawing/2014/main" id="{6E10F526-3501-4714-4A5C-B1421B2CB35C}"/>
              </a:ext>
            </a:extLst>
          </p:cNvPr>
          <p:cNvSpPr/>
          <p:nvPr/>
        </p:nvSpPr>
        <p:spPr>
          <a:xfrm>
            <a:off x="4861480" y="2617838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기획의도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6" name="Text 20">
            <a:extLst>
              <a:ext uri="{FF2B5EF4-FFF2-40B4-BE49-F238E27FC236}">
                <a16:creationId xmlns:a16="http://schemas.microsoft.com/office/drawing/2014/main" id="{9C24F80F-C460-1E17-BFB2-F067556F6578}"/>
              </a:ext>
            </a:extLst>
          </p:cNvPr>
          <p:cNvSpPr/>
          <p:nvPr/>
        </p:nvSpPr>
        <p:spPr>
          <a:xfrm>
            <a:off x="4861480" y="2815650"/>
            <a:ext cx="5744172" cy="547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패티를 쌓아서 커진 몸집으로 강력한 강력하게 박치기를 하자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440A008-6557-8B60-1028-F6D47BC66393}"/>
              </a:ext>
            </a:extLst>
          </p:cNvPr>
          <p:cNvGrpSpPr/>
          <p:nvPr/>
        </p:nvGrpSpPr>
        <p:grpSpPr>
          <a:xfrm>
            <a:off x="1133475" y="3637333"/>
            <a:ext cx="9738463" cy="2896817"/>
            <a:chOff x="1133475" y="3637333"/>
            <a:chExt cx="9738463" cy="2404183"/>
          </a:xfrm>
        </p:grpSpPr>
        <p:sp>
          <p:nvSpPr>
            <p:cNvPr id="1098" name="Shape 21">
              <a:extLst>
                <a:ext uri="{FF2B5EF4-FFF2-40B4-BE49-F238E27FC236}">
                  <a16:creationId xmlns:a16="http://schemas.microsoft.com/office/drawing/2014/main" id="{E7EB3653-8BEE-7D76-3A79-A77ABF04C6D8}"/>
                </a:ext>
              </a:extLst>
            </p:cNvPr>
            <p:cNvSpPr/>
            <p:nvPr/>
          </p:nvSpPr>
          <p:spPr>
            <a:xfrm>
              <a:off x="1133475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0" name="Shape 22">
              <a:extLst>
                <a:ext uri="{FF2B5EF4-FFF2-40B4-BE49-F238E27FC236}">
                  <a16:creationId xmlns:a16="http://schemas.microsoft.com/office/drawing/2014/main" id="{22CBDEE1-EC37-81C5-D188-B0D7BA206138}"/>
                </a:ext>
              </a:extLst>
            </p:cNvPr>
            <p:cNvSpPr/>
            <p:nvPr/>
          </p:nvSpPr>
          <p:spPr>
            <a:xfrm>
              <a:off x="1133475" y="3637333"/>
              <a:ext cx="60865" cy="2404183"/>
            </a:xfrm>
            <a:prstGeom prst="rect">
              <a:avLst/>
            </a:prstGeom>
            <a:solidFill>
              <a:srgbClr val="6F8A6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4" name="Text 23">
              <a:extLst>
                <a:ext uri="{FF2B5EF4-FFF2-40B4-BE49-F238E27FC236}">
                  <a16:creationId xmlns:a16="http://schemas.microsoft.com/office/drawing/2014/main" id="{192617CC-15F5-EFF4-DE42-E2D7E4627C47}"/>
                </a:ext>
              </a:extLst>
            </p:cNvPr>
            <p:cNvSpPr/>
            <p:nvPr/>
          </p:nvSpPr>
          <p:spPr>
            <a:xfrm>
              <a:off x="1285638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F8A6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패시브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6" name="Text 24">
              <a:extLst>
                <a:ext uri="{FF2B5EF4-FFF2-40B4-BE49-F238E27FC236}">
                  <a16:creationId xmlns:a16="http://schemas.microsoft.com/office/drawing/2014/main" id="{925822D0-D4E5-FAAC-A85E-91BB08D3847E}"/>
                </a:ext>
              </a:extLst>
            </p:cNvPr>
            <p:cNvSpPr/>
            <p:nvPr/>
          </p:nvSpPr>
          <p:spPr>
            <a:xfrm>
              <a:off x="1285638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추가되는 패티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8" name="Text 25">
              <a:extLst>
                <a:ext uri="{FF2B5EF4-FFF2-40B4-BE49-F238E27FC236}">
                  <a16:creationId xmlns:a16="http://schemas.microsoft.com/office/drawing/2014/main" id="{19AE9CC1-4EF1-55A3-D21A-2B2BA2E844C0}"/>
                </a:ext>
              </a:extLst>
            </p:cNvPr>
            <p:cNvSpPr/>
            <p:nvPr/>
          </p:nvSpPr>
          <p:spPr>
            <a:xfrm>
              <a:off x="1285638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물건을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10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개 파괴 할 때 마다 패티가 추가</a:t>
              </a:r>
              <a:b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비주얼 적으로 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쥐의 두께가 계속 두꺼워 지도록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0" name="Shape 26">
              <a:extLst>
                <a:ext uri="{FF2B5EF4-FFF2-40B4-BE49-F238E27FC236}">
                  <a16:creationId xmlns:a16="http://schemas.microsoft.com/office/drawing/2014/main" id="{A3CB52B0-3A02-8CCA-15B4-08640D363DC8}"/>
                </a:ext>
              </a:extLst>
            </p:cNvPr>
            <p:cNvSpPr/>
            <p:nvPr/>
          </p:nvSpPr>
          <p:spPr>
            <a:xfrm>
              <a:off x="4420206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2" name="Shape 27">
              <a:extLst>
                <a:ext uri="{FF2B5EF4-FFF2-40B4-BE49-F238E27FC236}">
                  <a16:creationId xmlns:a16="http://schemas.microsoft.com/office/drawing/2014/main" id="{DD01E967-1583-3DC8-364D-BF41079D10F8}"/>
                </a:ext>
              </a:extLst>
            </p:cNvPr>
            <p:cNvSpPr/>
            <p:nvPr/>
          </p:nvSpPr>
          <p:spPr>
            <a:xfrm>
              <a:off x="4420206" y="3637333"/>
              <a:ext cx="60865" cy="2404183"/>
            </a:xfrm>
            <a:prstGeom prst="rect">
              <a:avLst/>
            </a:prstGeom>
            <a:solidFill>
              <a:srgbClr val="3D6BA8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6" name="Text 28">
              <a:extLst>
                <a:ext uri="{FF2B5EF4-FFF2-40B4-BE49-F238E27FC236}">
                  <a16:creationId xmlns:a16="http://schemas.microsoft.com/office/drawing/2014/main" id="{5C4105F2-6684-13FA-CC3F-EE32EC0BAD43}"/>
                </a:ext>
              </a:extLst>
            </p:cNvPr>
            <p:cNvSpPr/>
            <p:nvPr/>
          </p:nvSpPr>
          <p:spPr>
            <a:xfrm>
              <a:off x="4572370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3D6BA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액티브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8" name="Text 29">
              <a:extLst>
                <a:ext uri="{FF2B5EF4-FFF2-40B4-BE49-F238E27FC236}">
                  <a16:creationId xmlns:a16="http://schemas.microsoft.com/office/drawing/2014/main" id="{C6715D0A-E413-B96A-C0EE-7B0845438F78}"/>
                </a:ext>
              </a:extLst>
            </p:cNvPr>
            <p:cNvSpPr/>
            <p:nvPr/>
          </p:nvSpPr>
          <p:spPr>
            <a:xfrm>
              <a:off x="4572370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몸통 박치기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0" name="Text 30">
              <a:extLst>
                <a:ext uri="{FF2B5EF4-FFF2-40B4-BE49-F238E27FC236}">
                  <a16:creationId xmlns:a16="http://schemas.microsoft.com/office/drawing/2014/main" id="{49D740BE-1C5A-673C-67BA-D93E74918976}"/>
                </a:ext>
              </a:extLst>
            </p:cNvPr>
            <p:cNvSpPr/>
            <p:nvPr/>
          </p:nvSpPr>
          <p:spPr>
            <a:xfrm>
              <a:off x="4572370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발동조건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Interval (20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초마다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)</a:t>
              </a: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endParaRPr>
            </a:p>
            <a:p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효과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가장 가까운 벽으로 돌진하여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데미지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  <a:p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패티의 수에 비례하여 박치기 데미지 증가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2" name="Shape 31">
              <a:extLst>
                <a:ext uri="{FF2B5EF4-FFF2-40B4-BE49-F238E27FC236}">
                  <a16:creationId xmlns:a16="http://schemas.microsoft.com/office/drawing/2014/main" id="{01C35754-D3D6-797A-FB32-C0EB32727FF8}"/>
                </a:ext>
              </a:extLst>
            </p:cNvPr>
            <p:cNvSpPr/>
            <p:nvPr/>
          </p:nvSpPr>
          <p:spPr>
            <a:xfrm>
              <a:off x="7706938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4" name="Shape 32">
              <a:extLst>
                <a:ext uri="{FF2B5EF4-FFF2-40B4-BE49-F238E27FC236}">
                  <a16:creationId xmlns:a16="http://schemas.microsoft.com/office/drawing/2014/main" id="{758A9215-A5D2-5501-4144-7FC469783094}"/>
                </a:ext>
              </a:extLst>
            </p:cNvPr>
            <p:cNvSpPr/>
            <p:nvPr/>
          </p:nvSpPr>
          <p:spPr>
            <a:xfrm>
              <a:off x="7706938" y="3637333"/>
              <a:ext cx="60865" cy="2404183"/>
            </a:xfrm>
            <a:prstGeom prst="rect">
              <a:avLst/>
            </a:prstGeom>
            <a:solidFill>
              <a:srgbClr val="C9745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8" name="Text 33">
              <a:extLst>
                <a:ext uri="{FF2B5EF4-FFF2-40B4-BE49-F238E27FC236}">
                  <a16:creationId xmlns:a16="http://schemas.microsoft.com/office/drawing/2014/main" id="{863734A4-AF1F-75E1-E356-F0E9D1DBC6D2}"/>
                </a:ext>
              </a:extLst>
            </p:cNvPr>
            <p:cNvSpPr/>
            <p:nvPr/>
          </p:nvSpPr>
          <p:spPr>
            <a:xfrm>
              <a:off x="7859101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C9745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필살기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867F832-320B-57CC-AE38-7BF899F2560D}"/>
              </a:ext>
            </a:extLst>
          </p:cNvPr>
          <p:cNvSpPr txBox="1"/>
          <p:nvPr/>
        </p:nvSpPr>
        <p:spPr>
          <a:xfrm>
            <a:off x="7077075" y="1106924"/>
            <a:ext cx="3642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업적: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4D794F9-766C-6703-420D-F577D086E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2498" y="1628775"/>
            <a:ext cx="2739721" cy="1843551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E50265F-2514-1126-EFD9-B4F7AF3FC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753" y="3709911"/>
            <a:ext cx="2145308" cy="144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8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70DD5-6B1E-FBC6-8657-69D55D87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D1763F-1D4F-C429-8715-5CE7DF1BC1A1}"/>
              </a:ext>
            </a:extLst>
          </p:cNvPr>
          <p:cNvSpPr txBox="1"/>
          <p:nvPr/>
        </p:nvSpPr>
        <p:spPr>
          <a:xfrm>
            <a:off x="1029084" y="22232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신화쥐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– 아이스 퀸 쥐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831499F-D999-E3E0-C335-66AA5A01D8DC}"/>
              </a:ext>
            </a:extLst>
          </p:cNvPr>
          <p:cNvCxnSpPr>
            <a:cxnSpLocks/>
          </p:cNvCxnSpPr>
          <p:nvPr/>
        </p:nvCxnSpPr>
        <p:spPr>
          <a:xfrm flipH="1">
            <a:off x="1133475" y="796721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Shape 4">
            <a:extLst>
              <a:ext uri="{FF2B5EF4-FFF2-40B4-BE49-F238E27FC236}">
                <a16:creationId xmlns:a16="http://schemas.microsoft.com/office/drawing/2014/main" id="{B0EFC2F0-2493-0EBC-6022-E4B3CF999B65}"/>
              </a:ext>
            </a:extLst>
          </p:cNvPr>
          <p:cNvSpPr/>
          <p:nvPr/>
        </p:nvSpPr>
        <p:spPr>
          <a:xfrm>
            <a:off x="1133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D9786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4" name="Text 5">
            <a:extLst>
              <a:ext uri="{FF2B5EF4-FFF2-40B4-BE49-F238E27FC236}">
                <a16:creationId xmlns:a16="http://schemas.microsoft.com/office/drawing/2014/main" id="{90DADDAC-2A54-4857-6376-226CDC5A1B59}"/>
              </a:ext>
            </a:extLst>
          </p:cNvPr>
          <p:cNvSpPr/>
          <p:nvPr/>
        </p:nvSpPr>
        <p:spPr>
          <a:xfrm>
            <a:off x="1133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신화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6" name="Shape 6">
            <a:extLst>
              <a:ext uri="{FF2B5EF4-FFF2-40B4-BE49-F238E27FC236}">
                <a16:creationId xmlns:a16="http://schemas.microsoft.com/office/drawing/2014/main" id="{B014E90A-F34B-4F36-725D-239454016FA4}"/>
              </a:ext>
            </a:extLst>
          </p:cNvPr>
          <p:cNvSpPr/>
          <p:nvPr/>
        </p:nvSpPr>
        <p:spPr>
          <a:xfrm>
            <a:off x="2276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8A5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8" name="Text 7">
            <a:extLst>
              <a:ext uri="{FF2B5EF4-FFF2-40B4-BE49-F238E27FC236}">
                <a16:creationId xmlns:a16="http://schemas.microsoft.com/office/drawing/2014/main" id="{99E760AA-DD47-01B4-043F-E04D74C98CB2}"/>
              </a:ext>
            </a:extLst>
          </p:cNvPr>
          <p:cNvSpPr/>
          <p:nvPr/>
        </p:nvSpPr>
        <p:spPr>
          <a:xfrm>
            <a:off x="2276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티어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5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2" name="Text 9">
            <a:extLst>
              <a:ext uri="{FF2B5EF4-FFF2-40B4-BE49-F238E27FC236}">
                <a16:creationId xmlns:a16="http://schemas.microsoft.com/office/drawing/2014/main" id="{09ED898A-EA86-7421-A8D1-60CAF7A0F002}"/>
              </a:ext>
            </a:extLst>
          </p:cNvPr>
          <p:cNvSpPr/>
          <p:nvPr/>
        </p:nvSpPr>
        <p:spPr>
          <a:xfrm>
            <a:off x="3419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돌파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4" name="Shape 10">
            <a:extLst>
              <a:ext uri="{FF2B5EF4-FFF2-40B4-BE49-F238E27FC236}">
                <a16:creationId xmlns:a16="http://schemas.microsoft.com/office/drawing/2014/main" id="{0329FB3B-D07F-97BA-41BB-819F00CD3F08}"/>
              </a:ext>
            </a:extLst>
          </p:cNvPr>
          <p:cNvSpPr/>
          <p:nvPr/>
        </p:nvSpPr>
        <p:spPr>
          <a:xfrm>
            <a:off x="3535680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6" name="Text 11">
            <a:extLst>
              <a:ext uri="{FF2B5EF4-FFF2-40B4-BE49-F238E27FC236}">
                <a16:creationId xmlns:a16="http://schemas.microsoft.com/office/drawing/2014/main" id="{AE2A6B0C-C41D-08E1-474A-5AF1EA97D37F}"/>
              </a:ext>
            </a:extLst>
          </p:cNvPr>
          <p:cNvSpPr/>
          <p:nvPr/>
        </p:nvSpPr>
        <p:spPr>
          <a:xfrm>
            <a:off x="3535680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공격력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높음</a:t>
            </a: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8" name="Shape 12">
            <a:extLst>
              <a:ext uri="{FF2B5EF4-FFF2-40B4-BE49-F238E27FC236}">
                <a16:creationId xmlns:a16="http://schemas.microsoft.com/office/drawing/2014/main" id="{7913502E-1C56-4F67-616F-EDDC1A812E00}"/>
              </a:ext>
            </a:extLst>
          </p:cNvPr>
          <p:cNvSpPr/>
          <p:nvPr/>
        </p:nvSpPr>
        <p:spPr>
          <a:xfrm>
            <a:off x="4678680" y="1126998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0" name="Text 13">
            <a:extLst>
              <a:ext uri="{FF2B5EF4-FFF2-40B4-BE49-F238E27FC236}">
                <a16:creationId xmlns:a16="http://schemas.microsoft.com/office/drawing/2014/main" id="{338B0DD1-54F5-E961-2EFD-2E4A4C1987AD}"/>
              </a:ext>
            </a:extLst>
          </p:cNvPr>
          <p:cNvSpPr/>
          <p:nvPr/>
        </p:nvSpPr>
        <p:spPr>
          <a:xfrm>
            <a:off x="4678680" y="116357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게이지 </a:t>
            </a: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2000 (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높음</a:t>
            </a:r>
            <a:r>
              <a:rPr lang="en-US" altLang="ko-KR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6" name="Shape 15">
            <a:extLst>
              <a:ext uri="{FF2B5EF4-FFF2-40B4-BE49-F238E27FC236}">
                <a16:creationId xmlns:a16="http://schemas.microsoft.com/office/drawing/2014/main" id="{0CEB32E3-A43D-889B-8364-1357266A80A4}"/>
              </a:ext>
            </a:extLst>
          </p:cNvPr>
          <p:cNvSpPr/>
          <p:nvPr/>
        </p:nvSpPr>
        <p:spPr>
          <a:xfrm>
            <a:off x="4732141" y="1628775"/>
            <a:ext cx="6025674" cy="852116"/>
          </a:xfrm>
          <a:prstGeom prst="roundRect">
            <a:avLst>
              <a:gd name="adj" fmla="val 7143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8" name="Text 16">
            <a:extLst>
              <a:ext uri="{FF2B5EF4-FFF2-40B4-BE49-F238E27FC236}">
                <a16:creationId xmlns:a16="http://schemas.microsoft.com/office/drawing/2014/main" id="{29BC8366-0836-14E8-E89C-3738978FDC1C}"/>
              </a:ext>
            </a:extLst>
          </p:cNvPr>
          <p:cNvSpPr/>
          <p:nvPr/>
        </p:nvSpPr>
        <p:spPr>
          <a:xfrm>
            <a:off x="4861480" y="1689640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레퍼런스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0" name="Text 17">
            <a:extLst>
              <a:ext uri="{FF2B5EF4-FFF2-40B4-BE49-F238E27FC236}">
                <a16:creationId xmlns:a16="http://schemas.microsoft.com/office/drawing/2014/main" id="{AD686458-B6BB-E0A8-F133-9E772EAB92A3}"/>
              </a:ext>
            </a:extLst>
          </p:cNvPr>
          <p:cNvSpPr/>
          <p:nvPr/>
        </p:nvSpPr>
        <p:spPr>
          <a:xfrm>
            <a:off x="4861480" y="1887453"/>
            <a:ext cx="5744172" cy="48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엘사가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연상되는 얼음 마법사 쥐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왕관과 파란 피부색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하얀옷이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특징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2" name="Shape 18">
            <a:extLst>
              <a:ext uri="{FF2B5EF4-FFF2-40B4-BE49-F238E27FC236}">
                <a16:creationId xmlns:a16="http://schemas.microsoft.com/office/drawing/2014/main" id="{6B533204-704A-0EB5-5692-C26EB409166E}"/>
              </a:ext>
            </a:extLst>
          </p:cNvPr>
          <p:cNvSpPr/>
          <p:nvPr/>
        </p:nvSpPr>
        <p:spPr>
          <a:xfrm>
            <a:off x="4732141" y="2556972"/>
            <a:ext cx="6025674" cy="935805"/>
          </a:xfrm>
          <a:prstGeom prst="roundRect">
            <a:avLst>
              <a:gd name="adj" fmla="val 6504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4" name="Text 19">
            <a:extLst>
              <a:ext uri="{FF2B5EF4-FFF2-40B4-BE49-F238E27FC236}">
                <a16:creationId xmlns:a16="http://schemas.microsoft.com/office/drawing/2014/main" id="{B7DB0F0E-F1FA-C3FD-EE37-8C6EEE8184A7}"/>
              </a:ext>
            </a:extLst>
          </p:cNvPr>
          <p:cNvSpPr/>
          <p:nvPr/>
        </p:nvSpPr>
        <p:spPr>
          <a:xfrm>
            <a:off x="4861480" y="2617838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기획의도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6" name="Text 20">
            <a:extLst>
              <a:ext uri="{FF2B5EF4-FFF2-40B4-BE49-F238E27FC236}">
                <a16:creationId xmlns:a16="http://schemas.microsoft.com/office/drawing/2014/main" id="{4ACF77BE-C612-DB17-D893-FEFB4D784CCF}"/>
              </a:ext>
            </a:extLst>
          </p:cNvPr>
          <p:cNvSpPr/>
          <p:nvPr/>
        </p:nvSpPr>
        <p:spPr>
          <a:xfrm>
            <a:off x="4861480" y="2815650"/>
            <a:ext cx="5744172" cy="547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생명체를 빙결하고 딜을 넣는 쥐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필살기는 얼음성과 함께 눈보라 이펙트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66F1BEA-99F1-5D66-AEB0-E4FCE4B6B407}"/>
              </a:ext>
            </a:extLst>
          </p:cNvPr>
          <p:cNvGrpSpPr/>
          <p:nvPr/>
        </p:nvGrpSpPr>
        <p:grpSpPr>
          <a:xfrm>
            <a:off x="1133475" y="3637333"/>
            <a:ext cx="9738463" cy="2896817"/>
            <a:chOff x="1133475" y="3637333"/>
            <a:chExt cx="9738463" cy="2404183"/>
          </a:xfrm>
        </p:grpSpPr>
        <p:sp>
          <p:nvSpPr>
            <p:cNvPr id="1098" name="Shape 21">
              <a:extLst>
                <a:ext uri="{FF2B5EF4-FFF2-40B4-BE49-F238E27FC236}">
                  <a16:creationId xmlns:a16="http://schemas.microsoft.com/office/drawing/2014/main" id="{CE054927-22DC-3B47-44DB-12A76EC459AF}"/>
                </a:ext>
              </a:extLst>
            </p:cNvPr>
            <p:cNvSpPr/>
            <p:nvPr/>
          </p:nvSpPr>
          <p:spPr>
            <a:xfrm>
              <a:off x="1133475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0" name="Shape 22">
              <a:extLst>
                <a:ext uri="{FF2B5EF4-FFF2-40B4-BE49-F238E27FC236}">
                  <a16:creationId xmlns:a16="http://schemas.microsoft.com/office/drawing/2014/main" id="{4963CD63-D02A-099A-C39F-71E47D2E7152}"/>
                </a:ext>
              </a:extLst>
            </p:cNvPr>
            <p:cNvSpPr/>
            <p:nvPr/>
          </p:nvSpPr>
          <p:spPr>
            <a:xfrm>
              <a:off x="1133475" y="3637333"/>
              <a:ext cx="60865" cy="2404183"/>
            </a:xfrm>
            <a:prstGeom prst="rect">
              <a:avLst/>
            </a:prstGeom>
            <a:solidFill>
              <a:srgbClr val="6F8A6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4" name="Text 23">
              <a:extLst>
                <a:ext uri="{FF2B5EF4-FFF2-40B4-BE49-F238E27FC236}">
                  <a16:creationId xmlns:a16="http://schemas.microsoft.com/office/drawing/2014/main" id="{79417843-832B-91FD-248C-E789106DED37}"/>
                </a:ext>
              </a:extLst>
            </p:cNvPr>
            <p:cNvSpPr/>
            <p:nvPr/>
          </p:nvSpPr>
          <p:spPr>
            <a:xfrm>
              <a:off x="1285638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F8A6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패시브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6" name="Text 24">
              <a:extLst>
                <a:ext uri="{FF2B5EF4-FFF2-40B4-BE49-F238E27FC236}">
                  <a16:creationId xmlns:a16="http://schemas.microsoft.com/office/drawing/2014/main" id="{9B399A1A-AAEC-95BC-656F-22B2A893FB8F}"/>
                </a:ext>
              </a:extLst>
            </p:cNvPr>
            <p:cNvSpPr/>
            <p:nvPr/>
          </p:nvSpPr>
          <p:spPr>
            <a:xfrm>
              <a:off x="1285638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서리 축적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8" name="Text 25">
              <a:extLst>
                <a:ext uri="{FF2B5EF4-FFF2-40B4-BE49-F238E27FC236}">
                  <a16:creationId xmlns:a16="http://schemas.microsoft.com/office/drawing/2014/main" id="{DEA0920F-170C-B573-A71F-C2DF29DFFF8C}"/>
                </a:ext>
              </a:extLst>
            </p:cNvPr>
            <p:cNvSpPr/>
            <p:nvPr/>
          </p:nvSpPr>
          <p:spPr>
            <a:xfrm>
              <a:off x="1285638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생명체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고양이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보스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사람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에 피해를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입힐때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마다 빙결을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스택 준다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빙결의 스택에 따라 적의 이동속도가 감소한다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빙결 스택이 최대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(10)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면 적이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2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초동안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빙결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기절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)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상태가 된다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 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0" name="Shape 26">
              <a:extLst>
                <a:ext uri="{FF2B5EF4-FFF2-40B4-BE49-F238E27FC236}">
                  <a16:creationId xmlns:a16="http://schemas.microsoft.com/office/drawing/2014/main" id="{5E421CD5-7D67-7508-D74B-B82D71CF9B08}"/>
                </a:ext>
              </a:extLst>
            </p:cNvPr>
            <p:cNvSpPr/>
            <p:nvPr/>
          </p:nvSpPr>
          <p:spPr>
            <a:xfrm>
              <a:off x="4420206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2" name="Shape 27">
              <a:extLst>
                <a:ext uri="{FF2B5EF4-FFF2-40B4-BE49-F238E27FC236}">
                  <a16:creationId xmlns:a16="http://schemas.microsoft.com/office/drawing/2014/main" id="{CAF933A4-351C-385C-B978-0AABEDE12AA0}"/>
                </a:ext>
              </a:extLst>
            </p:cNvPr>
            <p:cNvSpPr/>
            <p:nvPr/>
          </p:nvSpPr>
          <p:spPr>
            <a:xfrm>
              <a:off x="4420206" y="3637333"/>
              <a:ext cx="60865" cy="2404183"/>
            </a:xfrm>
            <a:prstGeom prst="rect">
              <a:avLst/>
            </a:prstGeom>
            <a:solidFill>
              <a:srgbClr val="3D6BA8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6" name="Text 28">
              <a:extLst>
                <a:ext uri="{FF2B5EF4-FFF2-40B4-BE49-F238E27FC236}">
                  <a16:creationId xmlns:a16="http://schemas.microsoft.com/office/drawing/2014/main" id="{E9517AE0-5801-2ED9-D58F-573A95472657}"/>
                </a:ext>
              </a:extLst>
            </p:cNvPr>
            <p:cNvSpPr/>
            <p:nvPr/>
          </p:nvSpPr>
          <p:spPr>
            <a:xfrm>
              <a:off x="4572370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3D6BA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액티브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8" name="Text 29">
              <a:extLst>
                <a:ext uri="{FF2B5EF4-FFF2-40B4-BE49-F238E27FC236}">
                  <a16:creationId xmlns:a16="http://schemas.microsoft.com/office/drawing/2014/main" id="{A612177B-5737-7E8C-588B-85F14A9A5FF1}"/>
                </a:ext>
              </a:extLst>
            </p:cNvPr>
            <p:cNvSpPr/>
            <p:nvPr/>
          </p:nvSpPr>
          <p:spPr>
            <a:xfrm>
              <a:off x="4572370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얼음 미사일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0" name="Text 30">
              <a:extLst>
                <a:ext uri="{FF2B5EF4-FFF2-40B4-BE49-F238E27FC236}">
                  <a16:creationId xmlns:a16="http://schemas.microsoft.com/office/drawing/2014/main" id="{793A2712-E895-5976-77E0-9D3E9AFC7317}"/>
                </a:ext>
              </a:extLst>
            </p:cNvPr>
            <p:cNvSpPr/>
            <p:nvPr/>
          </p:nvSpPr>
          <p:spPr>
            <a:xfrm>
              <a:off x="4572370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발동조건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Interval (20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초마다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)</a:t>
              </a: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endParaRPr>
            </a:p>
            <a:p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효과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얼음 미사일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5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개를 공격하던 현재 대상에게 발사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. </a:t>
              </a:r>
            </a:p>
            <a:p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연출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: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쥐 주위에 고드름을 생성 후 적에게 유도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2" name="Shape 31">
              <a:extLst>
                <a:ext uri="{FF2B5EF4-FFF2-40B4-BE49-F238E27FC236}">
                  <a16:creationId xmlns:a16="http://schemas.microsoft.com/office/drawing/2014/main" id="{91BD9DF5-D573-7F97-50CE-F990D39E950F}"/>
                </a:ext>
              </a:extLst>
            </p:cNvPr>
            <p:cNvSpPr/>
            <p:nvPr/>
          </p:nvSpPr>
          <p:spPr>
            <a:xfrm>
              <a:off x="7706938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4" name="Shape 32">
              <a:extLst>
                <a:ext uri="{FF2B5EF4-FFF2-40B4-BE49-F238E27FC236}">
                  <a16:creationId xmlns:a16="http://schemas.microsoft.com/office/drawing/2014/main" id="{2C5A10BE-9A1A-8FD7-F7E8-2EE48DBBC6B4}"/>
                </a:ext>
              </a:extLst>
            </p:cNvPr>
            <p:cNvSpPr/>
            <p:nvPr/>
          </p:nvSpPr>
          <p:spPr>
            <a:xfrm>
              <a:off x="7706938" y="3637333"/>
              <a:ext cx="60865" cy="2404183"/>
            </a:xfrm>
            <a:prstGeom prst="rect">
              <a:avLst/>
            </a:prstGeom>
            <a:solidFill>
              <a:srgbClr val="C9745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8" name="Text 33">
              <a:extLst>
                <a:ext uri="{FF2B5EF4-FFF2-40B4-BE49-F238E27FC236}">
                  <a16:creationId xmlns:a16="http://schemas.microsoft.com/office/drawing/2014/main" id="{43820168-3163-822C-BFC4-E1B79D40190F}"/>
                </a:ext>
              </a:extLst>
            </p:cNvPr>
            <p:cNvSpPr/>
            <p:nvPr/>
          </p:nvSpPr>
          <p:spPr>
            <a:xfrm>
              <a:off x="7859101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C9745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필살기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0" name="Text 34">
              <a:extLst>
                <a:ext uri="{FF2B5EF4-FFF2-40B4-BE49-F238E27FC236}">
                  <a16:creationId xmlns:a16="http://schemas.microsoft.com/office/drawing/2014/main" id="{DA0BB40A-4EB8-6CAE-7945-89C35876DD2B}"/>
                </a:ext>
              </a:extLst>
            </p:cNvPr>
            <p:cNvSpPr/>
            <p:nvPr/>
          </p:nvSpPr>
          <p:spPr>
            <a:xfrm>
              <a:off x="7859101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600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랫잇고</a:t>
              </a:r>
              <a:r>
                <a:rPr lang="ko-KR" altLang="en-US" sz="16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ko-KR" sz="1600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Rat</a:t>
              </a:r>
              <a:r>
                <a:rPr lang="ko-KR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ko-KR" sz="1600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it</a:t>
              </a:r>
              <a:r>
                <a:rPr lang="ko-KR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ko-KR" sz="1600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go</a:t>
              </a:r>
              <a:r>
                <a:rPr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endParaRPr lang="ko-KR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2" name="Text 35">
              <a:extLst>
                <a:ext uri="{FF2B5EF4-FFF2-40B4-BE49-F238E27FC236}">
                  <a16:creationId xmlns:a16="http://schemas.microsoft.com/office/drawing/2014/main" id="{F3354FAE-0E70-BEF2-150C-06DDE2222DED}"/>
                </a:ext>
              </a:extLst>
            </p:cNvPr>
            <p:cNvSpPr/>
            <p:nvPr/>
          </p:nvSpPr>
          <p:spPr>
            <a:xfrm>
              <a:off x="7859101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얼음성을 맵 전체에 크게 소환하고 눈보라를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3~5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초동안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지속 적 생명체는 빙결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풀스택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0" indent="0">
                <a:buNone/>
              </a:pP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기절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상태로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만듬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C08C91C9-9B7D-4F81-ACA4-E61224248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2498" y="1628775"/>
            <a:ext cx="2739720" cy="184355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C8B872-90C6-D3E2-5F15-09B575ACC6AC}"/>
              </a:ext>
            </a:extLst>
          </p:cNvPr>
          <p:cNvSpPr txBox="1"/>
          <p:nvPr/>
        </p:nvSpPr>
        <p:spPr>
          <a:xfrm>
            <a:off x="7077075" y="1106924"/>
            <a:ext cx="3642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업적: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🏆</a:t>
            </a:r>
            <a:r>
              <a:rPr lang="ko-KR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Rat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It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Go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!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253CF30-5248-765E-4830-4B7FDBD1F5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9488" y="3709912"/>
            <a:ext cx="2145306" cy="144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2AD47BC-B0E5-455B-7F26-453AED3813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2999" y="3709912"/>
            <a:ext cx="2145306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5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F4F25-D735-E07C-4A38-BC7A9E01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CB1799-CA3C-9D95-EB67-0C9095525974}"/>
              </a:ext>
            </a:extLst>
          </p:cNvPr>
          <p:cNvSpPr txBox="1"/>
          <p:nvPr/>
        </p:nvSpPr>
        <p:spPr>
          <a:xfrm>
            <a:off x="1029084" y="22232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에픽쥐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– </a:t>
            </a:r>
            <a:r>
              <a:rPr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5G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FD7CEC1-A875-F9CD-1455-CAEFAA30223F}"/>
              </a:ext>
            </a:extLst>
          </p:cNvPr>
          <p:cNvCxnSpPr>
            <a:cxnSpLocks/>
          </p:cNvCxnSpPr>
          <p:nvPr/>
        </p:nvCxnSpPr>
        <p:spPr>
          <a:xfrm flipH="1">
            <a:off x="1133475" y="796721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Shape 4">
            <a:extLst>
              <a:ext uri="{FF2B5EF4-FFF2-40B4-BE49-F238E27FC236}">
                <a16:creationId xmlns:a16="http://schemas.microsoft.com/office/drawing/2014/main" id="{5864C82D-90DD-03F3-BBB4-D9F3C32A7B38}"/>
              </a:ext>
            </a:extLst>
          </p:cNvPr>
          <p:cNvSpPr/>
          <p:nvPr/>
        </p:nvSpPr>
        <p:spPr>
          <a:xfrm>
            <a:off x="1133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D9786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4" name="Text 5">
            <a:extLst>
              <a:ext uri="{FF2B5EF4-FFF2-40B4-BE49-F238E27FC236}">
                <a16:creationId xmlns:a16="http://schemas.microsoft.com/office/drawing/2014/main" id="{4F20C99B-3E82-CCC8-ECE6-014226B23ADE}"/>
              </a:ext>
            </a:extLst>
          </p:cNvPr>
          <p:cNvSpPr/>
          <p:nvPr/>
        </p:nvSpPr>
        <p:spPr>
          <a:xfrm>
            <a:off x="1133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에픽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6" name="Shape 6">
            <a:extLst>
              <a:ext uri="{FF2B5EF4-FFF2-40B4-BE49-F238E27FC236}">
                <a16:creationId xmlns:a16="http://schemas.microsoft.com/office/drawing/2014/main" id="{11356A55-B41B-DD69-A937-C7EF93144D8B}"/>
              </a:ext>
            </a:extLst>
          </p:cNvPr>
          <p:cNvSpPr/>
          <p:nvPr/>
        </p:nvSpPr>
        <p:spPr>
          <a:xfrm>
            <a:off x="2276475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8A5A4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8" name="Text 7">
            <a:extLst>
              <a:ext uri="{FF2B5EF4-FFF2-40B4-BE49-F238E27FC236}">
                <a16:creationId xmlns:a16="http://schemas.microsoft.com/office/drawing/2014/main" id="{46087FA6-EA41-E295-EE49-B3663A78D0E9}"/>
              </a:ext>
            </a:extLst>
          </p:cNvPr>
          <p:cNvSpPr/>
          <p:nvPr/>
        </p:nvSpPr>
        <p:spPr>
          <a:xfrm>
            <a:off x="2276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티어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5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2" name="Text 9">
            <a:extLst>
              <a:ext uri="{FF2B5EF4-FFF2-40B4-BE49-F238E27FC236}">
                <a16:creationId xmlns:a16="http://schemas.microsoft.com/office/drawing/2014/main" id="{DC5B88D9-3B6A-6BA3-DB65-7F91CA1E868F}"/>
              </a:ext>
            </a:extLst>
          </p:cNvPr>
          <p:cNvSpPr/>
          <p:nvPr/>
        </p:nvSpPr>
        <p:spPr>
          <a:xfrm>
            <a:off x="3419475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돌파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4" name="Shape 10">
            <a:extLst>
              <a:ext uri="{FF2B5EF4-FFF2-40B4-BE49-F238E27FC236}">
                <a16:creationId xmlns:a16="http://schemas.microsoft.com/office/drawing/2014/main" id="{6D0EBE74-D61D-9FF4-ABD2-EAFDC592C5EA}"/>
              </a:ext>
            </a:extLst>
          </p:cNvPr>
          <p:cNvSpPr/>
          <p:nvPr/>
        </p:nvSpPr>
        <p:spPr>
          <a:xfrm>
            <a:off x="3535680" y="1126998"/>
            <a:ext cx="1051560" cy="329184"/>
          </a:xfrm>
          <a:prstGeom prst="roundRect">
            <a:avLst>
              <a:gd name="adj" fmla="val 44444"/>
            </a:avLst>
          </a:prstGeom>
          <a:solidFill>
            <a:srgbClr val="6F8A6B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6" name="Text 11">
            <a:extLst>
              <a:ext uri="{FF2B5EF4-FFF2-40B4-BE49-F238E27FC236}">
                <a16:creationId xmlns:a16="http://schemas.microsoft.com/office/drawing/2014/main" id="{9207E4E7-8C55-0D5A-8A3A-405AA0749A6E}"/>
              </a:ext>
            </a:extLst>
          </p:cNvPr>
          <p:cNvSpPr/>
          <p:nvPr/>
        </p:nvSpPr>
        <p:spPr>
          <a:xfrm>
            <a:off x="3535680" y="116357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공격력</a:t>
            </a:r>
            <a:r>
              <a:rPr 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 </a:t>
            </a:r>
            <a:r>
              <a:rPr lang="ko-KR" altLang="en-US" sz="11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낮음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8" name="Shape 12">
            <a:extLst>
              <a:ext uri="{FF2B5EF4-FFF2-40B4-BE49-F238E27FC236}">
                <a16:creationId xmlns:a16="http://schemas.microsoft.com/office/drawing/2014/main" id="{48A84D74-6289-4732-101C-9EB00126F06A}"/>
              </a:ext>
            </a:extLst>
          </p:cNvPr>
          <p:cNvSpPr/>
          <p:nvPr/>
        </p:nvSpPr>
        <p:spPr>
          <a:xfrm>
            <a:off x="4678680" y="1126998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C9745B"/>
          </a:solidFill>
          <a:ln/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0" name="Text 13">
            <a:extLst>
              <a:ext uri="{FF2B5EF4-FFF2-40B4-BE49-F238E27FC236}">
                <a16:creationId xmlns:a16="http://schemas.microsoft.com/office/drawing/2014/main" id="{FA8E7382-6E1E-8553-A616-5270FA4BC6BF}"/>
              </a:ext>
            </a:extLst>
          </p:cNvPr>
          <p:cNvSpPr/>
          <p:nvPr/>
        </p:nvSpPr>
        <p:spPr>
          <a:xfrm>
            <a:off x="4678680" y="116357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X</a:t>
            </a:r>
          </a:p>
        </p:txBody>
      </p:sp>
      <p:sp>
        <p:nvSpPr>
          <p:cNvPr id="1086" name="Shape 15">
            <a:extLst>
              <a:ext uri="{FF2B5EF4-FFF2-40B4-BE49-F238E27FC236}">
                <a16:creationId xmlns:a16="http://schemas.microsoft.com/office/drawing/2014/main" id="{C4DB70B1-8F02-324E-2916-5C49014C34E7}"/>
              </a:ext>
            </a:extLst>
          </p:cNvPr>
          <p:cNvSpPr/>
          <p:nvPr/>
        </p:nvSpPr>
        <p:spPr>
          <a:xfrm>
            <a:off x="4732141" y="1628775"/>
            <a:ext cx="6025674" cy="852116"/>
          </a:xfrm>
          <a:prstGeom prst="roundRect">
            <a:avLst>
              <a:gd name="adj" fmla="val 7143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8" name="Text 16">
            <a:extLst>
              <a:ext uri="{FF2B5EF4-FFF2-40B4-BE49-F238E27FC236}">
                <a16:creationId xmlns:a16="http://schemas.microsoft.com/office/drawing/2014/main" id="{67D1EF37-C81E-2235-69DA-F00F179F8399}"/>
              </a:ext>
            </a:extLst>
          </p:cNvPr>
          <p:cNvSpPr/>
          <p:nvPr/>
        </p:nvSpPr>
        <p:spPr>
          <a:xfrm>
            <a:off x="4861480" y="1689640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745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레퍼런스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0" name="Text 17">
            <a:extLst>
              <a:ext uri="{FF2B5EF4-FFF2-40B4-BE49-F238E27FC236}">
                <a16:creationId xmlns:a16="http://schemas.microsoft.com/office/drawing/2014/main" id="{5BCAB65B-0516-C850-5937-FA33D878B720}"/>
              </a:ext>
            </a:extLst>
          </p:cNvPr>
          <p:cNvSpPr/>
          <p:nvPr/>
        </p:nvSpPr>
        <p:spPr>
          <a:xfrm>
            <a:off x="4861480" y="1887453"/>
            <a:ext cx="5744172" cy="48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엘사가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연상되는 얼음 마법사 쥐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왕관과 파란 피부색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하얀옷이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특징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2" name="Shape 18">
            <a:extLst>
              <a:ext uri="{FF2B5EF4-FFF2-40B4-BE49-F238E27FC236}">
                <a16:creationId xmlns:a16="http://schemas.microsoft.com/office/drawing/2014/main" id="{3BAA9FA4-B250-A7FA-CA14-3A45680551E1}"/>
              </a:ext>
            </a:extLst>
          </p:cNvPr>
          <p:cNvSpPr/>
          <p:nvPr/>
        </p:nvSpPr>
        <p:spPr>
          <a:xfrm>
            <a:off x="4732141" y="2556972"/>
            <a:ext cx="6025674" cy="935805"/>
          </a:xfrm>
          <a:prstGeom prst="roundRect">
            <a:avLst>
              <a:gd name="adj" fmla="val 6504"/>
            </a:avLst>
          </a:prstGeom>
          <a:solidFill>
            <a:srgbClr val="FFFCF6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4" name="Text 19">
            <a:extLst>
              <a:ext uri="{FF2B5EF4-FFF2-40B4-BE49-F238E27FC236}">
                <a16:creationId xmlns:a16="http://schemas.microsoft.com/office/drawing/2014/main" id="{5EE2E0CA-09F9-E7D7-ED8B-26DD64C49201}"/>
              </a:ext>
            </a:extLst>
          </p:cNvPr>
          <p:cNvSpPr/>
          <p:nvPr/>
        </p:nvSpPr>
        <p:spPr>
          <a:xfrm>
            <a:off x="4861480" y="2617838"/>
            <a:ext cx="989063" cy="18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A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rPr>
              <a:t>기획의도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96" name="Text 20">
            <a:extLst>
              <a:ext uri="{FF2B5EF4-FFF2-40B4-BE49-F238E27FC236}">
                <a16:creationId xmlns:a16="http://schemas.microsoft.com/office/drawing/2014/main" id="{652D32A7-3E28-BD6C-4DAC-86295379984E}"/>
              </a:ext>
            </a:extLst>
          </p:cNvPr>
          <p:cNvSpPr/>
          <p:nvPr/>
        </p:nvSpPr>
        <p:spPr>
          <a:xfrm>
            <a:off x="4861480" y="2815650"/>
            <a:ext cx="5744172" cy="547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생명체를 빙결하고 딜을 넣는 쥐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필살기는 얼음성과 함께 눈보라 이펙트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7DF9958-7AA7-19B0-8DFE-C19170E73D4C}"/>
              </a:ext>
            </a:extLst>
          </p:cNvPr>
          <p:cNvGrpSpPr/>
          <p:nvPr/>
        </p:nvGrpSpPr>
        <p:grpSpPr>
          <a:xfrm>
            <a:off x="1133475" y="3637333"/>
            <a:ext cx="9738463" cy="2896817"/>
            <a:chOff x="1133475" y="3637333"/>
            <a:chExt cx="9738463" cy="2404183"/>
          </a:xfrm>
        </p:grpSpPr>
        <p:sp>
          <p:nvSpPr>
            <p:cNvPr id="1098" name="Shape 21">
              <a:extLst>
                <a:ext uri="{FF2B5EF4-FFF2-40B4-BE49-F238E27FC236}">
                  <a16:creationId xmlns:a16="http://schemas.microsoft.com/office/drawing/2014/main" id="{477205A6-34EA-947C-A4FB-3C44BF0C456F}"/>
                </a:ext>
              </a:extLst>
            </p:cNvPr>
            <p:cNvSpPr/>
            <p:nvPr/>
          </p:nvSpPr>
          <p:spPr>
            <a:xfrm>
              <a:off x="1133475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0" name="Shape 22">
              <a:extLst>
                <a:ext uri="{FF2B5EF4-FFF2-40B4-BE49-F238E27FC236}">
                  <a16:creationId xmlns:a16="http://schemas.microsoft.com/office/drawing/2014/main" id="{0BF58A63-D39F-645C-F00E-A76A6279942E}"/>
                </a:ext>
              </a:extLst>
            </p:cNvPr>
            <p:cNvSpPr/>
            <p:nvPr/>
          </p:nvSpPr>
          <p:spPr>
            <a:xfrm>
              <a:off x="1133475" y="3637333"/>
              <a:ext cx="60865" cy="2404183"/>
            </a:xfrm>
            <a:prstGeom prst="rect">
              <a:avLst/>
            </a:prstGeom>
            <a:solidFill>
              <a:srgbClr val="6F8A6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4" name="Text 23">
              <a:extLst>
                <a:ext uri="{FF2B5EF4-FFF2-40B4-BE49-F238E27FC236}">
                  <a16:creationId xmlns:a16="http://schemas.microsoft.com/office/drawing/2014/main" id="{3F058EF4-0D84-015A-8649-FA5CDDC46134}"/>
                </a:ext>
              </a:extLst>
            </p:cNvPr>
            <p:cNvSpPr/>
            <p:nvPr/>
          </p:nvSpPr>
          <p:spPr>
            <a:xfrm>
              <a:off x="1285638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F8A6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패시브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6" name="Text 24">
              <a:extLst>
                <a:ext uri="{FF2B5EF4-FFF2-40B4-BE49-F238E27FC236}">
                  <a16:creationId xmlns:a16="http://schemas.microsoft.com/office/drawing/2014/main" id="{10D44998-79D7-B908-3299-D7FA48DD54C3}"/>
                </a:ext>
              </a:extLst>
            </p:cNvPr>
            <p:cNvSpPr/>
            <p:nvPr/>
          </p:nvSpPr>
          <p:spPr>
            <a:xfrm>
              <a:off x="1285638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신속한 통신 </a:t>
              </a:r>
              <a:endParaRPr 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8" name="Text 25">
              <a:extLst>
                <a:ext uri="{FF2B5EF4-FFF2-40B4-BE49-F238E27FC236}">
                  <a16:creationId xmlns:a16="http://schemas.microsoft.com/office/drawing/2014/main" id="{0C9B97E5-F5F4-022B-282E-031B96DE47A5}"/>
                </a:ext>
              </a:extLst>
            </p:cNvPr>
            <p:cNvSpPr/>
            <p:nvPr/>
          </p:nvSpPr>
          <p:spPr>
            <a:xfrm>
              <a:off x="1285638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쥐 집결 범위가 기본보다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30%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증가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  <a:p>
              <a:pPr marL="0" indent="0">
                <a:buNone/>
              </a:pP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(1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마리만 적용 중복적용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X)</a:t>
              </a:r>
            </a:p>
            <a:p>
              <a:pPr marL="0" indent="0">
                <a:buNone/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0" name="Shape 26">
              <a:extLst>
                <a:ext uri="{FF2B5EF4-FFF2-40B4-BE49-F238E27FC236}">
                  <a16:creationId xmlns:a16="http://schemas.microsoft.com/office/drawing/2014/main" id="{9863297F-5B1C-5162-271E-D7C49B8743C8}"/>
                </a:ext>
              </a:extLst>
            </p:cNvPr>
            <p:cNvSpPr/>
            <p:nvPr/>
          </p:nvSpPr>
          <p:spPr>
            <a:xfrm>
              <a:off x="4420206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2" name="Shape 27">
              <a:extLst>
                <a:ext uri="{FF2B5EF4-FFF2-40B4-BE49-F238E27FC236}">
                  <a16:creationId xmlns:a16="http://schemas.microsoft.com/office/drawing/2014/main" id="{2DB2BBCD-799F-DE34-7C00-F665A6882D5D}"/>
                </a:ext>
              </a:extLst>
            </p:cNvPr>
            <p:cNvSpPr/>
            <p:nvPr/>
          </p:nvSpPr>
          <p:spPr>
            <a:xfrm>
              <a:off x="4420206" y="3637333"/>
              <a:ext cx="60865" cy="2404183"/>
            </a:xfrm>
            <a:prstGeom prst="rect">
              <a:avLst/>
            </a:prstGeom>
            <a:solidFill>
              <a:srgbClr val="3D6BA8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6" name="Text 28">
              <a:extLst>
                <a:ext uri="{FF2B5EF4-FFF2-40B4-BE49-F238E27FC236}">
                  <a16:creationId xmlns:a16="http://schemas.microsoft.com/office/drawing/2014/main" id="{61FD979A-88B7-4230-53EF-09D36A0B722D}"/>
                </a:ext>
              </a:extLst>
            </p:cNvPr>
            <p:cNvSpPr/>
            <p:nvPr/>
          </p:nvSpPr>
          <p:spPr>
            <a:xfrm>
              <a:off x="4572370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3D6BA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액티브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8" name="Text 29">
              <a:extLst>
                <a:ext uri="{FF2B5EF4-FFF2-40B4-BE49-F238E27FC236}">
                  <a16:creationId xmlns:a16="http://schemas.microsoft.com/office/drawing/2014/main" id="{7A945F69-2684-B18E-5AE8-7A9A04C441D7}"/>
                </a:ext>
              </a:extLst>
            </p:cNvPr>
            <p:cNvSpPr/>
            <p:nvPr/>
          </p:nvSpPr>
          <p:spPr>
            <a:xfrm>
              <a:off x="4572370" y="5098102"/>
              <a:ext cx="2860674" cy="228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600" b="1" dirty="0">
                  <a:solidFill>
                    <a:srgbClr val="4B45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 전송</a:t>
              </a:r>
              <a:endParaRPr lang="ko-KR" altLang="ko-KR" sz="1600" dirty="0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20" name="Text 30">
              <a:extLst>
                <a:ext uri="{FF2B5EF4-FFF2-40B4-BE49-F238E27FC236}">
                  <a16:creationId xmlns:a16="http://schemas.microsoft.com/office/drawing/2014/main" id="{D9466B4D-5633-7586-054E-227A63BF3B1B}"/>
                </a:ext>
              </a:extLst>
            </p:cNvPr>
            <p:cNvSpPr/>
            <p:nvPr/>
          </p:nvSpPr>
          <p:spPr>
            <a:xfrm>
              <a:off x="4572370" y="5356780"/>
              <a:ext cx="2860674" cy="578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발동조건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en-US" altLang="ko-KR" sz="1200" dirty="0" err="1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Ally_Count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(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쥐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5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마리 </a:t>
              </a:r>
              <a:r>
                <a:rPr lang="ko-KR" altLang="en-US" sz="1200" dirty="0" err="1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이상시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)</a:t>
              </a: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 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endParaRPr>
            </a:p>
            <a:p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효과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: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범위안에 있는 쥐들에게 공격력 강화 버프 부여</a:t>
              </a:r>
              <a:endPara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  <a:cs typeface="WenQuanYi Zen Hei" pitchFamily="34" charset="-120"/>
              </a:endParaRPr>
            </a:p>
            <a:p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연출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: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휴대폰 에서 데이터 전송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2" name="Shape 31">
              <a:extLst>
                <a:ext uri="{FF2B5EF4-FFF2-40B4-BE49-F238E27FC236}">
                  <a16:creationId xmlns:a16="http://schemas.microsoft.com/office/drawing/2014/main" id="{F43CB1D0-663B-E9A6-10CA-FAB8358620ED}"/>
                </a:ext>
              </a:extLst>
            </p:cNvPr>
            <p:cNvSpPr/>
            <p:nvPr/>
          </p:nvSpPr>
          <p:spPr>
            <a:xfrm>
              <a:off x="7706938" y="3637333"/>
              <a:ext cx="3165000" cy="2404183"/>
            </a:xfrm>
            <a:prstGeom prst="roundRect">
              <a:avLst>
                <a:gd name="adj" fmla="val 3165"/>
              </a:avLst>
            </a:prstGeom>
            <a:solidFill>
              <a:srgbClr val="FFFCF6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4" name="Shape 32">
              <a:extLst>
                <a:ext uri="{FF2B5EF4-FFF2-40B4-BE49-F238E27FC236}">
                  <a16:creationId xmlns:a16="http://schemas.microsoft.com/office/drawing/2014/main" id="{69B9C9F4-C973-12C3-8273-3A9396C7D6F2}"/>
                </a:ext>
              </a:extLst>
            </p:cNvPr>
            <p:cNvSpPr/>
            <p:nvPr/>
          </p:nvSpPr>
          <p:spPr>
            <a:xfrm>
              <a:off x="7706938" y="3637333"/>
              <a:ext cx="60865" cy="2404183"/>
            </a:xfrm>
            <a:prstGeom prst="rect">
              <a:avLst/>
            </a:prstGeom>
            <a:solidFill>
              <a:srgbClr val="C9745B"/>
            </a:solidFill>
            <a:ln/>
          </p:spPr>
          <p:txBody>
            <a:bodyPr/>
            <a:lstStyle/>
            <a:p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8" name="Text 33">
              <a:extLst>
                <a:ext uri="{FF2B5EF4-FFF2-40B4-BE49-F238E27FC236}">
                  <a16:creationId xmlns:a16="http://schemas.microsoft.com/office/drawing/2014/main" id="{E59F09D2-73D2-407C-1881-C4ED53BC3FB7}"/>
                </a:ext>
              </a:extLst>
            </p:cNvPr>
            <p:cNvSpPr/>
            <p:nvPr/>
          </p:nvSpPr>
          <p:spPr>
            <a:xfrm>
              <a:off x="7859101" y="4945939"/>
              <a:ext cx="2860674" cy="167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C9745B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WenQuanYi Zen Hei" pitchFamily="34" charset="-120"/>
                </a:rPr>
                <a:t>필살기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64DD5042-787F-CEA6-B756-C870C19A5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2498" y="1628775"/>
            <a:ext cx="2739720" cy="1843549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D4556C-2EC5-8D89-6ACC-0A314F1EF6FD}"/>
              </a:ext>
            </a:extLst>
          </p:cNvPr>
          <p:cNvSpPr txBox="1"/>
          <p:nvPr/>
        </p:nvSpPr>
        <p:spPr>
          <a:xfrm>
            <a:off x="7077075" y="1106924"/>
            <a:ext cx="36426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업적: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1574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1028</Words>
  <Application>Microsoft Office PowerPoint</Application>
  <PresentationFormat>와이드스크린</PresentationFormat>
  <Paragraphs>232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8</cp:revision>
  <dcterms:created xsi:type="dcterms:W3CDTF">2026-10-07T06:40:20Z</dcterms:created>
  <dcterms:modified xsi:type="dcterms:W3CDTF">2026-10-12T07:57:56Z</dcterms:modified>
</cp:coreProperties>
</file>