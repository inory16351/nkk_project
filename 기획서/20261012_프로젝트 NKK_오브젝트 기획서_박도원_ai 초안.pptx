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5"/>
  </p:notesMasterIdLst>
  <p:sldIdLst>
    <p:sldId id="257" r:id="rId2"/>
    <p:sldId id="288" r:id="rId3"/>
    <p:sldId id="259" r:id="rId4"/>
    <p:sldId id="289" r:id="rId5"/>
    <p:sldId id="290" r:id="rId6"/>
    <p:sldId id="291" r:id="rId7"/>
    <p:sldId id="292" r:id="rId8"/>
    <p:sldId id="293" r:id="rId9"/>
    <p:sldId id="294" r:id="rId10"/>
    <p:sldId id="295" r:id="rId11"/>
    <p:sldId id="296" r:id="rId12"/>
    <p:sldId id="297" r:id="rId13"/>
    <p:sldId id="298" r:id="rId14"/>
    <p:sldId id="299" r:id="rId15"/>
    <p:sldId id="300" r:id="rId16"/>
    <p:sldId id="301" r:id="rId17"/>
    <p:sldId id="302" r:id="rId18"/>
    <p:sldId id="303" r:id="rId19"/>
    <p:sldId id="304" r:id="rId20"/>
    <p:sldId id="305" r:id="rId21"/>
    <p:sldId id="306" r:id="rId22"/>
    <p:sldId id="307" r:id="rId23"/>
    <p:sldId id="308" r:id="rId24"/>
    <p:sldId id="309" r:id="rId25"/>
    <p:sldId id="310" r:id="rId26"/>
    <p:sldId id="311" r:id="rId27"/>
    <p:sldId id="312" r:id="rId28"/>
    <p:sldId id="313" r:id="rId29"/>
    <p:sldId id="314" r:id="rId30"/>
    <p:sldId id="315" r:id="rId31"/>
    <p:sldId id="316" r:id="rId32"/>
    <p:sldId id="317" r:id="rId33"/>
    <p:sldId id="318" r:id="rId34"/>
    <p:sldId id="319" r:id="rId35"/>
    <p:sldId id="320" r:id="rId36"/>
    <p:sldId id="321" r:id="rId37"/>
    <p:sldId id="322" r:id="rId38"/>
    <p:sldId id="323" r:id="rId39"/>
    <p:sldId id="324" r:id="rId40"/>
    <p:sldId id="325" r:id="rId41"/>
    <p:sldId id="326" r:id="rId42"/>
    <p:sldId id="327" r:id="rId43"/>
    <p:sldId id="328" r:id="rId4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BFBF"/>
    <a:srgbClr val="8C8C8C"/>
    <a:srgbClr val="E97132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>
        <p:scale>
          <a:sx n="100" d="100"/>
          <a:sy n="100" d="100"/>
        </p:scale>
        <p:origin x="912" y="10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A36E70-5542-433F-8775-3EDF9C5AE0B0}" type="datetimeFigureOut">
              <a:rPr lang="ko-KR" altLang="en-US" smtClean="0"/>
              <a:t>2026-10-13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DF35D8-3F1B-4838-9AA9-54A21BBB9E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99406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C393A6-6064-E56E-3CC7-DFBD99E8E6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8DB02AB-3255-D2EB-3CFF-F102727D98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77D8953-EF9A-5446-14B9-15328A6E5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03AA2A7-4921-285E-8E7C-8F46E43D9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DDBC7F2-F5F0-0533-A0E9-1B81D3A9B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85495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9389E6-DF22-238B-C563-2F9F1D4DA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956C26A-24FF-87FC-F30A-C4B2B44E2F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C0326C4-B6D9-516F-67FD-397EE1D8C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51C34A6-6FFC-F7CC-4C01-9B3EB433D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C5DB05-D59B-FA33-685A-4E6B9F111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72830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56B36A-C7CE-199F-43D9-2B4BD3817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CF597C3-AEA1-FAE0-E407-28DD8D0B0A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5A1085-83E7-EA12-ED4F-9DE404B27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3DF431C-56E1-C642-4F67-B774DC4EF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819AA2B-B326-9397-B8E6-A23FFA9AD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993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EE9383-0E57-A2DC-C415-C968ED12F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B07665B-5634-5B29-6387-A79BACE386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0E78F0F-8B84-D5C6-443E-195286C943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BFBCED5-13EF-C045-55FF-7B7E62DA1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42224E5-9AB0-9CCB-347D-5DC6659BB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AB6D396-8184-B7FA-3619-E06FD5F17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6257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275A90-C233-E1CC-278F-0339C2136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B876DDC-4A19-7B00-BACD-AA81B08562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BFEF097-737A-0CD1-D299-9114083AFF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AE4C179-65B8-6728-2552-130364EFDE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D7BB22C-4B3D-AF9C-1028-950CED609C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6C7DECF-95C8-40D9-0D89-C27075B2E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2026-10-13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F6ECB51-558B-8B21-D5FD-5AED61341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6E4D88C-F660-2995-B619-47CD65C0F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31353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BB4D96-C3DA-2EBA-CB1C-AB54F16D8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709EAE9-77E5-46A5-B514-9E5D47EF1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2026-10-13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C17411C-7C73-5F5A-00C9-1A131247D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72D3380-30B8-3382-A9A4-CFBDE599B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40813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6804CBD-D934-1482-365B-560A4B03B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2026-10-13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4024F1F-E81A-267F-CE72-25342AEA5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2F5C455-C943-9FC6-7BF1-FB6201BE4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08711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B6AB16-80DA-CCE6-B425-8B4AE097C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C78E645-7AD7-F6FC-7D7E-9549A150C4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57FF677-F054-9F55-94B5-2BF069F3FA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7106BFD-CE99-ED8F-5D6B-A65CDD45A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9587713-F9FD-636F-55C4-2FA2033DF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37E4910-C6BD-2158-0C16-22A0BBC53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22061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D67044-6CC1-91E9-DDB0-9D3FBC932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3C4DC73-3ADB-99EB-751B-01367CF6853F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7FB4AC7-7954-61AE-183D-B2CC3318ED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F5F8AB9-7B0A-12F0-71E7-D16264D07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45EE15A-84DA-885B-B293-B7046B47B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0D53620-ECC2-9101-F7EF-007C0E8EA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08537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DD6A17-418D-C7A1-DE15-4F0A9319B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A62781E-84EB-82D6-C048-21C9709266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163C778-F0BC-515F-0F74-C8C383129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321A88D-A3E4-2FA7-B89C-BE6C991FB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BA72E89-E2A1-72B0-5006-37D4764B3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99789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ED17CC4-D318-E38A-C0DF-FAC64DD718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45AEC1E-287E-7B66-3CF6-3A62418910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9602AFE-8DCD-99D6-AA91-3E1D48DAF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43EEFAC-A9E9-0F03-DA76-0934407F1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9D13154-3A71-08B5-C8BC-5A2DE42D0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64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6BEAC52-5ACF-3D3B-572A-8A580134E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537A941-5FFE-60C2-6BEE-9AC32BCAFC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8AFB020-A6E6-720E-DBE2-5500BFFD00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507BC3-FE8E-43D9-9669-1305ABD709FE}" type="datetimeFigureOut">
              <a:rPr lang="ko-KR" altLang="en-US" smtClean="0"/>
              <a:t>2026-10-13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D48124-2D2C-AC0D-095E-64ECF7C5CC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42BBDD3-DA8B-B4C2-2786-B51A866236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1036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21" Type="http://schemas.openxmlformats.org/officeDocument/2006/relationships/image" Target="../media/image23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4.png"/><Relationship Id="rId16" Type="http://schemas.openxmlformats.org/officeDocument/2006/relationships/image" Target="../media/image18.png"/><Relationship Id="rId20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23" Type="http://schemas.openxmlformats.org/officeDocument/2006/relationships/image" Target="../media/image25.png"/><Relationship Id="rId10" Type="http://schemas.openxmlformats.org/officeDocument/2006/relationships/image" Target="../media/image12.png"/><Relationship Id="rId19" Type="http://schemas.openxmlformats.org/officeDocument/2006/relationships/image" Target="../media/image21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Relationship Id="rId22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2.png"/><Relationship Id="rId7" Type="http://schemas.openxmlformats.org/officeDocument/2006/relationships/image" Target="../media/image2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23.png"/><Relationship Id="rId5" Type="http://schemas.openxmlformats.org/officeDocument/2006/relationships/image" Target="../media/image26.png"/><Relationship Id="rId10" Type="http://schemas.openxmlformats.org/officeDocument/2006/relationships/image" Target="../media/image22.png"/><Relationship Id="rId4" Type="http://schemas.openxmlformats.org/officeDocument/2006/relationships/image" Target="../media/image20.png"/><Relationship Id="rId9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34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12" Type="http://schemas.openxmlformats.org/officeDocument/2006/relationships/image" Target="../media/image3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11" Type="http://schemas.openxmlformats.org/officeDocument/2006/relationships/image" Target="../media/image14.png"/><Relationship Id="rId5" Type="http://schemas.openxmlformats.org/officeDocument/2006/relationships/image" Target="../media/image29.png"/><Relationship Id="rId10" Type="http://schemas.openxmlformats.org/officeDocument/2006/relationships/image" Target="../media/image13.png"/><Relationship Id="rId4" Type="http://schemas.openxmlformats.org/officeDocument/2006/relationships/image" Target="../media/image28.png"/><Relationship Id="rId9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47.png"/><Relationship Id="rId18" Type="http://schemas.openxmlformats.org/officeDocument/2006/relationships/image" Target="../media/image51.png"/><Relationship Id="rId3" Type="http://schemas.openxmlformats.org/officeDocument/2006/relationships/image" Target="../media/image39.png"/><Relationship Id="rId21" Type="http://schemas.openxmlformats.org/officeDocument/2006/relationships/image" Target="../media/image54.png"/><Relationship Id="rId7" Type="http://schemas.openxmlformats.org/officeDocument/2006/relationships/image" Target="../media/image9.png"/><Relationship Id="rId12" Type="http://schemas.openxmlformats.org/officeDocument/2006/relationships/image" Target="../media/image46.png"/><Relationship Id="rId17" Type="http://schemas.openxmlformats.org/officeDocument/2006/relationships/image" Target="../media/image50.png"/><Relationship Id="rId2" Type="http://schemas.openxmlformats.org/officeDocument/2006/relationships/image" Target="../media/image38.png"/><Relationship Id="rId16" Type="http://schemas.openxmlformats.org/officeDocument/2006/relationships/image" Target="../media/image10.png"/><Relationship Id="rId20" Type="http://schemas.openxmlformats.org/officeDocument/2006/relationships/image" Target="../media/image5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11" Type="http://schemas.openxmlformats.org/officeDocument/2006/relationships/image" Target="../media/image45.png"/><Relationship Id="rId5" Type="http://schemas.openxmlformats.org/officeDocument/2006/relationships/image" Target="../media/image40.png"/><Relationship Id="rId15" Type="http://schemas.openxmlformats.org/officeDocument/2006/relationships/image" Target="../media/image49.png"/><Relationship Id="rId23" Type="http://schemas.openxmlformats.org/officeDocument/2006/relationships/image" Target="../media/image11.png"/><Relationship Id="rId10" Type="http://schemas.openxmlformats.org/officeDocument/2006/relationships/image" Target="../media/image44.png"/><Relationship Id="rId19" Type="http://schemas.openxmlformats.org/officeDocument/2006/relationships/image" Target="../media/image52.png"/><Relationship Id="rId4" Type="http://schemas.openxmlformats.org/officeDocument/2006/relationships/image" Target="../media/image8.png"/><Relationship Id="rId9" Type="http://schemas.openxmlformats.org/officeDocument/2006/relationships/image" Target="../media/image43.png"/><Relationship Id="rId14" Type="http://schemas.openxmlformats.org/officeDocument/2006/relationships/image" Target="../media/image48.png"/><Relationship Id="rId22" Type="http://schemas.openxmlformats.org/officeDocument/2006/relationships/image" Target="../media/image55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63.png"/><Relationship Id="rId18" Type="http://schemas.openxmlformats.org/officeDocument/2006/relationships/image" Target="../media/image6.png"/><Relationship Id="rId3" Type="http://schemas.openxmlformats.org/officeDocument/2006/relationships/image" Target="../media/image5.png"/><Relationship Id="rId21" Type="http://schemas.openxmlformats.org/officeDocument/2006/relationships/image" Target="../media/image46.png"/><Relationship Id="rId7" Type="http://schemas.openxmlformats.org/officeDocument/2006/relationships/image" Target="../media/image36.png"/><Relationship Id="rId12" Type="http://schemas.openxmlformats.org/officeDocument/2006/relationships/image" Target="../media/image62.png"/><Relationship Id="rId17" Type="http://schemas.openxmlformats.org/officeDocument/2006/relationships/image" Target="../media/image66.png"/><Relationship Id="rId25" Type="http://schemas.openxmlformats.org/officeDocument/2006/relationships/image" Target="../media/image51.png"/><Relationship Id="rId2" Type="http://schemas.openxmlformats.org/officeDocument/2006/relationships/image" Target="../media/image4.png"/><Relationship Id="rId16" Type="http://schemas.openxmlformats.org/officeDocument/2006/relationships/image" Target="../media/image65.png"/><Relationship Id="rId20" Type="http://schemas.openxmlformats.org/officeDocument/2006/relationships/image" Target="../media/image6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8.png"/><Relationship Id="rId11" Type="http://schemas.openxmlformats.org/officeDocument/2006/relationships/image" Target="../media/image61.png"/><Relationship Id="rId24" Type="http://schemas.openxmlformats.org/officeDocument/2006/relationships/image" Target="../media/image68.png"/><Relationship Id="rId5" Type="http://schemas.openxmlformats.org/officeDocument/2006/relationships/image" Target="../media/image57.png"/><Relationship Id="rId15" Type="http://schemas.openxmlformats.org/officeDocument/2006/relationships/image" Target="../media/image64.png"/><Relationship Id="rId23" Type="http://schemas.openxmlformats.org/officeDocument/2006/relationships/image" Target="../media/image7.png"/><Relationship Id="rId10" Type="http://schemas.openxmlformats.org/officeDocument/2006/relationships/image" Target="../media/image60.png"/><Relationship Id="rId19" Type="http://schemas.openxmlformats.org/officeDocument/2006/relationships/image" Target="../media/image43.png"/><Relationship Id="rId4" Type="http://schemas.openxmlformats.org/officeDocument/2006/relationships/image" Target="../media/image56.png"/><Relationship Id="rId9" Type="http://schemas.openxmlformats.org/officeDocument/2006/relationships/image" Target="../media/image59.png"/><Relationship Id="rId14" Type="http://schemas.openxmlformats.org/officeDocument/2006/relationships/image" Target="../media/image41.png"/><Relationship Id="rId22" Type="http://schemas.openxmlformats.org/officeDocument/2006/relationships/image" Target="../media/image49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32.png"/><Relationship Id="rId3" Type="http://schemas.openxmlformats.org/officeDocument/2006/relationships/image" Target="../media/image30.png"/><Relationship Id="rId7" Type="http://schemas.openxmlformats.org/officeDocument/2006/relationships/image" Target="../media/image15.png"/><Relationship Id="rId12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11" Type="http://schemas.openxmlformats.org/officeDocument/2006/relationships/image" Target="../media/image27.png"/><Relationship Id="rId5" Type="http://schemas.openxmlformats.org/officeDocument/2006/relationships/image" Target="../media/image28.png"/><Relationship Id="rId10" Type="http://schemas.openxmlformats.org/officeDocument/2006/relationships/image" Target="../media/image14.png"/><Relationship Id="rId4" Type="http://schemas.openxmlformats.org/officeDocument/2006/relationships/image" Target="../media/image34.png"/><Relationship Id="rId9" Type="http://schemas.openxmlformats.org/officeDocument/2006/relationships/image" Target="../media/image31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8.png"/><Relationship Id="rId18" Type="http://schemas.openxmlformats.org/officeDocument/2006/relationships/image" Target="../media/image15.png"/><Relationship Id="rId26" Type="http://schemas.openxmlformats.org/officeDocument/2006/relationships/image" Target="../media/image39.png"/><Relationship Id="rId39" Type="http://schemas.openxmlformats.org/officeDocument/2006/relationships/image" Target="../media/image17.png"/><Relationship Id="rId21" Type="http://schemas.openxmlformats.org/officeDocument/2006/relationships/image" Target="../media/image61.png"/><Relationship Id="rId34" Type="http://schemas.openxmlformats.org/officeDocument/2006/relationships/image" Target="../media/image51.png"/><Relationship Id="rId42" Type="http://schemas.openxmlformats.org/officeDocument/2006/relationships/image" Target="../media/image47.png"/><Relationship Id="rId47" Type="http://schemas.openxmlformats.org/officeDocument/2006/relationships/image" Target="../media/image54.png"/><Relationship Id="rId7" Type="http://schemas.openxmlformats.org/officeDocument/2006/relationships/image" Target="../media/image30.png"/><Relationship Id="rId2" Type="http://schemas.openxmlformats.org/officeDocument/2006/relationships/image" Target="../media/image12.png"/><Relationship Id="rId16" Type="http://schemas.openxmlformats.org/officeDocument/2006/relationships/image" Target="../media/image18.png"/><Relationship Id="rId29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9.png"/><Relationship Id="rId11" Type="http://schemas.openxmlformats.org/officeDocument/2006/relationships/image" Target="../media/image70.png"/><Relationship Id="rId24" Type="http://schemas.openxmlformats.org/officeDocument/2006/relationships/image" Target="../media/image73.png"/><Relationship Id="rId32" Type="http://schemas.openxmlformats.org/officeDocument/2006/relationships/image" Target="../media/image49.png"/><Relationship Id="rId37" Type="http://schemas.openxmlformats.org/officeDocument/2006/relationships/image" Target="../media/image8.png"/><Relationship Id="rId40" Type="http://schemas.openxmlformats.org/officeDocument/2006/relationships/image" Target="../media/image44.png"/><Relationship Id="rId45" Type="http://schemas.openxmlformats.org/officeDocument/2006/relationships/image" Target="../media/image52.png"/><Relationship Id="rId5" Type="http://schemas.openxmlformats.org/officeDocument/2006/relationships/image" Target="../media/image60.png"/><Relationship Id="rId15" Type="http://schemas.openxmlformats.org/officeDocument/2006/relationships/image" Target="../media/image58.png"/><Relationship Id="rId23" Type="http://schemas.openxmlformats.org/officeDocument/2006/relationships/image" Target="../media/image14.png"/><Relationship Id="rId28" Type="http://schemas.openxmlformats.org/officeDocument/2006/relationships/image" Target="../media/image62.png"/><Relationship Id="rId36" Type="http://schemas.openxmlformats.org/officeDocument/2006/relationships/image" Target="../media/image77.png"/><Relationship Id="rId10" Type="http://schemas.openxmlformats.org/officeDocument/2006/relationships/image" Target="../media/image34.png"/><Relationship Id="rId19" Type="http://schemas.openxmlformats.org/officeDocument/2006/relationships/image" Target="../media/image72.png"/><Relationship Id="rId31" Type="http://schemas.openxmlformats.org/officeDocument/2006/relationships/image" Target="../media/image74.png"/><Relationship Id="rId44" Type="http://schemas.openxmlformats.org/officeDocument/2006/relationships/image" Target="../media/image10.png"/><Relationship Id="rId4" Type="http://schemas.openxmlformats.org/officeDocument/2006/relationships/image" Target="../media/image5.png"/><Relationship Id="rId9" Type="http://schemas.openxmlformats.org/officeDocument/2006/relationships/image" Target="../media/image69.png"/><Relationship Id="rId14" Type="http://schemas.openxmlformats.org/officeDocument/2006/relationships/image" Target="../media/image36.png"/><Relationship Id="rId22" Type="http://schemas.openxmlformats.org/officeDocument/2006/relationships/image" Target="../media/image31.png"/><Relationship Id="rId27" Type="http://schemas.openxmlformats.org/officeDocument/2006/relationships/image" Target="../media/image56.png"/><Relationship Id="rId30" Type="http://schemas.openxmlformats.org/officeDocument/2006/relationships/image" Target="../media/image32.png"/><Relationship Id="rId35" Type="http://schemas.openxmlformats.org/officeDocument/2006/relationships/image" Target="../media/image76.png"/><Relationship Id="rId43" Type="http://schemas.openxmlformats.org/officeDocument/2006/relationships/image" Target="../media/image79.png"/><Relationship Id="rId8" Type="http://schemas.openxmlformats.org/officeDocument/2006/relationships/image" Target="../media/image19.png"/><Relationship Id="rId3" Type="http://schemas.openxmlformats.org/officeDocument/2006/relationships/image" Target="../media/image4.png"/><Relationship Id="rId12" Type="http://schemas.openxmlformats.org/officeDocument/2006/relationships/image" Target="../media/image71.png"/><Relationship Id="rId17" Type="http://schemas.openxmlformats.org/officeDocument/2006/relationships/image" Target="../media/image29.png"/><Relationship Id="rId25" Type="http://schemas.openxmlformats.org/officeDocument/2006/relationships/image" Target="../media/image27.png"/><Relationship Id="rId33" Type="http://schemas.openxmlformats.org/officeDocument/2006/relationships/image" Target="../media/image75.png"/><Relationship Id="rId38" Type="http://schemas.openxmlformats.org/officeDocument/2006/relationships/image" Target="../media/image16.png"/><Relationship Id="rId46" Type="http://schemas.openxmlformats.org/officeDocument/2006/relationships/image" Target="../media/image80.png"/><Relationship Id="rId20" Type="http://schemas.openxmlformats.org/officeDocument/2006/relationships/image" Target="../media/image33.png"/><Relationship Id="rId41" Type="http://schemas.openxmlformats.org/officeDocument/2006/relationships/image" Target="../media/image78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81.png"/><Relationship Id="rId7" Type="http://schemas.openxmlformats.org/officeDocument/2006/relationships/image" Target="../media/image3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4.png"/><Relationship Id="rId5" Type="http://schemas.openxmlformats.org/officeDocument/2006/relationships/image" Target="../media/image83.png"/><Relationship Id="rId10" Type="http://schemas.openxmlformats.org/officeDocument/2006/relationships/image" Target="../media/image23.png"/><Relationship Id="rId4" Type="http://schemas.openxmlformats.org/officeDocument/2006/relationships/image" Target="../media/image82.png"/><Relationship Id="rId9" Type="http://schemas.openxmlformats.org/officeDocument/2006/relationships/image" Target="../media/image22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24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2.png"/><Relationship Id="rId18" Type="http://schemas.openxmlformats.org/officeDocument/2006/relationships/image" Target="../media/image6.png"/><Relationship Id="rId26" Type="http://schemas.openxmlformats.org/officeDocument/2006/relationships/image" Target="../media/image49.png"/><Relationship Id="rId3" Type="http://schemas.openxmlformats.org/officeDocument/2006/relationships/image" Target="../media/image5.png"/><Relationship Id="rId21" Type="http://schemas.openxmlformats.org/officeDocument/2006/relationships/image" Target="../media/image43.png"/><Relationship Id="rId7" Type="http://schemas.openxmlformats.org/officeDocument/2006/relationships/image" Target="../media/image36.png"/><Relationship Id="rId12" Type="http://schemas.openxmlformats.org/officeDocument/2006/relationships/image" Target="../media/image61.png"/><Relationship Id="rId17" Type="http://schemas.openxmlformats.org/officeDocument/2006/relationships/image" Target="../media/image64.png"/><Relationship Id="rId25" Type="http://schemas.openxmlformats.org/officeDocument/2006/relationships/image" Target="../media/image47.png"/><Relationship Id="rId33" Type="http://schemas.openxmlformats.org/officeDocument/2006/relationships/image" Target="../media/image11.png"/><Relationship Id="rId2" Type="http://schemas.openxmlformats.org/officeDocument/2006/relationships/image" Target="../media/image4.png"/><Relationship Id="rId16" Type="http://schemas.openxmlformats.org/officeDocument/2006/relationships/image" Target="../media/image9.png"/><Relationship Id="rId20" Type="http://schemas.openxmlformats.org/officeDocument/2006/relationships/image" Target="../media/image66.png"/><Relationship Id="rId29" Type="http://schemas.openxmlformats.org/officeDocument/2006/relationships/image" Target="../media/image6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8.png"/><Relationship Id="rId11" Type="http://schemas.openxmlformats.org/officeDocument/2006/relationships/image" Target="../media/image60.png"/><Relationship Id="rId24" Type="http://schemas.openxmlformats.org/officeDocument/2006/relationships/image" Target="../media/image46.png"/><Relationship Id="rId32" Type="http://schemas.openxmlformats.org/officeDocument/2006/relationships/image" Target="../media/image54.png"/><Relationship Id="rId5" Type="http://schemas.openxmlformats.org/officeDocument/2006/relationships/image" Target="../media/image57.png"/><Relationship Id="rId15" Type="http://schemas.openxmlformats.org/officeDocument/2006/relationships/image" Target="../media/image41.png"/><Relationship Id="rId23" Type="http://schemas.openxmlformats.org/officeDocument/2006/relationships/image" Target="../media/image67.png"/><Relationship Id="rId28" Type="http://schemas.openxmlformats.org/officeDocument/2006/relationships/image" Target="../media/image10.png"/><Relationship Id="rId10" Type="http://schemas.openxmlformats.org/officeDocument/2006/relationships/image" Target="../media/image59.png"/><Relationship Id="rId19" Type="http://schemas.openxmlformats.org/officeDocument/2006/relationships/image" Target="../media/image65.png"/><Relationship Id="rId31" Type="http://schemas.openxmlformats.org/officeDocument/2006/relationships/image" Target="../media/image52.png"/><Relationship Id="rId4" Type="http://schemas.openxmlformats.org/officeDocument/2006/relationships/image" Target="../media/image56.png"/><Relationship Id="rId9" Type="http://schemas.openxmlformats.org/officeDocument/2006/relationships/image" Target="../media/image8.png"/><Relationship Id="rId14" Type="http://schemas.openxmlformats.org/officeDocument/2006/relationships/image" Target="../media/image63.png"/><Relationship Id="rId22" Type="http://schemas.openxmlformats.org/officeDocument/2006/relationships/image" Target="../media/image44.png"/><Relationship Id="rId27" Type="http://schemas.openxmlformats.org/officeDocument/2006/relationships/image" Target="../media/image7.png"/><Relationship Id="rId30" Type="http://schemas.openxmlformats.org/officeDocument/2006/relationships/image" Target="../media/image51.png"/><Relationship Id="rId8" Type="http://schemas.openxmlformats.org/officeDocument/2006/relationships/image" Target="../media/image39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FBEA6AB8-3459-4522-53F5-7C14230533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2999548" y="0"/>
            <a:ext cx="13031738" cy="733425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CF0FEDD4-FC25-2665-EB00-EC6FC31A263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44500" y="-584200"/>
            <a:ext cx="10476690" cy="1149985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6C0887F5-26E7-4DBC-8B40-F32358FB68A9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98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-13000"/>
                    </a14:imgEffect>
                    <a14:imgEffect>
                      <a14:saturation sat="68000"/>
                    </a14:imgEffect>
                    <a14:imgEffect>
                      <a14:brightnessContrast contrast="-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71193" y="1299919"/>
            <a:ext cx="3447438" cy="2886696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C7A06AEE-6D79-F7C1-BC5F-55B52EC8956B}"/>
              </a:ext>
            </a:extLst>
          </p:cNvPr>
          <p:cNvSpPr/>
          <p:nvPr/>
        </p:nvSpPr>
        <p:spPr>
          <a:xfrm>
            <a:off x="12644430" y="2647178"/>
            <a:ext cx="6553200" cy="231457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제목 1">
            <a:extLst>
              <a:ext uri="{FF2B5EF4-FFF2-40B4-BE49-F238E27FC236}">
                <a16:creationId xmlns:a16="http://schemas.microsoft.com/office/drawing/2014/main" id="{67F283C6-905D-F7E0-356B-57BB926D0C48}"/>
              </a:ext>
            </a:extLst>
          </p:cNvPr>
          <p:cNvSpPr txBox="1">
            <a:spLocks/>
          </p:cNvSpPr>
          <p:nvPr/>
        </p:nvSpPr>
        <p:spPr>
          <a:xfrm>
            <a:off x="5639573" y="2025631"/>
            <a:ext cx="5856611" cy="10906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ko-KR" altLang="en-US" sz="4000" dirty="0" err="1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오브젝트 기획서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473B0AB-7702-7F91-B4AE-1F49DBB7A08A}"/>
              </a:ext>
            </a:extLst>
          </p:cNvPr>
          <p:cNvSpPr/>
          <p:nvPr/>
        </p:nvSpPr>
        <p:spPr>
          <a:xfrm>
            <a:off x="6430871" y="3043673"/>
            <a:ext cx="4950241" cy="1285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제목 1">
            <a:extLst>
              <a:ext uri="{FF2B5EF4-FFF2-40B4-BE49-F238E27FC236}">
                <a16:creationId xmlns:a16="http://schemas.microsoft.com/office/drawing/2014/main" id="{6D4083D5-045D-076C-58E9-A0AD0661291A}"/>
              </a:ext>
            </a:extLst>
          </p:cNvPr>
          <p:cNvSpPr txBox="1">
            <a:spLocks/>
          </p:cNvSpPr>
          <p:nvPr/>
        </p:nvSpPr>
        <p:spPr>
          <a:xfrm>
            <a:off x="5933131" y="1030384"/>
            <a:ext cx="5534025" cy="109061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j-cs"/>
              </a:defRPr>
            </a:lvl1pPr>
          </a:lstStyle>
          <a:p>
            <a:pPr algn="r"/>
            <a:r>
              <a:rPr lang="ko-KR" altLang="en-US" sz="3600" dirty="0" err="1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찍찍이</a:t>
            </a:r>
            <a:r>
              <a:rPr lang="ko-KR" altLang="en-US" sz="36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게임</a:t>
            </a: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587E28EF-886F-0CFD-BEC4-8433CD23A18D}"/>
              </a:ext>
            </a:extLst>
          </p:cNvPr>
          <p:cNvCxnSpPr>
            <a:cxnSpLocks/>
          </p:cNvCxnSpPr>
          <p:nvPr/>
        </p:nvCxnSpPr>
        <p:spPr>
          <a:xfrm flipH="1">
            <a:off x="8069943" y="5602514"/>
            <a:ext cx="3311169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7B234270-9A17-D048-55ED-0940FB5181CB}"/>
              </a:ext>
            </a:extLst>
          </p:cNvPr>
          <p:cNvSpPr txBox="1"/>
          <p:nvPr/>
        </p:nvSpPr>
        <p:spPr>
          <a:xfrm>
            <a:off x="8331701" y="5681050"/>
            <a:ext cx="13430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문서</a:t>
            </a:r>
            <a:r>
              <a:rPr lang="ko-KR" altLang="en-US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최초</a:t>
            </a:r>
            <a:r>
              <a:rPr lang="ko-KR" altLang="en-US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작성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D46DB5F-99B5-2DF5-20D0-7D648CF23BBA}"/>
              </a:ext>
            </a:extLst>
          </p:cNvPr>
          <p:cNvSpPr txBox="1"/>
          <p:nvPr/>
        </p:nvSpPr>
        <p:spPr>
          <a:xfrm>
            <a:off x="8331701" y="5908388"/>
            <a:ext cx="13430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20261012</a:t>
            </a:r>
            <a:endParaRPr lang="ko-KR" alt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DB9862D-8354-2B26-3755-E5875B6F5F99}"/>
              </a:ext>
            </a:extLst>
          </p:cNvPr>
          <p:cNvSpPr txBox="1"/>
          <p:nvPr/>
        </p:nvSpPr>
        <p:spPr>
          <a:xfrm>
            <a:off x="10153158" y="5681050"/>
            <a:ext cx="13430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문서</a:t>
            </a:r>
            <a:r>
              <a:rPr lang="ko-KR" altLang="en-US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최종 수정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1762AE9-8E80-5211-7A5B-F60FD5C0C8F2}"/>
              </a:ext>
            </a:extLst>
          </p:cNvPr>
          <p:cNvSpPr txBox="1"/>
          <p:nvPr/>
        </p:nvSpPr>
        <p:spPr>
          <a:xfrm>
            <a:off x="10153158" y="5908388"/>
            <a:ext cx="13430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20261013</a:t>
            </a:r>
            <a:endParaRPr lang="ko-KR" alt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F5D466C-90B9-B6E4-29C9-B8988710CC87}"/>
              </a:ext>
            </a:extLst>
          </p:cNvPr>
          <p:cNvSpPr txBox="1"/>
          <p:nvPr/>
        </p:nvSpPr>
        <p:spPr>
          <a:xfrm>
            <a:off x="8331701" y="6125755"/>
            <a:ext cx="13430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박도원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58EC428-0738-7268-75BF-5B2C8ADB4509}"/>
              </a:ext>
            </a:extLst>
          </p:cNvPr>
          <p:cNvSpPr txBox="1"/>
          <p:nvPr/>
        </p:nvSpPr>
        <p:spPr>
          <a:xfrm>
            <a:off x="10153158" y="6125755"/>
            <a:ext cx="13430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박도원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7CE1F9B-BC50-79D3-2842-5337CC455BE8}"/>
              </a:ext>
            </a:extLst>
          </p:cNvPr>
          <p:cNvSpPr txBox="1"/>
          <p:nvPr/>
        </p:nvSpPr>
        <p:spPr>
          <a:xfrm>
            <a:off x="9578387" y="3269557"/>
            <a:ext cx="188876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NKK </a:t>
            </a:r>
            <a:r>
              <a:rPr lang="ko-KR" altLang="en-US" sz="2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스튜디오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1980111-F950-876F-8A3C-CF017C1D0629}"/>
              </a:ext>
            </a:extLst>
          </p:cNvPr>
          <p:cNvSpPr txBox="1"/>
          <p:nvPr/>
        </p:nvSpPr>
        <p:spPr>
          <a:xfrm>
            <a:off x="9907458" y="3607535"/>
            <a:ext cx="1559698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 팀장 </a:t>
            </a:r>
            <a:r>
              <a:rPr lang="ko-KR" altLang="en-US" sz="16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박송호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r"/>
            <a:r>
              <a:rPr lang="ko-KR" altLang="en-US" sz="16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부팀장</a:t>
            </a: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6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정승운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r"/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팀원 </a:t>
            </a:r>
            <a:r>
              <a:rPr lang="ko-KR" altLang="en-US" sz="16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김규장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r"/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박도원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r"/>
            <a:r>
              <a:rPr lang="ko-KR" altLang="en-US" sz="16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이예성</a:t>
            </a:r>
            <a:endParaRPr lang="ko-KR" altLang="en-US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295DFC10-0916-1978-C9EA-2D391273CF26}"/>
              </a:ext>
            </a:extLst>
          </p:cNvPr>
          <p:cNvCxnSpPr>
            <a:cxnSpLocks/>
          </p:cNvCxnSpPr>
          <p:nvPr/>
        </p:nvCxnSpPr>
        <p:spPr>
          <a:xfrm flipH="1">
            <a:off x="5524500" y="1075469"/>
            <a:ext cx="585661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8E522AC8-AA6F-A240-B228-D3E8956DFD76}"/>
              </a:ext>
            </a:extLst>
          </p:cNvPr>
          <p:cNvSpPr txBox="1"/>
          <p:nvPr/>
        </p:nvSpPr>
        <p:spPr>
          <a:xfrm>
            <a:off x="5452970" y="728373"/>
            <a:ext cx="60287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기맞기획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11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기 기업 협약 프로젝트 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팀 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‘NKK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스튜디오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’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제작</a:t>
            </a:r>
          </a:p>
        </p:txBody>
      </p:sp>
    </p:spTree>
    <p:extLst>
      <p:ext uri="{BB962C8B-B14F-4D97-AF65-F5344CB8AC3E}">
        <p14:creationId xmlns:p14="http://schemas.microsoft.com/office/powerpoint/2010/main" val="26922069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200" b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목차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01" name="TOC 2001"/>
          <p:cNvSpPr/>
          <p:nvPr/>
        </p:nvSpPr>
        <p:spPr>
          <a:xfrm>
            <a:off x="777240" y="1627632"/>
            <a:ext cx="109728" cy="2743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002" name="TOC 2002"/>
          <p:cNvSpPr txBox="1"/>
          <p:nvPr/>
        </p:nvSpPr>
        <p:spPr>
          <a:xfrm>
            <a:off x="978408" y="1517904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ko-KR" altLang="en-US" sz="2000" b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개요</a:t>
            </a:r>
            <a:r>
              <a:rPr lang="ko-KR" altLang="en-US" sz="1400" b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 – 2P</a:t>
            </a:r>
          </a:p>
        </p:txBody>
      </p:sp>
      <p:sp>
        <p:nvSpPr>
          <p:cNvPr id="2003" name="TOC 2003"/>
          <p:cNvSpPr txBox="1"/>
          <p:nvPr/>
        </p:nvSpPr>
        <p:spPr>
          <a:xfrm>
            <a:off x="1143000" y="196596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1. 목차</a:t>
            </a:r>
          </a:p>
        </p:txBody>
      </p:sp>
      <p:sp>
        <p:nvSpPr>
          <p:cNvPr id="2004" name="TOC 2004"/>
          <p:cNvSpPr txBox="1"/>
          <p:nvPr/>
        </p:nvSpPr>
        <p:spPr>
          <a:xfrm>
            <a:off x="3794759" y="1965960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altLang="en-US" sz="11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2005" name="TOC 2005"/>
          <p:cNvSpPr txBox="1"/>
          <p:nvPr/>
        </p:nvSpPr>
        <p:spPr>
          <a:xfrm>
            <a:off x="1143000" y="219456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2. 로그</a:t>
            </a:r>
          </a:p>
        </p:txBody>
      </p:sp>
      <p:sp>
        <p:nvSpPr>
          <p:cNvPr id="2006" name="TOC 2006"/>
          <p:cNvSpPr txBox="1"/>
          <p:nvPr/>
        </p:nvSpPr>
        <p:spPr>
          <a:xfrm>
            <a:off x="3794759" y="2194560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altLang="en-US" sz="11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2007" name="TOC 2007"/>
          <p:cNvSpPr txBox="1"/>
          <p:nvPr/>
        </p:nvSpPr>
        <p:spPr>
          <a:xfrm>
            <a:off x="1143000" y="242316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3. 문서 범위</a:t>
            </a:r>
          </a:p>
        </p:txBody>
      </p:sp>
      <p:sp>
        <p:nvSpPr>
          <p:cNvPr id="2008" name="TOC 2008"/>
          <p:cNvSpPr txBox="1"/>
          <p:nvPr/>
        </p:nvSpPr>
        <p:spPr>
          <a:xfrm>
            <a:off x="3794759" y="2423160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altLang="en-US" sz="11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2009" name="TOC 2009"/>
          <p:cNvSpPr txBox="1"/>
          <p:nvPr/>
        </p:nvSpPr>
        <p:spPr>
          <a:xfrm>
            <a:off x="1143000" y="265176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4. 오브젝트 분류</a:t>
            </a:r>
          </a:p>
        </p:txBody>
      </p:sp>
      <p:sp>
        <p:nvSpPr>
          <p:cNvPr id="2010" name="TOC 2010"/>
          <p:cNvSpPr txBox="1"/>
          <p:nvPr/>
        </p:nvSpPr>
        <p:spPr>
          <a:xfrm>
            <a:off x="3494759" y="2651760"/>
            <a:ext cx="7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altLang="en-US" sz="11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5–6</a:t>
            </a:r>
          </a:p>
        </p:txBody>
      </p:sp>
      <p:sp>
        <p:nvSpPr>
          <p:cNvPr id="2011" name="TOC 2011"/>
          <p:cNvSpPr txBox="1"/>
          <p:nvPr/>
        </p:nvSpPr>
        <p:spPr>
          <a:xfrm>
            <a:off x="1143000" y="288036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5. 용어 정리</a:t>
            </a:r>
          </a:p>
        </p:txBody>
      </p:sp>
      <p:sp>
        <p:nvSpPr>
          <p:cNvPr id="2012" name="TOC 2012"/>
          <p:cNvSpPr txBox="1"/>
          <p:nvPr/>
        </p:nvSpPr>
        <p:spPr>
          <a:xfrm>
            <a:off x="3794759" y="2880360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altLang="en-US" sz="11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7</a:t>
            </a:r>
          </a:p>
        </p:txBody>
      </p:sp>
      <p:sp>
        <p:nvSpPr>
          <p:cNvPr id="2013" name="TOC 2013"/>
          <p:cNvSpPr/>
          <p:nvPr/>
        </p:nvSpPr>
        <p:spPr>
          <a:xfrm>
            <a:off x="777240" y="3319272"/>
            <a:ext cx="109728" cy="2743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014" name="TOC 2014"/>
          <p:cNvSpPr txBox="1"/>
          <p:nvPr/>
        </p:nvSpPr>
        <p:spPr>
          <a:xfrm>
            <a:off x="978408" y="3209544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ko-KR" altLang="en-US" sz="2000" b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수치 규칙</a:t>
            </a:r>
            <a:r>
              <a:rPr lang="ko-KR" altLang="en-US" sz="1400" b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 – 8P</a:t>
            </a:r>
          </a:p>
        </p:txBody>
      </p:sp>
      <p:sp>
        <p:nvSpPr>
          <p:cNvPr id="2015" name="TOC 2015"/>
          <p:cNvSpPr txBox="1"/>
          <p:nvPr/>
        </p:nvSpPr>
        <p:spPr>
          <a:xfrm>
            <a:off x="1143000" y="365760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1. 체력 · 치즈 공식</a:t>
            </a:r>
          </a:p>
        </p:txBody>
      </p:sp>
      <p:sp>
        <p:nvSpPr>
          <p:cNvPr id="2016" name="TOC 2016"/>
          <p:cNvSpPr txBox="1"/>
          <p:nvPr/>
        </p:nvSpPr>
        <p:spPr>
          <a:xfrm>
            <a:off x="3494759" y="3657600"/>
            <a:ext cx="7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altLang="en-US" sz="11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8–9</a:t>
            </a:r>
          </a:p>
        </p:txBody>
      </p:sp>
      <p:sp>
        <p:nvSpPr>
          <p:cNvPr id="2017" name="TOC 2017"/>
          <p:cNvSpPr txBox="1"/>
          <p:nvPr/>
        </p:nvSpPr>
        <p:spPr>
          <a:xfrm>
            <a:off x="1143000" y="388620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2. 층 배율 · 방 거리 배율</a:t>
            </a:r>
          </a:p>
        </p:txBody>
      </p:sp>
      <p:sp>
        <p:nvSpPr>
          <p:cNvPr id="2018" name="TOC 2018"/>
          <p:cNvSpPr txBox="1"/>
          <p:nvPr/>
        </p:nvSpPr>
        <p:spPr>
          <a:xfrm>
            <a:off x="3494759" y="3886200"/>
            <a:ext cx="7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altLang="en-US" sz="11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10–11</a:t>
            </a:r>
          </a:p>
        </p:txBody>
      </p:sp>
      <p:sp>
        <p:nvSpPr>
          <p:cNvPr id="2019" name="TOC 2019"/>
          <p:cNvSpPr/>
          <p:nvPr/>
        </p:nvSpPr>
        <p:spPr>
          <a:xfrm>
            <a:off x="4526280" y="1627632"/>
            <a:ext cx="109728" cy="2743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020" name="TOC 2020"/>
          <p:cNvSpPr txBox="1"/>
          <p:nvPr/>
        </p:nvSpPr>
        <p:spPr>
          <a:xfrm>
            <a:off x="4727448" y="1517904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ko-KR" altLang="en-US" sz="2000" b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생성 · 보상</a:t>
            </a:r>
            <a:r>
              <a:rPr lang="ko-KR" altLang="en-US" sz="1400" b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 – 12P</a:t>
            </a:r>
          </a:p>
        </p:txBody>
      </p:sp>
      <p:sp>
        <p:nvSpPr>
          <p:cNvPr id="2021" name="TOC 2021"/>
          <p:cNvSpPr txBox="1"/>
          <p:nvPr/>
        </p:nvSpPr>
        <p:spPr>
          <a:xfrm>
            <a:off x="4892040" y="196596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1. 물건 보충 · 로켓배송</a:t>
            </a:r>
          </a:p>
        </p:txBody>
      </p:sp>
      <p:sp>
        <p:nvSpPr>
          <p:cNvPr id="2022" name="TOC 2022"/>
          <p:cNvSpPr txBox="1"/>
          <p:nvPr/>
        </p:nvSpPr>
        <p:spPr>
          <a:xfrm>
            <a:off x="7243799" y="1965960"/>
            <a:ext cx="7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altLang="en-US" sz="11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12–13</a:t>
            </a:r>
          </a:p>
        </p:txBody>
      </p:sp>
      <p:sp>
        <p:nvSpPr>
          <p:cNvPr id="2023" name="TOC 2023"/>
          <p:cNvSpPr txBox="1"/>
          <p:nvPr/>
        </p:nvSpPr>
        <p:spPr>
          <a:xfrm>
            <a:off x="4892040" y="219456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2. 가구 배치</a:t>
            </a:r>
          </a:p>
        </p:txBody>
      </p:sp>
      <p:sp>
        <p:nvSpPr>
          <p:cNvPr id="2024" name="TOC 2024"/>
          <p:cNvSpPr txBox="1"/>
          <p:nvPr/>
        </p:nvSpPr>
        <p:spPr>
          <a:xfrm>
            <a:off x="7243799" y="2194560"/>
            <a:ext cx="7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altLang="en-US" sz="11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14–15</a:t>
            </a:r>
          </a:p>
        </p:txBody>
      </p:sp>
      <p:sp>
        <p:nvSpPr>
          <p:cNvPr id="2025" name="TOC 2025"/>
          <p:cNvSpPr txBox="1"/>
          <p:nvPr/>
        </p:nvSpPr>
        <p:spPr>
          <a:xfrm>
            <a:off x="4892040" y="242316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3. 치즈 보상</a:t>
            </a:r>
          </a:p>
        </p:txBody>
      </p:sp>
      <p:sp>
        <p:nvSpPr>
          <p:cNvPr id="2026" name="TOC 2026"/>
          <p:cNvSpPr txBox="1"/>
          <p:nvPr/>
        </p:nvSpPr>
        <p:spPr>
          <a:xfrm>
            <a:off x="7243799" y="2423160"/>
            <a:ext cx="7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altLang="en-US" sz="11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16–17</a:t>
            </a:r>
          </a:p>
        </p:txBody>
      </p:sp>
      <p:sp>
        <p:nvSpPr>
          <p:cNvPr id="2027" name="TOC 2027"/>
          <p:cNvSpPr txBox="1"/>
          <p:nvPr/>
        </p:nvSpPr>
        <p:spPr>
          <a:xfrm>
            <a:off x="4892040" y="265176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4. 연구자료 · 쏟아짐 · 황금 물건</a:t>
            </a:r>
          </a:p>
        </p:txBody>
      </p:sp>
      <p:sp>
        <p:nvSpPr>
          <p:cNvPr id="2028" name="TOC 2028"/>
          <p:cNvSpPr txBox="1"/>
          <p:nvPr/>
        </p:nvSpPr>
        <p:spPr>
          <a:xfrm>
            <a:off x="7243799" y="2651760"/>
            <a:ext cx="7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altLang="en-US" sz="11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18–19</a:t>
            </a:r>
          </a:p>
        </p:txBody>
      </p:sp>
      <p:sp>
        <p:nvSpPr>
          <p:cNvPr id="2029" name="TOC 2029"/>
          <p:cNvSpPr txBox="1"/>
          <p:nvPr/>
        </p:nvSpPr>
        <p:spPr>
          <a:xfrm>
            <a:off x="4892040" y="288036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5. 공용 스킬 연동</a:t>
            </a:r>
          </a:p>
        </p:txBody>
      </p:sp>
      <p:sp>
        <p:nvSpPr>
          <p:cNvPr id="2030" name="TOC 2030"/>
          <p:cNvSpPr txBox="1"/>
          <p:nvPr/>
        </p:nvSpPr>
        <p:spPr>
          <a:xfrm>
            <a:off x="7243799" y="2880360"/>
            <a:ext cx="7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altLang="en-US" sz="11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20–21</a:t>
            </a:r>
          </a:p>
        </p:txBody>
      </p:sp>
      <p:sp>
        <p:nvSpPr>
          <p:cNvPr id="2031" name="TOC 2031"/>
          <p:cNvSpPr/>
          <p:nvPr/>
        </p:nvSpPr>
        <p:spPr>
          <a:xfrm>
            <a:off x="4526280" y="3319272"/>
            <a:ext cx="109728" cy="2743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032" name="TOC 2032"/>
          <p:cNvSpPr txBox="1"/>
          <p:nvPr/>
        </p:nvSpPr>
        <p:spPr>
          <a:xfrm>
            <a:off x="4727448" y="3209544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ko-KR" altLang="en-US" sz="2000" b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오브젝트 명세</a:t>
            </a:r>
            <a:r>
              <a:rPr lang="ko-KR" altLang="en-US" sz="1400" b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 – 22P</a:t>
            </a:r>
          </a:p>
        </p:txBody>
      </p:sp>
      <p:sp>
        <p:nvSpPr>
          <p:cNvPr id="2033" name="TOC 2033"/>
          <p:cNvSpPr txBox="1"/>
          <p:nvPr/>
        </p:nvSpPr>
        <p:spPr>
          <a:xfrm>
            <a:off x="4892040" y="365760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1. 일반 물건 (1)</a:t>
            </a:r>
          </a:p>
        </p:txBody>
      </p:sp>
      <p:sp>
        <p:nvSpPr>
          <p:cNvPr id="2034" name="TOC 2034"/>
          <p:cNvSpPr txBox="1"/>
          <p:nvPr/>
        </p:nvSpPr>
        <p:spPr>
          <a:xfrm>
            <a:off x="7543799" y="3657600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altLang="en-US" sz="11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22</a:t>
            </a:r>
          </a:p>
        </p:txBody>
      </p:sp>
      <p:sp>
        <p:nvSpPr>
          <p:cNvPr id="2035" name="TOC 2035"/>
          <p:cNvSpPr txBox="1"/>
          <p:nvPr/>
        </p:nvSpPr>
        <p:spPr>
          <a:xfrm>
            <a:off x="4892040" y="388620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2. 일반 물건 (2)</a:t>
            </a:r>
          </a:p>
        </p:txBody>
      </p:sp>
      <p:sp>
        <p:nvSpPr>
          <p:cNvPr id="2036" name="TOC 2036"/>
          <p:cNvSpPr txBox="1"/>
          <p:nvPr/>
        </p:nvSpPr>
        <p:spPr>
          <a:xfrm>
            <a:off x="7243799" y="3886200"/>
            <a:ext cx="7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altLang="en-US" sz="11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23–24</a:t>
            </a:r>
          </a:p>
        </p:txBody>
      </p:sp>
      <p:sp>
        <p:nvSpPr>
          <p:cNvPr id="2037" name="TOC 2037"/>
          <p:cNvSpPr txBox="1"/>
          <p:nvPr/>
        </p:nvSpPr>
        <p:spPr>
          <a:xfrm>
            <a:off x="4892040" y="411480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3. 보물</a:t>
            </a:r>
          </a:p>
        </p:txBody>
      </p:sp>
      <p:sp>
        <p:nvSpPr>
          <p:cNvPr id="2038" name="TOC 2038"/>
          <p:cNvSpPr txBox="1"/>
          <p:nvPr/>
        </p:nvSpPr>
        <p:spPr>
          <a:xfrm>
            <a:off x="7543799" y="4114800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altLang="en-US" sz="11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25</a:t>
            </a:r>
          </a:p>
        </p:txBody>
      </p:sp>
      <p:sp>
        <p:nvSpPr>
          <p:cNvPr id="2039" name="TOC 2039"/>
          <p:cNvSpPr txBox="1"/>
          <p:nvPr/>
        </p:nvSpPr>
        <p:spPr>
          <a:xfrm>
            <a:off x="4892040" y="434340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4. 가구</a:t>
            </a:r>
          </a:p>
        </p:txBody>
      </p:sp>
      <p:sp>
        <p:nvSpPr>
          <p:cNvPr id="2040" name="TOC 2040"/>
          <p:cNvSpPr txBox="1"/>
          <p:nvPr/>
        </p:nvSpPr>
        <p:spPr>
          <a:xfrm>
            <a:off x="7243799" y="4343400"/>
            <a:ext cx="7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altLang="en-US" sz="11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26–27</a:t>
            </a:r>
          </a:p>
        </p:txBody>
      </p:sp>
      <p:sp>
        <p:nvSpPr>
          <p:cNvPr id="2041" name="TOC 2041"/>
          <p:cNvSpPr txBox="1"/>
          <p:nvPr/>
        </p:nvSpPr>
        <p:spPr>
          <a:xfrm>
            <a:off x="4892040" y="457200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5. 쏟아짐 물건</a:t>
            </a:r>
          </a:p>
        </p:txBody>
      </p:sp>
      <p:sp>
        <p:nvSpPr>
          <p:cNvPr id="2042" name="TOC 2042"/>
          <p:cNvSpPr txBox="1"/>
          <p:nvPr/>
        </p:nvSpPr>
        <p:spPr>
          <a:xfrm>
            <a:off x="7243799" y="4572000"/>
            <a:ext cx="7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altLang="en-US" sz="11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28–29</a:t>
            </a:r>
          </a:p>
        </p:txBody>
      </p:sp>
      <p:sp>
        <p:nvSpPr>
          <p:cNvPr id="2043" name="TOC 2043"/>
          <p:cNvSpPr txBox="1"/>
          <p:nvPr/>
        </p:nvSpPr>
        <p:spPr>
          <a:xfrm>
            <a:off x="4892040" y="480060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6. 사람</a:t>
            </a:r>
          </a:p>
        </p:txBody>
      </p:sp>
      <p:sp>
        <p:nvSpPr>
          <p:cNvPr id="2044" name="TOC 2044"/>
          <p:cNvSpPr txBox="1"/>
          <p:nvPr/>
        </p:nvSpPr>
        <p:spPr>
          <a:xfrm>
            <a:off x="7243799" y="4800600"/>
            <a:ext cx="7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altLang="en-US" sz="11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30–31</a:t>
            </a:r>
          </a:p>
        </p:txBody>
      </p:sp>
      <p:sp>
        <p:nvSpPr>
          <p:cNvPr id="2045" name="TOC 2045"/>
          <p:cNvSpPr txBox="1"/>
          <p:nvPr/>
        </p:nvSpPr>
        <p:spPr>
          <a:xfrm>
            <a:off x="4892040" y="502920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7. 벽 · 계단 · 쥐덫</a:t>
            </a:r>
          </a:p>
        </p:txBody>
      </p:sp>
      <p:sp>
        <p:nvSpPr>
          <p:cNvPr id="2046" name="TOC 2046"/>
          <p:cNvSpPr txBox="1"/>
          <p:nvPr/>
        </p:nvSpPr>
        <p:spPr>
          <a:xfrm>
            <a:off x="7243799" y="5029200"/>
            <a:ext cx="7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altLang="en-US" sz="11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32–33</a:t>
            </a:r>
          </a:p>
        </p:txBody>
      </p:sp>
      <p:sp>
        <p:nvSpPr>
          <p:cNvPr id="2047" name="TOC 2047"/>
          <p:cNvSpPr txBox="1"/>
          <p:nvPr/>
        </p:nvSpPr>
        <p:spPr>
          <a:xfrm>
            <a:off x="4892040" y="525780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8. 층별 출현 구성</a:t>
            </a:r>
          </a:p>
        </p:txBody>
      </p:sp>
      <p:sp>
        <p:nvSpPr>
          <p:cNvPr id="2048" name="TOC 2048"/>
          <p:cNvSpPr txBox="1"/>
          <p:nvPr/>
        </p:nvSpPr>
        <p:spPr>
          <a:xfrm>
            <a:off x="7243799" y="5257800"/>
            <a:ext cx="7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altLang="en-US" sz="11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34–35</a:t>
            </a:r>
          </a:p>
        </p:txBody>
      </p:sp>
      <p:sp>
        <p:nvSpPr>
          <p:cNvPr id="2049" name="TOC 2049"/>
          <p:cNvSpPr txBox="1"/>
          <p:nvPr/>
        </p:nvSpPr>
        <p:spPr>
          <a:xfrm>
            <a:off x="4892040" y="548640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9. 층별 실제 값</a:t>
            </a:r>
          </a:p>
        </p:txBody>
      </p:sp>
      <p:sp>
        <p:nvSpPr>
          <p:cNvPr id="2050" name="TOC 2050"/>
          <p:cNvSpPr txBox="1"/>
          <p:nvPr/>
        </p:nvSpPr>
        <p:spPr>
          <a:xfrm>
            <a:off x="7543799" y="5486400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altLang="en-US" sz="11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36</a:t>
            </a:r>
          </a:p>
        </p:txBody>
      </p:sp>
      <p:sp>
        <p:nvSpPr>
          <p:cNvPr id="2051" name="TOC 2051"/>
          <p:cNvSpPr/>
          <p:nvPr/>
        </p:nvSpPr>
        <p:spPr>
          <a:xfrm>
            <a:off x="8275320" y="1627632"/>
            <a:ext cx="109728" cy="2743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052" name="TOC 2052"/>
          <p:cNvSpPr txBox="1"/>
          <p:nvPr/>
        </p:nvSpPr>
        <p:spPr>
          <a:xfrm>
            <a:off x="8476488" y="1517904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ko-KR" altLang="en-US" sz="2000" b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가이드라인</a:t>
            </a:r>
            <a:r>
              <a:rPr lang="ko-KR" altLang="en-US" sz="1400" b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 – 37P</a:t>
            </a:r>
          </a:p>
        </p:txBody>
      </p:sp>
      <p:sp>
        <p:nvSpPr>
          <p:cNvPr id="2053" name="TOC 2053"/>
          <p:cNvSpPr txBox="1"/>
          <p:nvPr/>
        </p:nvSpPr>
        <p:spPr>
          <a:xfrm>
            <a:off x="8641080" y="196596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1. 신규 오브젝트 추가 절차</a:t>
            </a:r>
          </a:p>
        </p:txBody>
      </p:sp>
      <p:sp>
        <p:nvSpPr>
          <p:cNvPr id="2054" name="TOC 2054"/>
          <p:cNvSpPr txBox="1"/>
          <p:nvPr/>
        </p:nvSpPr>
        <p:spPr>
          <a:xfrm>
            <a:off x="11292839" y="1965960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altLang="en-US" sz="11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37</a:t>
            </a:r>
          </a:p>
        </p:txBody>
      </p:sp>
      <p:sp>
        <p:nvSpPr>
          <p:cNvPr id="2055" name="TOC 2055"/>
          <p:cNvSpPr txBox="1"/>
          <p:nvPr/>
        </p:nvSpPr>
        <p:spPr>
          <a:xfrm>
            <a:off x="8641080" y="219456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2. 분류별 기준 범위</a:t>
            </a:r>
          </a:p>
        </p:txBody>
      </p:sp>
      <p:sp>
        <p:nvSpPr>
          <p:cNvPr id="2056" name="TOC 2056"/>
          <p:cNvSpPr txBox="1"/>
          <p:nvPr/>
        </p:nvSpPr>
        <p:spPr>
          <a:xfrm>
            <a:off x="10992839" y="2194560"/>
            <a:ext cx="7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altLang="en-US" sz="11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38–39</a:t>
            </a:r>
          </a:p>
        </p:txBody>
      </p:sp>
      <p:sp>
        <p:nvSpPr>
          <p:cNvPr id="2057" name="TOC 2057"/>
          <p:cNvSpPr txBox="1"/>
          <p:nvPr/>
        </p:nvSpPr>
        <p:spPr>
          <a:xfrm>
            <a:off x="8641080" y="242316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3. 물건 테이블 작성 규칙</a:t>
            </a:r>
          </a:p>
        </p:txBody>
      </p:sp>
      <p:sp>
        <p:nvSpPr>
          <p:cNvPr id="2058" name="TOC 2058"/>
          <p:cNvSpPr txBox="1"/>
          <p:nvPr/>
        </p:nvSpPr>
        <p:spPr>
          <a:xfrm>
            <a:off x="11292839" y="2423160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altLang="en-US" sz="11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40</a:t>
            </a:r>
          </a:p>
        </p:txBody>
      </p:sp>
      <p:sp>
        <p:nvSpPr>
          <p:cNvPr id="2059" name="TOC 2059"/>
          <p:cNvSpPr txBox="1"/>
          <p:nvPr/>
        </p:nvSpPr>
        <p:spPr>
          <a:xfrm>
            <a:off x="8641080" y="265176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4. 검증 체크리스트</a:t>
            </a:r>
          </a:p>
        </p:txBody>
      </p:sp>
      <p:sp>
        <p:nvSpPr>
          <p:cNvPr id="2060" name="TOC 2060"/>
          <p:cNvSpPr txBox="1"/>
          <p:nvPr/>
        </p:nvSpPr>
        <p:spPr>
          <a:xfrm>
            <a:off x="10992839" y="2651760"/>
            <a:ext cx="7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altLang="en-US" sz="11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41–42</a:t>
            </a:r>
          </a:p>
        </p:txBody>
      </p:sp>
      <p:sp>
        <p:nvSpPr>
          <p:cNvPr id="2061" name="TOC 2061"/>
          <p:cNvSpPr/>
          <p:nvPr/>
        </p:nvSpPr>
        <p:spPr>
          <a:xfrm>
            <a:off x="8275320" y="3090672"/>
            <a:ext cx="109728" cy="2743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062" name="TOC 2062"/>
          <p:cNvSpPr txBox="1"/>
          <p:nvPr/>
        </p:nvSpPr>
        <p:spPr>
          <a:xfrm>
            <a:off x="8476488" y="2980944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ko-KR" altLang="en-US" sz="2000" b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검증</a:t>
            </a:r>
            <a:r>
              <a:rPr lang="ko-KR" altLang="en-US" sz="1400" b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 – 43P</a:t>
            </a:r>
          </a:p>
        </p:txBody>
      </p:sp>
      <p:sp>
        <p:nvSpPr>
          <p:cNvPr id="2063" name="TOC 2063"/>
          <p:cNvSpPr txBox="1"/>
          <p:nvPr/>
        </p:nvSpPr>
        <p:spPr>
          <a:xfrm>
            <a:off x="8641080" y="342900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1. 기획 · 구현 차이와 남은 결정</a:t>
            </a:r>
          </a:p>
        </p:txBody>
      </p:sp>
      <p:sp>
        <p:nvSpPr>
          <p:cNvPr id="2064" name="TOC 2064"/>
          <p:cNvSpPr txBox="1"/>
          <p:nvPr/>
        </p:nvSpPr>
        <p:spPr>
          <a:xfrm>
            <a:off x="11292839" y="3429000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altLang="en-US" sz="11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43</a:t>
            </a:r>
          </a:p>
        </p:txBody>
      </p:sp>
      <p:sp>
        <p:nvSpPr>
          <p:cNvPr id="3000" name="TextBox 3000"/>
          <p:cNvSpPr txBox="1"/>
          <p:nvPr/>
        </p:nvSpPr>
        <p:spPr>
          <a:xfrm>
            <a:off x="8476488" y="5100000"/>
            <a:ext cx="34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ko-KR" altLang="en-US" sz="9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페이지 범위(예: 9–10) = 표 · 줄글 페이지 + 바로 뒤 그림 설명 페이지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200" b="0">
                <a:latin typeface="Noto Sans KR Black"/>
                <a:ea typeface="Noto Sans KR Black"/>
                <a:cs typeface="Noto Sans KR Black"/>
              </a:rPr>
              <a:t>개요</a:t>
            </a:r>
            <a:r>
              <a:rPr lang="ko-KR" altLang="en-US" sz="2400" b="0">
                <a:latin typeface="Noto Sans KR Black"/>
                <a:ea typeface="Noto Sans KR Black"/>
                <a:cs typeface="Noto Sans KR Black"/>
              </a:rPr>
              <a:t> – 로그</a:t>
            </a:r>
          </a:p>
        </p:txBody>
      </p:sp>
      <p:cxnSp>
        <p:nvCxnSpPr>
          <p:cNvPr id="3" name="제목 밑줄"/>
          <p:cNvCxnSpPr/>
          <p:nvPr/>
        </p:nvCxnSpPr>
        <p:spPr>
          <a:xfrm>
            <a:off x="1133475" y="1320596"/>
            <a:ext cx="5856612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1840666"/>
              </p:ext>
            </p:extLst>
          </p:nvPr>
        </p:nvGraphicFramePr>
        <p:xfrm>
          <a:off x="1353312" y="1645920"/>
          <a:ext cx="9482328" cy="51297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531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b="1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순번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b="1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작성일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b="1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작성자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b="1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작성 내용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b="1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비고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2026-10-12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박도원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문서 최초 작성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3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현재 구현 기준 오브젝트 명세(물건 · 보물 · 가구 · 쏟아짐 · 사람 · 벽 · 계단 · 쥐덫), 생성 · 보상 규칙, 신규 오브젝트 추가 가이드라인 작성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2026-10-13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박도원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시각 자료 추가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3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그림 설명 페이지 16장 추가 (분류 한눈에 보기 · 계산 예시 · 효율 그래프 · 생성 타임라인 · 배치도 · 도감 · 연결도 · 지형 예시 · 추가 예시 등), 기존 페이지 유지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2026-10-13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박도원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데이터 갱신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3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10-13 게임 데이터 반영 (스테이지 층 배율 · 방 수 · 층 유형, 층 돌파 연구자료 = research 칸, 마지막 층 30층, 사람 몸 전체 피격), 치즈 운석 노드 '미연결' 기록 정정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200" b="0" dirty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개요</a:t>
            </a:r>
            <a:r>
              <a:rPr lang="ko-KR" altLang="en-US" sz="2400" b="0" dirty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문서 범위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1"/>
          <p:cNvSpPr/>
          <p:nvPr/>
        </p:nvSpPr>
        <p:spPr>
          <a:xfrm>
            <a:off x="1133856" y="1330977"/>
            <a:ext cx="9966960" cy="502920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lIns="109728" tIns="36576" rIns="109728" bIns="36576" rtlCol="0" anchor="ctr"/>
          <a:lstStyle/>
          <a:p>
            <a:pPr algn="l">
              <a:spcAft>
                <a:spcPts val="300"/>
              </a:spcAft>
              <a:buNone/>
            </a:pPr>
            <a:r>
              <a:rPr lang="ko-KR" altLang="en-US" sz="14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현재 게임에 구현된 오브젝트의 명세 · 규칙과 신규 오브젝트 추가 기준</a:t>
            </a:r>
          </a:p>
        </p:txBody>
      </p:sp>
      <p:graphicFrame>
        <p:nvGraphicFramePr>
          <p:cNvPr id="12" name="Table 12"/>
          <p:cNvGraphicFramePr>
            <a:graphicFrameLocks noGrp="1"/>
          </p:cNvGraphicFramePr>
          <p:nvPr/>
        </p:nvGraphicFramePr>
        <p:xfrm>
          <a:off x="1133856" y="1950000"/>
          <a:ext cx="9966960" cy="29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27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881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861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구분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다루는 내용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데이터 위치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물건 · 보물 · 쏟아짐 · 가구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60종 명세, 등장 층, 생성 · 파괴 보상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물건 테이블 Item · Furniture_Layout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사람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4종 명세, 등장 · 행동 · 보상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사람 테이블 Human · Human_Line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층 배율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층별 체력 · 치즈 배율, 방 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스테이지 테이블 Stage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해금 · 보정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신규 물건 출현 · 황금 물건 · 물건 수 노드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공용 스킬 테이블 Common_Skill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생성 · 보상 로직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보충 주기 · 상한 · 콤보 · 연구자료 확률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ItemManager · Research · GameManager · Heist (Game 씬 인스펙터)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벽 · 계단 · 쥐덫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체력 · 등장 · 효과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StageManager · Trap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3" name="TextBox 13"/>
          <p:cNvSpPr txBox="1"/>
          <p:nvPr/>
        </p:nvSpPr>
        <p:spPr>
          <a:xfrm>
            <a:off x="1133856" y="5140000"/>
            <a:ext cx="9966960" cy="10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ko-KR" altLang="en-US" sz="11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수치 기준 = 2026-10-13 유니티 프로젝트 (엑셀 → JSON 변환본 · Game 씬 인스펙터 값)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ko-KR" altLang="en-US" sz="11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기획(10-08 오브젝트 기획서)과 구현이 다른 부분은 구현 기준으로 기록, 차이는 마지막 장 「남은 결정」에 정리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ko-KR" altLang="en-US" sz="11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고양이 · 보스는 쥐를 방해하는 위험 요소로 제외 (층 별 허들 기획서 · 보스 테이블에서 다룸)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200" b="0" dirty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개요</a:t>
            </a:r>
            <a:r>
              <a:rPr lang="ko-KR" altLang="en-US" sz="2400" b="0" dirty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오브젝트 분류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1"/>
          <p:cNvSpPr/>
          <p:nvPr/>
        </p:nvSpPr>
        <p:spPr>
          <a:xfrm>
            <a:off x="1133856" y="1330977"/>
            <a:ext cx="9966960" cy="502920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lIns="109728" tIns="36576" rIns="109728" bIns="36576" rtlCol="0" anchor="ctr"/>
          <a:lstStyle/>
          <a:p>
            <a:pPr algn="l">
              <a:spcAft>
                <a:spcPts val="300"/>
              </a:spcAft>
              <a:buNone/>
            </a:pPr>
            <a:r>
              <a:rPr lang="ko-KR" altLang="en-US" sz="14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생성 방식과 플레이어가 부수는 이유로 나눈 6가지 분류</a:t>
            </a:r>
          </a:p>
        </p:txBody>
      </p:sp>
      <p:graphicFrame>
        <p:nvGraphicFramePr>
          <p:cNvPr id="12" name="Table 12"/>
          <p:cNvGraphicFramePr>
            <a:graphicFrameLocks noGrp="1"/>
          </p:cNvGraphicFramePr>
          <p:nvPr/>
        </p:nvGraphicFramePr>
        <p:xfrm>
          <a:off x="1133856" y="1950000"/>
          <a:ext cx="9966960" cy="29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86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44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277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671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589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분류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종 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생성 방식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역할 · 부수는 이유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치즈 효율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일반 물건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1.2초마다 자동 보충 · 로켓배송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기본 수입원 · 날아가며 연쇄 충돌을 만드는 재료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0.75~1.33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보물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자동 보충 (공용 스킬 해금 시)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로비 투자 보상 · 드물게 보이는 고가치 표적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1.00~2.00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가구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방이 열릴 때 테마별 배치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방마다 한 번뿐인 보너스 상자 · 연구자료 12%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0.62~0.79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쏟아짐 물건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가구 · 대형 물건 · 보물 박살 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박살 직후의 덤 · 콤보 연결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1.25~5.00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사람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층 시작 · 방 열림 · 주기 보충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도망치는 표적 · 박치기로 볼링 연출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1.14~1.33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벽 · 계단 · 쥐덫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층 지형 생성 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진행 수단(벽 · 계단) · 방해 요소(쥐덫)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3" name="TextBox 13"/>
          <p:cNvSpPr txBox="1"/>
          <p:nvPr/>
        </p:nvSpPr>
        <p:spPr>
          <a:xfrm>
            <a:off x="1133856" y="5010000"/>
            <a:ext cx="9966960" cy="23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ko-KR" altLang="en-US" sz="10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치즈 효율 = 치즈 배율 ÷ 체력 배율 (1층 플라스크 = 1.00 기준) · 사람은 코드 배수(체력 ×3 · 치즈 ×2) 반영값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200" b="0" dirty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개요</a:t>
            </a:r>
            <a:r>
              <a:rPr lang="ko-KR" altLang="en-US" sz="2400" b="0" dirty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오브젝트 분류 한눈에 보기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1"/>
          <p:cNvSpPr/>
          <p:nvPr/>
        </p:nvSpPr>
        <p:spPr>
          <a:xfrm>
            <a:off x="1133856" y="1330977"/>
            <a:ext cx="9966960" cy="502920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lIns="109728" tIns="36576" rIns="109728" bIns="36576" rtlCol="0" anchor="ctr"/>
          <a:lstStyle/>
          <a:p>
            <a:pPr algn="l">
              <a:spcAft>
                <a:spcPts val="300"/>
              </a:spcAft>
              <a:buNone/>
            </a:pPr>
            <a:r>
              <a:rPr lang="ko-KR" altLang="en-US" sz="14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분류마다 대표 오브젝트 · 생성 방식 · 치즈 효율</a:t>
            </a:r>
          </a:p>
        </p:txBody>
      </p:sp>
      <p:sp>
        <p:nvSpPr>
          <p:cNvPr id="12" name="Shape 12"/>
          <p:cNvSpPr/>
          <p:nvPr/>
        </p:nvSpPr>
        <p:spPr>
          <a:xfrm>
            <a:off x="1133856" y="1950000"/>
            <a:ext cx="3188986" cy="21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13" name="Shape 13"/>
          <p:cNvSpPr/>
          <p:nvPr/>
        </p:nvSpPr>
        <p:spPr>
          <a:xfrm>
            <a:off x="1133856" y="1950000"/>
            <a:ext cx="3188986" cy="380000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일반 물건  ·  24종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9598" y="2430000"/>
            <a:ext cx="585762" cy="9000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1102" y="2507855"/>
            <a:ext cx="677246" cy="822145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8348" y="2826959"/>
            <a:ext cx="677246" cy="503041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5594" y="2713264"/>
            <a:ext cx="677246" cy="616736"/>
          </a:xfrm>
          <a:prstGeom prst="rect">
            <a:avLst/>
          </a:prstGeom>
        </p:spPr>
      </p:pic>
      <p:sp>
        <p:nvSpPr>
          <p:cNvPr id="18" name="Shape 18"/>
          <p:cNvSpPr/>
          <p:nvPr/>
        </p:nvSpPr>
        <p:spPr>
          <a:xfrm>
            <a:off x="1133856" y="3400000"/>
            <a:ext cx="3188986" cy="65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11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1.2초마다 자동 보충 · 로켓배송</a:t>
            </a:r>
          </a:p>
          <a:p>
            <a:pPr algn="ctr"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치즈 효율 0.75~1.33</a:t>
            </a:r>
          </a:p>
        </p:txBody>
      </p:sp>
      <p:sp>
        <p:nvSpPr>
          <p:cNvPr id="19" name="Shape 19"/>
          <p:cNvSpPr/>
          <p:nvPr/>
        </p:nvSpPr>
        <p:spPr>
          <a:xfrm>
            <a:off x="4522842" y="1950000"/>
            <a:ext cx="3188986" cy="21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20" name="Shape 20"/>
          <p:cNvSpPr/>
          <p:nvPr/>
        </p:nvSpPr>
        <p:spPr>
          <a:xfrm>
            <a:off x="4522842" y="1950000"/>
            <a:ext cx="3188986" cy="3800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보물  ·  8종</a:t>
            </a: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2842" y="2557304"/>
            <a:ext cx="677246" cy="772696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80088" y="2465486"/>
            <a:ext cx="677246" cy="864514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77334" y="2560888"/>
            <a:ext cx="677246" cy="769112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14507" y="2430000"/>
            <a:ext cx="597391" cy="900000"/>
          </a:xfrm>
          <a:prstGeom prst="rect">
            <a:avLst/>
          </a:prstGeom>
        </p:spPr>
      </p:pic>
      <p:sp>
        <p:nvSpPr>
          <p:cNvPr id="25" name="Shape 25"/>
          <p:cNvSpPr/>
          <p:nvPr/>
        </p:nvSpPr>
        <p:spPr>
          <a:xfrm>
            <a:off x="4522842" y="3400000"/>
            <a:ext cx="3188986" cy="65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11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공용 스킬 해금 후 자동 보충</a:t>
            </a:r>
          </a:p>
          <a:p>
            <a:pPr algn="ctr"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치즈 효율 1.00~2.00</a:t>
            </a:r>
          </a:p>
        </p:txBody>
      </p:sp>
      <p:sp>
        <p:nvSpPr>
          <p:cNvPr id="26" name="Shape 26"/>
          <p:cNvSpPr/>
          <p:nvPr/>
        </p:nvSpPr>
        <p:spPr>
          <a:xfrm>
            <a:off x="7911828" y="1950000"/>
            <a:ext cx="3188986" cy="21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27" name="Shape 27"/>
          <p:cNvSpPr/>
          <p:nvPr/>
        </p:nvSpPr>
        <p:spPr>
          <a:xfrm>
            <a:off x="7911828" y="1950000"/>
            <a:ext cx="3188986" cy="380000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가구  ·  12종</a:t>
            </a: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85066" y="2430000"/>
            <a:ext cx="650769" cy="900000"/>
          </a:xfrm>
          <a:prstGeom prst="rect">
            <a:avLst/>
          </a:prstGeom>
        </p:spPr>
      </p:pic>
      <p:pic>
        <p:nvPicPr>
          <p:cNvPr id="29" name="Picture 2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784656" y="2430000"/>
            <a:ext cx="646081" cy="900000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566320" y="2887331"/>
            <a:ext cx="677246" cy="442669"/>
          </a:xfrm>
          <a:prstGeom prst="rect">
            <a:avLst/>
          </a:prstGeom>
        </p:spPr>
      </p:pic>
      <p:pic>
        <p:nvPicPr>
          <p:cNvPr id="31" name="Picture 3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363566" y="2756196"/>
            <a:ext cx="677246" cy="573804"/>
          </a:xfrm>
          <a:prstGeom prst="rect">
            <a:avLst/>
          </a:prstGeom>
        </p:spPr>
      </p:pic>
      <p:sp>
        <p:nvSpPr>
          <p:cNvPr id="32" name="Shape 32"/>
          <p:cNvSpPr/>
          <p:nvPr/>
        </p:nvSpPr>
        <p:spPr>
          <a:xfrm>
            <a:off x="7911828" y="3400000"/>
            <a:ext cx="3188986" cy="65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11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방이 열릴 때 테마별 배치</a:t>
            </a:r>
          </a:p>
          <a:p>
            <a:pPr algn="ctr"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치즈 효율 0.62~0.79 · 연구자료 12%</a:t>
            </a:r>
          </a:p>
        </p:txBody>
      </p:sp>
      <p:sp>
        <p:nvSpPr>
          <p:cNvPr id="33" name="Shape 33"/>
          <p:cNvSpPr/>
          <p:nvPr/>
        </p:nvSpPr>
        <p:spPr>
          <a:xfrm>
            <a:off x="1133856" y="4300000"/>
            <a:ext cx="3188986" cy="21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34" name="Shape 34"/>
          <p:cNvSpPr/>
          <p:nvPr/>
        </p:nvSpPr>
        <p:spPr>
          <a:xfrm>
            <a:off x="1133856" y="4300000"/>
            <a:ext cx="3188986" cy="380000"/>
          </a:xfrm>
          <a:prstGeom prst="rect">
            <a:avLst/>
          </a:prstGeom>
          <a:solidFill>
            <a:srgbClr val="F4B183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쏟아짐 물건  ·  16종</a:t>
            </a:r>
          </a:p>
        </p:txBody>
      </p:sp>
      <p:pic>
        <p:nvPicPr>
          <p:cNvPr id="35" name="Picture 3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93856" y="5213185"/>
            <a:ext cx="677246" cy="466815"/>
          </a:xfrm>
          <a:prstGeom prst="rect">
            <a:avLst/>
          </a:prstGeom>
        </p:spPr>
      </p:pic>
      <p:pic>
        <p:nvPicPr>
          <p:cNvPr id="36" name="Picture 36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991102" y="5124881"/>
            <a:ext cx="677246" cy="555119"/>
          </a:xfrm>
          <a:prstGeom prst="rect">
            <a:avLst/>
          </a:prstGeom>
        </p:spPr>
      </p:pic>
      <p:pic>
        <p:nvPicPr>
          <p:cNvPr id="37" name="Picture 37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871023" y="4780000"/>
            <a:ext cx="511895" cy="900000"/>
          </a:xfrm>
          <a:prstGeom prst="rect">
            <a:avLst/>
          </a:prstGeom>
        </p:spPr>
      </p:pic>
      <p:pic>
        <p:nvPicPr>
          <p:cNvPr id="38" name="Picture 38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585594" y="5096491"/>
            <a:ext cx="677246" cy="583509"/>
          </a:xfrm>
          <a:prstGeom prst="rect">
            <a:avLst/>
          </a:prstGeom>
        </p:spPr>
      </p:pic>
      <p:sp>
        <p:nvSpPr>
          <p:cNvPr id="39" name="Shape 39"/>
          <p:cNvSpPr/>
          <p:nvPr/>
        </p:nvSpPr>
        <p:spPr>
          <a:xfrm>
            <a:off x="1133856" y="5750000"/>
            <a:ext cx="3188986" cy="65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11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가구 · 대형 물건 · 보물 박살 시</a:t>
            </a:r>
          </a:p>
          <a:p>
            <a:pPr algn="ctr"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치즈 효율 1.25~5.00</a:t>
            </a:r>
          </a:p>
        </p:txBody>
      </p:sp>
      <p:sp>
        <p:nvSpPr>
          <p:cNvPr id="40" name="Shape 40"/>
          <p:cNvSpPr/>
          <p:nvPr/>
        </p:nvSpPr>
        <p:spPr>
          <a:xfrm>
            <a:off x="4522842" y="4300000"/>
            <a:ext cx="3188986" cy="21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41" name="Shape 41"/>
          <p:cNvSpPr/>
          <p:nvPr/>
        </p:nvSpPr>
        <p:spPr>
          <a:xfrm>
            <a:off x="4522842" y="4300000"/>
            <a:ext cx="3188986" cy="380000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사람  ·  4종</a:t>
            </a:r>
          </a:p>
        </p:txBody>
      </p:sp>
      <p:pic>
        <p:nvPicPr>
          <p:cNvPr id="42" name="Picture 42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582842" y="4958063"/>
            <a:ext cx="677246" cy="721937"/>
          </a:xfrm>
          <a:prstGeom prst="rect">
            <a:avLst/>
          </a:prstGeom>
        </p:spPr>
      </p:pic>
      <p:pic>
        <p:nvPicPr>
          <p:cNvPr id="43" name="Picture 43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380088" y="4855057"/>
            <a:ext cx="677246" cy="824943"/>
          </a:xfrm>
          <a:prstGeom prst="rect">
            <a:avLst/>
          </a:prstGeom>
        </p:spPr>
      </p:pic>
      <p:pic>
        <p:nvPicPr>
          <p:cNvPr id="44" name="Picture 44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177334" y="4941187"/>
            <a:ext cx="677246" cy="738813"/>
          </a:xfrm>
          <a:prstGeom prst="rect">
            <a:avLst/>
          </a:prstGeom>
        </p:spPr>
      </p:pic>
      <p:pic>
        <p:nvPicPr>
          <p:cNvPr id="45" name="Picture 45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048203" y="4780000"/>
            <a:ext cx="530000" cy="900000"/>
          </a:xfrm>
          <a:prstGeom prst="rect">
            <a:avLst/>
          </a:prstGeom>
        </p:spPr>
      </p:pic>
      <p:sp>
        <p:nvSpPr>
          <p:cNvPr id="46" name="Shape 46"/>
          <p:cNvSpPr/>
          <p:nvPr/>
        </p:nvSpPr>
        <p:spPr>
          <a:xfrm>
            <a:off x="4522842" y="5750000"/>
            <a:ext cx="3188986" cy="65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11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층 시작 · 방 열림 · 주기 보충</a:t>
            </a:r>
          </a:p>
          <a:p>
            <a:pPr algn="ctr"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치즈 효율 1.14~1.33</a:t>
            </a:r>
          </a:p>
        </p:txBody>
      </p:sp>
      <p:sp>
        <p:nvSpPr>
          <p:cNvPr id="47" name="Shape 47"/>
          <p:cNvSpPr/>
          <p:nvPr/>
        </p:nvSpPr>
        <p:spPr>
          <a:xfrm>
            <a:off x="7911828" y="4300000"/>
            <a:ext cx="3188986" cy="21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48" name="Shape 48"/>
          <p:cNvSpPr/>
          <p:nvPr/>
        </p:nvSpPr>
        <p:spPr>
          <a:xfrm>
            <a:off x="7911828" y="4300000"/>
            <a:ext cx="3188986" cy="380000"/>
          </a:xfrm>
          <a:prstGeom prst="rect">
            <a:avLst/>
          </a:prstGeom>
          <a:solidFill>
            <a:srgbClr val="A6A6A6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벽 · 계단 · 쥐덫  ·  3종</a:t>
            </a:r>
          </a:p>
        </p:txBody>
      </p:sp>
      <p:pic>
        <p:nvPicPr>
          <p:cNvPr id="49" name="Picture 49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311050" y="4780000"/>
            <a:ext cx="796048" cy="900000"/>
          </a:xfrm>
          <a:prstGeom prst="rect">
            <a:avLst/>
          </a:prstGeom>
        </p:spPr>
      </p:pic>
      <p:pic>
        <p:nvPicPr>
          <p:cNvPr id="50" name="Picture 50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730840" y="4780000"/>
            <a:ext cx="1145454" cy="900000"/>
          </a:xfrm>
          <a:prstGeom prst="rect">
            <a:avLst/>
          </a:prstGeom>
        </p:spPr>
      </p:pic>
      <p:sp>
        <p:nvSpPr>
          <p:cNvPr id="51" name="Shape 51"/>
          <p:cNvSpPr/>
          <p:nvPr/>
        </p:nvSpPr>
        <p:spPr>
          <a:xfrm>
            <a:off x="7911828" y="5750000"/>
            <a:ext cx="3188986" cy="65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11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층 지형이 만들어질 때</a:t>
            </a:r>
          </a:p>
          <a:p>
            <a:pPr algn="ctr"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보상 없음 · 진행과 방해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200" b="0" dirty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개요</a:t>
            </a:r>
            <a:r>
              <a:rPr lang="ko-KR" altLang="en-US" sz="2400" b="0" dirty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용어 정리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e 11"/>
          <p:cNvGraphicFramePr>
            <a:graphicFrameLocks noGrp="1"/>
          </p:cNvGraphicFramePr>
          <p:nvPr/>
        </p:nvGraphicFramePr>
        <p:xfrm>
          <a:off x="1133856" y="1600200"/>
          <a:ext cx="9966960" cy="44256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20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748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용어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뜻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체력 배율 (hp_mul)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기준 체력 12에 곱하는 오브젝트별 값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치즈 배율 (value_mul)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기준 치즈 3에 곱하는 오브젝트별 값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치즈 효율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치즈 배율 ÷ 체력 배율 (1층 플라스크 = 1.00)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출현 가중치 (spawn_weight)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자동 보충 · 택배에서 뽑힐 상대 비율 (0 = 자동 보충 없음)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층 배율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스테이지 테이블 item_hp · cheese — 층마다 모든 오브젝트에 곱하는 값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방 거리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시작 방에서 계단 쪽으로 이동한 방 칸 수 (가로 + 세로)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공중 횟수 (AIR)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날아가는 동안 저글링 · 공중 충돌로 쌓인 횟수 (최대 8)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쏟아짐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박살 시 drop_01~04 물건이 사방으로 튀어나오는 것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황금 물건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생성 시 확률로 치즈 ×5가 되는 물건 (체력 그대로)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콤보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1.6초 안에 이어진 파괴 수 — 치즈 배율 최대 ×2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200" b="0" dirty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수치 규칙</a:t>
            </a:r>
            <a:r>
              <a:rPr lang="ko-KR" altLang="en-US" sz="2400" b="0" dirty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체력 · 치즈 공식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1"/>
          <p:cNvSpPr/>
          <p:nvPr/>
        </p:nvSpPr>
        <p:spPr>
          <a:xfrm>
            <a:off x="1133856" y="1330977"/>
            <a:ext cx="9966960" cy="502920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lIns="109728" tIns="36576" rIns="109728" bIns="36576" rtlCol="0" anchor="ctr"/>
          <a:lstStyle/>
          <a:p>
            <a:pPr algn="l">
              <a:spcAft>
                <a:spcPts val="300"/>
              </a:spcAft>
              <a:buNone/>
            </a:pPr>
            <a:r>
              <a:rPr lang="ko-KR" altLang="en-US" sz="14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모든 오브젝트 수치 = 기준 단위 × 오브젝트 배율 × 층 배율 × 방 거리 배율</a:t>
            </a:r>
          </a:p>
        </p:txBody>
      </p:sp>
      <p:sp>
        <p:nvSpPr>
          <p:cNvPr id="12" name="Rectangle 12"/>
          <p:cNvSpPr/>
          <p:nvPr/>
        </p:nvSpPr>
        <p:spPr>
          <a:xfrm>
            <a:off x="1133856" y="1950000"/>
            <a:ext cx="2150000" cy="330000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기준 단위</a:t>
            </a:r>
          </a:p>
        </p:txBody>
      </p:sp>
      <p:sp>
        <p:nvSpPr>
          <p:cNvPr id="13" name="Rectangle 13"/>
          <p:cNvSpPr/>
          <p:nvPr/>
        </p:nvSpPr>
        <p:spPr>
          <a:xfrm>
            <a:off x="1133856" y="2280000"/>
            <a:ext cx="2150000" cy="5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buNone/>
            </a:pPr>
            <a:r>
              <a:rPr lang="ko-KR" altLang="en-US" sz="11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체력 12 · 치즈 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283856" y="2280000"/>
            <a:ext cx="455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ko-KR" altLang="en-US" sz="20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×</a:t>
            </a:r>
          </a:p>
        </p:txBody>
      </p:sp>
      <p:sp>
        <p:nvSpPr>
          <p:cNvPr id="15" name="Rectangle 15"/>
          <p:cNvSpPr/>
          <p:nvPr/>
        </p:nvSpPr>
        <p:spPr>
          <a:xfrm>
            <a:off x="3738856" y="1950000"/>
            <a:ext cx="2150000" cy="3300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오브젝트 배율</a:t>
            </a:r>
          </a:p>
        </p:txBody>
      </p:sp>
      <p:sp>
        <p:nvSpPr>
          <p:cNvPr id="16" name="Rectangle 16"/>
          <p:cNvSpPr/>
          <p:nvPr/>
        </p:nvSpPr>
        <p:spPr>
          <a:xfrm>
            <a:off x="3738856" y="2280000"/>
            <a:ext cx="2150000" cy="5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buNone/>
            </a:pPr>
            <a:r>
              <a:rPr lang="ko-KR" altLang="en-US" sz="11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물건 테이블 칸 하나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888856" y="2280000"/>
            <a:ext cx="455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ko-KR" altLang="en-US" sz="20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×</a:t>
            </a:r>
          </a:p>
        </p:txBody>
      </p:sp>
      <p:sp>
        <p:nvSpPr>
          <p:cNvPr id="18" name="Rectangle 18"/>
          <p:cNvSpPr/>
          <p:nvPr/>
        </p:nvSpPr>
        <p:spPr>
          <a:xfrm>
            <a:off x="6343856" y="1950000"/>
            <a:ext cx="2150000" cy="3300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층 배율</a:t>
            </a:r>
          </a:p>
        </p:txBody>
      </p:sp>
      <p:sp>
        <p:nvSpPr>
          <p:cNvPr id="19" name="Rectangle 19"/>
          <p:cNvSpPr/>
          <p:nvPr/>
        </p:nvSpPr>
        <p:spPr>
          <a:xfrm>
            <a:off x="6343856" y="2280000"/>
            <a:ext cx="2150000" cy="5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buNone/>
            </a:pPr>
            <a:r>
              <a:rPr lang="ko-KR" altLang="en-US" sz="11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스테이지 테이블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493856" y="2280000"/>
            <a:ext cx="455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ko-KR" altLang="en-US" sz="20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×</a:t>
            </a:r>
          </a:p>
        </p:txBody>
      </p:sp>
      <p:sp>
        <p:nvSpPr>
          <p:cNvPr id="21" name="Rectangle 21"/>
          <p:cNvSpPr/>
          <p:nvPr/>
        </p:nvSpPr>
        <p:spPr>
          <a:xfrm>
            <a:off x="8948856" y="1950000"/>
            <a:ext cx="2150000" cy="3300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방 거리 배율</a:t>
            </a:r>
          </a:p>
        </p:txBody>
      </p:sp>
      <p:sp>
        <p:nvSpPr>
          <p:cNvPr id="22" name="Rectangle 22"/>
          <p:cNvSpPr/>
          <p:nvPr/>
        </p:nvSpPr>
        <p:spPr>
          <a:xfrm>
            <a:off x="8948856" y="2280000"/>
            <a:ext cx="2150000" cy="5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buNone/>
            </a:pPr>
            <a:r>
              <a:rPr lang="ko-KR" altLang="en-US" sz="11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체력 3.6^(거리×0.1)</a:t>
            </a:r>
          </a:p>
          <a:p>
            <a:pPr algn="ctr">
              <a:spcAft>
                <a:spcPts val="200"/>
              </a:spcAft>
              <a:buNone/>
            </a:pPr>
            <a:r>
              <a:rPr lang="ko-KR" altLang="en-US" sz="11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치즈 1.8^(거리×0.1)</a:t>
            </a:r>
          </a:p>
        </p:txBody>
      </p:sp>
      <p:graphicFrame>
        <p:nvGraphicFramePr>
          <p:cNvPr id="23" name="Table 23"/>
          <p:cNvGraphicFramePr>
            <a:graphicFrameLocks noGrp="1"/>
          </p:cNvGraphicFramePr>
          <p:nvPr/>
        </p:nvGraphicFramePr>
        <p:xfrm>
          <a:off x="1133856" y="3050000"/>
          <a:ext cx="9966960" cy="22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43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824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900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값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공식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비고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물건 · 가구 체력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 × 체력 배율 × 층 체력 배율 × 3.6^(방 거리 × 0.1)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1층 플라스크 12 = 공격력 10 쥐 두 번 충돌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물건 · 가구 치즈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 × 치즈 배율 × 층 치즈 배율 × 1.8^(방 거리 × 0.1) × 물건 치즈 노드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가구는 가구 치즈 노드(+30%) 추가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사람 체력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 × 체력 배율 × 층 체력 배율 × 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방 거리 배율 없음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사람 치즈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 × 치즈 배율 × 층 치즈 배율 × 2 × 생명체 치즈 노드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방 거리 배율 없음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황금 물건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치즈 × 5 · 체력 × 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가구 제외, 쏟아짐 물건 포함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4" name="TextBox 24"/>
          <p:cNvSpPr txBox="1"/>
          <p:nvPr/>
        </p:nvSpPr>
        <p:spPr>
          <a:xfrm>
            <a:off x="1133856" y="5530000"/>
            <a:ext cx="996696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ko-KR" altLang="en-US" sz="11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개별 조정 = 물건 테이블 칸 하나, 전체 조정 = 층 배율 · 방 거리 배율 (공통)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ko-KR" altLang="en-US" sz="11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인스펙터 값 — ItemManager: 물건 체력 성장 3.6 · 치즈 성장 1.8 · 사람 체력 ×3 · 사람 치즈 ×2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200" b="0" dirty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수치 규칙</a:t>
            </a:r>
            <a:r>
              <a:rPr lang="ko-KR" altLang="en-US" sz="2400" b="0" dirty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계산 예시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1"/>
          <p:cNvSpPr/>
          <p:nvPr/>
        </p:nvSpPr>
        <p:spPr>
          <a:xfrm>
            <a:off x="1133856" y="1330977"/>
            <a:ext cx="9966960" cy="502920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lIns="109728" tIns="36576" rIns="109728" bIns="36576" rtlCol="0" anchor="ctr"/>
          <a:lstStyle/>
          <a:p>
            <a:pPr algn="l">
              <a:spcAft>
                <a:spcPts val="300"/>
              </a:spcAft>
              <a:buNone/>
            </a:pPr>
            <a:r>
              <a:rPr lang="ko-KR" altLang="en-US" sz="14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5층 · 시작 방에서 2칸 떨어진 방의 케이지 — 공식에 실제 값을 넣은 계산</a:t>
            </a: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856" y="2738729"/>
            <a:ext cx="1900000" cy="1411271"/>
          </a:xfrm>
          <a:prstGeom prst="rect">
            <a:avLst/>
          </a:prstGeom>
        </p:spPr>
      </p:pic>
      <p:sp>
        <p:nvSpPr>
          <p:cNvPr id="13" name="Shape 13"/>
          <p:cNvSpPr/>
          <p:nvPr/>
        </p:nvSpPr>
        <p:spPr>
          <a:xfrm>
            <a:off x="1133856" y="4200000"/>
            <a:ext cx="1900000" cy="30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케이지 (일반 대형)</a:t>
            </a:r>
          </a:p>
        </p:txBody>
      </p:sp>
      <p:sp>
        <p:nvSpPr>
          <p:cNvPr id="14" name="Shape 14"/>
          <p:cNvSpPr/>
          <p:nvPr/>
        </p:nvSpPr>
        <p:spPr>
          <a:xfrm>
            <a:off x="3433856" y="2000000"/>
            <a:ext cx="2000000" cy="30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l"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체력</a:t>
            </a:r>
          </a:p>
        </p:txBody>
      </p:sp>
      <p:sp>
        <p:nvSpPr>
          <p:cNvPr id="15" name="Shape 15"/>
          <p:cNvSpPr/>
          <p:nvPr/>
        </p:nvSpPr>
        <p:spPr>
          <a:xfrm>
            <a:off x="3433856" y="2330000"/>
            <a:ext cx="1250000" cy="80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18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12</a:t>
            </a:r>
          </a:p>
          <a:p>
            <a:pPr algn="ctr"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기준 체력</a:t>
            </a:r>
          </a:p>
        </p:txBody>
      </p:sp>
      <p:sp>
        <p:nvSpPr>
          <p:cNvPr id="16" name="Shape 16"/>
          <p:cNvSpPr/>
          <p:nvPr/>
        </p:nvSpPr>
        <p:spPr>
          <a:xfrm>
            <a:off x="4683856" y="2330000"/>
            <a:ext cx="300000" cy="80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18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×</a:t>
            </a:r>
          </a:p>
        </p:txBody>
      </p:sp>
      <p:sp>
        <p:nvSpPr>
          <p:cNvPr id="17" name="Shape 17"/>
          <p:cNvSpPr/>
          <p:nvPr/>
        </p:nvSpPr>
        <p:spPr>
          <a:xfrm>
            <a:off x="4983856" y="2330000"/>
            <a:ext cx="1250000" cy="80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18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3.5</a:t>
            </a:r>
          </a:p>
          <a:p>
            <a:pPr algn="ctr"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케이지 체력 배율</a:t>
            </a:r>
          </a:p>
        </p:txBody>
      </p:sp>
      <p:sp>
        <p:nvSpPr>
          <p:cNvPr id="18" name="Shape 18"/>
          <p:cNvSpPr/>
          <p:nvPr/>
        </p:nvSpPr>
        <p:spPr>
          <a:xfrm>
            <a:off x="6233856" y="2330000"/>
            <a:ext cx="300000" cy="80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18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×</a:t>
            </a:r>
          </a:p>
        </p:txBody>
      </p:sp>
      <p:sp>
        <p:nvSpPr>
          <p:cNvPr id="19" name="Shape 19"/>
          <p:cNvSpPr/>
          <p:nvPr/>
        </p:nvSpPr>
        <p:spPr>
          <a:xfrm>
            <a:off x="6533856" y="2330000"/>
            <a:ext cx="1250000" cy="80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18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3.52</a:t>
            </a:r>
          </a:p>
          <a:p>
            <a:pPr algn="ctr"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5층 체력 배율</a:t>
            </a:r>
          </a:p>
        </p:txBody>
      </p:sp>
      <p:sp>
        <p:nvSpPr>
          <p:cNvPr id="20" name="Shape 20"/>
          <p:cNvSpPr/>
          <p:nvPr/>
        </p:nvSpPr>
        <p:spPr>
          <a:xfrm>
            <a:off x="7783856" y="2330000"/>
            <a:ext cx="300000" cy="80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18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×</a:t>
            </a:r>
          </a:p>
        </p:txBody>
      </p:sp>
      <p:sp>
        <p:nvSpPr>
          <p:cNvPr id="21" name="Shape 21"/>
          <p:cNvSpPr/>
          <p:nvPr/>
        </p:nvSpPr>
        <p:spPr>
          <a:xfrm>
            <a:off x="8083856" y="2330000"/>
            <a:ext cx="1250000" cy="80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18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1.29</a:t>
            </a:r>
          </a:p>
          <a:p>
            <a:pPr algn="ctr"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거리 2칸 3.6^0.2</a:t>
            </a:r>
          </a:p>
        </p:txBody>
      </p:sp>
      <p:sp>
        <p:nvSpPr>
          <p:cNvPr id="22" name="Shape 22"/>
          <p:cNvSpPr/>
          <p:nvPr/>
        </p:nvSpPr>
        <p:spPr>
          <a:xfrm>
            <a:off x="9333856" y="2330000"/>
            <a:ext cx="300000" cy="80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18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=</a:t>
            </a:r>
          </a:p>
        </p:txBody>
      </p:sp>
      <p:sp>
        <p:nvSpPr>
          <p:cNvPr id="23" name="Shape 23"/>
          <p:cNvSpPr/>
          <p:nvPr/>
        </p:nvSpPr>
        <p:spPr>
          <a:xfrm>
            <a:off x="9633856" y="2330000"/>
            <a:ext cx="1350000" cy="8000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20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191</a:t>
            </a:r>
          </a:p>
          <a:p>
            <a:pPr algn="ctr">
              <a:spcAft>
                <a:spcPts val="0"/>
              </a:spcAft>
              <a:buNone/>
            </a:pPr>
            <a:r>
              <a:rPr lang="ko-KR" altLang="en-US" sz="1000" b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체력</a:t>
            </a:r>
          </a:p>
        </p:txBody>
      </p:sp>
      <p:sp>
        <p:nvSpPr>
          <p:cNvPr id="24" name="Shape 24"/>
          <p:cNvSpPr/>
          <p:nvPr/>
        </p:nvSpPr>
        <p:spPr>
          <a:xfrm>
            <a:off x="3433856" y="3200000"/>
            <a:ext cx="2000000" cy="30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l"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치즈</a:t>
            </a:r>
          </a:p>
        </p:txBody>
      </p:sp>
      <p:sp>
        <p:nvSpPr>
          <p:cNvPr id="25" name="Shape 25"/>
          <p:cNvSpPr/>
          <p:nvPr/>
        </p:nvSpPr>
        <p:spPr>
          <a:xfrm>
            <a:off x="3433856" y="3530000"/>
            <a:ext cx="1250000" cy="80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18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3</a:t>
            </a:r>
          </a:p>
          <a:p>
            <a:pPr algn="ctr"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기준 치즈</a:t>
            </a:r>
          </a:p>
        </p:txBody>
      </p:sp>
      <p:sp>
        <p:nvSpPr>
          <p:cNvPr id="26" name="Shape 26"/>
          <p:cNvSpPr/>
          <p:nvPr/>
        </p:nvSpPr>
        <p:spPr>
          <a:xfrm>
            <a:off x="4683856" y="3530000"/>
            <a:ext cx="300000" cy="80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18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×</a:t>
            </a:r>
          </a:p>
        </p:txBody>
      </p:sp>
      <p:sp>
        <p:nvSpPr>
          <p:cNvPr id="27" name="Shape 27"/>
          <p:cNvSpPr/>
          <p:nvPr/>
        </p:nvSpPr>
        <p:spPr>
          <a:xfrm>
            <a:off x="4983856" y="3530000"/>
            <a:ext cx="1250000" cy="80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18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2.8</a:t>
            </a:r>
          </a:p>
          <a:p>
            <a:pPr algn="ctr"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케이지 치즈 배율</a:t>
            </a:r>
          </a:p>
        </p:txBody>
      </p:sp>
      <p:sp>
        <p:nvSpPr>
          <p:cNvPr id="28" name="Shape 28"/>
          <p:cNvSpPr/>
          <p:nvPr/>
        </p:nvSpPr>
        <p:spPr>
          <a:xfrm>
            <a:off x="6233856" y="3530000"/>
            <a:ext cx="300000" cy="80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18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×</a:t>
            </a:r>
          </a:p>
        </p:txBody>
      </p:sp>
      <p:sp>
        <p:nvSpPr>
          <p:cNvPr id="29" name="Shape 29"/>
          <p:cNvSpPr/>
          <p:nvPr/>
        </p:nvSpPr>
        <p:spPr>
          <a:xfrm>
            <a:off x="6533856" y="3530000"/>
            <a:ext cx="1250000" cy="80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18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4.81</a:t>
            </a:r>
          </a:p>
          <a:p>
            <a:pPr algn="ctr"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5층 치즈 배율</a:t>
            </a:r>
          </a:p>
        </p:txBody>
      </p:sp>
      <p:sp>
        <p:nvSpPr>
          <p:cNvPr id="30" name="Shape 30"/>
          <p:cNvSpPr/>
          <p:nvPr/>
        </p:nvSpPr>
        <p:spPr>
          <a:xfrm>
            <a:off x="7783856" y="3530000"/>
            <a:ext cx="300000" cy="80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18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×</a:t>
            </a:r>
          </a:p>
        </p:txBody>
      </p:sp>
      <p:sp>
        <p:nvSpPr>
          <p:cNvPr id="31" name="Shape 31"/>
          <p:cNvSpPr/>
          <p:nvPr/>
        </p:nvSpPr>
        <p:spPr>
          <a:xfrm>
            <a:off x="8083856" y="3530000"/>
            <a:ext cx="1250000" cy="80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18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1.12</a:t>
            </a:r>
          </a:p>
          <a:p>
            <a:pPr algn="ctr"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거리 2칸 1.8^0.2</a:t>
            </a:r>
          </a:p>
        </p:txBody>
      </p:sp>
      <p:sp>
        <p:nvSpPr>
          <p:cNvPr id="32" name="Shape 32"/>
          <p:cNvSpPr/>
          <p:nvPr/>
        </p:nvSpPr>
        <p:spPr>
          <a:xfrm>
            <a:off x="9333856" y="3530000"/>
            <a:ext cx="300000" cy="80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18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=</a:t>
            </a:r>
          </a:p>
        </p:txBody>
      </p:sp>
      <p:sp>
        <p:nvSpPr>
          <p:cNvPr id="33" name="Shape 33"/>
          <p:cNvSpPr/>
          <p:nvPr/>
        </p:nvSpPr>
        <p:spPr>
          <a:xfrm>
            <a:off x="9633856" y="3530000"/>
            <a:ext cx="1350000" cy="8000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20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45.4</a:t>
            </a:r>
          </a:p>
          <a:p>
            <a:pPr algn="ctr">
              <a:spcAft>
                <a:spcPts val="0"/>
              </a:spcAft>
              <a:buNone/>
            </a:pPr>
            <a:r>
              <a:rPr lang="ko-KR" altLang="en-US" sz="1000" b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치즈</a:t>
            </a:r>
          </a:p>
        </p:txBody>
      </p:sp>
      <p:graphicFrame>
        <p:nvGraphicFramePr>
          <p:cNvPr id="34" name="Table 34"/>
          <p:cNvGraphicFramePr>
            <a:graphicFrameLocks noGrp="1"/>
          </p:cNvGraphicFramePr>
          <p:nvPr/>
        </p:nvGraphicFramePr>
        <p:xfrm>
          <a:off x="1133856" y="4650000"/>
          <a:ext cx="9966960" cy="15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00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933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933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900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같은 케이지가 놓인 곳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체력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치즈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치즈 ÷ 체력 (1층 시작 방 = 1)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5층 · 거리 0칸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148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40.4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×1.37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5층 · 거리 2칸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191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45.4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×1.19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10층 · 거리 4칸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988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290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×1.47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20층 · 거리 4칸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130,402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129,643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×4.97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5" name="TextBox 35"/>
          <p:cNvSpPr txBox="1"/>
          <p:nvPr/>
        </p:nvSpPr>
        <p:spPr>
          <a:xfrm>
            <a:off x="1133856" y="6230000"/>
            <a:ext cx="9966960" cy="23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ko-KR" altLang="en-US" sz="10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층이 오를수록 치즈 효율 상승 · 방 거리는 체력을 치즈보다 빠르게 키움 (주황 행 = 위 계산)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200" b="0" dirty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수치 규칙</a:t>
            </a:r>
            <a:r>
              <a:rPr lang="ko-KR" altLang="en-US" sz="2400" b="0" dirty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층 배율 · 방 거리 배율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1"/>
          <p:cNvSpPr/>
          <p:nvPr/>
        </p:nvSpPr>
        <p:spPr>
          <a:xfrm>
            <a:off x="1133856" y="1330977"/>
            <a:ext cx="9966960" cy="502920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lIns="109728" tIns="36576" rIns="109728" bIns="36576" rtlCol="0" anchor="ctr"/>
          <a:lstStyle/>
          <a:p>
            <a:pPr algn="l">
              <a:spcAft>
                <a:spcPts val="300"/>
              </a:spcAft>
              <a:buNone/>
            </a:pPr>
            <a:r>
              <a:rPr lang="ko-KR" altLang="en-US" sz="14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층마다 치즈가 체력보다 빠르게 올라 높은 층일수록 커지는 치즈 효율</a:t>
            </a:r>
          </a:p>
        </p:txBody>
      </p:sp>
      <p:graphicFrame>
        <p:nvGraphicFramePr>
          <p:cNvPr id="12" name="Table 12"/>
          <p:cNvGraphicFramePr>
            <a:graphicFrameLocks noGrp="1"/>
          </p:cNvGraphicFramePr>
          <p:nvPr/>
        </p:nvGraphicFramePr>
        <p:xfrm>
          <a:off x="1133856" y="1900000"/>
          <a:ext cx="5300000" cy="44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99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0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000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유형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방 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체력 배율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치즈 배율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치즈 효율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도입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1.00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쉬움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1.25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1.32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1.06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쉬움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1.56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1.75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1.12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쉬움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1.95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2.31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1.18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허들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3.52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4.81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1.37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4.64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6.81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1.47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6.13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9.64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1.57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8.09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13.64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1.69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10.67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19.29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1.81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14.09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27.3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1.94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18.6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38.62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2.08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24.55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54.64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2.23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32.4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77.31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2.39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42.77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2.55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56.46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155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2.75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허들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98.81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312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3.16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17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어려움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605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3.60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허들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353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1530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4.33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어려움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776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4100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5.28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1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허들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1860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12200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6.56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13" name="TextBox 13"/>
          <p:cNvSpPr txBox="1"/>
          <p:nvPr/>
        </p:nvSpPr>
        <p:spPr>
          <a:xfrm>
            <a:off x="6733856" y="1900000"/>
            <a:ext cx="436696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ko-KR" altLang="en-US" sz="13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방 거리 배율</a:t>
            </a:r>
          </a:p>
        </p:txBody>
      </p:sp>
      <p:graphicFrame>
        <p:nvGraphicFramePr>
          <p:cNvPr id="14" name="Table 14"/>
          <p:cNvGraphicFramePr>
            <a:graphicFrameLocks noGrp="1"/>
          </p:cNvGraphicFramePr>
          <p:nvPr/>
        </p:nvGraphicFramePr>
        <p:xfrm>
          <a:off x="6733856" y="2250000"/>
          <a:ext cx="4366960" cy="2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76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4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4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거리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체력 ×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치즈 ×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1.00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1.00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1.14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1.06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1.29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1.12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1.47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1.19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1.67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1.27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1.90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1.34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2.16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1.42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5" name="TextBox 15"/>
          <p:cNvSpPr txBox="1"/>
          <p:nvPr/>
        </p:nvSpPr>
        <p:spPr>
          <a:xfrm>
            <a:off x="6733856" y="4400000"/>
            <a:ext cx="4366960" cy="1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ko-KR" altLang="en-US" sz="105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주황 행 = 보스 층 (5층마다 · 오브젝트 배율은 일반 층과 같음)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ko-KR" altLang="en-US" sz="105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계단 방 = 시작 방에서 최대 4칸 · 방은 최대 3줄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ko-KR" altLang="en-US" sz="105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마지막 층 = 30층 (30층 보스 처치 후 계단 → 로비) · 30층 체력 ×2,030,000 · 치즈 ×76,500,000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ko-KR" altLang="en-US" sz="105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유형 = 층 별 허들 기획서의 층 유형 (도입 · 쉬움 · 보통 · 어려움 · 허들)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ko-KR" altLang="en-US" sz="105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층 배율 · 방 수는 Tools/gen_stage_table.py 로 생성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200" b="0" dirty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수치 규칙</a:t>
            </a:r>
            <a:r>
              <a:rPr lang="ko-KR" altLang="en-US" sz="2400" b="0" dirty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층별 치즈 효율 그래프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1"/>
          <p:cNvSpPr/>
          <p:nvPr/>
        </p:nvSpPr>
        <p:spPr>
          <a:xfrm>
            <a:off x="1133856" y="1330977"/>
            <a:ext cx="9966960" cy="502920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lIns="109728" tIns="36576" rIns="109728" bIns="36576" rtlCol="0" anchor="ctr"/>
          <a:lstStyle/>
          <a:p>
            <a:pPr algn="l">
              <a:spcAft>
                <a:spcPts val="300"/>
              </a:spcAft>
              <a:buNone/>
            </a:pPr>
            <a:r>
              <a:rPr lang="ko-KR" altLang="en-US" sz="14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층별 치즈 효율 (치즈 배율 ÷ 체력 배율) — 20층은 1층의 약 6.6배</a:t>
            </a:r>
          </a:p>
        </p:txBody>
      </p:sp>
      <p:cxnSp>
        <p:nvCxnSpPr>
          <p:cNvPr id="12" name="Connector 12"/>
          <p:cNvCxnSpPr/>
          <p:nvPr/>
        </p:nvCxnSpPr>
        <p:spPr>
          <a:xfrm>
            <a:off x="1633856" y="5850000"/>
            <a:ext cx="9466960" cy="0"/>
          </a:xfrm>
          <a:prstGeom prst="straightConnector1">
            <a:avLst/>
          </a:prstGeom>
          <a:ln w="9525">
            <a:solidFill>
              <a:srgbClr val="7F7F7F"/>
            </a:solidFill>
          </a:ln>
        </p:spPr>
      </p:cxnSp>
      <p:sp>
        <p:nvSpPr>
          <p:cNvPr id="13" name="Shape 13"/>
          <p:cNvSpPr/>
          <p:nvPr/>
        </p:nvSpPr>
        <p:spPr>
          <a:xfrm>
            <a:off x="1133856" y="5730000"/>
            <a:ext cx="450000" cy="24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r"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0.0</a:t>
            </a:r>
          </a:p>
        </p:txBody>
      </p:sp>
      <p:cxnSp>
        <p:nvCxnSpPr>
          <p:cNvPr id="14" name="Connector 14"/>
          <p:cNvCxnSpPr/>
          <p:nvPr/>
        </p:nvCxnSpPr>
        <p:spPr>
          <a:xfrm>
            <a:off x="1633856" y="5328572"/>
            <a:ext cx="9466960" cy="0"/>
          </a:xfrm>
          <a:prstGeom prst="straightConnector1">
            <a:avLst/>
          </a:prstGeom>
          <a:ln w="9525">
            <a:solidFill>
              <a:srgbClr val="D9D9D9"/>
            </a:solidFill>
          </a:ln>
        </p:spPr>
      </p:cxnSp>
      <p:sp>
        <p:nvSpPr>
          <p:cNvPr id="15" name="Shape 15"/>
          <p:cNvSpPr/>
          <p:nvPr/>
        </p:nvSpPr>
        <p:spPr>
          <a:xfrm>
            <a:off x="1133856" y="5208572"/>
            <a:ext cx="450000" cy="24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r"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1.0</a:t>
            </a:r>
          </a:p>
        </p:txBody>
      </p:sp>
      <p:cxnSp>
        <p:nvCxnSpPr>
          <p:cNvPr id="16" name="Connector 16"/>
          <p:cNvCxnSpPr/>
          <p:nvPr/>
        </p:nvCxnSpPr>
        <p:spPr>
          <a:xfrm>
            <a:off x="1633856" y="4807143"/>
            <a:ext cx="9466960" cy="0"/>
          </a:xfrm>
          <a:prstGeom prst="straightConnector1">
            <a:avLst/>
          </a:prstGeom>
          <a:ln w="9525">
            <a:solidFill>
              <a:srgbClr val="D9D9D9"/>
            </a:solidFill>
          </a:ln>
        </p:spPr>
      </p:cxnSp>
      <p:sp>
        <p:nvSpPr>
          <p:cNvPr id="17" name="Shape 17"/>
          <p:cNvSpPr/>
          <p:nvPr/>
        </p:nvSpPr>
        <p:spPr>
          <a:xfrm>
            <a:off x="1133856" y="4687143"/>
            <a:ext cx="450000" cy="24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r"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2.0</a:t>
            </a:r>
          </a:p>
        </p:txBody>
      </p:sp>
      <p:cxnSp>
        <p:nvCxnSpPr>
          <p:cNvPr id="18" name="Connector 18"/>
          <p:cNvCxnSpPr/>
          <p:nvPr/>
        </p:nvCxnSpPr>
        <p:spPr>
          <a:xfrm>
            <a:off x="1633856" y="4285715"/>
            <a:ext cx="9466960" cy="0"/>
          </a:xfrm>
          <a:prstGeom prst="straightConnector1">
            <a:avLst/>
          </a:prstGeom>
          <a:ln w="9525">
            <a:solidFill>
              <a:srgbClr val="D9D9D9"/>
            </a:solidFill>
          </a:ln>
        </p:spPr>
      </p:cxnSp>
      <p:sp>
        <p:nvSpPr>
          <p:cNvPr id="19" name="Shape 19"/>
          <p:cNvSpPr/>
          <p:nvPr/>
        </p:nvSpPr>
        <p:spPr>
          <a:xfrm>
            <a:off x="1133856" y="4165715"/>
            <a:ext cx="450000" cy="24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r"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3.0</a:t>
            </a:r>
          </a:p>
        </p:txBody>
      </p:sp>
      <p:cxnSp>
        <p:nvCxnSpPr>
          <p:cNvPr id="20" name="Connector 20"/>
          <p:cNvCxnSpPr/>
          <p:nvPr/>
        </p:nvCxnSpPr>
        <p:spPr>
          <a:xfrm>
            <a:off x="1633856" y="3764286"/>
            <a:ext cx="9466960" cy="0"/>
          </a:xfrm>
          <a:prstGeom prst="straightConnector1">
            <a:avLst/>
          </a:prstGeom>
          <a:ln w="9525">
            <a:solidFill>
              <a:srgbClr val="D9D9D9"/>
            </a:solidFill>
          </a:ln>
        </p:spPr>
      </p:cxnSp>
      <p:sp>
        <p:nvSpPr>
          <p:cNvPr id="21" name="Shape 21"/>
          <p:cNvSpPr/>
          <p:nvPr/>
        </p:nvSpPr>
        <p:spPr>
          <a:xfrm>
            <a:off x="1133856" y="3644286"/>
            <a:ext cx="450000" cy="24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r"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4.0</a:t>
            </a:r>
          </a:p>
        </p:txBody>
      </p:sp>
      <p:cxnSp>
        <p:nvCxnSpPr>
          <p:cNvPr id="22" name="Connector 22"/>
          <p:cNvCxnSpPr/>
          <p:nvPr/>
        </p:nvCxnSpPr>
        <p:spPr>
          <a:xfrm>
            <a:off x="1633856" y="3242858"/>
            <a:ext cx="9466960" cy="0"/>
          </a:xfrm>
          <a:prstGeom prst="straightConnector1">
            <a:avLst/>
          </a:prstGeom>
          <a:ln w="9525">
            <a:solidFill>
              <a:srgbClr val="D9D9D9"/>
            </a:solidFill>
          </a:ln>
        </p:spPr>
      </p:cxnSp>
      <p:sp>
        <p:nvSpPr>
          <p:cNvPr id="23" name="Shape 23"/>
          <p:cNvSpPr/>
          <p:nvPr/>
        </p:nvSpPr>
        <p:spPr>
          <a:xfrm>
            <a:off x="1133856" y="3122858"/>
            <a:ext cx="450000" cy="24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r"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5.0</a:t>
            </a:r>
          </a:p>
        </p:txBody>
      </p:sp>
      <p:cxnSp>
        <p:nvCxnSpPr>
          <p:cNvPr id="24" name="Connector 24"/>
          <p:cNvCxnSpPr/>
          <p:nvPr/>
        </p:nvCxnSpPr>
        <p:spPr>
          <a:xfrm>
            <a:off x="1633856" y="2721429"/>
            <a:ext cx="9466960" cy="0"/>
          </a:xfrm>
          <a:prstGeom prst="straightConnector1">
            <a:avLst/>
          </a:prstGeom>
          <a:ln w="9525">
            <a:solidFill>
              <a:srgbClr val="D9D9D9"/>
            </a:solidFill>
          </a:ln>
        </p:spPr>
      </p:cxnSp>
      <p:sp>
        <p:nvSpPr>
          <p:cNvPr id="25" name="Shape 25"/>
          <p:cNvSpPr/>
          <p:nvPr/>
        </p:nvSpPr>
        <p:spPr>
          <a:xfrm>
            <a:off x="1133856" y="2601429"/>
            <a:ext cx="450000" cy="24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r"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6.0</a:t>
            </a:r>
          </a:p>
        </p:txBody>
      </p:sp>
      <p:cxnSp>
        <p:nvCxnSpPr>
          <p:cNvPr id="26" name="Connector 26"/>
          <p:cNvCxnSpPr/>
          <p:nvPr/>
        </p:nvCxnSpPr>
        <p:spPr>
          <a:xfrm>
            <a:off x="1633856" y="2200000"/>
            <a:ext cx="9466960" cy="0"/>
          </a:xfrm>
          <a:prstGeom prst="straightConnector1">
            <a:avLst/>
          </a:prstGeom>
          <a:ln w="9525">
            <a:solidFill>
              <a:srgbClr val="D9D9D9"/>
            </a:solidFill>
          </a:ln>
        </p:spPr>
      </p:cxnSp>
      <p:sp>
        <p:nvSpPr>
          <p:cNvPr id="27" name="Shape 27"/>
          <p:cNvSpPr/>
          <p:nvPr/>
        </p:nvSpPr>
        <p:spPr>
          <a:xfrm>
            <a:off x="1133856" y="2080000"/>
            <a:ext cx="450000" cy="24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r"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7.0</a:t>
            </a:r>
          </a:p>
        </p:txBody>
      </p:sp>
      <p:sp>
        <p:nvSpPr>
          <p:cNvPr id="28" name="Shape 28"/>
          <p:cNvSpPr/>
          <p:nvPr/>
        </p:nvSpPr>
        <p:spPr>
          <a:xfrm>
            <a:off x="1723792" y="5328572"/>
            <a:ext cx="293475" cy="521428"/>
          </a:xfrm>
          <a:prstGeom prst="rect">
            <a:avLst/>
          </a:prstGeom>
          <a:solidFill>
            <a:srgbClr val="A6A6A6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29" name="Shape 29"/>
          <p:cNvSpPr/>
          <p:nvPr/>
        </p:nvSpPr>
        <p:spPr>
          <a:xfrm>
            <a:off x="1623792" y="5068572"/>
            <a:ext cx="493475" cy="24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1.00</a:t>
            </a:r>
          </a:p>
        </p:txBody>
      </p:sp>
      <p:sp>
        <p:nvSpPr>
          <p:cNvPr id="30" name="Shape 30"/>
          <p:cNvSpPr/>
          <p:nvPr/>
        </p:nvSpPr>
        <p:spPr>
          <a:xfrm>
            <a:off x="1633856" y="5880000"/>
            <a:ext cx="473348" cy="26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1층</a:t>
            </a:r>
          </a:p>
        </p:txBody>
      </p:sp>
      <p:sp>
        <p:nvSpPr>
          <p:cNvPr id="31" name="Shape 31"/>
          <p:cNvSpPr/>
          <p:nvPr/>
        </p:nvSpPr>
        <p:spPr>
          <a:xfrm>
            <a:off x="2197140" y="5299372"/>
            <a:ext cx="293475" cy="550628"/>
          </a:xfrm>
          <a:prstGeom prst="rect">
            <a:avLst/>
          </a:prstGeom>
          <a:solidFill>
            <a:srgbClr val="A6A6A6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32" name="Shape 32"/>
          <p:cNvSpPr/>
          <p:nvPr/>
        </p:nvSpPr>
        <p:spPr>
          <a:xfrm>
            <a:off x="2097140" y="5039372"/>
            <a:ext cx="493475" cy="24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1.06</a:t>
            </a:r>
          </a:p>
        </p:txBody>
      </p:sp>
      <p:sp>
        <p:nvSpPr>
          <p:cNvPr id="33" name="Shape 33"/>
          <p:cNvSpPr/>
          <p:nvPr/>
        </p:nvSpPr>
        <p:spPr>
          <a:xfrm>
            <a:off x="2107204" y="5880000"/>
            <a:ext cx="473348" cy="26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2층</a:t>
            </a:r>
          </a:p>
        </p:txBody>
      </p:sp>
      <p:sp>
        <p:nvSpPr>
          <p:cNvPr id="34" name="Shape 34"/>
          <p:cNvSpPr/>
          <p:nvPr/>
        </p:nvSpPr>
        <p:spPr>
          <a:xfrm>
            <a:off x="2670488" y="5265065"/>
            <a:ext cx="293475" cy="584935"/>
          </a:xfrm>
          <a:prstGeom prst="rect">
            <a:avLst/>
          </a:prstGeom>
          <a:solidFill>
            <a:srgbClr val="A6A6A6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35" name="Shape 35"/>
          <p:cNvSpPr/>
          <p:nvPr/>
        </p:nvSpPr>
        <p:spPr>
          <a:xfrm>
            <a:off x="2570488" y="5005065"/>
            <a:ext cx="493475" cy="24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1.12</a:t>
            </a:r>
          </a:p>
        </p:txBody>
      </p:sp>
      <p:sp>
        <p:nvSpPr>
          <p:cNvPr id="36" name="Shape 36"/>
          <p:cNvSpPr/>
          <p:nvPr/>
        </p:nvSpPr>
        <p:spPr>
          <a:xfrm>
            <a:off x="2580552" y="5880000"/>
            <a:ext cx="473348" cy="26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3층</a:t>
            </a:r>
          </a:p>
        </p:txBody>
      </p:sp>
      <p:sp>
        <p:nvSpPr>
          <p:cNvPr id="37" name="Shape 37"/>
          <p:cNvSpPr/>
          <p:nvPr/>
        </p:nvSpPr>
        <p:spPr>
          <a:xfrm>
            <a:off x="3143836" y="5232308"/>
            <a:ext cx="293475" cy="617692"/>
          </a:xfrm>
          <a:prstGeom prst="rect">
            <a:avLst/>
          </a:prstGeom>
          <a:solidFill>
            <a:srgbClr val="A6A6A6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38" name="Shape 38"/>
          <p:cNvSpPr/>
          <p:nvPr/>
        </p:nvSpPr>
        <p:spPr>
          <a:xfrm>
            <a:off x="3043836" y="4972308"/>
            <a:ext cx="493475" cy="24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1.18</a:t>
            </a:r>
          </a:p>
        </p:txBody>
      </p:sp>
      <p:sp>
        <p:nvSpPr>
          <p:cNvPr id="39" name="Shape 39"/>
          <p:cNvSpPr/>
          <p:nvPr/>
        </p:nvSpPr>
        <p:spPr>
          <a:xfrm>
            <a:off x="3053900" y="5880000"/>
            <a:ext cx="473348" cy="26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4층</a:t>
            </a:r>
          </a:p>
        </p:txBody>
      </p:sp>
      <p:sp>
        <p:nvSpPr>
          <p:cNvPr id="40" name="Shape 40"/>
          <p:cNvSpPr/>
          <p:nvPr/>
        </p:nvSpPr>
        <p:spPr>
          <a:xfrm>
            <a:off x="3617184" y="5137480"/>
            <a:ext cx="293475" cy="7125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41" name="Shape 41"/>
          <p:cNvSpPr/>
          <p:nvPr/>
        </p:nvSpPr>
        <p:spPr>
          <a:xfrm>
            <a:off x="3517184" y="4877480"/>
            <a:ext cx="493475" cy="24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1.37</a:t>
            </a:r>
          </a:p>
        </p:txBody>
      </p:sp>
      <p:sp>
        <p:nvSpPr>
          <p:cNvPr id="42" name="Shape 42"/>
          <p:cNvSpPr/>
          <p:nvPr/>
        </p:nvSpPr>
        <p:spPr>
          <a:xfrm>
            <a:off x="3527248" y="5880000"/>
            <a:ext cx="473348" cy="26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5층</a:t>
            </a:r>
          </a:p>
        </p:txBody>
      </p:sp>
      <p:sp>
        <p:nvSpPr>
          <p:cNvPr id="43" name="Shape 43"/>
          <p:cNvSpPr/>
          <p:nvPr/>
        </p:nvSpPr>
        <p:spPr>
          <a:xfrm>
            <a:off x="4090532" y="5084714"/>
            <a:ext cx="293475" cy="765286"/>
          </a:xfrm>
          <a:prstGeom prst="rect">
            <a:avLst/>
          </a:prstGeom>
          <a:solidFill>
            <a:srgbClr val="A6A6A6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44" name="Shape 44"/>
          <p:cNvSpPr/>
          <p:nvPr/>
        </p:nvSpPr>
        <p:spPr>
          <a:xfrm>
            <a:off x="3990532" y="4824714"/>
            <a:ext cx="493475" cy="24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1.47</a:t>
            </a:r>
          </a:p>
        </p:txBody>
      </p:sp>
      <p:sp>
        <p:nvSpPr>
          <p:cNvPr id="45" name="Shape 45"/>
          <p:cNvSpPr/>
          <p:nvPr/>
        </p:nvSpPr>
        <p:spPr>
          <a:xfrm>
            <a:off x="4000596" y="5880000"/>
            <a:ext cx="473348" cy="26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6층</a:t>
            </a:r>
          </a:p>
        </p:txBody>
      </p:sp>
      <p:sp>
        <p:nvSpPr>
          <p:cNvPr id="46" name="Shape 46"/>
          <p:cNvSpPr/>
          <p:nvPr/>
        </p:nvSpPr>
        <p:spPr>
          <a:xfrm>
            <a:off x="4563880" y="5030005"/>
            <a:ext cx="293475" cy="819995"/>
          </a:xfrm>
          <a:prstGeom prst="rect">
            <a:avLst/>
          </a:prstGeom>
          <a:solidFill>
            <a:srgbClr val="A6A6A6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47" name="Shape 47"/>
          <p:cNvSpPr/>
          <p:nvPr/>
        </p:nvSpPr>
        <p:spPr>
          <a:xfrm>
            <a:off x="4463880" y="4770005"/>
            <a:ext cx="493475" cy="24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1.57</a:t>
            </a:r>
          </a:p>
        </p:txBody>
      </p:sp>
      <p:sp>
        <p:nvSpPr>
          <p:cNvPr id="48" name="Shape 48"/>
          <p:cNvSpPr/>
          <p:nvPr/>
        </p:nvSpPr>
        <p:spPr>
          <a:xfrm>
            <a:off x="4473944" y="5880000"/>
            <a:ext cx="473348" cy="26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7층</a:t>
            </a:r>
          </a:p>
        </p:txBody>
      </p:sp>
      <p:sp>
        <p:nvSpPr>
          <p:cNvPr id="49" name="Shape 49"/>
          <p:cNvSpPr/>
          <p:nvPr/>
        </p:nvSpPr>
        <p:spPr>
          <a:xfrm>
            <a:off x="5037228" y="4970855"/>
            <a:ext cx="293475" cy="879145"/>
          </a:xfrm>
          <a:prstGeom prst="rect">
            <a:avLst/>
          </a:prstGeom>
          <a:solidFill>
            <a:srgbClr val="A6A6A6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50" name="Shape 50"/>
          <p:cNvSpPr/>
          <p:nvPr/>
        </p:nvSpPr>
        <p:spPr>
          <a:xfrm>
            <a:off x="4937228" y="4710855"/>
            <a:ext cx="493475" cy="24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1.69</a:t>
            </a:r>
          </a:p>
        </p:txBody>
      </p:sp>
      <p:sp>
        <p:nvSpPr>
          <p:cNvPr id="51" name="Shape 51"/>
          <p:cNvSpPr/>
          <p:nvPr/>
        </p:nvSpPr>
        <p:spPr>
          <a:xfrm>
            <a:off x="4947292" y="5880000"/>
            <a:ext cx="473348" cy="26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8층</a:t>
            </a:r>
          </a:p>
        </p:txBody>
      </p:sp>
      <p:sp>
        <p:nvSpPr>
          <p:cNvPr id="52" name="Shape 52"/>
          <p:cNvSpPr/>
          <p:nvPr/>
        </p:nvSpPr>
        <p:spPr>
          <a:xfrm>
            <a:off x="5510576" y="4907324"/>
            <a:ext cx="293475" cy="942676"/>
          </a:xfrm>
          <a:prstGeom prst="rect">
            <a:avLst/>
          </a:prstGeom>
          <a:solidFill>
            <a:srgbClr val="A6A6A6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53" name="Shape 53"/>
          <p:cNvSpPr/>
          <p:nvPr/>
        </p:nvSpPr>
        <p:spPr>
          <a:xfrm>
            <a:off x="5410576" y="4647324"/>
            <a:ext cx="493475" cy="24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1.81</a:t>
            </a:r>
          </a:p>
        </p:txBody>
      </p:sp>
      <p:sp>
        <p:nvSpPr>
          <p:cNvPr id="54" name="Shape 54"/>
          <p:cNvSpPr/>
          <p:nvPr/>
        </p:nvSpPr>
        <p:spPr>
          <a:xfrm>
            <a:off x="5420640" y="5880000"/>
            <a:ext cx="473348" cy="26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9층</a:t>
            </a:r>
          </a:p>
        </p:txBody>
      </p:sp>
      <p:sp>
        <p:nvSpPr>
          <p:cNvPr id="55" name="Shape 55"/>
          <p:cNvSpPr/>
          <p:nvPr/>
        </p:nvSpPr>
        <p:spPr>
          <a:xfrm>
            <a:off x="5983924" y="4839710"/>
            <a:ext cx="293475" cy="101029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56" name="Shape 56"/>
          <p:cNvSpPr/>
          <p:nvPr/>
        </p:nvSpPr>
        <p:spPr>
          <a:xfrm>
            <a:off x="5883924" y="4579710"/>
            <a:ext cx="493475" cy="24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1.94</a:t>
            </a:r>
          </a:p>
        </p:txBody>
      </p:sp>
      <p:sp>
        <p:nvSpPr>
          <p:cNvPr id="57" name="Shape 57"/>
          <p:cNvSpPr/>
          <p:nvPr/>
        </p:nvSpPr>
        <p:spPr>
          <a:xfrm>
            <a:off x="5893988" y="5880000"/>
            <a:ext cx="473348" cy="26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10층</a:t>
            </a:r>
          </a:p>
        </p:txBody>
      </p:sp>
      <p:sp>
        <p:nvSpPr>
          <p:cNvPr id="58" name="Shape 58"/>
          <p:cNvSpPr/>
          <p:nvPr/>
        </p:nvSpPr>
        <p:spPr>
          <a:xfrm>
            <a:off x="6457272" y="4767335"/>
            <a:ext cx="293475" cy="1082665"/>
          </a:xfrm>
          <a:prstGeom prst="rect">
            <a:avLst/>
          </a:prstGeom>
          <a:solidFill>
            <a:srgbClr val="A6A6A6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59" name="Shape 59"/>
          <p:cNvSpPr/>
          <p:nvPr/>
        </p:nvSpPr>
        <p:spPr>
          <a:xfrm>
            <a:off x="6357272" y="4507335"/>
            <a:ext cx="493475" cy="24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2.08</a:t>
            </a:r>
          </a:p>
        </p:txBody>
      </p:sp>
      <p:sp>
        <p:nvSpPr>
          <p:cNvPr id="60" name="Shape 60"/>
          <p:cNvSpPr/>
          <p:nvPr/>
        </p:nvSpPr>
        <p:spPr>
          <a:xfrm>
            <a:off x="6367336" y="5880000"/>
            <a:ext cx="473348" cy="26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11층</a:t>
            </a:r>
          </a:p>
        </p:txBody>
      </p:sp>
      <p:sp>
        <p:nvSpPr>
          <p:cNvPr id="61" name="Shape 61"/>
          <p:cNvSpPr/>
          <p:nvPr/>
        </p:nvSpPr>
        <p:spPr>
          <a:xfrm>
            <a:off x="6930620" y="4689477"/>
            <a:ext cx="293475" cy="1160523"/>
          </a:xfrm>
          <a:prstGeom prst="rect">
            <a:avLst/>
          </a:prstGeom>
          <a:solidFill>
            <a:srgbClr val="A6A6A6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62" name="Shape 62"/>
          <p:cNvSpPr/>
          <p:nvPr/>
        </p:nvSpPr>
        <p:spPr>
          <a:xfrm>
            <a:off x="6830620" y="4429477"/>
            <a:ext cx="493475" cy="24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2.23</a:t>
            </a:r>
          </a:p>
        </p:txBody>
      </p:sp>
      <p:sp>
        <p:nvSpPr>
          <p:cNvPr id="63" name="Shape 63"/>
          <p:cNvSpPr/>
          <p:nvPr/>
        </p:nvSpPr>
        <p:spPr>
          <a:xfrm>
            <a:off x="6840684" y="5880000"/>
            <a:ext cx="473348" cy="26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12층</a:t>
            </a:r>
          </a:p>
        </p:txBody>
      </p:sp>
      <p:sp>
        <p:nvSpPr>
          <p:cNvPr id="64" name="Shape 64"/>
          <p:cNvSpPr/>
          <p:nvPr/>
        </p:nvSpPr>
        <p:spPr>
          <a:xfrm>
            <a:off x="7403968" y="4605814"/>
            <a:ext cx="293475" cy="1244186"/>
          </a:xfrm>
          <a:prstGeom prst="rect">
            <a:avLst/>
          </a:prstGeom>
          <a:solidFill>
            <a:srgbClr val="A6A6A6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65" name="Shape 65"/>
          <p:cNvSpPr/>
          <p:nvPr/>
        </p:nvSpPr>
        <p:spPr>
          <a:xfrm>
            <a:off x="7303968" y="4345814"/>
            <a:ext cx="493475" cy="24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2.39</a:t>
            </a:r>
          </a:p>
        </p:txBody>
      </p:sp>
      <p:sp>
        <p:nvSpPr>
          <p:cNvPr id="66" name="Shape 66"/>
          <p:cNvSpPr/>
          <p:nvPr/>
        </p:nvSpPr>
        <p:spPr>
          <a:xfrm>
            <a:off x="7314032" y="5880000"/>
            <a:ext cx="473348" cy="26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13층</a:t>
            </a:r>
          </a:p>
        </p:txBody>
      </p:sp>
      <p:sp>
        <p:nvSpPr>
          <p:cNvPr id="67" name="Shape 67"/>
          <p:cNvSpPr/>
          <p:nvPr/>
        </p:nvSpPr>
        <p:spPr>
          <a:xfrm>
            <a:off x="7877316" y="4521132"/>
            <a:ext cx="293475" cy="1328868"/>
          </a:xfrm>
          <a:prstGeom prst="rect">
            <a:avLst/>
          </a:prstGeom>
          <a:solidFill>
            <a:srgbClr val="A6A6A6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68" name="Shape 68"/>
          <p:cNvSpPr/>
          <p:nvPr/>
        </p:nvSpPr>
        <p:spPr>
          <a:xfrm>
            <a:off x="7777316" y="4261132"/>
            <a:ext cx="493475" cy="24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2.55</a:t>
            </a:r>
          </a:p>
        </p:txBody>
      </p:sp>
      <p:sp>
        <p:nvSpPr>
          <p:cNvPr id="69" name="Shape 69"/>
          <p:cNvSpPr/>
          <p:nvPr/>
        </p:nvSpPr>
        <p:spPr>
          <a:xfrm>
            <a:off x="7787380" y="5880000"/>
            <a:ext cx="473348" cy="26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14층</a:t>
            </a:r>
          </a:p>
        </p:txBody>
      </p:sp>
      <p:sp>
        <p:nvSpPr>
          <p:cNvPr id="70" name="Shape 70"/>
          <p:cNvSpPr/>
          <p:nvPr/>
        </p:nvSpPr>
        <p:spPr>
          <a:xfrm>
            <a:off x="8350664" y="4418519"/>
            <a:ext cx="293475" cy="1431481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71" name="Shape 71"/>
          <p:cNvSpPr/>
          <p:nvPr/>
        </p:nvSpPr>
        <p:spPr>
          <a:xfrm>
            <a:off x="8250664" y="4158519"/>
            <a:ext cx="493475" cy="24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2.75</a:t>
            </a:r>
          </a:p>
        </p:txBody>
      </p:sp>
      <p:sp>
        <p:nvSpPr>
          <p:cNvPr id="72" name="Shape 72"/>
          <p:cNvSpPr/>
          <p:nvPr/>
        </p:nvSpPr>
        <p:spPr>
          <a:xfrm>
            <a:off x="8260728" y="5880000"/>
            <a:ext cx="473348" cy="26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15층</a:t>
            </a:r>
          </a:p>
        </p:txBody>
      </p:sp>
      <p:sp>
        <p:nvSpPr>
          <p:cNvPr id="73" name="Shape 73"/>
          <p:cNvSpPr/>
          <p:nvPr/>
        </p:nvSpPr>
        <p:spPr>
          <a:xfrm>
            <a:off x="8824012" y="4203551"/>
            <a:ext cx="293475" cy="1646449"/>
          </a:xfrm>
          <a:prstGeom prst="rect">
            <a:avLst/>
          </a:prstGeom>
          <a:solidFill>
            <a:srgbClr val="A6A6A6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74" name="Shape 74"/>
          <p:cNvSpPr/>
          <p:nvPr/>
        </p:nvSpPr>
        <p:spPr>
          <a:xfrm>
            <a:off x="8724012" y="3943551"/>
            <a:ext cx="493475" cy="24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3.16</a:t>
            </a:r>
          </a:p>
        </p:txBody>
      </p:sp>
      <p:sp>
        <p:nvSpPr>
          <p:cNvPr id="75" name="Shape 75"/>
          <p:cNvSpPr/>
          <p:nvPr/>
        </p:nvSpPr>
        <p:spPr>
          <a:xfrm>
            <a:off x="8734076" y="5880000"/>
            <a:ext cx="473348" cy="26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16층</a:t>
            </a:r>
          </a:p>
        </p:txBody>
      </p:sp>
      <p:sp>
        <p:nvSpPr>
          <p:cNvPr id="76" name="Shape 76"/>
          <p:cNvSpPr/>
          <p:nvPr/>
        </p:nvSpPr>
        <p:spPr>
          <a:xfrm>
            <a:off x="9297360" y="3972237"/>
            <a:ext cx="293475" cy="1877763"/>
          </a:xfrm>
          <a:prstGeom prst="rect">
            <a:avLst/>
          </a:prstGeom>
          <a:solidFill>
            <a:srgbClr val="A6A6A6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77" name="Shape 77"/>
          <p:cNvSpPr/>
          <p:nvPr/>
        </p:nvSpPr>
        <p:spPr>
          <a:xfrm>
            <a:off x="9197360" y="3712237"/>
            <a:ext cx="493475" cy="24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3.60</a:t>
            </a:r>
          </a:p>
        </p:txBody>
      </p:sp>
      <p:sp>
        <p:nvSpPr>
          <p:cNvPr id="78" name="Shape 78"/>
          <p:cNvSpPr/>
          <p:nvPr/>
        </p:nvSpPr>
        <p:spPr>
          <a:xfrm>
            <a:off x="9207424" y="5880000"/>
            <a:ext cx="473348" cy="26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17층</a:t>
            </a:r>
          </a:p>
        </p:txBody>
      </p:sp>
      <p:sp>
        <p:nvSpPr>
          <p:cNvPr id="79" name="Shape 79"/>
          <p:cNvSpPr/>
          <p:nvPr/>
        </p:nvSpPr>
        <p:spPr>
          <a:xfrm>
            <a:off x="9770708" y="3589984"/>
            <a:ext cx="293475" cy="2260016"/>
          </a:xfrm>
          <a:prstGeom prst="rect">
            <a:avLst/>
          </a:prstGeom>
          <a:solidFill>
            <a:srgbClr val="A6A6A6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80" name="Shape 80"/>
          <p:cNvSpPr/>
          <p:nvPr/>
        </p:nvSpPr>
        <p:spPr>
          <a:xfrm>
            <a:off x="9670708" y="3329984"/>
            <a:ext cx="493475" cy="24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4.33</a:t>
            </a:r>
          </a:p>
        </p:txBody>
      </p:sp>
      <p:sp>
        <p:nvSpPr>
          <p:cNvPr id="81" name="Shape 81"/>
          <p:cNvSpPr/>
          <p:nvPr/>
        </p:nvSpPr>
        <p:spPr>
          <a:xfrm>
            <a:off x="9680772" y="5880000"/>
            <a:ext cx="473348" cy="26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18층</a:t>
            </a:r>
          </a:p>
        </p:txBody>
      </p:sp>
      <p:sp>
        <p:nvSpPr>
          <p:cNvPr id="82" name="Shape 82"/>
          <p:cNvSpPr/>
          <p:nvPr/>
        </p:nvSpPr>
        <p:spPr>
          <a:xfrm>
            <a:off x="10244056" y="3095030"/>
            <a:ext cx="293475" cy="2754970"/>
          </a:xfrm>
          <a:prstGeom prst="rect">
            <a:avLst/>
          </a:prstGeom>
          <a:solidFill>
            <a:srgbClr val="A6A6A6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83" name="Shape 83"/>
          <p:cNvSpPr/>
          <p:nvPr/>
        </p:nvSpPr>
        <p:spPr>
          <a:xfrm>
            <a:off x="10144056" y="2835030"/>
            <a:ext cx="493475" cy="24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5.28</a:t>
            </a:r>
          </a:p>
        </p:txBody>
      </p:sp>
      <p:sp>
        <p:nvSpPr>
          <p:cNvPr id="84" name="Shape 84"/>
          <p:cNvSpPr/>
          <p:nvPr/>
        </p:nvSpPr>
        <p:spPr>
          <a:xfrm>
            <a:off x="10154120" y="5880000"/>
            <a:ext cx="473348" cy="26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19층</a:t>
            </a:r>
          </a:p>
        </p:txBody>
      </p:sp>
      <p:sp>
        <p:nvSpPr>
          <p:cNvPr id="85" name="Shape 85"/>
          <p:cNvSpPr/>
          <p:nvPr/>
        </p:nvSpPr>
        <p:spPr>
          <a:xfrm>
            <a:off x="10717404" y="2429878"/>
            <a:ext cx="293475" cy="3420122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86" name="Shape 86"/>
          <p:cNvSpPr/>
          <p:nvPr/>
        </p:nvSpPr>
        <p:spPr>
          <a:xfrm>
            <a:off x="10617404" y="2169878"/>
            <a:ext cx="493475" cy="24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6.56</a:t>
            </a:r>
          </a:p>
        </p:txBody>
      </p:sp>
      <p:sp>
        <p:nvSpPr>
          <p:cNvPr id="87" name="Shape 87"/>
          <p:cNvSpPr/>
          <p:nvPr/>
        </p:nvSpPr>
        <p:spPr>
          <a:xfrm>
            <a:off x="10627468" y="5880000"/>
            <a:ext cx="473348" cy="26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20층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1133856" y="6250000"/>
            <a:ext cx="996696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ko-KR" altLang="en-US" sz="105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체력 배율 1 → 1,860 (×1,860) · 치즈 배율 1 → 12,200 (×12,200) — 같은 물건이라도 높은 층에서 체력 대비 치즈가 큼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ko-KR" altLang="en-US" sz="105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주황 막대 = 보스 층 · 1.00 = 1층 플라스크 기준 · 낮은 층 반복보다 한 층 더 오르는 쪽이 이득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200" b="0" dirty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생성 · 보상</a:t>
            </a:r>
            <a:r>
              <a:rPr lang="ko-KR" altLang="en-US" sz="2400" b="0" dirty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물건 보충 · 로켓배송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1"/>
          <p:cNvSpPr/>
          <p:nvPr/>
        </p:nvSpPr>
        <p:spPr>
          <a:xfrm>
            <a:off x="1133856" y="1330977"/>
            <a:ext cx="9966960" cy="502920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lIns="109728" tIns="36576" rIns="109728" bIns="36576" rtlCol="0" anchor="ctr"/>
          <a:lstStyle/>
          <a:p>
            <a:pPr algn="l">
              <a:spcAft>
                <a:spcPts val="300"/>
              </a:spcAft>
              <a:buNone/>
            </a:pPr>
            <a:r>
              <a:rPr lang="ko-KR" altLang="en-US" sz="14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열린 방마다 상한까지 채우는 자동 보충과 60초마다 화면에 떨어지는 택배</a:t>
            </a:r>
          </a:p>
        </p:txBody>
      </p:sp>
      <p:sp>
        <p:nvSpPr>
          <p:cNvPr id="12" name="Rectangle 12"/>
          <p:cNvSpPr/>
          <p:nvPr/>
        </p:nvSpPr>
        <p:spPr>
          <a:xfrm>
            <a:off x="1133856" y="1950000"/>
            <a:ext cx="4833480" cy="3300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자동 보충 (일반 물건 · 보물)</a:t>
            </a:r>
          </a:p>
        </p:txBody>
      </p:sp>
      <p:graphicFrame>
        <p:nvGraphicFramePr>
          <p:cNvPr id="13" name="Table 13"/>
          <p:cNvGraphicFramePr>
            <a:graphicFrameLocks noGrp="1"/>
          </p:cNvGraphicFramePr>
          <p:nvPr/>
        </p:nvGraphicFramePr>
        <p:xfrm>
          <a:off x="1133856" y="2280000"/>
          <a:ext cx="4833480" cy="329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63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371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규칙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값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보충 주기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1.2초마다 1개</a:t>
                      </a:r>
                    </a:p>
                    <a:p>
                      <a:pPr algn="l"/>
                      <a:r>
                        <a:rPr lang="ko-KR" altLang="en-US" sz="10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(보충 속도 노드 최대 +120% → 약 0.55초)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보충 위치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열린 방 중 랜덤 한 곳 · 빈자리 12회 탐색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상한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열린 방 수 × 방당 24개</a:t>
                      </a:r>
                    </a:p>
                    <a:p>
                      <a:pPr algn="l"/>
                      <a:r>
                        <a:rPr lang="ko-KR" altLang="en-US" sz="10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(노드 +5개 · ×2.5)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층 시작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시작 방을 상한까지 즉시 채움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방이 열릴 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그 방에 상한의 절반(올림) 즉시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뽑기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등장 층 ≤ 지금 층 ≤ 마지막 층</a:t>
                      </a:r>
                    </a:p>
                    <a:p>
                      <a:pPr algn="l"/>
                      <a:r>
                        <a:rPr lang="ko-KR" altLang="en-US" sz="10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· 해금 노드 · 출현 가중치 비례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4" name="Rectangle 14"/>
          <p:cNvSpPr/>
          <p:nvPr/>
        </p:nvSpPr>
        <p:spPr>
          <a:xfrm>
            <a:off x="6267336" y="1950000"/>
            <a:ext cx="4833480" cy="3300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로켓배송 (택배 웨이브)</a:t>
            </a:r>
          </a:p>
        </p:txBody>
      </p:sp>
      <p:graphicFrame>
        <p:nvGraphicFramePr>
          <p:cNvPr id="15" name="Table 15"/>
          <p:cNvGraphicFramePr>
            <a:graphicFrameLocks noGrp="1"/>
          </p:cNvGraphicFramePr>
          <p:nvPr/>
        </p:nvGraphicFramePr>
        <p:xfrm>
          <a:off x="6267336" y="2280000"/>
          <a:ext cx="4833480" cy="329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63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371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규칙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값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첫 웨이브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층 시작 20초 뒤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주기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60초 (쿨타임 노드 -5초 → 55초, 최소 24초)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상자 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최대 15개</a:t>
                      </a:r>
                    </a:p>
                    <a:p>
                      <a:pPr algn="l"/>
                      <a:r>
                        <a:rPr lang="ko-KR" altLang="en-US" sz="10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'방 상한 × 1.8 − 화면 안 물건 수' 이하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낙하 위치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화면 안의 열린 방 바닥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내용물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상자 하나 = 자동 보충과 같은 뽑기 물건 1개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연출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배너 '로켓배송!' · 쥐 반응 (OnParcelWave)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200" b="0" dirty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생성 · 보상</a:t>
            </a:r>
            <a:r>
              <a:rPr lang="ko-KR" altLang="en-US" sz="2400" b="0" dirty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한 층의 생성 타임라인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1"/>
          <p:cNvSpPr/>
          <p:nvPr/>
        </p:nvSpPr>
        <p:spPr>
          <a:xfrm>
            <a:off x="1133856" y="1330977"/>
            <a:ext cx="9966960" cy="502920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lIns="109728" tIns="36576" rIns="109728" bIns="36576" rtlCol="0" anchor="ctr"/>
          <a:lstStyle/>
          <a:p>
            <a:pPr algn="l">
              <a:spcAft>
                <a:spcPts val="300"/>
              </a:spcAft>
              <a:buNone/>
            </a:pPr>
            <a:r>
              <a:rPr lang="ko-KR" altLang="en-US" sz="14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제한 시간 180초 동안 오브젝트가 생기는 순서 — 예시 흐름 (방 열림 시점은 플레이마다 다름)</a:t>
            </a:r>
          </a:p>
        </p:txBody>
      </p:sp>
      <p:sp>
        <p:nvSpPr>
          <p:cNvPr id="12" name="Shape 12"/>
          <p:cNvSpPr/>
          <p:nvPr/>
        </p:nvSpPr>
        <p:spPr>
          <a:xfrm>
            <a:off x="1433856" y="4270000"/>
            <a:ext cx="9366960" cy="60000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13" name="Shape 13"/>
          <p:cNvSpPr/>
          <p:nvPr/>
        </p:nvSpPr>
        <p:spPr>
          <a:xfrm>
            <a:off x="1418856" y="4210000"/>
            <a:ext cx="30000" cy="180000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14" name="Shape 14"/>
          <p:cNvSpPr/>
          <p:nvPr/>
        </p:nvSpPr>
        <p:spPr>
          <a:xfrm>
            <a:off x="1083856" y="4680000"/>
            <a:ext cx="700000" cy="22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0초</a:t>
            </a:r>
          </a:p>
        </p:txBody>
      </p:sp>
      <p:sp>
        <p:nvSpPr>
          <p:cNvPr id="15" name="Shape 15"/>
          <p:cNvSpPr/>
          <p:nvPr/>
        </p:nvSpPr>
        <p:spPr>
          <a:xfrm>
            <a:off x="2980016" y="4210000"/>
            <a:ext cx="30000" cy="180000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16" name="Shape 16"/>
          <p:cNvSpPr/>
          <p:nvPr/>
        </p:nvSpPr>
        <p:spPr>
          <a:xfrm>
            <a:off x="2645016" y="4680000"/>
            <a:ext cx="700000" cy="22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30초</a:t>
            </a:r>
          </a:p>
        </p:txBody>
      </p:sp>
      <p:sp>
        <p:nvSpPr>
          <p:cNvPr id="17" name="Shape 17"/>
          <p:cNvSpPr/>
          <p:nvPr/>
        </p:nvSpPr>
        <p:spPr>
          <a:xfrm>
            <a:off x="4541176" y="4210000"/>
            <a:ext cx="30000" cy="180000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18" name="Shape 18"/>
          <p:cNvSpPr/>
          <p:nvPr/>
        </p:nvSpPr>
        <p:spPr>
          <a:xfrm>
            <a:off x="4206176" y="4680000"/>
            <a:ext cx="700000" cy="22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60초</a:t>
            </a:r>
          </a:p>
        </p:txBody>
      </p:sp>
      <p:sp>
        <p:nvSpPr>
          <p:cNvPr id="19" name="Shape 19"/>
          <p:cNvSpPr/>
          <p:nvPr/>
        </p:nvSpPr>
        <p:spPr>
          <a:xfrm>
            <a:off x="6102336" y="4210000"/>
            <a:ext cx="30000" cy="180000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20" name="Shape 20"/>
          <p:cNvSpPr/>
          <p:nvPr/>
        </p:nvSpPr>
        <p:spPr>
          <a:xfrm>
            <a:off x="5767336" y="4680000"/>
            <a:ext cx="700000" cy="22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90초</a:t>
            </a:r>
          </a:p>
        </p:txBody>
      </p:sp>
      <p:sp>
        <p:nvSpPr>
          <p:cNvPr id="21" name="Shape 21"/>
          <p:cNvSpPr/>
          <p:nvPr/>
        </p:nvSpPr>
        <p:spPr>
          <a:xfrm>
            <a:off x="7663496" y="4210000"/>
            <a:ext cx="30000" cy="180000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22" name="Shape 22"/>
          <p:cNvSpPr/>
          <p:nvPr/>
        </p:nvSpPr>
        <p:spPr>
          <a:xfrm>
            <a:off x="7328496" y="4680000"/>
            <a:ext cx="700000" cy="22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120초</a:t>
            </a:r>
          </a:p>
        </p:txBody>
      </p:sp>
      <p:sp>
        <p:nvSpPr>
          <p:cNvPr id="23" name="Shape 23"/>
          <p:cNvSpPr/>
          <p:nvPr/>
        </p:nvSpPr>
        <p:spPr>
          <a:xfrm>
            <a:off x="9224656" y="4210000"/>
            <a:ext cx="30000" cy="180000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24" name="Shape 24"/>
          <p:cNvSpPr/>
          <p:nvPr/>
        </p:nvSpPr>
        <p:spPr>
          <a:xfrm>
            <a:off x="8889656" y="4680000"/>
            <a:ext cx="700000" cy="22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150초</a:t>
            </a:r>
          </a:p>
        </p:txBody>
      </p:sp>
      <p:sp>
        <p:nvSpPr>
          <p:cNvPr id="25" name="Shape 25"/>
          <p:cNvSpPr/>
          <p:nvPr/>
        </p:nvSpPr>
        <p:spPr>
          <a:xfrm>
            <a:off x="10785816" y="4210000"/>
            <a:ext cx="30000" cy="180000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26" name="Shape 26"/>
          <p:cNvSpPr/>
          <p:nvPr/>
        </p:nvSpPr>
        <p:spPr>
          <a:xfrm>
            <a:off x="10450816" y="4680000"/>
            <a:ext cx="700000" cy="22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180초</a:t>
            </a:r>
          </a:p>
        </p:txBody>
      </p:sp>
      <p:sp>
        <p:nvSpPr>
          <p:cNvPr id="27" name="Shape 27"/>
          <p:cNvSpPr/>
          <p:nvPr/>
        </p:nvSpPr>
        <p:spPr>
          <a:xfrm>
            <a:off x="1433856" y="4430000"/>
            <a:ext cx="9366960" cy="200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물건 자동 보충 — 1.2초마다 1개 (열린 방 상한까지)</a:t>
            </a:r>
          </a:p>
        </p:txBody>
      </p:sp>
      <p:cxnSp>
        <p:nvCxnSpPr>
          <p:cNvPr id="28" name="Connector 28"/>
          <p:cNvCxnSpPr/>
          <p:nvPr/>
        </p:nvCxnSpPr>
        <p:spPr>
          <a:xfrm>
            <a:off x="1433856" y="2800000"/>
            <a:ext cx="0" cy="1460000"/>
          </a:xfrm>
          <a:prstGeom prst="straightConnector1">
            <a:avLst/>
          </a:prstGeom>
          <a:ln w="12700">
            <a:solidFill>
              <a:srgbClr val="E97132"/>
            </a:solidFill>
          </a:ln>
        </p:spPr>
      </p:cxnSp>
      <p:sp>
        <p:nvSpPr>
          <p:cNvPr id="29" name="Shape 29"/>
          <p:cNvSpPr/>
          <p:nvPr/>
        </p:nvSpPr>
        <p:spPr>
          <a:xfrm>
            <a:off x="1183856" y="1950000"/>
            <a:ext cx="1850000" cy="8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97132"/>
            </a:solidFill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8602" y="2070000"/>
            <a:ext cx="390508" cy="600000"/>
          </a:xfrm>
          <a:prstGeom prst="rect">
            <a:avLst/>
          </a:prstGeom>
        </p:spPr>
      </p:pic>
      <p:pic>
        <p:nvPicPr>
          <p:cNvPr id="31" name="Picture 3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856" y="2079574"/>
            <a:ext cx="420000" cy="580851"/>
          </a:xfrm>
          <a:prstGeom prst="rect">
            <a:avLst/>
          </a:prstGeom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3856" y="2146142"/>
            <a:ext cx="420000" cy="447715"/>
          </a:xfrm>
          <a:prstGeom prst="rect">
            <a:avLst/>
          </a:prstGeom>
        </p:spPr>
      </p:pic>
      <p:sp>
        <p:nvSpPr>
          <p:cNvPr id="33" name="Shape 33"/>
          <p:cNvSpPr/>
          <p:nvPr/>
        </p:nvSpPr>
        <p:spPr>
          <a:xfrm>
            <a:off x="2143856" y="1990000"/>
            <a:ext cx="860000" cy="77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l"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0초 · 층 시작</a:t>
            </a:r>
          </a:p>
          <a:p>
            <a:pPr algn="l">
              <a:spcAft>
                <a:spcPts val="0"/>
              </a:spcAft>
              <a:buNone/>
            </a:pPr>
            <a:r>
              <a:rPr lang="ko-KR" altLang="en-US" sz="85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시작 방 물건 24개 · 가구 · 사람 1~2명</a:t>
            </a:r>
          </a:p>
        </p:txBody>
      </p:sp>
      <p:cxnSp>
        <p:nvCxnSpPr>
          <p:cNvPr id="34" name="Connector 34"/>
          <p:cNvCxnSpPr/>
          <p:nvPr/>
        </p:nvCxnSpPr>
        <p:spPr>
          <a:xfrm>
            <a:off x="2474629" y="3800000"/>
            <a:ext cx="0" cy="460000"/>
          </a:xfrm>
          <a:prstGeom prst="straightConnector1">
            <a:avLst/>
          </a:prstGeom>
          <a:ln w="12700">
            <a:solidFill>
              <a:srgbClr val="7F7F7F"/>
            </a:solidFill>
            <a:prstDash val="dash"/>
          </a:ln>
        </p:spPr>
      </p:cxnSp>
      <p:sp>
        <p:nvSpPr>
          <p:cNvPr id="35" name="Shape 35"/>
          <p:cNvSpPr/>
          <p:nvPr/>
        </p:nvSpPr>
        <p:spPr>
          <a:xfrm>
            <a:off x="2224629" y="2950000"/>
            <a:ext cx="1850000" cy="8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pic>
        <p:nvPicPr>
          <p:cNvPr id="36" name="Picture 3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74629" y="3198952"/>
            <a:ext cx="420000" cy="342096"/>
          </a:xfrm>
          <a:prstGeom prst="rect">
            <a:avLst/>
          </a:prstGeom>
        </p:spPr>
      </p:pic>
      <p:sp>
        <p:nvSpPr>
          <p:cNvPr id="37" name="Shape 37"/>
          <p:cNvSpPr/>
          <p:nvPr/>
        </p:nvSpPr>
        <p:spPr>
          <a:xfrm>
            <a:off x="2724629" y="2990000"/>
            <a:ext cx="1320000" cy="77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l"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20초 · 첫 로켓배송</a:t>
            </a:r>
          </a:p>
          <a:p>
            <a:pPr algn="l">
              <a:spcAft>
                <a:spcPts val="0"/>
              </a:spcAft>
              <a:buNone/>
            </a:pPr>
            <a:r>
              <a:rPr lang="ko-KR" altLang="en-US" sz="85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최대 15상자 → 물건</a:t>
            </a:r>
          </a:p>
        </p:txBody>
      </p:sp>
      <p:cxnSp>
        <p:nvCxnSpPr>
          <p:cNvPr id="38" name="Connector 38"/>
          <p:cNvCxnSpPr/>
          <p:nvPr/>
        </p:nvCxnSpPr>
        <p:spPr>
          <a:xfrm>
            <a:off x="4295982" y="2800000"/>
            <a:ext cx="0" cy="1460000"/>
          </a:xfrm>
          <a:prstGeom prst="straightConnector1">
            <a:avLst/>
          </a:prstGeom>
          <a:ln w="12700">
            <a:solidFill>
              <a:srgbClr val="E97132"/>
            </a:solidFill>
          </a:ln>
        </p:spPr>
      </p:cxnSp>
      <p:sp>
        <p:nvSpPr>
          <p:cNvPr id="39" name="Shape 39"/>
          <p:cNvSpPr/>
          <p:nvPr/>
        </p:nvSpPr>
        <p:spPr>
          <a:xfrm>
            <a:off x="4045982" y="1950000"/>
            <a:ext cx="1850000" cy="8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97132"/>
            </a:solidFill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pic>
        <p:nvPicPr>
          <p:cNvPr id="40" name="Picture 4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95982" y="2232737"/>
            <a:ext cx="420000" cy="274525"/>
          </a:xfrm>
          <a:prstGeom prst="rect">
            <a:avLst/>
          </a:prstGeom>
        </p:spPr>
      </p:pic>
      <p:pic>
        <p:nvPicPr>
          <p:cNvPr id="41" name="Picture 4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25982" y="2205000"/>
            <a:ext cx="420000" cy="330000"/>
          </a:xfrm>
          <a:prstGeom prst="rect">
            <a:avLst/>
          </a:prstGeom>
        </p:spPr>
      </p:pic>
      <p:sp>
        <p:nvSpPr>
          <p:cNvPr id="42" name="Shape 42"/>
          <p:cNvSpPr/>
          <p:nvPr/>
        </p:nvSpPr>
        <p:spPr>
          <a:xfrm>
            <a:off x="4775982" y="1990000"/>
            <a:ext cx="1090000" cy="77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l"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55초 · 벽 붕괴 → 방 열림</a:t>
            </a:r>
          </a:p>
          <a:p>
            <a:pPr algn="l">
              <a:spcAft>
                <a:spcPts val="0"/>
              </a:spcAft>
              <a:buNone/>
            </a:pPr>
            <a:r>
              <a:rPr lang="ko-KR" altLang="en-US" sz="85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물건 12개 · 가구 · 사람 1~2명 · 쥐덫</a:t>
            </a:r>
          </a:p>
        </p:txBody>
      </p:sp>
      <p:cxnSp>
        <p:nvCxnSpPr>
          <p:cNvPr id="43" name="Connector 43"/>
          <p:cNvCxnSpPr/>
          <p:nvPr/>
        </p:nvCxnSpPr>
        <p:spPr>
          <a:xfrm>
            <a:off x="5596949" y="3800000"/>
            <a:ext cx="0" cy="460000"/>
          </a:xfrm>
          <a:prstGeom prst="straightConnector1">
            <a:avLst/>
          </a:prstGeom>
          <a:ln w="12700">
            <a:solidFill>
              <a:srgbClr val="7F7F7F"/>
            </a:solidFill>
            <a:prstDash val="dash"/>
          </a:ln>
        </p:spPr>
      </p:cxnSp>
      <p:sp>
        <p:nvSpPr>
          <p:cNvPr id="44" name="Shape 44"/>
          <p:cNvSpPr/>
          <p:nvPr/>
        </p:nvSpPr>
        <p:spPr>
          <a:xfrm>
            <a:off x="5346949" y="2950000"/>
            <a:ext cx="1850000" cy="8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pic>
        <p:nvPicPr>
          <p:cNvPr id="45" name="Picture 4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6949" y="3198952"/>
            <a:ext cx="420000" cy="342096"/>
          </a:xfrm>
          <a:prstGeom prst="rect">
            <a:avLst/>
          </a:prstGeom>
        </p:spPr>
      </p:pic>
      <p:sp>
        <p:nvSpPr>
          <p:cNvPr id="46" name="Shape 46"/>
          <p:cNvSpPr/>
          <p:nvPr/>
        </p:nvSpPr>
        <p:spPr>
          <a:xfrm>
            <a:off x="5846949" y="2990000"/>
            <a:ext cx="1320000" cy="77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l"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80초 · 로켓배송</a:t>
            </a:r>
          </a:p>
          <a:p>
            <a:pPr algn="l">
              <a:spcAft>
                <a:spcPts val="0"/>
              </a:spcAft>
              <a:buNone/>
            </a:pPr>
            <a:r>
              <a:rPr lang="ko-KR" altLang="en-US" sz="85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60초마다</a:t>
            </a:r>
          </a:p>
        </p:txBody>
      </p:sp>
      <p:cxnSp>
        <p:nvCxnSpPr>
          <p:cNvPr id="47" name="Connector 47"/>
          <p:cNvCxnSpPr/>
          <p:nvPr/>
        </p:nvCxnSpPr>
        <p:spPr>
          <a:xfrm>
            <a:off x="7418302" y="2800000"/>
            <a:ext cx="0" cy="1460000"/>
          </a:xfrm>
          <a:prstGeom prst="straightConnector1">
            <a:avLst/>
          </a:prstGeom>
          <a:ln w="12700">
            <a:solidFill>
              <a:srgbClr val="E97132"/>
            </a:solidFill>
          </a:ln>
        </p:spPr>
      </p:cxnSp>
      <p:sp>
        <p:nvSpPr>
          <p:cNvPr id="48" name="Shape 48"/>
          <p:cNvSpPr/>
          <p:nvPr/>
        </p:nvSpPr>
        <p:spPr>
          <a:xfrm>
            <a:off x="7168302" y="1950000"/>
            <a:ext cx="1850000" cy="8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97132"/>
            </a:solidFill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pic>
        <p:nvPicPr>
          <p:cNvPr id="49" name="Picture 4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18302" y="2132577"/>
            <a:ext cx="420000" cy="474845"/>
          </a:xfrm>
          <a:prstGeom prst="rect">
            <a:avLst/>
          </a:prstGeom>
        </p:spPr>
      </p:pic>
      <p:sp>
        <p:nvSpPr>
          <p:cNvPr id="50" name="Shape 50"/>
          <p:cNvSpPr/>
          <p:nvPr/>
        </p:nvSpPr>
        <p:spPr>
          <a:xfrm>
            <a:off x="7668302" y="1990000"/>
            <a:ext cx="1320000" cy="77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l"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115초 · 계단 방 열림</a:t>
            </a:r>
          </a:p>
          <a:p>
            <a:pPr algn="l">
              <a:spcAft>
                <a:spcPts val="0"/>
              </a:spcAft>
              <a:buNone/>
            </a:pPr>
            <a:r>
              <a:rPr lang="ko-KR" altLang="en-US" sz="85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물건 12개 · 계단 (가구 · 사람 · 쥐덫 없음)</a:t>
            </a:r>
          </a:p>
        </p:txBody>
      </p:sp>
      <p:cxnSp>
        <p:nvCxnSpPr>
          <p:cNvPr id="51" name="Connector 51"/>
          <p:cNvCxnSpPr/>
          <p:nvPr/>
        </p:nvCxnSpPr>
        <p:spPr>
          <a:xfrm>
            <a:off x="8719269" y="3800000"/>
            <a:ext cx="0" cy="460000"/>
          </a:xfrm>
          <a:prstGeom prst="straightConnector1">
            <a:avLst/>
          </a:prstGeom>
          <a:ln w="12700">
            <a:solidFill>
              <a:srgbClr val="7F7F7F"/>
            </a:solidFill>
            <a:prstDash val="dash"/>
          </a:ln>
        </p:spPr>
      </p:cxnSp>
      <p:sp>
        <p:nvSpPr>
          <p:cNvPr id="52" name="Shape 52"/>
          <p:cNvSpPr/>
          <p:nvPr/>
        </p:nvSpPr>
        <p:spPr>
          <a:xfrm>
            <a:off x="8469269" y="2950000"/>
            <a:ext cx="1850000" cy="8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pic>
        <p:nvPicPr>
          <p:cNvPr id="53" name="Picture 5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9269" y="3198952"/>
            <a:ext cx="420000" cy="342096"/>
          </a:xfrm>
          <a:prstGeom prst="rect">
            <a:avLst/>
          </a:prstGeom>
        </p:spPr>
      </p:pic>
      <p:sp>
        <p:nvSpPr>
          <p:cNvPr id="54" name="Shape 54"/>
          <p:cNvSpPr/>
          <p:nvPr/>
        </p:nvSpPr>
        <p:spPr>
          <a:xfrm>
            <a:off x="8969269" y="2990000"/>
            <a:ext cx="1320000" cy="77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l"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140초 · 로켓배송</a:t>
            </a:r>
          </a:p>
          <a:p>
            <a:pPr algn="l">
              <a:spcAft>
                <a:spcPts val="0"/>
              </a:spcAft>
              <a:buNone/>
            </a:pPr>
            <a:r>
              <a:rPr lang="ko-KR" altLang="en-US" sz="85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60초마다</a:t>
            </a:r>
          </a:p>
        </p:txBody>
      </p:sp>
      <p:sp>
        <p:nvSpPr>
          <p:cNvPr id="55" name="Shape 55"/>
          <p:cNvSpPr/>
          <p:nvPr/>
        </p:nvSpPr>
        <p:spPr>
          <a:xfrm>
            <a:off x="1133856" y="5050000"/>
            <a:ext cx="2300000" cy="50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l"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사람 보충</a:t>
            </a:r>
          </a:p>
          <a:p>
            <a:pPr algn="l"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18~30초마다 1명</a:t>
            </a:r>
          </a:p>
        </p:txBody>
      </p:sp>
      <p:pic>
        <p:nvPicPr>
          <p:cNvPr id="56" name="Picture 5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62420" y="5050000"/>
            <a:ext cx="344803" cy="420000"/>
          </a:xfrm>
          <a:prstGeom prst="rect">
            <a:avLst/>
          </a:prstGeom>
        </p:spPr>
      </p:pic>
      <p:pic>
        <p:nvPicPr>
          <p:cNvPr id="57" name="Picture 5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55789" y="5063636"/>
            <a:ext cx="360000" cy="392727"/>
          </a:xfrm>
          <a:prstGeom prst="rect">
            <a:avLst/>
          </a:prstGeom>
        </p:spPr>
      </p:pic>
      <p:pic>
        <p:nvPicPr>
          <p:cNvPr id="58" name="Picture 5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68431" y="5050000"/>
            <a:ext cx="344803" cy="420000"/>
          </a:xfrm>
          <a:prstGeom prst="rect">
            <a:avLst/>
          </a:prstGeom>
        </p:spPr>
      </p:pic>
      <p:pic>
        <p:nvPicPr>
          <p:cNvPr id="59" name="Picture 5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17359" y="5050000"/>
            <a:ext cx="344803" cy="420000"/>
          </a:xfrm>
          <a:prstGeom prst="rect">
            <a:avLst/>
          </a:prstGeom>
        </p:spPr>
      </p:pic>
      <p:pic>
        <p:nvPicPr>
          <p:cNvPr id="60" name="Picture 6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19099" y="5050000"/>
            <a:ext cx="247333" cy="420000"/>
          </a:xfrm>
          <a:prstGeom prst="rect">
            <a:avLst/>
          </a:prstGeom>
        </p:spPr>
      </p:pic>
      <p:pic>
        <p:nvPicPr>
          <p:cNvPr id="61" name="Picture 6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23370" y="5050000"/>
            <a:ext cx="344803" cy="420000"/>
          </a:xfrm>
          <a:prstGeom prst="rect">
            <a:avLst/>
          </a:prstGeom>
        </p:spPr>
      </p:pic>
      <p:sp>
        <p:nvSpPr>
          <p:cNvPr id="62" name="TextBox 62"/>
          <p:cNvSpPr txBox="1"/>
          <p:nvPr/>
        </p:nvSpPr>
        <p:spPr>
          <a:xfrm>
            <a:off x="1133856" y="5700000"/>
            <a:ext cx="996696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ko-KR" altLang="en-US" sz="1000" b="1" dirty="0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0초</a:t>
            </a:r>
            <a:r>
              <a:rPr lang="ko-KR" altLang="en-US" sz="10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 시작 방 상한까지 즉시 채움  ·  </a:t>
            </a:r>
            <a:r>
              <a:rPr lang="ko-KR" altLang="en-US" sz="1000" b="1" dirty="0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방 열림</a:t>
            </a:r>
            <a:r>
              <a:rPr lang="ko-KR" altLang="en-US" sz="10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 그 방에 상한의 절반 즉시 + 테마 가구  ·  </a:t>
            </a:r>
            <a:r>
              <a:rPr lang="ko-KR" altLang="en-US" sz="1000" b="1" dirty="0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로켓배송</a:t>
            </a:r>
            <a:r>
              <a:rPr lang="ko-KR" altLang="en-US" sz="10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 첫 20초 뒤, 이후 60초마다 화면 안에 낙하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ko-KR" altLang="en-US" sz="1000" b="1" dirty="0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사람</a:t>
            </a:r>
            <a:r>
              <a:rPr lang="ko-KR" altLang="en-US" sz="10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 돌아다니는 사람이 최소 인원(2 + 층÷6)보다 적으면 2.5~4.5초마다 빠른 보충  ·  </a:t>
            </a:r>
            <a:r>
              <a:rPr lang="ko-KR" altLang="en-US" sz="1000" b="1" dirty="0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180초</a:t>
            </a:r>
            <a:r>
              <a:rPr lang="ko-KR" altLang="en-US" sz="10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 제한 시간 끝 (보스 층 +30초)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200" b="0" dirty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생성 · 보상</a:t>
            </a:r>
            <a:r>
              <a:rPr lang="ko-KR" altLang="en-US" sz="2400" b="0" dirty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가구 배치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1"/>
          <p:cNvSpPr/>
          <p:nvPr/>
        </p:nvSpPr>
        <p:spPr>
          <a:xfrm>
            <a:off x="1133856" y="1330977"/>
            <a:ext cx="9966960" cy="502920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lIns="109728" tIns="36576" rIns="109728" bIns="36576" rtlCol="0" anchor="ctr"/>
          <a:lstStyle/>
          <a:p>
            <a:pPr algn="l">
              <a:spcAft>
                <a:spcPts val="300"/>
              </a:spcAft>
              <a:buNone/>
            </a:pPr>
            <a:r>
              <a:rPr lang="ko-KR" altLang="en-US" sz="14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방이 열릴 때 방 테마 배치표대로 한 번만 놓이는 가구</a:t>
            </a:r>
          </a:p>
        </p:txBody>
      </p:sp>
      <p:graphicFrame>
        <p:nvGraphicFramePr>
          <p:cNvPr id="12" name="Table 12"/>
          <p:cNvGraphicFramePr>
            <a:graphicFrameLocks noGrp="1"/>
          </p:cNvGraphicFramePr>
          <p:nvPr/>
        </p:nvGraphicFramePr>
        <p:xfrm>
          <a:off x="1133856" y="1950000"/>
          <a:ext cx="9966960" cy="25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83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194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91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테마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배치 가구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개수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실험실 (Lab)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선반 ×2, 냉장고, 탁자, 의자(가구) ×2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사무실 (Office)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책장, 서류함, 화분, 책상 ×2, 의자(가구) ×2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휴게실 (Breakroom)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자판기, 냉장고, 소파, 화분, 탁자, 의자(가구) ×2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숙직실 (Nap)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사물함 ×2, 간이침대 ×2, 서류함, 화분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창고 (Storage)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선반 ×4, 사물함, 서류함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TextBox 13"/>
          <p:cNvSpPr txBox="1"/>
          <p:nvPr/>
        </p:nvSpPr>
        <p:spPr>
          <a:xfrm>
            <a:off x="1133856" y="4720000"/>
            <a:ext cx="996696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28600" indent="-228600" algn="l">
              <a:spcAft>
                <a:spcPts val="600"/>
              </a:spcAft>
              <a:buFont typeface="Arial"/>
              <a:buChar char="•"/>
            </a:pPr>
            <a:r>
              <a:rPr lang="ko-KR" altLang="en-US" sz="1150" b="1" dirty="0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시작 방</a:t>
            </a:r>
            <a:r>
              <a:rPr lang="ko-KR" altLang="en-US" sz="115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 항상 실험실 테마  ·  </a:t>
            </a:r>
            <a:r>
              <a:rPr lang="ko-KR" altLang="en-US" sz="1150" b="1" dirty="0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그 외 방</a:t>
            </a:r>
            <a:r>
              <a:rPr lang="ko-KR" altLang="en-US" sz="115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 5개 테마 중 랜덤 (판 시드 + 층 + 방 위치로 결정)  ·  </a:t>
            </a:r>
            <a:r>
              <a:rPr lang="ko-KR" altLang="en-US" sz="1150" b="1" dirty="0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계단 방</a:t>
            </a:r>
            <a:r>
              <a:rPr lang="ko-KR" altLang="en-US" sz="115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 가구 없음</a:t>
            </a:r>
          </a:p>
          <a:p>
            <a:pPr marL="228600" indent="-228600" algn="l">
              <a:spcAft>
                <a:spcPts val="600"/>
              </a:spcAft>
              <a:buFont typeface="Arial"/>
              <a:buChar char="•"/>
            </a:pPr>
            <a:r>
              <a:rPr lang="ko-KR" altLang="en-US" sz="1150" b="1" dirty="0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누락</a:t>
            </a:r>
            <a:r>
              <a:rPr lang="ko-KR" altLang="en-US" sz="115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 가구마다 15% 확률로 빠짐 → 방당 평균 약 5.4개  ·  </a:t>
            </a:r>
            <a:r>
              <a:rPr lang="ko-KR" altLang="en-US" sz="1150" b="1" dirty="0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재생성</a:t>
            </a:r>
            <a:r>
              <a:rPr lang="ko-KR" altLang="en-US" sz="115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 없음 (방이 열릴 때 한 번)</a:t>
            </a:r>
          </a:p>
          <a:p>
            <a:pPr marL="228600" indent="-228600" algn="l">
              <a:spcAft>
                <a:spcPts val="600"/>
              </a:spcAft>
              <a:buFont typeface="Arial"/>
              <a:buChar char="•"/>
            </a:pPr>
            <a:r>
              <a:rPr lang="ko-KR" altLang="en-US" sz="1150" b="1" dirty="0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위치</a:t>
            </a:r>
            <a:r>
              <a:rPr lang="ko-KR" altLang="en-US" sz="115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 배치표 pos_u · pos_v (방 안쪽 0~1 비율) + 좌우 ±2% 흔들림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200" b="0" dirty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생성 · 보상</a:t>
            </a:r>
            <a:r>
              <a:rPr lang="ko-KR" altLang="en-US" sz="2400" b="0" dirty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방 테마 배치도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1"/>
          <p:cNvSpPr/>
          <p:nvPr/>
        </p:nvSpPr>
        <p:spPr>
          <a:xfrm>
            <a:off x="1133856" y="1330977"/>
            <a:ext cx="9966960" cy="502920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lIns="109728" tIns="36576" rIns="109728" bIns="36576" rtlCol="0" anchor="ctr"/>
          <a:lstStyle/>
          <a:p>
            <a:pPr algn="l">
              <a:spcAft>
                <a:spcPts val="300"/>
              </a:spcAft>
              <a:buNone/>
            </a:pPr>
            <a:r>
              <a:rPr lang="ko-KR" altLang="en-US" sz="14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배치표 pos_u · pos_v 를 실제 방 비율(1280 × 800)에 옮긴 5개 테마 배치</a:t>
            </a:r>
          </a:p>
        </p:txBody>
      </p:sp>
      <p:sp>
        <p:nvSpPr>
          <p:cNvPr id="12" name="Shape 12"/>
          <p:cNvSpPr/>
          <p:nvPr/>
        </p:nvSpPr>
        <p:spPr>
          <a:xfrm>
            <a:off x="1133856" y="1950000"/>
            <a:ext cx="3000000" cy="1875000"/>
          </a:xfrm>
          <a:prstGeom prst="rect">
            <a:avLst/>
          </a:prstGeom>
          <a:solidFill>
            <a:srgbClr val="F7F3EE"/>
          </a:solidFill>
          <a:ln w="12700">
            <a:solidFill>
              <a:srgbClr val="7F7F7F"/>
            </a:solidFill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13" name="Shape 13"/>
          <p:cNvSpPr/>
          <p:nvPr/>
        </p:nvSpPr>
        <p:spPr>
          <a:xfrm>
            <a:off x="1133856" y="1950000"/>
            <a:ext cx="3000000" cy="1500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4230" y="1935385"/>
            <a:ext cx="406453" cy="562115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7830" y="1935385"/>
            <a:ext cx="406453" cy="562115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0975" y="2067242"/>
            <a:ext cx="280161" cy="457258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6146" y="2804815"/>
            <a:ext cx="467421" cy="340685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81374" y="3056661"/>
            <a:ext cx="202564" cy="304839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60974" y="3056661"/>
            <a:ext cx="202564" cy="304839"/>
          </a:xfrm>
          <a:prstGeom prst="rect">
            <a:avLst/>
          </a:prstGeom>
        </p:spPr>
      </p:pic>
      <p:sp>
        <p:nvSpPr>
          <p:cNvPr id="20" name="Shape 20"/>
          <p:cNvSpPr/>
          <p:nvPr/>
        </p:nvSpPr>
        <p:spPr>
          <a:xfrm>
            <a:off x="1133856" y="3845000"/>
            <a:ext cx="3000000" cy="30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실험실 (Lab) · 6개  — 시작 방</a:t>
            </a:r>
          </a:p>
        </p:txBody>
      </p:sp>
      <p:sp>
        <p:nvSpPr>
          <p:cNvPr id="21" name="Shape 21"/>
          <p:cNvSpPr/>
          <p:nvPr/>
        </p:nvSpPr>
        <p:spPr>
          <a:xfrm>
            <a:off x="4373856" y="1950000"/>
            <a:ext cx="3000000" cy="1875000"/>
          </a:xfrm>
          <a:prstGeom prst="rect">
            <a:avLst/>
          </a:prstGeom>
          <a:solidFill>
            <a:srgbClr val="F7F3EE"/>
          </a:solidFill>
          <a:ln w="12700">
            <a:solidFill>
              <a:srgbClr val="7F7F7F"/>
            </a:solidFill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22" name="Shape 22"/>
          <p:cNvSpPr/>
          <p:nvPr/>
        </p:nvSpPr>
        <p:spPr>
          <a:xfrm>
            <a:off x="4373856" y="1950000"/>
            <a:ext cx="3000000" cy="1500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3830" y="1959987"/>
            <a:ext cx="406453" cy="537513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88159" y="2128873"/>
            <a:ext cx="264194" cy="395627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70082" y="2198030"/>
            <a:ext cx="223549" cy="32647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03907" y="2469691"/>
            <a:ext cx="447098" cy="378809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6174" y="2759661"/>
            <a:ext cx="202564" cy="304839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95907" y="2955691"/>
            <a:ext cx="447098" cy="378809"/>
          </a:xfrm>
          <a:prstGeom prst="rect">
            <a:avLst/>
          </a:prstGeom>
        </p:spPr>
      </p:pic>
      <p:pic>
        <p:nvPicPr>
          <p:cNvPr id="29" name="Picture 2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8174" y="3218661"/>
            <a:ext cx="202564" cy="304839"/>
          </a:xfrm>
          <a:prstGeom prst="rect">
            <a:avLst/>
          </a:prstGeom>
        </p:spPr>
      </p:pic>
      <p:sp>
        <p:nvSpPr>
          <p:cNvPr id="30" name="Shape 30"/>
          <p:cNvSpPr/>
          <p:nvPr/>
        </p:nvSpPr>
        <p:spPr>
          <a:xfrm>
            <a:off x="4373856" y="3845000"/>
            <a:ext cx="3000000" cy="30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사무실 (Office) · 7개</a:t>
            </a:r>
          </a:p>
        </p:txBody>
      </p:sp>
      <p:sp>
        <p:nvSpPr>
          <p:cNvPr id="31" name="Shape 31"/>
          <p:cNvSpPr/>
          <p:nvPr/>
        </p:nvSpPr>
        <p:spPr>
          <a:xfrm>
            <a:off x="7613856" y="1950000"/>
            <a:ext cx="3000000" cy="1875000"/>
          </a:xfrm>
          <a:prstGeom prst="rect">
            <a:avLst/>
          </a:prstGeom>
          <a:solidFill>
            <a:srgbClr val="F7F3EE"/>
          </a:solidFill>
          <a:ln w="12700">
            <a:solidFill>
              <a:srgbClr val="7F7F7F"/>
            </a:solidFill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32" name="Shape 32"/>
          <p:cNvSpPr/>
          <p:nvPr/>
        </p:nvSpPr>
        <p:spPr>
          <a:xfrm>
            <a:off x="7613856" y="1950000"/>
            <a:ext cx="3000000" cy="1500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pic>
        <p:nvPicPr>
          <p:cNvPr id="33" name="Picture 3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33914" y="2043235"/>
            <a:ext cx="345485" cy="481265"/>
          </a:xfrm>
          <a:prstGeom prst="rect">
            <a:avLst/>
          </a:prstGeom>
        </p:spPr>
      </p:pic>
      <p:pic>
        <p:nvPicPr>
          <p:cNvPr id="34" name="Picture 3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9376" y="2067242"/>
            <a:ext cx="280161" cy="457258"/>
          </a:xfrm>
          <a:prstGeom prst="rect">
            <a:avLst/>
          </a:prstGeom>
        </p:spPr>
      </p:pic>
      <p:pic>
        <p:nvPicPr>
          <p:cNvPr id="35" name="Picture 3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303669" y="2272547"/>
            <a:ext cx="426775" cy="278953"/>
          </a:xfrm>
          <a:prstGeom prst="rect">
            <a:avLst/>
          </a:prstGeom>
        </p:spPr>
      </p:pic>
      <p:pic>
        <p:nvPicPr>
          <p:cNvPr id="36" name="Picture 3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10082" y="2225030"/>
            <a:ext cx="223549" cy="326470"/>
          </a:xfrm>
          <a:prstGeom prst="rect">
            <a:avLst/>
          </a:prstGeom>
        </p:spPr>
      </p:pic>
      <p:pic>
        <p:nvPicPr>
          <p:cNvPr id="37" name="Picture 3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80146" y="2858815"/>
            <a:ext cx="467421" cy="340685"/>
          </a:xfrm>
          <a:prstGeom prst="rect">
            <a:avLst/>
          </a:prstGeom>
        </p:spPr>
      </p:pic>
      <p:pic>
        <p:nvPicPr>
          <p:cNvPr id="38" name="Picture 3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59774" y="2894661"/>
            <a:ext cx="202564" cy="304839"/>
          </a:xfrm>
          <a:prstGeom prst="rect">
            <a:avLst/>
          </a:prstGeom>
        </p:spPr>
      </p:pic>
      <p:pic>
        <p:nvPicPr>
          <p:cNvPr id="39" name="Picture 3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65374" y="2894661"/>
            <a:ext cx="202564" cy="304839"/>
          </a:xfrm>
          <a:prstGeom prst="rect">
            <a:avLst/>
          </a:prstGeom>
        </p:spPr>
      </p:pic>
      <p:sp>
        <p:nvSpPr>
          <p:cNvPr id="40" name="Shape 40"/>
          <p:cNvSpPr/>
          <p:nvPr/>
        </p:nvSpPr>
        <p:spPr>
          <a:xfrm>
            <a:off x="7613856" y="3845000"/>
            <a:ext cx="3000000" cy="30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휴게실 (Breakroom) · 7개</a:t>
            </a:r>
          </a:p>
        </p:txBody>
      </p:sp>
      <p:sp>
        <p:nvSpPr>
          <p:cNvPr id="41" name="Shape 41"/>
          <p:cNvSpPr/>
          <p:nvPr/>
        </p:nvSpPr>
        <p:spPr>
          <a:xfrm>
            <a:off x="1133856" y="4225000"/>
            <a:ext cx="3000000" cy="1875000"/>
          </a:xfrm>
          <a:prstGeom prst="rect">
            <a:avLst/>
          </a:prstGeom>
          <a:solidFill>
            <a:srgbClr val="F7F3EE"/>
          </a:solidFill>
          <a:ln w="12700">
            <a:solidFill>
              <a:srgbClr val="7F7F7F"/>
            </a:solidFill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42" name="Shape 42"/>
          <p:cNvSpPr/>
          <p:nvPr/>
        </p:nvSpPr>
        <p:spPr>
          <a:xfrm>
            <a:off x="1133856" y="4225000"/>
            <a:ext cx="3000000" cy="1500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pic>
        <p:nvPicPr>
          <p:cNvPr id="43" name="Picture 4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001050" y="4284757"/>
            <a:ext cx="273611" cy="487743"/>
          </a:xfrm>
          <a:prstGeom prst="rect">
            <a:avLst/>
          </a:prstGeom>
        </p:spPr>
      </p:pic>
      <p:pic>
        <p:nvPicPr>
          <p:cNvPr id="44" name="Picture 4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253050" y="4284757"/>
            <a:ext cx="273611" cy="487743"/>
          </a:xfrm>
          <a:prstGeom prst="rect">
            <a:avLst/>
          </a:prstGeom>
        </p:spPr>
      </p:pic>
      <p:pic>
        <p:nvPicPr>
          <p:cNvPr id="45" name="Picture 4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09759" y="4403873"/>
            <a:ext cx="264194" cy="395627"/>
          </a:xfrm>
          <a:prstGeom prst="rect">
            <a:avLst/>
          </a:prstGeom>
        </p:spPr>
      </p:pic>
      <p:pic>
        <p:nvPicPr>
          <p:cNvPr id="46" name="Picture 4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05507" y="4811283"/>
            <a:ext cx="447097" cy="285217"/>
          </a:xfrm>
          <a:prstGeom prst="rect">
            <a:avLst/>
          </a:prstGeom>
        </p:spPr>
      </p:pic>
      <p:pic>
        <p:nvPicPr>
          <p:cNvPr id="47" name="Picture 47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05507" y="5324283"/>
            <a:ext cx="447097" cy="285217"/>
          </a:xfrm>
          <a:prstGeom prst="rect">
            <a:avLst/>
          </a:prstGeom>
        </p:spPr>
      </p:pic>
      <p:pic>
        <p:nvPicPr>
          <p:cNvPr id="48" name="Picture 4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30082" y="5418030"/>
            <a:ext cx="223549" cy="326470"/>
          </a:xfrm>
          <a:prstGeom prst="rect">
            <a:avLst/>
          </a:prstGeom>
        </p:spPr>
      </p:pic>
      <p:sp>
        <p:nvSpPr>
          <p:cNvPr id="49" name="Shape 49"/>
          <p:cNvSpPr/>
          <p:nvPr/>
        </p:nvSpPr>
        <p:spPr>
          <a:xfrm>
            <a:off x="1133856" y="6120000"/>
            <a:ext cx="3000000" cy="30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숙직실 (Nap) · 6개</a:t>
            </a:r>
          </a:p>
        </p:txBody>
      </p:sp>
      <p:sp>
        <p:nvSpPr>
          <p:cNvPr id="50" name="Shape 50"/>
          <p:cNvSpPr/>
          <p:nvPr/>
        </p:nvSpPr>
        <p:spPr>
          <a:xfrm>
            <a:off x="4373856" y="4225000"/>
            <a:ext cx="3000000" cy="1875000"/>
          </a:xfrm>
          <a:prstGeom prst="rect">
            <a:avLst/>
          </a:prstGeom>
          <a:solidFill>
            <a:srgbClr val="F7F3EE"/>
          </a:solidFill>
          <a:ln w="12700">
            <a:solidFill>
              <a:srgbClr val="7F7F7F"/>
            </a:solidFill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51" name="Shape 51"/>
          <p:cNvSpPr/>
          <p:nvPr/>
        </p:nvSpPr>
        <p:spPr>
          <a:xfrm>
            <a:off x="4373856" y="4225000"/>
            <a:ext cx="3000000" cy="1500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pic>
        <p:nvPicPr>
          <p:cNvPr id="52" name="Picture 5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3430" y="4210385"/>
            <a:ext cx="406453" cy="562115"/>
          </a:xfrm>
          <a:prstGeom prst="rect">
            <a:avLst/>
          </a:prstGeom>
        </p:spPr>
      </p:pic>
      <p:pic>
        <p:nvPicPr>
          <p:cNvPr id="53" name="Picture 5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7030" y="4210385"/>
            <a:ext cx="406453" cy="562115"/>
          </a:xfrm>
          <a:prstGeom prst="rect">
            <a:avLst/>
          </a:prstGeom>
        </p:spPr>
      </p:pic>
      <p:pic>
        <p:nvPicPr>
          <p:cNvPr id="54" name="Picture 5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0630" y="4210385"/>
            <a:ext cx="406453" cy="562115"/>
          </a:xfrm>
          <a:prstGeom prst="rect">
            <a:avLst/>
          </a:prstGeom>
        </p:spPr>
      </p:pic>
      <p:pic>
        <p:nvPicPr>
          <p:cNvPr id="55" name="Picture 55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42650" y="4284757"/>
            <a:ext cx="273611" cy="487743"/>
          </a:xfrm>
          <a:prstGeom prst="rect">
            <a:avLst/>
          </a:prstGeom>
        </p:spPr>
      </p:pic>
      <p:pic>
        <p:nvPicPr>
          <p:cNvPr id="56" name="Picture 5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49759" y="4403873"/>
            <a:ext cx="264194" cy="395627"/>
          </a:xfrm>
          <a:prstGeom prst="rect">
            <a:avLst/>
          </a:prstGeom>
        </p:spPr>
      </p:pic>
      <p:pic>
        <p:nvPicPr>
          <p:cNvPr id="57" name="Picture 5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7430" y="4939385"/>
            <a:ext cx="406453" cy="562115"/>
          </a:xfrm>
          <a:prstGeom prst="rect">
            <a:avLst/>
          </a:prstGeom>
        </p:spPr>
      </p:pic>
      <p:sp>
        <p:nvSpPr>
          <p:cNvPr id="58" name="Shape 58"/>
          <p:cNvSpPr/>
          <p:nvPr/>
        </p:nvSpPr>
        <p:spPr>
          <a:xfrm>
            <a:off x="4373856" y="6120000"/>
            <a:ext cx="3000000" cy="30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창고 (Storage) · 6개</a:t>
            </a:r>
          </a:p>
        </p:txBody>
      </p:sp>
      <p:sp>
        <p:nvSpPr>
          <p:cNvPr id="59" name="Shape 59"/>
          <p:cNvSpPr/>
          <p:nvPr/>
        </p:nvSpPr>
        <p:spPr>
          <a:xfrm>
            <a:off x="7613856" y="4225000"/>
            <a:ext cx="3000000" cy="1875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1200" b="1" dirty="0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배치 규칙</a:t>
            </a:r>
          </a:p>
          <a:p>
            <a:pPr algn="ctr">
              <a:spcAft>
                <a:spcPts val="0"/>
              </a:spcAft>
              <a:buNone/>
            </a:pPr>
            <a:r>
              <a:rPr lang="ko-KR" altLang="en-US" sz="10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시작 방 = 항상 실험실</a:t>
            </a:r>
          </a:p>
          <a:p>
            <a:pPr algn="ctr">
              <a:spcAft>
                <a:spcPts val="0"/>
              </a:spcAft>
              <a:buNone/>
            </a:pPr>
            <a:r>
              <a:rPr lang="ko-KR" altLang="en-US" sz="10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그 외 방 = 5개 테마 중 랜덤</a:t>
            </a:r>
          </a:p>
          <a:p>
            <a:pPr algn="ctr">
              <a:spcAft>
                <a:spcPts val="0"/>
              </a:spcAft>
              <a:buNone/>
            </a:pPr>
            <a:r>
              <a:rPr lang="ko-KR" altLang="en-US" sz="10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계단 방 = 가구 없음</a:t>
            </a:r>
          </a:p>
          <a:p>
            <a:pPr algn="ctr">
              <a:spcAft>
                <a:spcPts val="0"/>
              </a:spcAft>
              <a:buNone/>
            </a:pPr>
            <a:r>
              <a:rPr lang="ko-KR" altLang="en-US" sz="10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가구마다 15% 확률로 빠짐</a:t>
            </a:r>
          </a:p>
          <a:p>
            <a:pPr algn="ctr">
              <a:spcAft>
                <a:spcPts val="0"/>
              </a:spcAft>
              <a:buNone/>
            </a:pPr>
            <a:r>
              <a:rPr lang="ko-KR" altLang="en-US" sz="10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방이 열릴 때 한 번 · 재생성 없음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200" b="0" dirty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생성 · 보상</a:t>
            </a:r>
            <a:r>
              <a:rPr lang="ko-KR" altLang="en-US" sz="2400" b="0" dirty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치즈 보상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1"/>
          <p:cNvSpPr/>
          <p:nvPr/>
        </p:nvSpPr>
        <p:spPr>
          <a:xfrm>
            <a:off x="1133856" y="1330977"/>
            <a:ext cx="9966960" cy="502920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lIns="109728" tIns="36576" rIns="109728" bIns="36576" rtlCol="0" anchor="ctr"/>
          <a:lstStyle/>
          <a:p>
            <a:pPr algn="l">
              <a:spcAft>
                <a:spcPts val="300"/>
              </a:spcAft>
              <a:buNone/>
            </a:pPr>
            <a:r>
              <a:rPr lang="ko-KR" altLang="en-US" sz="14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박살 기본 보상에 공중 횟수 · 치명타 · 콤보를 곱하는 치즈 계산</a:t>
            </a:r>
          </a:p>
        </p:txBody>
      </p:sp>
      <p:graphicFrame>
        <p:nvGraphicFramePr>
          <p:cNvPr id="12" name="Table 12"/>
          <p:cNvGraphicFramePr>
            <a:graphicFrameLocks noGrp="1"/>
          </p:cNvGraphicFramePr>
          <p:nvPr/>
        </p:nvGraphicFramePr>
        <p:xfrm>
          <a:off x="1133856" y="1950000"/>
          <a:ext cx="996696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34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168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66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상황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얻는 치즈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콤보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물건 박살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치즈 × (1 + 0.5 × 공중 횟수) × 치명타 2 × 쥐 특성 배율 × 묘기 치즈 노드 × 콤보 배율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+1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사람 퇴치 (펑)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치즈 × (1 + 0.5 × 공중 횟수) × 콤보 배율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+2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날아간 물건 · 사람이 물건 적중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맞은 물건 치즈 × 0.3 (즉시)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저글링 (쥐 헤딩)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물건: 치즈 × 0.15 × 공중 횟수  /  사람: 치즈 × 0.3 × 공중 횟수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공중 충돌 (물건끼리)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두 물건 치즈 합 × 0.5 × 공중 충돌 노드 (+50%)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Rectangle 13"/>
          <p:cNvSpPr/>
          <p:nvPr/>
        </p:nvSpPr>
        <p:spPr>
          <a:xfrm>
            <a:off x="1133856" y="4600000"/>
            <a:ext cx="4833480" cy="14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txBody>
          <a:bodyPr wrap="square" lIns="73152" tIns="36576" rIns="73152" bIns="36576" rtlCol="0" anchor="ctr"/>
          <a:lstStyle/>
          <a:p>
            <a:pPr algn="ctr"/>
            <a:endParaRPr lang="ko-KR" altLang="en-US"/>
          </a:p>
        </p:txBody>
      </p:sp>
      <p:sp>
        <p:nvSpPr>
          <p:cNvPr id="14" name="Rectangle 14"/>
          <p:cNvSpPr/>
          <p:nvPr/>
        </p:nvSpPr>
        <p:spPr>
          <a:xfrm>
            <a:off x="1283856" y="4750000"/>
            <a:ext cx="380000" cy="38000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txBody>
          <a:bodyPr wrap="square" lIns="0" tIns="36576" rIns="0" bIns="36576" rtlCol="0" anchor="ctr"/>
          <a:lstStyle/>
          <a:p>
            <a:pPr algn="ctr">
              <a:spcAft>
                <a:spcPts val="200"/>
              </a:spcAft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733856" y="4750000"/>
            <a:ext cx="413348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ko-KR" altLang="en-US" sz="14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콤보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33856" y="5220000"/>
            <a:ext cx="4503480" cy="7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ko-KR" altLang="en-US" sz="11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배율 = 1 + 0.005 × 콤보 → 200콤보에서 최대 ×2.0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ko-KR" altLang="en-US" sz="11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유지 1.6초 (콤보 유지 노드 +30%)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ko-KR" altLang="en-US" sz="11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공중 횟수 상한 8회 (AIR x8 → 박살 치즈 ×5)</a:t>
            </a:r>
          </a:p>
        </p:txBody>
      </p:sp>
      <p:sp>
        <p:nvSpPr>
          <p:cNvPr id="17" name="Rectangle 17"/>
          <p:cNvSpPr/>
          <p:nvPr/>
        </p:nvSpPr>
        <p:spPr>
          <a:xfrm>
            <a:off x="6267336" y="4600000"/>
            <a:ext cx="4833480" cy="14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txBody>
          <a:bodyPr wrap="square" lIns="73152" tIns="36576" rIns="73152" bIns="36576" rtlCol="0" anchor="ctr"/>
          <a:lstStyle/>
          <a:p>
            <a:pPr algn="ctr"/>
            <a:endParaRPr lang="ko-KR" altLang="en-US"/>
          </a:p>
        </p:txBody>
      </p:sp>
      <p:sp>
        <p:nvSpPr>
          <p:cNvPr id="18" name="Rectangle 18"/>
          <p:cNvSpPr/>
          <p:nvPr/>
        </p:nvSpPr>
        <p:spPr>
          <a:xfrm>
            <a:off x="6417336" y="4750000"/>
            <a:ext cx="380000" cy="38000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txBody>
          <a:bodyPr wrap="square" lIns="0" tIns="36576" rIns="0" bIns="36576" rtlCol="0" anchor="ctr"/>
          <a:lstStyle/>
          <a:p>
            <a:pPr algn="ctr">
              <a:spcAft>
                <a:spcPts val="200"/>
              </a:spcAft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867336" y="4750000"/>
            <a:ext cx="413348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ko-KR" altLang="en-US" sz="14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박살 연쇄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467336" y="5220000"/>
            <a:ext cx="4503480" cy="7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ko-KR" altLang="en-US" sz="11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주변 물건에 최대 체력의 25% 피해 (도미노)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ko-KR" altLang="en-US" sz="11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연쇄 폭발 노드: 범위 +30 · 피해 +20%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ko-KR" altLang="en-US" sz="11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날아간 물건이 벽을 치면 벽 피해 (쥐 힘의 30%)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200" b="0" dirty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생성 · 보상</a:t>
            </a:r>
            <a:r>
              <a:rPr lang="ko-KR" altLang="en-US" sz="2400" b="0" dirty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박살 한 번의 치즈 흐름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1"/>
          <p:cNvSpPr/>
          <p:nvPr/>
        </p:nvSpPr>
        <p:spPr>
          <a:xfrm>
            <a:off x="1133856" y="1330977"/>
            <a:ext cx="9966960" cy="502920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lIns="109728" tIns="36576" rIns="109728" bIns="36576" rtlCol="0" anchor="ctr"/>
          <a:lstStyle/>
          <a:p>
            <a:pPr algn="l">
              <a:spcAft>
                <a:spcPts val="300"/>
              </a:spcAft>
              <a:buNone/>
            </a:pPr>
            <a:r>
              <a:rPr lang="ko-KR" altLang="en-US" sz="14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예시 — 10층 시작 방 모니터를 날려 공중 2회 뒤 박살, 그때 콤보 50</a:t>
            </a: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856" y="2107217"/>
            <a:ext cx="1200000" cy="1092783"/>
          </a:xfrm>
          <a:prstGeom prst="rect">
            <a:avLst/>
          </a:prstGeom>
        </p:spPr>
      </p:pic>
      <p:sp>
        <p:nvSpPr>
          <p:cNvPr id="13" name="Shape 13"/>
          <p:cNvSpPr/>
          <p:nvPr/>
        </p:nvSpPr>
        <p:spPr>
          <a:xfrm>
            <a:off x="2533856" y="2200000"/>
            <a:ext cx="1450000" cy="95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20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246</a:t>
            </a:r>
          </a:p>
          <a:p>
            <a:pPr algn="ctr"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모니터 치즈</a:t>
            </a:r>
          </a:p>
          <a:p>
            <a:pPr algn="ctr">
              <a:spcAft>
                <a:spcPts val="0"/>
              </a:spcAft>
              <a:buNone/>
            </a:pPr>
            <a:r>
              <a:rPr lang="ko-KR" altLang="en-US" sz="85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3 × 3 × 27.3</a:t>
            </a:r>
          </a:p>
        </p:txBody>
      </p:sp>
      <p:sp>
        <p:nvSpPr>
          <p:cNvPr id="14" name="Shape 14"/>
          <p:cNvSpPr/>
          <p:nvPr/>
        </p:nvSpPr>
        <p:spPr>
          <a:xfrm>
            <a:off x="4023856" y="2550000"/>
            <a:ext cx="250000" cy="250000"/>
          </a:xfrm>
          <a:prstGeom prst="rightArrow">
            <a:avLst/>
          </a:prstGeom>
          <a:solidFill>
            <a:srgbClr val="A6A6A6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15" name="Shape 15"/>
          <p:cNvSpPr/>
          <p:nvPr/>
        </p:nvSpPr>
        <p:spPr>
          <a:xfrm>
            <a:off x="4313856" y="2200000"/>
            <a:ext cx="1450000" cy="95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20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×2.0</a:t>
            </a:r>
          </a:p>
          <a:p>
            <a:pPr algn="ctr"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공중 2회</a:t>
            </a:r>
          </a:p>
          <a:p>
            <a:pPr algn="ctr">
              <a:spcAft>
                <a:spcPts val="0"/>
              </a:spcAft>
              <a:buNone/>
            </a:pPr>
            <a:r>
              <a:rPr lang="ko-KR" altLang="en-US" sz="85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1 + 0.5 × 2</a:t>
            </a:r>
          </a:p>
        </p:txBody>
      </p:sp>
      <p:sp>
        <p:nvSpPr>
          <p:cNvPr id="16" name="Shape 16"/>
          <p:cNvSpPr/>
          <p:nvPr/>
        </p:nvSpPr>
        <p:spPr>
          <a:xfrm>
            <a:off x="5803856" y="2550000"/>
            <a:ext cx="250000" cy="250000"/>
          </a:xfrm>
          <a:prstGeom prst="rightArrow">
            <a:avLst/>
          </a:prstGeom>
          <a:solidFill>
            <a:srgbClr val="A6A6A6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17" name="Shape 17"/>
          <p:cNvSpPr/>
          <p:nvPr/>
        </p:nvSpPr>
        <p:spPr>
          <a:xfrm>
            <a:off x="6093856" y="2200000"/>
            <a:ext cx="1450000" cy="95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20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×1</a:t>
            </a:r>
          </a:p>
          <a:p>
            <a:pPr algn="ctr"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치명타 없음</a:t>
            </a:r>
          </a:p>
          <a:p>
            <a:pPr algn="ctr">
              <a:spcAft>
                <a:spcPts val="0"/>
              </a:spcAft>
              <a:buNone/>
            </a:pPr>
            <a:r>
              <a:rPr lang="ko-KR" altLang="en-US" sz="85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터지면 ×2</a:t>
            </a:r>
          </a:p>
        </p:txBody>
      </p:sp>
      <p:sp>
        <p:nvSpPr>
          <p:cNvPr id="18" name="Shape 18"/>
          <p:cNvSpPr/>
          <p:nvPr/>
        </p:nvSpPr>
        <p:spPr>
          <a:xfrm>
            <a:off x="7583856" y="2550000"/>
            <a:ext cx="250000" cy="250000"/>
          </a:xfrm>
          <a:prstGeom prst="rightArrow">
            <a:avLst/>
          </a:prstGeom>
          <a:solidFill>
            <a:srgbClr val="A6A6A6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19" name="Shape 19"/>
          <p:cNvSpPr/>
          <p:nvPr/>
        </p:nvSpPr>
        <p:spPr>
          <a:xfrm>
            <a:off x="7873856" y="2200000"/>
            <a:ext cx="1450000" cy="95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20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×1.25</a:t>
            </a:r>
          </a:p>
          <a:p>
            <a:pPr algn="ctr"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콤보 50</a:t>
            </a:r>
          </a:p>
          <a:p>
            <a:pPr algn="ctr">
              <a:spcAft>
                <a:spcPts val="0"/>
              </a:spcAft>
              <a:buNone/>
            </a:pPr>
            <a:r>
              <a:rPr lang="ko-KR" altLang="en-US" sz="85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1 + 0.005 × 50</a:t>
            </a:r>
          </a:p>
        </p:txBody>
      </p:sp>
      <p:sp>
        <p:nvSpPr>
          <p:cNvPr id="20" name="Shape 20"/>
          <p:cNvSpPr/>
          <p:nvPr/>
        </p:nvSpPr>
        <p:spPr>
          <a:xfrm>
            <a:off x="9363856" y="2550000"/>
            <a:ext cx="250000" cy="250000"/>
          </a:xfrm>
          <a:prstGeom prst="rightArrow">
            <a:avLst/>
          </a:prstGeom>
          <a:solidFill>
            <a:srgbClr val="A6A6A6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21" name="Shape 21"/>
          <p:cNvSpPr/>
          <p:nvPr/>
        </p:nvSpPr>
        <p:spPr>
          <a:xfrm>
            <a:off x="9653856" y="2200000"/>
            <a:ext cx="1446960" cy="9500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614</a:t>
            </a:r>
          </a:p>
          <a:p>
            <a:pPr algn="ctr"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얻는 치즈</a:t>
            </a:r>
          </a:p>
        </p:txBody>
      </p:sp>
      <p:sp>
        <p:nvSpPr>
          <p:cNvPr id="22" name="Shape 22"/>
          <p:cNvSpPr/>
          <p:nvPr/>
        </p:nvSpPr>
        <p:spPr>
          <a:xfrm>
            <a:off x="1133856" y="3500000"/>
            <a:ext cx="9966960" cy="28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l"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공중 횟수 (AIR) — 날아가는 동안 저글링 · 공중 충돌로 쌓임, 최대 8</a:t>
            </a:r>
          </a:p>
        </p:txBody>
      </p:sp>
      <p:sp>
        <p:nvSpPr>
          <p:cNvPr id="23" name="Shape 23"/>
          <p:cNvSpPr/>
          <p:nvPr/>
        </p:nvSpPr>
        <p:spPr>
          <a:xfrm>
            <a:off x="1133856" y="3820000"/>
            <a:ext cx="1077440" cy="550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AIR 0</a:t>
            </a:r>
          </a:p>
          <a:p>
            <a:pPr algn="ctr">
              <a:spcAft>
                <a:spcPts val="0"/>
              </a:spcAft>
              <a:buNone/>
            </a:pPr>
            <a:r>
              <a:rPr lang="ko-KR" altLang="en-US" sz="11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×1</a:t>
            </a:r>
          </a:p>
        </p:txBody>
      </p:sp>
      <p:sp>
        <p:nvSpPr>
          <p:cNvPr id="24" name="Shape 24"/>
          <p:cNvSpPr/>
          <p:nvPr/>
        </p:nvSpPr>
        <p:spPr>
          <a:xfrm>
            <a:off x="2241296" y="3820000"/>
            <a:ext cx="1077440" cy="550000"/>
          </a:xfrm>
          <a:prstGeom prst="rect">
            <a:avLst/>
          </a:prstGeom>
          <a:solidFill>
            <a:srgbClr val="FBE5D6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AIR 1</a:t>
            </a:r>
          </a:p>
          <a:p>
            <a:pPr algn="ctr">
              <a:spcAft>
                <a:spcPts val="0"/>
              </a:spcAft>
              <a:buNone/>
            </a:pPr>
            <a:r>
              <a:rPr lang="ko-KR" altLang="en-US" sz="11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×1.5</a:t>
            </a:r>
          </a:p>
        </p:txBody>
      </p:sp>
      <p:sp>
        <p:nvSpPr>
          <p:cNvPr id="25" name="Shape 25"/>
          <p:cNvSpPr/>
          <p:nvPr/>
        </p:nvSpPr>
        <p:spPr>
          <a:xfrm>
            <a:off x="3348736" y="3820000"/>
            <a:ext cx="1077440" cy="550000"/>
          </a:xfrm>
          <a:prstGeom prst="rect">
            <a:avLst/>
          </a:prstGeom>
          <a:solidFill>
            <a:srgbClr val="F8CBAD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AIR 2</a:t>
            </a:r>
          </a:p>
          <a:p>
            <a:pPr algn="ctr">
              <a:spcAft>
                <a:spcPts val="0"/>
              </a:spcAft>
              <a:buNone/>
            </a:pPr>
            <a:r>
              <a:rPr lang="ko-KR" altLang="en-US" sz="11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×2</a:t>
            </a:r>
          </a:p>
        </p:txBody>
      </p:sp>
      <p:sp>
        <p:nvSpPr>
          <p:cNvPr id="26" name="Shape 26"/>
          <p:cNvSpPr/>
          <p:nvPr/>
        </p:nvSpPr>
        <p:spPr>
          <a:xfrm>
            <a:off x="4456176" y="3820000"/>
            <a:ext cx="1077440" cy="550000"/>
          </a:xfrm>
          <a:prstGeom prst="rect">
            <a:avLst/>
          </a:prstGeom>
          <a:solidFill>
            <a:srgbClr val="F4B183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AIR 3</a:t>
            </a:r>
          </a:p>
          <a:p>
            <a:pPr algn="ctr">
              <a:spcAft>
                <a:spcPts val="0"/>
              </a:spcAft>
              <a:buNone/>
            </a:pPr>
            <a:r>
              <a:rPr lang="ko-KR" altLang="en-US" sz="11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×2.5</a:t>
            </a:r>
          </a:p>
        </p:txBody>
      </p:sp>
      <p:sp>
        <p:nvSpPr>
          <p:cNvPr id="27" name="Shape 27"/>
          <p:cNvSpPr/>
          <p:nvPr/>
        </p:nvSpPr>
        <p:spPr>
          <a:xfrm>
            <a:off x="5563616" y="3820000"/>
            <a:ext cx="1077440" cy="550000"/>
          </a:xfrm>
          <a:prstGeom prst="rect">
            <a:avLst/>
          </a:prstGeom>
          <a:solidFill>
            <a:srgbClr val="F2A16E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AIR 4</a:t>
            </a:r>
          </a:p>
          <a:p>
            <a:pPr algn="ctr">
              <a:spcAft>
                <a:spcPts val="0"/>
              </a:spcAft>
              <a:buNone/>
            </a:pPr>
            <a:r>
              <a:rPr lang="ko-KR" altLang="en-US" sz="1100" b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×3</a:t>
            </a:r>
          </a:p>
        </p:txBody>
      </p:sp>
      <p:sp>
        <p:nvSpPr>
          <p:cNvPr id="28" name="Shape 28"/>
          <p:cNvSpPr/>
          <p:nvPr/>
        </p:nvSpPr>
        <p:spPr>
          <a:xfrm>
            <a:off x="6671056" y="3820000"/>
            <a:ext cx="1077440" cy="550000"/>
          </a:xfrm>
          <a:prstGeom prst="rect">
            <a:avLst/>
          </a:prstGeom>
          <a:solidFill>
            <a:srgbClr val="EE8E51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AIR 5</a:t>
            </a:r>
          </a:p>
          <a:p>
            <a:pPr algn="ctr">
              <a:spcAft>
                <a:spcPts val="0"/>
              </a:spcAft>
              <a:buNone/>
            </a:pPr>
            <a:r>
              <a:rPr lang="ko-KR" altLang="en-US" sz="1100" b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×3.5</a:t>
            </a:r>
          </a:p>
        </p:txBody>
      </p:sp>
      <p:sp>
        <p:nvSpPr>
          <p:cNvPr id="29" name="Shape 29"/>
          <p:cNvSpPr/>
          <p:nvPr/>
        </p:nvSpPr>
        <p:spPr>
          <a:xfrm>
            <a:off x="7778496" y="3820000"/>
            <a:ext cx="1077440" cy="550000"/>
          </a:xfrm>
          <a:prstGeom prst="rect">
            <a:avLst/>
          </a:prstGeom>
          <a:solidFill>
            <a:srgbClr val="EB7F40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AIR 6</a:t>
            </a:r>
          </a:p>
          <a:p>
            <a:pPr algn="ctr">
              <a:spcAft>
                <a:spcPts val="0"/>
              </a:spcAft>
              <a:buNone/>
            </a:pPr>
            <a:r>
              <a:rPr lang="ko-KR" altLang="en-US" sz="1100" b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×4</a:t>
            </a:r>
          </a:p>
        </p:txBody>
      </p:sp>
      <p:sp>
        <p:nvSpPr>
          <p:cNvPr id="30" name="Shape 30"/>
          <p:cNvSpPr/>
          <p:nvPr/>
        </p:nvSpPr>
        <p:spPr>
          <a:xfrm>
            <a:off x="8885936" y="3820000"/>
            <a:ext cx="1077440" cy="5500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AIR 7</a:t>
            </a:r>
          </a:p>
          <a:p>
            <a:pPr algn="ctr">
              <a:spcAft>
                <a:spcPts val="0"/>
              </a:spcAft>
              <a:buNone/>
            </a:pPr>
            <a:r>
              <a:rPr lang="ko-KR" altLang="en-US" sz="1100" b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×4.5</a:t>
            </a:r>
          </a:p>
        </p:txBody>
      </p:sp>
      <p:sp>
        <p:nvSpPr>
          <p:cNvPr id="31" name="Shape 31"/>
          <p:cNvSpPr/>
          <p:nvPr/>
        </p:nvSpPr>
        <p:spPr>
          <a:xfrm>
            <a:off x="9993376" y="3820000"/>
            <a:ext cx="1077440" cy="550000"/>
          </a:xfrm>
          <a:prstGeom prst="rect">
            <a:avLst/>
          </a:prstGeom>
          <a:solidFill>
            <a:srgbClr val="D9621F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AIR 8</a:t>
            </a:r>
          </a:p>
          <a:p>
            <a:pPr algn="ctr">
              <a:spcAft>
                <a:spcPts val="0"/>
              </a:spcAft>
              <a:buNone/>
            </a:pPr>
            <a:r>
              <a:rPr lang="ko-KR" altLang="en-US" sz="1100" b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×5</a:t>
            </a:r>
          </a:p>
        </p:txBody>
      </p:sp>
      <p:sp>
        <p:nvSpPr>
          <p:cNvPr id="32" name="Shape 32"/>
          <p:cNvSpPr/>
          <p:nvPr/>
        </p:nvSpPr>
        <p:spPr>
          <a:xfrm>
            <a:off x="1133856" y="4600000"/>
            <a:ext cx="9966960" cy="28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l"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콤보 — 1.6초 안에 이어진 파괴 수, 200에서 치즈 ×2.0 상한 (사람 펑 = +2)</a:t>
            </a:r>
          </a:p>
        </p:txBody>
      </p:sp>
      <p:sp>
        <p:nvSpPr>
          <p:cNvPr id="33" name="Shape 33"/>
          <p:cNvSpPr/>
          <p:nvPr/>
        </p:nvSpPr>
        <p:spPr>
          <a:xfrm>
            <a:off x="1133856" y="4940000"/>
            <a:ext cx="9966960" cy="320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34" name="Shape 34"/>
          <p:cNvSpPr/>
          <p:nvPr/>
        </p:nvSpPr>
        <p:spPr>
          <a:xfrm>
            <a:off x="1133856" y="4940000"/>
            <a:ext cx="2491740" cy="3200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예시 50콤보</a:t>
            </a:r>
          </a:p>
        </p:txBody>
      </p:sp>
      <p:sp>
        <p:nvSpPr>
          <p:cNvPr id="35" name="Shape 35"/>
          <p:cNvSpPr/>
          <p:nvPr/>
        </p:nvSpPr>
        <p:spPr>
          <a:xfrm>
            <a:off x="1121856" y="4900000"/>
            <a:ext cx="24000" cy="400000"/>
          </a:xfrm>
          <a:prstGeom prst="rect">
            <a:avLst/>
          </a:prstGeom>
          <a:solidFill>
            <a:srgbClr val="0B0B0B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36" name="Shape 36"/>
          <p:cNvSpPr/>
          <p:nvPr/>
        </p:nvSpPr>
        <p:spPr>
          <a:xfrm>
            <a:off x="933856" y="5320000"/>
            <a:ext cx="1200000" cy="38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0콤보</a:t>
            </a:r>
          </a:p>
          <a:p>
            <a:pPr algn="ctr">
              <a:spcAft>
                <a:spcPts val="0"/>
              </a:spcAft>
              <a:buNone/>
            </a:pPr>
            <a:r>
              <a:rPr lang="ko-KR" altLang="en-US" sz="1000" b="0" dirty="0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×1</a:t>
            </a:r>
          </a:p>
        </p:txBody>
      </p:sp>
      <p:sp>
        <p:nvSpPr>
          <p:cNvPr id="37" name="Shape 37"/>
          <p:cNvSpPr/>
          <p:nvPr/>
        </p:nvSpPr>
        <p:spPr>
          <a:xfrm>
            <a:off x="3613596" y="4900000"/>
            <a:ext cx="24000" cy="400000"/>
          </a:xfrm>
          <a:prstGeom prst="rect">
            <a:avLst/>
          </a:prstGeom>
          <a:solidFill>
            <a:srgbClr val="0B0B0B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38" name="Shape 38"/>
          <p:cNvSpPr/>
          <p:nvPr/>
        </p:nvSpPr>
        <p:spPr>
          <a:xfrm>
            <a:off x="3025596" y="5320000"/>
            <a:ext cx="1200000" cy="38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50콤보</a:t>
            </a:r>
          </a:p>
          <a:p>
            <a:pPr algn="ctr">
              <a:spcAft>
                <a:spcPts val="0"/>
              </a:spcAft>
              <a:buNone/>
            </a:pPr>
            <a:r>
              <a:rPr lang="ko-KR" altLang="en-US" sz="1000" b="0" dirty="0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×1.25</a:t>
            </a:r>
          </a:p>
        </p:txBody>
      </p:sp>
      <p:sp>
        <p:nvSpPr>
          <p:cNvPr id="39" name="Shape 39"/>
          <p:cNvSpPr/>
          <p:nvPr/>
        </p:nvSpPr>
        <p:spPr>
          <a:xfrm>
            <a:off x="6105336" y="4900000"/>
            <a:ext cx="24000" cy="400000"/>
          </a:xfrm>
          <a:prstGeom prst="rect">
            <a:avLst/>
          </a:prstGeom>
          <a:solidFill>
            <a:srgbClr val="0B0B0B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40" name="Shape 40"/>
          <p:cNvSpPr/>
          <p:nvPr/>
        </p:nvSpPr>
        <p:spPr>
          <a:xfrm>
            <a:off x="5517336" y="5320000"/>
            <a:ext cx="1200000" cy="38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100콤보</a:t>
            </a:r>
          </a:p>
          <a:p>
            <a:pPr algn="ctr">
              <a:spcAft>
                <a:spcPts val="0"/>
              </a:spcAft>
              <a:buNone/>
            </a:pPr>
            <a:r>
              <a:rPr lang="ko-KR" altLang="en-US" sz="1000" b="0" dirty="0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×1.5</a:t>
            </a:r>
          </a:p>
        </p:txBody>
      </p:sp>
      <p:sp>
        <p:nvSpPr>
          <p:cNvPr id="41" name="Shape 41"/>
          <p:cNvSpPr/>
          <p:nvPr/>
        </p:nvSpPr>
        <p:spPr>
          <a:xfrm>
            <a:off x="8597076" y="4900000"/>
            <a:ext cx="24000" cy="400000"/>
          </a:xfrm>
          <a:prstGeom prst="rect">
            <a:avLst/>
          </a:prstGeom>
          <a:solidFill>
            <a:srgbClr val="0B0B0B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42" name="Shape 42"/>
          <p:cNvSpPr/>
          <p:nvPr/>
        </p:nvSpPr>
        <p:spPr>
          <a:xfrm>
            <a:off x="8009076" y="5320000"/>
            <a:ext cx="1200000" cy="38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150콤보</a:t>
            </a:r>
          </a:p>
          <a:p>
            <a:pPr algn="ctr">
              <a:spcAft>
                <a:spcPts val="0"/>
              </a:spcAft>
              <a:buNone/>
            </a:pPr>
            <a:r>
              <a:rPr lang="ko-KR" altLang="en-US" sz="1000" b="0" dirty="0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×1.75</a:t>
            </a:r>
          </a:p>
        </p:txBody>
      </p:sp>
      <p:sp>
        <p:nvSpPr>
          <p:cNvPr id="43" name="Shape 43"/>
          <p:cNvSpPr/>
          <p:nvPr/>
        </p:nvSpPr>
        <p:spPr>
          <a:xfrm>
            <a:off x="11088816" y="4900000"/>
            <a:ext cx="24000" cy="400000"/>
          </a:xfrm>
          <a:prstGeom prst="rect">
            <a:avLst/>
          </a:prstGeom>
          <a:solidFill>
            <a:srgbClr val="0B0B0B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44" name="Shape 44"/>
          <p:cNvSpPr/>
          <p:nvPr/>
        </p:nvSpPr>
        <p:spPr>
          <a:xfrm>
            <a:off x="10100816" y="5320000"/>
            <a:ext cx="1200000" cy="38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200콤보</a:t>
            </a:r>
          </a:p>
          <a:p>
            <a:pPr algn="ctr">
              <a:spcAft>
                <a:spcPts val="0"/>
              </a:spcAft>
              <a:buNone/>
            </a:pPr>
            <a:r>
              <a:rPr lang="ko-KR" altLang="en-US" sz="1000" b="0" dirty="0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×2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200" b="0" dirty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생성 · 보상</a:t>
            </a:r>
            <a:r>
              <a:rPr lang="ko-KR" altLang="en-US" sz="2400" b="0" dirty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연구자료 · 쏟아짐 · 황금 물건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1"/>
          <p:cNvSpPr/>
          <p:nvPr/>
        </p:nvSpPr>
        <p:spPr>
          <a:xfrm>
            <a:off x="1133856" y="1330977"/>
            <a:ext cx="9966960" cy="502920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lIns="109728" tIns="36576" rIns="109728" bIns="36576" rtlCol="0" anchor="ctr"/>
          <a:lstStyle/>
          <a:p>
            <a:pPr algn="l">
              <a:spcAft>
                <a:spcPts val="300"/>
              </a:spcAft>
              <a:buNone/>
            </a:pPr>
            <a:r>
              <a:rPr lang="ko-KR" altLang="en-US" sz="14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치즈 외 보상 — 연구자료 드랍, 내용물 쏟아짐, 황금 물건</a:t>
            </a:r>
          </a:p>
        </p:txBody>
      </p:sp>
      <p:graphicFrame>
        <p:nvGraphicFramePr>
          <p:cNvPr id="12" name="Table 12"/>
          <p:cNvGraphicFramePr>
            <a:graphicFrameLocks noGrp="1"/>
          </p:cNvGraphicFramePr>
          <p:nvPr/>
        </p:nvGraphicFramePr>
        <p:xfrm>
          <a:off x="1133856" y="1950000"/>
          <a:ext cx="9966960" cy="2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20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900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848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보상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조건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값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연구자료 – 가구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박살 시 12%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1~3개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연구자료 – 물건 · 쏟아짐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박살 시 1.2%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연구자료 – 사람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없음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연구자료 – 층 돌파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계단 도착 (탈취 연출)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스테이지 테이블 research 칸 (1층 8 · 10층 113 · 20층 14,900) · 보스 배율 없음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쏟아짐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가구 12 · 대형 물건 2 · 보물 6종 박살 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drop_01~04 물건 생성 (현재 층 · 거리 배율 적용)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황금 물건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물건 생성 시 (가구 제외)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확률 = 황금 노드 합 (최대 21%) · 치즈 ×5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3" name="TextBox 13"/>
          <p:cNvSpPr txBox="1"/>
          <p:nvPr/>
        </p:nvSpPr>
        <p:spPr>
          <a:xfrm>
            <a:off x="1133856" y="5000000"/>
            <a:ext cx="9966960" cy="1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ko-KR" altLang="en-US" sz="11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쏟아짐 물건은 등장 층 · 해금 조건과 무관 (예: 냉장고 → 해금 전에도 표본 병)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ko-KR" altLang="en-US" sz="11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쏟아짐 물건도 황금 확률 · 연구자료 1.2% 판정 대상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ko-KR" altLang="en-US" sz="11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게임 오버 · 층 탈취 연출 중에는 연구자료 드랍 없음 · 연구자료는 판이 끝나도 저장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200" b="0" dirty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생성 · 보상</a:t>
            </a:r>
            <a:r>
              <a:rPr lang="ko-KR" altLang="en-US" sz="2400" b="0" dirty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박살 한 번에 나오는 것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1"/>
          <p:cNvSpPr/>
          <p:nvPr/>
        </p:nvSpPr>
        <p:spPr>
          <a:xfrm>
            <a:off x="1133856" y="1330977"/>
            <a:ext cx="9966960" cy="502920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lIns="109728" tIns="36576" rIns="109728" bIns="36576" rtlCol="0" anchor="ctr"/>
          <a:lstStyle/>
          <a:p>
            <a:pPr algn="l">
              <a:spcAft>
                <a:spcPts val="300"/>
              </a:spcAft>
              <a:buNone/>
            </a:pPr>
            <a:r>
              <a:rPr lang="ko-KR" altLang="en-US" sz="14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자판기 하나를 부쉈을 때 — 치즈 · 쏟아짐 물건 · 연구자료가 동시에</a:t>
            </a: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856" y="2660481"/>
            <a:ext cx="1500000" cy="2089519"/>
          </a:xfrm>
          <a:prstGeom prst="rect">
            <a:avLst/>
          </a:prstGeom>
        </p:spPr>
      </p:pic>
      <p:sp>
        <p:nvSpPr>
          <p:cNvPr id="13" name="Shape 13"/>
          <p:cNvSpPr/>
          <p:nvPr/>
        </p:nvSpPr>
        <p:spPr>
          <a:xfrm>
            <a:off x="1133856" y="4800000"/>
            <a:ext cx="1500000" cy="30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자판기 (가구)</a:t>
            </a:r>
          </a:p>
        </p:txBody>
      </p:sp>
      <p:cxnSp>
        <p:nvCxnSpPr>
          <p:cNvPr id="14" name="Connector 14"/>
          <p:cNvCxnSpPr/>
          <p:nvPr/>
        </p:nvCxnSpPr>
        <p:spPr>
          <a:xfrm flipV="1">
            <a:off x="2683856" y="2430000"/>
            <a:ext cx="890000" cy="1170000"/>
          </a:xfrm>
          <a:prstGeom prst="straightConnector1">
            <a:avLst/>
          </a:prstGeom>
          <a:ln w="15875">
            <a:solidFill>
              <a:srgbClr val="7F7F7F"/>
            </a:solidFill>
            <a:tailEnd type="triangle" w="med" len="med"/>
          </a:ln>
        </p:spPr>
      </p:cxnSp>
      <p:pic>
        <p:nvPicPr>
          <p:cNvPr id="15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3856" y="2230901"/>
            <a:ext cx="480000" cy="418197"/>
          </a:xfrm>
          <a:prstGeom prst="rect">
            <a:avLst/>
          </a:prstGeom>
        </p:spPr>
      </p:pic>
      <p:sp>
        <p:nvSpPr>
          <p:cNvPr id="16" name="Shape 16"/>
          <p:cNvSpPr/>
          <p:nvPr/>
        </p:nvSpPr>
        <p:spPr>
          <a:xfrm>
            <a:off x="4193856" y="2180000"/>
            <a:ext cx="2200000" cy="52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l">
              <a:spcAft>
                <a:spcPts val="0"/>
              </a:spcAft>
              <a:buNone/>
            </a:pPr>
            <a:r>
              <a:rPr lang="ko-KR" altLang="en-US" sz="115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치즈</a:t>
            </a:r>
          </a:p>
          <a:p>
            <a:pPr algn="l"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자판기 치즈 배율 22 (× 층 · 거리 · 노드)</a:t>
            </a:r>
          </a:p>
        </p:txBody>
      </p:sp>
      <p:cxnSp>
        <p:nvCxnSpPr>
          <p:cNvPr id="17" name="Connector 17"/>
          <p:cNvCxnSpPr/>
          <p:nvPr/>
        </p:nvCxnSpPr>
        <p:spPr>
          <a:xfrm flipV="1">
            <a:off x="2683856" y="3280000"/>
            <a:ext cx="890000" cy="320000"/>
          </a:xfrm>
          <a:prstGeom prst="straightConnector1">
            <a:avLst/>
          </a:prstGeom>
          <a:ln w="15875">
            <a:solidFill>
              <a:srgbClr val="E97132"/>
            </a:solidFill>
            <a:tailEnd type="triangle" w="med" len="med"/>
          </a:ln>
        </p:spPr>
      </p:cxnSp>
      <p:pic>
        <p:nvPicPr>
          <p:cNvPr id="18" name="Picture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5975" y="3030000"/>
            <a:ext cx="295762" cy="5200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5975" y="3030000"/>
            <a:ext cx="295762" cy="5200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5975" y="3030000"/>
            <a:ext cx="295762" cy="520000"/>
          </a:xfrm>
          <a:prstGeom prst="rect">
            <a:avLst/>
          </a:prstGeom>
        </p:spPr>
      </p:pic>
      <p:sp>
        <p:nvSpPr>
          <p:cNvPr id="21" name="Shape 21"/>
          <p:cNvSpPr/>
          <p:nvPr/>
        </p:nvSpPr>
        <p:spPr>
          <a:xfrm>
            <a:off x="4853856" y="3030000"/>
            <a:ext cx="2200000" cy="52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l">
              <a:spcAft>
                <a:spcPts val="0"/>
              </a:spcAft>
              <a:buNone/>
            </a:pPr>
            <a:r>
              <a:rPr lang="ko-KR" altLang="en-US" sz="115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캔 음료 ×3</a:t>
            </a:r>
          </a:p>
          <a:p>
            <a:pPr algn="l"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쏟아짐 · 각각 체력 0.5 · 치즈 1</a:t>
            </a:r>
          </a:p>
        </p:txBody>
      </p:sp>
      <p:cxnSp>
        <p:nvCxnSpPr>
          <p:cNvPr id="22" name="Connector 22"/>
          <p:cNvCxnSpPr/>
          <p:nvPr/>
        </p:nvCxnSpPr>
        <p:spPr>
          <a:xfrm>
            <a:off x="2683856" y="3600000"/>
            <a:ext cx="890000" cy="530000"/>
          </a:xfrm>
          <a:prstGeom prst="straightConnector1">
            <a:avLst/>
          </a:prstGeom>
          <a:ln w="15875">
            <a:solidFill>
              <a:srgbClr val="E97132"/>
            </a:solidFill>
            <a:tailEnd type="triangle" w="med" len="med"/>
          </a:ln>
        </p:spPr>
      </p:cxnSp>
      <p:pic>
        <p:nvPicPr>
          <p:cNvPr id="23" name="Picture 2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92417" y="3880000"/>
            <a:ext cx="362877" cy="520000"/>
          </a:xfrm>
          <a:prstGeom prst="rect">
            <a:avLst/>
          </a:prstGeom>
        </p:spPr>
      </p:pic>
      <p:sp>
        <p:nvSpPr>
          <p:cNvPr id="24" name="Shape 24"/>
          <p:cNvSpPr/>
          <p:nvPr/>
        </p:nvSpPr>
        <p:spPr>
          <a:xfrm>
            <a:off x="4193856" y="3880000"/>
            <a:ext cx="2200000" cy="52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l">
              <a:spcAft>
                <a:spcPts val="0"/>
              </a:spcAft>
              <a:buNone/>
            </a:pPr>
            <a:r>
              <a:rPr lang="ko-KR" altLang="en-US" sz="115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머그컵</a:t>
            </a:r>
          </a:p>
          <a:p>
            <a:pPr algn="l"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쏟아짐 · 체력 1 · 치즈 1 (일반 물건)</a:t>
            </a:r>
          </a:p>
        </p:txBody>
      </p:sp>
      <p:cxnSp>
        <p:nvCxnSpPr>
          <p:cNvPr id="25" name="Connector 25"/>
          <p:cNvCxnSpPr/>
          <p:nvPr/>
        </p:nvCxnSpPr>
        <p:spPr>
          <a:xfrm>
            <a:off x="2683856" y="3600000"/>
            <a:ext cx="890000" cy="1380000"/>
          </a:xfrm>
          <a:prstGeom prst="straightConnector1">
            <a:avLst/>
          </a:prstGeom>
          <a:ln w="15875">
            <a:solidFill>
              <a:srgbClr val="E97132"/>
            </a:solidFill>
            <a:tailEnd type="triangle" w="med" len="med"/>
          </a:ln>
        </p:spPr>
      </p:cxnSp>
      <p:pic>
        <p:nvPicPr>
          <p:cNvPr id="26" name="Picture 2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42162" y="4730000"/>
            <a:ext cx="463387" cy="520000"/>
          </a:xfrm>
          <a:prstGeom prst="rect">
            <a:avLst/>
          </a:prstGeom>
        </p:spPr>
      </p:pic>
      <p:sp>
        <p:nvSpPr>
          <p:cNvPr id="27" name="Shape 27"/>
          <p:cNvSpPr/>
          <p:nvPr/>
        </p:nvSpPr>
        <p:spPr>
          <a:xfrm>
            <a:off x="4193856" y="4730000"/>
            <a:ext cx="2200000" cy="52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l">
              <a:spcAft>
                <a:spcPts val="0"/>
              </a:spcAft>
              <a:buNone/>
            </a:pPr>
            <a:r>
              <a:rPr lang="ko-KR" altLang="en-US" sz="115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연구자료 12%</a:t>
            </a:r>
          </a:p>
          <a:p>
            <a:pPr algn="l"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1~3개 · 판이 끝나도 저장</a:t>
            </a:r>
          </a:p>
        </p:txBody>
      </p:sp>
      <p:sp>
        <p:nvSpPr>
          <p:cNvPr id="28" name="Shape 28"/>
          <p:cNvSpPr/>
          <p:nvPr/>
        </p:nvSpPr>
        <p:spPr>
          <a:xfrm>
            <a:off x="7133856" y="2050000"/>
            <a:ext cx="3966960" cy="3300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3796" y="2150000"/>
            <a:ext cx="490120" cy="550000"/>
          </a:xfrm>
          <a:prstGeom prst="rect">
            <a:avLst/>
          </a:prstGeom>
        </p:spPr>
      </p:pic>
      <p:sp>
        <p:nvSpPr>
          <p:cNvPr id="30" name="Shape 30"/>
          <p:cNvSpPr/>
          <p:nvPr/>
        </p:nvSpPr>
        <p:spPr>
          <a:xfrm>
            <a:off x="7883856" y="2180000"/>
            <a:ext cx="3116960" cy="50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l"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연구자료가 나오는 곳</a:t>
            </a:r>
          </a:p>
        </p:txBody>
      </p:sp>
      <p:sp>
        <p:nvSpPr>
          <p:cNvPr id="31" name="Shape 31"/>
          <p:cNvSpPr/>
          <p:nvPr/>
        </p:nvSpPr>
        <p:spPr>
          <a:xfrm>
            <a:off x="7283856" y="2850000"/>
            <a:ext cx="3666960" cy="56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lIns="91440" tIns="18288" rIns="91440" bIns="18288" rtlCol="0" anchor="ctr"/>
          <a:lstStyle/>
          <a:p>
            <a:pPr algn="l">
              <a:spcAft>
                <a:spcPts val="0"/>
              </a:spcAft>
              <a:buNone/>
            </a:pPr>
            <a:r>
              <a:rPr lang="ko-KR" altLang="en-US" sz="1050" b="1" dirty="0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가구 박살 — 12% · 1~3개</a:t>
            </a:r>
          </a:p>
          <a:p>
            <a:pPr algn="l">
              <a:spcAft>
                <a:spcPts val="0"/>
              </a:spcAft>
              <a:buNone/>
            </a:pPr>
            <a:r>
              <a:rPr lang="ko-KR" altLang="en-US" sz="95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가구 10개당 약 2.4개</a:t>
            </a:r>
          </a:p>
        </p:txBody>
      </p:sp>
      <p:sp>
        <p:nvSpPr>
          <p:cNvPr id="32" name="Shape 32"/>
          <p:cNvSpPr/>
          <p:nvPr/>
        </p:nvSpPr>
        <p:spPr>
          <a:xfrm>
            <a:off x="7283856" y="3470000"/>
            <a:ext cx="3666960" cy="56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lIns="91440" tIns="18288" rIns="91440" bIns="18288" rtlCol="0" anchor="ctr"/>
          <a:lstStyle/>
          <a:p>
            <a:pPr algn="l">
              <a:spcAft>
                <a:spcPts val="0"/>
              </a:spcAft>
              <a:buNone/>
            </a:pPr>
            <a:r>
              <a:rPr lang="ko-KR" altLang="en-US" sz="1050" b="1" dirty="0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물건 · 쏟아짐 박살 — 1.2% · 1개</a:t>
            </a:r>
          </a:p>
          <a:p>
            <a:pPr algn="l">
              <a:spcAft>
                <a:spcPts val="0"/>
              </a:spcAft>
              <a:buNone/>
            </a:pPr>
            <a:r>
              <a:rPr lang="ko-KR" altLang="en-US" sz="95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물건 100개당 약 1.2개</a:t>
            </a:r>
          </a:p>
        </p:txBody>
      </p:sp>
      <p:sp>
        <p:nvSpPr>
          <p:cNvPr id="33" name="Shape 33"/>
          <p:cNvSpPr/>
          <p:nvPr/>
        </p:nvSpPr>
        <p:spPr>
          <a:xfrm>
            <a:off x="7283856" y="4090000"/>
            <a:ext cx="3666960" cy="56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lIns="91440" tIns="18288" rIns="91440" bIns="18288" rtlCol="0" anchor="ctr"/>
          <a:lstStyle/>
          <a:p>
            <a:pPr algn="l">
              <a:spcAft>
                <a:spcPts val="0"/>
              </a:spcAft>
              <a:buNone/>
            </a:pPr>
            <a:r>
              <a:rPr lang="ko-KR" altLang="en-US" sz="1050" b="1" dirty="0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층 돌파 — 스테이지 테이블 research 칸</a:t>
            </a:r>
          </a:p>
          <a:p>
            <a:pPr algn="l">
              <a:spcAft>
                <a:spcPts val="0"/>
              </a:spcAft>
              <a:buNone/>
            </a:pPr>
            <a:r>
              <a:rPr lang="ko-KR" altLang="en-US" sz="95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1층 8 · 5층 28 · 10층 113 · 20층 14,900</a:t>
            </a:r>
          </a:p>
        </p:txBody>
      </p:sp>
      <p:sp>
        <p:nvSpPr>
          <p:cNvPr id="34" name="Shape 34"/>
          <p:cNvSpPr/>
          <p:nvPr/>
        </p:nvSpPr>
        <p:spPr>
          <a:xfrm>
            <a:off x="7283856" y="4710000"/>
            <a:ext cx="3666960" cy="56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lIns="91440" tIns="18288" rIns="91440" bIns="18288" rtlCol="0" anchor="ctr"/>
          <a:lstStyle/>
          <a:p>
            <a:pPr algn="l">
              <a:spcAft>
                <a:spcPts val="0"/>
              </a:spcAft>
              <a:buNone/>
            </a:pPr>
            <a:r>
              <a:rPr lang="ko-KR" altLang="en-US" sz="105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사람 퇴치 — 없음</a:t>
            </a:r>
          </a:p>
          <a:p>
            <a:pPr algn="l">
              <a:spcAft>
                <a:spcPts val="0"/>
              </a:spcAft>
              <a:buNone/>
            </a:pPr>
            <a:r>
              <a:rPr lang="ko-KR" altLang="en-US" sz="95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치즈 · 콤보 +2만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33856" y="5650000"/>
            <a:ext cx="9966960" cy="23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ko-KR" altLang="en-US" sz="10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쏟아진 물건은 그 자리의 층 · 방 거리 배율로 생성 · 황금(×5) 확률과 연구자료 1.2% 판정도 받음 (가구는 황금 제외)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133856" y="5900000"/>
            <a:ext cx="9966960" cy="23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ko-KR" altLang="en-US" sz="10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게임 오버 · 층 탈취 연출 중에는 연구자료 드랍 없음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200" b="0" dirty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생성 · 보상</a:t>
            </a:r>
            <a:r>
              <a:rPr lang="ko-KR" altLang="en-US" sz="2400" b="0" dirty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공용 스킬 연동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1"/>
          <p:cNvSpPr/>
          <p:nvPr/>
        </p:nvSpPr>
        <p:spPr>
          <a:xfrm>
            <a:off x="1133856" y="1330977"/>
            <a:ext cx="9966960" cy="502920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lIns="109728" tIns="36576" rIns="109728" bIns="36576" rtlCol="0" anchor="ctr"/>
          <a:lstStyle/>
          <a:p>
            <a:pPr algn="l">
              <a:spcAft>
                <a:spcPts val="300"/>
              </a:spcAft>
              <a:buNone/>
            </a:pPr>
            <a:r>
              <a:rPr lang="ko-KR" altLang="en-US" sz="14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오브젝트 수 · 가치 · 해금에 영향을 주는 공용 스킬 노드</a:t>
            </a:r>
          </a:p>
        </p:txBody>
      </p:sp>
      <p:graphicFrame>
        <p:nvGraphicFramePr>
          <p:cNvPr id="12" name="Table 12"/>
          <p:cNvGraphicFramePr>
            <a:graphicFrameLocks noGrp="1"/>
          </p:cNvGraphicFramePr>
          <p:nvPr/>
        </p:nvGraphicFramePr>
        <p:xfrm>
          <a:off x="1133856" y="1870000"/>
          <a:ext cx="9966960" cy="425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87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73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933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874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노드 (effect_type)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훈장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최대 합계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적용 대상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00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신규 물건 출현 (New_Item)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1~8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14종 해금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보물 8 · 표본 병 · 현미경 · 원심분리기 · 가스통 · 약품 드럼 · 서버 랙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000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황금 물건 확률 (Gold_Item)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4~8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21% · 치즈 ×5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가구 제외 모든 물건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000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방마다 물건 +N (Item_Count_Flat)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1~3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+5개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방당 상한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000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나오는 물건 +% (Item_Count_Pct)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2~8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+150%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방당 상한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000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물건 보충 속도 (Spawn_Rate_Pct)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4~8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+120%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자동 보충 주기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000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로켓배송 쿨타임 (Rocket_CD)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-5초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택배 주기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000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치즈 획득량 (Cheese_Pct 전체)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1~8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+175%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물건 · 사람 모두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000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물건 파괴 치즈 (Cheese_Pct 물건)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1~8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+465%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물건 · 가구 · 쏟아짐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000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생명체 처치 치즈 (Cheese_Pct 생명체)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1~8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+465%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사람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000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가구 피해 · 치즈 (Furniture_Pct)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+30% · +30%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가구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000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연쇄 폭발 (Chain_Blast)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범위 +30 · 피해 +20%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박살 연쇄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000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공중 충돌 치즈 (Air_Cheese_Pct)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+50%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공중 충돌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000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전기 이빨 (Bite_Zap)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5% · 2개 감전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깨문 물건 주변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000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치즈 운석 (Cheese_Meteor)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12초마다 · 위력 +30%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화면 속 물건 하나 (반경 90)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000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쥐덫 등장 · 2개 확률 (Trap_*_Down)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1~8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-30% · -40%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쥐덫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5000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벽 체력 · 벽 피해 (Wall_*)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1~8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-15% · +190%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벽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200" b="0" dirty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생성 · 보상</a:t>
            </a:r>
            <a:r>
              <a:rPr lang="ko-KR" altLang="en-US" sz="2400" b="0" dirty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훈장별 물건 해금 로드맵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1"/>
          <p:cNvSpPr/>
          <p:nvPr/>
        </p:nvSpPr>
        <p:spPr>
          <a:xfrm>
            <a:off x="1133856" y="1330977"/>
            <a:ext cx="9966960" cy="502920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lIns="109728" tIns="36576" rIns="109728" bIns="36576" rtlCol="0" anchor="ctr"/>
          <a:lstStyle/>
          <a:p>
            <a:pPr algn="l">
              <a:spcAft>
                <a:spcPts val="300"/>
              </a:spcAft>
              <a:buNone/>
            </a:pPr>
            <a:r>
              <a:rPr lang="ko-KR" altLang="en-US" sz="14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Loot 브랜치 '신규 물건 출현' · '황금 물건' 노드로 훈장마다 늘어나는 물건</a:t>
            </a:r>
          </a:p>
        </p:txBody>
      </p:sp>
      <p:sp>
        <p:nvSpPr>
          <p:cNvPr id="12" name="Shape 12"/>
          <p:cNvSpPr/>
          <p:nvPr/>
        </p:nvSpPr>
        <p:spPr>
          <a:xfrm>
            <a:off x="1153856" y="1950000"/>
            <a:ext cx="1205870" cy="4250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3458" y="2000000"/>
            <a:ext cx="566666" cy="560000"/>
          </a:xfrm>
          <a:prstGeom prst="rect">
            <a:avLst/>
          </a:prstGeom>
        </p:spPr>
      </p:pic>
      <p:sp>
        <p:nvSpPr>
          <p:cNvPr id="14" name="Shape 14"/>
          <p:cNvSpPr/>
          <p:nvPr/>
        </p:nvSpPr>
        <p:spPr>
          <a:xfrm>
            <a:off x="1133856" y="2570000"/>
            <a:ext cx="1245870" cy="25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1훈장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1919" y="2900000"/>
            <a:ext cx="489743" cy="800000"/>
          </a:xfrm>
          <a:prstGeom prst="rect">
            <a:avLst/>
          </a:prstGeom>
        </p:spPr>
      </p:pic>
      <p:sp>
        <p:nvSpPr>
          <p:cNvPr id="16" name="Shape 16"/>
          <p:cNvSpPr/>
          <p:nvPr/>
        </p:nvSpPr>
        <p:spPr>
          <a:xfrm>
            <a:off x="1133856" y="3720000"/>
            <a:ext cx="1245870" cy="38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표본 병</a:t>
            </a:r>
          </a:p>
          <a:p>
            <a:pPr algn="ctr">
              <a:spcAft>
                <a:spcPts val="0"/>
              </a:spcAft>
              <a:buNone/>
            </a:pPr>
            <a:r>
              <a:rPr lang="ko-KR" altLang="en-US" sz="8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1층~</a:t>
            </a: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6203" y="4150000"/>
            <a:ext cx="701176" cy="800000"/>
          </a:xfrm>
          <a:prstGeom prst="rect">
            <a:avLst/>
          </a:prstGeom>
        </p:spPr>
      </p:pic>
      <p:sp>
        <p:nvSpPr>
          <p:cNvPr id="18" name="Shape 18"/>
          <p:cNvSpPr/>
          <p:nvPr/>
        </p:nvSpPr>
        <p:spPr>
          <a:xfrm>
            <a:off x="1133856" y="4970000"/>
            <a:ext cx="1245870" cy="38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치즈 금고</a:t>
            </a:r>
          </a:p>
          <a:p>
            <a:pPr algn="ctr">
              <a:spcAft>
                <a:spcPts val="0"/>
              </a:spcAft>
              <a:buNone/>
            </a:pPr>
            <a:r>
              <a:rPr lang="ko-KR" altLang="en-US" sz="8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1층~</a:t>
            </a:r>
          </a:p>
        </p:txBody>
      </p:sp>
      <p:sp>
        <p:nvSpPr>
          <p:cNvPr id="19" name="Shape 19"/>
          <p:cNvSpPr/>
          <p:nvPr/>
        </p:nvSpPr>
        <p:spPr>
          <a:xfrm>
            <a:off x="1193856" y="5450000"/>
            <a:ext cx="1125870" cy="6000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8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황금 물건</a:t>
            </a:r>
          </a:p>
          <a:p>
            <a:pPr algn="ctr">
              <a:spcAft>
                <a:spcPts val="0"/>
              </a:spcAft>
              <a:buNone/>
            </a:pPr>
            <a:r>
              <a:rPr lang="ko-KR" altLang="en-US" sz="12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—</a:t>
            </a:r>
          </a:p>
          <a:p>
            <a:pPr algn="ctr">
              <a:spcAft>
                <a:spcPts val="0"/>
              </a:spcAft>
              <a:buNone/>
            </a:pPr>
            <a:endParaRPr lang="ko-KR" altLang="en-US" sz="1200" b="1" dirty="0">
              <a:solidFill>
                <a:srgbClr val="0B0B0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0" name="Shape 20"/>
          <p:cNvSpPr/>
          <p:nvPr/>
        </p:nvSpPr>
        <p:spPr>
          <a:xfrm>
            <a:off x="2399726" y="1950000"/>
            <a:ext cx="1205870" cy="42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69501" y="2000000"/>
            <a:ext cx="466319" cy="559999"/>
          </a:xfrm>
          <a:prstGeom prst="rect">
            <a:avLst/>
          </a:prstGeom>
        </p:spPr>
      </p:pic>
      <p:sp>
        <p:nvSpPr>
          <p:cNvPr id="22" name="Shape 22"/>
          <p:cNvSpPr/>
          <p:nvPr/>
        </p:nvSpPr>
        <p:spPr>
          <a:xfrm>
            <a:off x="2379726" y="2570000"/>
            <a:ext cx="1245870" cy="25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2훈장</a:t>
            </a: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23797" y="2900000"/>
            <a:ext cx="557728" cy="800000"/>
          </a:xfrm>
          <a:prstGeom prst="rect">
            <a:avLst/>
          </a:prstGeom>
        </p:spPr>
      </p:pic>
      <p:sp>
        <p:nvSpPr>
          <p:cNvPr id="24" name="Shape 24"/>
          <p:cNvSpPr/>
          <p:nvPr/>
        </p:nvSpPr>
        <p:spPr>
          <a:xfrm>
            <a:off x="2379726" y="3720000"/>
            <a:ext cx="1245870" cy="38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현미경</a:t>
            </a:r>
          </a:p>
          <a:p>
            <a:pPr algn="ctr">
              <a:spcAft>
                <a:spcPts val="0"/>
              </a:spcAft>
              <a:buNone/>
            </a:pPr>
            <a:r>
              <a:rPr lang="ko-KR" altLang="en-US" sz="8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3층~</a:t>
            </a: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89308" y="4150000"/>
            <a:ext cx="626706" cy="800000"/>
          </a:xfrm>
          <a:prstGeom prst="rect">
            <a:avLst/>
          </a:prstGeom>
        </p:spPr>
      </p:pic>
      <p:sp>
        <p:nvSpPr>
          <p:cNvPr id="26" name="Shape 26"/>
          <p:cNvSpPr/>
          <p:nvPr/>
        </p:nvSpPr>
        <p:spPr>
          <a:xfrm>
            <a:off x="2379726" y="4970000"/>
            <a:ext cx="1245870" cy="38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황금 치즈 트로피</a:t>
            </a:r>
          </a:p>
          <a:p>
            <a:pPr algn="ctr">
              <a:spcAft>
                <a:spcPts val="0"/>
              </a:spcAft>
              <a:buNone/>
            </a:pPr>
            <a:r>
              <a:rPr lang="ko-KR" altLang="en-US" sz="8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3층~</a:t>
            </a:r>
          </a:p>
        </p:txBody>
      </p:sp>
      <p:sp>
        <p:nvSpPr>
          <p:cNvPr id="27" name="Shape 27"/>
          <p:cNvSpPr/>
          <p:nvPr/>
        </p:nvSpPr>
        <p:spPr>
          <a:xfrm>
            <a:off x="2439726" y="5450000"/>
            <a:ext cx="1125870" cy="6000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8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황금 물건</a:t>
            </a:r>
          </a:p>
          <a:p>
            <a:pPr algn="ctr">
              <a:spcAft>
                <a:spcPts val="0"/>
              </a:spcAft>
              <a:buNone/>
            </a:pPr>
            <a:r>
              <a:rPr lang="ko-KR" altLang="en-US" sz="12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—</a:t>
            </a:r>
          </a:p>
          <a:p>
            <a:pPr algn="ctr">
              <a:spcAft>
                <a:spcPts val="0"/>
              </a:spcAft>
              <a:buNone/>
            </a:pPr>
            <a:endParaRPr lang="ko-KR" altLang="en-US" sz="1200" b="1" dirty="0">
              <a:solidFill>
                <a:srgbClr val="0B0B0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8" name="Shape 28"/>
          <p:cNvSpPr/>
          <p:nvPr/>
        </p:nvSpPr>
        <p:spPr>
          <a:xfrm>
            <a:off x="3645596" y="1950000"/>
            <a:ext cx="1205870" cy="4250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99413" y="2000000"/>
            <a:ext cx="498235" cy="560000"/>
          </a:xfrm>
          <a:prstGeom prst="rect">
            <a:avLst/>
          </a:prstGeom>
        </p:spPr>
      </p:pic>
      <p:sp>
        <p:nvSpPr>
          <p:cNvPr id="30" name="Shape 30"/>
          <p:cNvSpPr/>
          <p:nvPr/>
        </p:nvSpPr>
        <p:spPr>
          <a:xfrm>
            <a:off x="3625596" y="2570000"/>
            <a:ext cx="1245870" cy="25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3훈장</a:t>
            </a:r>
          </a:p>
        </p:txBody>
      </p:sp>
      <p:pic>
        <p:nvPicPr>
          <p:cNvPr id="31" name="Picture 3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34942" y="2900001"/>
            <a:ext cx="627177" cy="799999"/>
          </a:xfrm>
          <a:prstGeom prst="rect">
            <a:avLst/>
          </a:prstGeom>
        </p:spPr>
      </p:pic>
      <p:sp>
        <p:nvSpPr>
          <p:cNvPr id="32" name="Shape 32"/>
          <p:cNvSpPr/>
          <p:nvPr/>
        </p:nvSpPr>
        <p:spPr>
          <a:xfrm>
            <a:off x="3625596" y="3720000"/>
            <a:ext cx="1245870" cy="38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원심분리기</a:t>
            </a:r>
          </a:p>
          <a:p>
            <a:pPr algn="ctr">
              <a:spcAft>
                <a:spcPts val="0"/>
              </a:spcAft>
              <a:buNone/>
            </a:pPr>
            <a:r>
              <a:rPr lang="ko-KR" altLang="en-US" sz="8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5층~</a:t>
            </a:r>
          </a:p>
        </p:txBody>
      </p:sp>
      <p:pic>
        <p:nvPicPr>
          <p:cNvPr id="33" name="Picture 3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67420" y="4150000"/>
            <a:ext cx="762222" cy="800000"/>
          </a:xfrm>
          <a:prstGeom prst="rect">
            <a:avLst/>
          </a:prstGeom>
        </p:spPr>
      </p:pic>
      <p:sp>
        <p:nvSpPr>
          <p:cNvPr id="34" name="Shape 34"/>
          <p:cNvSpPr/>
          <p:nvPr/>
        </p:nvSpPr>
        <p:spPr>
          <a:xfrm>
            <a:off x="3625596" y="4970000"/>
            <a:ext cx="1245870" cy="38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실험용 로봇 팔</a:t>
            </a:r>
          </a:p>
          <a:p>
            <a:pPr algn="ctr">
              <a:spcAft>
                <a:spcPts val="0"/>
              </a:spcAft>
              <a:buNone/>
            </a:pPr>
            <a:r>
              <a:rPr lang="ko-KR" altLang="en-US" sz="8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5층~</a:t>
            </a:r>
          </a:p>
        </p:txBody>
      </p:sp>
      <p:sp>
        <p:nvSpPr>
          <p:cNvPr id="35" name="Shape 35"/>
          <p:cNvSpPr/>
          <p:nvPr/>
        </p:nvSpPr>
        <p:spPr>
          <a:xfrm>
            <a:off x="3685596" y="5450000"/>
            <a:ext cx="1125870" cy="6000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8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황금 물건</a:t>
            </a:r>
          </a:p>
          <a:p>
            <a:pPr algn="ctr">
              <a:spcAft>
                <a:spcPts val="0"/>
              </a:spcAft>
              <a:buNone/>
            </a:pPr>
            <a:r>
              <a:rPr lang="ko-KR" altLang="en-US" sz="12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—</a:t>
            </a:r>
          </a:p>
          <a:p>
            <a:pPr algn="ctr">
              <a:spcAft>
                <a:spcPts val="0"/>
              </a:spcAft>
              <a:buNone/>
            </a:pPr>
            <a:endParaRPr lang="ko-KR" altLang="en-US" sz="1200" b="1" dirty="0">
              <a:solidFill>
                <a:srgbClr val="0B0B0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6" name="Shape 36"/>
          <p:cNvSpPr/>
          <p:nvPr/>
        </p:nvSpPr>
        <p:spPr>
          <a:xfrm>
            <a:off x="4891466" y="1950000"/>
            <a:ext cx="1205870" cy="42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pic>
        <p:nvPicPr>
          <p:cNvPr id="37" name="Picture 3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52489" y="2000000"/>
            <a:ext cx="483823" cy="560000"/>
          </a:xfrm>
          <a:prstGeom prst="rect">
            <a:avLst/>
          </a:prstGeom>
        </p:spPr>
      </p:pic>
      <p:sp>
        <p:nvSpPr>
          <p:cNvPr id="38" name="Shape 38"/>
          <p:cNvSpPr/>
          <p:nvPr/>
        </p:nvSpPr>
        <p:spPr>
          <a:xfrm>
            <a:off x="4871466" y="2570000"/>
            <a:ext cx="1245870" cy="25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4훈장</a:t>
            </a:r>
          </a:p>
        </p:txBody>
      </p:sp>
      <p:pic>
        <p:nvPicPr>
          <p:cNvPr id="39" name="Picture 39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334401" y="2900000"/>
            <a:ext cx="320000" cy="800000"/>
          </a:xfrm>
          <a:prstGeom prst="rect">
            <a:avLst/>
          </a:prstGeom>
        </p:spPr>
      </p:pic>
      <p:sp>
        <p:nvSpPr>
          <p:cNvPr id="40" name="Shape 40"/>
          <p:cNvSpPr/>
          <p:nvPr/>
        </p:nvSpPr>
        <p:spPr>
          <a:xfrm>
            <a:off x="4871466" y="3720000"/>
            <a:ext cx="1245870" cy="38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가스통</a:t>
            </a:r>
          </a:p>
          <a:p>
            <a:pPr algn="ctr">
              <a:spcAft>
                <a:spcPts val="0"/>
              </a:spcAft>
              <a:buNone/>
            </a:pPr>
            <a:r>
              <a:rPr lang="ko-KR" altLang="en-US" sz="8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6층~</a:t>
            </a:r>
          </a:p>
        </p:txBody>
      </p:sp>
      <p:pic>
        <p:nvPicPr>
          <p:cNvPr id="41" name="Picture 4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257734" y="4150000"/>
            <a:ext cx="473333" cy="800000"/>
          </a:xfrm>
          <a:prstGeom prst="rect">
            <a:avLst/>
          </a:prstGeom>
        </p:spPr>
      </p:pic>
      <p:sp>
        <p:nvSpPr>
          <p:cNvPr id="42" name="Shape 42"/>
          <p:cNvSpPr/>
          <p:nvPr/>
        </p:nvSpPr>
        <p:spPr>
          <a:xfrm>
            <a:off x="4871466" y="4970000"/>
            <a:ext cx="1245870" cy="38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냉동 수면 캡슐</a:t>
            </a:r>
          </a:p>
          <a:p>
            <a:pPr algn="ctr">
              <a:spcAft>
                <a:spcPts val="0"/>
              </a:spcAft>
              <a:buNone/>
            </a:pPr>
            <a:r>
              <a:rPr lang="ko-KR" altLang="en-US" sz="8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8층~</a:t>
            </a:r>
          </a:p>
        </p:txBody>
      </p:sp>
      <p:sp>
        <p:nvSpPr>
          <p:cNvPr id="43" name="Shape 43"/>
          <p:cNvSpPr/>
          <p:nvPr/>
        </p:nvSpPr>
        <p:spPr>
          <a:xfrm>
            <a:off x="4931466" y="5450000"/>
            <a:ext cx="1125870" cy="600000"/>
          </a:xfrm>
          <a:prstGeom prst="rect">
            <a:avLst/>
          </a:prstGeom>
          <a:solidFill>
            <a:srgbClr val="FBE5D6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8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황금 물건</a:t>
            </a:r>
          </a:p>
          <a:p>
            <a:pPr algn="ctr">
              <a:spcAft>
                <a:spcPts val="0"/>
              </a:spcAft>
              <a:buNone/>
            </a:pPr>
            <a:r>
              <a:rPr lang="ko-KR" altLang="en-US" sz="12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3%</a:t>
            </a:r>
          </a:p>
          <a:p>
            <a:pPr algn="ctr">
              <a:spcAft>
                <a:spcPts val="0"/>
              </a:spcAft>
              <a:buNone/>
            </a:pPr>
            <a:r>
              <a:rPr lang="ko-KR" altLang="en-US" sz="8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+3%</a:t>
            </a:r>
          </a:p>
        </p:txBody>
      </p:sp>
      <p:sp>
        <p:nvSpPr>
          <p:cNvPr id="44" name="Shape 44"/>
          <p:cNvSpPr/>
          <p:nvPr/>
        </p:nvSpPr>
        <p:spPr>
          <a:xfrm>
            <a:off x="6137336" y="1950000"/>
            <a:ext cx="1205870" cy="4250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pic>
        <p:nvPicPr>
          <p:cNvPr id="45" name="Picture 4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92826" y="2000000"/>
            <a:ext cx="694890" cy="560000"/>
          </a:xfrm>
          <a:prstGeom prst="rect">
            <a:avLst/>
          </a:prstGeom>
        </p:spPr>
      </p:pic>
      <p:sp>
        <p:nvSpPr>
          <p:cNvPr id="46" name="Shape 46"/>
          <p:cNvSpPr/>
          <p:nvPr/>
        </p:nvSpPr>
        <p:spPr>
          <a:xfrm>
            <a:off x="6117336" y="2570000"/>
            <a:ext cx="1245870" cy="25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5훈장</a:t>
            </a:r>
          </a:p>
        </p:txBody>
      </p:sp>
      <p:pic>
        <p:nvPicPr>
          <p:cNvPr id="47" name="Picture 47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91320" y="2900000"/>
            <a:ext cx="497902" cy="800000"/>
          </a:xfrm>
          <a:prstGeom prst="rect">
            <a:avLst/>
          </a:prstGeom>
        </p:spPr>
      </p:pic>
      <p:sp>
        <p:nvSpPr>
          <p:cNvPr id="48" name="Shape 48"/>
          <p:cNvSpPr/>
          <p:nvPr/>
        </p:nvSpPr>
        <p:spPr>
          <a:xfrm>
            <a:off x="6117336" y="3720000"/>
            <a:ext cx="1245870" cy="38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약품 드럼</a:t>
            </a:r>
          </a:p>
          <a:p>
            <a:pPr algn="ctr">
              <a:spcAft>
                <a:spcPts val="0"/>
              </a:spcAft>
              <a:buNone/>
            </a:pPr>
            <a:r>
              <a:rPr lang="ko-KR" altLang="en-US" sz="8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9층~</a:t>
            </a:r>
          </a:p>
        </p:txBody>
      </p:sp>
      <p:pic>
        <p:nvPicPr>
          <p:cNvPr id="49" name="Picture 49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88049" y="4150000"/>
            <a:ext cx="704444" cy="800000"/>
          </a:xfrm>
          <a:prstGeom prst="rect">
            <a:avLst/>
          </a:prstGeom>
        </p:spPr>
      </p:pic>
      <p:sp>
        <p:nvSpPr>
          <p:cNvPr id="50" name="Shape 50"/>
          <p:cNvSpPr/>
          <p:nvPr/>
        </p:nvSpPr>
        <p:spPr>
          <a:xfrm>
            <a:off x="6117336" y="4970000"/>
            <a:ext cx="1245870" cy="38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거대 치즈 바퀴</a:t>
            </a:r>
          </a:p>
          <a:p>
            <a:pPr algn="ctr">
              <a:spcAft>
                <a:spcPts val="0"/>
              </a:spcAft>
              <a:buNone/>
            </a:pPr>
            <a:r>
              <a:rPr lang="ko-KR" altLang="en-US" sz="8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10층~</a:t>
            </a:r>
          </a:p>
        </p:txBody>
      </p:sp>
      <p:sp>
        <p:nvSpPr>
          <p:cNvPr id="51" name="Shape 51"/>
          <p:cNvSpPr/>
          <p:nvPr/>
        </p:nvSpPr>
        <p:spPr>
          <a:xfrm>
            <a:off x="6177336" y="5450000"/>
            <a:ext cx="1125870" cy="600000"/>
          </a:xfrm>
          <a:prstGeom prst="rect">
            <a:avLst/>
          </a:prstGeom>
          <a:solidFill>
            <a:srgbClr val="F8CBAD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8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황금 물건</a:t>
            </a:r>
          </a:p>
          <a:p>
            <a:pPr algn="ctr">
              <a:spcAft>
                <a:spcPts val="0"/>
              </a:spcAft>
              <a:buNone/>
            </a:pPr>
            <a:r>
              <a:rPr lang="ko-KR" altLang="en-US" sz="12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7%</a:t>
            </a:r>
          </a:p>
          <a:p>
            <a:pPr algn="ctr">
              <a:spcAft>
                <a:spcPts val="0"/>
              </a:spcAft>
              <a:buNone/>
            </a:pPr>
            <a:r>
              <a:rPr lang="ko-KR" altLang="en-US" sz="8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+4%</a:t>
            </a:r>
          </a:p>
        </p:txBody>
      </p:sp>
      <p:sp>
        <p:nvSpPr>
          <p:cNvPr id="52" name="Shape 52"/>
          <p:cNvSpPr/>
          <p:nvPr/>
        </p:nvSpPr>
        <p:spPr>
          <a:xfrm>
            <a:off x="7383206" y="1950000"/>
            <a:ext cx="1205870" cy="42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pic>
        <p:nvPicPr>
          <p:cNvPr id="53" name="Picture 53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758701" y="2000000"/>
            <a:ext cx="454880" cy="560000"/>
          </a:xfrm>
          <a:prstGeom prst="rect">
            <a:avLst/>
          </a:prstGeom>
        </p:spPr>
      </p:pic>
      <p:sp>
        <p:nvSpPr>
          <p:cNvPr id="54" name="Shape 54"/>
          <p:cNvSpPr/>
          <p:nvPr/>
        </p:nvSpPr>
        <p:spPr>
          <a:xfrm>
            <a:off x="7363206" y="2570000"/>
            <a:ext cx="1245870" cy="25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6훈장</a:t>
            </a:r>
          </a:p>
        </p:txBody>
      </p:sp>
      <p:pic>
        <p:nvPicPr>
          <p:cNvPr id="55" name="Picture 55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731960" y="2900000"/>
            <a:ext cx="508361" cy="800000"/>
          </a:xfrm>
          <a:prstGeom prst="rect">
            <a:avLst/>
          </a:prstGeom>
        </p:spPr>
      </p:pic>
      <p:sp>
        <p:nvSpPr>
          <p:cNvPr id="56" name="Shape 56"/>
          <p:cNvSpPr/>
          <p:nvPr/>
        </p:nvSpPr>
        <p:spPr>
          <a:xfrm>
            <a:off x="7363206" y="3720000"/>
            <a:ext cx="1245870" cy="38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서버 랙</a:t>
            </a:r>
          </a:p>
          <a:p>
            <a:pPr algn="ctr">
              <a:spcAft>
                <a:spcPts val="0"/>
              </a:spcAft>
              <a:buNone/>
            </a:pPr>
            <a:r>
              <a:rPr lang="ko-KR" altLang="en-US" sz="8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12층~</a:t>
            </a:r>
          </a:p>
        </p:txBody>
      </p:sp>
      <p:pic>
        <p:nvPicPr>
          <p:cNvPr id="57" name="Picture 57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528616" y="4150000"/>
            <a:ext cx="915050" cy="800000"/>
          </a:xfrm>
          <a:prstGeom prst="rect">
            <a:avLst/>
          </a:prstGeom>
        </p:spPr>
      </p:pic>
      <p:sp>
        <p:nvSpPr>
          <p:cNvPr id="58" name="Shape 58"/>
          <p:cNvSpPr/>
          <p:nvPr/>
        </p:nvSpPr>
        <p:spPr>
          <a:xfrm>
            <a:off x="7363206" y="4970000"/>
            <a:ext cx="1245870" cy="38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금괴 상자</a:t>
            </a:r>
          </a:p>
          <a:p>
            <a:pPr algn="ctr">
              <a:spcAft>
                <a:spcPts val="0"/>
              </a:spcAft>
              <a:buNone/>
            </a:pPr>
            <a:r>
              <a:rPr lang="ko-KR" altLang="en-US" sz="8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13층~</a:t>
            </a:r>
          </a:p>
        </p:txBody>
      </p:sp>
      <p:sp>
        <p:nvSpPr>
          <p:cNvPr id="59" name="Shape 59"/>
          <p:cNvSpPr/>
          <p:nvPr/>
        </p:nvSpPr>
        <p:spPr>
          <a:xfrm>
            <a:off x="7423206" y="5450000"/>
            <a:ext cx="1125870" cy="600000"/>
          </a:xfrm>
          <a:prstGeom prst="rect">
            <a:avLst/>
          </a:prstGeom>
          <a:solidFill>
            <a:srgbClr val="F4B183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8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황금 물건</a:t>
            </a:r>
          </a:p>
          <a:p>
            <a:pPr algn="ctr">
              <a:spcAft>
                <a:spcPts val="0"/>
              </a:spcAft>
              <a:buNone/>
            </a:pPr>
            <a:r>
              <a:rPr lang="ko-KR" altLang="en-US" sz="12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11%</a:t>
            </a:r>
          </a:p>
          <a:p>
            <a:pPr algn="ctr">
              <a:spcAft>
                <a:spcPts val="0"/>
              </a:spcAft>
              <a:buNone/>
            </a:pPr>
            <a:r>
              <a:rPr lang="ko-KR" altLang="en-US" sz="8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+4%</a:t>
            </a:r>
          </a:p>
        </p:txBody>
      </p:sp>
      <p:sp>
        <p:nvSpPr>
          <p:cNvPr id="60" name="Shape 60"/>
          <p:cNvSpPr/>
          <p:nvPr/>
        </p:nvSpPr>
        <p:spPr>
          <a:xfrm>
            <a:off x="8629076" y="1950000"/>
            <a:ext cx="1205870" cy="4250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pic>
        <p:nvPicPr>
          <p:cNvPr id="61" name="Picture 61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959986" y="2000000"/>
            <a:ext cx="544050" cy="560000"/>
          </a:xfrm>
          <a:prstGeom prst="rect">
            <a:avLst/>
          </a:prstGeom>
        </p:spPr>
      </p:pic>
      <p:sp>
        <p:nvSpPr>
          <p:cNvPr id="62" name="Shape 62"/>
          <p:cNvSpPr/>
          <p:nvPr/>
        </p:nvSpPr>
        <p:spPr>
          <a:xfrm>
            <a:off x="8609076" y="2570000"/>
            <a:ext cx="1245870" cy="25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7훈장</a:t>
            </a:r>
          </a:p>
        </p:txBody>
      </p:sp>
      <p:pic>
        <p:nvPicPr>
          <p:cNvPr id="63" name="Picture 63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949789" y="2900000"/>
            <a:ext cx="564444" cy="800000"/>
          </a:xfrm>
          <a:prstGeom prst="rect">
            <a:avLst/>
          </a:prstGeom>
        </p:spPr>
      </p:pic>
      <p:sp>
        <p:nvSpPr>
          <p:cNvPr id="64" name="Shape 64"/>
          <p:cNvSpPr/>
          <p:nvPr/>
        </p:nvSpPr>
        <p:spPr>
          <a:xfrm>
            <a:off x="8609076" y="3720000"/>
            <a:ext cx="1245870" cy="38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데이터 코어</a:t>
            </a:r>
          </a:p>
          <a:p>
            <a:pPr algn="ctr">
              <a:spcAft>
                <a:spcPts val="0"/>
              </a:spcAft>
              <a:buNone/>
            </a:pPr>
            <a:r>
              <a:rPr lang="ko-KR" altLang="en-US" sz="8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16층~</a:t>
            </a:r>
          </a:p>
        </p:txBody>
      </p:sp>
      <p:sp>
        <p:nvSpPr>
          <p:cNvPr id="65" name="Shape 65"/>
          <p:cNvSpPr/>
          <p:nvPr/>
        </p:nvSpPr>
        <p:spPr>
          <a:xfrm>
            <a:off x="8669076" y="5450000"/>
            <a:ext cx="1125870" cy="600000"/>
          </a:xfrm>
          <a:prstGeom prst="rect">
            <a:avLst/>
          </a:prstGeom>
          <a:solidFill>
            <a:srgbClr val="EE8E51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8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황금 물건</a:t>
            </a:r>
          </a:p>
          <a:p>
            <a:pPr algn="ctr">
              <a:spcAft>
                <a:spcPts val="0"/>
              </a:spcAft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16%</a:t>
            </a:r>
          </a:p>
          <a:p>
            <a:pPr algn="ctr">
              <a:spcAft>
                <a:spcPts val="0"/>
              </a:spcAft>
              <a:buNone/>
            </a:pPr>
            <a:r>
              <a:rPr lang="ko-KR" altLang="en-US" sz="800" b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+5%</a:t>
            </a:r>
          </a:p>
        </p:txBody>
      </p:sp>
      <p:sp>
        <p:nvSpPr>
          <p:cNvPr id="66" name="Shape 66"/>
          <p:cNvSpPr/>
          <p:nvPr/>
        </p:nvSpPr>
        <p:spPr>
          <a:xfrm>
            <a:off x="9874946" y="1950000"/>
            <a:ext cx="1205870" cy="42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pic>
        <p:nvPicPr>
          <p:cNvPr id="67" name="Picture 67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173979" y="2000000"/>
            <a:ext cx="607804" cy="560000"/>
          </a:xfrm>
          <a:prstGeom prst="rect">
            <a:avLst/>
          </a:prstGeom>
        </p:spPr>
      </p:pic>
      <p:sp>
        <p:nvSpPr>
          <p:cNvPr id="68" name="Shape 68"/>
          <p:cNvSpPr/>
          <p:nvPr/>
        </p:nvSpPr>
        <p:spPr>
          <a:xfrm>
            <a:off x="9854946" y="2570000"/>
            <a:ext cx="1245870" cy="25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8훈장</a:t>
            </a:r>
          </a:p>
        </p:txBody>
      </p:sp>
      <p:pic>
        <p:nvPicPr>
          <p:cNvPr id="69" name="Picture 69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212374" y="2900000"/>
            <a:ext cx="531014" cy="800000"/>
          </a:xfrm>
          <a:prstGeom prst="rect">
            <a:avLst/>
          </a:prstGeom>
        </p:spPr>
      </p:pic>
      <p:sp>
        <p:nvSpPr>
          <p:cNvPr id="70" name="Shape 70"/>
          <p:cNvSpPr/>
          <p:nvPr/>
        </p:nvSpPr>
        <p:spPr>
          <a:xfrm>
            <a:off x="9854946" y="3720000"/>
            <a:ext cx="1245870" cy="38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다이아몬드 치즈</a:t>
            </a:r>
          </a:p>
          <a:p>
            <a:pPr algn="ctr">
              <a:spcAft>
                <a:spcPts val="0"/>
              </a:spcAft>
              <a:buNone/>
            </a:pPr>
            <a:r>
              <a:rPr lang="ko-KR" altLang="en-US" sz="8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20층~</a:t>
            </a:r>
          </a:p>
        </p:txBody>
      </p:sp>
      <p:sp>
        <p:nvSpPr>
          <p:cNvPr id="71" name="Shape 71"/>
          <p:cNvSpPr/>
          <p:nvPr/>
        </p:nvSpPr>
        <p:spPr>
          <a:xfrm>
            <a:off x="9914946" y="5450000"/>
            <a:ext cx="1125870" cy="6000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8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황금 물건</a:t>
            </a:r>
          </a:p>
          <a:p>
            <a:pPr algn="ctr">
              <a:spcAft>
                <a:spcPts val="0"/>
              </a:spcAft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21%</a:t>
            </a:r>
          </a:p>
          <a:p>
            <a:pPr algn="ctr">
              <a:spcAft>
                <a:spcPts val="0"/>
              </a:spcAft>
              <a:buNone/>
            </a:pPr>
            <a:r>
              <a:rPr lang="ko-KR" altLang="en-US" sz="800" b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+5%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1133856" y="6300000"/>
            <a:ext cx="9966960" cy="23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ko-KR" altLang="en-US" sz="10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주황 이름 = 보물 · 해금 노드와 등장 층 둘 다 필요 · 황금 물건 = 치즈 ×5 (가구 제외, 아래 칸 = 그 훈장까지 누적 확률)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200" b="0" dirty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오브젝트 명세</a:t>
            </a:r>
            <a:r>
              <a:rPr lang="ko-KR" altLang="en-US" sz="2400" b="0" dirty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일반 물건 (1)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e 11"/>
          <p:cNvGraphicFramePr>
            <a:graphicFrameLocks noGrp="1"/>
          </p:cNvGraphicFramePr>
          <p:nvPr/>
        </p:nvGraphicFramePr>
        <p:xfrm>
          <a:off x="1133856" y="1600200"/>
          <a:ext cx="9966960" cy="429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13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29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15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66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66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313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649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649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2158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6668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2158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53338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33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분류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물건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ID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체력 배율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치즈 배율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효율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가중치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반지름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등장 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마지막 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해금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재질 · 특성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소형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플라스크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60001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1.00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유리 · 얼룩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소형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비커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60003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1.00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유리 · 얼룩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소형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페트리 접시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60005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1.12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유리 · 얼룩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소형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주사기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60007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1.33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유리 · 얼룩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소형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클립보드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60008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0.89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종이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소형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머그컵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60009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1.00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유리 · 얼룩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중형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표본 병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60011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2.4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1.20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1훈장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유리 · 얼룩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소형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삼각 플라스크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60002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1.10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유리 · 얼룩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소형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약병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60006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1.08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유리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소형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보안경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60010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0.92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14층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종이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중형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시험관 꽂이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60004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1.00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유리 · 얼룩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중형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구급상자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60016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1.00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17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금속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12" name="TextBox 12"/>
          <p:cNvSpPr txBox="1"/>
          <p:nvPr/>
        </p:nvSpPr>
        <p:spPr>
          <a:xfrm>
            <a:off x="1133856" y="5990200"/>
            <a:ext cx="9966960" cy="23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ko-KR" altLang="en-US" sz="10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주황 행 = 공용 스킬 '신규 물건 출현' 해금 필요 · 마지막 층 = 그 층까지 등장 · 재질 = 타격 · 박살 소리 (유리 / 금속 / 종이 = 나무)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200" b="0" dirty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오브젝트 명세</a:t>
            </a:r>
            <a:r>
              <a:rPr lang="ko-KR" altLang="en-US" sz="2400" b="0" dirty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일반 물건 (2)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e 11"/>
          <p:cNvGraphicFramePr>
            <a:graphicFrameLocks noGrp="1"/>
          </p:cNvGraphicFramePr>
          <p:nvPr/>
        </p:nvGraphicFramePr>
        <p:xfrm>
          <a:off x="1133856" y="1600200"/>
          <a:ext cx="9966960" cy="429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13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29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15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66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66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313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649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649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2158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6668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2158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53338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33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분류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물건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ID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체력 배율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치즈 배율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효율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가중치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반지름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등장 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마지막 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해금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재질 · 특성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중형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현미경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60017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2.5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2.4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0.96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2훈장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금속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중형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소화기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60014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0.90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유리 · 얼룩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중형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의자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60013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2.2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0.82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17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금속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중형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의료 폐기물통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60018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2.6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2.2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0.85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금속 · 얼룩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대형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케이지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60012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3.5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2.8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0.80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금속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대형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원심분리기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60020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3.6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0.90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3훈장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금속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대형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정수기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60015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2.6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0.87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유리 · 얼룩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대형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가스통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60022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4.5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0.90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4훈장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금속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대형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약품 드럼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60023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0.78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0.45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5훈장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금속 · 대형 · 얼룩 · 쏟아짐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대형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모니터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60019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1.00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금속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대형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실험 카트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60021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0.80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금속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대형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서버 랙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60024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0.75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0.35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6훈장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금속 · 대형 · 쏟아짐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12" name="TextBox 12"/>
          <p:cNvSpPr txBox="1"/>
          <p:nvPr/>
        </p:nvSpPr>
        <p:spPr>
          <a:xfrm>
            <a:off x="1133856" y="5990200"/>
            <a:ext cx="9966960" cy="23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ko-KR" altLang="en-US" sz="10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주황 행 = 공용 스킬 '신규 물건 출현' 해금 필요 · 마지막 층 = 그 층까지 등장 · 재질 = 타격 · 박살 소리 (유리 / 금속 / 종이 = 나무)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200" b="0" dirty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오브젝트 명세</a:t>
            </a:r>
            <a:r>
              <a:rPr lang="ko-KR" altLang="en-US" sz="2400" b="0" dirty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일반 물건 도감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1"/>
          <p:cNvSpPr/>
          <p:nvPr/>
        </p:nvSpPr>
        <p:spPr>
          <a:xfrm>
            <a:off x="1133856" y="1330977"/>
            <a:ext cx="9966960" cy="502920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lIns="109728" tIns="36576" rIns="109728" bIns="36576" rtlCol="0" anchor="ctr"/>
          <a:lstStyle/>
          <a:p>
            <a:pPr algn="l">
              <a:spcAft>
                <a:spcPts val="300"/>
              </a:spcAft>
              <a:buNone/>
            </a:pPr>
            <a:r>
              <a:rPr lang="ko-KR" altLang="en-US" sz="14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일반 물건 24종 — 등장 층 순 · 주황 칸 = 공용 스킬 해금 필요</a:t>
            </a:r>
          </a:p>
        </p:txBody>
      </p:sp>
      <p:sp>
        <p:nvSpPr>
          <p:cNvPr id="12" name="Shape 12"/>
          <p:cNvSpPr/>
          <p:nvPr/>
        </p:nvSpPr>
        <p:spPr>
          <a:xfrm>
            <a:off x="1158856" y="1950000"/>
            <a:ext cx="1195870" cy="1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2960" y="2020000"/>
            <a:ext cx="507661" cy="780000"/>
          </a:xfrm>
          <a:prstGeom prst="rect">
            <a:avLst/>
          </a:prstGeom>
        </p:spPr>
      </p:pic>
      <p:sp>
        <p:nvSpPr>
          <p:cNvPr id="14" name="Shape 14"/>
          <p:cNvSpPr/>
          <p:nvPr/>
        </p:nvSpPr>
        <p:spPr>
          <a:xfrm>
            <a:off x="1158856" y="2830000"/>
            <a:ext cx="1195870" cy="52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플라스크</a:t>
            </a:r>
          </a:p>
          <a:p>
            <a:pPr algn="ctr">
              <a:spcAft>
                <a:spcPts val="0"/>
              </a:spcAft>
              <a:buNone/>
            </a:pPr>
            <a:r>
              <a:rPr lang="ko-KR" altLang="en-US" sz="8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1층~ · 효율 1.00</a:t>
            </a:r>
          </a:p>
        </p:txBody>
      </p:sp>
      <p:sp>
        <p:nvSpPr>
          <p:cNvPr id="15" name="Shape 15"/>
          <p:cNvSpPr/>
          <p:nvPr/>
        </p:nvSpPr>
        <p:spPr>
          <a:xfrm>
            <a:off x="2404726" y="1950000"/>
            <a:ext cx="1195870" cy="1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1397" y="2020000"/>
            <a:ext cx="642528" cy="780000"/>
          </a:xfrm>
          <a:prstGeom prst="rect">
            <a:avLst/>
          </a:prstGeom>
        </p:spPr>
      </p:pic>
      <p:sp>
        <p:nvSpPr>
          <p:cNvPr id="17" name="Shape 17"/>
          <p:cNvSpPr/>
          <p:nvPr/>
        </p:nvSpPr>
        <p:spPr>
          <a:xfrm>
            <a:off x="2404726" y="2830000"/>
            <a:ext cx="1195870" cy="52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비커</a:t>
            </a:r>
          </a:p>
          <a:p>
            <a:pPr algn="ctr">
              <a:spcAft>
                <a:spcPts val="0"/>
              </a:spcAft>
              <a:buNone/>
            </a:pPr>
            <a:r>
              <a:rPr lang="ko-KR" altLang="en-US" sz="8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1층~ · 효율 1.00</a:t>
            </a:r>
          </a:p>
        </p:txBody>
      </p:sp>
      <p:sp>
        <p:nvSpPr>
          <p:cNvPr id="18" name="Shape 18"/>
          <p:cNvSpPr/>
          <p:nvPr/>
        </p:nvSpPr>
        <p:spPr>
          <a:xfrm>
            <a:off x="3650596" y="1950000"/>
            <a:ext cx="1195870" cy="1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2311" y="2020000"/>
            <a:ext cx="732439" cy="780000"/>
          </a:xfrm>
          <a:prstGeom prst="rect">
            <a:avLst/>
          </a:prstGeom>
        </p:spPr>
      </p:pic>
      <p:sp>
        <p:nvSpPr>
          <p:cNvPr id="20" name="Shape 20"/>
          <p:cNvSpPr/>
          <p:nvPr/>
        </p:nvSpPr>
        <p:spPr>
          <a:xfrm>
            <a:off x="3650596" y="2830000"/>
            <a:ext cx="1195870" cy="52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페트리 접시</a:t>
            </a:r>
          </a:p>
          <a:p>
            <a:pPr algn="ctr">
              <a:spcAft>
                <a:spcPts val="0"/>
              </a:spcAft>
              <a:buNone/>
            </a:pPr>
            <a:r>
              <a:rPr lang="ko-KR" altLang="en-US" sz="8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1~12층 · 효율 1.12</a:t>
            </a:r>
          </a:p>
        </p:txBody>
      </p:sp>
      <p:sp>
        <p:nvSpPr>
          <p:cNvPr id="21" name="Shape 21"/>
          <p:cNvSpPr/>
          <p:nvPr/>
        </p:nvSpPr>
        <p:spPr>
          <a:xfrm>
            <a:off x="4896466" y="1950000"/>
            <a:ext cx="1195870" cy="1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91466" y="2288683"/>
            <a:ext cx="1005870" cy="511317"/>
          </a:xfrm>
          <a:prstGeom prst="rect">
            <a:avLst/>
          </a:prstGeom>
        </p:spPr>
      </p:pic>
      <p:sp>
        <p:nvSpPr>
          <p:cNvPr id="23" name="Shape 23"/>
          <p:cNvSpPr/>
          <p:nvPr/>
        </p:nvSpPr>
        <p:spPr>
          <a:xfrm>
            <a:off x="4896466" y="2830000"/>
            <a:ext cx="1195870" cy="52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주사기</a:t>
            </a:r>
          </a:p>
          <a:p>
            <a:pPr algn="ctr">
              <a:spcAft>
                <a:spcPts val="0"/>
              </a:spcAft>
              <a:buNone/>
            </a:pPr>
            <a:r>
              <a:rPr lang="ko-KR" altLang="en-US" sz="8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1층~ · 효율 1.33</a:t>
            </a:r>
          </a:p>
        </p:txBody>
      </p:sp>
      <p:sp>
        <p:nvSpPr>
          <p:cNvPr id="24" name="Shape 24"/>
          <p:cNvSpPr/>
          <p:nvPr/>
        </p:nvSpPr>
        <p:spPr>
          <a:xfrm>
            <a:off x="6142336" y="1950000"/>
            <a:ext cx="1195870" cy="1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4244" y="2020001"/>
            <a:ext cx="812054" cy="779999"/>
          </a:xfrm>
          <a:prstGeom prst="rect">
            <a:avLst/>
          </a:prstGeom>
        </p:spPr>
      </p:pic>
      <p:sp>
        <p:nvSpPr>
          <p:cNvPr id="26" name="Shape 26"/>
          <p:cNvSpPr/>
          <p:nvPr/>
        </p:nvSpPr>
        <p:spPr>
          <a:xfrm>
            <a:off x="6142336" y="2830000"/>
            <a:ext cx="1195870" cy="52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클립보드</a:t>
            </a:r>
          </a:p>
          <a:p>
            <a:pPr algn="ctr">
              <a:spcAft>
                <a:spcPts val="0"/>
              </a:spcAft>
              <a:buNone/>
            </a:pPr>
            <a:r>
              <a:rPr lang="ko-KR" altLang="en-US" sz="8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1~10층 · 효율 0.89</a:t>
            </a:r>
          </a:p>
        </p:txBody>
      </p:sp>
      <p:sp>
        <p:nvSpPr>
          <p:cNvPr id="27" name="Shape 27"/>
          <p:cNvSpPr/>
          <p:nvPr/>
        </p:nvSpPr>
        <p:spPr>
          <a:xfrm>
            <a:off x="7388206" y="1950000"/>
            <a:ext cx="1195870" cy="1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13983" y="2020000"/>
            <a:ext cx="544316" cy="780000"/>
          </a:xfrm>
          <a:prstGeom prst="rect">
            <a:avLst/>
          </a:prstGeom>
        </p:spPr>
      </p:pic>
      <p:sp>
        <p:nvSpPr>
          <p:cNvPr id="29" name="Shape 29"/>
          <p:cNvSpPr/>
          <p:nvPr/>
        </p:nvSpPr>
        <p:spPr>
          <a:xfrm>
            <a:off x="7388206" y="2830000"/>
            <a:ext cx="1195870" cy="52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머그컵</a:t>
            </a:r>
          </a:p>
          <a:p>
            <a:pPr algn="ctr">
              <a:spcAft>
                <a:spcPts val="0"/>
              </a:spcAft>
              <a:buNone/>
            </a:pPr>
            <a:r>
              <a:rPr lang="ko-KR" altLang="en-US" sz="8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1층~ · 효율 1.00</a:t>
            </a:r>
          </a:p>
        </p:txBody>
      </p:sp>
      <p:sp>
        <p:nvSpPr>
          <p:cNvPr id="30" name="Shape 30"/>
          <p:cNvSpPr/>
          <p:nvPr/>
        </p:nvSpPr>
        <p:spPr>
          <a:xfrm>
            <a:off x="8634076" y="1950000"/>
            <a:ext cx="1195870" cy="1420000"/>
          </a:xfrm>
          <a:prstGeom prst="rect">
            <a:avLst/>
          </a:prstGeom>
          <a:solidFill>
            <a:srgbClr val="FBE5D6"/>
          </a:solidFill>
          <a:ln w="12700">
            <a:solidFill>
              <a:srgbClr val="D9D9D9"/>
            </a:solidFill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pic>
        <p:nvPicPr>
          <p:cNvPr id="31" name="Picture 3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93261" y="2020000"/>
            <a:ext cx="477500" cy="780000"/>
          </a:xfrm>
          <a:prstGeom prst="rect">
            <a:avLst/>
          </a:prstGeom>
        </p:spPr>
      </p:pic>
      <p:sp>
        <p:nvSpPr>
          <p:cNvPr id="32" name="Shape 32"/>
          <p:cNvSpPr/>
          <p:nvPr/>
        </p:nvSpPr>
        <p:spPr>
          <a:xfrm>
            <a:off x="8634076" y="2830000"/>
            <a:ext cx="1195870" cy="52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표본 병</a:t>
            </a:r>
          </a:p>
          <a:p>
            <a:pPr algn="ctr">
              <a:spcAft>
                <a:spcPts val="0"/>
              </a:spcAft>
              <a:buNone/>
            </a:pPr>
            <a:r>
              <a:rPr lang="ko-KR" altLang="en-US" sz="8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1층~ · 효율 1.20</a:t>
            </a:r>
          </a:p>
        </p:txBody>
      </p:sp>
      <p:sp>
        <p:nvSpPr>
          <p:cNvPr id="33" name="Shape 33"/>
          <p:cNvSpPr/>
          <p:nvPr/>
        </p:nvSpPr>
        <p:spPr>
          <a:xfrm>
            <a:off x="9879946" y="1950000"/>
            <a:ext cx="1195870" cy="1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pic>
        <p:nvPicPr>
          <p:cNvPr id="34" name="Picture 3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95467" y="2020000"/>
            <a:ext cx="564827" cy="780000"/>
          </a:xfrm>
          <a:prstGeom prst="rect">
            <a:avLst/>
          </a:prstGeom>
        </p:spPr>
      </p:pic>
      <p:sp>
        <p:nvSpPr>
          <p:cNvPr id="35" name="Shape 35"/>
          <p:cNvSpPr/>
          <p:nvPr/>
        </p:nvSpPr>
        <p:spPr>
          <a:xfrm>
            <a:off x="9879946" y="2830000"/>
            <a:ext cx="1195870" cy="52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삼각 플라스크</a:t>
            </a:r>
          </a:p>
          <a:p>
            <a:pPr algn="ctr">
              <a:spcAft>
                <a:spcPts val="0"/>
              </a:spcAft>
              <a:buNone/>
            </a:pPr>
            <a:r>
              <a:rPr lang="ko-KR" altLang="en-US" sz="8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2층~ · 효율 1.10</a:t>
            </a:r>
          </a:p>
        </p:txBody>
      </p:sp>
      <p:sp>
        <p:nvSpPr>
          <p:cNvPr id="36" name="Shape 36"/>
          <p:cNvSpPr/>
          <p:nvPr/>
        </p:nvSpPr>
        <p:spPr>
          <a:xfrm>
            <a:off x="1158856" y="3440000"/>
            <a:ext cx="1195870" cy="1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pic>
        <p:nvPicPr>
          <p:cNvPr id="37" name="Picture 3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30149" y="3510000"/>
            <a:ext cx="453283" cy="780000"/>
          </a:xfrm>
          <a:prstGeom prst="rect">
            <a:avLst/>
          </a:prstGeom>
        </p:spPr>
      </p:pic>
      <p:sp>
        <p:nvSpPr>
          <p:cNvPr id="38" name="Shape 38"/>
          <p:cNvSpPr/>
          <p:nvPr/>
        </p:nvSpPr>
        <p:spPr>
          <a:xfrm>
            <a:off x="1158856" y="4320000"/>
            <a:ext cx="1195870" cy="52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약병</a:t>
            </a:r>
          </a:p>
          <a:p>
            <a:pPr algn="ctr">
              <a:spcAft>
                <a:spcPts val="0"/>
              </a:spcAft>
              <a:buNone/>
            </a:pPr>
            <a:r>
              <a:rPr lang="ko-KR" altLang="en-US" sz="8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2층~ · 효율 1.08</a:t>
            </a:r>
          </a:p>
        </p:txBody>
      </p:sp>
      <p:sp>
        <p:nvSpPr>
          <p:cNvPr id="39" name="Shape 39"/>
          <p:cNvSpPr/>
          <p:nvPr/>
        </p:nvSpPr>
        <p:spPr>
          <a:xfrm>
            <a:off x="2404726" y="3440000"/>
            <a:ext cx="1195870" cy="1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pic>
        <p:nvPicPr>
          <p:cNvPr id="40" name="Picture 4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508170" y="3510000"/>
            <a:ext cx="988981" cy="780000"/>
          </a:xfrm>
          <a:prstGeom prst="rect">
            <a:avLst/>
          </a:prstGeom>
        </p:spPr>
      </p:pic>
      <p:sp>
        <p:nvSpPr>
          <p:cNvPr id="41" name="Shape 41"/>
          <p:cNvSpPr/>
          <p:nvPr/>
        </p:nvSpPr>
        <p:spPr>
          <a:xfrm>
            <a:off x="2404726" y="4320000"/>
            <a:ext cx="1195870" cy="52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보안경</a:t>
            </a:r>
          </a:p>
          <a:p>
            <a:pPr algn="ctr">
              <a:spcAft>
                <a:spcPts val="0"/>
              </a:spcAft>
              <a:buNone/>
            </a:pPr>
            <a:r>
              <a:rPr lang="ko-KR" altLang="en-US" sz="8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2~14층 · 효율 0.92</a:t>
            </a:r>
          </a:p>
        </p:txBody>
      </p:sp>
      <p:sp>
        <p:nvSpPr>
          <p:cNvPr id="42" name="Shape 42"/>
          <p:cNvSpPr/>
          <p:nvPr/>
        </p:nvSpPr>
        <p:spPr>
          <a:xfrm>
            <a:off x="3650596" y="3440000"/>
            <a:ext cx="1195870" cy="1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pic>
        <p:nvPicPr>
          <p:cNvPr id="43" name="Picture 4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792246" y="3510000"/>
            <a:ext cx="912569" cy="780000"/>
          </a:xfrm>
          <a:prstGeom prst="rect">
            <a:avLst/>
          </a:prstGeom>
        </p:spPr>
      </p:pic>
      <p:sp>
        <p:nvSpPr>
          <p:cNvPr id="44" name="Shape 44"/>
          <p:cNvSpPr/>
          <p:nvPr/>
        </p:nvSpPr>
        <p:spPr>
          <a:xfrm>
            <a:off x="3650596" y="4320000"/>
            <a:ext cx="1195870" cy="52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시험관 꽂이</a:t>
            </a:r>
          </a:p>
          <a:p>
            <a:pPr algn="ctr">
              <a:spcAft>
                <a:spcPts val="0"/>
              </a:spcAft>
              <a:buNone/>
            </a:pPr>
            <a:r>
              <a:rPr lang="ko-KR" altLang="en-US" sz="8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3층~ · 효율 1.00</a:t>
            </a:r>
          </a:p>
        </p:txBody>
      </p:sp>
      <p:sp>
        <p:nvSpPr>
          <p:cNvPr id="45" name="Shape 45"/>
          <p:cNvSpPr/>
          <p:nvPr/>
        </p:nvSpPr>
        <p:spPr>
          <a:xfrm>
            <a:off x="4896466" y="3440000"/>
            <a:ext cx="1195870" cy="1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pic>
        <p:nvPicPr>
          <p:cNvPr id="46" name="Picture 4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061745" y="3510000"/>
            <a:ext cx="865312" cy="780000"/>
          </a:xfrm>
          <a:prstGeom prst="rect">
            <a:avLst/>
          </a:prstGeom>
        </p:spPr>
      </p:pic>
      <p:sp>
        <p:nvSpPr>
          <p:cNvPr id="47" name="Shape 47"/>
          <p:cNvSpPr/>
          <p:nvPr/>
        </p:nvSpPr>
        <p:spPr>
          <a:xfrm>
            <a:off x="4896466" y="4320000"/>
            <a:ext cx="1195870" cy="52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구급상자</a:t>
            </a:r>
          </a:p>
          <a:p>
            <a:pPr algn="ctr">
              <a:spcAft>
                <a:spcPts val="0"/>
              </a:spcAft>
              <a:buNone/>
            </a:pPr>
            <a:r>
              <a:rPr lang="ko-KR" altLang="en-US" sz="8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3층~ · 효율 1.00</a:t>
            </a:r>
          </a:p>
        </p:txBody>
      </p:sp>
      <p:sp>
        <p:nvSpPr>
          <p:cNvPr id="48" name="Shape 48"/>
          <p:cNvSpPr/>
          <p:nvPr/>
        </p:nvSpPr>
        <p:spPr>
          <a:xfrm>
            <a:off x="6142336" y="3440000"/>
            <a:ext cx="1195870" cy="1420000"/>
          </a:xfrm>
          <a:prstGeom prst="rect">
            <a:avLst/>
          </a:prstGeom>
          <a:solidFill>
            <a:srgbClr val="FBE5D6"/>
          </a:solidFill>
          <a:ln w="12700">
            <a:solidFill>
              <a:srgbClr val="D9D9D9"/>
            </a:solidFill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pic>
        <p:nvPicPr>
          <p:cNvPr id="49" name="Picture 49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68378" y="3510000"/>
            <a:ext cx="543785" cy="780000"/>
          </a:xfrm>
          <a:prstGeom prst="rect">
            <a:avLst/>
          </a:prstGeom>
        </p:spPr>
      </p:pic>
      <p:sp>
        <p:nvSpPr>
          <p:cNvPr id="50" name="Shape 50"/>
          <p:cNvSpPr/>
          <p:nvPr/>
        </p:nvSpPr>
        <p:spPr>
          <a:xfrm>
            <a:off x="6142336" y="4320000"/>
            <a:ext cx="1195870" cy="52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현미경</a:t>
            </a:r>
          </a:p>
          <a:p>
            <a:pPr algn="ctr">
              <a:spcAft>
                <a:spcPts val="0"/>
              </a:spcAft>
              <a:buNone/>
            </a:pPr>
            <a:r>
              <a:rPr lang="ko-KR" altLang="en-US" sz="8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3층~ · 효율 0.96</a:t>
            </a:r>
          </a:p>
        </p:txBody>
      </p:sp>
      <p:sp>
        <p:nvSpPr>
          <p:cNvPr id="51" name="Shape 51"/>
          <p:cNvSpPr/>
          <p:nvPr/>
        </p:nvSpPr>
        <p:spPr>
          <a:xfrm>
            <a:off x="7388206" y="3440000"/>
            <a:ext cx="1195870" cy="1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pic>
        <p:nvPicPr>
          <p:cNvPr id="52" name="Picture 52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783561" y="3510000"/>
            <a:ext cx="405159" cy="780000"/>
          </a:xfrm>
          <a:prstGeom prst="rect">
            <a:avLst/>
          </a:prstGeom>
        </p:spPr>
      </p:pic>
      <p:sp>
        <p:nvSpPr>
          <p:cNvPr id="53" name="Shape 53"/>
          <p:cNvSpPr/>
          <p:nvPr/>
        </p:nvSpPr>
        <p:spPr>
          <a:xfrm>
            <a:off x="7388206" y="4320000"/>
            <a:ext cx="1195870" cy="52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소화기</a:t>
            </a:r>
          </a:p>
          <a:p>
            <a:pPr algn="ctr">
              <a:spcAft>
                <a:spcPts val="0"/>
              </a:spcAft>
              <a:buNone/>
            </a:pPr>
            <a:r>
              <a:rPr lang="ko-KR" altLang="en-US" sz="8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4층~ · 효율 0.90</a:t>
            </a:r>
          </a:p>
        </p:txBody>
      </p:sp>
      <p:sp>
        <p:nvSpPr>
          <p:cNvPr id="54" name="Shape 54"/>
          <p:cNvSpPr/>
          <p:nvPr/>
        </p:nvSpPr>
        <p:spPr>
          <a:xfrm>
            <a:off x="8634076" y="3440000"/>
            <a:ext cx="1195870" cy="1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pic>
        <p:nvPicPr>
          <p:cNvPr id="55" name="Picture 55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877595" y="3510000"/>
            <a:ext cx="708832" cy="780000"/>
          </a:xfrm>
          <a:prstGeom prst="rect">
            <a:avLst/>
          </a:prstGeom>
        </p:spPr>
      </p:pic>
      <p:sp>
        <p:nvSpPr>
          <p:cNvPr id="56" name="Shape 56"/>
          <p:cNvSpPr/>
          <p:nvPr/>
        </p:nvSpPr>
        <p:spPr>
          <a:xfrm>
            <a:off x="8634076" y="4320000"/>
            <a:ext cx="1195870" cy="52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의자</a:t>
            </a:r>
          </a:p>
          <a:p>
            <a:pPr algn="ctr">
              <a:spcAft>
                <a:spcPts val="0"/>
              </a:spcAft>
              <a:buNone/>
            </a:pPr>
            <a:r>
              <a:rPr lang="ko-KR" altLang="en-US" sz="8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5층~ · 효율 0.82</a:t>
            </a:r>
          </a:p>
        </p:txBody>
      </p:sp>
      <p:sp>
        <p:nvSpPr>
          <p:cNvPr id="57" name="Shape 57"/>
          <p:cNvSpPr/>
          <p:nvPr/>
        </p:nvSpPr>
        <p:spPr>
          <a:xfrm>
            <a:off x="9879946" y="3440000"/>
            <a:ext cx="1195870" cy="1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pic>
        <p:nvPicPr>
          <p:cNvPr id="58" name="Picture 58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184347" y="3510000"/>
            <a:ext cx="587067" cy="780000"/>
          </a:xfrm>
          <a:prstGeom prst="rect">
            <a:avLst/>
          </a:prstGeom>
        </p:spPr>
      </p:pic>
      <p:sp>
        <p:nvSpPr>
          <p:cNvPr id="59" name="Shape 59"/>
          <p:cNvSpPr/>
          <p:nvPr/>
        </p:nvSpPr>
        <p:spPr>
          <a:xfrm>
            <a:off x="9879946" y="4320000"/>
            <a:ext cx="1195870" cy="52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의료 폐기물통</a:t>
            </a:r>
          </a:p>
          <a:p>
            <a:pPr algn="ctr">
              <a:spcAft>
                <a:spcPts val="0"/>
              </a:spcAft>
              <a:buNone/>
            </a:pPr>
            <a:r>
              <a:rPr lang="ko-KR" altLang="en-US" sz="8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5층~ · 효율 0.85</a:t>
            </a:r>
          </a:p>
        </p:txBody>
      </p:sp>
      <p:sp>
        <p:nvSpPr>
          <p:cNvPr id="60" name="Shape 60"/>
          <p:cNvSpPr/>
          <p:nvPr/>
        </p:nvSpPr>
        <p:spPr>
          <a:xfrm>
            <a:off x="1158856" y="4930000"/>
            <a:ext cx="1195870" cy="1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pic>
        <p:nvPicPr>
          <p:cNvPr id="61" name="Picture 61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253856" y="5032866"/>
            <a:ext cx="1005870" cy="747134"/>
          </a:xfrm>
          <a:prstGeom prst="rect">
            <a:avLst/>
          </a:prstGeom>
        </p:spPr>
      </p:pic>
      <p:sp>
        <p:nvSpPr>
          <p:cNvPr id="62" name="Shape 62"/>
          <p:cNvSpPr/>
          <p:nvPr/>
        </p:nvSpPr>
        <p:spPr>
          <a:xfrm>
            <a:off x="1158856" y="5810000"/>
            <a:ext cx="1195870" cy="52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케이지</a:t>
            </a:r>
          </a:p>
          <a:p>
            <a:pPr algn="ctr">
              <a:spcAft>
                <a:spcPts val="0"/>
              </a:spcAft>
              <a:buNone/>
            </a:pPr>
            <a:r>
              <a:rPr lang="ko-KR" altLang="en-US" sz="8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5층~ · 효율 0.80</a:t>
            </a:r>
          </a:p>
        </p:txBody>
      </p:sp>
      <p:sp>
        <p:nvSpPr>
          <p:cNvPr id="63" name="Shape 63"/>
          <p:cNvSpPr/>
          <p:nvPr/>
        </p:nvSpPr>
        <p:spPr>
          <a:xfrm>
            <a:off x="2404726" y="4930000"/>
            <a:ext cx="1195870" cy="1420000"/>
          </a:xfrm>
          <a:prstGeom prst="rect">
            <a:avLst/>
          </a:prstGeom>
          <a:solidFill>
            <a:srgbClr val="FBE5D6"/>
          </a:solidFill>
          <a:ln w="12700">
            <a:solidFill>
              <a:srgbClr val="D9D9D9"/>
            </a:solidFill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pic>
        <p:nvPicPr>
          <p:cNvPr id="64" name="Picture 64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696912" y="5000000"/>
            <a:ext cx="611498" cy="780000"/>
          </a:xfrm>
          <a:prstGeom prst="rect">
            <a:avLst/>
          </a:prstGeom>
        </p:spPr>
      </p:pic>
      <p:sp>
        <p:nvSpPr>
          <p:cNvPr id="65" name="Shape 65"/>
          <p:cNvSpPr/>
          <p:nvPr/>
        </p:nvSpPr>
        <p:spPr>
          <a:xfrm>
            <a:off x="2404726" y="5810000"/>
            <a:ext cx="1195870" cy="52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원심분리기</a:t>
            </a:r>
          </a:p>
          <a:p>
            <a:pPr algn="ctr">
              <a:spcAft>
                <a:spcPts val="0"/>
              </a:spcAft>
              <a:buNone/>
            </a:pPr>
            <a:r>
              <a:rPr lang="ko-KR" altLang="en-US" sz="8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5층~ · 효율 0.90</a:t>
            </a:r>
          </a:p>
        </p:txBody>
      </p:sp>
      <p:sp>
        <p:nvSpPr>
          <p:cNvPr id="66" name="Shape 66"/>
          <p:cNvSpPr/>
          <p:nvPr/>
        </p:nvSpPr>
        <p:spPr>
          <a:xfrm>
            <a:off x="3650596" y="4930000"/>
            <a:ext cx="1195870" cy="1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pic>
        <p:nvPicPr>
          <p:cNvPr id="67" name="Picture 67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103357" y="5000000"/>
            <a:ext cx="290347" cy="780000"/>
          </a:xfrm>
          <a:prstGeom prst="rect">
            <a:avLst/>
          </a:prstGeom>
        </p:spPr>
      </p:pic>
      <p:sp>
        <p:nvSpPr>
          <p:cNvPr id="68" name="Shape 68"/>
          <p:cNvSpPr/>
          <p:nvPr/>
        </p:nvSpPr>
        <p:spPr>
          <a:xfrm>
            <a:off x="3650596" y="5810000"/>
            <a:ext cx="1195870" cy="52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정수기</a:t>
            </a:r>
          </a:p>
          <a:p>
            <a:pPr algn="ctr">
              <a:spcAft>
                <a:spcPts val="0"/>
              </a:spcAft>
              <a:buNone/>
            </a:pPr>
            <a:r>
              <a:rPr lang="ko-KR" altLang="en-US" sz="8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6층~ · 효율 0.87</a:t>
            </a:r>
          </a:p>
        </p:txBody>
      </p:sp>
      <p:sp>
        <p:nvSpPr>
          <p:cNvPr id="69" name="Shape 69"/>
          <p:cNvSpPr/>
          <p:nvPr/>
        </p:nvSpPr>
        <p:spPr>
          <a:xfrm>
            <a:off x="4896466" y="4930000"/>
            <a:ext cx="1195870" cy="1420000"/>
          </a:xfrm>
          <a:prstGeom prst="rect">
            <a:avLst/>
          </a:prstGeom>
          <a:solidFill>
            <a:srgbClr val="FBE5D6"/>
          </a:solidFill>
          <a:ln w="12700">
            <a:solidFill>
              <a:srgbClr val="D9D9D9"/>
            </a:solidFill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pic>
        <p:nvPicPr>
          <p:cNvPr id="70" name="Picture 70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338401" y="5000000"/>
            <a:ext cx="312000" cy="780000"/>
          </a:xfrm>
          <a:prstGeom prst="rect">
            <a:avLst/>
          </a:prstGeom>
        </p:spPr>
      </p:pic>
      <p:sp>
        <p:nvSpPr>
          <p:cNvPr id="71" name="Shape 71"/>
          <p:cNvSpPr/>
          <p:nvPr/>
        </p:nvSpPr>
        <p:spPr>
          <a:xfrm>
            <a:off x="4896466" y="5810000"/>
            <a:ext cx="1195870" cy="52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가스통</a:t>
            </a:r>
          </a:p>
          <a:p>
            <a:pPr algn="ctr">
              <a:spcAft>
                <a:spcPts val="0"/>
              </a:spcAft>
              <a:buNone/>
            </a:pPr>
            <a:r>
              <a:rPr lang="ko-KR" altLang="en-US" sz="8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6층~ · 효율 0.90</a:t>
            </a:r>
          </a:p>
        </p:txBody>
      </p:sp>
      <p:sp>
        <p:nvSpPr>
          <p:cNvPr id="72" name="Shape 72"/>
          <p:cNvSpPr/>
          <p:nvPr/>
        </p:nvSpPr>
        <p:spPr>
          <a:xfrm>
            <a:off x="6142336" y="4930000"/>
            <a:ext cx="1195870" cy="1420000"/>
          </a:xfrm>
          <a:prstGeom prst="rect">
            <a:avLst/>
          </a:prstGeom>
          <a:solidFill>
            <a:srgbClr val="FBE5D6"/>
          </a:solidFill>
          <a:ln w="12700">
            <a:solidFill>
              <a:srgbClr val="D9D9D9"/>
            </a:solidFill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pic>
        <p:nvPicPr>
          <p:cNvPr id="73" name="Picture 73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497544" y="5000000"/>
            <a:ext cx="485454" cy="780000"/>
          </a:xfrm>
          <a:prstGeom prst="rect">
            <a:avLst/>
          </a:prstGeom>
        </p:spPr>
      </p:pic>
      <p:sp>
        <p:nvSpPr>
          <p:cNvPr id="74" name="Shape 74"/>
          <p:cNvSpPr/>
          <p:nvPr/>
        </p:nvSpPr>
        <p:spPr>
          <a:xfrm>
            <a:off x="6142336" y="5810000"/>
            <a:ext cx="1195870" cy="52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약품 드럼</a:t>
            </a:r>
          </a:p>
          <a:p>
            <a:pPr algn="ctr">
              <a:spcAft>
                <a:spcPts val="0"/>
              </a:spcAft>
              <a:buNone/>
            </a:pPr>
            <a:r>
              <a:rPr lang="ko-KR" altLang="en-US" sz="8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9층~ · 효율 0.78</a:t>
            </a:r>
          </a:p>
        </p:txBody>
      </p:sp>
      <p:sp>
        <p:nvSpPr>
          <p:cNvPr id="75" name="Shape 75"/>
          <p:cNvSpPr/>
          <p:nvPr/>
        </p:nvSpPr>
        <p:spPr>
          <a:xfrm>
            <a:off x="7388206" y="4930000"/>
            <a:ext cx="1195870" cy="1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pic>
        <p:nvPicPr>
          <p:cNvPr id="76" name="Picture 76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557877" y="5000000"/>
            <a:ext cx="856528" cy="780000"/>
          </a:xfrm>
          <a:prstGeom prst="rect">
            <a:avLst/>
          </a:prstGeom>
        </p:spPr>
      </p:pic>
      <p:sp>
        <p:nvSpPr>
          <p:cNvPr id="77" name="Shape 77"/>
          <p:cNvSpPr/>
          <p:nvPr/>
        </p:nvSpPr>
        <p:spPr>
          <a:xfrm>
            <a:off x="7388206" y="5810000"/>
            <a:ext cx="1195870" cy="52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모니터</a:t>
            </a:r>
          </a:p>
          <a:p>
            <a:pPr algn="ctr">
              <a:spcAft>
                <a:spcPts val="0"/>
              </a:spcAft>
              <a:buNone/>
            </a:pPr>
            <a:r>
              <a:rPr lang="ko-KR" altLang="en-US" sz="8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10층~ · 효율 1.00</a:t>
            </a:r>
          </a:p>
        </p:txBody>
      </p:sp>
      <p:sp>
        <p:nvSpPr>
          <p:cNvPr id="78" name="Shape 78"/>
          <p:cNvSpPr/>
          <p:nvPr/>
        </p:nvSpPr>
        <p:spPr>
          <a:xfrm>
            <a:off x="8634076" y="4930000"/>
            <a:ext cx="1195870" cy="1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pic>
        <p:nvPicPr>
          <p:cNvPr id="79" name="Picture 79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831289" y="5000000"/>
            <a:ext cx="801443" cy="780000"/>
          </a:xfrm>
          <a:prstGeom prst="rect">
            <a:avLst/>
          </a:prstGeom>
        </p:spPr>
      </p:pic>
      <p:sp>
        <p:nvSpPr>
          <p:cNvPr id="80" name="Shape 80"/>
          <p:cNvSpPr/>
          <p:nvPr/>
        </p:nvSpPr>
        <p:spPr>
          <a:xfrm>
            <a:off x="8634076" y="5810000"/>
            <a:ext cx="1195870" cy="52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실험 카트</a:t>
            </a:r>
          </a:p>
          <a:p>
            <a:pPr algn="ctr">
              <a:spcAft>
                <a:spcPts val="0"/>
              </a:spcAft>
              <a:buNone/>
            </a:pPr>
            <a:r>
              <a:rPr lang="ko-KR" altLang="en-US" sz="8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12층~ · 효율 0.80</a:t>
            </a:r>
          </a:p>
        </p:txBody>
      </p:sp>
      <p:sp>
        <p:nvSpPr>
          <p:cNvPr id="81" name="Shape 81"/>
          <p:cNvSpPr/>
          <p:nvPr/>
        </p:nvSpPr>
        <p:spPr>
          <a:xfrm>
            <a:off x="9879946" y="4930000"/>
            <a:ext cx="1195870" cy="1420000"/>
          </a:xfrm>
          <a:prstGeom prst="rect">
            <a:avLst/>
          </a:prstGeom>
          <a:solidFill>
            <a:srgbClr val="FBE5D6"/>
          </a:solidFill>
          <a:ln w="12700">
            <a:solidFill>
              <a:srgbClr val="D9D9D9"/>
            </a:solidFill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pic>
        <p:nvPicPr>
          <p:cNvPr id="82" name="Picture 82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230055" y="5000000"/>
            <a:ext cx="495652" cy="780000"/>
          </a:xfrm>
          <a:prstGeom prst="rect">
            <a:avLst/>
          </a:prstGeom>
        </p:spPr>
      </p:pic>
      <p:sp>
        <p:nvSpPr>
          <p:cNvPr id="83" name="Shape 83"/>
          <p:cNvSpPr/>
          <p:nvPr/>
        </p:nvSpPr>
        <p:spPr>
          <a:xfrm>
            <a:off x="9879946" y="5810000"/>
            <a:ext cx="1195870" cy="52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서버 랙</a:t>
            </a:r>
          </a:p>
          <a:p>
            <a:pPr algn="ctr">
              <a:spcAft>
                <a:spcPts val="0"/>
              </a:spcAft>
              <a:buNone/>
            </a:pPr>
            <a:r>
              <a:rPr lang="ko-KR" altLang="en-US" sz="8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12층~ · 효율 0.75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200" b="0" dirty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오브젝트 명세</a:t>
            </a:r>
            <a:r>
              <a:rPr lang="ko-KR" altLang="en-US" sz="2400" b="0" dirty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보물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e 11"/>
          <p:cNvGraphicFramePr>
            <a:graphicFrameLocks noGrp="1"/>
          </p:cNvGraphicFramePr>
          <p:nvPr/>
        </p:nvGraphicFramePr>
        <p:xfrm>
          <a:off x="1133856" y="1600200"/>
          <a:ext cx="9966960" cy="37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89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15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5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5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3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742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1742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6152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11687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02867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2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보물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ID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체력 배율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치즈 배율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효율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가중치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반지름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등장 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해금 노드 (비용)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쏟아짐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치즈 금고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60025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1.33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1훈장 (치즈 9,800)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지폐 다발 ×2, 동전 자루, 치즈 조각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황금 치즈 트로피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60026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2.00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2훈장 (치즈 88,000 · 연구 17)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실험용 로봇 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60027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1.11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0.45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3훈장 (치즈 320,000 · 연구 26)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톱니바퀴 ×2, 회로 기판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냉동 수면 캡슐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60028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1.00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0.35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4훈장 (치즈 1,100,000 · 연구 42)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얼음 덩어리 ×3, 표본 병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거대 치즈 바퀴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60029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1.25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0.35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5훈장 (치즈 3,800,000 · 연구 70)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치즈 조각 ×4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금괴 상자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60030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1.33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13층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6훈장 (치즈 19,000,000 · 연구 202)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금괴 ×3, 동전 자루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데이터 코어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60031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1.30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7훈장 (치즈 180,000,000 · 연구 750)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회로 기판 ×2, 하드디스크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다이아몬드 치즈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60032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1.50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0.25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8훈장 (치즈 14,000,000,000 · 연구 25,757)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2" name="TextBox 12"/>
          <p:cNvSpPr txBox="1"/>
          <p:nvPr/>
        </p:nvSpPr>
        <p:spPr>
          <a:xfrm>
            <a:off x="1133856" y="5580200"/>
            <a:ext cx="996696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ko-KR" altLang="en-US" sz="11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모든 보물 = Loot 브랜치 '신규 물건 출현' 노드와 1:1 · 노드를 찍고 등장 층에 도달해야 출현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ko-KR" altLang="en-US" sz="11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효율 1.00~2.00 · 가중치 0.25~0.5 — 높은 가치의 대가는 드묾과 단단함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200" b="0" dirty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오브젝트 명세</a:t>
            </a:r>
            <a:r>
              <a:rPr lang="ko-KR" altLang="en-US" sz="2400" b="0" dirty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가구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e 11"/>
          <p:cNvGraphicFramePr>
            <a:graphicFrameLocks noGrp="1"/>
          </p:cNvGraphicFramePr>
          <p:nvPr/>
        </p:nvGraphicFramePr>
        <p:xfrm>
          <a:off x="1133856" y="1600200"/>
          <a:ext cx="9966960" cy="429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77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51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51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51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54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889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546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76983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07392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3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가구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ID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체력 배율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치즈 배율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효율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무게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반지름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배치 테마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쏟아짐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선반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61001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0.73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실험실 · 창고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플라스크, 비커, 약병, 삼각 플라스크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책장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61002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0.68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사무실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두꺼운 책 ×3, 서류 뭉치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간이침대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61003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0.75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숙직실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베개, 실험복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탁자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61004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0.67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실험실 · 휴게실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머그컵, 클립보드, 캔 음료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의자(가구)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61005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0.62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2.5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실험실 · 사무실 · 휴게실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베개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책상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61006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0.70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사무실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서류 뭉치, 연필꽂이, 머그컵, 두꺼운 책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사물함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61007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0.69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숙직실 · 창고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실험복, 보안경, 캔 음료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서류함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61008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0.71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사무실 · 숙직실 · 창고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서류 뭉치 ×3, 두꺼운 책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소파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61009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0.69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휴게실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베개 ×2, 동전 자루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냉장고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61010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0.78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실험실 · 휴게실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표본 병, 페트리 접시, 시험관 꽂이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자판기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61011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0.79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휴게실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캔 음료 ×3, 머그컵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화분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61012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0.67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2.5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사무실 · 휴게실 · 숙직실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새싹 화분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12" name="TextBox 12"/>
          <p:cNvSpPr txBox="1"/>
          <p:nvPr/>
        </p:nvSpPr>
        <p:spPr>
          <a:xfrm>
            <a:off x="1133856" y="5990200"/>
            <a:ext cx="9966960" cy="23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ko-KR" altLang="en-US" sz="10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전 층 공통 (등장 층 · 출현 가중치 0) · 무게 = 밀림 감소, 날아가는 속도 × 1/√무게 · 재질 칸과 관계없이 나무 소리 · 가구 피해 · 치즈 노드 적용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200" b="0" dirty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오브젝트 명세</a:t>
            </a:r>
            <a:r>
              <a:rPr lang="ko-KR" altLang="en-US" sz="2400" b="0" dirty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가구 도감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1"/>
          <p:cNvSpPr/>
          <p:nvPr/>
        </p:nvSpPr>
        <p:spPr>
          <a:xfrm>
            <a:off x="1133856" y="1330977"/>
            <a:ext cx="9966960" cy="502920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lIns="109728" tIns="36576" rIns="109728" bIns="36576" rtlCol="0" anchor="ctr"/>
          <a:lstStyle/>
          <a:p>
            <a:pPr algn="l">
              <a:spcAft>
                <a:spcPts val="300"/>
              </a:spcAft>
              <a:buNone/>
            </a:pPr>
            <a:r>
              <a:rPr lang="ko-KR" altLang="en-US" sz="14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가구 12종 — 체력 · 치즈 배율 막대 (최대 = 자판기 28 · 22)</a:t>
            </a:r>
          </a:p>
        </p:txBody>
      </p:sp>
      <p:sp>
        <p:nvSpPr>
          <p:cNvPr id="12" name="Shape 12"/>
          <p:cNvSpPr/>
          <p:nvPr/>
        </p:nvSpPr>
        <p:spPr>
          <a:xfrm>
            <a:off x="1163856" y="1950000"/>
            <a:ext cx="1601160" cy="21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0974" y="2030001"/>
            <a:ext cx="686923" cy="949999"/>
          </a:xfrm>
          <a:prstGeom prst="rect">
            <a:avLst/>
          </a:prstGeom>
        </p:spPr>
      </p:pic>
      <p:sp>
        <p:nvSpPr>
          <p:cNvPr id="14" name="Shape 14"/>
          <p:cNvSpPr/>
          <p:nvPr/>
        </p:nvSpPr>
        <p:spPr>
          <a:xfrm>
            <a:off x="1163856" y="3010000"/>
            <a:ext cx="1601160" cy="45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105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선반</a:t>
            </a:r>
          </a:p>
          <a:p>
            <a:pPr algn="ctr">
              <a:spcAft>
                <a:spcPts val="0"/>
              </a:spcAft>
              <a:buNone/>
            </a:pPr>
            <a:r>
              <a:rPr lang="ko-KR" altLang="en-US" sz="8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실험실 · 창고</a:t>
            </a:r>
          </a:p>
        </p:txBody>
      </p:sp>
      <p:sp>
        <p:nvSpPr>
          <p:cNvPr id="15" name="Shape 15"/>
          <p:cNvSpPr/>
          <p:nvPr/>
        </p:nvSpPr>
        <p:spPr>
          <a:xfrm>
            <a:off x="1213856" y="3500000"/>
            <a:ext cx="330000" cy="20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18288" rIns="0" bIns="18288" rtlCol="0" anchor="ctr"/>
          <a:lstStyle/>
          <a:p>
            <a:pPr algn="l">
              <a:spcAft>
                <a:spcPts val="0"/>
              </a:spcAft>
              <a:buNone/>
            </a:pPr>
            <a:r>
              <a:rPr lang="ko-KR" altLang="en-US" sz="8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체력</a:t>
            </a:r>
          </a:p>
        </p:txBody>
      </p:sp>
      <p:sp>
        <p:nvSpPr>
          <p:cNvPr id="16" name="Shape 16"/>
          <p:cNvSpPr/>
          <p:nvPr/>
        </p:nvSpPr>
        <p:spPr>
          <a:xfrm>
            <a:off x="1533856" y="3530000"/>
            <a:ext cx="911160" cy="130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17" name="Shape 17"/>
          <p:cNvSpPr/>
          <p:nvPr/>
        </p:nvSpPr>
        <p:spPr>
          <a:xfrm>
            <a:off x="1533856" y="3530000"/>
            <a:ext cx="715911" cy="130000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18" name="Shape 18"/>
          <p:cNvSpPr/>
          <p:nvPr/>
        </p:nvSpPr>
        <p:spPr>
          <a:xfrm>
            <a:off x="2455016" y="3480000"/>
            <a:ext cx="300000" cy="22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18288" rIns="0" bIns="18288" rtlCol="0" anchor="ctr"/>
          <a:lstStyle/>
          <a:p>
            <a:pPr algn="l">
              <a:spcAft>
                <a:spcPts val="0"/>
              </a:spcAft>
              <a:buNone/>
            </a:pPr>
            <a:r>
              <a:rPr lang="ko-KR" altLang="en-US" sz="8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22</a:t>
            </a:r>
          </a:p>
        </p:txBody>
      </p:sp>
      <p:sp>
        <p:nvSpPr>
          <p:cNvPr id="19" name="Shape 19"/>
          <p:cNvSpPr/>
          <p:nvPr/>
        </p:nvSpPr>
        <p:spPr>
          <a:xfrm>
            <a:off x="1213856" y="3730000"/>
            <a:ext cx="330000" cy="20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18288" rIns="0" bIns="18288" rtlCol="0" anchor="ctr"/>
          <a:lstStyle/>
          <a:p>
            <a:pPr algn="l">
              <a:spcAft>
                <a:spcPts val="0"/>
              </a:spcAft>
              <a:buNone/>
            </a:pPr>
            <a:r>
              <a:rPr lang="ko-KR" altLang="en-US" sz="8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치즈</a:t>
            </a:r>
          </a:p>
        </p:txBody>
      </p:sp>
      <p:sp>
        <p:nvSpPr>
          <p:cNvPr id="20" name="Shape 20"/>
          <p:cNvSpPr/>
          <p:nvPr/>
        </p:nvSpPr>
        <p:spPr>
          <a:xfrm>
            <a:off x="1533856" y="3760000"/>
            <a:ext cx="911160" cy="130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21" name="Shape 21"/>
          <p:cNvSpPr/>
          <p:nvPr/>
        </p:nvSpPr>
        <p:spPr>
          <a:xfrm>
            <a:off x="1533856" y="3760000"/>
            <a:ext cx="520662" cy="1300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22" name="Shape 22"/>
          <p:cNvSpPr/>
          <p:nvPr/>
        </p:nvSpPr>
        <p:spPr>
          <a:xfrm>
            <a:off x="2455016" y="3710000"/>
            <a:ext cx="300000" cy="22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18288" rIns="0" bIns="18288" rtlCol="0" anchor="ctr"/>
          <a:lstStyle/>
          <a:p>
            <a:pPr algn="l">
              <a:spcAft>
                <a:spcPts val="0"/>
              </a:spcAft>
              <a:buNone/>
            </a:pPr>
            <a:r>
              <a:rPr lang="ko-KR" altLang="en-US" sz="8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16</a:t>
            </a:r>
          </a:p>
        </p:txBody>
      </p:sp>
      <p:sp>
        <p:nvSpPr>
          <p:cNvPr id="23" name="Shape 23"/>
          <p:cNvSpPr/>
          <p:nvPr/>
        </p:nvSpPr>
        <p:spPr>
          <a:xfrm>
            <a:off x="2825016" y="1950000"/>
            <a:ext cx="1601160" cy="21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6414" y="2030000"/>
            <a:ext cx="718364" cy="950000"/>
          </a:xfrm>
          <a:prstGeom prst="rect">
            <a:avLst/>
          </a:prstGeom>
        </p:spPr>
      </p:pic>
      <p:sp>
        <p:nvSpPr>
          <p:cNvPr id="25" name="Shape 25"/>
          <p:cNvSpPr/>
          <p:nvPr/>
        </p:nvSpPr>
        <p:spPr>
          <a:xfrm>
            <a:off x="2825016" y="3010000"/>
            <a:ext cx="1601160" cy="45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105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책장</a:t>
            </a:r>
          </a:p>
          <a:p>
            <a:pPr algn="ctr">
              <a:spcAft>
                <a:spcPts val="0"/>
              </a:spcAft>
              <a:buNone/>
            </a:pPr>
            <a:r>
              <a:rPr lang="ko-KR" altLang="en-US" sz="8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사무실</a:t>
            </a:r>
          </a:p>
        </p:txBody>
      </p:sp>
      <p:sp>
        <p:nvSpPr>
          <p:cNvPr id="26" name="Shape 26"/>
          <p:cNvSpPr/>
          <p:nvPr/>
        </p:nvSpPr>
        <p:spPr>
          <a:xfrm>
            <a:off x="2875016" y="3500000"/>
            <a:ext cx="330000" cy="20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18288" rIns="0" bIns="18288" rtlCol="0" anchor="ctr"/>
          <a:lstStyle/>
          <a:p>
            <a:pPr algn="l">
              <a:spcAft>
                <a:spcPts val="0"/>
              </a:spcAft>
              <a:buNone/>
            </a:pPr>
            <a:r>
              <a:rPr lang="ko-KR" altLang="en-US" sz="8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체력</a:t>
            </a:r>
          </a:p>
        </p:txBody>
      </p:sp>
      <p:sp>
        <p:nvSpPr>
          <p:cNvPr id="27" name="Shape 27"/>
          <p:cNvSpPr/>
          <p:nvPr/>
        </p:nvSpPr>
        <p:spPr>
          <a:xfrm>
            <a:off x="3195016" y="3530000"/>
            <a:ext cx="911160" cy="130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28" name="Shape 28"/>
          <p:cNvSpPr/>
          <p:nvPr/>
        </p:nvSpPr>
        <p:spPr>
          <a:xfrm>
            <a:off x="3195016" y="3530000"/>
            <a:ext cx="715911" cy="130000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29" name="Shape 29"/>
          <p:cNvSpPr/>
          <p:nvPr/>
        </p:nvSpPr>
        <p:spPr>
          <a:xfrm>
            <a:off x="4116176" y="3480000"/>
            <a:ext cx="300000" cy="22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18288" rIns="0" bIns="18288" rtlCol="0" anchor="ctr"/>
          <a:lstStyle/>
          <a:p>
            <a:pPr algn="l">
              <a:spcAft>
                <a:spcPts val="0"/>
              </a:spcAft>
              <a:buNone/>
            </a:pPr>
            <a:r>
              <a:rPr lang="ko-KR" altLang="en-US" sz="8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22</a:t>
            </a:r>
          </a:p>
        </p:txBody>
      </p:sp>
      <p:sp>
        <p:nvSpPr>
          <p:cNvPr id="30" name="Shape 30"/>
          <p:cNvSpPr/>
          <p:nvPr/>
        </p:nvSpPr>
        <p:spPr>
          <a:xfrm>
            <a:off x="2875016" y="3730000"/>
            <a:ext cx="330000" cy="20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18288" rIns="0" bIns="18288" rtlCol="0" anchor="ctr"/>
          <a:lstStyle/>
          <a:p>
            <a:pPr algn="l">
              <a:spcAft>
                <a:spcPts val="0"/>
              </a:spcAft>
              <a:buNone/>
            </a:pPr>
            <a:r>
              <a:rPr lang="ko-KR" altLang="en-US" sz="8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치즈</a:t>
            </a:r>
          </a:p>
        </p:txBody>
      </p:sp>
      <p:sp>
        <p:nvSpPr>
          <p:cNvPr id="31" name="Shape 31"/>
          <p:cNvSpPr/>
          <p:nvPr/>
        </p:nvSpPr>
        <p:spPr>
          <a:xfrm>
            <a:off x="3195016" y="3760000"/>
            <a:ext cx="911160" cy="130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32" name="Shape 32"/>
          <p:cNvSpPr/>
          <p:nvPr/>
        </p:nvSpPr>
        <p:spPr>
          <a:xfrm>
            <a:off x="3195016" y="3760000"/>
            <a:ext cx="488121" cy="1300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33" name="Shape 33"/>
          <p:cNvSpPr/>
          <p:nvPr/>
        </p:nvSpPr>
        <p:spPr>
          <a:xfrm>
            <a:off x="4116176" y="3710000"/>
            <a:ext cx="300000" cy="22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18288" rIns="0" bIns="18288" rtlCol="0" anchor="ctr"/>
          <a:lstStyle/>
          <a:p>
            <a:pPr algn="l">
              <a:spcAft>
                <a:spcPts val="0"/>
              </a:spcAft>
              <a:buNone/>
            </a:pPr>
            <a:r>
              <a:rPr lang="ko-KR" altLang="en-US" sz="8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15</a:t>
            </a:r>
          </a:p>
        </p:txBody>
      </p:sp>
      <p:sp>
        <p:nvSpPr>
          <p:cNvPr id="34" name="Shape 34"/>
          <p:cNvSpPr/>
          <p:nvPr/>
        </p:nvSpPr>
        <p:spPr>
          <a:xfrm>
            <a:off x="4486176" y="1950000"/>
            <a:ext cx="1601160" cy="21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pic>
        <p:nvPicPr>
          <p:cNvPr id="35" name="Picture 3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6176" y="2111674"/>
            <a:ext cx="1361160" cy="868326"/>
          </a:xfrm>
          <a:prstGeom prst="rect">
            <a:avLst/>
          </a:prstGeom>
        </p:spPr>
      </p:pic>
      <p:sp>
        <p:nvSpPr>
          <p:cNvPr id="36" name="Shape 36"/>
          <p:cNvSpPr/>
          <p:nvPr/>
        </p:nvSpPr>
        <p:spPr>
          <a:xfrm>
            <a:off x="4486176" y="3010000"/>
            <a:ext cx="1601160" cy="45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105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간이침대</a:t>
            </a:r>
          </a:p>
          <a:p>
            <a:pPr algn="ctr">
              <a:spcAft>
                <a:spcPts val="0"/>
              </a:spcAft>
              <a:buNone/>
            </a:pPr>
            <a:r>
              <a:rPr lang="ko-KR" altLang="en-US" sz="8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숙직실</a:t>
            </a:r>
          </a:p>
        </p:txBody>
      </p:sp>
      <p:sp>
        <p:nvSpPr>
          <p:cNvPr id="37" name="Shape 37"/>
          <p:cNvSpPr/>
          <p:nvPr/>
        </p:nvSpPr>
        <p:spPr>
          <a:xfrm>
            <a:off x="4536176" y="3500000"/>
            <a:ext cx="330000" cy="20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18288" rIns="0" bIns="18288" rtlCol="0" anchor="ctr"/>
          <a:lstStyle/>
          <a:p>
            <a:pPr algn="l">
              <a:spcAft>
                <a:spcPts val="0"/>
              </a:spcAft>
              <a:buNone/>
            </a:pPr>
            <a:r>
              <a:rPr lang="ko-KR" altLang="en-US" sz="8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체력</a:t>
            </a:r>
          </a:p>
        </p:txBody>
      </p:sp>
      <p:sp>
        <p:nvSpPr>
          <p:cNvPr id="38" name="Shape 38"/>
          <p:cNvSpPr/>
          <p:nvPr/>
        </p:nvSpPr>
        <p:spPr>
          <a:xfrm>
            <a:off x="4856176" y="3530000"/>
            <a:ext cx="911160" cy="130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39" name="Shape 39"/>
          <p:cNvSpPr/>
          <p:nvPr/>
        </p:nvSpPr>
        <p:spPr>
          <a:xfrm>
            <a:off x="4856176" y="3530000"/>
            <a:ext cx="390497" cy="130000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40" name="Shape 40"/>
          <p:cNvSpPr/>
          <p:nvPr/>
        </p:nvSpPr>
        <p:spPr>
          <a:xfrm>
            <a:off x="5777336" y="3480000"/>
            <a:ext cx="300000" cy="22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18288" rIns="0" bIns="18288" rtlCol="0" anchor="ctr"/>
          <a:lstStyle/>
          <a:p>
            <a:pPr algn="l">
              <a:spcAft>
                <a:spcPts val="0"/>
              </a:spcAft>
              <a:buNone/>
            </a:pPr>
            <a:r>
              <a:rPr lang="ko-KR" altLang="en-US" sz="8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12</a:t>
            </a:r>
          </a:p>
        </p:txBody>
      </p:sp>
      <p:sp>
        <p:nvSpPr>
          <p:cNvPr id="41" name="Shape 41"/>
          <p:cNvSpPr/>
          <p:nvPr/>
        </p:nvSpPr>
        <p:spPr>
          <a:xfrm>
            <a:off x="4536176" y="3730000"/>
            <a:ext cx="330000" cy="20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18288" rIns="0" bIns="18288" rtlCol="0" anchor="ctr"/>
          <a:lstStyle/>
          <a:p>
            <a:pPr algn="l">
              <a:spcAft>
                <a:spcPts val="0"/>
              </a:spcAft>
              <a:buNone/>
            </a:pPr>
            <a:r>
              <a:rPr lang="ko-KR" altLang="en-US" sz="8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치즈</a:t>
            </a:r>
          </a:p>
        </p:txBody>
      </p:sp>
      <p:sp>
        <p:nvSpPr>
          <p:cNvPr id="42" name="Shape 42"/>
          <p:cNvSpPr/>
          <p:nvPr/>
        </p:nvSpPr>
        <p:spPr>
          <a:xfrm>
            <a:off x="4856176" y="3760000"/>
            <a:ext cx="911160" cy="130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43" name="Shape 43"/>
          <p:cNvSpPr/>
          <p:nvPr/>
        </p:nvSpPr>
        <p:spPr>
          <a:xfrm>
            <a:off x="4856176" y="3760000"/>
            <a:ext cx="292872" cy="1300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44" name="Shape 44"/>
          <p:cNvSpPr/>
          <p:nvPr/>
        </p:nvSpPr>
        <p:spPr>
          <a:xfrm>
            <a:off x="5777336" y="3710000"/>
            <a:ext cx="300000" cy="22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18288" rIns="0" bIns="18288" rtlCol="0" anchor="ctr"/>
          <a:lstStyle/>
          <a:p>
            <a:pPr algn="l">
              <a:spcAft>
                <a:spcPts val="0"/>
              </a:spcAft>
              <a:buNone/>
            </a:pPr>
            <a:r>
              <a:rPr lang="ko-KR" altLang="en-US" sz="8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9</a:t>
            </a:r>
          </a:p>
        </p:txBody>
      </p:sp>
      <p:sp>
        <p:nvSpPr>
          <p:cNvPr id="45" name="Shape 45"/>
          <p:cNvSpPr/>
          <p:nvPr/>
        </p:nvSpPr>
        <p:spPr>
          <a:xfrm>
            <a:off x="6147336" y="1950000"/>
            <a:ext cx="1601160" cy="21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pic>
        <p:nvPicPr>
          <p:cNvPr id="46" name="Picture 4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6216" y="2030000"/>
            <a:ext cx="1303400" cy="950000"/>
          </a:xfrm>
          <a:prstGeom prst="rect">
            <a:avLst/>
          </a:prstGeom>
        </p:spPr>
      </p:pic>
      <p:sp>
        <p:nvSpPr>
          <p:cNvPr id="47" name="Shape 47"/>
          <p:cNvSpPr/>
          <p:nvPr/>
        </p:nvSpPr>
        <p:spPr>
          <a:xfrm>
            <a:off x="6147336" y="3010000"/>
            <a:ext cx="1601160" cy="45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105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탁자</a:t>
            </a:r>
          </a:p>
          <a:p>
            <a:pPr algn="ctr">
              <a:spcAft>
                <a:spcPts val="0"/>
              </a:spcAft>
              <a:buNone/>
            </a:pPr>
            <a:r>
              <a:rPr lang="ko-KR" altLang="en-US" sz="8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실험실 · 휴게실</a:t>
            </a:r>
          </a:p>
        </p:txBody>
      </p:sp>
      <p:sp>
        <p:nvSpPr>
          <p:cNvPr id="48" name="Shape 48"/>
          <p:cNvSpPr/>
          <p:nvPr/>
        </p:nvSpPr>
        <p:spPr>
          <a:xfrm>
            <a:off x="6197336" y="3500000"/>
            <a:ext cx="330000" cy="20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18288" rIns="0" bIns="18288" rtlCol="0" anchor="ctr"/>
          <a:lstStyle/>
          <a:p>
            <a:pPr algn="l">
              <a:spcAft>
                <a:spcPts val="0"/>
              </a:spcAft>
              <a:buNone/>
            </a:pPr>
            <a:r>
              <a:rPr lang="ko-KR" altLang="en-US" sz="8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체력</a:t>
            </a:r>
          </a:p>
        </p:txBody>
      </p:sp>
      <p:sp>
        <p:nvSpPr>
          <p:cNvPr id="49" name="Shape 49"/>
          <p:cNvSpPr/>
          <p:nvPr/>
        </p:nvSpPr>
        <p:spPr>
          <a:xfrm>
            <a:off x="6517336" y="3530000"/>
            <a:ext cx="911160" cy="130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50" name="Shape 50"/>
          <p:cNvSpPr/>
          <p:nvPr/>
        </p:nvSpPr>
        <p:spPr>
          <a:xfrm>
            <a:off x="6517336" y="3530000"/>
            <a:ext cx="585745" cy="130000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51" name="Shape 51"/>
          <p:cNvSpPr/>
          <p:nvPr/>
        </p:nvSpPr>
        <p:spPr>
          <a:xfrm>
            <a:off x="7438496" y="3480000"/>
            <a:ext cx="300000" cy="22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18288" rIns="0" bIns="18288" rtlCol="0" anchor="ctr"/>
          <a:lstStyle/>
          <a:p>
            <a:pPr algn="l">
              <a:spcAft>
                <a:spcPts val="0"/>
              </a:spcAft>
              <a:buNone/>
            </a:pPr>
            <a:r>
              <a:rPr lang="ko-KR" altLang="en-US" sz="8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18</a:t>
            </a:r>
          </a:p>
        </p:txBody>
      </p:sp>
      <p:sp>
        <p:nvSpPr>
          <p:cNvPr id="52" name="Shape 52"/>
          <p:cNvSpPr/>
          <p:nvPr/>
        </p:nvSpPr>
        <p:spPr>
          <a:xfrm>
            <a:off x="6197336" y="3730000"/>
            <a:ext cx="330000" cy="20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18288" rIns="0" bIns="18288" rtlCol="0" anchor="ctr"/>
          <a:lstStyle/>
          <a:p>
            <a:pPr algn="l">
              <a:spcAft>
                <a:spcPts val="0"/>
              </a:spcAft>
              <a:buNone/>
            </a:pPr>
            <a:r>
              <a:rPr lang="ko-KR" altLang="en-US" sz="8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치즈</a:t>
            </a:r>
          </a:p>
        </p:txBody>
      </p:sp>
      <p:sp>
        <p:nvSpPr>
          <p:cNvPr id="53" name="Shape 53"/>
          <p:cNvSpPr/>
          <p:nvPr/>
        </p:nvSpPr>
        <p:spPr>
          <a:xfrm>
            <a:off x="6517336" y="3760000"/>
            <a:ext cx="911160" cy="130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54" name="Shape 54"/>
          <p:cNvSpPr/>
          <p:nvPr/>
        </p:nvSpPr>
        <p:spPr>
          <a:xfrm>
            <a:off x="6517336" y="3760000"/>
            <a:ext cx="390497" cy="1300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55" name="Shape 55"/>
          <p:cNvSpPr/>
          <p:nvPr/>
        </p:nvSpPr>
        <p:spPr>
          <a:xfrm>
            <a:off x="7438496" y="3710000"/>
            <a:ext cx="300000" cy="22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18288" rIns="0" bIns="18288" rtlCol="0" anchor="ctr"/>
          <a:lstStyle/>
          <a:p>
            <a:pPr algn="l">
              <a:spcAft>
                <a:spcPts val="0"/>
              </a:spcAft>
              <a:buNone/>
            </a:pPr>
            <a:r>
              <a:rPr lang="ko-KR" altLang="en-US" sz="8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12</a:t>
            </a:r>
          </a:p>
        </p:txBody>
      </p:sp>
      <p:sp>
        <p:nvSpPr>
          <p:cNvPr id="56" name="Shape 56"/>
          <p:cNvSpPr/>
          <p:nvPr/>
        </p:nvSpPr>
        <p:spPr>
          <a:xfrm>
            <a:off x="7808496" y="1950000"/>
            <a:ext cx="1601160" cy="21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pic>
        <p:nvPicPr>
          <p:cNvPr id="57" name="Picture 5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93441" y="2030000"/>
            <a:ext cx="631270" cy="950000"/>
          </a:xfrm>
          <a:prstGeom prst="rect">
            <a:avLst/>
          </a:prstGeom>
        </p:spPr>
      </p:pic>
      <p:sp>
        <p:nvSpPr>
          <p:cNvPr id="58" name="Shape 58"/>
          <p:cNvSpPr/>
          <p:nvPr/>
        </p:nvSpPr>
        <p:spPr>
          <a:xfrm>
            <a:off x="7808496" y="3010000"/>
            <a:ext cx="1601160" cy="45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105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의자(가구)</a:t>
            </a:r>
          </a:p>
          <a:p>
            <a:pPr algn="ctr">
              <a:spcAft>
                <a:spcPts val="0"/>
              </a:spcAft>
              <a:buNone/>
            </a:pPr>
            <a:r>
              <a:rPr lang="ko-KR" altLang="en-US" sz="8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실험실 · 사무실 · 휴게실</a:t>
            </a:r>
          </a:p>
        </p:txBody>
      </p:sp>
      <p:sp>
        <p:nvSpPr>
          <p:cNvPr id="59" name="Shape 59"/>
          <p:cNvSpPr/>
          <p:nvPr/>
        </p:nvSpPr>
        <p:spPr>
          <a:xfrm>
            <a:off x="7858496" y="3500000"/>
            <a:ext cx="330000" cy="20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18288" rIns="0" bIns="18288" rtlCol="0" anchor="ctr"/>
          <a:lstStyle/>
          <a:p>
            <a:pPr algn="l">
              <a:spcAft>
                <a:spcPts val="0"/>
              </a:spcAft>
              <a:buNone/>
            </a:pPr>
            <a:r>
              <a:rPr lang="ko-KR" altLang="en-US" sz="8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체력</a:t>
            </a:r>
          </a:p>
        </p:txBody>
      </p:sp>
      <p:sp>
        <p:nvSpPr>
          <p:cNvPr id="60" name="Shape 60"/>
          <p:cNvSpPr/>
          <p:nvPr/>
        </p:nvSpPr>
        <p:spPr>
          <a:xfrm>
            <a:off x="8178496" y="3530000"/>
            <a:ext cx="911160" cy="130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61" name="Shape 61"/>
          <p:cNvSpPr/>
          <p:nvPr/>
        </p:nvSpPr>
        <p:spPr>
          <a:xfrm>
            <a:off x="8178496" y="3530000"/>
            <a:ext cx="260331" cy="130000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62" name="Shape 62"/>
          <p:cNvSpPr/>
          <p:nvPr/>
        </p:nvSpPr>
        <p:spPr>
          <a:xfrm>
            <a:off x="9099656" y="3480000"/>
            <a:ext cx="300000" cy="22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18288" rIns="0" bIns="18288" rtlCol="0" anchor="ctr"/>
          <a:lstStyle/>
          <a:p>
            <a:pPr algn="l">
              <a:spcAft>
                <a:spcPts val="0"/>
              </a:spcAft>
              <a:buNone/>
            </a:pPr>
            <a:r>
              <a:rPr lang="ko-KR" altLang="en-US" sz="8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8</a:t>
            </a:r>
          </a:p>
        </p:txBody>
      </p:sp>
      <p:sp>
        <p:nvSpPr>
          <p:cNvPr id="63" name="Shape 63"/>
          <p:cNvSpPr/>
          <p:nvPr/>
        </p:nvSpPr>
        <p:spPr>
          <a:xfrm>
            <a:off x="7858496" y="3730000"/>
            <a:ext cx="330000" cy="20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18288" rIns="0" bIns="18288" rtlCol="0" anchor="ctr"/>
          <a:lstStyle/>
          <a:p>
            <a:pPr algn="l">
              <a:spcAft>
                <a:spcPts val="0"/>
              </a:spcAft>
              <a:buNone/>
            </a:pPr>
            <a:r>
              <a:rPr lang="ko-KR" altLang="en-US" sz="8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치즈</a:t>
            </a:r>
          </a:p>
        </p:txBody>
      </p:sp>
      <p:sp>
        <p:nvSpPr>
          <p:cNvPr id="64" name="Shape 64"/>
          <p:cNvSpPr/>
          <p:nvPr/>
        </p:nvSpPr>
        <p:spPr>
          <a:xfrm>
            <a:off x="8178496" y="3760000"/>
            <a:ext cx="911160" cy="130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65" name="Shape 65"/>
          <p:cNvSpPr/>
          <p:nvPr/>
        </p:nvSpPr>
        <p:spPr>
          <a:xfrm>
            <a:off x="8178496" y="3760000"/>
            <a:ext cx="162707" cy="1300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66" name="Shape 66"/>
          <p:cNvSpPr/>
          <p:nvPr/>
        </p:nvSpPr>
        <p:spPr>
          <a:xfrm>
            <a:off x="9099656" y="3710000"/>
            <a:ext cx="300000" cy="22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18288" rIns="0" bIns="18288" rtlCol="0" anchor="ctr"/>
          <a:lstStyle/>
          <a:p>
            <a:pPr algn="l">
              <a:spcAft>
                <a:spcPts val="0"/>
              </a:spcAft>
              <a:buNone/>
            </a:pPr>
            <a:r>
              <a:rPr lang="ko-KR" altLang="en-US" sz="8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5</a:t>
            </a:r>
          </a:p>
        </p:txBody>
      </p:sp>
      <p:sp>
        <p:nvSpPr>
          <p:cNvPr id="67" name="Shape 67"/>
          <p:cNvSpPr/>
          <p:nvPr/>
        </p:nvSpPr>
        <p:spPr>
          <a:xfrm>
            <a:off x="9469656" y="1950000"/>
            <a:ext cx="1601160" cy="21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pic>
        <p:nvPicPr>
          <p:cNvPr id="68" name="Picture 6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09607" y="2030000"/>
            <a:ext cx="1121258" cy="950000"/>
          </a:xfrm>
          <a:prstGeom prst="rect">
            <a:avLst/>
          </a:prstGeom>
        </p:spPr>
      </p:pic>
      <p:sp>
        <p:nvSpPr>
          <p:cNvPr id="69" name="Shape 69"/>
          <p:cNvSpPr/>
          <p:nvPr/>
        </p:nvSpPr>
        <p:spPr>
          <a:xfrm>
            <a:off x="9469656" y="3010000"/>
            <a:ext cx="1601160" cy="45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105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책상</a:t>
            </a:r>
          </a:p>
          <a:p>
            <a:pPr algn="ctr">
              <a:spcAft>
                <a:spcPts val="0"/>
              </a:spcAft>
              <a:buNone/>
            </a:pPr>
            <a:r>
              <a:rPr lang="ko-KR" altLang="en-US" sz="8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사무실</a:t>
            </a:r>
          </a:p>
        </p:txBody>
      </p:sp>
      <p:sp>
        <p:nvSpPr>
          <p:cNvPr id="70" name="Shape 70"/>
          <p:cNvSpPr/>
          <p:nvPr/>
        </p:nvSpPr>
        <p:spPr>
          <a:xfrm>
            <a:off x="9519656" y="3500000"/>
            <a:ext cx="330000" cy="20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18288" rIns="0" bIns="18288" rtlCol="0" anchor="ctr"/>
          <a:lstStyle/>
          <a:p>
            <a:pPr algn="l">
              <a:spcAft>
                <a:spcPts val="0"/>
              </a:spcAft>
              <a:buNone/>
            </a:pPr>
            <a:r>
              <a:rPr lang="ko-KR" altLang="en-US" sz="8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체력</a:t>
            </a:r>
          </a:p>
        </p:txBody>
      </p:sp>
      <p:sp>
        <p:nvSpPr>
          <p:cNvPr id="71" name="Shape 71"/>
          <p:cNvSpPr/>
          <p:nvPr/>
        </p:nvSpPr>
        <p:spPr>
          <a:xfrm>
            <a:off x="9839656" y="3530000"/>
            <a:ext cx="911160" cy="130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72" name="Shape 72"/>
          <p:cNvSpPr/>
          <p:nvPr/>
        </p:nvSpPr>
        <p:spPr>
          <a:xfrm>
            <a:off x="9839656" y="3530000"/>
            <a:ext cx="650828" cy="130000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73" name="Shape 73"/>
          <p:cNvSpPr/>
          <p:nvPr/>
        </p:nvSpPr>
        <p:spPr>
          <a:xfrm>
            <a:off x="10760816" y="3480000"/>
            <a:ext cx="300000" cy="22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18288" rIns="0" bIns="18288" rtlCol="0" anchor="ctr"/>
          <a:lstStyle/>
          <a:p>
            <a:pPr algn="l">
              <a:spcAft>
                <a:spcPts val="0"/>
              </a:spcAft>
              <a:buNone/>
            </a:pPr>
            <a:r>
              <a:rPr lang="ko-KR" altLang="en-US" sz="8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20</a:t>
            </a:r>
          </a:p>
        </p:txBody>
      </p:sp>
      <p:sp>
        <p:nvSpPr>
          <p:cNvPr id="74" name="Shape 74"/>
          <p:cNvSpPr/>
          <p:nvPr/>
        </p:nvSpPr>
        <p:spPr>
          <a:xfrm>
            <a:off x="9519656" y="3730000"/>
            <a:ext cx="330000" cy="20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18288" rIns="0" bIns="18288" rtlCol="0" anchor="ctr"/>
          <a:lstStyle/>
          <a:p>
            <a:pPr algn="l">
              <a:spcAft>
                <a:spcPts val="0"/>
              </a:spcAft>
              <a:buNone/>
            </a:pPr>
            <a:r>
              <a:rPr lang="ko-KR" altLang="en-US" sz="8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치즈</a:t>
            </a:r>
          </a:p>
        </p:txBody>
      </p:sp>
      <p:sp>
        <p:nvSpPr>
          <p:cNvPr id="75" name="Shape 75"/>
          <p:cNvSpPr/>
          <p:nvPr/>
        </p:nvSpPr>
        <p:spPr>
          <a:xfrm>
            <a:off x="9839656" y="3760000"/>
            <a:ext cx="911160" cy="130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76" name="Shape 76"/>
          <p:cNvSpPr/>
          <p:nvPr/>
        </p:nvSpPr>
        <p:spPr>
          <a:xfrm>
            <a:off x="9839656" y="3760000"/>
            <a:ext cx="455580" cy="1300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77" name="Shape 77"/>
          <p:cNvSpPr/>
          <p:nvPr/>
        </p:nvSpPr>
        <p:spPr>
          <a:xfrm>
            <a:off x="10760816" y="3710000"/>
            <a:ext cx="300000" cy="22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18288" rIns="0" bIns="18288" rtlCol="0" anchor="ctr"/>
          <a:lstStyle/>
          <a:p>
            <a:pPr algn="l">
              <a:spcAft>
                <a:spcPts val="0"/>
              </a:spcAft>
              <a:buNone/>
            </a:pPr>
            <a:r>
              <a:rPr lang="ko-KR" altLang="en-US" sz="8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14</a:t>
            </a:r>
          </a:p>
        </p:txBody>
      </p:sp>
      <p:sp>
        <p:nvSpPr>
          <p:cNvPr id="78" name="Shape 78"/>
          <p:cNvSpPr/>
          <p:nvPr/>
        </p:nvSpPr>
        <p:spPr>
          <a:xfrm>
            <a:off x="1163856" y="4250000"/>
            <a:ext cx="1601160" cy="21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pic>
        <p:nvPicPr>
          <p:cNvPr id="79" name="Picture 7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97973" y="4330000"/>
            <a:ext cx="532926" cy="950000"/>
          </a:xfrm>
          <a:prstGeom prst="rect">
            <a:avLst/>
          </a:prstGeom>
        </p:spPr>
      </p:pic>
      <p:sp>
        <p:nvSpPr>
          <p:cNvPr id="80" name="Shape 80"/>
          <p:cNvSpPr/>
          <p:nvPr/>
        </p:nvSpPr>
        <p:spPr>
          <a:xfrm>
            <a:off x="1163856" y="5310000"/>
            <a:ext cx="1601160" cy="45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105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사물함</a:t>
            </a:r>
          </a:p>
          <a:p>
            <a:pPr algn="ctr">
              <a:spcAft>
                <a:spcPts val="0"/>
              </a:spcAft>
              <a:buNone/>
            </a:pPr>
            <a:r>
              <a:rPr lang="ko-KR" altLang="en-US" sz="8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숙직실 · 창고</a:t>
            </a:r>
          </a:p>
        </p:txBody>
      </p:sp>
      <p:sp>
        <p:nvSpPr>
          <p:cNvPr id="81" name="Shape 81"/>
          <p:cNvSpPr/>
          <p:nvPr/>
        </p:nvSpPr>
        <p:spPr>
          <a:xfrm>
            <a:off x="1213856" y="5800000"/>
            <a:ext cx="330000" cy="20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18288" rIns="0" bIns="18288" rtlCol="0" anchor="ctr"/>
          <a:lstStyle/>
          <a:p>
            <a:pPr algn="l">
              <a:spcAft>
                <a:spcPts val="0"/>
              </a:spcAft>
              <a:buNone/>
            </a:pPr>
            <a:r>
              <a:rPr lang="ko-KR" altLang="en-US" sz="8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체력</a:t>
            </a:r>
          </a:p>
        </p:txBody>
      </p:sp>
      <p:sp>
        <p:nvSpPr>
          <p:cNvPr id="82" name="Shape 82"/>
          <p:cNvSpPr/>
          <p:nvPr/>
        </p:nvSpPr>
        <p:spPr>
          <a:xfrm>
            <a:off x="1533856" y="5830000"/>
            <a:ext cx="911160" cy="130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83" name="Shape 83"/>
          <p:cNvSpPr/>
          <p:nvPr/>
        </p:nvSpPr>
        <p:spPr>
          <a:xfrm>
            <a:off x="1533856" y="5830000"/>
            <a:ext cx="520662" cy="130000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84" name="Shape 84"/>
          <p:cNvSpPr/>
          <p:nvPr/>
        </p:nvSpPr>
        <p:spPr>
          <a:xfrm>
            <a:off x="2455016" y="5780000"/>
            <a:ext cx="300000" cy="22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18288" rIns="0" bIns="18288" rtlCol="0" anchor="ctr"/>
          <a:lstStyle/>
          <a:p>
            <a:pPr algn="l">
              <a:spcAft>
                <a:spcPts val="0"/>
              </a:spcAft>
              <a:buNone/>
            </a:pPr>
            <a:r>
              <a:rPr lang="ko-KR" altLang="en-US" sz="8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16</a:t>
            </a:r>
          </a:p>
        </p:txBody>
      </p:sp>
      <p:sp>
        <p:nvSpPr>
          <p:cNvPr id="85" name="Shape 85"/>
          <p:cNvSpPr/>
          <p:nvPr/>
        </p:nvSpPr>
        <p:spPr>
          <a:xfrm>
            <a:off x="1213856" y="6030000"/>
            <a:ext cx="330000" cy="20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18288" rIns="0" bIns="18288" rtlCol="0" anchor="ctr"/>
          <a:lstStyle/>
          <a:p>
            <a:pPr algn="l">
              <a:spcAft>
                <a:spcPts val="0"/>
              </a:spcAft>
              <a:buNone/>
            </a:pPr>
            <a:r>
              <a:rPr lang="ko-KR" altLang="en-US" sz="8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치즈</a:t>
            </a:r>
          </a:p>
        </p:txBody>
      </p:sp>
      <p:sp>
        <p:nvSpPr>
          <p:cNvPr id="86" name="Shape 86"/>
          <p:cNvSpPr/>
          <p:nvPr/>
        </p:nvSpPr>
        <p:spPr>
          <a:xfrm>
            <a:off x="1533856" y="6060000"/>
            <a:ext cx="911160" cy="130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87" name="Shape 87"/>
          <p:cNvSpPr/>
          <p:nvPr/>
        </p:nvSpPr>
        <p:spPr>
          <a:xfrm>
            <a:off x="1533856" y="6060000"/>
            <a:ext cx="357955" cy="1300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88" name="Shape 88"/>
          <p:cNvSpPr/>
          <p:nvPr/>
        </p:nvSpPr>
        <p:spPr>
          <a:xfrm>
            <a:off x="2455016" y="6010000"/>
            <a:ext cx="300000" cy="22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18288" rIns="0" bIns="18288" rtlCol="0" anchor="ctr"/>
          <a:lstStyle/>
          <a:p>
            <a:pPr algn="l">
              <a:spcAft>
                <a:spcPts val="0"/>
              </a:spcAft>
              <a:buNone/>
            </a:pPr>
            <a:r>
              <a:rPr lang="ko-KR" altLang="en-US" sz="8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11</a:t>
            </a:r>
          </a:p>
        </p:txBody>
      </p:sp>
      <p:sp>
        <p:nvSpPr>
          <p:cNvPr id="89" name="Shape 89"/>
          <p:cNvSpPr/>
          <p:nvPr/>
        </p:nvSpPr>
        <p:spPr>
          <a:xfrm>
            <a:off x="2825016" y="4250000"/>
            <a:ext cx="1601160" cy="21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pic>
        <p:nvPicPr>
          <p:cNvPr id="90" name="Picture 9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08398" y="4330000"/>
            <a:ext cx="634395" cy="950000"/>
          </a:xfrm>
          <a:prstGeom prst="rect">
            <a:avLst/>
          </a:prstGeom>
        </p:spPr>
      </p:pic>
      <p:sp>
        <p:nvSpPr>
          <p:cNvPr id="91" name="Shape 91"/>
          <p:cNvSpPr/>
          <p:nvPr/>
        </p:nvSpPr>
        <p:spPr>
          <a:xfrm>
            <a:off x="2825016" y="5310000"/>
            <a:ext cx="1601160" cy="45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105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서류함</a:t>
            </a:r>
          </a:p>
          <a:p>
            <a:pPr algn="ctr">
              <a:spcAft>
                <a:spcPts val="0"/>
              </a:spcAft>
              <a:buNone/>
            </a:pPr>
            <a:r>
              <a:rPr lang="ko-KR" altLang="en-US" sz="8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사무실 · 숙직실 · 창고</a:t>
            </a:r>
          </a:p>
        </p:txBody>
      </p:sp>
      <p:sp>
        <p:nvSpPr>
          <p:cNvPr id="92" name="Shape 92"/>
          <p:cNvSpPr/>
          <p:nvPr/>
        </p:nvSpPr>
        <p:spPr>
          <a:xfrm>
            <a:off x="2875016" y="5800000"/>
            <a:ext cx="330000" cy="20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18288" rIns="0" bIns="18288" rtlCol="0" anchor="ctr"/>
          <a:lstStyle/>
          <a:p>
            <a:pPr algn="l">
              <a:spcAft>
                <a:spcPts val="0"/>
              </a:spcAft>
              <a:buNone/>
            </a:pPr>
            <a:r>
              <a:rPr lang="ko-KR" altLang="en-US" sz="8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체력</a:t>
            </a:r>
          </a:p>
        </p:txBody>
      </p:sp>
      <p:sp>
        <p:nvSpPr>
          <p:cNvPr id="93" name="Shape 93"/>
          <p:cNvSpPr/>
          <p:nvPr/>
        </p:nvSpPr>
        <p:spPr>
          <a:xfrm>
            <a:off x="3195016" y="5830000"/>
            <a:ext cx="911160" cy="130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94" name="Shape 94"/>
          <p:cNvSpPr/>
          <p:nvPr/>
        </p:nvSpPr>
        <p:spPr>
          <a:xfrm>
            <a:off x="3195016" y="5830000"/>
            <a:ext cx="455580" cy="130000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95" name="Shape 95"/>
          <p:cNvSpPr/>
          <p:nvPr/>
        </p:nvSpPr>
        <p:spPr>
          <a:xfrm>
            <a:off x="4116176" y="5780000"/>
            <a:ext cx="300000" cy="22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18288" rIns="0" bIns="18288" rtlCol="0" anchor="ctr"/>
          <a:lstStyle/>
          <a:p>
            <a:pPr algn="l">
              <a:spcAft>
                <a:spcPts val="0"/>
              </a:spcAft>
              <a:buNone/>
            </a:pPr>
            <a:r>
              <a:rPr lang="ko-KR" altLang="en-US" sz="8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14</a:t>
            </a:r>
          </a:p>
        </p:txBody>
      </p:sp>
      <p:sp>
        <p:nvSpPr>
          <p:cNvPr id="96" name="Shape 96"/>
          <p:cNvSpPr/>
          <p:nvPr/>
        </p:nvSpPr>
        <p:spPr>
          <a:xfrm>
            <a:off x="2875016" y="6030000"/>
            <a:ext cx="330000" cy="20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18288" rIns="0" bIns="18288" rtlCol="0" anchor="ctr"/>
          <a:lstStyle/>
          <a:p>
            <a:pPr algn="l">
              <a:spcAft>
                <a:spcPts val="0"/>
              </a:spcAft>
              <a:buNone/>
            </a:pPr>
            <a:r>
              <a:rPr lang="ko-KR" altLang="en-US" sz="8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치즈</a:t>
            </a:r>
          </a:p>
        </p:txBody>
      </p:sp>
      <p:sp>
        <p:nvSpPr>
          <p:cNvPr id="97" name="Shape 97"/>
          <p:cNvSpPr/>
          <p:nvPr/>
        </p:nvSpPr>
        <p:spPr>
          <a:xfrm>
            <a:off x="3195016" y="6060000"/>
            <a:ext cx="911160" cy="130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98" name="Shape 98"/>
          <p:cNvSpPr/>
          <p:nvPr/>
        </p:nvSpPr>
        <p:spPr>
          <a:xfrm>
            <a:off x="3195016" y="6060000"/>
            <a:ext cx="325414" cy="1300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99" name="Shape 99"/>
          <p:cNvSpPr/>
          <p:nvPr/>
        </p:nvSpPr>
        <p:spPr>
          <a:xfrm>
            <a:off x="4116176" y="6010000"/>
            <a:ext cx="300000" cy="22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18288" rIns="0" bIns="18288" rtlCol="0" anchor="ctr"/>
          <a:lstStyle/>
          <a:p>
            <a:pPr algn="l">
              <a:spcAft>
                <a:spcPts val="0"/>
              </a:spcAft>
              <a:buNone/>
            </a:pPr>
            <a:r>
              <a:rPr lang="ko-KR" altLang="en-US" sz="8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10</a:t>
            </a:r>
          </a:p>
        </p:txBody>
      </p:sp>
      <p:sp>
        <p:nvSpPr>
          <p:cNvPr id="100" name="Shape 100"/>
          <p:cNvSpPr/>
          <p:nvPr/>
        </p:nvSpPr>
        <p:spPr>
          <a:xfrm>
            <a:off x="4486176" y="4250000"/>
            <a:ext cx="1601160" cy="21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pic>
        <p:nvPicPr>
          <p:cNvPr id="101" name="Picture 10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06176" y="4390304"/>
            <a:ext cx="1361160" cy="889696"/>
          </a:xfrm>
          <a:prstGeom prst="rect">
            <a:avLst/>
          </a:prstGeom>
        </p:spPr>
      </p:pic>
      <p:sp>
        <p:nvSpPr>
          <p:cNvPr id="102" name="Shape 102"/>
          <p:cNvSpPr/>
          <p:nvPr/>
        </p:nvSpPr>
        <p:spPr>
          <a:xfrm>
            <a:off x="4486176" y="5310000"/>
            <a:ext cx="1601160" cy="45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105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소파</a:t>
            </a:r>
          </a:p>
          <a:p>
            <a:pPr algn="ctr">
              <a:spcAft>
                <a:spcPts val="0"/>
              </a:spcAft>
              <a:buNone/>
            </a:pPr>
            <a:r>
              <a:rPr lang="ko-KR" altLang="en-US" sz="8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휴게실</a:t>
            </a:r>
          </a:p>
        </p:txBody>
      </p:sp>
      <p:sp>
        <p:nvSpPr>
          <p:cNvPr id="103" name="Shape 103"/>
          <p:cNvSpPr/>
          <p:nvPr/>
        </p:nvSpPr>
        <p:spPr>
          <a:xfrm>
            <a:off x="4536176" y="5800000"/>
            <a:ext cx="330000" cy="20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18288" rIns="0" bIns="18288" rtlCol="0" anchor="ctr"/>
          <a:lstStyle/>
          <a:p>
            <a:pPr algn="l">
              <a:spcAft>
                <a:spcPts val="0"/>
              </a:spcAft>
              <a:buNone/>
            </a:pPr>
            <a:r>
              <a:rPr lang="ko-KR" altLang="en-US" sz="8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체력</a:t>
            </a:r>
          </a:p>
        </p:txBody>
      </p:sp>
      <p:sp>
        <p:nvSpPr>
          <p:cNvPr id="104" name="Shape 104"/>
          <p:cNvSpPr/>
          <p:nvPr/>
        </p:nvSpPr>
        <p:spPr>
          <a:xfrm>
            <a:off x="4856176" y="5830000"/>
            <a:ext cx="911160" cy="130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105" name="Shape 105"/>
          <p:cNvSpPr/>
          <p:nvPr/>
        </p:nvSpPr>
        <p:spPr>
          <a:xfrm>
            <a:off x="4856176" y="5830000"/>
            <a:ext cx="520662" cy="130000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106" name="Shape 106"/>
          <p:cNvSpPr/>
          <p:nvPr/>
        </p:nvSpPr>
        <p:spPr>
          <a:xfrm>
            <a:off x="5777336" y="5780000"/>
            <a:ext cx="300000" cy="22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18288" rIns="0" bIns="18288" rtlCol="0" anchor="ctr"/>
          <a:lstStyle/>
          <a:p>
            <a:pPr algn="l">
              <a:spcAft>
                <a:spcPts val="0"/>
              </a:spcAft>
              <a:buNone/>
            </a:pPr>
            <a:r>
              <a:rPr lang="ko-KR" altLang="en-US" sz="8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16</a:t>
            </a:r>
          </a:p>
        </p:txBody>
      </p:sp>
      <p:sp>
        <p:nvSpPr>
          <p:cNvPr id="107" name="Shape 107"/>
          <p:cNvSpPr/>
          <p:nvPr/>
        </p:nvSpPr>
        <p:spPr>
          <a:xfrm>
            <a:off x="4536176" y="6030000"/>
            <a:ext cx="330000" cy="20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18288" rIns="0" bIns="18288" rtlCol="0" anchor="ctr"/>
          <a:lstStyle/>
          <a:p>
            <a:pPr algn="l">
              <a:spcAft>
                <a:spcPts val="0"/>
              </a:spcAft>
              <a:buNone/>
            </a:pPr>
            <a:r>
              <a:rPr lang="ko-KR" altLang="en-US" sz="8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치즈</a:t>
            </a:r>
          </a:p>
        </p:txBody>
      </p:sp>
      <p:sp>
        <p:nvSpPr>
          <p:cNvPr id="108" name="Shape 108"/>
          <p:cNvSpPr/>
          <p:nvPr/>
        </p:nvSpPr>
        <p:spPr>
          <a:xfrm>
            <a:off x="4856176" y="6060000"/>
            <a:ext cx="911160" cy="130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109" name="Shape 109"/>
          <p:cNvSpPr/>
          <p:nvPr/>
        </p:nvSpPr>
        <p:spPr>
          <a:xfrm>
            <a:off x="4856176" y="6060000"/>
            <a:ext cx="357955" cy="1300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110" name="Shape 110"/>
          <p:cNvSpPr/>
          <p:nvPr/>
        </p:nvSpPr>
        <p:spPr>
          <a:xfrm>
            <a:off x="5777336" y="6010000"/>
            <a:ext cx="300000" cy="22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18288" rIns="0" bIns="18288" rtlCol="0" anchor="ctr"/>
          <a:lstStyle/>
          <a:p>
            <a:pPr algn="l">
              <a:spcAft>
                <a:spcPts val="0"/>
              </a:spcAft>
              <a:buNone/>
            </a:pPr>
            <a:r>
              <a:rPr lang="ko-KR" altLang="en-US" sz="8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11</a:t>
            </a:r>
          </a:p>
        </p:txBody>
      </p:sp>
      <p:sp>
        <p:nvSpPr>
          <p:cNvPr id="111" name="Shape 111"/>
          <p:cNvSpPr/>
          <p:nvPr/>
        </p:nvSpPr>
        <p:spPr>
          <a:xfrm>
            <a:off x="6147336" y="4250000"/>
            <a:ext cx="1601160" cy="21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pic>
        <p:nvPicPr>
          <p:cNvPr id="112" name="Picture 1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56884" y="4330000"/>
            <a:ext cx="582063" cy="950000"/>
          </a:xfrm>
          <a:prstGeom prst="rect">
            <a:avLst/>
          </a:prstGeom>
        </p:spPr>
      </p:pic>
      <p:sp>
        <p:nvSpPr>
          <p:cNvPr id="113" name="Shape 113"/>
          <p:cNvSpPr/>
          <p:nvPr/>
        </p:nvSpPr>
        <p:spPr>
          <a:xfrm>
            <a:off x="6147336" y="5310000"/>
            <a:ext cx="1601160" cy="45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105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냉장고</a:t>
            </a:r>
          </a:p>
          <a:p>
            <a:pPr algn="ctr">
              <a:spcAft>
                <a:spcPts val="0"/>
              </a:spcAft>
              <a:buNone/>
            </a:pPr>
            <a:r>
              <a:rPr lang="ko-KR" altLang="en-US" sz="8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실험실 · 휴게실</a:t>
            </a:r>
          </a:p>
        </p:txBody>
      </p:sp>
      <p:sp>
        <p:nvSpPr>
          <p:cNvPr id="114" name="Shape 114"/>
          <p:cNvSpPr/>
          <p:nvPr/>
        </p:nvSpPr>
        <p:spPr>
          <a:xfrm>
            <a:off x="6197336" y="5800000"/>
            <a:ext cx="330000" cy="20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18288" rIns="0" bIns="18288" rtlCol="0" anchor="ctr"/>
          <a:lstStyle/>
          <a:p>
            <a:pPr algn="l">
              <a:spcAft>
                <a:spcPts val="0"/>
              </a:spcAft>
              <a:buNone/>
            </a:pPr>
            <a:r>
              <a:rPr lang="ko-KR" altLang="en-US" sz="8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체력</a:t>
            </a:r>
          </a:p>
        </p:txBody>
      </p:sp>
      <p:sp>
        <p:nvSpPr>
          <p:cNvPr id="115" name="Shape 115"/>
          <p:cNvSpPr/>
          <p:nvPr/>
        </p:nvSpPr>
        <p:spPr>
          <a:xfrm>
            <a:off x="6517336" y="5830000"/>
            <a:ext cx="911160" cy="130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116" name="Shape 116"/>
          <p:cNvSpPr/>
          <p:nvPr/>
        </p:nvSpPr>
        <p:spPr>
          <a:xfrm>
            <a:off x="6517336" y="5830000"/>
            <a:ext cx="585745" cy="130000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117" name="Shape 117"/>
          <p:cNvSpPr/>
          <p:nvPr/>
        </p:nvSpPr>
        <p:spPr>
          <a:xfrm>
            <a:off x="7438496" y="5780000"/>
            <a:ext cx="300000" cy="22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18288" rIns="0" bIns="18288" rtlCol="0" anchor="ctr"/>
          <a:lstStyle/>
          <a:p>
            <a:pPr algn="l">
              <a:spcAft>
                <a:spcPts val="0"/>
              </a:spcAft>
              <a:buNone/>
            </a:pPr>
            <a:r>
              <a:rPr lang="ko-KR" altLang="en-US" sz="8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18</a:t>
            </a:r>
          </a:p>
        </p:txBody>
      </p:sp>
      <p:sp>
        <p:nvSpPr>
          <p:cNvPr id="118" name="Shape 118"/>
          <p:cNvSpPr/>
          <p:nvPr/>
        </p:nvSpPr>
        <p:spPr>
          <a:xfrm>
            <a:off x="6197336" y="6030000"/>
            <a:ext cx="330000" cy="20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18288" rIns="0" bIns="18288" rtlCol="0" anchor="ctr"/>
          <a:lstStyle/>
          <a:p>
            <a:pPr algn="l">
              <a:spcAft>
                <a:spcPts val="0"/>
              </a:spcAft>
              <a:buNone/>
            </a:pPr>
            <a:r>
              <a:rPr lang="ko-KR" altLang="en-US" sz="8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치즈</a:t>
            </a:r>
          </a:p>
        </p:txBody>
      </p:sp>
      <p:sp>
        <p:nvSpPr>
          <p:cNvPr id="119" name="Shape 119"/>
          <p:cNvSpPr/>
          <p:nvPr/>
        </p:nvSpPr>
        <p:spPr>
          <a:xfrm>
            <a:off x="6517336" y="6060000"/>
            <a:ext cx="911160" cy="130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120" name="Shape 120"/>
          <p:cNvSpPr/>
          <p:nvPr/>
        </p:nvSpPr>
        <p:spPr>
          <a:xfrm>
            <a:off x="6517336" y="6060000"/>
            <a:ext cx="455580" cy="1300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121" name="Shape 121"/>
          <p:cNvSpPr/>
          <p:nvPr/>
        </p:nvSpPr>
        <p:spPr>
          <a:xfrm>
            <a:off x="7438496" y="6010000"/>
            <a:ext cx="300000" cy="22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18288" rIns="0" bIns="18288" rtlCol="0" anchor="ctr"/>
          <a:lstStyle/>
          <a:p>
            <a:pPr algn="l">
              <a:spcAft>
                <a:spcPts val="0"/>
              </a:spcAft>
              <a:buNone/>
            </a:pPr>
            <a:r>
              <a:rPr lang="ko-KR" altLang="en-US" sz="8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14</a:t>
            </a:r>
          </a:p>
        </p:txBody>
      </p:sp>
      <p:sp>
        <p:nvSpPr>
          <p:cNvPr id="122" name="Shape 122"/>
          <p:cNvSpPr/>
          <p:nvPr/>
        </p:nvSpPr>
        <p:spPr>
          <a:xfrm>
            <a:off x="7808496" y="4250000"/>
            <a:ext cx="1601160" cy="21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pic>
        <p:nvPicPr>
          <p:cNvPr id="123" name="Picture 12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68089" y="4330000"/>
            <a:ext cx="681974" cy="950000"/>
          </a:xfrm>
          <a:prstGeom prst="rect">
            <a:avLst/>
          </a:prstGeom>
        </p:spPr>
      </p:pic>
      <p:sp>
        <p:nvSpPr>
          <p:cNvPr id="124" name="Shape 124"/>
          <p:cNvSpPr/>
          <p:nvPr/>
        </p:nvSpPr>
        <p:spPr>
          <a:xfrm>
            <a:off x="7808496" y="5310000"/>
            <a:ext cx="1601160" cy="45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105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자판기</a:t>
            </a:r>
          </a:p>
          <a:p>
            <a:pPr algn="ctr">
              <a:spcAft>
                <a:spcPts val="0"/>
              </a:spcAft>
              <a:buNone/>
            </a:pPr>
            <a:r>
              <a:rPr lang="ko-KR" altLang="en-US" sz="8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휴게실</a:t>
            </a:r>
          </a:p>
        </p:txBody>
      </p:sp>
      <p:sp>
        <p:nvSpPr>
          <p:cNvPr id="125" name="Shape 125"/>
          <p:cNvSpPr/>
          <p:nvPr/>
        </p:nvSpPr>
        <p:spPr>
          <a:xfrm>
            <a:off x="7858496" y="5800000"/>
            <a:ext cx="330000" cy="20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18288" rIns="0" bIns="18288" rtlCol="0" anchor="ctr"/>
          <a:lstStyle/>
          <a:p>
            <a:pPr algn="l">
              <a:spcAft>
                <a:spcPts val="0"/>
              </a:spcAft>
              <a:buNone/>
            </a:pPr>
            <a:r>
              <a:rPr lang="ko-KR" altLang="en-US" sz="8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체력</a:t>
            </a:r>
          </a:p>
        </p:txBody>
      </p:sp>
      <p:sp>
        <p:nvSpPr>
          <p:cNvPr id="126" name="Shape 126"/>
          <p:cNvSpPr/>
          <p:nvPr/>
        </p:nvSpPr>
        <p:spPr>
          <a:xfrm>
            <a:off x="8178496" y="5830000"/>
            <a:ext cx="911160" cy="130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127" name="Shape 127"/>
          <p:cNvSpPr/>
          <p:nvPr/>
        </p:nvSpPr>
        <p:spPr>
          <a:xfrm>
            <a:off x="8178496" y="5830000"/>
            <a:ext cx="911160" cy="130000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128" name="Shape 128"/>
          <p:cNvSpPr/>
          <p:nvPr/>
        </p:nvSpPr>
        <p:spPr>
          <a:xfrm>
            <a:off x="9099656" y="5780000"/>
            <a:ext cx="300000" cy="22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18288" rIns="0" bIns="18288" rtlCol="0" anchor="ctr"/>
          <a:lstStyle/>
          <a:p>
            <a:pPr algn="l">
              <a:spcAft>
                <a:spcPts val="0"/>
              </a:spcAft>
              <a:buNone/>
            </a:pPr>
            <a:r>
              <a:rPr lang="ko-KR" altLang="en-US" sz="8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28</a:t>
            </a:r>
          </a:p>
        </p:txBody>
      </p:sp>
      <p:sp>
        <p:nvSpPr>
          <p:cNvPr id="129" name="Shape 129"/>
          <p:cNvSpPr/>
          <p:nvPr/>
        </p:nvSpPr>
        <p:spPr>
          <a:xfrm>
            <a:off x="7858496" y="6030000"/>
            <a:ext cx="330000" cy="20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18288" rIns="0" bIns="18288" rtlCol="0" anchor="ctr"/>
          <a:lstStyle/>
          <a:p>
            <a:pPr algn="l">
              <a:spcAft>
                <a:spcPts val="0"/>
              </a:spcAft>
              <a:buNone/>
            </a:pPr>
            <a:r>
              <a:rPr lang="ko-KR" altLang="en-US" sz="8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치즈</a:t>
            </a:r>
          </a:p>
        </p:txBody>
      </p:sp>
      <p:sp>
        <p:nvSpPr>
          <p:cNvPr id="130" name="Shape 130"/>
          <p:cNvSpPr/>
          <p:nvPr/>
        </p:nvSpPr>
        <p:spPr>
          <a:xfrm>
            <a:off x="8178496" y="6060000"/>
            <a:ext cx="911160" cy="130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131" name="Shape 131"/>
          <p:cNvSpPr/>
          <p:nvPr/>
        </p:nvSpPr>
        <p:spPr>
          <a:xfrm>
            <a:off x="8178496" y="6060000"/>
            <a:ext cx="715911" cy="1300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132" name="Shape 132"/>
          <p:cNvSpPr/>
          <p:nvPr/>
        </p:nvSpPr>
        <p:spPr>
          <a:xfrm>
            <a:off x="9099656" y="6010000"/>
            <a:ext cx="300000" cy="22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18288" rIns="0" bIns="18288" rtlCol="0" anchor="ctr"/>
          <a:lstStyle/>
          <a:p>
            <a:pPr algn="l">
              <a:spcAft>
                <a:spcPts val="0"/>
              </a:spcAft>
              <a:buNone/>
            </a:pPr>
            <a:r>
              <a:rPr lang="ko-KR" altLang="en-US" sz="8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22</a:t>
            </a:r>
          </a:p>
        </p:txBody>
      </p:sp>
      <p:sp>
        <p:nvSpPr>
          <p:cNvPr id="133" name="Shape 133"/>
          <p:cNvSpPr/>
          <p:nvPr/>
        </p:nvSpPr>
        <p:spPr>
          <a:xfrm>
            <a:off x="9469656" y="4250000"/>
            <a:ext cx="1601160" cy="21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pic>
        <p:nvPicPr>
          <p:cNvPr id="134" name="Picture 13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944982" y="4330000"/>
            <a:ext cx="650508" cy="950000"/>
          </a:xfrm>
          <a:prstGeom prst="rect">
            <a:avLst/>
          </a:prstGeom>
        </p:spPr>
      </p:pic>
      <p:sp>
        <p:nvSpPr>
          <p:cNvPr id="135" name="Shape 135"/>
          <p:cNvSpPr/>
          <p:nvPr/>
        </p:nvSpPr>
        <p:spPr>
          <a:xfrm>
            <a:off x="9469656" y="5310000"/>
            <a:ext cx="1601160" cy="45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105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화분</a:t>
            </a:r>
          </a:p>
          <a:p>
            <a:pPr algn="ctr">
              <a:spcAft>
                <a:spcPts val="0"/>
              </a:spcAft>
              <a:buNone/>
            </a:pPr>
            <a:r>
              <a:rPr lang="ko-KR" altLang="en-US" sz="8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사무실 · 휴게실 · 숙직실</a:t>
            </a:r>
          </a:p>
        </p:txBody>
      </p:sp>
      <p:sp>
        <p:nvSpPr>
          <p:cNvPr id="136" name="Shape 136"/>
          <p:cNvSpPr/>
          <p:nvPr/>
        </p:nvSpPr>
        <p:spPr>
          <a:xfrm>
            <a:off x="9519656" y="5800000"/>
            <a:ext cx="330000" cy="20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18288" rIns="0" bIns="18288" rtlCol="0" anchor="ctr"/>
          <a:lstStyle/>
          <a:p>
            <a:pPr algn="l">
              <a:spcAft>
                <a:spcPts val="0"/>
              </a:spcAft>
              <a:buNone/>
            </a:pPr>
            <a:r>
              <a:rPr lang="ko-KR" altLang="en-US" sz="8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체력</a:t>
            </a:r>
          </a:p>
        </p:txBody>
      </p:sp>
      <p:sp>
        <p:nvSpPr>
          <p:cNvPr id="137" name="Shape 137"/>
          <p:cNvSpPr/>
          <p:nvPr/>
        </p:nvSpPr>
        <p:spPr>
          <a:xfrm>
            <a:off x="9839656" y="5830000"/>
            <a:ext cx="911160" cy="130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138" name="Shape 138"/>
          <p:cNvSpPr/>
          <p:nvPr/>
        </p:nvSpPr>
        <p:spPr>
          <a:xfrm>
            <a:off x="9839656" y="5830000"/>
            <a:ext cx="195248" cy="130000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139" name="Shape 139"/>
          <p:cNvSpPr/>
          <p:nvPr/>
        </p:nvSpPr>
        <p:spPr>
          <a:xfrm>
            <a:off x="10760816" y="5780000"/>
            <a:ext cx="300000" cy="22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18288" rIns="0" bIns="18288" rtlCol="0" anchor="ctr"/>
          <a:lstStyle/>
          <a:p>
            <a:pPr algn="l">
              <a:spcAft>
                <a:spcPts val="0"/>
              </a:spcAft>
              <a:buNone/>
            </a:pPr>
            <a:r>
              <a:rPr lang="ko-KR" altLang="en-US" sz="8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6</a:t>
            </a:r>
          </a:p>
        </p:txBody>
      </p:sp>
      <p:sp>
        <p:nvSpPr>
          <p:cNvPr id="140" name="Shape 140"/>
          <p:cNvSpPr/>
          <p:nvPr/>
        </p:nvSpPr>
        <p:spPr>
          <a:xfrm>
            <a:off x="9519656" y="6030000"/>
            <a:ext cx="330000" cy="20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18288" rIns="0" bIns="18288" rtlCol="0" anchor="ctr"/>
          <a:lstStyle/>
          <a:p>
            <a:pPr algn="l">
              <a:spcAft>
                <a:spcPts val="0"/>
              </a:spcAft>
              <a:buNone/>
            </a:pPr>
            <a:r>
              <a:rPr lang="ko-KR" altLang="en-US" sz="8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치즈</a:t>
            </a:r>
          </a:p>
        </p:txBody>
      </p:sp>
      <p:sp>
        <p:nvSpPr>
          <p:cNvPr id="141" name="Shape 141"/>
          <p:cNvSpPr/>
          <p:nvPr/>
        </p:nvSpPr>
        <p:spPr>
          <a:xfrm>
            <a:off x="9839656" y="6060000"/>
            <a:ext cx="911160" cy="130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142" name="Shape 142"/>
          <p:cNvSpPr/>
          <p:nvPr/>
        </p:nvSpPr>
        <p:spPr>
          <a:xfrm>
            <a:off x="9839656" y="6060000"/>
            <a:ext cx="130165" cy="1300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143" name="Shape 143"/>
          <p:cNvSpPr/>
          <p:nvPr/>
        </p:nvSpPr>
        <p:spPr>
          <a:xfrm>
            <a:off x="10760816" y="6010000"/>
            <a:ext cx="300000" cy="22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18288" rIns="0" bIns="18288" rtlCol="0" anchor="ctr"/>
          <a:lstStyle/>
          <a:p>
            <a:pPr algn="l">
              <a:spcAft>
                <a:spcPts val="0"/>
              </a:spcAft>
              <a:buNone/>
            </a:pPr>
            <a:r>
              <a:rPr lang="ko-KR" altLang="en-US" sz="8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200" b="0" dirty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오브젝트 명세</a:t>
            </a:r>
            <a:r>
              <a:rPr lang="ko-KR" altLang="en-US" sz="2400" b="0" dirty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쏟아짐 물건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e 11"/>
          <p:cNvGraphicFramePr>
            <a:graphicFrameLocks noGrp="1"/>
          </p:cNvGraphicFramePr>
          <p:nvPr/>
        </p:nvGraphicFramePr>
        <p:xfrm>
          <a:off x="1133856" y="1600200"/>
          <a:ext cx="9966960" cy="445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57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73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73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73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976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976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88381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62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물건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ID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체력 배율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치즈 배율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효율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반지름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나오는 곳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2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지폐 다발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60033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5.00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치즈 금고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2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동전 자루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60034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0.7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2.5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3.57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소파, 치즈 금고, 금괴 상자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2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금괴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60035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4.44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금괴 상자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2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치즈 조각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60036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4.00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치즈 금고, 거대 치즈 바퀴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2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하드디스크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60037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1.50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서버 랙, 데이터 코어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2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회로 기판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60038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1.83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서버 랙, 실험용 로봇 팔, 데이터 코어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2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약품 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60039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0.7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1.43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약품 드럼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2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얼음 덩어리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60040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1.50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냉동 수면 캡슐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2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톱니바퀴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60041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1.25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실험용 로봇 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2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두꺼운 책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60042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1.50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책장, 책상, 서류함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2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서류 뭉치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60043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2.00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책장, 책상, 서류함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2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연필꽂이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60044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1.80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책상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2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베개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60045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1.60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간이침대, 의자(가구), 소파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62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실험복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60046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1.80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간이침대, 사물함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62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새싹 화분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60047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2.00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화분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62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캔 음료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60048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2.00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탁자, 사물함, 자판기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12" name="TextBox 12"/>
          <p:cNvSpPr txBox="1"/>
          <p:nvPr/>
        </p:nvSpPr>
        <p:spPr>
          <a:xfrm>
            <a:off x="1133856" y="6134200"/>
            <a:ext cx="9966960" cy="23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ko-KR" altLang="en-US" sz="10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자동 보충 없음 (가중치 0) · 쏟아짐 칸에는 일반 물건도 사용 (선반 → 플라스크 등) · 체력이 낮아 대부분 첫 충돌에 박살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200" b="0" dirty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오브젝트 명세</a:t>
            </a:r>
            <a:r>
              <a:rPr lang="ko-KR" altLang="en-US" sz="2400" b="0" dirty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쏟아짐 연결도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1"/>
          <p:cNvSpPr/>
          <p:nvPr/>
        </p:nvSpPr>
        <p:spPr>
          <a:xfrm>
            <a:off x="1133856" y="1330977"/>
            <a:ext cx="9966960" cy="502920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lIns="109728" tIns="36576" rIns="109728" bIns="36576" rtlCol="0" anchor="ctr"/>
          <a:lstStyle/>
          <a:p>
            <a:pPr algn="l">
              <a:spcAft>
                <a:spcPts val="300"/>
              </a:spcAft>
              <a:buNone/>
            </a:pPr>
            <a:r>
              <a:rPr lang="ko-KR" altLang="en-US" sz="14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박살 시 무엇이 쏟아지나 — 가구 12 · 대형 물건 2 · 보물 6</a:t>
            </a:r>
          </a:p>
        </p:txBody>
      </p:sp>
      <p:sp>
        <p:nvSpPr>
          <p:cNvPr id="12" name="Shape 12"/>
          <p:cNvSpPr/>
          <p:nvPr/>
        </p:nvSpPr>
        <p:spPr>
          <a:xfrm>
            <a:off x="1133856" y="1915000"/>
            <a:ext cx="4833480" cy="4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7318" y="1940000"/>
            <a:ext cx="253076" cy="350000"/>
          </a:xfrm>
          <a:prstGeom prst="rect">
            <a:avLst/>
          </a:prstGeom>
        </p:spPr>
      </p:pic>
      <p:sp>
        <p:nvSpPr>
          <p:cNvPr id="14" name="Shape 14"/>
          <p:cNvSpPr/>
          <p:nvPr/>
        </p:nvSpPr>
        <p:spPr>
          <a:xfrm>
            <a:off x="1573856" y="1900000"/>
            <a:ext cx="1150000" cy="43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18288" rIns="0" bIns="18288" rtlCol="0" anchor="ctr"/>
          <a:lstStyle/>
          <a:p>
            <a:pPr algn="l"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선반</a:t>
            </a:r>
          </a:p>
        </p:txBody>
      </p:sp>
      <p:cxnSp>
        <p:nvCxnSpPr>
          <p:cNvPr id="15" name="Connector 15"/>
          <p:cNvCxnSpPr/>
          <p:nvPr/>
        </p:nvCxnSpPr>
        <p:spPr>
          <a:xfrm>
            <a:off x="2733856" y="2115000"/>
            <a:ext cx="350000" cy="0"/>
          </a:xfrm>
          <a:prstGeom prst="straightConnector1">
            <a:avLst/>
          </a:prstGeom>
          <a:ln w="15875">
            <a:solidFill>
              <a:srgbClr val="E97132"/>
            </a:solidFill>
            <a:tailEnd type="triangle" w="med" len="med"/>
          </a:ln>
        </p:spPr>
      </p:cxnSp>
      <p:pic>
        <p:nvPicPr>
          <p:cNvPr id="16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3212" y="1945000"/>
            <a:ext cx="221288" cy="3400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3818" y="1945000"/>
            <a:ext cx="280076" cy="3400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5064" y="1945000"/>
            <a:ext cx="197584" cy="3400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70753" y="1945000"/>
            <a:ext cx="246206" cy="340000"/>
          </a:xfrm>
          <a:prstGeom prst="rect">
            <a:avLst/>
          </a:prstGeom>
        </p:spPr>
      </p:pic>
      <p:sp>
        <p:nvSpPr>
          <p:cNvPr id="20" name="Shape 20"/>
          <p:cNvSpPr/>
          <p:nvPr/>
        </p:nvSpPr>
        <p:spPr>
          <a:xfrm>
            <a:off x="1133856" y="2345000"/>
            <a:ext cx="4833480" cy="4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31526" y="2370000"/>
            <a:ext cx="264660" cy="350000"/>
          </a:xfrm>
          <a:prstGeom prst="rect">
            <a:avLst/>
          </a:prstGeom>
        </p:spPr>
      </p:pic>
      <p:sp>
        <p:nvSpPr>
          <p:cNvPr id="22" name="Shape 22"/>
          <p:cNvSpPr/>
          <p:nvPr/>
        </p:nvSpPr>
        <p:spPr>
          <a:xfrm>
            <a:off x="1573856" y="2330000"/>
            <a:ext cx="1150000" cy="43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18288" rIns="0" bIns="18288" rtlCol="0" anchor="ctr"/>
          <a:lstStyle/>
          <a:p>
            <a:pPr algn="l"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책장</a:t>
            </a:r>
          </a:p>
        </p:txBody>
      </p:sp>
      <p:cxnSp>
        <p:nvCxnSpPr>
          <p:cNvPr id="23" name="Connector 23"/>
          <p:cNvCxnSpPr/>
          <p:nvPr/>
        </p:nvCxnSpPr>
        <p:spPr>
          <a:xfrm>
            <a:off x="2733856" y="2545000"/>
            <a:ext cx="350000" cy="0"/>
          </a:xfrm>
          <a:prstGeom prst="straightConnector1">
            <a:avLst/>
          </a:prstGeom>
          <a:ln w="15875">
            <a:solidFill>
              <a:srgbClr val="E97132"/>
            </a:solidFill>
            <a:tailEnd type="triangle" w="med" len="med"/>
          </a:ln>
        </p:spPr>
      </p:cxnSp>
      <p:pic>
        <p:nvPicPr>
          <p:cNvPr id="24" name="Picture 2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83856" y="2398529"/>
            <a:ext cx="340000" cy="292941"/>
          </a:xfrm>
          <a:prstGeom prst="rect">
            <a:avLst/>
          </a:prstGeom>
        </p:spPr>
      </p:pic>
      <p:sp>
        <p:nvSpPr>
          <p:cNvPr id="25" name="Shape 25"/>
          <p:cNvSpPr/>
          <p:nvPr/>
        </p:nvSpPr>
        <p:spPr>
          <a:xfrm>
            <a:off x="3513856" y="2330000"/>
            <a:ext cx="330000" cy="43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18288" rIns="0" bIns="18288" rtlCol="0" anchor="ctr"/>
          <a:lstStyle/>
          <a:p>
            <a:pPr algn="l"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×3</a:t>
            </a: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63856" y="2398693"/>
            <a:ext cx="340000" cy="292613"/>
          </a:xfrm>
          <a:prstGeom prst="rect">
            <a:avLst/>
          </a:prstGeom>
        </p:spPr>
      </p:pic>
      <p:sp>
        <p:nvSpPr>
          <p:cNvPr id="27" name="Shape 27"/>
          <p:cNvSpPr/>
          <p:nvPr/>
        </p:nvSpPr>
        <p:spPr>
          <a:xfrm>
            <a:off x="1133856" y="2775000"/>
            <a:ext cx="4833480" cy="4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73856" y="2853793"/>
            <a:ext cx="380000" cy="242413"/>
          </a:xfrm>
          <a:prstGeom prst="rect">
            <a:avLst/>
          </a:prstGeom>
        </p:spPr>
      </p:pic>
      <p:sp>
        <p:nvSpPr>
          <p:cNvPr id="29" name="Shape 29"/>
          <p:cNvSpPr/>
          <p:nvPr/>
        </p:nvSpPr>
        <p:spPr>
          <a:xfrm>
            <a:off x="1573856" y="2760000"/>
            <a:ext cx="1150000" cy="43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18288" rIns="0" bIns="18288" rtlCol="0" anchor="ctr"/>
          <a:lstStyle/>
          <a:p>
            <a:pPr algn="l"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간이침대</a:t>
            </a:r>
          </a:p>
        </p:txBody>
      </p:sp>
      <p:cxnSp>
        <p:nvCxnSpPr>
          <p:cNvPr id="30" name="Connector 30"/>
          <p:cNvCxnSpPr/>
          <p:nvPr/>
        </p:nvCxnSpPr>
        <p:spPr>
          <a:xfrm>
            <a:off x="2733856" y="2975000"/>
            <a:ext cx="350000" cy="0"/>
          </a:xfrm>
          <a:prstGeom prst="straightConnector1">
            <a:avLst/>
          </a:prstGeom>
          <a:ln w="15875">
            <a:solidFill>
              <a:srgbClr val="E97132"/>
            </a:solidFill>
            <a:tailEnd type="triangle" w="med" len="med"/>
          </a:ln>
        </p:spPr>
      </p:cxnSp>
      <p:pic>
        <p:nvPicPr>
          <p:cNvPr id="31" name="Picture 3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183856" y="2850471"/>
            <a:ext cx="340000" cy="249057"/>
          </a:xfrm>
          <a:prstGeom prst="rect">
            <a:avLst/>
          </a:prstGeom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63856" y="2829361"/>
            <a:ext cx="339999" cy="291277"/>
          </a:xfrm>
          <a:prstGeom prst="rect">
            <a:avLst/>
          </a:prstGeom>
        </p:spPr>
      </p:pic>
      <p:sp>
        <p:nvSpPr>
          <p:cNvPr id="33" name="Shape 33"/>
          <p:cNvSpPr/>
          <p:nvPr/>
        </p:nvSpPr>
        <p:spPr>
          <a:xfrm>
            <a:off x="1133856" y="3205000"/>
            <a:ext cx="4833480" cy="4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pic>
        <p:nvPicPr>
          <p:cNvPr id="34" name="Picture 3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73856" y="3266516"/>
            <a:ext cx="380000" cy="276967"/>
          </a:xfrm>
          <a:prstGeom prst="rect">
            <a:avLst/>
          </a:prstGeom>
        </p:spPr>
      </p:pic>
      <p:sp>
        <p:nvSpPr>
          <p:cNvPr id="35" name="Shape 35"/>
          <p:cNvSpPr/>
          <p:nvPr/>
        </p:nvSpPr>
        <p:spPr>
          <a:xfrm>
            <a:off x="1573856" y="3190000"/>
            <a:ext cx="1150000" cy="43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18288" rIns="0" bIns="18288" rtlCol="0" anchor="ctr"/>
          <a:lstStyle/>
          <a:p>
            <a:pPr algn="l"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탁자</a:t>
            </a:r>
          </a:p>
        </p:txBody>
      </p:sp>
      <p:cxnSp>
        <p:nvCxnSpPr>
          <p:cNvPr id="36" name="Connector 36"/>
          <p:cNvCxnSpPr/>
          <p:nvPr/>
        </p:nvCxnSpPr>
        <p:spPr>
          <a:xfrm>
            <a:off x="2733856" y="3405000"/>
            <a:ext cx="350000" cy="0"/>
          </a:xfrm>
          <a:prstGeom prst="straightConnector1">
            <a:avLst/>
          </a:prstGeom>
          <a:ln w="15875">
            <a:solidFill>
              <a:srgbClr val="E97132"/>
            </a:solidFill>
            <a:tailEnd type="triangle" w="med" len="med"/>
          </a:ln>
        </p:spPr>
      </p:cxnSp>
      <p:pic>
        <p:nvPicPr>
          <p:cNvPr id="37" name="Picture 37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35223" y="3235000"/>
            <a:ext cx="237266" cy="340000"/>
          </a:xfrm>
          <a:prstGeom prst="rect">
            <a:avLst/>
          </a:prstGeom>
        </p:spPr>
      </p:pic>
      <p:pic>
        <p:nvPicPr>
          <p:cNvPr id="38" name="Picture 38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863856" y="3241711"/>
            <a:ext cx="340000" cy="326578"/>
          </a:xfrm>
          <a:prstGeom prst="rect">
            <a:avLst/>
          </a:prstGeom>
        </p:spPr>
      </p:pic>
      <p:pic>
        <p:nvPicPr>
          <p:cNvPr id="39" name="Picture 39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617165" y="3235000"/>
            <a:ext cx="193382" cy="340000"/>
          </a:xfrm>
          <a:prstGeom prst="rect">
            <a:avLst/>
          </a:prstGeom>
        </p:spPr>
      </p:pic>
      <p:sp>
        <p:nvSpPr>
          <p:cNvPr id="40" name="Shape 40"/>
          <p:cNvSpPr/>
          <p:nvPr/>
        </p:nvSpPr>
        <p:spPr>
          <a:xfrm>
            <a:off x="1133856" y="3635000"/>
            <a:ext cx="4833480" cy="4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pic>
        <p:nvPicPr>
          <p:cNvPr id="41" name="Picture 41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247569" y="3660000"/>
            <a:ext cx="232573" cy="350000"/>
          </a:xfrm>
          <a:prstGeom prst="rect">
            <a:avLst/>
          </a:prstGeom>
        </p:spPr>
      </p:pic>
      <p:sp>
        <p:nvSpPr>
          <p:cNvPr id="42" name="Shape 42"/>
          <p:cNvSpPr/>
          <p:nvPr/>
        </p:nvSpPr>
        <p:spPr>
          <a:xfrm>
            <a:off x="1573856" y="3620000"/>
            <a:ext cx="1150000" cy="43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18288" rIns="0" bIns="18288" rtlCol="0" anchor="ctr"/>
          <a:lstStyle/>
          <a:p>
            <a:pPr algn="l"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의자(가구)</a:t>
            </a:r>
          </a:p>
        </p:txBody>
      </p:sp>
      <p:cxnSp>
        <p:nvCxnSpPr>
          <p:cNvPr id="43" name="Connector 43"/>
          <p:cNvCxnSpPr/>
          <p:nvPr/>
        </p:nvCxnSpPr>
        <p:spPr>
          <a:xfrm>
            <a:off x="2733856" y="3835000"/>
            <a:ext cx="350000" cy="0"/>
          </a:xfrm>
          <a:prstGeom prst="straightConnector1">
            <a:avLst/>
          </a:prstGeom>
          <a:ln w="15875">
            <a:solidFill>
              <a:srgbClr val="E97132"/>
            </a:solidFill>
            <a:tailEnd type="triangle" w="med" len="med"/>
          </a:ln>
        </p:spPr>
      </p:cxnSp>
      <p:pic>
        <p:nvPicPr>
          <p:cNvPr id="44" name="Picture 4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183856" y="3710471"/>
            <a:ext cx="340000" cy="249057"/>
          </a:xfrm>
          <a:prstGeom prst="rect">
            <a:avLst/>
          </a:prstGeom>
        </p:spPr>
      </p:pic>
      <p:sp>
        <p:nvSpPr>
          <p:cNvPr id="45" name="Shape 45"/>
          <p:cNvSpPr/>
          <p:nvPr/>
        </p:nvSpPr>
        <p:spPr>
          <a:xfrm>
            <a:off x="1133856" y="4065000"/>
            <a:ext cx="4833480" cy="4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pic>
        <p:nvPicPr>
          <p:cNvPr id="46" name="Picture 46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73856" y="4104020"/>
            <a:ext cx="380000" cy="321959"/>
          </a:xfrm>
          <a:prstGeom prst="rect">
            <a:avLst/>
          </a:prstGeom>
        </p:spPr>
      </p:pic>
      <p:sp>
        <p:nvSpPr>
          <p:cNvPr id="47" name="Shape 47"/>
          <p:cNvSpPr/>
          <p:nvPr/>
        </p:nvSpPr>
        <p:spPr>
          <a:xfrm>
            <a:off x="1573856" y="4050000"/>
            <a:ext cx="1150000" cy="43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18288" rIns="0" bIns="18288" rtlCol="0" anchor="ctr"/>
          <a:lstStyle/>
          <a:p>
            <a:pPr algn="l"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책상</a:t>
            </a:r>
          </a:p>
        </p:txBody>
      </p:sp>
      <p:cxnSp>
        <p:nvCxnSpPr>
          <p:cNvPr id="48" name="Connector 48"/>
          <p:cNvCxnSpPr/>
          <p:nvPr/>
        </p:nvCxnSpPr>
        <p:spPr>
          <a:xfrm>
            <a:off x="2733856" y="4265000"/>
            <a:ext cx="350000" cy="0"/>
          </a:xfrm>
          <a:prstGeom prst="straightConnector1">
            <a:avLst/>
          </a:prstGeom>
          <a:ln w="15875">
            <a:solidFill>
              <a:srgbClr val="E97132"/>
            </a:solidFill>
            <a:tailEnd type="triangle" w="med" len="med"/>
          </a:ln>
        </p:spPr>
      </p:cxnSp>
      <p:pic>
        <p:nvPicPr>
          <p:cNvPr id="49" name="Picture 4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83856" y="4118693"/>
            <a:ext cx="340000" cy="292613"/>
          </a:xfrm>
          <a:prstGeom prst="rect">
            <a:avLst/>
          </a:prstGeom>
        </p:spPr>
      </p:pic>
      <p:pic>
        <p:nvPicPr>
          <p:cNvPr id="50" name="Picture 50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939471" y="4095000"/>
            <a:ext cx="188769" cy="340000"/>
          </a:xfrm>
          <a:prstGeom prst="rect">
            <a:avLst/>
          </a:prstGeom>
        </p:spPr>
      </p:pic>
      <p:pic>
        <p:nvPicPr>
          <p:cNvPr id="51" name="Picture 51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95223" y="4095000"/>
            <a:ext cx="237266" cy="340000"/>
          </a:xfrm>
          <a:prstGeom prst="rect">
            <a:avLst/>
          </a:prstGeom>
        </p:spPr>
      </p:pic>
      <p:pic>
        <p:nvPicPr>
          <p:cNvPr id="52" name="Picture 5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23856" y="4118529"/>
            <a:ext cx="340000" cy="292941"/>
          </a:xfrm>
          <a:prstGeom prst="rect">
            <a:avLst/>
          </a:prstGeom>
        </p:spPr>
      </p:pic>
      <p:sp>
        <p:nvSpPr>
          <p:cNvPr id="53" name="Shape 53"/>
          <p:cNvSpPr/>
          <p:nvPr/>
        </p:nvSpPr>
        <p:spPr>
          <a:xfrm>
            <a:off x="1133856" y="4495000"/>
            <a:ext cx="4833480" cy="4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pic>
        <p:nvPicPr>
          <p:cNvPr id="54" name="Picture 54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265685" y="4520000"/>
            <a:ext cx="196341" cy="350000"/>
          </a:xfrm>
          <a:prstGeom prst="rect">
            <a:avLst/>
          </a:prstGeom>
        </p:spPr>
      </p:pic>
      <p:sp>
        <p:nvSpPr>
          <p:cNvPr id="55" name="Shape 55"/>
          <p:cNvSpPr/>
          <p:nvPr/>
        </p:nvSpPr>
        <p:spPr>
          <a:xfrm>
            <a:off x="1573856" y="4480000"/>
            <a:ext cx="1150000" cy="43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18288" rIns="0" bIns="18288" rtlCol="0" anchor="ctr"/>
          <a:lstStyle/>
          <a:p>
            <a:pPr algn="l"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사물함</a:t>
            </a:r>
          </a:p>
        </p:txBody>
      </p:sp>
      <p:cxnSp>
        <p:nvCxnSpPr>
          <p:cNvPr id="56" name="Connector 56"/>
          <p:cNvCxnSpPr/>
          <p:nvPr/>
        </p:nvCxnSpPr>
        <p:spPr>
          <a:xfrm>
            <a:off x="2733856" y="4695000"/>
            <a:ext cx="350000" cy="0"/>
          </a:xfrm>
          <a:prstGeom prst="straightConnector1">
            <a:avLst/>
          </a:prstGeom>
          <a:ln w="15875">
            <a:solidFill>
              <a:srgbClr val="E97132"/>
            </a:solidFill>
            <a:tailEnd type="triangle" w="med" len="med"/>
          </a:ln>
        </p:spPr>
      </p:cxnSp>
      <p:pic>
        <p:nvPicPr>
          <p:cNvPr id="57" name="Picture 57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183856" y="4549361"/>
            <a:ext cx="339999" cy="291277"/>
          </a:xfrm>
          <a:prstGeom prst="rect">
            <a:avLst/>
          </a:prstGeom>
        </p:spPr>
      </p:pic>
      <p:pic>
        <p:nvPicPr>
          <p:cNvPr id="58" name="Picture 58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863856" y="4560923"/>
            <a:ext cx="340000" cy="268154"/>
          </a:xfrm>
          <a:prstGeom prst="rect">
            <a:avLst/>
          </a:prstGeom>
        </p:spPr>
      </p:pic>
      <p:pic>
        <p:nvPicPr>
          <p:cNvPr id="59" name="Picture 59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617165" y="4525000"/>
            <a:ext cx="193382" cy="340000"/>
          </a:xfrm>
          <a:prstGeom prst="rect">
            <a:avLst/>
          </a:prstGeom>
        </p:spPr>
      </p:pic>
      <p:sp>
        <p:nvSpPr>
          <p:cNvPr id="60" name="Shape 60"/>
          <p:cNvSpPr/>
          <p:nvPr/>
        </p:nvSpPr>
        <p:spPr>
          <a:xfrm>
            <a:off x="1133856" y="4925000"/>
            <a:ext cx="4833480" cy="4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pic>
        <p:nvPicPr>
          <p:cNvPr id="61" name="Picture 61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246994" y="4950000"/>
            <a:ext cx="233724" cy="350000"/>
          </a:xfrm>
          <a:prstGeom prst="rect">
            <a:avLst/>
          </a:prstGeom>
        </p:spPr>
      </p:pic>
      <p:sp>
        <p:nvSpPr>
          <p:cNvPr id="62" name="Shape 62"/>
          <p:cNvSpPr/>
          <p:nvPr/>
        </p:nvSpPr>
        <p:spPr>
          <a:xfrm>
            <a:off x="1573856" y="4910000"/>
            <a:ext cx="1150000" cy="43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18288" rIns="0" bIns="18288" rtlCol="0" anchor="ctr"/>
          <a:lstStyle/>
          <a:p>
            <a:pPr algn="l"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서류함</a:t>
            </a:r>
          </a:p>
        </p:txBody>
      </p:sp>
      <p:cxnSp>
        <p:nvCxnSpPr>
          <p:cNvPr id="63" name="Connector 63"/>
          <p:cNvCxnSpPr/>
          <p:nvPr/>
        </p:nvCxnSpPr>
        <p:spPr>
          <a:xfrm>
            <a:off x="2733856" y="5125000"/>
            <a:ext cx="350000" cy="0"/>
          </a:xfrm>
          <a:prstGeom prst="straightConnector1">
            <a:avLst/>
          </a:prstGeom>
          <a:ln w="15875">
            <a:solidFill>
              <a:srgbClr val="E97132"/>
            </a:solidFill>
            <a:tailEnd type="triangle" w="med" len="med"/>
          </a:ln>
        </p:spPr>
      </p:cxnSp>
      <p:pic>
        <p:nvPicPr>
          <p:cNvPr id="64" name="Picture 6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83856" y="4978693"/>
            <a:ext cx="340000" cy="292613"/>
          </a:xfrm>
          <a:prstGeom prst="rect">
            <a:avLst/>
          </a:prstGeom>
        </p:spPr>
      </p:pic>
      <p:sp>
        <p:nvSpPr>
          <p:cNvPr id="65" name="Shape 65"/>
          <p:cNvSpPr/>
          <p:nvPr/>
        </p:nvSpPr>
        <p:spPr>
          <a:xfrm>
            <a:off x="3513856" y="4910000"/>
            <a:ext cx="330000" cy="43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18288" rIns="0" bIns="18288" rtlCol="0" anchor="ctr"/>
          <a:lstStyle/>
          <a:p>
            <a:pPr algn="l"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×3</a:t>
            </a:r>
          </a:p>
        </p:txBody>
      </p:sp>
      <p:pic>
        <p:nvPicPr>
          <p:cNvPr id="66" name="Picture 6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63856" y="4978529"/>
            <a:ext cx="340000" cy="292941"/>
          </a:xfrm>
          <a:prstGeom prst="rect">
            <a:avLst/>
          </a:prstGeom>
        </p:spPr>
      </p:pic>
      <p:sp>
        <p:nvSpPr>
          <p:cNvPr id="67" name="Shape 67"/>
          <p:cNvSpPr/>
          <p:nvPr/>
        </p:nvSpPr>
        <p:spPr>
          <a:xfrm>
            <a:off x="1133856" y="5355000"/>
            <a:ext cx="4833480" cy="4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pic>
        <p:nvPicPr>
          <p:cNvPr id="68" name="Picture 68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173856" y="5430810"/>
            <a:ext cx="380000" cy="248379"/>
          </a:xfrm>
          <a:prstGeom prst="rect">
            <a:avLst/>
          </a:prstGeom>
        </p:spPr>
      </p:pic>
      <p:sp>
        <p:nvSpPr>
          <p:cNvPr id="69" name="Shape 69"/>
          <p:cNvSpPr/>
          <p:nvPr/>
        </p:nvSpPr>
        <p:spPr>
          <a:xfrm>
            <a:off x="1573856" y="5340000"/>
            <a:ext cx="1150000" cy="43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18288" rIns="0" bIns="18288" rtlCol="0" anchor="ctr"/>
          <a:lstStyle/>
          <a:p>
            <a:pPr algn="l"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소파</a:t>
            </a:r>
          </a:p>
        </p:txBody>
      </p:sp>
      <p:cxnSp>
        <p:nvCxnSpPr>
          <p:cNvPr id="70" name="Connector 70"/>
          <p:cNvCxnSpPr/>
          <p:nvPr/>
        </p:nvCxnSpPr>
        <p:spPr>
          <a:xfrm>
            <a:off x="2733856" y="5555000"/>
            <a:ext cx="350000" cy="0"/>
          </a:xfrm>
          <a:prstGeom prst="straightConnector1">
            <a:avLst/>
          </a:prstGeom>
          <a:ln w="15875">
            <a:solidFill>
              <a:srgbClr val="E97132"/>
            </a:solidFill>
            <a:tailEnd type="triangle" w="med" len="med"/>
          </a:ln>
        </p:spPr>
      </p:cxnSp>
      <p:pic>
        <p:nvPicPr>
          <p:cNvPr id="71" name="Picture 7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183856" y="5430471"/>
            <a:ext cx="340000" cy="249057"/>
          </a:xfrm>
          <a:prstGeom prst="rect">
            <a:avLst/>
          </a:prstGeom>
        </p:spPr>
      </p:pic>
      <p:sp>
        <p:nvSpPr>
          <p:cNvPr id="72" name="Shape 72"/>
          <p:cNvSpPr/>
          <p:nvPr/>
        </p:nvSpPr>
        <p:spPr>
          <a:xfrm>
            <a:off x="3513856" y="5340000"/>
            <a:ext cx="330000" cy="43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18288" rIns="0" bIns="18288" rtlCol="0" anchor="ctr"/>
          <a:lstStyle/>
          <a:p>
            <a:pPr algn="l"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×2</a:t>
            </a:r>
          </a:p>
        </p:txBody>
      </p:sp>
      <p:pic>
        <p:nvPicPr>
          <p:cNvPr id="73" name="Picture 73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886777" y="5385000"/>
            <a:ext cx="294157" cy="340000"/>
          </a:xfrm>
          <a:prstGeom prst="rect">
            <a:avLst/>
          </a:prstGeom>
        </p:spPr>
      </p:pic>
      <p:sp>
        <p:nvSpPr>
          <p:cNvPr id="74" name="Shape 74"/>
          <p:cNvSpPr/>
          <p:nvPr/>
        </p:nvSpPr>
        <p:spPr>
          <a:xfrm>
            <a:off x="1133856" y="5785000"/>
            <a:ext cx="4833480" cy="4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pic>
        <p:nvPicPr>
          <p:cNvPr id="75" name="Picture 75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256634" y="5810000"/>
            <a:ext cx="214444" cy="350000"/>
          </a:xfrm>
          <a:prstGeom prst="rect">
            <a:avLst/>
          </a:prstGeom>
        </p:spPr>
      </p:pic>
      <p:sp>
        <p:nvSpPr>
          <p:cNvPr id="76" name="Shape 76"/>
          <p:cNvSpPr/>
          <p:nvPr/>
        </p:nvSpPr>
        <p:spPr>
          <a:xfrm>
            <a:off x="1573856" y="5770000"/>
            <a:ext cx="1150000" cy="43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18288" rIns="0" bIns="18288" rtlCol="0" anchor="ctr"/>
          <a:lstStyle/>
          <a:p>
            <a:pPr algn="l"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냉장고</a:t>
            </a:r>
          </a:p>
        </p:txBody>
      </p:sp>
      <p:cxnSp>
        <p:nvCxnSpPr>
          <p:cNvPr id="77" name="Connector 77"/>
          <p:cNvCxnSpPr/>
          <p:nvPr/>
        </p:nvCxnSpPr>
        <p:spPr>
          <a:xfrm>
            <a:off x="2733856" y="5985000"/>
            <a:ext cx="350000" cy="0"/>
          </a:xfrm>
          <a:prstGeom prst="straightConnector1">
            <a:avLst/>
          </a:prstGeom>
          <a:ln w="15875">
            <a:solidFill>
              <a:srgbClr val="E97132"/>
            </a:solidFill>
            <a:tailEnd type="triangle" w="med" len="med"/>
          </a:ln>
        </p:spPr>
      </p:cxnSp>
      <p:pic>
        <p:nvPicPr>
          <p:cNvPr id="78" name="Picture 78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3249785" y="5815000"/>
            <a:ext cx="208141" cy="340000"/>
          </a:xfrm>
          <a:prstGeom prst="rect">
            <a:avLst/>
          </a:prstGeom>
        </p:spPr>
      </p:pic>
      <p:pic>
        <p:nvPicPr>
          <p:cNvPr id="79" name="Picture 79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3874222" y="5815000"/>
            <a:ext cx="319268" cy="340000"/>
          </a:xfrm>
          <a:prstGeom prst="rect">
            <a:avLst/>
          </a:prstGeom>
        </p:spPr>
      </p:pic>
      <p:pic>
        <p:nvPicPr>
          <p:cNvPr id="80" name="Picture 80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543856" y="5839696"/>
            <a:ext cx="340000" cy="290608"/>
          </a:xfrm>
          <a:prstGeom prst="rect">
            <a:avLst/>
          </a:prstGeom>
        </p:spPr>
      </p:pic>
      <p:sp>
        <p:nvSpPr>
          <p:cNvPr id="81" name="Shape 81"/>
          <p:cNvSpPr/>
          <p:nvPr/>
        </p:nvSpPr>
        <p:spPr>
          <a:xfrm>
            <a:off x="6267336" y="1915000"/>
            <a:ext cx="4833480" cy="4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pic>
        <p:nvPicPr>
          <p:cNvPr id="82" name="Picture 82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371709" y="1940000"/>
            <a:ext cx="251253" cy="350000"/>
          </a:xfrm>
          <a:prstGeom prst="rect">
            <a:avLst/>
          </a:prstGeom>
        </p:spPr>
      </p:pic>
      <p:sp>
        <p:nvSpPr>
          <p:cNvPr id="83" name="Shape 83"/>
          <p:cNvSpPr/>
          <p:nvPr/>
        </p:nvSpPr>
        <p:spPr>
          <a:xfrm>
            <a:off x="6707336" y="1900000"/>
            <a:ext cx="1150000" cy="43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18288" rIns="0" bIns="18288" rtlCol="0" anchor="ctr"/>
          <a:lstStyle/>
          <a:p>
            <a:pPr algn="l"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자판기</a:t>
            </a:r>
          </a:p>
        </p:txBody>
      </p:sp>
      <p:cxnSp>
        <p:nvCxnSpPr>
          <p:cNvPr id="84" name="Connector 84"/>
          <p:cNvCxnSpPr/>
          <p:nvPr/>
        </p:nvCxnSpPr>
        <p:spPr>
          <a:xfrm>
            <a:off x="7867336" y="2115000"/>
            <a:ext cx="350000" cy="0"/>
          </a:xfrm>
          <a:prstGeom prst="straightConnector1">
            <a:avLst/>
          </a:prstGeom>
          <a:ln w="15875">
            <a:solidFill>
              <a:srgbClr val="E97132"/>
            </a:solidFill>
            <a:tailEnd type="triangle" w="med" len="med"/>
          </a:ln>
        </p:spPr>
      </p:cxnSp>
      <p:pic>
        <p:nvPicPr>
          <p:cNvPr id="85" name="Picture 85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390645" y="1945000"/>
            <a:ext cx="193382" cy="340000"/>
          </a:xfrm>
          <a:prstGeom prst="rect">
            <a:avLst/>
          </a:prstGeom>
        </p:spPr>
      </p:pic>
      <p:sp>
        <p:nvSpPr>
          <p:cNvPr id="86" name="Shape 86"/>
          <p:cNvSpPr/>
          <p:nvPr/>
        </p:nvSpPr>
        <p:spPr>
          <a:xfrm>
            <a:off x="8647336" y="1900000"/>
            <a:ext cx="330000" cy="43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18288" rIns="0" bIns="18288" rtlCol="0" anchor="ctr"/>
          <a:lstStyle/>
          <a:p>
            <a:pPr algn="l"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×3</a:t>
            </a:r>
          </a:p>
        </p:txBody>
      </p:sp>
      <p:pic>
        <p:nvPicPr>
          <p:cNvPr id="87" name="Picture 87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048703" y="1945000"/>
            <a:ext cx="237266" cy="340000"/>
          </a:xfrm>
          <a:prstGeom prst="rect">
            <a:avLst/>
          </a:prstGeom>
        </p:spPr>
      </p:pic>
      <p:sp>
        <p:nvSpPr>
          <p:cNvPr id="88" name="Shape 88"/>
          <p:cNvSpPr/>
          <p:nvPr/>
        </p:nvSpPr>
        <p:spPr>
          <a:xfrm>
            <a:off x="6267336" y="2345000"/>
            <a:ext cx="4833480" cy="4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pic>
        <p:nvPicPr>
          <p:cNvPr id="89" name="Picture 89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377505" y="2370000"/>
            <a:ext cx="239661" cy="350000"/>
          </a:xfrm>
          <a:prstGeom prst="rect">
            <a:avLst/>
          </a:prstGeom>
        </p:spPr>
      </p:pic>
      <p:sp>
        <p:nvSpPr>
          <p:cNvPr id="90" name="Shape 90"/>
          <p:cNvSpPr/>
          <p:nvPr/>
        </p:nvSpPr>
        <p:spPr>
          <a:xfrm>
            <a:off x="6707336" y="2330000"/>
            <a:ext cx="1150000" cy="43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18288" rIns="0" bIns="18288" rtlCol="0" anchor="ctr"/>
          <a:lstStyle/>
          <a:p>
            <a:pPr algn="l"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화분</a:t>
            </a:r>
          </a:p>
        </p:txBody>
      </p:sp>
      <p:cxnSp>
        <p:nvCxnSpPr>
          <p:cNvPr id="91" name="Connector 91"/>
          <p:cNvCxnSpPr/>
          <p:nvPr/>
        </p:nvCxnSpPr>
        <p:spPr>
          <a:xfrm>
            <a:off x="7867336" y="2545000"/>
            <a:ext cx="350000" cy="0"/>
          </a:xfrm>
          <a:prstGeom prst="straightConnector1">
            <a:avLst/>
          </a:prstGeom>
          <a:ln w="15875">
            <a:solidFill>
              <a:srgbClr val="E97132"/>
            </a:solidFill>
            <a:tailEnd type="triangle" w="med" len="med"/>
          </a:ln>
        </p:spPr>
      </p:cxnSp>
      <p:pic>
        <p:nvPicPr>
          <p:cNvPr id="92" name="Picture 92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379531" y="2375000"/>
            <a:ext cx="215609" cy="340000"/>
          </a:xfrm>
          <a:prstGeom prst="rect">
            <a:avLst/>
          </a:prstGeom>
        </p:spPr>
      </p:pic>
      <p:sp>
        <p:nvSpPr>
          <p:cNvPr id="93" name="Shape 93"/>
          <p:cNvSpPr/>
          <p:nvPr/>
        </p:nvSpPr>
        <p:spPr>
          <a:xfrm>
            <a:off x="6267336" y="2775000"/>
            <a:ext cx="4833480" cy="40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pic>
        <p:nvPicPr>
          <p:cNvPr id="94" name="Picture 94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6388420" y="2800000"/>
            <a:ext cx="217832" cy="350000"/>
          </a:xfrm>
          <a:prstGeom prst="rect">
            <a:avLst/>
          </a:prstGeom>
        </p:spPr>
      </p:pic>
      <p:sp>
        <p:nvSpPr>
          <p:cNvPr id="95" name="Shape 95"/>
          <p:cNvSpPr/>
          <p:nvPr/>
        </p:nvSpPr>
        <p:spPr>
          <a:xfrm>
            <a:off x="6707336" y="2760000"/>
            <a:ext cx="1150000" cy="43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18288" rIns="0" bIns="18288" rtlCol="0" anchor="ctr"/>
          <a:lstStyle/>
          <a:p>
            <a:pPr algn="l"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약품 드럼</a:t>
            </a:r>
          </a:p>
        </p:txBody>
      </p:sp>
      <p:cxnSp>
        <p:nvCxnSpPr>
          <p:cNvPr id="96" name="Connector 96"/>
          <p:cNvCxnSpPr/>
          <p:nvPr/>
        </p:nvCxnSpPr>
        <p:spPr>
          <a:xfrm>
            <a:off x="7867336" y="2975000"/>
            <a:ext cx="350000" cy="0"/>
          </a:xfrm>
          <a:prstGeom prst="straightConnector1">
            <a:avLst/>
          </a:prstGeom>
          <a:ln w="15875">
            <a:solidFill>
              <a:srgbClr val="E97132"/>
            </a:solidFill>
            <a:tailEnd type="triangle" w="med" len="med"/>
          </a:ln>
        </p:spPr>
      </p:cxnSp>
      <p:pic>
        <p:nvPicPr>
          <p:cNvPr id="97" name="Picture 97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8391637" y="2805000"/>
            <a:ext cx="191398" cy="340000"/>
          </a:xfrm>
          <a:prstGeom prst="rect">
            <a:avLst/>
          </a:prstGeom>
        </p:spPr>
      </p:pic>
      <p:sp>
        <p:nvSpPr>
          <p:cNvPr id="98" name="Shape 98"/>
          <p:cNvSpPr/>
          <p:nvPr/>
        </p:nvSpPr>
        <p:spPr>
          <a:xfrm>
            <a:off x="8647336" y="2760000"/>
            <a:ext cx="330000" cy="43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18288" rIns="0" bIns="18288" rtlCol="0" anchor="ctr"/>
          <a:lstStyle/>
          <a:p>
            <a:pPr algn="l"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×3</a:t>
            </a:r>
          </a:p>
        </p:txBody>
      </p:sp>
      <p:pic>
        <p:nvPicPr>
          <p:cNvPr id="99" name="Picture 9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68544" y="2805000"/>
            <a:ext cx="197584" cy="340000"/>
          </a:xfrm>
          <a:prstGeom prst="rect">
            <a:avLst/>
          </a:prstGeom>
        </p:spPr>
      </p:pic>
      <p:sp>
        <p:nvSpPr>
          <p:cNvPr id="100" name="Shape 100"/>
          <p:cNvSpPr/>
          <p:nvPr/>
        </p:nvSpPr>
        <p:spPr>
          <a:xfrm>
            <a:off x="6267336" y="3205000"/>
            <a:ext cx="4833480" cy="40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pic>
        <p:nvPicPr>
          <p:cNvPr id="101" name="Picture 101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6386132" y="3230000"/>
            <a:ext cx="222408" cy="350000"/>
          </a:xfrm>
          <a:prstGeom prst="rect">
            <a:avLst/>
          </a:prstGeom>
        </p:spPr>
      </p:pic>
      <p:sp>
        <p:nvSpPr>
          <p:cNvPr id="102" name="Shape 102"/>
          <p:cNvSpPr/>
          <p:nvPr/>
        </p:nvSpPr>
        <p:spPr>
          <a:xfrm>
            <a:off x="6707336" y="3190000"/>
            <a:ext cx="1150000" cy="43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18288" rIns="0" bIns="18288" rtlCol="0" anchor="ctr"/>
          <a:lstStyle/>
          <a:p>
            <a:pPr algn="l"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서버 랙</a:t>
            </a:r>
          </a:p>
        </p:txBody>
      </p:sp>
      <p:cxnSp>
        <p:nvCxnSpPr>
          <p:cNvPr id="103" name="Connector 103"/>
          <p:cNvCxnSpPr/>
          <p:nvPr/>
        </p:nvCxnSpPr>
        <p:spPr>
          <a:xfrm>
            <a:off x="7867336" y="3405000"/>
            <a:ext cx="350000" cy="0"/>
          </a:xfrm>
          <a:prstGeom prst="straightConnector1">
            <a:avLst/>
          </a:prstGeom>
          <a:ln w="15875">
            <a:solidFill>
              <a:srgbClr val="E97132"/>
            </a:solidFill>
            <a:tailEnd type="triangle" w="med" len="med"/>
          </a:ln>
        </p:spPr>
      </p:cxnSp>
      <p:pic>
        <p:nvPicPr>
          <p:cNvPr id="104" name="Picture 104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8317336" y="3268225"/>
            <a:ext cx="340000" cy="273550"/>
          </a:xfrm>
          <a:prstGeom prst="rect">
            <a:avLst/>
          </a:prstGeom>
        </p:spPr>
      </p:pic>
      <p:sp>
        <p:nvSpPr>
          <p:cNvPr id="105" name="Shape 105"/>
          <p:cNvSpPr/>
          <p:nvPr/>
        </p:nvSpPr>
        <p:spPr>
          <a:xfrm>
            <a:off x="8647336" y="3190000"/>
            <a:ext cx="330000" cy="43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18288" rIns="0" bIns="18288" rtlCol="0" anchor="ctr"/>
          <a:lstStyle/>
          <a:p>
            <a:pPr algn="l"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×2</a:t>
            </a:r>
          </a:p>
        </p:txBody>
      </p:sp>
      <p:pic>
        <p:nvPicPr>
          <p:cNvPr id="106" name="Picture 106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8997336" y="3292980"/>
            <a:ext cx="340000" cy="224039"/>
          </a:xfrm>
          <a:prstGeom prst="rect">
            <a:avLst/>
          </a:prstGeom>
        </p:spPr>
      </p:pic>
      <p:sp>
        <p:nvSpPr>
          <p:cNvPr id="107" name="Shape 107"/>
          <p:cNvSpPr/>
          <p:nvPr/>
        </p:nvSpPr>
        <p:spPr>
          <a:xfrm>
            <a:off x="9327336" y="3190000"/>
            <a:ext cx="330000" cy="43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18288" rIns="0" bIns="18288" rtlCol="0" anchor="ctr"/>
          <a:lstStyle/>
          <a:p>
            <a:pPr algn="l"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×2</a:t>
            </a:r>
          </a:p>
        </p:txBody>
      </p:sp>
      <p:sp>
        <p:nvSpPr>
          <p:cNvPr id="108" name="Shape 108"/>
          <p:cNvSpPr/>
          <p:nvPr/>
        </p:nvSpPr>
        <p:spPr>
          <a:xfrm>
            <a:off x="6267336" y="3635000"/>
            <a:ext cx="4833480" cy="400000"/>
          </a:xfrm>
          <a:prstGeom prst="rect">
            <a:avLst/>
          </a:prstGeom>
          <a:solidFill>
            <a:srgbClr val="FBE5D6"/>
          </a:solidFill>
          <a:ln w="12700">
            <a:solidFill>
              <a:srgbClr val="D9D9D9"/>
            </a:solidFill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pic>
        <p:nvPicPr>
          <p:cNvPr id="109" name="Picture 109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6343954" y="3660000"/>
            <a:ext cx="306764" cy="350000"/>
          </a:xfrm>
          <a:prstGeom prst="rect">
            <a:avLst/>
          </a:prstGeom>
        </p:spPr>
      </p:pic>
      <p:sp>
        <p:nvSpPr>
          <p:cNvPr id="110" name="Shape 110"/>
          <p:cNvSpPr/>
          <p:nvPr/>
        </p:nvSpPr>
        <p:spPr>
          <a:xfrm>
            <a:off x="6707336" y="3620000"/>
            <a:ext cx="1150000" cy="43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18288" rIns="0" bIns="18288" rtlCol="0" anchor="ctr"/>
          <a:lstStyle/>
          <a:p>
            <a:pPr algn="l"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치즈 금고</a:t>
            </a:r>
          </a:p>
        </p:txBody>
      </p:sp>
      <p:cxnSp>
        <p:nvCxnSpPr>
          <p:cNvPr id="111" name="Connector 111"/>
          <p:cNvCxnSpPr/>
          <p:nvPr/>
        </p:nvCxnSpPr>
        <p:spPr>
          <a:xfrm>
            <a:off x="7867336" y="3835000"/>
            <a:ext cx="350000" cy="0"/>
          </a:xfrm>
          <a:prstGeom prst="straightConnector1">
            <a:avLst/>
          </a:prstGeom>
          <a:ln w="15875">
            <a:solidFill>
              <a:srgbClr val="E97132"/>
            </a:solidFill>
            <a:tailEnd type="triangle" w="med" len="med"/>
          </a:ln>
        </p:spPr>
      </p:cxnSp>
      <p:pic>
        <p:nvPicPr>
          <p:cNvPr id="112" name="Picture 112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8317336" y="3717821"/>
            <a:ext cx="340000" cy="234357"/>
          </a:xfrm>
          <a:prstGeom prst="rect">
            <a:avLst/>
          </a:prstGeom>
        </p:spPr>
      </p:pic>
      <p:sp>
        <p:nvSpPr>
          <p:cNvPr id="113" name="Shape 113"/>
          <p:cNvSpPr/>
          <p:nvPr/>
        </p:nvSpPr>
        <p:spPr>
          <a:xfrm>
            <a:off x="8647336" y="3620000"/>
            <a:ext cx="330000" cy="43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18288" rIns="0" bIns="18288" rtlCol="0" anchor="ctr"/>
          <a:lstStyle/>
          <a:p>
            <a:pPr algn="l"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×2</a:t>
            </a:r>
          </a:p>
        </p:txBody>
      </p:sp>
      <p:pic>
        <p:nvPicPr>
          <p:cNvPr id="114" name="Picture 114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020257" y="3665000"/>
            <a:ext cx="294157" cy="340000"/>
          </a:xfrm>
          <a:prstGeom prst="rect">
            <a:avLst/>
          </a:prstGeom>
        </p:spPr>
      </p:pic>
      <p:pic>
        <p:nvPicPr>
          <p:cNvPr id="115" name="Picture 115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9677336" y="3695656"/>
            <a:ext cx="340000" cy="278688"/>
          </a:xfrm>
          <a:prstGeom prst="rect">
            <a:avLst/>
          </a:prstGeom>
        </p:spPr>
      </p:pic>
      <p:sp>
        <p:nvSpPr>
          <p:cNvPr id="116" name="Shape 116"/>
          <p:cNvSpPr/>
          <p:nvPr/>
        </p:nvSpPr>
        <p:spPr>
          <a:xfrm>
            <a:off x="6267336" y="4065000"/>
            <a:ext cx="4833480" cy="400000"/>
          </a:xfrm>
          <a:prstGeom prst="rect">
            <a:avLst/>
          </a:prstGeom>
          <a:solidFill>
            <a:srgbClr val="FBE5D6"/>
          </a:solidFill>
          <a:ln w="12700">
            <a:solidFill>
              <a:srgbClr val="D9D9D9"/>
            </a:solidFill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pic>
        <p:nvPicPr>
          <p:cNvPr id="117" name="Picture 117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6330600" y="4090000"/>
            <a:ext cx="333472" cy="350000"/>
          </a:xfrm>
          <a:prstGeom prst="rect">
            <a:avLst/>
          </a:prstGeom>
        </p:spPr>
      </p:pic>
      <p:sp>
        <p:nvSpPr>
          <p:cNvPr id="118" name="Shape 118"/>
          <p:cNvSpPr/>
          <p:nvPr/>
        </p:nvSpPr>
        <p:spPr>
          <a:xfrm>
            <a:off x="6707336" y="4050000"/>
            <a:ext cx="1150000" cy="43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18288" rIns="0" bIns="18288" rtlCol="0" anchor="ctr"/>
          <a:lstStyle/>
          <a:p>
            <a:pPr algn="l"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실험용 로봇 팔</a:t>
            </a:r>
          </a:p>
        </p:txBody>
      </p:sp>
      <p:cxnSp>
        <p:nvCxnSpPr>
          <p:cNvPr id="119" name="Connector 119"/>
          <p:cNvCxnSpPr/>
          <p:nvPr/>
        </p:nvCxnSpPr>
        <p:spPr>
          <a:xfrm>
            <a:off x="7867336" y="4265000"/>
            <a:ext cx="350000" cy="0"/>
          </a:xfrm>
          <a:prstGeom prst="straightConnector1">
            <a:avLst/>
          </a:prstGeom>
          <a:ln w="15875">
            <a:solidFill>
              <a:srgbClr val="E97132"/>
            </a:solidFill>
            <a:tailEnd type="triangle" w="med" len="med"/>
          </a:ln>
        </p:spPr>
      </p:cxnSp>
      <p:pic>
        <p:nvPicPr>
          <p:cNvPr id="120" name="Picture 120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8317336" y="4120531"/>
            <a:ext cx="340000" cy="288937"/>
          </a:xfrm>
          <a:prstGeom prst="rect">
            <a:avLst/>
          </a:prstGeom>
        </p:spPr>
      </p:pic>
      <p:sp>
        <p:nvSpPr>
          <p:cNvPr id="121" name="Shape 121"/>
          <p:cNvSpPr/>
          <p:nvPr/>
        </p:nvSpPr>
        <p:spPr>
          <a:xfrm>
            <a:off x="8647336" y="4050000"/>
            <a:ext cx="330000" cy="43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18288" rIns="0" bIns="18288" rtlCol="0" anchor="ctr"/>
          <a:lstStyle/>
          <a:p>
            <a:pPr algn="l"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×2</a:t>
            </a:r>
          </a:p>
        </p:txBody>
      </p:sp>
      <p:pic>
        <p:nvPicPr>
          <p:cNvPr id="122" name="Picture 122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8997336" y="4152980"/>
            <a:ext cx="340000" cy="224039"/>
          </a:xfrm>
          <a:prstGeom prst="rect">
            <a:avLst/>
          </a:prstGeom>
        </p:spPr>
      </p:pic>
      <p:sp>
        <p:nvSpPr>
          <p:cNvPr id="123" name="Shape 123"/>
          <p:cNvSpPr/>
          <p:nvPr/>
        </p:nvSpPr>
        <p:spPr>
          <a:xfrm>
            <a:off x="6267336" y="4495000"/>
            <a:ext cx="4833480" cy="400000"/>
          </a:xfrm>
          <a:prstGeom prst="rect">
            <a:avLst/>
          </a:prstGeom>
          <a:solidFill>
            <a:srgbClr val="FBE5D6"/>
          </a:solidFill>
          <a:ln w="12700">
            <a:solidFill>
              <a:srgbClr val="D9D9D9"/>
            </a:solidFill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pic>
        <p:nvPicPr>
          <p:cNvPr id="124" name="Picture 124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6393794" y="4520000"/>
            <a:ext cx="207083" cy="350000"/>
          </a:xfrm>
          <a:prstGeom prst="rect">
            <a:avLst/>
          </a:prstGeom>
        </p:spPr>
      </p:pic>
      <p:sp>
        <p:nvSpPr>
          <p:cNvPr id="125" name="Shape 125"/>
          <p:cNvSpPr/>
          <p:nvPr/>
        </p:nvSpPr>
        <p:spPr>
          <a:xfrm>
            <a:off x="6707336" y="4480000"/>
            <a:ext cx="1150000" cy="43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18288" rIns="0" bIns="18288" rtlCol="0" anchor="ctr"/>
          <a:lstStyle/>
          <a:p>
            <a:pPr algn="l"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냉동 수면 캡슐</a:t>
            </a:r>
          </a:p>
        </p:txBody>
      </p:sp>
      <p:cxnSp>
        <p:nvCxnSpPr>
          <p:cNvPr id="126" name="Connector 126"/>
          <p:cNvCxnSpPr/>
          <p:nvPr/>
        </p:nvCxnSpPr>
        <p:spPr>
          <a:xfrm>
            <a:off x="7867336" y="4695000"/>
            <a:ext cx="350000" cy="0"/>
          </a:xfrm>
          <a:prstGeom prst="straightConnector1">
            <a:avLst/>
          </a:prstGeom>
          <a:ln w="15875">
            <a:solidFill>
              <a:srgbClr val="E97132"/>
            </a:solidFill>
            <a:tailEnd type="triangle" w="med" len="med"/>
          </a:ln>
        </p:spPr>
      </p:cxnSp>
      <p:pic>
        <p:nvPicPr>
          <p:cNvPr id="127" name="Picture 127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8352051" y="4525000"/>
            <a:ext cx="270570" cy="340000"/>
          </a:xfrm>
          <a:prstGeom prst="rect">
            <a:avLst/>
          </a:prstGeom>
        </p:spPr>
      </p:pic>
      <p:sp>
        <p:nvSpPr>
          <p:cNvPr id="128" name="Shape 128"/>
          <p:cNvSpPr/>
          <p:nvPr/>
        </p:nvSpPr>
        <p:spPr>
          <a:xfrm>
            <a:off x="8647336" y="4480000"/>
            <a:ext cx="330000" cy="43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18288" rIns="0" bIns="18288" rtlCol="0" anchor="ctr"/>
          <a:lstStyle/>
          <a:p>
            <a:pPr algn="l"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×3</a:t>
            </a:r>
          </a:p>
        </p:txBody>
      </p:sp>
      <p:pic>
        <p:nvPicPr>
          <p:cNvPr id="129" name="Picture 129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9063265" y="4525000"/>
            <a:ext cx="208141" cy="340000"/>
          </a:xfrm>
          <a:prstGeom prst="rect">
            <a:avLst/>
          </a:prstGeom>
        </p:spPr>
      </p:pic>
      <p:sp>
        <p:nvSpPr>
          <p:cNvPr id="130" name="Shape 130"/>
          <p:cNvSpPr/>
          <p:nvPr/>
        </p:nvSpPr>
        <p:spPr>
          <a:xfrm>
            <a:off x="6267336" y="4925000"/>
            <a:ext cx="4833480" cy="400000"/>
          </a:xfrm>
          <a:prstGeom prst="rect">
            <a:avLst/>
          </a:prstGeom>
          <a:solidFill>
            <a:srgbClr val="FBE5D6"/>
          </a:solidFill>
          <a:ln w="12700">
            <a:solidFill>
              <a:srgbClr val="D9D9D9"/>
            </a:solidFill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pic>
        <p:nvPicPr>
          <p:cNvPr id="131" name="Picture 131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6343239" y="4950000"/>
            <a:ext cx="308194" cy="350000"/>
          </a:xfrm>
          <a:prstGeom prst="rect">
            <a:avLst/>
          </a:prstGeom>
        </p:spPr>
      </p:pic>
      <p:sp>
        <p:nvSpPr>
          <p:cNvPr id="132" name="Shape 132"/>
          <p:cNvSpPr/>
          <p:nvPr/>
        </p:nvSpPr>
        <p:spPr>
          <a:xfrm>
            <a:off x="6707336" y="4910000"/>
            <a:ext cx="1150000" cy="43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18288" rIns="0" bIns="18288" rtlCol="0" anchor="ctr"/>
          <a:lstStyle/>
          <a:p>
            <a:pPr algn="l"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거대 치즈 바퀴</a:t>
            </a:r>
          </a:p>
        </p:txBody>
      </p:sp>
      <p:cxnSp>
        <p:nvCxnSpPr>
          <p:cNvPr id="133" name="Connector 133"/>
          <p:cNvCxnSpPr/>
          <p:nvPr/>
        </p:nvCxnSpPr>
        <p:spPr>
          <a:xfrm>
            <a:off x="7867336" y="5125000"/>
            <a:ext cx="350000" cy="0"/>
          </a:xfrm>
          <a:prstGeom prst="straightConnector1">
            <a:avLst/>
          </a:prstGeom>
          <a:ln w="15875">
            <a:solidFill>
              <a:srgbClr val="E97132"/>
            </a:solidFill>
            <a:tailEnd type="triangle" w="med" len="med"/>
          </a:ln>
        </p:spPr>
      </p:cxnSp>
      <p:pic>
        <p:nvPicPr>
          <p:cNvPr id="134" name="Picture 134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8317336" y="4985656"/>
            <a:ext cx="340000" cy="278688"/>
          </a:xfrm>
          <a:prstGeom prst="rect">
            <a:avLst/>
          </a:prstGeom>
        </p:spPr>
      </p:pic>
      <p:sp>
        <p:nvSpPr>
          <p:cNvPr id="135" name="Shape 135"/>
          <p:cNvSpPr/>
          <p:nvPr/>
        </p:nvSpPr>
        <p:spPr>
          <a:xfrm>
            <a:off x="8647336" y="4910000"/>
            <a:ext cx="330000" cy="43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18288" rIns="0" bIns="18288" rtlCol="0" anchor="ctr"/>
          <a:lstStyle/>
          <a:p>
            <a:pPr algn="l"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×4</a:t>
            </a:r>
          </a:p>
        </p:txBody>
      </p:sp>
      <p:sp>
        <p:nvSpPr>
          <p:cNvPr id="136" name="Shape 136"/>
          <p:cNvSpPr/>
          <p:nvPr/>
        </p:nvSpPr>
        <p:spPr>
          <a:xfrm>
            <a:off x="6267336" y="5355000"/>
            <a:ext cx="4833480" cy="400000"/>
          </a:xfrm>
          <a:prstGeom prst="rect">
            <a:avLst/>
          </a:prstGeom>
          <a:solidFill>
            <a:srgbClr val="FBE5D6"/>
          </a:solidFill>
          <a:ln w="12700">
            <a:solidFill>
              <a:srgbClr val="D9D9D9"/>
            </a:solidFill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pic>
        <p:nvPicPr>
          <p:cNvPr id="137" name="Picture 137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6307336" y="5388889"/>
            <a:ext cx="380000" cy="332222"/>
          </a:xfrm>
          <a:prstGeom prst="rect">
            <a:avLst/>
          </a:prstGeom>
        </p:spPr>
      </p:pic>
      <p:sp>
        <p:nvSpPr>
          <p:cNvPr id="138" name="Shape 138"/>
          <p:cNvSpPr/>
          <p:nvPr/>
        </p:nvSpPr>
        <p:spPr>
          <a:xfrm>
            <a:off x="6707336" y="5340000"/>
            <a:ext cx="1150000" cy="43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18288" rIns="0" bIns="18288" rtlCol="0" anchor="ctr"/>
          <a:lstStyle/>
          <a:p>
            <a:pPr algn="l"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금괴 상자</a:t>
            </a:r>
          </a:p>
        </p:txBody>
      </p:sp>
      <p:cxnSp>
        <p:nvCxnSpPr>
          <p:cNvPr id="139" name="Connector 139"/>
          <p:cNvCxnSpPr/>
          <p:nvPr/>
        </p:nvCxnSpPr>
        <p:spPr>
          <a:xfrm>
            <a:off x="7867336" y="5555000"/>
            <a:ext cx="350000" cy="0"/>
          </a:xfrm>
          <a:prstGeom prst="straightConnector1">
            <a:avLst/>
          </a:prstGeom>
          <a:ln w="15875">
            <a:solidFill>
              <a:srgbClr val="E97132"/>
            </a:solidFill>
            <a:tailEnd type="triangle" w="med" len="med"/>
          </a:ln>
        </p:spPr>
      </p:cxnSp>
      <p:pic>
        <p:nvPicPr>
          <p:cNvPr id="140" name="Picture 140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8317336" y="5436183"/>
            <a:ext cx="340000" cy="237634"/>
          </a:xfrm>
          <a:prstGeom prst="rect">
            <a:avLst/>
          </a:prstGeom>
        </p:spPr>
      </p:pic>
      <p:sp>
        <p:nvSpPr>
          <p:cNvPr id="141" name="Shape 141"/>
          <p:cNvSpPr/>
          <p:nvPr/>
        </p:nvSpPr>
        <p:spPr>
          <a:xfrm>
            <a:off x="8647336" y="5340000"/>
            <a:ext cx="330000" cy="43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18288" rIns="0" bIns="18288" rtlCol="0" anchor="ctr"/>
          <a:lstStyle/>
          <a:p>
            <a:pPr algn="l"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×3</a:t>
            </a:r>
          </a:p>
        </p:txBody>
      </p:sp>
      <p:pic>
        <p:nvPicPr>
          <p:cNvPr id="142" name="Picture 142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020257" y="5385000"/>
            <a:ext cx="294157" cy="340000"/>
          </a:xfrm>
          <a:prstGeom prst="rect">
            <a:avLst/>
          </a:prstGeom>
        </p:spPr>
      </p:pic>
      <p:sp>
        <p:nvSpPr>
          <p:cNvPr id="143" name="Shape 143"/>
          <p:cNvSpPr/>
          <p:nvPr/>
        </p:nvSpPr>
        <p:spPr>
          <a:xfrm>
            <a:off x="6267336" y="5785000"/>
            <a:ext cx="4833480" cy="400000"/>
          </a:xfrm>
          <a:prstGeom prst="rect">
            <a:avLst/>
          </a:prstGeom>
          <a:solidFill>
            <a:srgbClr val="FBE5D6"/>
          </a:solidFill>
          <a:ln w="12700">
            <a:solidFill>
              <a:srgbClr val="D9D9D9"/>
            </a:solidFill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pic>
        <p:nvPicPr>
          <p:cNvPr id="144" name="Picture 144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6373864" y="5810000"/>
            <a:ext cx="246944" cy="350000"/>
          </a:xfrm>
          <a:prstGeom prst="rect">
            <a:avLst/>
          </a:prstGeom>
        </p:spPr>
      </p:pic>
      <p:sp>
        <p:nvSpPr>
          <p:cNvPr id="145" name="Shape 145"/>
          <p:cNvSpPr/>
          <p:nvPr/>
        </p:nvSpPr>
        <p:spPr>
          <a:xfrm>
            <a:off x="6707336" y="5770000"/>
            <a:ext cx="1150000" cy="43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18288" rIns="0" bIns="18288" rtlCol="0" anchor="ctr"/>
          <a:lstStyle/>
          <a:p>
            <a:pPr algn="l"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데이터 코어</a:t>
            </a:r>
          </a:p>
        </p:txBody>
      </p:sp>
      <p:cxnSp>
        <p:nvCxnSpPr>
          <p:cNvPr id="146" name="Connector 146"/>
          <p:cNvCxnSpPr/>
          <p:nvPr/>
        </p:nvCxnSpPr>
        <p:spPr>
          <a:xfrm>
            <a:off x="7867336" y="5985000"/>
            <a:ext cx="350000" cy="0"/>
          </a:xfrm>
          <a:prstGeom prst="straightConnector1">
            <a:avLst/>
          </a:prstGeom>
          <a:ln w="15875">
            <a:solidFill>
              <a:srgbClr val="E97132"/>
            </a:solidFill>
            <a:tailEnd type="triangle" w="med" len="med"/>
          </a:ln>
        </p:spPr>
      </p:cxnSp>
      <p:pic>
        <p:nvPicPr>
          <p:cNvPr id="147" name="Picture 147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8317336" y="5872980"/>
            <a:ext cx="340000" cy="224039"/>
          </a:xfrm>
          <a:prstGeom prst="rect">
            <a:avLst/>
          </a:prstGeom>
        </p:spPr>
      </p:pic>
      <p:sp>
        <p:nvSpPr>
          <p:cNvPr id="148" name="Shape 148"/>
          <p:cNvSpPr/>
          <p:nvPr/>
        </p:nvSpPr>
        <p:spPr>
          <a:xfrm>
            <a:off x="8647336" y="5770000"/>
            <a:ext cx="330000" cy="43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18288" rIns="0" bIns="18288" rtlCol="0" anchor="ctr"/>
          <a:lstStyle/>
          <a:p>
            <a:pPr algn="l"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×2</a:t>
            </a:r>
          </a:p>
        </p:txBody>
      </p:sp>
      <p:pic>
        <p:nvPicPr>
          <p:cNvPr id="149" name="Picture 149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8997336" y="5848225"/>
            <a:ext cx="340000" cy="273550"/>
          </a:xfrm>
          <a:prstGeom prst="rect">
            <a:avLst/>
          </a:prstGeom>
        </p:spPr>
      </p:pic>
      <p:sp>
        <p:nvSpPr>
          <p:cNvPr id="150" name="TextBox 150"/>
          <p:cNvSpPr txBox="1"/>
          <p:nvPr/>
        </p:nvSpPr>
        <p:spPr>
          <a:xfrm>
            <a:off x="1133856" y="6250000"/>
            <a:ext cx="9966960" cy="23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ko-KR" altLang="en-US" sz="10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흰 칸 = 가구 · 회색 칸 = 대형 물건 · 주황 칸 = 보물 · 쏟아진 물건은 등장 층 · 해금과 무관하게 생성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200" b="0" dirty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오브젝트 명세</a:t>
            </a:r>
            <a:r>
              <a:rPr lang="ko-KR" altLang="en-US" sz="2400" b="0" dirty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사람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1"/>
          <p:cNvSpPr/>
          <p:nvPr/>
        </p:nvSpPr>
        <p:spPr>
          <a:xfrm>
            <a:off x="1133856" y="1330977"/>
            <a:ext cx="9966960" cy="502920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lIns="109728" tIns="36576" rIns="109728" bIns="36576" rtlCol="0" anchor="ctr"/>
          <a:lstStyle/>
          <a:p>
            <a:pPr algn="l">
              <a:spcAft>
                <a:spcPts val="300"/>
              </a:spcAft>
              <a:buNone/>
            </a:pPr>
            <a:r>
              <a:rPr lang="ko-KR" altLang="en-US" sz="14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걷다가 쥐를 보면 도망치는 움직이는 표적 — 날아가며 물건 · 사람을 들이받음</a:t>
            </a:r>
          </a:p>
        </p:txBody>
      </p:sp>
      <p:graphicFrame>
        <p:nvGraphicFramePr>
          <p:cNvPr id="12" name="Table 12"/>
          <p:cNvGraphicFramePr>
            <a:graphicFrameLocks noGrp="1"/>
          </p:cNvGraphicFramePr>
          <p:nvPr/>
        </p:nvGraphicFramePr>
        <p:xfrm>
          <a:off x="1133856" y="1950000"/>
          <a:ext cx="9966960" cy="15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54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2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39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39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585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5857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5083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5083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7239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0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사람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ID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체력 배율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치즈 배율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실제 체력 (×3)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실제 치즈 (×2)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효율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속도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등장 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연구원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90001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1.33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청소부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90002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3.5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10.5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1.14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×0.9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경비원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90003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1.20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×1.1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요리사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90004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1.33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×0.95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Rectangle 13"/>
          <p:cNvSpPr/>
          <p:nvPr/>
        </p:nvSpPr>
        <p:spPr>
          <a:xfrm>
            <a:off x="1133856" y="3650000"/>
            <a:ext cx="4833480" cy="23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txBody>
          <a:bodyPr wrap="square" lIns="73152" tIns="36576" rIns="73152" bIns="36576" rtlCol="0" anchor="ctr"/>
          <a:lstStyle/>
          <a:p>
            <a:pPr algn="ctr"/>
            <a:endParaRPr lang="ko-KR" altLang="en-US"/>
          </a:p>
        </p:txBody>
      </p:sp>
      <p:sp>
        <p:nvSpPr>
          <p:cNvPr id="14" name="Rectangle 14"/>
          <p:cNvSpPr/>
          <p:nvPr/>
        </p:nvSpPr>
        <p:spPr>
          <a:xfrm>
            <a:off x="1283856" y="3800000"/>
            <a:ext cx="380000" cy="38000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txBody>
          <a:bodyPr wrap="square" lIns="0" tIns="36576" rIns="0" bIns="36576" rtlCol="0" anchor="ctr"/>
          <a:lstStyle/>
          <a:p>
            <a:pPr algn="ctr">
              <a:spcAft>
                <a:spcPts val="200"/>
              </a:spcAft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733856" y="3800000"/>
            <a:ext cx="413348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ko-KR" altLang="en-US" sz="14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등장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33856" y="4270000"/>
            <a:ext cx="450348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ko-KR" altLang="en-US" sz="105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층 시작: 1층 1명 · 그 위 2명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ko-KR" altLang="en-US" sz="105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방이 열릴 때 1~2명 (계단 방 제외)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ko-KR" altLang="en-US" sz="105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18~30초마다 1명 보충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ko-KR" altLang="en-US" sz="105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돌아다니는 사람 &lt; 최소 인원(2 + 층÷6)이면 2.5~4.5초마다 빠른 보충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ko-KR" altLang="en-US" sz="105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동시 상한 min(12, 4 + 층 × 0.4) · 종류는 균등 랜덤</a:t>
            </a:r>
          </a:p>
        </p:txBody>
      </p:sp>
      <p:sp>
        <p:nvSpPr>
          <p:cNvPr id="17" name="Rectangle 17"/>
          <p:cNvSpPr/>
          <p:nvPr/>
        </p:nvSpPr>
        <p:spPr>
          <a:xfrm>
            <a:off x="6267336" y="3650000"/>
            <a:ext cx="4833480" cy="23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txBody>
          <a:bodyPr wrap="square" lIns="73152" tIns="36576" rIns="73152" bIns="36576" rtlCol="0" anchor="ctr"/>
          <a:lstStyle/>
          <a:p>
            <a:pPr algn="ctr"/>
            <a:endParaRPr lang="ko-KR" altLang="en-US"/>
          </a:p>
        </p:txBody>
      </p:sp>
      <p:sp>
        <p:nvSpPr>
          <p:cNvPr id="18" name="Rectangle 18"/>
          <p:cNvSpPr/>
          <p:nvPr/>
        </p:nvSpPr>
        <p:spPr>
          <a:xfrm>
            <a:off x="6417336" y="3800000"/>
            <a:ext cx="380000" cy="38000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txBody>
          <a:bodyPr wrap="square" lIns="0" tIns="36576" rIns="0" bIns="36576" rtlCol="0" anchor="ctr"/>
          <a:lstStyle/>
          <a:p>
            <a:pPr algn="ctr">
              <a:spcAft>
                <a:spcPts val="200"/>
              </a:spcAft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867336" y="3800000"/>
            <a:ext cx="413348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ko-KR" altLang="en-US" sz="14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행동 · 보상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467336" y="4270000"/>
            <a:ext cx="450348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ko-KR" altLang="en-US" sz="105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쥐 240 이내 → 기겁 · 420 거리 안에서 도망 · 피격 범위 = 몸 그림 전체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ko-KR" altLang="en-US" sz="105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체력 0 → 날아감 → 벽에 철퍼덕 1회 → 2~3번 통통 (착지 충격파) → 펑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ko-KR" altLang="en-US" sz="105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날아가며 맞힌 물건 치즈 30% · 다른 사람은 즉시 날아감 (스트라이크)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ko-KR" altLang="en-US" sz="105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펑: 치즈 × (1 + 0.5 × 공중 횟수) · 콤보 +2 · 연구자료 없음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200" b="0" dirty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오브젝트 명세</a:t>
            </a:r>
            <a:r>
              <a:rPr lang="ko-KR" altLang="en-US" sz="2400" b="0" dirty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사람 행동 흐름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1"/>
          <p:cNvSpPr/>
          <p:nvPr/>
        </p:nvSpPr>
        <p:spPr>
          <a:xfrm>
            <a:off x="1133856" y="1330977"/>
            <a:ext cx="9966960" cy="502920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lIns="109728" tIns="36576" rIns="109728" bIns="36576" rtlCol="0" anchor="ctr"/>
          <a:lstStyle/>
          <a:p>
            <a:pPr algn="l">
              <a:spcAft>
                <a:spcPts val="300"/>
              </a:spcAft>
              <a:buNone/>
            </a:pPr>
            <a:r>
              <a:rPr lang="ko-KR" altLang="en-US" sz="14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걷기부터 펑까지 — 체력 0 이후의 비행 · 튕김이 보상 연출이자 추가 피해</a:t>
            </a:r>
          </a:p>
        </p:txBody>
      </p:sp>
      <p:sp>
        <p:nvSpPr>
          <p:cNvPr id="12" name="Shape 12"/>
          <p:cNvSpPr/>
          <p:nvPr/>
        </p:nvSpPr>
        <p:spPr>
          <a:xfrm>
            <a:off x="1133856" y="1950000"/>
            <a:ext cx="1361160" cy="15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626" y="2030000"/>
            <a:ext cx="581619" cy="620000"/>
          </a:xfrm>
          <a:prstGeom prst="rect">
            <a:avLst/>
          </a:prstGeom>
        </p:spPr>
      </p:pic>
      <p:sp>
        <p:nvSpPr>
          <p:cNvPr id="14" name="Shape 14"/>
          <p:cNvSpPr/>
          <p:nvPr/>
        </p:nvSpPr>
        <p:spPr>
          <a:xfrm>
            <a:off x="1133856" y="2670000"/>
            <a:ext cx="1361160" cy="80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12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걷기</a:t>
            </a:r>
          </a:p>
          <a:p>
            <a:pPr algn="ctr">
              <a:spcAft>
                <a:spcPts val="0"/>
              </a:spcAft>
              <a:buNone/>
            </a:pPr>
            <a:r>
              <a:rPr lang="ko-KR" altLang="en-US" sz="85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1.5~4초마다</a:t>
            </a:r>
          </a:p>
          <a:p>
            <a:pPr algn="ctr">
              <a:spcAft>
                <a:spcPts val="0"/>
              </a:spcAft>
              <a:buNone/>
            </a:pPr>
            <a:r>
              <a:rPr lang="ko-KR" altLang="en-US" sz="85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방향 전환</a:t>
            </a:r>
          </a:p>
        </p:txBody>
      </p:sp>
      <p:sp>
        <p:nvSpPr>
          <p:cNvPr id="15" name="Shape 15"/>
          <p:cNvSpPr/>
          <p:nvPr/>
        </p:nvSpPr>
        <p:spPr>
          <a:xfrm>
            <a:off x="2525016" y="2600000"/>
            <a:ext cx="240000" cy="250000"/>
          </a:xfrm>
          <a:prstGeom prst="rightArrow">
            <a:avLst/>
          </a:prstGeom>
          <a:solidFill>
            <a:srgbClr val="A6A6A6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16" name="Shape 16"/>
          <p:cNvSpPr/>
          <p:nvPr/>
        </p:nvSpPr>
        <p:spPr>
          <a:xfrm>
            <a:off x="2295016" y="2330000"/>
            <a:ext cx="700000" cy="25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18288" rIns="0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750" b="1" dirty="0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쥐 접근</a:t>
            </a:r>
          </a:p>
        </p:txBody>
      </p:sp>
      <p:sp>
        <p:nvSpPr>
          <p:cNvPr id="17" name="Shape 17"/>
          <p:cNvSpPr/>
          <p:nvPr/>
        </p:nvSpPr>
        <p:spPr>
          <a:xfrm>
            <a:off x="2795016" y="1950000"/>
            <a:ext cx="1361160" cy="15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1463" y="2030000"/>
            <a:ext cx="628266" cy="620000"/>
          </a:xfrm>
          <a:prstGeom prst="rect">
            <a:avLst/>
          </a:prstGeom>
        </p:spPr>
      </p:pic>
      <p:sp>
        <p:nvSpPr>
          <p:cNvPr id="19" name="Shape 19"/>
          <p:cNvSpPr/>
          <p:nvPr/>
        </p:nvSpPr>
        <p:spPr>
          <a:xfrm>
            <a:off x="2795016" y="2670000"/>
            <a:ext cx="1361160" cy="80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12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기겁 · 도망</a:t>
            </a:r>
          </a:p>
          <a:p>
            <a:pPr algn="ctr">
              <a:spcAft>
                <a:spcPts val="0"/>
              </a:spcAft>
              <a:buNone/>
            </a:pPr>
            <a:r>
              <a:rPr lang="ko-KR" altLang="en-US" sz="85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쥐 240 이내</a:t>
            </a:r>
          </a:p>
          <a:p>
            <a:pPr algn="ctr">
              <a:spcAft>
                <a:spcPts val="0"/>
              </a:spcAft>
              <a:buNone/>
            </a:pPr>
            <a:r>
              <a:rPr lang="ko-KR" altLang="en-US" sz="85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420 안에서 도망</a:t>
            </a:r>
          </a:p>
        </p:txBody>
      </p:sp>
      <p:sp>
        <p:nvSpPr>
          <p:cNvPr id="20" name="Shape 20"/>
          <p:cNvSpPr/>
          <p:nvPr/>
        </p:nvSpPr>
        <p:spPr>
          <a:xfrm>
            <a:off x="4186176" y="2600000"/>
            <a:ext cx="240000" cy="250000"/>
          </a:xfrm>
          <a:prstGeom prst="rightArrow">
            <a:avLst/>
          </a:prstGeom>
          <a:solidFill>
            <a:srgbClr val="A6A6A6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21" name="Shape 21"/>
          <p:cNvSpPr/>
          <p:nvPr/>
        </p:nvSpPr>
        <p:spPr>
          <a:xfrm>
            <a:off x="3956176" y="2330000"/>
            <a:ext cx="700000" cy="25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18288" rIns="0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750" b="1" dirty="0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체력 0</a:t>
            </a:r>
          </a:p>
        </p:txBody>
      </p:sp>
      <p:sp>
        <p:nvSpPr>
          <p:cNvPr id="22" name="Shape 22"/>
          <p:cNvSpPr/>
          <p:nvPr/>
        </p:nvSpPr>
        <p:spPr>
          <a:xfrm>
            <a:off x="4456176" y="1950000"/>
            <a:ext cx="1361160" cy="15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6077" y="2030000"/>
            <a:ext cx="701357" cy="620000"/>
          </a:xfrm>
          <a:prstGeom prst="rect">
            <a:avLst/>
          </a:prstGeom>
        </p:spPr>
      </p:pic>
      <p:sp>
        <p:nvSpPr>
          <p:cNvPr id="24" name="Shape 24"/>
          <p:cNvSpPr/>
          <p:nvPr/>
        </p:nvSpPr>
        <p:spPr>
          <a:xfrm>
            <a:off x="4456176" y="2670000"/>
            <a:ext cx="1361160" cy="80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12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날아감</a:t>
            </a:r>
          </a:p>
          <a:p>
            <a:pPr algn="ctr">
              <a:spcAft>
                <a:spcPts val="0"/>
              </a:spcAft>
              <a:buNone/>
            </a:pPr>
            <a:r>
              <a:rPr lang="ko-KR" altLang="en-US" sz="85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물건 · 사람</a:t>
            </a:r>
          </a:p>
          <a:p>
            <a:pPr algn="ctr">
              <a:spcAft>
                <a:spcPts val="0"/>
              </a:spcAft>
              <a:buNone/>
            </a:pPr>
            <a:r>
              <a:rPr lang="ko-KR" altLang="en-US" sz="85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들이받음</a:t>
            </a:r>
          </a:p>
        </p:txBody>
      </p:sp>
      <p:sp>
        <p:nvSpPr>
          <p:cNvPr id="25" name="Shape 25"/>
          <p:cNvSpPr/>
          <p:nvPr/>
        </p:nvSpPr>
        <p:spPr>
          <a:xfrm>
            <a:off x="5847336" y="2600000"/>
            <a:ext cx="240000" cy="250000"/>
          </a:xfrm>
          <a:prstGeom prst="rightArrow">
            <a:avLst/>
          </a:prstGeom>
          <a:solidFill>
            <a:srgbClr val="A6A6A6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26" name="Shape 26"/>
          <p:cNvSpPr/>
          <p:nvPr/>
        </p:nvSpPr>
        <p:spPr>
          <a:xfrm>
            <a:off x="5617336" y="2330000"/>
            <a:ext cx="700000" cy="25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18288" rIns="0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750" b="1" dirty="0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벽 충돌</a:t>
            </a:r>
          </a:p>
        </p:txBody>
      </p:sp>
      <p:sp>
        <p:nvSpPr>
          <p:cNvPr id="27" name="Shape 27"/>
          <p:cNvSpPr/>
          <p:nvPr/>
        </p:nvSpPr>
        <p:spPr>
          <a:xfrm>
            <a:off x="6117336" y="1950000"/>
            <a:ext cx="1361160" cy="15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3215" y="2030000"/>
            <a:ext cx="609401" cy="620000"/>
          </a:xfrm>
          <a:prstGeom prst="rect">
            <a:avLst/>
          </a:prstGeom>
        </p:spPr>
      </p:pic>
      <p:sp>
        <p:nvSpPr>
          <p:cNvPr id="29" name="Shape 29"/>
          <p:cNvSpPr/>
          <p:nvPr/>
        </p:nvSpPr>
        <p:spPr>
          <a:xfrm>
            <a:off x="6117336" y="2670000"/>
            <a:ext cx="1361160" cy="80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12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철퍼덕</a:t>
            </a:r>
          </a:p>
          <a:p>
            <a:pPr algn="ctr">
              <a:spcAft>
                <a:spcPts val="0"/>
              </a:spcAft>
              <a:buNone/>
            </a:pPr>
            <a:r>
              <a:rPr lang="ko-KR" altLang="en-US" sz="85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벽에 1회</a:t>
            </a:r>
          </a:p>
          <a:p>
            <a:pPr algn="ctr">
              <a:spcAft>
                <a:spcPts val="0"/>
              </a:spcAft>
              <a:buNone/>
            </a:pPr>
            <a:r>
              <a:rPr lang="ko-KR" altLang="en-US" sz="85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0.7초</a:t>
            </a:r>
          </a:p>
        </p:txBody>
      </p:sp>
      <p:sp>
        <p:nvSpPr>
          <p:cNvPr id="30" name="Shape 30"/>
          <p:cNvSpPr/>
          <p:nvPr/>
        </p:nvSpPr>
        <p:spPr>
          <a:xfrm>
            <a:off x="7508496" y="2600000"/>
            <a:ext cx="240000" cy="250000"/>
          </a:xfrm>
          <a:prstGeom prst="rightArrow">
            <a:avLst/>
          </a:prstGeom>
          <a:solidFill>
            <a:srgbClr val="A6A6A6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31" name="Shape 31"/>
          <p:cNvSpPr/>
          <p:nvPr/>
        </p:nvSpPr>
        <p:spPr>
          <a:xfrm>
            <a:off x="7278496" y="2330000"/>
            <a:ext cx="700000" cy="25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18288" rIns="0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750" b="1" dirty="0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튕김</a:t>
            </a:r>
          </a:p>
        </p:txBody>
      </p:sp>
      <p:sp>
        <p:nvSpPr>
          <p:cNvPr id="32" name="Shape 32"/>
          <p:cNvSpPr/>
          <p:nvPr/>
        </p:nvSpPr>
        <p:spPr>
          <a:xfrm>
            <a:off x="7778496" y="1950000"/>
            <a:ext cx="1361160" cy="15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pic>
        <p:nvPicPr>
          <p:cNvPr id="33" name="Picture 3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49826" y="2030000"/>
            <a:ext cx="418500" cy="620000"/>
          </a:xfrm>
          <a:prstGeom prst="rect">
            <a:avLst/>
          </a:prstGeom>
        </p:spPr>
      </p:pic>
      <p:sp>
        <p:nvSpPr>
          <p:cNvPr id="34" name="Shape 34"/>
          <p:cNvSpPr/>
          <p:nvPr/>
        </p:nvSpPr>
        <p:spPr>
          <a:xfrm>
            <a:off x="7778496" y="2670000"/>
            <a:ext cx="1361160" cy="80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12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통통</a:t>
            </a:r>
          </a:p>
          <a:p>
            <a:pPr algn="ctr">
              <a:spcAft>
                <a:spcPts val="0"/>
              </a:spcAft>
              <a:buNone/>
            </a:pPr>
            <a:r>
              <a:rPr lang="ko-KR" altLang="en-US" sz="85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2~3번</a:t>
            </a:r>
          </a:p>
          <a:p>
            <a:pPr algn="ctr">
              <a:spcAft>
                <a:spcPts val="0"/>
              </a:spcAft>
              <a:buNone/>
            </a:pPr>
            <a:r>
              <a:rPr lang="ko-KR" altLang="en-US" sz="85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착지 충격파</a:t>
            </a:r>
          </a:p>
        </p:txBody>
      </p:sp>
      <p:sp>
        <p:nvSpPr>
          <p:cNvPr id="35" name="Shape 35"/>
          <p:cNvSpPr/>
          <p:nvPr/>
        </p:nvSpPr>
        <p:spPr>
          <a:xfrm>
            <a:off x="9169656" y="2600000"/>
            <a:ext cx="240000" cy="250000"/>
          </a:xfrm>
          <a:prstGeom prst="rightArrow">
            <a:avLst/>
          </a:prstGeom>
          <a:solidFill>
            <a:srgbClr val="A6A6A6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36" name="Shape 36"/>
          <p:cNvSpPr/>
          <p:nvPr/>
        </p:nvSpPr>
        <p:spPr>
          <a:xfrm>
            <a:off x="8939656" y="2330000"/>
            <a:ext cx="700000" cy="25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18288" rIns="0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750" b="1" dirty="0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착지 끝</a:t>
            </a:r>
          </a:p>
        </p:txBody>
      </p:sp>
      <p:sp>
        <p:nvSpPr>
          <p:cNvPr id="37" name="Shape 37"/>
          <p:cNvSpPr/>
          <p:nvPr/>
        </p:nvSpPr>
        <p:spPr>
          <a:xfrm>
            <a:off x="9439656" y="1950000"/>
            <a:ext cx="1361160" cy="1550000"/>
          </a:xfrm>
          <a:prstGeom prst="rect">
            <a:avLst/>
          </a:prstGeom>
          <a:solidFill>
            <a:srgbClr val="FBE5D6"/>
          </a:solidFill>
          <a:ln w="12700">
            <a:solidFill>
              <a:srgbClr val="E97132"/>
            </a:solidFill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pic>
        <p:nvPicPr>
          <p:cNvPr id="38" name="Picture 3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64423" y="2030000"/>
            <a:ext cx="711625" cy="620000"/>
          </a:xfrm>
          <a:prstGeom prst="rect">
            <a:avLst/>
          </a:prstGeom>
        </p:spPr>
      </p:pic>
      <p:sp>
        <p:nvSpPr>
          <p:cNvPr id="39" name="Shape 39"/>
          <p:cNvSpPr/>
          <p:nvPr/>
        </p:nvSpPr>
        <p:spPr>
          <a:xfrm>
            <a:off x="9439656" y="2670000"/>
            <a:ext cx="1361160" cy="80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1200" b="1" dirty="0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펑</a:t>
            </a:r>
          </a:p>
          <a:p>
            <a:pPr algn="ctr">
              <a:spcAft>
                <a:spcPts val="0"/>
              </a:spcAft>
              <a:buNone/>
            </a:pPr>
            <a:r>
              <a:rPr lang="ko-KR" altLang="en-US" sz="85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치즈 · 콤보 +2</a:t>
            </a:r>
          </a:p>
        </p:txBody>
      </p:sp>
      <p:sp>
        <p:nvSpPr>
          <p:cNvPr id="40" name="Shape 40"/>
          <p:cNvSpPr/>
          <p:nvPr/>
        </p:nvSpPr>
        <p:spPr>
          <a:xfrm>
            <a:off x="1133856" y="3800000"/>
            <a:ext cx="2341740" cy="23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pic>
        <p:nvPicPr>
          <p:cNvPr id="41" name="Picture 4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8618" y="3900000"/>
            <a:ext cx="750476" cy="800000"/>
          </a:xfrm>
          <a:prstGeom prst="rect">
            <a:avLst/>
          </a:prstGeom>
        </p:spPr>
      </p:pic>
      <p:sp>
        <p:nvSpPr>
          <p:cNvPr id="42" name="Shape 42"/>
          <p:cNvSpPr/>
          <p:nvPr/>
        </p:nvSpPr>
        <p:spPr>
          <a:xfrm>
            <a:off x="2083856" y="3950000"/>
            <a:ext cx="1341740" cy="70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l"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연구원</a:t>
            </a:r>
          </a:p>
          <a:p>
            <a:pPr algn="l"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1층부터</a:t>
            </a:r>
          </a:p>
        </p:txBody>
      </p:sp>
      <p:sp>
        <p:nvSpPr>
          <p:cNvPr id="43" name="Shape 43"/>
          <p:cNvSpPr/>
          <p:nvPr/>
        </p:nvSpPr>
        <p:spPr>
          <a:xfrm>
            <a:off x="1233856" y="4790000"/>
            <a:ext cx="400000" cy="24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18288" rIns="0" bIns="18288" rtlCol="0" anchor="ctr"/>
          <a:lstStyle/>
          <a:p>
            <a:pPr algn="l"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체력</a:t>
            </a:r>
          </a:p>
        </p:txBody>
      </p:sp>
      <p:sp>
        <p:nvSpPr>
          <p:cNvPr id="44" name="Shape 44"/>
          <p:cNvSpPr/>
          <p:nvPr/>
        </p:nvSpPr>
        <p:spPr>
          <a:xfrm>
            <a:off x="1633856" y="4850000"/>
            <a:ext cx="1291740" cy="150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45" name="Shape 45"/>
          <p:cNvSpPr/>
          <p:nvPr/>
        </p:nvSpPr>
        <p:spPr>
          <a:xfrm>
            <a:off x="1633856" y="4850000"/>
            <a:ext cx="775044" cy="150000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46" name="Shape 46"/>
          <p:cNvSpPr/>
          <p:nvPr/>
        </p:nvSpPr>
        <p:spPr>
          <a:xfrm>
            <a:off x="2945596" y="4790000"/>
            <a:ext cx="450000" cy="24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18288" rIns="0" bIns="18288" rtlCol="0" anchor="ctr"/>
          <a:lstStyle/>
          <a:p>
            <a:pPr algn="l"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9</a:t>
            </a:r>
          </a:p>
        </p:txBody>
      </p:sp>
      <p:sp>
        <p:nvSpPr>
          <p:cNvPr id="47" name="Shape 47"/>
          <p:cNvSpPr/>
          <p:nvPr/>
        </p:nvSpPr>
        <p:spPr>
          <a:xfrm>
            <a:off x="1233856" y="5190000"/>
            <a:ext cx="400000" cy="24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18288" rIns="0" bIns="18288" rtlCol="0" anchor="ctr"/>
          <a:lstStyle/>
          <a:p>
            <a:pPr algn="l"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치즈</a:t>
            </a:r>
          </a:p>
        </p:txBody>
      </p:sp>
      <p:sp>
        <p:nvSpPr>
          <p:cNvPr id="48" name="Shape 48"/>
          <p:cNvSpPr/>
          <p:nvPr/>
        </p:nvSpPr>
        <p:spPr>
          <a:xfrm>
            <a:off x="1633856" y="5250000"/>
            <a:ext cx="1291740" cy="150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49" name="Shape 49"/>
          <p:cNvSpPr/>
          <p:nvPr/>
        </p:nvSpPr>
        <p:spPr>
          <a:xfrm>
            <a:off x="1633856" y="5250000"/>
            <a:ext cx="861160" cy="1500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50" name="Shape 50"/>
          <p:cNvSpPr/>
          <p:nvPr/>
        </p:nvSpPr>
        <p:spPr>
          <a:xfrm>
            <a:off x="2945596" y="5190000"/>
            <a:ext cx="450000" cy="24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18288" rIns="0" bIns="18288" rtlCol="0" anchor="ctr"/>
          <a:lstStyle/>
          <a:p>
            <a:pPr algn="l"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12</a:t>
            </a:r>
          </a:p>
        </p:txBody>
      </p:sp>
      <p:sp>
        <p:nvSpPr>
          <p:cNvPr id="51" name="Shape 51"/>
          <p:cNvSpPr/>
          <p:nvPr/>
        </p:nvSpPr>
        <p:spPr>
          <a:xfrm>
            <a:off x="1233856" y="5590000"/>
            <a:ext cx="400000" cy="24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18288" rIns="0" bIns="18288" rtlCol="0" anchor="ctr"/>
          <a:lstStyle/>
          <a:p>
            <a:pPr algn="l"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속도</a:t>
            </a:r>
          </a:p>
        </p:txBody>
      </p:sp>
      <p:sp>
        <p:nvSpPr>
          <p:cNvPr id="52" name="Shape 52"/>
          <p:cNvSpPr/>
          <p:nvPr/>
        </p:nvSpPr>
        <p:spPr>
          <a:xfrm>
            <a:off x="1633856" y="5650000"/>
            <a:ext cx="1291740" cy="150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53" name="Shape 53"/>
          <p:cNvSpPr/>
          <p:nvPr/>
        </p:nvSpPr>
        <p:spPr>
          <a:xfrm>
            <a:off x="1633856" y="5650000"/>
            <a:ext cx="1174309" cy="150000"/>
          </a:xfrm>
          <a:prstGeom prst="rect">
            <a:avLst/>
          </a:prstGeom>
          <a:solidFill>
            <a:srgbClr val="A6A6A6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54" name="Shape 54"/>
          <p:cNvSpPr/>
          <p:nvPr/>
        </p:nvSpPr>
        <p:spPr>
          <a:xfrm>
            <a:off x="2945596" y="5590000"/>
            <a:ext cx="450000" cy="24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18288" rIns="0" bIns="18288" rtlCol="0" anchor="ctr"/>
          <a:lstStyle/>
          <a:p>
            <a:pPr algn="l"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×1</a:t>
            </a:r>
          </a:p>
        </p:txBody>
      </p:sp>
      <p:sp>
        <p:nvSpPr>
          <p:cNvPr id="55" name="Shape 55"/>
          <p:cNvSpPr/>
          <p:nvPr/>
        </p:nvSpPr>
        <p:spPr>
          <a:xfrm>
            <a:off x="3675596" y="3800000"/>
            <a:ext cx="2341740" cy="23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pic>
        <p:nvPicPr>
          <p:cNvPr id="56" name="Picture 5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47212" y="3900000"/>
            <a:ext cx="656768" cy="800000"/>
          </a:xfrm>
          <a:prstGeom prst="rect">
            <a:avLst/>
          </a:prstGeom>
        </p:spPr>
      </p:pic>
      <p:sp>
        <p:nvSpPr>
          <p:cNvPr id="57" name="Shape 57"/>
          <p:cNvSpPr/>
          <p:nvPr/>
        </p:nvSpPr>
        <p:spPr>
          <a:xfrm>
            <a:off x="4625596" y="3950000"/>
            <a:ext cx="1341740" cy="70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l"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청소부</a:t>
            </a:r>
          </a:p>
          <a:p>
            <a:pPr algn="l"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1층부터</a:t>
            </a:r>
          </a:p>
        </p:txBody>
      </p:sp>
      <p:sp>
        <p:nvSpPr>
          <p:cNvPr id="58" name="Shape 58"/>
          <p:cNvSpPr/>
          <p:nvPr/>
        </p:nvSpPr>
        <p:spPr>
          <a:xfrm>
            <a:off x="3775596" y="4790000"/>
            <a:ext cx="400000" cy="24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18288" rIns="0" bIns="18288" rtlCol="0" anchor="ctr"/>
          <a:lstStyle/>
          <a:p>
            <a:pPr algn="l"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체력</a:t>
            </a:r>
          </a:p>
        </p:txBody>
      </p:sp>
      <p:sp>
        <p:nvSpPr>
          <p:cNvPr id="59" name="Shape 59"/>
          <p:cNvSpPr/>
          <p:nvPr/>
        </p:nvSpPr>
        <p:spPr>
          <a:xfrm>
            <a:off x="4175596" y="4850000"/>
            <a:ext cx="1291740" cy="150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60" name="Shape 60"/>
          <p:cNvSpPr/>
          <p:nvPr/>
        </p:nvSpPr>
        <p:spPr>
          <a:xfrm>
            <a:off x="4175596" y="4850000"/>
            <a:ext cx="904218" cy="150000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61" name="Shape 61"/>
          <p:cNvSpPr/>
          <p:nvPr/>
        </p:nvSpPr>
        <p:spPr>
          <a:xfrm>
            <a:off x="5487336" y="4790000"/>
            <a:ext cx="450000" cy="24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18288" rIns="0" bIns="18288" rtlCol="0" anchor="ctr"/>
          <a:lstStyle/>
          <a:p>
            <a:pPr algn="l"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10.5</a:t>
            </a:r>
          </a:p>
        </p:txBody>
      </p:sp>
      <p:sp>
        <p:nvSpPr>
          <p:cNvPr id="62" name="Shape 62"/>
          <p:cNvSpPr/>
          <p:nvPr/>
        </p:nvSpPr>
        <p:spPr>
          <a:xfrm>
            <a:off x="3775596" y="5190000"/>
            <a:ext cx="400000" cy="24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18288" rIns="0" bIns="18288" rtlCol="0" anchor="ctr"/>
          <a:lstStyle/>
          <a:p>
            <a:pPr algn="l"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치즈</a:t>
            </a:r>
          </a:p>
        </p:txBody>
      </p:sp>
      <p:sp>
        <p:nvSpPr>
          <p:cNvPr id="63" name="Shape 63"/>
          <p:cNvSpPr/>
          <p:nvPr/>
        </p:nvSpPr>
        <p:spPr>
          <a:xfrm>
            <a:off x="4175596" y="5250000"/>
            <a:ext cx="1291740" cy="150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64" name="Shape 64"/>
          <p:cNvSpPr/>
          <p:nvPr/>
        </p:nvSpPr>
        <p:spPr>
          <a:xfrm>
            <a:off x="4175596" y="5250000"/>
            <a:ext cx="861160" cy="1500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65" name="Shape 65"/>
          <p:cNvSpPr/>
          <p:nvPr/>
        </p:nvSpPr>
        <p:spPr>
          <a:xfrm>
            <a:off x="5487336" y="5190000"/>
            <a:ext cx="450000" cy="24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18288" rIns="0" bIns="18288" rtlCol="0" anchor="ctr"/>
          <a:lstStyle/>
          <a:p>
            <a:pPr algn="l"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12</a:t>
            </a:r>
          </a:p>
        </p:txBody>
      </p:sp>
      <p:sp>
        <p:nvSpPr>
          <p:cNvPr id="66" name="Shape 66"/>
          <p:cNvSpPr/>
          <p:nvPr/>
        </p:nvSpPr>
        <p:spPr>
          <a:xfrm>
            <a:off x="3775596" y="5590000"/>
            <a:ext cx="400000" cy="24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18288" rIns="0" bIns="18288" rtlCol="0" anchor="ctr"/>
          <a:lstStyle/>
          <a:p>
            <a:pPr algn="l"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속도</a:t>
            </a:r>
          </a:p>
        </p:txBody>
      </p:sp>
      <p:sp>
        <p:nvSpPr>
          <p:cNvPr id="67" name="Shape 67"/>
          <p:cNvSpPr/>
          <p:nvPr/>
        </p:nvSpPr>
        <p:spPr>
          <a:xfrm>
            <a:off x="4175596" y="5650000"/>
            <a:ext cx="1291740" cy="150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68" name="Shape 68"/>
          <p:cNvSpPr/>
          <p:nvPr/>
        </p:nvSpPr>
        <p:spPr>
          <a:xfrm>
            <a:off x="4175596" y="5650000"/>
            <a:ext cx="1056878" cy="150000"/>
          </a:xfrm>
          <a:prstGeom prst="rect">
            <a:avLst/>
          </a:prstGeom>
          <a:solidFill>
            <a:srgbClr val="A6A6A6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69" name="Shape 69"/>
          <p:cNvSpPr/>
          <p:nvPr/>
        </p:nvSpPr>
        <p:spPr>
          <a:xfrm>
            <a:off x="5487336" y="5590000"/>
            <a:ext cx="450000" cy="24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18288" rIns="0" bIns="18288" rtlCol="0" anchor="ctr"/>
          <a:lstStyle/>
          <a:p>
            <a:pPr algn="l"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×0.9</a:t>
            </a:r>
          </a:p>
        </p:txBody>
      </p:sp>
      <p:sp>
        <p:nvSpPr>
          <p:cNvPr id="70" name="Shape 70"/>
          <p:cNvSpPr/>
          <p:nvPr/>
        </p:nvSpPr>
        <p:spPr>
          <a:xfrm>
            <a:off x="6217336" y="3800000"/>
            <a:ext cx="2341740" cy="23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pic>
        <p:nvPicPr>
          <p:cNvPr id="71" name="Picture 7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50669" y="3900000"/>
            <a:ext cx="733333" cy="800000"/>
          </a:xfrm>
          <a:prstGeom prst="rect">
            <a:avLst/>
          </a:prstGeom>
        </p:spPr>
      </p:pic>
      <p:sp>
        <p:nvSpPr>
          <p:cNvPr id="72" name="Shape 72"/>
          <p:cNvSpPr/>
          <p:nvPr/>
        </p:nvSpPr>
        <p:spPr>
          <a:xfrm>
            <a:off x="7167336" y="3950000"/>
            <a:ext cx="1341740" cy="70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l"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경비원</a:t>
            </a:r>
          </a:p>
          <a:p>
            <a:pPr algn="l"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3층부터</a:t>
            </a:r>
          </a:p>
        </p:txBody>
      </p:sp>
      <p:sp>
        <p:nvSpPr>
          <p:cNvPr id="73" name="Shape 73"/>
          <p:cNvSpPr/>
          <p:nvPr/>
        </p:nvSpPr>
        <p:spPr>
          <a:xfrm>
            <a:off x="6317336" y="4790000"/>
            <a:ext cx="400000" cy="24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18288" rIns="0" bIns="18288" rtlCol="0" anchor="ctr"/>
          <a:lstStyle/>
          <a:p>
            <a:pPr algn="l"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체력</a:t>
            </a:r>
          </a:p>
        </p:txBody>
      </p:sp>
      <p:sp>
        <p:nvSpPr>
          <p:cNvPr id="74" name="Shape 74"/>
          <p:cNvSpPr/>
          <p:nvPr/>
        </p:nvSpPr>
        <p:spPr>
          <a:xfrm>
            <a:off x="6717336" y="4850000"/>
            <a:ext cx="1291740" cy="150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75" name="Shape 75"/>
          <p:cNvSpPr/>
          <p:nvPr/>
        </p:nvSpPr>
        <p:spPr>
          <a:xfrm>
            <a:off x="6717336" y="4850000"/>
            <a:ext cx="1291740" cy="150000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76" name="Shape 76"/>
          <p:cNvSpPr/>
          <p:nvPr/>
        </p:nvSpPr>
        <p:spPr>
          <a:xfrm>
            <a:off x="8029076" y="4790000"/>
            <a:ext cx="450000" cy="24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18288" rIns="0" bIns="18288" rtlCol="0" anchor="ctr"/>
          <a:lstStyle/>
          <a:p>
            <a:pPr algn="l"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15</a:t>
            </a:r>
          </a:p>
        </p:txBody>
      </p:sp>
      <p:sp>
        <p:nvSpPr>
          <p:cNvPr id="77" name="Shape 77"/>
          <p:cNvSpPr/>
          <p:nvPr/>
        </p:nvSpPr>
        <p:spPr>
          <a:xfrm>
            <a:off x="6317336" y="5190000"/>
            <a:ext cx="400000" cy="24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18288" rIns="0" bIns="18288" rtlCol="0" anchor="ctr"/>
          <a:lstStyle/>
          <a:p>
            <a:pPr algn="l"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치즈</a:t>
            </a:r>
          </a:p>
        </p:txBody>
      </p:sp>
      <p:sp>
        <p:nvSpPr>
          <p:cNvPr id="78" name="Shape 78"/>
          <p:cNvSpPr/>
          <p:nvPr/>
        </p:nvSpPr>
        <p:spPr>
          <a:xfrm>
            <a:off x="6717336" y="5250000"/>
            <a:ext cx="1291740" cy="150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79" name="Shape 79"/>
          <p:cNvSpPr/>
          <p:nvPr/>
        </p:nvSpPr>
        <p:spPr>
          <a:xfrm>
            <a:off x="6717336" y="5250000"/>
            <a:ext cx="1291740" cy="1500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80" name="Shape 80"/>
          <p:cNvSpPr/>
          <p:nvPr/>
        </p:nvSpPr>
        <p:spPr>
          <a:xfrm>
            <a:off x="8029076" y="5190000"/>
            <a:ext cx="450000" cy="24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18288" rIns="0" bIns="18288" rtlCol="0" anchor="ctr"/>
          <a:lstStyle/>
          <a:p>
            <a:pPr algn="l"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18</a:t>
            </a:r>
          </a:p>
        </p:txBody>
      </p:sp>
      <p:sp>
        <p:nvSpPr>
          <p:cNvPr id="81" name="Shape 81"/>
          <p:cNvSpPr/>
          <p:nvPr/>
        </p:nvSpPr>
        <p:spPr>
          <a:xfrm>
            <a:off x="6317336" y="5590000"/>
            <a:ext cx="400000" cy="24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18288" rIns="0" bIns="18288" rtlCol="0" anchor="ctr"/>
          <a:lstStyle/>
          <a:p>
            <a:pPr algn="l"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속도</a:t>
            </a:r>
          </a:p>
        </p:txBody>
      </p:sp>
      <p:sp>
        <p:nvSpPr>
          <p:cNvPr id="82" name="Shape 82"/>
          <p:cNvSpPr/>
          <p:nvPr/>
        </p:nvSpPr>
        <p:spPr>
          <a:xfrm>
            <a:off x="6717336" y="5650000"/>
            <a:ext cx="1291740" cy="150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83" name="Shape 83"/>
          <p:cNvSpPr/>
          <p:nvPr/>
        </p:nvSpPr>
        <p:spPr>
          <a:xfrm>
            <a:off x="6717336" y="5650000"/>
            <a:ext cx="1291740" cy="150000"/>
          </a:xfrm>
          <a:prstGeom prst="rect">
            <a:avLst/>
          </a:prstGeom>
          <a:solidFill>
            <a:srgbClr val="A6A6A6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84" name="Shape 84"/>
          <p:cNvSpPr/>
          <p:nvPr/>
        </p:nvSpPr>
        <p:spPr>
          <a:xfrm>
            <a:off x="8029076" y="5590000"/>
            <a:ext cx="450000" cy="24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18288" rIns="0" bIns="18288" rtlCol="0" anchor="ctr"/>
          <a:lstStyle/>
          <a:p>
            <a:pPr algn="l"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×1.1</a:t>
            </a:r>
          </a:p>
        </p:txBody>
      </p:sp>
      <p:sp>
        <p:nvSpPr>
          <p:cNvPr id="85" name="Shape 85"/>
          <p:cNvSpPr/>
          <p:nvPr/>
        </p:nvSpPr>
        <p:spPr>
          <a:xfrm>
            <a:off x="8759076" y="3800000"/>
            <a:ext cx="2341740" cy="23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pic>
        <p:nvPicPr>
          <p:cNvPr id="86" name="Picture 8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23520" y="3900000"/>
            <a:ext cx="471111" cy="800000"/>
          </a:xfrm>
          <a:prstGeom prst="rect">
            <a:avLst/>
          </a:prstGeom>
        </p:spPr>
      </p:pic>
      <p:sp>
        <p:nvSpPr>
          <p:cNvPr id="87" name="Shape 87"/>
          <p:cNvSpPr/>
          <p:nvPr/>
        </p:nvSpPr>
        <p:spPr>
          <a:xfrm>
            <a:off x="9709076" y="3950000"/>
            <a:ext cx="1341740" cy="70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l"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요리사</a:t>
            </a:r>
          </a:p>
          <a:p>
            <a:pPr algn="l"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2층부터</a:t>
            </a:r>
          </a:p>
        </p:txBody>
      </p:sp>
      <p:sp>
        <p:nvSpPr>
          <p:cNvPr id="88" name="Shape 88"/>
          <p:cNvSpPr/>
          <p:nvPr/>
        </p:nvSpPr>
        <p:spPr>
          <a:xfrm>
            <a:off x="8859076" y="4790000"/>
            <a:ext cx="400000" cy="24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18288" rIns="0" bIns="18288" rtlCol="0" anchor="ctr"/>
          <a:lstStyle/>
          <a:p>
            <a:pPr algn="l"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체력</a:t>
            </a:r>
          </a:p>
        </p:txBody>
      </p:sp>
      <p:sp>
        <p:nvSpPr>
          <p:cNvPr id="89" name="Shape 89"/>
          <p:cNvSpPr/>
          <p:nvPr/>
        </p:nvSpPr>
        <p:spPr>
          <a:xfrm>
            <a:off x="9259076" y="4850000"/>
            <a:ext cx="1291740" cy="150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90" name="Shape 90"/>
          <p:cNvSpPr/>
          <p:nvPr/>
        </p:nvSpPr>
        <p:spPr>
          <a:xfrm>
            <a:off x="9259076" y="4850000"/>
            <a:ext cx="1033392" cy="150000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91" name="Shape 91"/>
          <p:cNvSpPr/>
          <p:nvPr/>
        </p:nvSpPr>
        <p:spPr>
          <a:xfrm>
            <a:off x="10570816" y="4790000"/>
            <a:ext cx="450000" cy="24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18288" rIns="0" bIns="18288" rtlCol="0" anchor="ctr"/>
          <a:lstStyle/>
          <a:p>
            <a:pPr algn="l"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12</a:t>
            </a:r>
          </a:p>
        </p:txBody>
      </p:sp>
      <p:sp>
        <p:nvSpPr>
          <p:cNvPr id="92" name="Shape 92"/>
          <p:cNvSpPr/>
          <p:nvPr/>
        </p:nvSpPr>
        <p:spPr>
          <a:xfrm>
            <a:off x="8859076" y="5190000"/>
            <a:ext cx="400000" cy="24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18288" rIns="0" bIns="18288" rtlCol="0" anchor="ctr"/>
          <a:lstStyle/>
          <a:p>
            <a:pPr algn="l"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치즈</a:t>
            </a:r>
          </a:p>
        </p:txBody>
      </p:sp>
      <p:sp>
        <p:nvSpPr>
          <p:cNvPr id="93" name="Shape 93"/>
          <p:cNvSpPr/>
          <p:nvPr/>
        </p:nvSpPr>
        <p:spPr>
          <a:xfrm>
            <a:off x="9259076" y="5250000"/>
            <a:ext cx="1291740" cy="150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94" name="Shape 94"/>
          <p:cNvSpPr/>
          <p:nvPr/>
        </p:nvSpPr>
        <p:spPr>
          <a:xfrm>
            <a:off x="9259076" y="5250000"/>
            <a:ext cx="1148213" cy="1500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95" name="Shape 95"/>
          <p:cNvSpPr/>
          <p:nvPr/>
        </p:nvSpPr>
        <p:spPr>
          <a:xfrm>
            <a:off x="10570816" y="5190000"/>
            <a:ext cx="450000" cy="24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18288" rIns="0" bIns="18288" rtlCol="0" anchor="ctr"/>
          <a:lstStyle/>
          <a:p>
            <a:pPr algn="l"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16</a:t>
            </a:r>
          </a:p>
        </p:txBody>
      </p:sp>
      <p:sp>
        <p:nvSpPr>
          <p:cNvPr id="96" name="Shape 96"/>
          <p:cNvSpPr/>
          <p:nvPr/>
        </p:nvSpPr>
        <p:spPr>
          <a:xfrm>
            <a:off x="8859076" y="5590000"/>
            <a:ext cx="400000" cy="24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18288" rIns="0" bIns="18288" rtlCol="0" anchor="ctr"/>
          <a:lstStyle/>
          <a:p>
            <a:pPr algn="l"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속도</a:t>
            </a:r>
          </a:p>
        </p:txBody>
      </p:sp>
      <p:sp>
        <p:nvSpPr>
          <p:cNvPr id="97" name="Shape 97"/>
          <p:cNvSpPr/>
          <p:nvPr/>
        </p:nvSpPr>
        <p:spPr>
          <a:xfrm>
            <a:off x="9259076" y="5650000"/>
            <a:ext cx="1291740" cy="150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98" name="Shape 98"/>
          <p:cNvSpPr/>
          <p:nvPr/>
        </p:nvSpPr>
        <p:spPr>
          <a:xfrm>
            <a:off x="9259076" y="5650000"/>
            <a:ext cx="1115593" cy="150000"/>
          </a:xfrm>
          <a:prstGeom prst="rect">
            <a:avLst/>
          </a:prstGeom>
          <a:solidFill>
            <a:srgbClr val="A6A6A6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99" name="Shape 99"/>
          <p:cNvSpPr/>
          <p:nvPr/>
        </p:nvSpPr>
        <p:spPr>
          <a:xfrm>
            <a:off x="10570816" y="5590000"/>
            <a:ext cx="450000" cy="24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18288" rIns="0" bIns="18288" rtlCol="0" anchor="ctr"/>
          <a:lstStyle/>
          <a:p>
            <a:pPr algn="l"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×0.95</a:t>
            </a:r>
          </a:p>
        </p:txBody>
      </p:sp>
      <p:sp>
        <p:nvSpPr>
          <p:cNvPr id="100" name="TextBox 100"/>
          <p:cNvSpPr txBox="1"/>
          <p:nvPr/>
        </p:nvSpPr>
        <p:spPr>
          <a:xfrm>
            <a:off x="1133856" y="6250000"/>
            <a:ext cx="9966960" cy="23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ko-KR" altLang="en-US" sz="10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피격 범위 = 몸 그림 전체 (가장자리 12% 제외) · 체력 · 치즈 = 코드 배수 반영 실제 배율 (테이블 × 3 · × 2) · 막대 최대 = 경비원 체력 15 · 치즈 18 · 속도 1.1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200" b="0" dirty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오브젝트 명세</a:t>
            </a:r>
            <a:r>
              <a:rPr lang="ko-KR" altLang="en-US" sz="2400" b="0" dirty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벽 · 계단 · 쥐덫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1"/>
          <p:cNvSpPr/>
          <p:nvPr/>
        </p:nvSpPr>
        <p:spPr>
          <a:xfrm>
            <a:off x="1133856" y="1330977"/>
            <a:ext cx="9966960" cy="502920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lIns="109728" tIns="36576" rIns="109728" bIns="36576" rtlCol="0" anchor="ctr"/>
          <a:lstStyle/>
          <a:p>
            <a:pPr algn="l">
              <a:spcAft>
                <a:spcPts val="300"/>
              </a:spcAft>
              <a:buNone/>
            </a:pPr>
            <a:r>
              <a:rPr lang="ko-KR" altLang="en-US" sz="14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층 지형에 붙어 진행을 막거나 돕는 오브젝트</a:t>
            </a:r>
          </a:p>
        </p:txBody>
      </p:sp>
      <p:graphicFrame>
        <p:nvGraphicFramePr>
          <p:cNvPr id="12" name="Table 12"/>
          <p:cNvGraphicFramePr>
            <a:graphicFrameLocks noGrp="1"/>
          </p:cNvGraphicFramePr>
          <p:nvPr/>
        </p:nvGraphicFramePr>
        <p:xfrm>
          <a:off x="1133856" y="1950000"/>
          <a:ext cx="9966960" cy="31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63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900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848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57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8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오브젝트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등장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규칙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보상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벽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열린 방과 안 열린 방 사이</a:t>
                      </a:r>
                    </a:p>
                    <a:p>
                      <a:pPr algn="l"/>
                      <a:r>
                        <a:rPr lang="ko-KR" altLang="en-US" sz="10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(연구소 바깥벽은 못 부숨)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체력 = 적정 전투력 × 벽 배율 (계단까지 경로 합 wall_path, 절반은 계단 방 벽 · 일반 벽 최소 0.8)</a:t>
                      </a:r>
                    </a:p>
                    <a:p>
                      <a:pPr algn="l"/>
                      <a:r>
                        <a:rPr lang="ko-KR" altLang="en-US" sz="10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무리 전투력 &lt; 적정이면 피해 × (전투력 ÷ 적정)^지수 (계단 벽 1.5 · 일반 0.5)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방 열림 → 가구 · 물건 · 사람 · 쥐덫 생성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계단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시작 방에서 4칸 이내 중 가장 먼 방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계단 방이 열리면 보임 · 쥐가 닿으면 다음 층</a:t>
                      </a:r>
                    </a:p>
                    <a:p>
                      <a:pPr algn="l"/>
                      <a:r>
                        <a:rPr lang="ko-KR" altLang="en-US" sz="10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보스 층(5층마다)은 보스 처치 전 사용 불가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층 돌파 연구자료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쥐덫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2층부터, 계단 방이 아닌 방이 열릴 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100% 확률로 1개, 35% 확률로 2개 (노드: 등장 -30% · 2개 -40%)</a:t>
                      </a:r>
                    </a:p>
                    <a:p>
                      <a:pPr algn="l"/>
                      <a:r>
                        <a:rPr lang="ko-KR" altLang="en-US" sz="10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발동 반경 28 · 밟은 쥐 3초 기절 · 8초 뒤 재장전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없음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200" b="0" dirty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오브젝트 명세</a:t>
            </a:r>
            <a:r>
              <a:rPr lang="ko-KR" altLang="en-US" sz="2400" b="0" dirty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층 지형 예시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1"/>
          <p:cNvSpPr/>
          <p:nvPr/>
        </p:nvSpPr>
        <p:spPr>
          <a:xfrm>
            <a:off x="1133856" y="1330977"/>
            <a:ext cx="9966960" cy="502920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lIns="109728" tIns="36576" rIns="109728" bIns="36576" rtlCol="0" anchor="ctr"/>
          <a:lstStyle/>
          <a:p>
            <a:pPr algn="l">
              <a:spcAft>
                <a:spcPts val="300"/>
              </a:spcAft>
              <a:buNone/>
            </a:pPr>
            <a:r>
              <a:rPr lang="ko-KR" altLang="en-US" sz="14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방 7개 층 예시 — 시작 방에서 벽을 부수며 4칸 떨어진 계단 방까지</a:t>
            </a:r>
          </a:p>
        </p:txBody>
      </p:sp>
      <p:sp>
        <p:nvSpPr>
          <p:cNvPr id="12" name="Shape 12"/>
          <p:cNvSpPr/>
          <p:nvPr/>
        </p:nvSpPr>
        <p:spPr>
          <a:xfrm>
            <a:off x="1223856" y="3015000"/>
            <a:ext cx="1220000" cy="695000"/>
          </a:xfrm>
          <a:prstGeom prst="rect">
            <a:avLst/>
          </a:prstGeom>
          <a:solidFill>
            <a:srgbClr val="FBE5D6"/>
          </a:solidFill>
          <a:ln w="12700">
            <a:solidFill>
              <a:srgbClr val="E97132"/>
            </a:solidFill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13" name="Shape 13"/>
          <p:cNvSpPr/>
          <p:nvPr/>
        </p:nvSpPr>
        <p:spPr>
          <a:xfrm>
            <a:off x="1253856" y="3025000"/>
            <a:ext cx="1000000" cy="23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18288" rIns="0" bIns="18288" rtlCol="0" anchor="ctr"/>
          <a:lstStyle/>
          <a:p>
            <a:pPr algn="l"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0칸 · 시작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3856" y="3191667"/>
            <a:ext cx="600000" cy="466666"/>
          </a:xfrm>
          <a:prstGeom prst="rect">
            <a:avLst/>
          </a:prstGeom>
        </p:spPr>
      </p:pic>
      <p:sp>
        <p:nvSpPr>
          <p:cNvPr id="15" name="Shape 15"/>
          <p:cNvSpPr/>
          <p:nvPr/>
        </p:nvSpPr>
        <p:spPr>
          <a:xfrm>
            <a:off x="2623856" y="3015000"/>
            <a:ext cx="1220000" cy="69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7F7F7F"/>
            </a:solidFill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16" name="Shape 16"/>
          <p:cNvSpPr/>
          <p:nvPr/>
        </p:nvSpPr>
        <p:spPr>
          <a:xfrm>
            <a:off x="2653856" y="3025000"/>
            <a:ext cx="1000000" cy="23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18288" rIns="0" bIns="18288" rtlCol="0" anchor="ctr"/>
          <a:lstStyle/>
          <a:p>
            <a:pPr algn="l"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1칸</a:t>
            </a: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3856" y="3250000"/>
            <a:ext cx="420000" cy="330000"/>
          </a:xfrm>
          <a:prstGeom prst="rect">
            <a:avLst/>
          </a:prstGeom>
        </p:spPr>
      </p:pic>
      <p:sp>
        <p:nvSpPr>
          <p:cNvPr id="18" name="Shape 18"/>
          <p:cNvSpPr/>
          <p:nvPr/>
        </p:nvSpPr>
        <p:spPr>
          <a:xfrm>
            <a:off x="4023856" y="3015000"/>
            <a:ext cx="1220000" cy="69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7F7F7F"/>
            </a:solidFill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19" name="Shape 19"/>
          <p:cNvSpPr/>
          <p:nvPr/>
        </p:nvSpPr>
        <p:spPr>
          <a:xfrm>
            <a:off x="4053856" y="3025000"/>
            <a:ext cx="1000000" cy="23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18288" rIns="0" bIns="18288" rtlCol="0" anchor="ctr"/>
          <a:lstStyle/>
          <a:p>
            <a:pPr algn="l"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2칸</a:t>
            </a:r>
          </a:p>
        </p:txBody>
      </p:sp>
      <p:sp>
        <p:nvSpPr>
          <p:cNvPr id="20" name="Shape 20"/>
          <p:cNvSpPr/>
          <p:nvPr/>
        </p:nvSpPr>
        <p:spPr>
          <a:xfrm>
            <a:off x="4023856" y="3890000"/>
            <a:ext cx="1220000" cy="69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7F7F7F"/>
            </a:solidFill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21" name="Shape 21"/>
          <p:cNvSpPr/>
          <p:nvPr/>
        </p:nvSpPr>
        <p:spPr>
          <a:xfrm>
            <a:off x="4053856" y="3900000"/>
            <a:ext cx="1000000" cy="23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18288" rIns="0" bIns="18288" rtlCol="0" anchor="ctr"/>
          <a:lstStyle/>
          <a:p>
            <a:pPr algn="l"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3칸</a:t>
            </a:r>
          </a:p>
        </p:txBody>
      </p:sp>
      <p:sp>
        <p:nvSpPr>
          <p:cNvPr id="22" name="Shape 22"/>
          <p:cNvSpPr/>
          <p:nvPr/>
        </p:nvSpPr>
        <p:spPr>
          <a:xfrm>
            <a:off x="5423856" y="3890000"/>
            <a:ext cx="1220000" cy="69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97132"/>
            </a:solidFill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23" name="Shape 23"/>
          <p:cNvSpPr/>
          <p:nvPr/>
        </p:nvSpPr>
        <p:spPr>
          <a:xfrm>
            <a:off x="5453856" y="3900000"/>
            <a:ext cx="1000000" cy="23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18288" rIns="0" bIns="18288" rtlCol="0" anchor="ctr"/>
          <a:lstStyle/>
          <a:p>
            <a:pPr algn="l"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4칸 · 계단</a:t>
            </a: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1576" y="4100000"/>
            <a:ext cx="424559" cy="480000"/>
          </a:xfrm>
          <a:prstGeom prst="rect">
            <a:avLst/>
          </a:prstGeom>
        </p:spPr>
      </p:pic>
      <p:sp>
        <p:nvSpPr>
          <p:cNvPr id="25" name="Shape 25"/>
          <p:cNvSpPr/>
          <p:nvPr/>
        </p:nvSpPr>
        <p:spPr>
          <a:xfrm>
            <a:off x="1223856" y="3890000"/>
            <a:ext cx="1220000" cy="695000"/>
          </a:xfrm>
          <a:prstGeom prst="rect">
            <a:avLst/>
          </a:prstGeom>
          <a:solidFill>
            <a:srgbClr val="F2F2F2"/>
          </a:solidFill>
          <a:ln w="12700">
            <a:solidFill>
              <a:srgbClr val="7F7F7F"/>
            </a:solidFill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26" name="Shape 26"/>
          <p:cNvSpPr/>
          <p:nvPr/>
        </p:nvSpPr>
        <p:spPr>
          <a:xfrm>
            <a:off x="1253856" y="3900000"/>
            <a:ext cx="1000000" cy="23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18288" rIns="0" bIns="18288" rtlCol="0" anchor="ctr"/>
          <a:lstStyle/>
          <a:p>
            <a:pPr algn="l"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1칸</a:t>
            </a:r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3856" y="4125000"/>
            <a:ext cx="420000" cy="330000"/>
          </a:xfrm>
          <a:prstGeom prst="rect">
            <a:avLst/>
          </a:prstGeom>
        </p:spPr>
      </p:pic>
      <p:sp>
        <p:nvSpPr>
          <p:cNvPr id="28" name="Shape 28"/>
          <p:cNvSpPr/>
          <p:nvPr/>
        </p:nvSpPr>
        <p:spPr>
          <a:xfrm>
            <a:off x="2623856" y="2140000"/>
            <a:ext cx="1220000" cy="695000"/>
          </a:xfrm>
          <a:prstGeom prst="rect">
            <a:avLst/>
          </a:prstGeom>
          <a:solidFill>
            <a:srgbClr val="F2F2F2"/>
          </a:solidFill>
          <a:ln w="12700">
            <a:solidFill>
              <a:srgbClr val="7F7F7F"/>
            </a:solidFill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29" name="Shape 29"/>
          <p:cNvSpPr/>
          <p:nvPr/>
        </p:nvSpPr>
        <p:spPr>
          <a:xfrm>
            <a:off x="2653856" y="2150000"/>
            <a:ext cx="1000000" cy="23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18288" rIns="0" bIns="18288" rtlCol="0" anchor="ctr"/>
          <a:lstStyle/>
          <a:p>
            <a:pPr algn="l"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2칸</a:t>
            </a:r>
          </a:p>
        </p:txBody>
      </p:sp>
      <p:sp>
        <p:nvSpPr>
          <p:cNvPr id="30" name="Shape 30"/>
          <p:cNvSpPr/>
          <p:nvPr/>
        </p:nvSpPr>
        <p:spPr>
          <a:xfrm>
            <a:off x="2488856" y="3100000"/>
            <a:ext cx="90000" cy="525000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31" name="Shape 31"/>
          <p:cNvSpPr/>
          <p:nvPr/>
        </p:nvSpPr>
        <p:spPr>
          <a:xfrm>
            <a:off x="3888856" y="3100000"/>
            <a:ext cx="90000" cy="525000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32" name="Shape 32"/>
          <p:cNvSpPr/>
          <p:nvPr/>
        </p:nvSpPr>
        <p:spPr>
          <a:xfrm>
            <a:off x="4213856" y="3755000"/>
            <a:ext cx="840000" cy="90000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33" name="Shape 33"/>
          <p:cNvSpPr/>
          <p:nvPr/>
        </p:nvSpPr>
        <p:spPr>
          <a:xfrm>
            <a:off x="5288856" y="3975000"/>
            <a:ext cx="90000" cy="5250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pic>
        <p:nvPicPr>
          <p:cNvPr id="34" name="Picture 3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9844" y="2080000"/>
            <a:ext cx="398024" cy="450000"/>
          </a:xfrm>
          <a:prstGeom prst="rect">
            <a:avLst/>
          </a:prstGeom>
        </p:spPr>
      </p:pic>
      <p:sp>
        <p:nvSpPr>
          <p:cNvPr id="35" name="Shape 35"/>
          <p:cNvSpPr/>
          <p:nvPr/>
        </p:nvSpPr>
        <p:spPr>
          <a:xfrm>
            <a:off x="7553856" y="2050000"/>
            <a:ext cx="3546960" cy="56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l">
              <a:spcAft>
                <a:spcPts val="0"/>
              </a:spcAft>
              <a:buNone/>
            </a:pPr>
            <a:r>
              <a:rPr lang="ko-KR" altLang="en-US" sz="105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계단</a:t>
            </a:r>
          </a:p>
          <a:p>
            <a:pPr algn="l">
              <a:spcAft>
                <a:spcPts val="0"/>
              </a:spcAft>
              <a:buNone/>
            </a:pPr>
            <a:r>
              <a:rPr lang="ko-KR" altLang="en-US" sz="85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시작 방에서 4칸 이내 중 가장 먼 방 · 열려야 보임 · 쥐가 닿으면 다음 층</a:t>
            </a:r>
          </a:p>
        </p:txBody>
      </p:sp>
      <p:sp>
        <p:nvSpPr>
          <p:cNvPr id="36" name="Shape 36"/>
          <p:cNvSpPr/>
          <p:nvPr/>
        </p:nvSpPr>
        <p:spPr>
          <a:xfrm>
            <a:off x="7133856" y="2830000"/>
            <a:ext cx="250000" cy="1200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37" name="Shape 37"/>
          <p:cNvSpPr/>
          <p:nvPr/>
        </p:nvSpPr>
        <p:spPr>
          <a:xfrm>
            <a:off x="7553856" y="2650000"/>
            <a:ext cx="3546960" cy="56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l">
              <a:spcAft>
                <a:spcPts val="0"/>
              </a:spcAft>
              <a:buNone/>
            </a:pPr>
            <a:r>
              <a:rPr lang="ko-KR" altLang="en-US" sz="105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계단 방 벽 (주황)</a:t>
            </a:r>
          </a:p>
          <a:p>
            <a:pPr algn="l">
              <a:spcAft>
                <a:spcPts val="0"/>
              </a:spcAft>
              <a:buNone/>
            </a:pPr>
            <a:r>
              <a:rPr lang="ko-KR" altLang="en-US" sz="85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계단까지 경로 벽 체력 합의 절반 · 전투력이 적정보다 낮으면 피해 크게 감소</a:t>
            </a:r>
          </a:p>
        </p:txBody>
      </p:sp>
      <p:sp>
        <p:nvSpPr>
          <p:cNvPr id="38" name="Shape 38"/>
          <p:cNvSpPr/>
          <p:nvPr/>
        </p:nvSpPr>
        <p:spPr>
          <a:xfrm>
            <a:off x="7133856" y="3430000"/>
            <a:ext cx="250000" cy="120000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39" name="Shape 39"/>
          <p:cNvSpPr/>
          <p:nvPr/>
        </p:nvSpPr>
        <p:spPr>
          <a:xfrm>
            <a:off x="7553856" y="3250000"/>
            <a:ext cx="3546960" cy="56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l">
              <a:spcAft>
                <a:spcPts val="0"/>
              </a:spcAft>
              <a:buNone/>
            </a:pPr>
            <a:r>
              <a:rPr lang="ko-KR" altLang="en-US" sz="105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일반 벽 (회색)</a:t>
            </a:r>
          </a:p>
          <a:p>
            <a:pPr algn="l">
              <a:spcAft>
                <a:spcPts val="0"/>
              </a:spcAft>
              <a:buNone/>
            </a:pPr>
            <a:r>
              <a:rPr lang="ko-KR" altLang="en-US" sz="85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경로 벽 합의 나머지를 나눠 가짐 (최소 0.8배)</a:t>
            </a:r>
          </a:p>
        </p:txBody>
      </p:sp>
      <p:pic>
        <p:nvPicPr>
          <p:cNvPr id="40" name="Picture 4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3856" y="3928214"/>
            <a:ext cx="450000" cy="353571"/>
          </a:xfrm>
          <a:prstGeom prst="rect">
            <a:avLst/>
          </a:prstGeom>
        </p:spPr>
      </p:pic>
      <p:sp>
        <p:nvSpPr>
          <p:cNvPr id="41" name="Shape 41"/>
          <p:cNvSpPr/>
          <p:nvPr/>
        </p:nvSpPr>
        <p:spPr>
          <a:xfrm>
            <a:off x="7553856" y="3850000"/>
            <a:ext cx="3546960" cy="56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l">
              <a:spcAft>
                <a:spcPts val="0"/>
              </a:spcAft>
              <a:buNone/>
            </a:pPr>
            <a:r>
              <a:rPr lang="ko-KR" altLang="en-US" sz="105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쥐덫</a:t>
            </a:r>
          </a:p>
          <a:p>
            <a:pPr algn="l">
              <a:spcAft>
                <a:spcPts val="0"/>
              </a:spcAft>
              <a:buNone/>
            </a:pPr>
            <a:r>
              <a:rPr lang="ko-KR" altLang="en-US" sz="85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2층부터 방이 열릴 때 1~2개 · 밟은 쥐 3초 기절 · 8초 뒤 재장전</a:t>
            </a:r>
          </a:p>
        </p:txBody>
      </p:sp>
      <p:pic>
        <p:nvPicPr>
          <p:cNvPr id="42" name="Picture 4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2415" y="4480000"/>
            <a:ext cx="292881" cy="450000"/>
          </a:xfrm>
          <a:prstGeom prst="rect">
            <a:avLst/>
          </a:prstGeom>
        </p:spPr>
      </p:pic>
      <p:sp>
        <p:nvSpPr>
          <p:cNvPr id="43" name="Shape 43"/>
          <p:cNvSpPr/>
          <p:nvPr/>
        </p:nvSpPr>
        <p:spPr>
          <a:xfrm>
            <a:off x="7553856" y="4450000"/>
            <a:ext cx="3546960" cy="56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l">
              <a:spcAft>
                <a:spcPts val="0"/>
              </a:spcAft>
              <a:buNone/>
            </a:pPr>
            <a:r>
              <a:rPr lang="ko-KR" altLang="en-US" sz="105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방 열림</a:t>
            </a:r>
          </a:p>
          <a:p>
            <a:pPr algn="l">
              <a:spcAft>
                <a:spcPts val="0"/>
              </a:spcAft>
              <a:buNone/>
            </a:pPr>
            <a:r>
              <a:rPr lang="ko-KR" altLang="en-US" sz="85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물건 12개 · 테마 가구 · 사람 1~2명 (계단 방은 물건만)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133856" y="5250000"/>
            <a:ext cx="9966960" cy="23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ko-KR" altLang="en-US" sz="10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흰 칸 = 계단까지 경로 · 회색 칸 = 곁가지 방 · 숫자 = 시작 방에서의 거리 (물건 체력 ×1.14 · 치즈 ×1.06 씩 증가)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133856" y="5520000"/>
            <a:ext cx="9966960" cy="23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ko-KR" altLang="en-US" sz="10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보스 층(5층마다)은 계단 방에 보스 대기 — 처치 전에는 계단 사용 불가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200" b="0" dirty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오브젝트 명세</a:t>
            </a:r>
            <a:r>
              <a:rPr lang="ko-KR" altLang="en-US" sz="2400" b="0" dirty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층별 출현 구성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1"/>
          <p:cNvSpPr/>
          <p:nvPr/>
        </p:nvSpPr>
        <p:spPr>
          <a:xfrm>
            <a:off x="1133856" y="1330977"/>
            <a:ext cx="9966960" cy="502920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lIns="109728" tIns="36576" rIns="109728" bIns="36576" rtlCol="0" anchor="ctr"/>
          <a:lstStyle/>
          <a:p>
            <a:pPr algn="l">
              <a:spcAft>
                <a:spcPts val="300"/>
              </a:spcAft>
              <a:buNone/>
            </a:pPr>
            <a:r>
              <a:rPr lang="ko-KR" altLang="en-US" sz="14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층이 오를수록 새 물건 등장 · 싼 물건 퇴장 — 구성 자체가 숨은 층 배율</a:t>
            </a:r>
          </a:p>
        </p:txBody>
      </p:sp>
      <p:graphicFrame>
        <p:nvGraphicFramePr>
          <p:cNvPr id="12" name="Table 12"/>
          <p:cNvGraphicFramePr>
            <a:graphicFrameLocks noGrp="1"/>
          </p:cNvGraphicFramePr>
          <p:nvPr/>
        </p:nvGraphicFramePr>
        <p:xfrm>
          <a:off x="1133856" y="1870000"/>
          <a:ext cx="9966960" cy="41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91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625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000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458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58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333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62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새로 등장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해금 시 등장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사라짐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종류 (기본 / 해금)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평균 치즈 배율 (기본 / 해금)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2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플라스크 · 비커 · 페트리 접시 · 주사기 · 클립보드 · 머그컵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표본 병 · 치즈 금고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 / 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0.98 / 1.64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2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삼각 플라스크 · 약병 · 보안경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 / 11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1.06 / 1.51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2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시험관 꽂이 · 구급상자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현미경 · 황금 치즈 트로피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11 / 15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1.17 / 1.91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2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소화기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 / 16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1.23 / 1.90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2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케이지 · 의자 · 의료 폐기물통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원심분리기 · 실험용 로봇 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15 / 21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1.43 / 2.23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2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정수기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가스통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 / 23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1.51 / 2.31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2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냉동 수면 캡슐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 / 24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1.51 / 2.50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2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약품 드럼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 / 25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1.51 / 2.60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2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모니터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거대 치즈 바퀴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17 / 27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1.59 / 2.88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2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클립보드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 / 26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1.64 / 2.97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2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실험 카트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서버 랙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17 / 28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1.73 / 3.09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2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금괴 상자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페트리 접시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 / 28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1.78 / 3.47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2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보안경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15 / 27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1.82 / 3.57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62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데이터 코어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15 / 28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1.82 / 3.88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62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다이아몬드 치즈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15 / 29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1.82 / 4.25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13" name="TextBox 13"/>
          <p:cNvSpPr txBox="1"/>
          <p:nvPr/>
        </p:nvSpPr>
        <p:spPr>
          <a:xfrm>
            <a:off x="1133856" y="6122000"/>
            <a:ext cx="9966960" cy="23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ko-KR" altLang="en-US" sz="10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평균 치즈 배율 = 출현 가중치로 가중 평균 · 표에 없는 층은 바로 아래 층과 같은 구성 · 20층 전부 해금 시 보물 가중치 비중 14%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200" b="0" dirty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오브젝트 명세</a:t>
            </a:r>
            <a:r>
              <a:rPr lang="ko-KR" altLang="en-US" sz="2400" b="0" dirty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층별 등장 타임라인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1"/>
          <p:cNvSpPr/>
          <p:nvPr/>
        </p:nvSpPr>
        <p:spPr>
          <a:xfrm>
            <a:off x="1133856" y="1330977"/>
            <a:ext cx="9966960" cy="502920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lIns="109728" tIns="36576" rIns="109728" bIns="36576" rtlCol="0" anchor="ctr"/>
          <a:lstStyle/>
          <a:p>
            <a:pPr algn="l">
              <a:spcAft>
                <a:spcPts val="300"/>
              </a:spcAft>
              <a:buNone/>
            </a:pPr>
            <a:r>
              <a:rPr lang="ko-KR" altLang="en-US" sz="14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1~20층에서 물건이 새로 나오고 빠지는 시점 — 위 = 기본 등장 · 아래 = 해금 시 등장</a:t>
            </a:r>
          </a:p>
        </p:txBody>
      </p:sp>
      <p:sp>
        <p:nvSpPr>
          <p:cNvPr id="12" name="Shape 12"/>
          <p:cNvSpPr/>
          <p:nvPr/>
        </p:nvSpPr>
        <p:spPr>
          <a:xfrm>
            <a:off x="1133856" y="4800000"/>
            <a:ext cx="9966960" cy="300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13" name="Shape 13"/>
          <p:cNvSpPr/>
          <p:nvPr/>
        </p:nvSpPr>
        <p:spPr>
          <a:xfrm>
            <a:off x="1133856" y="4800000"/>
            <a:ext cx="498348" cy="30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5640" y="4330000"/>
            <a:ext cx="214779" cy="330000"/>
          </a:xfrm>
          <a:prstGeom prst="rect">
            <a:avLst/>
          </a:prstGeom>
        </p:spPr>
      </p:pic>
      <p:sp>
        <p:nvSpPr>
          <p:cNvPr id="15" name="Shape 15"/>
          <p:cNvSpPr/>
          <p:nvPr/>
        </p:nvSpPr>
        <p:spPr>
          <a:xfrm>
            <a:off x="1073856" y="4660000"/>
            <a:ext cx="618348" cy="14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18288" rIns="0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65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플라스크</a:t>
            </a: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7110" y="3860000"/>
            <a:ext cx="271839" cy="330000"/>
          </a:xfrm>
          <a:prstGeom prst="rect">
            <a:avLst/>
          </a:prstGeom>
        </p:spPr>
      </p:pic>
      <p:sp>
        <p:nvSpPr>
          <p:cNvPr id="17" name="Shape 17"/>
          <p:cNvSpPr/>
          <p:nvPr/>
        </p:nvSpPr>
        <p:spPr>
          <a:xfrm>
            <a:off x="1073856" y="4190000"/>
            <a:ext cx="618348" cy="14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18288" rIns="0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65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비커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8091" y="3390000"/>
            <a:ext cx="309878" cy="330000"/>
          </a:xfrm>
          <a:prstGeom prst="rect">
            <a:avLst/>
          </a:prstGeom>
        </p:spPr>
      </p:pic>
      <p:sp>
        <p:nvSpPr>
          <p:cNvPr id="19" name="Shape 19"/>
          <p:cNvSpPr/>
          <p:nvPr/>
        </p:nvSpPr>
        <p:spPr>
          <a:xfrm>
            <a:off x="1073856" y="3720000"/>
            <a:ext cx="618348" cy="14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18288" rIns="0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65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페트리 접시</a:t>
            </a: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8030" y="3082250"/>
            <a:ext cx="330000" cy="167750"/>
          </a:xfrm>
          <a:prstGeom prst="rect">
            <a:avLst/>
          </a:prstGeom>
        </p:spPr>
      </p:pic>
      <p:sp>
        <p:nvSpPr>
          <p:cNvPr id="21" name="Shape 21"/>
          <p:cNvSpPr/>
          <p:nvPr/>
        </p:nvSpPr>
        <p:spPr>
          <a:xfrm>
            <a:off x="1073856" y="3250000"/>
            <a:ext cx="618348" cy="14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18288" rIns="0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65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주사기</a:t>
            </a: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8030" y="2463027"/>
            <a:ext cx="330000" cy="316973"/>
          </a:xfrm>
          <a:prstGeom prst="rect">
            <a:avLst/>
          </a:prstGeom>
        </p:spPr>
      </p:pic>
      <p:sp>
        <p:nvSpPr>
          <p:cNvPr id="23" name="Shape 23"/>
          <p:cNvSpPr/>
          <p:nvPr/>
        </p:nvSpPr>
        <p:spPr>
          <a:xfrm>
            <a:off x="1073856" y="2780000"/>
            <a:ext cx="618348" cy="14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18288" rIns="0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65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클립보드</a:t>
            </a: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67886" y="1980000"/>
            <a:ext cx="230287" cy="330000"/>
          </a:xfrm>
          <a:prstGeom prst="rect">
            <a:avLst/>
          </a:prstGeom>
        </p:spPr>
      </p:pic>
      <p:sp>
        <p:nvSpPr>
          <p:cNvPr id="25" name="Shape 25"/>
          <p:cNvSpPr/>
          <p:nvPr/>
        </p:nvSpPr>
        <p:spPr>
          <a:xfrm>
            <a:off x="1073856" y="2310000"/>
            <a:ext cx="618348" cy="14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18288" rIns="0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65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머그컵</a:t>
            </a:r>
          </a:p>
        </p:txBody>
      </p:sp>
      <p:sp>
        <p:nvSpPr>
          <p:cNvPr id="26" name="Shape 26"/>
          <p:cNvSpPr/>
          <p:nvPr/>
        </p:nvSpPr>
        <p:spPr>
          <a:xfrm>
            <a:off x="1153856" y="5120000"/>
            <a:ext cx="458348" cy="490000"/>
          </a:xfrm>
          <a:prstGeom prst="rect">
            <a:avLst/>
          </a:prstGeom>
          <a:solidFill>
            <a:srgbClr val="FBE5D6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82020" y="5130000"/>
            <a:ext cx="202019" cy="330000"/>
          </a:xfrm>
          <a:prstGeom prst="rect">
            <a:avLst/>
          </a:prstGeom>
        </p:spPr>
      </p:pic>
      <p:sp>
        <p:nvSpPr>
          <p:cNvPr id="28" name="Shape 28"/>
          <p:cNvSpPr/>
          <p:nvPr/>
        </p:nvSpPr>
        <p:spPr>
          <a:xfrm>
            <a:off x="1073856" y="5460000"/>
            <a:ext cx="618348" cy="14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18288" rIns="0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650" b="0" dirty="0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표본 병</a:t>
            </a:r>
          </a:p>
        </p:txBody>
      </p:sp>
      <p:sp>
        <p:nvSpPr>
          <p:cNvPr id="29" name="Shape 29"/>
          <p:cNvSpPr/>
          <p:nvPr/>
        </p:nvSpPr>
        <p:spPr>
          <a:xfrm>
            <a:off x="1153856" y="5590000"/>
            <a:ext cx="458348" cy="490000"/>
          </a:xfrm>
          <a:prstGeom prst="rect">
            <a:avLst/>
          </a:prstGeom>
          <a:solidFill>
            <a:srgbClr val="FBE5D6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38412" y="5600000"/>
            <a:ext cx="289235" cy="330000"/>
          </a:xfrm>
          <a:prstGeom prst="rect">
            <a:avLst/>
          </a:prstGeom>
        </p:spPr>
      </p:pic>
      <p:sp>
        <p:nvSpPr>
          <p:cNvPr id="31" name="Shape 31"/>
          <p:cNvSpPr/>
          <p:nvPr/>
        </p:nvSpPr>
        <p:spPr>
          <a:xfrm>
            <a:off x="1073856" y="5930000"/>
            <a:ext cx="618348" cy="14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18288" rIns="0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650" b="0" dirty="0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치즈 금고</a:t>
            </a:r>
          </a:p>
        </p:txBody>
      </p:sp>
      <p:sp>
        <p:nvSpPr>
          <p:cNvPr id="32" name="Shape 32"/>
          <p:cNvSpPr/>
          <p:nvPr/>
        </p:nvSpPr>
        <p:spPr>
          <a:xfrm>
            <a:off x="1632204" y="4800000"/>
            <a:ext cx="498348" cy="30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pic>
        <p:nvPicPr>
          <p:cNvPr id="33" name="Picture 3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61895" y="4330000"/>
            <a:ext cx="238965" cy="330000"/>
          </a:xfrm>
          <a:prstGeom prst="rect">
            <a:avLst/>
          </a:prstGeom>
        </p:spPr>
      </p:pic>
      <p:sp>
        <p:nvSpPr>
          <p:cNvPr id="34" name="Shape 34"/>
          <p:cNvSpPr/>
          <p:nvPr/>
        </p:nvSpPr>
        <p:spPr>
          <a:xfrm>
            <a:off x="1572204" y="4660000"/>
            <a:ext cx="618348" cy="14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18288" rIns="0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65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삼각 플라스크</a:t>
            </a:r>
          </a:p>
        </p:txBody>
      </p:sp>
      <p:pic>
        <p:nvPicPr>
          <p:cNvPr id="35" name="Picture 3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85491" y="3860000"/>
            <a:ext cx="191773" cy="330000"/>
          </a:xfrm>
          <a:prstGeom prst="rect">
            <a:avLst/>
          </a:prstGeom>
        </p:spPr>
      </p:pic>
      <p:sp>
        <p:nvSpPr>
          <p:cNvPr id="36" name="Shape 36"/>
          <p:cNvSpPr/>
          <p:nvPr/>
        </p:nvSpPr>
        <p:spPr>
          <a:xfrm>
            <a:off x="1572204" y="4190000"/>
            <a:ext cx="618348" cy="14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18288" rIns="0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65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약병</a:t>
            </a:r>
          </a:p>
        </p:txBody>
      </p:sp>
      <p:pic>
        <p:nvPicPr>
          <p:cNvPr id="37" name="Picture 37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716378" y="3459733"/>
            <a:ext cx="330000" cy="260267"/>
          </a:xfrm>
          <a:prstGeom prst="rect">
            <a:avLst/>
          </a:prstGeom>
        </p:spPr>
      </p:pic>
      <p:sp>
        <p:nvSpPr>
          <p:cNvPr id="38" name="Shape 38"/>
          <p:cNvSpPr/>
          <p:nvPr/>
        </p:nvSpPr>
        <p:spPr>
          <a:xfrm>
            <a:off x="1572204" y="3720000"/>
            <a:ext cx="618348" cy="14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18288" rIns="0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65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보안경</a:t>
            </a:r>
          </a:p>
        </p:txBody>
      </p:sp>
      <p:sp>
        <p:nvSpPr>
          <p:cNvPr id="39" name="Shape 39"/>
          <p:cNvSpPr/>
          <p:nvPr/>
        </p:nvSpPr>
        <p:spPr>
          <a:xfrm>
            <a:off x="2130552" y="4800000"/>
            <a:ext cx="498348" cy="30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pic>
        <p:nvPicPr>
          <p:cNvPr id="40" name="Picture 4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214726" y="4377940"/>
            <a:ext cx="330000" cy="282060"/>
          </a:xfrm>
          <a:prstGeom prst="rect">
            <a:avLst/>
          </a:prstGeom>
        </p:spPr>
      </p:pic>
      <p:sp>
        <p:nvSpPr>
          <p:cNvPr id="41" name="Shape 41"/>
          <p:cNvSpPr/>
          <p:nvPr/>
        </p:nvSpPr>
        <p:spPr>
          <a:xfrm>
            <a:off x="2070552" y="4660000"/>
            <a:ext cx="618348" cy="14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18288" rIns="0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65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시험관 꽂이</a:t>
            </a:r>
          </a:p>
        </p:txBody>
      </p:sp>
      <p:pic>
        <p:nvPicPr>
          <p:cNvPr id="42" name="Picture 42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214726" y="3892536"/>
            <a:ext cx="330000" cy="297464"/>
          </a:xfrm>
          <a:prstGeom prst="rect">
            <a:avLst/>
          </a:prstGeom>
        </p:spPr>
      </p:pic>
      <p:sp>
        <p:nvSpPr>
          <p:cNvPr id="43" name="Shape 43"/>
          <p:cNvSpPr/>
          <p:nvPr/>
        </p:nvSpPr>
        <p:spPr>
          <a:xfrm>
            <a:off x="2070552" y="4190000"/>
            <a:ext cx="618348" cy="14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18288" rIns="0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65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구급상자</a:t>
            </a:r>
          </a:p>
        </p:txBody>
      </p:sp>
      <p:sp>
        <p:nvSpPr>
          <p:cNvPr id="44" name="Shape 44"/>
          <p:cNvSpPr/>
          <p:nvPr/>
        </p:nvSpPr>
        <p:spPr>
          <a:xfrm>
            <a:off x="2150552" y="5120000"/>
            <a:ext cx="458348" cy="490000"/>
          </a:xfrm>
          <a:prstGeom prst="rect">
            <a:avLst/>
          </a:prstGeom>
          <a:solidFill>
            <a:srgbClr val="FBE5D6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pic>
        <p:nvPicPr>
          <p:cNvPr id="45" name="Picture 4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264694" y="5130000"/>
            <a:ext cx="230063" cy="330000"/>
          </a:xfrm>
          <a:prstGeom prst="rect">
            <a:avLst/>
          </a:prstGeom>
        </p:spPr>
      </p:pic>
      <p:sp>
        <p:nvSpPr>
          <p:cNvPr id="46" name="Shape 46"/>
          <p:cNvSpPr/>
          <p:nvPr/>
        </p:nvSpPr>
        <p:spPr>
          <a:xfrm>
            <a:off x="2070552" y="5460000"/>
            <a:ext cx="618348" cy="14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18288" rIns="0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650" b="0" dirty="0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현미경</a:t>
            </a:r>
          </a:p>
        </p:txBody>
      </p:sp>
      <p:sp>
        <p:nvSpPr>
          <p:cNvPr id="47" name="Shape 47"/>
          <p:cNvSpPr/>
          <p:nvPr/>
        </p:nvSpPr>
        <p:spPr>
          <a:xfrm>
            <a:off x="2150552" y="5590000"/>
            <a:ext cx="458348" cy="490000"/>
          </a:xfrm>
          <a:prstGeom prst="rect">
            <a:avLst/>
          </a:prstGeom>
          <a:solidFill>
            <a:srgbClr val="FBE5D6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pic>
        <p:nvPicPr>
          <p:cNvPr id="48" name="Picture 48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250468" y="5600000"/>
            <a:ext cx="258516" cy="330000"/>
          </a:xfrm>
          <a:prstGeom prst="rect">
            <a:avLst/>
          </a:prstGeom>
        </p:spPr>
      </p:pic>
      <p:sp>
        <p:nvSpPr>
          <p:cNvPr id="49" name="Shape 49"/>
          <p:cNvSpPr/>
          <p:nvPr/>
        </p:nvSpPr>
        <p:spPr>
          <a:xfrm>
            <a:off x="2070552" y="5930000"/>
            <a:ext cx="618348" cy="14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18288" rIns="0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650" b="0" dirty="0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황금 치즈 트로피</a:t>
            </a:r>
          </a:p>
        </p:txBody>
      </p:sp>
      <p:sp>
        <p:nvSpPr>
          <p:cNvPr id="50" name="Shape 50"/>
          <p:cNvSpPr/>
          <p:nvPr/>
        </p:nvSpPr>
        <p:spPr>
          <a:xfrm>
            <a:off x="2628900" y="4800000"/>
            <a:ext cx="498348" cy="30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pic>
        <p:nvPicPr>
          <p:cNvPr id="51" name="Picture 51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792367" y="4330000"/>
            <a:ext cx="171413" cy="330000"/>
          </a:xfrm>
          <a:prstGeom prst="rect">
            <a:avLst/>
          </a:prstGeom>
        </p:spPr>
      </p:pic>
      <p:sp>
        <p:nvSpPr>
          <p:cNvPr id="52" name="Shape 52"/>
          <p:cNvSpPr/>
          <p:nvPr/>
        </p:nvSpPr>
        <p:spPr>
          <a:xfrm>
            <a:off x="2568900" y="4660000"/>
            <a:ext cx="618348" cy="14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18288" rIns="0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65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소화기</a:t>
            </a:r>
          </a:p>
        </p:txBody>
      </p:sp>
      <p:sp>
        <p:nvSpPr>
          <p:cNvPr id="53" name="Shape 53"/>
          <p:cNvSpPr/>
          <p:nvPr/>
        </p:nvSpPr>
        <p:spPr>
          <a:xfrm>
            <a:off x="3127248" y="4800000"/>
            <a:ext cx="498348" cy="300000"/>
          </a:xfrm>
          <a:prstGeom prst="rect">
            <a:avLst/>
          </a:prstGeom>
          <a:solidFill>
            <a:srgbClr val="FBE5D6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5</a:t>
            </a:r>
          </a:p>
        </p:txBody>
      </p:sp>
      <p:pic>
        <p:nvPicPr>
          <p:cNvPr id="54" name="Picture 54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211422" y="4414885"/>
            <a:ext cx="330000" cy="245115"/>
          </a:xfrm>
          <a:prstGeom prst="rect">
            <a:avLst/>
          </a:prstGeom>
        </p:spPr>
      </p:pic>
      <p:sp>
        <p:nvSpPr>
          <p:cNvPr id="55" name="Shape 55"/>
          <p:cNvSpPr/>
          <p:nvPr/>
        </p:nvSpPr>
        <p:spPr>
          <a:xfrm>
            <a:off x="3067248" y="4660000"/>
            <a:ext cx="618348" cy="14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18288" rIns="0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65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케이지</a:t>
            </a:r>
          </a:p>
        </p:txBody>
      </p:sp>
      <p:pic>
        <p:nvPicPr>
          <p:cNvPr id="56" name="Picture 56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226477" y="3860000"/>
            <a:ext cx="299890" cy="330000"/>
          </a:xfrm>
          <a:prstGeom prst="rect">
            <a:avLst/>
          </a:prstGeom>
        </p:spPr>
      </p:pic>
      <p:sp>
        <p:nvSpPr>
          <p:cNvPr id="57" name="Shape 57"/>
          <p:cNvSpPr/>
          <p:nvPr/>
        </p:nvSpPr>
        <p:spPr>
          <a:xfrm>
            <a:off x="3067248" y="4190000"/>
            <a:ext cx="618348" cy="14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18288" rIns="0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65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의자</a:t>
            </a:r>
          </a:p>
        </p:txBody>
      </p:sp>
      <p:pic>
        <p:nvPicPr>
          <p:cNvPr id="58" name="Picture 58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252235" y="3390000"/>
            <a:ext cx="248374" cy="330000"/>
          </a:xfrm>
          <a:prstGeom prst="rect">
            <a:avLst/>
          </a:prstGeom>
        </p:spPr>
      </p:pic>
      <p:sp>
        <p:nvSpPr>
          <p:cNvPr id="59" name="Shape 59"/>
          <p:cNvSpPr/>
          <p:nvPr/>
        </p:nvSpPr>
        <p:spPr>
          <a:xfrm>
            <a:off x="3067248" y="3720000"/>
            <a:ext cx="618348" cy="14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18288" rIns="0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65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의료 폐기물통</a:t>
            </a:r>
          </a:p>
        </p:txBody>
      </p:sp>
      <p:sp>
        <p:nvSpPr>
          <p:cNvPr id="60" name="Shape 60"/>
          <p:cNvSpPr/>
          <p:nvPr/>
        </p:nvSpPr>
        <p:spPr>
          <a:xfrm>
            <a:off x="3147248" y="5120000"/>
            <a:ext cx="458348" cy="490000"/>
          </a:xfrm>
          <a:prstGeom prst="rect">
            <a:avLst/>
          </a:prstGeom>
          <a:solidFill>
            <a:srgbClr val="FBE5D6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pic>
        <p:nvPicPr>
          <p:cNvPr id="61" name="Picture 61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247067" y="5130000"/>
            <a:ext cx="258710" cy="330000"/>
          </a:xfrm>
          <a:prstGeom prst="rect">
            <a:avLst/>
          </a:prstGeom>
        </p:spPr>
      </p:pic>
      <p:sp>
        <p:nvSpPr>
          <p:cNvPr id="62" name="Shape 62"/>
          <p:cNvSpPr/>
          <p:nvPr/>
        </p:nvSpPr>
        <p:spPr>
          <a:xfrm>
            <a:off x="3067248" y="5460000"/>
            <a:ext cx="618348" cy="14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18288" rIns="0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650" b="0" dirty="0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원심분리기</a:t>
            </a:r>
          </a:p>
        </p:txBody>
      </p:sp>
      <p:sp>
        <p:nvSpPr>
          <p:cNvPr id="63" name="Shape 63"/>
          <p:cNvSpPr/>
          <p:nvPr/>
        </p:nvSpPr>
        <p:spPr>
          <a:xfrm>
            <a:off x="3147248" y="5590000"/>
            <a:ext cx="458348" cy="490000"/>
          </a:xfrm>
          <a:prstGeom prst="rect">
            <a:avLst/>
          </a:prstGeom>
          <a:solidFill>
            <a:srgbClr val="FBE5D6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pic>
        <p:nvPicPr>
          <p:cNvPr id="64" name="Picture 64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219214" y="5600000"/>
            <a:ext cx="314416" cy="330000"/>
          </a:xfrm>
          <a:prstGeom prst="rect">
            <a:avLst/>
          </a:prstGeom>
        </p:spPr>
      </p:pic>
      <p:sp>
        <p:nvSpPr>
          <p:cNvPr id="65" name="Shape 65"/>
          <p:cNvSpPr/>
          <p:nvPr/>
        </p:nvSpPr>
        <p:spPr>
          <a:xfrm>
            <a:off x="3067248" y="5930000"/>
            <a:ext cx="618348" cy="14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18288" rIns="0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650" b="0" dirty="0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실험용 로봇 팔</a:t>
            </a:r>
          </a:p>
        </p:txBody>
      </p:sp>
      <p:sp>
        <p:nvSpPr>
          <p:cNvPr id="66" name="Shape 66"/>
          <p:cNvSpPr/>
          <p:nvPr/>
        </p:nvSpPr>
        <p:spPr>
          <a:xfrm>
            <a:off x="3625596" y="4800000"/>
            <a:ext cx="498348" cy="30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6</a:t>
            </a:r>
          </a:p>
        </p:txBody>
      </p:sp>
      <p:pic>
        <p:nvPicPr>
          <p:cNvPr id="67" name="Picture 67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813350" y="4330000"/>
            <a:ext cx="122839" cy="330000"/>
          </a:xfrm>
          <a:prstGeom prst="rect">
            <a:avLst/>
          </a:prstGeom>
        </p:spPr>
      </p:pic>
      <p:sp>
        <p:nvSpPr>
          <p:cNvPr id="68" name="Shape 68"/>
          <p:cNvSpPr/>
          <p:nvPr/>
        </p:nvSpPr>
        <p:spPr>
          <a:xfrm>
            <a:off x="3565596" y="4660000"/>
            <a:ext cx="618348" cy="14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18288" rIns="0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65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정수기</a:t>
            </a:r>
          </a:p>
        </p:txBody>
      </p:sp>
      <p:sp>
        <p:nvSpPr>
          <p:cNvPr id="69" name="Shape 69"/>
          <p:cNvSpPr/>
          <p:nvPr/>
        </p:nvSpPr>
        <p:spPr>
          <a:xfrm>
            <a:off x="3645596" y="5120000"/>
            <a:ext cx="458348" cy="490000"/>
          </a:xfrm>
          <a:prstGeom prst="rect">
            <a:avLst/>
          </a:prstGeom>
          <a:solidFill>
            <a:srgbClr val="FBE5D6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pic>
        <p:nvPicPr>
          <p:cNvPr id="70" name="Picture 70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808770" y="5130000"/>
            <a:ext cx="132000" cy="330000"/>
          </a:xfrm>
          <a:prstGeom prst="rect">
            <a:avLst/>
          </a:prstGeom>
        </p:spPr>
      </p:pic>
      <p:sp>
        <p:nvSpPr>
          <p:cNvPr id="71" name="Shape 71"/>
          <p:cNvSpPr/>
          <p:nvPr/>
        </p:nvSpPr>
        <p:spPr>
          <a:xfrm>
            <a:off x="3565596" y="5460000"/>
            <a:ext cx="618348" cy="14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18288" rIns="0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650" b="0" dirty="0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가스통</a:t>
            </a:r>
          </a:p>
        </p:txBody>
      </p:sp>
      <p:sp>
        <p:nvSpPr>
          <p:cNvPr id="72" name="Shape 72"/>
          <p:cNvSpPr/>
          <p:nvPr/>
        </p:nvSpPr>
        <p:spPr>
          <a:xfrm>
            <a:off x="4123944" y="4800000"/>
            <a:ext cx="498348" cy="30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7</a:t>
            </a:r>
          </a:p>
        </p:txBody>
      </p:sp>
      <p:sp>
        <p:nvSpPr>
          <p:cNvPr id="73" name="Shape 73"/>
          <p:cNvSpPr/>
          <p:nvPr/>
        </p:nvSpPr>
        <p:spPr>
          <a:xfrm>
            <a:off x="4622292" y="4800000"/>
            <a:ext cx="498348" cy="30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8</a:t>
            </a:r>
          </a:p>
        </p:txBody>
      </p:sp>
      <p:sp>
        <p:nvSpPr>
          <p:cNvPr id="74" name="Shape 74"/>
          <p:cNvSpPr/>
          <p:nvPr/>
        </p:nvSpPr>
        <p:spPr>
          <a:xfrm>
            <a:off x="4642292" y="5120000"/>
            <a:ext cx="458348" cy="490000"/>
          </a:xfrm>
          <a:prstGeom prst="rect">
            <a:avLst/>
          </a:prstGeom>
          <a:solidFill>
            <a:srgbClr val="FBE5D6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pic>
        <p:nvPicPr>
          <p:cNvPr id="75" name="Picture 75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773841" y="5130000"/>
            <a:ext cx="195250" cy="330000"/>
          </a:xfrm>
          <a:prstGeom prst="rect">
            <a:avLst/>
          </a:prstGeom>
        </p:spPr>
      </p:pic>
      <p:sp>
        <p:nvSpPr>
          <p:cNvPr id="76" name="Shape 76"/>
          <p:cNvSpPr/>
          <p:nvPr/>
        </p:nvSpPr>
        <p:spPr>
          <a:xfrm>
            <a:off x="4562292" y="5460000"/>
            <a:ext cx="618348" cy="14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18288" rIns="0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650" b="0" dirty="0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냉동 수면 캡슐</a:t>
            </a:r>
          </a:p>
        </p:txBody>
      </p:sp>
      <p:sp>
        <p:nvSpPr>
          <p:cNvPr id="77" name="Shape 77"/>
          <p:cNvSpPr/>
          <p:nvPr/>
        </p:nvSpPr>
        <p:spPr>
          <a:xfrm>
            <a:off x="5120640" y="4800000"/>
            <a:ext cx="498348" cy="30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9</a:t>
            </a:r>
          </a:p>
        </p:txBody>
      </p:sp>
      <p:sp>
        <p:nvSpPr>
          <p:cNvPr id="78" name="Shape 78"/>
          <p:cNvSpPr/>
          <p:nvPr/>
        </p:nvSpPr>
        <p:spPr>
          <a:xfrm>
            <a:off x="5140640" y="5120000"/>
            <a:ext cx="458348" cy="490000"/>
          </a:xfrm>
          <a:prstGeom prst="rect">
            <a:avLst/>
          </a:prstGeom>
          <a:solidFill>
            <a:srgbClr val="FBE5D6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pic>
        <p:nvPicPr>
          <p:cNvPr id="79" name="Picture 79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267122" y="5130000"/>
            <a:ext cx="205384" cy="330000"/>
          </a:xfrm>
          <a:prstGeom prst="rect">
            <a:avLst/>
          </a:prstGeom>
        </p:spPr>
      </p:pic>
      <p:sp>
        <p:nvSpPr>
          <p:cNvPr id="80" name="Shape 80"/>
          <p:cNvSpPr/>
          <p:nvPr/>
        </p:nvSpPr>
        <p:spPr>
          <a:xfrm>
            <a:off x="5060640" y="5460000"/>
            <a:ext cx="618348" cy="14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18288" rIns="0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650" b="0" dirty="0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약품 드럼</a:t>
            </a:r>
          </a:p>
        </p:txBody>
      </p:sp>
      <p:sp>
        <p:nvSpPr>
          <p:cNvPr id="81" name="Shape 81"/>
          <p:cNvSpPr/>
          <p:nvPr/>
        </p:nvSpPr>
        <p:spPr>
          <a:xfrm>
            <a:off x="5618988" y="4800000"/>
            <a:ext cx="498348" cy="300000"/>
          </a:xfrm>
          <a:prstGeom prst="rect">
            <a:avLst/>
          </a:prstGeom>
          <a:solidFill>
            <a:srgbClr val="FBE5D6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10</a:t>
            </a:r>
          </a:p>
        </p:txBody>
      </p:sp>
      <p:pic>
        <p:nvPicPr>
          <p:cNvPr id="82" name="Picture 82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703162" y="4359485"/>
            <a:ext cx="330000" cy="300515"/>
          </a:xfrm>
          <a:prstGeom prst="rect">
            <a:avLst/>
          </a:prstGeom>
        </p:spPr>
      </p:pic>
      <p:sp>
        <p:nvSpPr>
          <p:cNvPr id="83" name="Shape 83"/>
          <p:cNvSpPr/>
          <p:nvPr/>
        </p:nvSpPr>
        <p:spPr>
          <a:xfrm>
            <a:off x="5558988" y="4660000"/>
            <a:ext cx="618348" cy="14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18288" rIns="0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65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모니터</a:t>
            </a:r>
          </a:p>
        </p:txBody>
      </p:sp>
      <p:sp>
        <p:nvSpPr>
          <p:cNvPr id="84" name="Shape 84"/>
          <p:cNvSpPr/>
          <p:nvPr/>
        </p:nvSpPr>
        <p:spPr>
          <a:xfrm>
            <a:off x="5638988" y="5120000"/>
            <a:ext cx="458348" cy="490000"/>
          </a:xfrm>
          <a:prstGeom prst="rect">
            <a:avLst/>
          </a:prstGeom>
          <a:solidFill>
            <a:srgbClr val="FBE5D6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pic>
        <p:nvPicPr>
          <p:cNvPr id="85" name="Picture 85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722870" y="5130000"/>
            <a:ext cx="290583" cy="330000"/>
          </a:xfrm>
          <a:prstGeom prst="rect">
            <a:avLst/>
          </a:prstGeom>
        </p:spPr>
      </p:pic>
      <p:sp>
        <p:nvSpPr>
          <p:cNvPr id="86" name="Shape 86"/>
          <p:cNvSpPr/>
          <p:nvPr/>
        </p:nvSpPr>
        <p:spPr>
          <a:xfrm>
            <a:off x="5558988" y="5460000"/>
            <a:ext cx="618348" cy="14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18288" rIns="0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650" b="0" dirty="0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거대 치즈 바퀴</a:t>
            </a:r>
          </a:p>
        </p:txBody>
      </p:sp>
      <p:sp>
        <p:nvSpPr>
          <p:cNvPr id="87" name="Shape 87"/>
          <p:cNvSpPr/>
          <p:nvPr/>
        </p:nvSpPr>
        <p:spPr>
          <a:xfrm>
            <a:off x="6117336" y="4800000"/>
            <a:ext cx="498348" cy="30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11</a:t>
            </a:r>
          </a:p>
        </p:txBody>
      </p:sp>
      <p:sp>
        <p:nvSpPr>
          <p:cNvPr id="88" name="Shape 88"/>
          <p:cNvSpPr/>
          <p:nvPr/>
        </p:nvSpPr>
        <p:spPr>
          <a:xfrm>
            <a:off x="5867336" y="6150000"/>
            <a:ext cx="998348" cy="23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18288" rIns="0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800" b="1" dirty="0">
                <a:solidFill>
                  <a:srgbClr val="7F7F7F"/>
                </a:solidFill>
                <a:latin typeface="Noto Sans KR"/>
                <a:ea typeface="Noto Sans KR"/>
                <a:cs typeface="Noto Sans KR"/>
              </a:rPr>
              <a:t>✕ 클립보드</a:t>
            </a:r>
          </a:p>
        </p:txBody>
      </p:sp>
      <p:sp>
        <p:nvSpPr>
          <p:cNvPr id="89" name="Shape 89"/>
          <p:cNvSpPr/>
          <p:nvPr/>
        </p:nvSpPr>
        <p:spPr>
          <a:xfrm>
            <a:off x="6615684" y="4800000"/>
            <a:ext cx="498348" cy="30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12</a:t>
            </a:r>
          </a:p>
        </p:txBody>
      </p:sp>
      <p:pic>
        <p:nvPicPr>
          <p:cNvPr id="90" name="Picture 90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699858" y="4338830"/>
            <a:ext cx="330000" cy="321170"/>
          </a:xfrm>
          <a:prstGeom prst="rect">
            <a:avLst/>
          </a:prstGeom>
        </p:spPr>
      </p:pic>
      <p:sp>
        <p:nvSpPr>
          <p:cNvPr id="91" name="Shape 91"/>
          <p:cNvSpPr/>
          <p:nvPr/>
        </p:nvSpPr>
        <p:spPr>
          <a:xfrm>
            <a:off x="6555684" y="4660000"/>
            <a:ext cx="618348" cy="14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18288" rIns="0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65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실험 카트</a:t>
            </a:r>
          </a:p>
        </p:txBody>
      </p:sp>
      <p:sp>
        <p:nvSpPr>
          <p:cNvPr id="92" name="Shape 92"/>
          <p:cNvSpPr/>
          <p:nvPr/>
        </p:nvSpPr>
        <p:spPr>
          <a:xfrm>
            <a:off x="6635684" y="5120000"/>
            <a:ext cx="458348" cy="490000"/>
          </a:xfrm>
          <a:prstGeom prst="rect">
            <a:avLst/>
          </a:prstGeom>
          <a:solidFill>
            <a:srgbClr val="FBE5D6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pic>
        <p:nvPicPr>
          <p:cNvPr id="93" name="Picture 93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760009" y="5130000"/>
            <a:ext cx="209698" cy="330000"/>
          </a:xfrm>
          <a:prstGeom prst="rect">
            <a:avLst/>
          </a:prstGeom>
        </p:spPr>
      </p:pic>
      <p:sp>
        <p:nvSpPr>
          <p:cNvPr id="94" name="Shape 94"/>
          <p:cNvSpPr/>
          <p:nvPr/>
        </p:nvSpPr>
        <p:spPr>
          <a:xfrm>
            <a:off x="6555684" y="5460000"/>
            <a:ext cx="618348" cy="14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18288" rIns="0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650" b="0" dirty="0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서버 랙</a:t>
            </a:r>
          </a:p>
        </p:txBody>
      </p:sp>
      <p:sp>
        <p:nvSpPr>
          <p:cNvPr id="95" name="Shape 95"/>
          <p:cNvSpPr/>
          <p:nvPr/>
        </p:nvSpPr>
        <p:spPr>
          <a:xfrm>
            <a:off x="7114032" y="4800000"/>
            <a:ext cx="498348" cy="30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13</a:t>
            </a:r>
          </a:p>
        </p:txBody>
      </p:sp>
      <p:sp>
        <p:nvSpPr>
          <p:cNvPr id="96" name="Shape 96"/>
          <p:cNvSpPr/>
          <p:nvPr/>
        </p:nvSpPr>
        <p:spPr>
          <a:xfrm>
            <a:off x="7134032" y="5120000"/>
            <a:ext cx="458348" cy="490000"/>
          </a:xfrm>
          <a:prstGeom prst="rect">
            <a:avLst/>
          </a:prstGeom>
          <a:solidFill>
            <a:srgbClr val="FBE5D6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pic>
        <p:nvPicPr>
          <p:cNvPr id="97" name="Picture 97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198206" y="5171492"/>
            <a:ext cx="330000" cy="288508"/>
          </a:xfrm>
          <a:prstGeom prst="rect">
            <a:avLst/>
          </a:prstGeom>
        </p:spPr>
      </p:pic>
      <p:sp>
        <p:nvSpPr>
          <p:cNvPr id="98" name="Shape 98"/>
          <p:cNvSpPr/>
          <p:nvPr/>
        </p:nvSpPr>
        <p:spPr>
          <a:xfrm>
            <a:off x="7054032" y="5460000"/>
            <a:ext cx="618348" cy="14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18288" rIns="0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650" b="0" dirty="0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금괴 상자</a:t>
            </a:r>
          </a:p>
        </p:txBody>
      </p:sp>
      <p:sp>
        <p:nvSpPr>
          <p:cNvPr id="99" name="Shape 99"/>
          <p:cNvSpPr/>
          <p:nvPr/>
        </p:nvSpPr>
        <p:spPr>
          <a:xfrm>
            <a:off x="6864032" y="6150000"/>
            <a:ext cx="998348" cy="23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18288" rIns="0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800" b="1" dirty="0">
                <a:solidFill>
                  <a:srgbClr val="7F7F7F"/>
                </a:solidFill>
                <a:latin typeface="Noto Sans KR"/>
                <a:ea typeface="Noto Sans KR"/>
                <a:cs typeface="Noto Sans KR"/>
              </a:rPr>
              <a:t>✕ 페트리 접시</a:t>
            </a:r>
          </a:p>
        </p:txBody>
      </p:sp>
      <p:sp>
        <p:nvSpPr>
          <p:cNvPr id="100" name="Shape 100"/>
          <p:cNvSpPr/>
          <p:nvPr/>
        </p:nvSpPr>
        <p:spPr>
          <a:xfrm>
            <a:off x="7612380" y="4800000"/>
            <a:ext cx="498348" cy="30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14</a:t>
            </a:r>
          </a:p>
        </p:txBody>
      </p:sp>
      <p:sp>
        <p:nvSpPr>
          <p:cNvPr id="101" name="Shape 101"/>
          <p:cNvSpPr/>
          <p:nvPr/>
        </p:nvSpPr>
        <p:spPr>
          <a:xfrm>
            <a:off x="8110728" y="4800000"/>
            <a:ext cx="498348" cy="300000"/>
          </a:xfrm>
          <a:prstGeom prst="rect">
            <a:avLst/>
          </a:prstGeom>
          <a:solidFill>
            <a:srgbClr val="FBE5D6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15</a:t>
            </a:r>
          </a:p>
        </p:txBody>
      </p:sp>
      <p:sp>
        <p:nvSpPr>
          <p:cNvPr id="102" name="Shape 102"/>
          <p:cNvSpPr/>
          <p:nvPr/>
        </p:nvSpPr>
        <p:spPr>
          <a:xfrm>
            <a:off x="7860728" y="6150000"/>
            <a:ext cx="998348" cy="23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18288" rIns="0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800" b="1" dirty="0">
                <a:solidFill>
                  <a:srgbClr val="7F7F7F"/>
                </a:solidFill>
                <a:latin typeface="Noto Sans KR"/>
                <a:ea typeface="Noto Sans KR"/>
                <a:cs typeface="Noto Sans KR"/>
              </a:rPr>
              <a:t>✕ 보안경</a:t>
            </a:r>
          </a:p>
        </p:txBody>
      </p:sp>
      <p:sp>
        <p:nvSpPr>
          <p:cNvPr id="103" name="Shape 103"/>
          <p:cNvSpPr/>
          <p:nvPr/>
        </p:nvSpPr>
        <p:spPr>
          <a:xfrm>
            <a:off x="8609076" y="4800000"/>
            <a:ext cx="498348" cy="30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16</a:t>
            </a:r>
          </a:p>
        </p:txBody>
      </p:sp>
      <p:sp>
        <p:nvSpPr>
          <p:cNvPr id="104" name="Shape 104"/>
          <p:cNvSpPr/>
          <p:nvPr/>
        </p:nvSpPr>
        <p:spPr>
          <a:xfrm>
            <a:off x="8629076" y="5120000"/>
            <a:ext cx="458348" cy="490000"/>
          </a:xfrm>
          <a:prstGeom prst="rect">
            <a:avLst/>
          </a:prstGeom>
          <a:solidFill>
            <a:srgbClr val="FBE5D6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pic>
        <p:nvPicPr>
          <p:cNvPr id="105" name="Picture 105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8741833" y="5130000"/>
            <a:ext cx="232833" cy="330000"/>
          </a:xfrm>
          <a:prstGeom prst="rect">
            <a:avLst/>
          </a:prstGeom>
        </p:spPr>
      </p:pic>
      <p:sp>
        <p:nvSpPr>
          <p:cNvPr id="106" name="Shape 106"/>
          <p:cNvSpPr/>
          <p:nvPr/>
        </p:nvSpPr>
        <p:spPr>
          <a:xfrm>
            <a:off x="8549076" y="5460000"/>
            <a:ext cx="618348" cy="14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18288" rIns="0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650" b="0" dirty="0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데이터 코어</a:t>
            </a:r>
          </a:p>
        </p:txBody>
      </p:sp>
      <p:sp>
        <p:nvSpPr>
          <p:cNvPr id="107" name="Shape 107"/>
          <p:cNvSpPr/>
          <p:nvPr/>
        </p:nvSpPr>
        <p:spPr>
          <a:xfrm>
            <a:off x="9107424" y="4800000"/>
            <a:ext cx="498348" cy="30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17</a:t>
            </a:r>
          </a:p>
        </p:txBody>
      </p:sp>
      <p:sp>
        <p:nvSpPr>
          <p:cNvPr id="108" name="Shape 108"/>
          <p:cNvSpPr/>
          <p:nvPr/>
        </p:nvSpPr>
        <p:spPr>
          <a:xfrm>
            <a:off x="9605772" y="4800000"/>
            <a:ext cx="498348" cy="30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18</a:t>
            </a:r>
          </a:p>
        </p:txBody>
      </p:sp>
      <p:sp>
        <p:nvSpPr>
          <p:cNvPr id="109" name="Shape 109"/>
          <p:cNvSpPr/>
          <p:nvPr/>
        </p:nvSpPr>
        <p:spPr>
          <a:xfrm>
            <a:off x="10104120" y="4800000"/>
            <a:ext cx="498348" cy="30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19</a:t>
            </a:r>
          </a:p>
        </p:txBody>
      </p:sp>
      <p:sp>
        <p:nvSpPr>
          <p:cNvPr id="110" name="Shape 110"/>
          <p:cNvSpPr/>
          <p:nvPr/>
        </p:nvSpPr>
        <p:spPr>
          <a:xfrm>
            <a:off x="10602468" y="4800000"/>
            <a:ext cx="498348" cy="300000"/>
          </a:xfrm>
          <a:prstGeom prst="rect">
            <a:avLst/>
          </a:prstGeom>
          <a:solidFill>
            <a:srgbClr val="FBE5D6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20</a:t>
            </a:r>
          </a:p>
        </p:txBody>
      </p:sp>
      <p:sp>
        <p:nvSpPr>
          <p:cNvPr id="111" name="Shape 111"/>
          <p:cNvSpPr/>
          <p:nvPr/>
        </p:nvSpPr>
        <p:spPr>
          <a:xfrm>
            <a:off x="10622468" y="5120000"/>
            <a:ext cx="458348" cy="490000"/>
          </a:xfrm>
          <a:prstGeom prst="rect">
            <a:avLst/>
          </a:prstGeom>
          <a:solidFill>
            <a:srgbClr val="FBE5D6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pic>
        <p:nvPicPr>
          <p:cNvPr id="112" name="Picture 112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0742120" y="5130000"/>
            <a:ext cx="219043" cy="330000"/>
          </a:xfrm>
          <a:prstGeom prst="rect">
            <a:avLst/>
          </a:prstGeom>
        </p:spPr>
      </p:pic>
      <p:sp>
        <p:nvSpPr>
          <p:cNvPr id="113" name="Shape 113"/>
          <p:cNvSpPr/>
          <p:nvPr/>
        </p:nvSpPr>
        <p:spPr>
          <a:xfrm>
            <a:off x="10542468" y="5460000"/>
            <a:ext cx="618348" cy="14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18288" rIns="0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650" b="0" dirty="0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다이아몬드 치즈</a:t>
            </a:r>
          </a:p>
        </p:txBody>
      </p:sp>
      <p:sp>
        <p:nvSpPr>
          <p:cNvPr id="114" name="TextBox 114"/>
          <p:cNvSpPr txBox="1"/>
          <p:nvPr/>
        </p:nvSpPr>
        <p:spPr>
          <a:xfrm>
            <a:off x="1133856" y="6450000"/>
            <a:ext cx="9966960" cy="23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ko-KR" altLang="en-US" sz="10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✕ = 그 층부터 더 이상 나오지 않음 (to_floor 다음 층) · 주황 숫자 = 보스 층 · 7 · 14 · 17~19층은 변화 없음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200" b="0" dirty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오브젝트 명세</a:t>
            </a:r>
            <a:r>
              <a:rPr lang="ko-KR" altLang="en-US" sz="2400" b="0" dirty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층별 실제 값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1"/>
          <p:cNvSpPr/>
          <p:nvPr/>
        </p:nvSpPr>
        <p:spPr>
          <a:xfrm>
            <a:off x="1133856" y="1330977"/>
            <a:ext cx="9966960" cy="502920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lIns="109728" tIns="36576" rIns="109728" bIns="36576" rtlCol="0" anchor="ctr"/>
          <a:lstStyle/>
          <a:p>
            <a:pPr algn="l">
              <a:spcAft>
                <a:spcPts val="300"/>
              </a:spcAft>
              <a:buNone/>
            </a:pPr>
            <a:r>
              <a:rPr lang="ko-KR" altLang="en-US" sz="14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시작 방 기준 대표 오브젝트의 실제 체력 / 치즈 (노드 · 황금 · 콤보 제외)</a:t>
            </a:r>
          </a:p>
        </p:txBody>
      </p:sp>
      <p:graphicFrame>
        <p:nvGraphicFramePr>
          <p:cNvPr id="12" name="Table 12"/>
          <p:cNvGraphicFramePr>
            <a:graphicFrameLocks noGrp="1"/>
          </p:cNvGraphicFramePr>
          <p:nvPr/>
        </p:nvGraphicFramePr>
        <p:xfrm>
          <a:off x="1133856" y="1950000"/>
          <a:ext cx="9966960" cy="37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4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88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34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5344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5344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9972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4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플라스크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서버 랙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자판기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연구원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경비원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층 돌파 연구자료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 / 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336 / 66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108 / 36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15 / 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420 / 87.1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135 / 47.5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18.7 / 5.2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524 / 116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168 / 63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281 / 94.5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23.4 / 6.9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655 / 152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211 / 83.2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351 / 125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42.2 / 14.4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1,183 / 317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380 / 173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634 / 260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169 / 81.9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4,734 / 1,802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1,522 / 983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2,536 / 1,474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113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678 / 465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8,130 / 4,185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18,971 / 10,230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6,098 / 5,580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10,163 / 8,370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452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22,320 / 36,600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267,840 / 329,400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624,960 / 805,200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200,880 / 439,200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334,800 / 658,800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14,900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736,800 / 2,901,000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8,841,600 / 26,109,000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20,630,400 / 63,822,000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6,631,200 / 34,812,000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11,052,000 / 52,218,000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491,000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24,360,000 / 229,500,000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292,320,000 / 2,065,500,000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682,080,000 / 5,049,000,000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219,240,000 / 2,754,000,000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365,400,000 / 4,131,000,000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16,200,000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3" name="TextBox 13"/>
          <p:cNvSpPr txBox="1"/>
          <p:nvPr/>
        </p:nvSpPr>
        <p:spPr>
          <a:xfrm>
            <a:off x="1133856" y="5790000"/>
            <a:ext cx="9966960" cy="23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ko-KR" altLang="en-US" sz="10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체력 / 치즈 · 주황 행 = 보스 층 · 층 돌파 연구자료 = 스테이지 테이블 research 칸 · 방 거리 1칸마다 물건 체력 ×1.14 · 치즈 ×1.06 추가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200" b="0" dirty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가이드라인</a:t>
            </a:r>
            <a:r>
              <a:rPr lang="ko-KR" altLang="en-US" sz="2400" b="0" dirty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신규 오브젝트 추가 절차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1"/>
          <p:cNvSpPr/>
          <p:nvPr/>
        </p:nvSpPr>
        <p:spPr>
          <a:xfrm>
            <a:off x="1133856" y="1330977"/>
            <a:ext cx="9966960" cy="502920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lIns="109728" tIns="36576" rIns="109728" bIns="36576" rtlCol="0" anchor="ctr"/>
          <a:lstStyle/>
          <a:p>
            <a:pPr algn="l">
              <a:spcAft>
                <a:spcPts val="300"/>
              </a:spcAft>
              <a:buNone/>
            </a:pPr>
            <a:r>
              <a:rPr lang="ko-KR" altLang="en-US" sz="14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분류 결정부터 문서 갱신까지 6단계 — 기존 오브젝트와 같은 규칙으로 추가</a:t>
            </a:r>
          </a:p>
        </p:txBody>
      </p:sp>
      <p:sp>
        <p:nvSpPr>
          <p:cNvPr id="12" name="Rectangle 12"/>
          <p:cNvSpPr/>
          <p:nvPr/>
        </p:nvSpPr>
        <p:spPr>
          <a:xfrm>
            <a:off x="1133856" y="1950000"/>
            <a:ext cx="3175653" cy="20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txBody>
          <a:bodyPr wrap="square" lIns="73152" tIns="36576" rIns="73152" bIns="36576" rtlCol="0" anchor="ctr"/>
          <a:lstStyle/>
          <a:p>
            <a:pPr algn="ctr"/>
            <a:endParaRPr lang="ko-KR" altLang="en-US"/>
          </a:p>
        </p:txBody>
      </p:sp>
      <p:sp>
        <p:nvSpPr>
          <p:cNvPr id="13" name="Rectangle 13"/>
          <p:cNvSpPr/>
          <p:nvPr/>
        </p:nvSpPr>
        <p:spPr>
          <a:xfrm>
            <a:off x="1283856" y="2100000"/>
            <a:ext cx="380000" cy="38000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txBody>
          <a:bodyPr wrap="square" lIns="0" tIns="36576" rIns="0" bIns="36576" rtlCol="0" anchor="ctr"/>
          <a:lstStyle/>
          <a:p>
            <a:pPr algn="ctr">
              <a:spcAft>
                <a:spcPts val="200"/>
              </a:spcAft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733856" y="2100000"/>
            <a:ext cx="2475653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ko-KR" altLang="en-US" sz="14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분류 결정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33856" y="2570000"/>
            <a:ext cx="2845653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ko-KR" altLang="en-US" sz="105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일반 물건 · 보물 · 가구 · 쏟아짐 · 사람 중 하나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ko-KR" altLang="en-US" sz="105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분류 → 테이블 시트 · ID 대역 · 생성 방식 결정</a:t>
            </a:r>
          </a:p>
        </p:txBody>
      </p:sp>
      <p:sp>
        <p:nvSpPr>
          <p:cNvPr id="16" name="Rectangle 16"/>
          <p:cNvSpPr/>
          <p:nvPr/>
        </p:nvSpPr>
        <p:spPr>
          <a:xfrm>
            <a:off x="4529509" y="1950000"/>
            <a:ext cx="3175653" cy="20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txBody>
          <a:bodyPr wrap="square" lIns="73152" tIns="36576" rIns="73152" bIns="36576" rtlCol="0" anchor="ctr"/>
          <a:lstStyle/>
          <a:p>
            <a:pPr algn="ctr"/>
            <a:endParaRPr lang="ko-KR" altLang="en-US"/>
          </a:p>
        </p:txBody>
      </p:sp>
      <p:sp>
        <p:nvSpPr>
          <p:cNvPr id="17" name="Rectangle 17"/>
          <p:cNvSpPr/>
          <p:nvPr/>
        </p:nvSpPr>
        <p:spPr>
          <a:xfrm>
            <a:off x="4679509" y="2100000"/>
            <a:ext cx="380000" cy="38000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txBody>
          <a:bodyPr wrap="square" lIns="0" tIns="36576" rIns="0" bIns="36576" rtlCol="0" anchor="ctr"/>
          <a:lstStyle/>
          <a:p>
            <a:pPr algn="ctr">
              <a:spcAft>
                <a:spcPts val="200"/>
              </a:spcAft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129509" y="2100000"/>
            <a:ext cx="2475653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ko-KR" altLang="en-US" sz="14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기준 수치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729509" y="2570000"/>
            <a:ext cx="2845653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ko-KR" altLang="en-US" sz="105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분류별 범위표(다음 장)에서 체력 · 치즈 배율 선택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ko-KR" altLang="en-US" sz="105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효율 = 치즈 ÷ 체력이 범위 안인지 확인</a:t>
            </a:r>
          </a:p>
        </p:txBody>
      </p:sp>
      <p:sp>
        <p:nvSpPr>
          <p:cNvPr id="20" name="Rectangle 20"/>
          <p:cNvSpPr/>
          <p:nvPr/>
        </p:nvSpPr>
        <p:spPr>
          <a:xfrm>
            <a:off x="7925162" y="1950000"/>
            <a:ext cx="3175653" cy="20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txBody>
          <a:bodyPr wrap="square" lIns="73152" tIns="36576" rIns="73152" bIns="36576" rtlCol="0" anchor="ctr"/>
          <a:lstStyle/>
          <a:p>
            <a:pPr algn="ctr"/>
            <a:endParaRPr lang="ko-KR" altLang="en-US"/>
          </a:p>
        </p:txBody>
      </p:sp>
      <p:sp>
        <p:nvSpPr>
          <p:cNvPr id="21" name="Rectangle 21"/>
          <p:cNvSpPr/>
          <p:nvPr/>
        </p:nvSpPr>
        <p:spPr>
          <a:xfrm>
            <a:off x="8075162" y="2100000"/>
            <a:ext cx="380000" cy="38000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txBody>
          <a:bodyPr wrap="square" lIns="0" tIns="36576" rIns="0" bIns="36576" rtlCol="0" anchor="ctr"/>
          <a:lstStyle/>
          <a:p>
            <a:pPr algn="ctr">
              <a:spcAft>
                <a:spcPts val="200"/>
              </a:spcAft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525162" y="2100000"/>
            <a:ext cx="2475653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ko-KR" altLang="en-US" sz="14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등장 조건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125162" y="2570000"/>
            <a:ext cx="2845653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ko-KR" altLang="en-US" sz="105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등장 층 · 마지막 층 · 출현 가중치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ko-KR" altLang="en-US" sz="105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보물 = 해금 노드 · 가구 = 배치표 · 쏟아짐 = 부모 drop 칸</a:t>
            </a:r>
          </a:p>
        </p:txBody>
      </p:sp>
      <p:sp>
        <p:nvSpPr>
          <p:cNvPr id="24" name="Rectangle 24"/>
          <p:cNvSpPr/>
          <p:nvPr/>
        </p:nvSpPr>
        <p:spPr>
          <a:xfrm>
            <a:off x="1133856" y="4170000"/>
            <a:ext cx="3175653" cy="20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txBody>
          <a:bodyPr wrap="square" lIns="73152" tIns="36576" rIns="73152" bIns="36576" rtlCol="0" anchor="ctr"/>
          <a:lstStyle/>
          <a:p>
            <a:pPr algn="ctr"/>
            <a:endParaRPr lang="ko-KR" altLang="en-US"/>
          </a:p>
        </p:txBody>
      </p:sp>
      <p:sp>
        <p:nvSpPr>
          <p:cNvPr id="25" name="Rectangle 25"/>
          <p:cNvSpPr/>
          <p:nvPr/>
        </p:nvSpPr>
        <p:spPr>
          <a:xfrm>
            <a:off x="1283856" y="4320000"/>
            <a:ext cx="380000" cy="38000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txBody>
          <a:bodyPr wrap="square" lIns="0" tIns="36576" rIns="0" bIns="36576" rtlCol="0" anchor="ctr"/>
          <a:lstStyle/>
          <a:p>
            <a:pPr algn="ctr">
              <a:spcAft>
                <a:spcPts val="200"/>
              </a:spcAft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733856" y="4320000"/>
            <a:ext cx="2475653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ko-KR" altLang="en-US" sz="14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테이블 입력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333856" y="4790000"/>
            <a:ext cx="2845653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ko-KR" altLang="en-US" sz="105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Data_Table 엑셀에 행 추가 (칸 규칙: 40p)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ko-KR" altLang="en-US" sz="105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python Tools/xlsx2json.py 로 JSON 반영</a:t>
            </a:r>
          </a:p>
        </p:txBody>
      </p:sp>
      <p:sp>
        <p:nvSpPr>
          <p:cNvPr id="28" name="Rectangle 28"/>
          <p:cNvSpPr/>
          <p:nvPr/>
        </p:nvSpPr>
        <p:spPr>
          <a:xfrm>
            <a:off x="4529509" y="4170000"/>
            <a:ext cx="3175653" cy="20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txBody>
          <a:bodyPr wrap="square" lIns="73152" tIns="36576" rIns="73152" bIns="36576" rtlCol="0" anchor="ctr"/>
          <a:lstStyle/>
          <a:p>
            <a:pPr algn="ctr"/>
            <a:endParaRPr lang="ko-KR" altLang="en-US"/>
          </a:p>
        </p:txBody>
      </p:sp>
      <p:sp>
        <p:nvSpPr>
          <p:cNvPr id="29" name="Rectangle 29"/>
          <p:cNvSpPr/>
          <p:nvPr/>
        </p:nvSpPr>
        <p:spPr>
          <a:xfrm>
            <a:off x="4679509" y="4320000"/>
            <a:ext cx="380000" cy="38000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txBody>
          <a:bodyPr wrap="square" lIns="0" tIns="36576" rIns="0" bIns="36576" rtlCol="0" anchor="ctr"/>
          <a:lstStyle/>
          <a:p>
            <a:pPr algn="ctr">
              <a:spcAft>
                <a:spcPts val="200"/>
              </a:spcAft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5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129509" y="4320000"/>
            <a:ext cx="2475653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ko-KR" altLang="en-US" sz="14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그림 · 연결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729509" y="4790000"/>
            <a:ext cx="2845653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ko-KR" altLang="en-US" sz="105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Codex로 그림 생성 → Assets/Art/Rats/&lt;asset&gt;.png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ko-KR" altLang="en-US" sz="105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ItemManager 컴포넌트 메뉴 Fill Item Sprites</a:t>
            </a:r>
          </a:p>
        </p:txBody>
      </p:sp>
      <p:sp>
        <p:nvSpPr>
          <p:cNvPr id="32" name="Rectangle 32"/>
          <p:cNvSpPr/>
          <p:nvPr/>
        </p:nvSpPr>
        <p:spPr>
          <a:xfrm>
            <a:off x="7925162" y="4170000"/>
            <a:ext cx="3175653" cy="20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txBody>
          <a:bodyPr wrap="square" lIns="73152" tIns="36576" rIns="73152" bIns="36576" rtlCol="0" anchor="ctr"/>
          <a:lstStyle/>
          <a:p>
            <a:pPr algn="ctr"/>
            <a:endParaRPr lang="ko-KR" altLang="en-US"/>
          </a:p>
        </p:txBody>
      </p:sp>
      <p:sp>
        <p:nvSpPr>
          <p:cNvPr id="33" name="Rectangle 33"/>
          <p:cNvSpPr/>
          <p:nvPr/>
        </p:nvSpPr>
        <p:spPr>
          <a:xfrm>
            <a:off x="8075162" y="4320000"/>
            <a:ext cx="380000" cy="38000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txBody>
          <a:bodyPr wrap="square" lIns="0" tIns="36576" rIns="0" bIns="36576" rtlCol="0" anchor="ctr"/>
          <a:lstStyle/>
          <a:p>
            <a:pPr algn="ctr">
              <a:spcAft>
                <a:spcPts val="200"/>
              </a:spcAft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6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525162" y="4320000"/>
            <a:ext cx="2475653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ko-KR" altLang="en-US" sz="14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검증 · 문서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125162" y="4790000"/>
            <a:ext cx="2845653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ko-KR" altLang="en-US" sz="105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체크리스트(41p) 확인 · 게임에서 박살 확인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ko-KR" altLang="en-US" sz="105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이 기획서 명세표 · 층별 구성 · 로그 갱신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200" b="0" dirty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가이드라인</a:t>
            </a:r>
            <a:r>
              <a:rPr lang="ko-KR" altLang="en-US" sz="2400" b="0" dirty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분류별 기준 범위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1"/>
          <p:cNvSpPr/>
          <p:nvPr/>
        </p:nvSpPr>
        <p:spPr>
          <a:xfrm>
            <a:off x="1133856" y="1330977"/>
            <a:ext cx="9966960" cy="502920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lIns="109728" tIns="36576" rIns="109728" bIns="36576" rtlCol="0" anchor="ctr"/>
          <a:lstStyle/>
          <a:p>
            <a:pPr algn="l">
              <a:spcAft>
                <a:spcPts val="300"/>
              </a:spcAft>
              <a:buNone/>
            </a:pPr>
            <a:r>
              <a:rPr lang="ko-KR" altLang="en-US" sz="14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현재 오브젝트에서 뽑은 분류별 수치 범위 — 신규 오브젝트는 이 범위 안에서 결정</a:t>
            </a:r>
          </a:p>
        </p:txBody>
      </p:sp>
      <p:graphicFrame>
        <p:nvGraphicFramePr>
          <p:cNvPr id="12" name="Table 12"/>
          <p:cNvGraphicFramePr>
            <a:graphicFrameLocks noGrp="1"/>
          </p:cNvGraphicFramePr>
          <p:nvPr/>
        </p:nvGraphicFramePr>
        <p:xfrm>
          <a:off x="1133856" y="1950000"/>
          <a:ext cx="9966960" cy="26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20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35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535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20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204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440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6993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3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분류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체력 배율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치즈 배율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효율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출현 가중치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반지름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추가로 필요한 칸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일반 소형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0.8~1.3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0.8~1.3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0.89~1.33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12~15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일반 중형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1.4~2.6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1.4~2.4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0.82~1.20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14~18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단단한 재질이면 is_sturdy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일반 대형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3~12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2.6~9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0.75~1.00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0.35~1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16~30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체력 9 이상 = is_big · 쏟아짐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보물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5~24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8~36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1.00~2.00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0.25~0.5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18~30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unlock_skill 필수 · 쏟아짐 권장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가구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6~28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4~22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0.62~0.79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20~46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heavy 2.5~7 · 배치표 행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쏟아짐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0.4~0.9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0.8~4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1.25~5.00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11~15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부모 오브젝트의 drop 칸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사람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3~5 (실제 ×3)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6~9 (실제 ×2)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1.14~1.33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균등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26 (공통)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Human_Line 대사 · 파츠 그림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3" name="TextBox 13"/>
          <p:cNvSpPr txBox="1"/>
          <p:nvPr/>
        </p:nvSpPr>
        <p:spPr>
          <a:xfrm>
            <a:off x="1133856" y="4790000"/>
            <a:ext cx="996696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28600" indent="-228600" algn="l">
              <a:spcAft>
                <a:spcPts val="500"/>
              </a:spcAft>
              <a:buFont typeface="Arial"/>
              <a:buChar char="•"/>
            </a:pPr>
            <a:r>
              <a:rPr lang="ko-KR" altLang="en-US" sz="1100" b="1" dirty="0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크기와 가치</a:t>
            </a:r>
            <a:r>
              <a:rPr lang="ko-KR" altLang="en-US" sz="11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 체력과 치즈는 같은 방향 — 크고 단단한 것이 많이 줌, 효율은 크기가 클수록 살짝 낮춤</a:t>
            </a:r>
          </a:p>
          <a:p>
            <a:pPr marL="228600" indent="-228600" algn="l">
              <a:spcAft>
                <a:spcPts val="500"/>
              </a:spcAft>
              <a:buFont typeface="Arial"/>
              <a:buChar char="•"/>
            </a:pPr>
            <a:r>
              <a:rPr lang="ko-KR" altLang="en-US" sz="1100" b="1" dirty="0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효율 예외</a:t>
            </a:r>
            <a:r>
              <a:rPr lang="ko-KR" altLang="en-US" sz="11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 범위를 넘는 효율에는 대가 필요 — 드묾(가중치) · 단단함(체력) · 움직임(사람) · 해금 비용</a:t>
            </a:r>
          </a:p>
          <a:p>
            <a:pPr marL="228600" indent="-228600" algn="l">
              <a:spcAft>
                <a:spcPts val="500"/>
              </a:spcAft>
              <a:buFont typeface="Arial"/>
              <a:buChar char="•"/>
            </a:pPr>
            <a:r>
              <a:rPr lang="ko-KR" altLang="en-US" sz="1100" b="1" dirty="0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쏟아짐 비율</a:t>
            </a:r>
            <a:r>
              <a:rPr lang="ko-KR" altLang="en-US" sz="11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 쏟아짐 치즈 합 ÷ 본체 치즈 — 가구 16~37% · 보물 13~131% (현재 범위)</a:t>
            </a:r>
          </a:p>
          <a:p>
            <a:pPr marL="228600" indent="-228600" algn="l">
              <a:spcAft>
                <a:spcPts val="500"/>
              </a:spcAft>
              <a:buFont typeface="Arial"/>
              <a:buChar char="•"/>
            </a:pPr>
            <a:r>
              <a:rPr lang="ko-KR" altLang="en-US" sz="1100" b="1" dirty="0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등장 층</a:t>
            </a:r>
            <a:r>
              <a:rPr lang="ko-KR" altLang="en-US" sz="11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 1~6층은 매 층 새 물건 1종 이상 · 싼 소형 물건은 10~14층에서 퇴장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200" b="0" dirty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가이드라인</a:t>
            </a:r>
            <a:r>
              <a:rPr lang="ko-KR" altLang="en-US" sz="2400" b="0" dirty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분류별 효율 범위 그래프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1"/>
          <p:cNvSpPr/>
          <p:nvPr/>
        </p:nvSpPr>
        <p:spPr>
          <a:xfrm>
            <a:off x="1133856" y="1330977"/>
            <a:ext cx="9966960" cy="502920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lIns="109728" tIns="36576" rIns="109728" bIns="36576" rtlCol="0" anchor="ctr"/>
          <a:lstStyle/>
          <a:p>
            <a:pPr algn="l">
              <a:spcAft>
                <a:spcPts val="300"/>
              </a:spcAft>
              <a:buNone/>
            </a:pPr>
            <a:r>
              <a:rPr lang="ko-KR" altLang="en-US" sz="14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점 = 오브젝트 하나 · 막대 = 분류 범위 — 새 오브젝트는 막대 안에, 벗어나면 대가 필요</a:t>
            </a:r>
          </a:p>
        </p:txBody>
      </p:sp>
      <p:cxnSp>
        <p:nvCxnSpPr>
          <p:cNvPr id="12" name="Connector 12"/>
          <p:cNvCxnSpPr/>
          <p:nvPr/>
        </p:nvCxnSpPr>
        <p:spPr>
          <a:xfrm>
            <a:off x="2633856" y="2100000"/>
            <a:ext cx="0" cy="3640000"/>
          </a:xfrm>
          <a:prstGeom prst="straightConnector1">
            <a:avLst/>
          </a:prstGeom>
          <a:ln w="9525">
            <a:solidFill>
              <a:srgbClr val="D9D9D9"/>
            </a:solidFill>
          </a:ln>
        </p:spPr>
      </p:cxnSp>
      <p:sp>
        <p:nvSpPr>
          <p:cNvPr id="13" name="Shape 13"/>
          <p:cNvSpPr/>
          <p:nvPr/>
        </p:nvSpPr>
        <p:spPr>
          <a:xfrm>
            <a:off x="2333856" y="5770000"/>
            <a:ext cx="600000" cy="23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0.0</a:t>
            </a:r>
          </a:p>
        </p:txBody>
      </p:sp>
      <p:cxnSp>
        <p:nvCxnSpPr>
          <p:cNvPr id="14" name="Connector 14"/>
          <p:cNvCxnSpPr/>
          <p:nvPr/>
        </p:nvCxnSpPr>
        <p:spPr>
          <a:xfrm>
            <a:off x="4287248" y="2100000"/>
            <a:ext cx="0" cy="3640000"/>
          </a:xfrm>
          <a:prstGeom prst="straightConnector1">
            <a:avLst/>
          </a:prstGeom>
          <a:ln w="9525">
            <a:solidFill>
              <a:srgbClr val="D9D9D9"/>
            </a:solidFill>
          </a:ln>
        </p:spPr>
      </p:cxnSp>
      <p:sp>
        <p:nvSpPr>
          <p:cNvPr id="15" name="Shape 15"/>
          <p:cNvSpPr/>
          <p:nvPr/>
        </p:nvSpPr>
        <p:spPr>
          <a:xfrm>
            <a:off x="3987248" y="5770000"/>
            <a:ext cx="600000" cy="23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1.0</a:t>
            </a:r>
          </a:p>
        </p:txBody>
      </p:sp>
      <p:cxnSp>
        <p:nvCxnSpPr>
          <p:cNvPr id="16" name="Connector 16"/>
          <p:cNvCxnSpPr/>
          <p:nvPr/>
        </p:nvCxnSpPr>
        <p:spPr>
          <a:xfrm>
            <a:off x="5940640" y="2100000"/>
            <a:ext cx="0" cy="3640000"/>
          </a:xfrm>
          <a:prstGeom prst="straightConnector1">
            <a:avLst/>
          </a:prstGeom>
          <a:ln w="9525">
            <a:solidFill>
              <a:srgbClr val="D9D9D9"/>
            </a:solidFill>
          </a:ln>
        </p:spPr>
      </p:cxnSp>
      <p:sp>
        <p:nvSpPr>
          <p:cNvPr id="17" name="Shape 17"/>
          <p:cNvSpPr/>
          <p:nvPr/>
        </p:nvSpPr>
        <p:spPr>
          <a:xfrm>
            <a:off x="5640640" y="5770000"/>
            <a:ext cx="600000" cy="23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2.0</a:t>
            </a:r>
          </a:p>
        </p:txBody>
      </p:sp>
      <p:cxnSp>
        <p:nvCxnSpPr>
          <p:cNvPr id="18" name="Connector 18"/>
          <p:cNvCxnSpPr/>
          <p:nvPr/>
        </p:nvCxnSpPr>
        <p:spPr>
          <a:xfrm>
            <a:off x="7594032" y="2100000"/>
            <a:ext cx="0" cy="3640000"/>
          </a:xfrm>
          <a:prstGeom prst="straightConnector1">
            <a:avLst/>
          </a:prstGeom>
          <a:ln w="9525">
            <a:solidFill>
              <a:srgbClr val="D9D9D9"/>
            </a:solidFill>
          </a:ln>
        </p:spPr>
      </p:cxnSp>
      <p:sp>
        <p:nvSpPr>
          <p:cNvPr id="19" name="Shape 19"/>
          <p:cNvSpPr/>
          <p:nvPr/>
        </p:nvSpPr>
        <p:spPr>
          <a:xfrm>
            <a:off x="7294032" y="5770000"/>
            <a:ext cx="600000" cy="23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3.0</a:t>
            </a:r>
          </a:p>
        </p:txBody>
      </p:sp>
      <p:cxnSp>
        <p:nvCxnSpPr>
          <p:cNvPr id="20" name="Connector 20"/>
          <p:cNvCxnSpPr/>
          <p:nvPr/>
        </p:nvCxnSpPr>
        <p:spPr>
          <a:xfrm>
            <a:off x="9247424" y="2100000"/>
            <a:ext cx="0" cy="3640000"/>
          </a:xfrm>
          <a:prstGeom prst="straightConnector1">
            <a:avLst/>
          </a:prstGeom>
          <a:ln w="9525">
            <a:solidFill>
              <a:srgbClr val="D9D9D9"/>
            </a:solidFill>
          </a:ln>
        </p:spPr>
      </p:cxnSp>
      <p:sp>
        <p:nvSpPr>
          <p:cNvPr id="21" name="Shape 21"/>
          <p:cNvSpPr/>
          <p:nvPr/>
        </p:nvSpPr>
        <p:spPr>
          <a:xfrm>
            <a:off x="8947424" y="5770000"/>
            <a:ext cx="600000" cy="23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4.0</a:t>
            </a:r>
          </a:p>
        </p:txBody>
      </p:sp>
      <p:cxnSp>
        <p:nvCxnSpPr>
          <p:cNvPr id="22" name="Connector 22"/>
          <p:cNvCxnSpPr/>
          <p:nvPr/>
        </p:nvCxnSpPr>
        <p:spPr>
          <a:xfrm>
            <a:off x="10900816" y="2100000"/>
            <a:ext cx="0" cy="3640000"/>
          </a:xfrm>
          <a:prstGeom prst="straightConnector1">
            <a:avLst/>
          </a:prstGeom>
          <a:ln w="9525">
            <a:solidFill>
              <a:srgbClr val="D9D9D9"/>
            </a:solidFill>
          </a:ln>
        </p:spPr>
      </p:cxnSp>
      <p:sp>
        <p:nvSpPr>
          <p:cNvPr id="23" name="Shape 23"/>
          <p:cNvSpPr/>
          <p:nvPr/>
        </p:nvSpPr>
        <p:spPr>
          <a:xfrm>
            <a:off x="10600816" y="5770000"/>
            <a:ext cx="600000" cy="23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5.0</a:t>
            </a:r>
          </a:p>
        </p:txBody>
      </p:sp>
      <p:cxnSp>
        <p:nvCxnSpPr>
          <p:cNvPr id="24" name="Connector 24"/>
          <p:cNvCxnSpPr/>
          <p:nvPr/>
        </p:nvCxnSpPr>
        <p:spPr>
          <a:xfrm>
            <a:off x="4287248" y="2000000"/>
            <a:ext cx="0" cy="3740000"/>
          </a:xfrm>
          <a:prstGeom prst="straightConnector1">
            <a:avLst/>
          </a:prstGeom>
          <a:ln w="15875">
            <a:solidFill>
              <a:srgbClr val="E97132"/>
            </a:solidFill>
            <a:prstDash val="dash"/>
          </a:ln>
        </p:spPr>
      </p:cxnSp>
      <p:sp>
        <p:nvSpPr>
          <p:cNvPr id="25" name="Shape 25"/>
          <p:cNvSpPr/>
          <p:nvPr/>
        </p:nvSpPr>
        <p:spPr>
          <a:xfrm>
            <a:off x="4317248" y="1900000"/>
            <a:ext cx="1500000" cy="22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18288" rIns="0" bIns="18288" rtlCol="0" anchor="ctr"/>
          <a:lstStyle/>
          <a:p>
            <a:pPr algn="l">
              <a:spcAft>
                <a:spcPts val="0"/>
              </a:spcAft>
              <a:buNone/>
            </a:pPr>
            <a:r>
              <a:rPr lang="ko-KR" altLang="en-US" sz="850" b="1" dirty="0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플라스크 기준 1.00</a:t>
            </a:r>
          </a:p>
        </p:txBody>
      </p:sp>
      <p:sp>
        <p:nvSpPr>
          <p:cNvPr id="26" name="Shape 26"/>
          <p:cNvSpPr/>
          <p:nvPr/>
        </p:nvSpPr>
        <p:spPr>
          <a:xfrm>
            <a:off x="1133856" y="2100000"/>
            <a:ext cx="1400000" cy="52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r"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일반 소형</a:t>
            </a:r>
          </a:p>
        </p:txBody>
      </p:sp>
      <p:sp>
        <p:nvSpPr>
          <p:cNvPr id="27" name="Shape 27"/>
          <p:cNvSpPr/>
          <p:nvPr/>
        </p:nvSpPr>
        <p:spPr>
          <a:xfrm>
            <a:off x="4063537" y="2250000"/>
            <a:ext cx="814841" cy="220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28" name="Shape 28"/>
          <p:cNvSpPr/>
          <p:nvPr/>
        </p:nvSpPr>
        <p:spPr>
          <a:xfrm>
            <a:off x="4232248" y="2305000"/>
            <a:ext cx="110000" cy="110000"/>
          </a:xfrm>
          <a:prstGeom prst="ellipse">
            <a:avLst/>
          </a:prstGeom>
          <a:solidFill>
            <a:srgbClr val="A6A6A6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29" name="Shape 29"/>
          <p:cNvSpPr/>
          <p:nvPr/>
        </p:nvSpPr>
        <p:spPr>
          <a:xfrm>
            <a:off x="4397587" y="2305000"/>
            <a:ext cx="110000" cy="110000"/>
          </a:xfrm>
          <a:prstGeom prst="ellipse">
            <a:avLst/>
          </a:prstGeom>
          <a:solidFill>
            <a:srgbClr val="A6A6A6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30" name="Shape 30"/>
          <p:cNvSpPr/>
          <p:nvPr/>
        </p:nvSpPr>
        <p:spPr>
          <a:xfrm>
            <a:off x="4232248" y="2305000"/>
            <a:ext cx="110000" cy="110000"/>
          </a:xfrm>
          <a:prstGeom prst="ellipse">
            <a:avLst/>
          </a:prstGeom>
          <a:solidFill>
            <a:srgbClr val="A6A6A6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31" name="Shape 31"/>
          <p:cNvSpPr/>
          <p:nvPr/>
        </p:nvSpPr>
        <p:spPr>
          <a:xfrm>
            <a:off x="4438922" y="2305000"/>
            <a:ext cx="110000" cy="110000"/>
          </a:xfrm>
          <a:prstGeom prst="ellipse">
            <a:avLst/>
          </a:prstGeom>
          <a:solidFill>
            <a:srgbClr val="A6A6A6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32" name="Shape 32"/>
          <p:cNvSpPr/>
          <p:nvPr/>
        </p:nvSpPr>
        <p:spPr>
          <a:xfrm>
            <a:off x="4370030" y="2305000"/>
            <a:ext cx="110000" cy="110000"/>
          </a:xfrm>
          <a:prstGeom prst="ellipse">
            <a:avLst/>
          </a:prstGeom>
          <a:solidFill>
            <a:srgbClr val="A6A6A6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33" name="Shape 33"/>
          <p:cNvSpPr/>
          <p:nvPr/>
        </p:nvSpPr>
        <p:spPr>
          <a:xfrm>
            <a:off x="4783378" y="2305000"/>
            <a:ext cx="110000" cy="110000"/>
          </a:xfrm>
          <a:prstGeom prst="ellipse">
            <a:avLst/>
          </a:prstGeom>
          <a:solidFill>
            <a:srgbClr val="A6A6A6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34" name="Shape 34"/>
          <p:cNvSpPr/>
          <p:nvPr/>
        </p:nvSpPr>
        <p:spPr>
          <a:xfrm>
            <a:off x="4048537" y="2305000"/>
            <a:ext cx="110000" cy="110000"/>
          </a:xfrm>
          <a:prstGeom prst="ellipse">
            <a:avLst/>
          </a:prstGeom>
          <a:solidFill>
            <a:srgbClr val="A6A6A6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35" name="Shape 35"/>
          <p:cNvSpPr/>
          <p:nvPr/>
        </p:nvSpPr>
        <p:spPr>
          <a:xfrm>
            <a:off x="4232248" y="2305000"/>
            <a:ext cx="110000" cy="110000"/>
          </a:xfrm>
          <a:prstGeom prst="ellipse">
            <a:avLst/>
          </a:prstGeom>
          <a:solidFill>
            <a:srgbClr val="A6A6A6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36" name="Shape 36"/>
          <p:cNvSpPr/>
          <p:nvPr/>
        </p:nvSpPr>
        <p:spPr>
          <a:xfrm>
            <a:off x="4105064" y="2305000"/>
            <a:ext cx="110000" cy="110000"/>
          </a:xfrm>
          <a:prstGeom prst="ellipse">
            <a:avLst/>
          </a:prstGeom>
          <a:solidFill>
            <a:srgbClr val="A6A6A6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37" name="Shape 37"/>
          <p:cNvSpPr/>
          <p:nvPr/>
        </p:nvSpPr>
        <p:spPr>
          <a:xfrm>
            <a:off x="4958378" y="2100000"/>
            <a:ext cx="1300000" cy="52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18288" rIns="0" bIns="18288" rtlCol="0" anchor="ctr"/>
          <a:lstStyle/>
          <a:p>
            <a:pPr algn="l"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0.89~1.33</a:t>
            </a:r>
          </a:p>
        </p:txBody>
      </p:sp>
      <p:sp>
        <p:nvSpPr>
          <p:cNvPr id="38" name="Shape 38"/>
          <p:cNvSpPr/>
          <p:nvPr/>
        </p:nvSpPr>
        <p:spPr>
          <a:xfrm>
            <a:off x="1133856" y="2620000"/>
            <a:ext cx="1400000" cy="52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r"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일반 중형</a:t>
            </a:r>
          </a:p>
        </p:txBody>
      </p:sp>
      <p:sp>
        <p:nvSpPr>
          <p:cNvPr id="39" name="Shape 39"/>
          <p:cNvSpPr/>
          <p:nvPr/>
        </p:nvSpPr>
        <p:spPr>
          <a:xfrm>
            <a:off x="3946631" y="2770000"/>
            <a:ext cx="711295" cy="220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40" name="Shape 40"/>
          <p:cNvSpPr/>
          <p:nvPr/>
        </p:nvSpPr>
        <p:spPr>
          <a:xfrm>
            <a:off x="4232248" y="2825000"/>
            <a:ext cx="110000" cy="110000"/>
          </a:xfrm>
          <a:prstGeom prst="ellipse">
            <a:avLst/>
          </a:prstGeom>
          <a:solidFill>
            <a:srgbClr val="A6A6A6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41" name="Shape 41"/>
          <p:cNvSpPr/>
          <p:nvPr/>
        </p:nvSpPr>
        <p:spPr>
          <a:xfrm>
            <a:off x="4562926" y="2825000"/>
            <a:ext cx="110000" cy="110000"/>
          </a:xfrm>
          <a:prstGeom prst="ellipse">
            <a:avLst/>
          </a:prstGeom>
          <a:solidFill>
            <a:srgbClr val="A6A6A6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42" name="Shape 42"/>
          <p:cNvSpPr/>
          <p:nvPr/>
        </p:nvSpPr>
        <p:spPr>
          <a:xfrm>
            <a:off x="3931631" y="2825000"/>
            <a:ext cx="110000" cy="110000"/>
          </a:xfrm>
          <a:prstGeom prst="ellipse">
            <a:avLst/>
          </a:prstGeom>
          <a:solidFill>
            <a:srgbClr val="A6A6A6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43" name="Shape 43"/>
          <p:cNvSpPr/>
          <p:nvPr/>
        </p:nvSpPr>
        <p:spPr>
          <a:xfrm>
            <a:off x="4066908" y="2825000"/>
            <a:ext cx="110000" cy="110000"/>
          </a:xfrm>
          <a:prstGeom prst="ellipse">
            <a:avLst/>
          </a:prstGeom>
          <a:solidFill>
            <a:srgbClr val="A6A6A6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44" name="Shape 44"/>
          <p:cNvSpPr/>
          <p:nvPr/>
        </p:nvSpPr>
        <p:spPr>
          <a:xfrm>
            <a:off x="4232248" y="2825000"/>
            <a:ext cx="110000" cy="110000"/>
          </a:xfrm>
          <a:prstGeom prst="ellipse">
            <a:avLst/>
          </a:prstGeom>
          <a:solidFill>
            <a:srgbClr val="A6A6A6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45" name="Shape 45"/>
          <p:cNvSpPr/>
          <p:nvPr/>
        </p:nvSpPr>
        <p:spPr>
          <a:xfrm>
            <a:off x="4166112" y="2825000"/>
            <a:ext cx="110000" cy="110000"/>
          </a:xfrm>
          <a:prstGeom prst="ellipse">
            <a:avLst/>
          </a:prstGeom>
          <a:solidFill>
            <a:srgbClr val="A6A6A6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46" name="Shape 46"/>
          <p:cNvSpPr/>
          <p:nvPr/>
        </p:nvSpPr>
        <p:spPr>
          <a:xfrm>
            <a:off x="3977880" y="2825000"/>
            <a:ext cx="110000" cy="110000"/>
          </a:xfrm>
          <a:prstGeom prst="ellipse">
            <a:avLst/>
          </a:prstGeom>
          <a:solidFill>
            <a:srgbClr val="A6A6A6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47" name="Shape 47"/>
          <p:cNvSpPr/>
          <p:nvPr/>
        </p:nvSpPr>
        <p:spPr>
          <a:xfrm>
            <a:off x="4737926" y="2620000"/>
            <a:ext cx="1300000" cy="52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18288" rIns="0" bIns="18288" rtlCol="0" anchor="ctr"/>
          <a:lstStyle/>
          <a:p>
            <a:pPr algn="l"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0.82~1.20</a:t>
            </a:r>
          </a:p>
        </p:txBody>
      </p:sp>
      <p:sp>
        <p:nvSpPr>
          <p:cNvPr id="48" name="Shape 48"/>
          <p:cNvSpPr/>
          <p:nvPr/>
        </p:nvSpPr>
        <p:spPr>
          <a:xfrm>
            <a:off x="1133856" y="3140000"/>
            <a:ext cx="1400000" cy="52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r"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일반 대형</a:t>
            </a:r>
          </a:p>
        </p:txBody>
      </p:sp>
      <p:sp>
        <p:nvSpPr>
          <p:cNvPr id="49" name="Shape 49"/>
          <p:cNvSpPr/>
          <p:nvPr/>
        </p:nvSpPr>
        <p:spPr>
          <a:xfrm>
            <a:off x="3833900" y="3290000"/>
            <a:ext cx="493348" cy="220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50" name="Shape 50"/>
          <p:cNvSpPr/>
          <p:nvPr/>
        </p:nvSpPr>
        <p:spPr>
          <a:xfrm>
            <a:off x="3901569" y="3345000"/>
            <a:ext cx="110000" cy="110000"/>
          </a:xfrm>
          <a:prstGeom prst="ellipse">
            <a:avLst/>
          </a:prstGeom>
          <a:solidFill>
            <a:srgbClr val="A6A6A6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51" name="Shape 51"/>
          <p:cNvSpPr/>
          <p:nvPr/>
        </p:nvSpPr>
        <p:spPr>
          <a:xfrm>
            <a:off x="4011795" y="3345000"/>
            <a:ext cx="110000" cy="110000"/>
          </a:xfrm>
          <a:prstGeom prst="ellipse">
            <a:avLst/>
          </a:prstGeom>
          <a:solidFill>
            <a:srgbClr val="A6A6A6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52" name="Shape 52"/>
          <p:cNvSpPr/>
          <p:nvPr/>
        </p:nvSpPr>
        <p:spPr>
          <a:xfrm>
            <a:off x="4232248" y="3345000"/>
            <a:ext cx="110000" cy="110000"/>
          </a:xfrm>
          <a:prstGeom prst="ellipse">
            <a:avLst/>
          </a:prstGeom>
          <a:solidFill>
            <a:srgbClr val="A6A6A6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53" name="Shape 53"/>
          <p:cNvSpPr/>
          <p:nvPr/>
        </p:nvSpPr>
        <p:spPr>
          <a:xfrm>
            <a:off x="4066908" y="3345000"/>
            <a:ext cx="110000" cy="110000"/>
          </a:xfrm>
          <a:prstGeom prst="ellipse">
            <a:avLst/>
          </a:prstGeom>
          <a:solidFill>
            <a:srgbClr val="A6A6A6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54" name="Shape 54"/>
          <p:cNvSpPr/>
          <p:nvPr/>
        </p:nvSpPr>
        <p:spPr>
          <a:xfrm>
            <a:off x="3901569" y="3345000"/>
            <a:ext cx="110000" cy="110000"/>
          </a:xfrm>
          <a:prstGeom prst="ellipse">
            <a:avLst/>
          </a:prstGeom>
          <a:solidFill>
            <a:srgbClr val="A6A6A6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55" name="Shape 55"/>
          <p:cNvSpPr/>
          <p:nvPr/>
        </p:nvSpPr>
        <p:spPr>
          <a:xfrm>
            <a:off x="4066908" y="3345000"/>
            <a:ext cx="110000" cy="110000"/>
          </a:xfrm>
          <a:prstGeom prst="ellipse">
            <a:avLst/>
          </a:prstGeom>
          <a:solidFill>
            <a:srgbClr val="A6A6A6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56" name="Shape 56"/>
          <p:cNvSpPr/>
          <p:nvPr/>
        </p:nvSpPr>
        <p:spPr>
          <a:xfrm>
            <a:off x="3864827" y="3345000"/>
            <a:ext cx="110000" cy="110000"/>
          </a:xfrm>
          <a:prstGeom prst="ellipse">
            <a:avLst/>
          </a:prstGeom>
          <a:solidFill>
            <a:srgbClr val="A6A6A6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57" name="Shape 57"/>
          <p:cNvSpPr/>
          <p:nvPr/>
        </p:nvSpPr>
        <p:spPr>
          <a:xfrm>
            <a:off x="3818900" y="3345000"/>
            <a:ext cx="110000" cy="110000"/>
          </a:xfrm>
          <a:prstGeom prst="ellipse">
            <a:avLst/>
          </a:prstGeom>
          <a:solidFill>
            <a:srgbClr val="A6A6A6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58" name="Shape 58"/>
          <p:cNvSpPr/>
          <p:nvPr/>
        </p:nvSpPr>
        <p:spPr>
          <a:xfrm>
            <a:off x="4407248" y="3140000"/>
            <a:ext cx="1300000" cy="52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18288" rIns="0" bIns="18288" rtlCol="0" anchor="ctr"/>
          <a:lstStyle/>
          <a:p>
            <a:pPr algn="l"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0.75~1.00</a:t>
            </a:r>
          </a:p>
        </p:txBody>
      </p:sp>
      <p:sp>
        <p:nvSpPr>
          <p:cNvPr id="59" name="Shape 59"/>
          <p:cNvSpPr/>
          <p:nvPr/>
        </p:nvSpPr>
        <p:spPr>
          <a:xfrm>
            <a:off x="1133856" y="3660000"/>
            <a:ext cx="1400000" cy="52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r"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보물</a:t>
            </a:r>
          </a:p>
        </p:txBody>
      </p:sp>
      <p:sp>
        <p:nvSpPr>
          <p:cNvPr id="60" name="Shape 60"/>
          <p:cNvSpPr/>
          <p:nvPr/>
        </p:nvSpPr>
        <p:spPr>
          <a:xfrm>
            <a:off x="4247248" y="3810000"/>
            <a:ext cx="1733392" cy="220000"/>
          </a:xfrm>
          <a:prstGeom prst="rect">
            <a:avLst/>
          </a:prstGeom>
          <a:solidFill>
            <a:srgbClr val="FBE5D6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61" name="Shape 61"/>
          <p:cNvSpPr/>
          <p:nvPr/>
        </p:nvSpPr>
        <p:spPr>
          <a:xfrm>
            <a:off x="4783378" y="3865000"/>
            <a:ext cx="110000" cy="11000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62" name="Shape 62"/>
          <p:cNvSpPr/>
          <p:nvPr/>
        </p:nvSpPr>
        <p:spPr>
          <a:xfrm>
            <a:off x="5885640" y="3865000"/>
            <a:ext cx="110000" cy="11000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63" name="Shape 63"/>
          <p:cNvSpPr/>
          <p:nvPr/>
        </p:nvSpPr>
        <p:spPr>
          <a:xfrm>
            <a:off x="4415958" y="3865000"/>
            <a:ext cx="110000" cy="11000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64" name="Shape 64"/>
          <p:cNvSpPr/>
          <p:nvPr/>
        </p:nvSpPr>
        <p:spPr>
          <a:xfrm>
            <a:off x="4232248" y="3865000"/>
            <a:ext cx="110000" cy="11000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65" name="Shape 65"/>
          <p:cNvSpPr/>
          <p:nvPr/>
        </p:nvSpPr>
        <p:spPr>
          <a:xfrm>
            <a:off x="4645596" y="3865000"/>
            <a:ext cx="110000" cy="11000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66" name="Shape 66"/>
          <p:cNvSpPr/>
          <p:nvPr/>
        </p:nvSpPr>
        <p:spPr>
          <a:xfrm>
            <a:off x="4783378" y="3865000"/>
            <a:ext cx="110000" cy="11000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67" name="Shape 67"/>
          <p:cNvSpPr/>
          <p:nvPr/>
        </p:nvSpPr>
        <p:spPr>
          <a:xfrm>
            <a:off x="4728265" y="3865000"/>
            <a:ext cx="110000" cy="11000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68" name="Shape 68"/>
          <p:cNvSpPr/>
          <p:nvPr/>
        </p:nvSpPr>
        <p:spPr>
          <a:xfrm>
            <a:off x="5058944" y="3865000"/>
            <a:ext cx="110000" cy="11000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69" name="Shape 69"/>
          <p:cNvSpPr/>
          <p:nvPr/>
        </p:nvSpPr>
        <p:spPr>
          <a:xfrm>
            <a:off x="6060640" y="3660000"/>
            <a:ext cx="1300000" cy="52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18288" rIns="0" bIns="18288" rtlCol="0" anchor="ctr"/>
          <a:lstStyle/>
          <a:p>
            <a:pPr algn="l"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1.00~2.00</a:t>
            </a:r>
          </a:p>
        </p:txBody>
      </p:sp>
      <p:sp>
        <p:nvSpPr>
          <p:cNvPr id="70" name="Shape 70"/>
          <p:cNvSpPr/>
          <p:nvPr/>
        </p:nvSpPr>
        <p:spPr>
          <a:xfrm>
            <a:off x="1133856" y="4180000"/>
            <a:ext cx="1400000" cy="52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r"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가구</a:t>
            </a:r>
          </a:p>
        </p:txBody>
      </p:sp>
      <p:sp>
        <p:nvSpPr>
          <p:cNvPr id="71" name="Shape 71"/>
          <p:cNvSpPr/>
          <p:nvPr/>
        </p:nvSpPr>
        <p:spPr>
          <a:xfrm>
            <a:off x="3627226" y="4330000"/>
            <a:ext cx="345723" cy="220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72" name="Shape 72"/>
          <p:cNvSpPr/>
          <p:nvPr/>
        </p:nvSpPr>
        <p:spPr>
          <a:xfrm>
            <a:off x="3781322" y="4385000"/>
            <a:ext cx="110000" cy="110000"/>
          </a:xfrm>
          <a:prstGeom prst="ellipse">
            <a:avLst/>
          </a:prstGeom>
          <a:solidFill>
            <a:srgbClr val="595959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73" name="Shape 73"/>
          <p:cNvSpPr/>
          <p:nvPr/>
        </p:nvSpPr>
        <p:spPr>
          <a:xfrm>
            <a:off x="3706168" y="4385000"/>
            <a:ext cx="110000" cy="110000"/>
          </a:xfrm>
          <a:prstGeom prst="ellipse">
            <a:avLst/>
          </a:prstGeom>
          <a:solidFill>
            <a:srgbClr val="595959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74" name="Shape 74"/>
          <p:cNvSpPr/>
          <p:nvPr/>
        </p:nvSpPr>
        <p:spPr>
          <a:xfrm>
            <a:off x="3818900" y="4385000"/>
            <a:ext cx="110000" cy="110000"/>
          </a:xfrm>
          <a:prstGeom prst="ellipse">
            <a:avLst/>
          </a:prstGeom>
          <a:solidFill>
            <a:srgbClr val="595959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75" name="Shape 75"/>
          <p:cNvSpPr/>
          <p:nvPr/>
        </p:nvSpPr>
        <p:spPr>
          <a:xfrm>
            <a:off x="3681117" y="4385000"/>
            <a:ext cx="110000" cy="110000"/>
          </a:xfrm>
          <a:prstGeom prst="ellipse">
            <a:avLst/>
          </a:prstGeom>
          <a:solidFill>
            <a:srgbClr val="595959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76" name="Shape 76"/>
          <p:cNvSpPr/>
          <p:nvPr/>
        </p:nvSpPr>
        <p:spPr>
          <a:xfrm>
            <a:off x="3612226" y="4385000"/>
            <a:ext cx="110000" cy="110000"/>
          </a:xfrm>
          <a:prstGeom prst="ellipse">
            <a:avLst/>
          </a:prstGeom>
          <a:solidFill>
            <a:srgbClr val="595959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77" name="Shape 77"/>
          <p:cNvSpPr/>
          <p:nvPr/>
        </p:nvSpPr>
        <p:spPr>
          <a:xfrm>
            <a:off x="3736230" y="4385000"/>
            <a:ext cx="110000" cy="110000"/>
          </a:xfrm>
          <a:prstGeom prst="ellipse">
            <a:avLst/>
          </a:prstGeom>
          <a:solidFill>
            <a:srgbClr val="595959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78" name="Shape 78"/>
          <p:cNvSpPr/>
          <p:nvPr/>
        </p:nvSpPr>
        <p:spPr>
          <a:xfrm>
            <a:off x="3715563" y="4385000"/>
            <a:ext cx="110000" cy="110000"/>
          </a:xfrm>
          <a:prstGeom prst="ellipse">
            <a:avLst/>
          </a:prstGeom>
          <a:solidFill>
            <a:srgbClr val="595959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79" name="Shape 79"/>
          <p:cNvSpPr/>
          <p:nvPr/>
        </p:nvSpPr>
        <p:spPr>
          <a:xfrm>
            <a:off x="3759850" y="4385000"/>
            <a:ext cx="110000" cy="110000"/>
          </a:xfrm>
          <a:prstGeom prst="ellipse">
            <a:avLst/>
          </a:prstGeom>
          <a:solidFill>
            <a:srgbClr val="595959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80" name="Shape 80"/>
          <p:cNvSpPr/>
          <p:nvPr/>
        </p:nvSpPr>
        <p:spPr>
          <a:xfrm>
            <a:off x="3715563" y="4385000"/>
            <a:ext cx="110000" cy="110000"/>
          </a:xfrm>
          <a:prstGeom prst="ellipse">
            <a:avLst/>
          </a:prstGeom>
          <a:solidFill>
            <a:srgbClr val="595959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81" name="Shape 81"/>
          <p:cNvSpPr/>
          <p:nvPr/>
        </p:nvSpPr>
        <p:spPr>
          <a:xfrm>
            <a:off x="3864827" y="4385000"/>
            <a:ext cx="110000" cy="110000"/>
          </a:xfrm>
          <a:prstGeom prst="ellipse">
            <a:avLst/>
          </a:prstGeom>
          <a:solidFill>
            <a:srgbClr val="595959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82" name="Shape 82"/>
          <p:cNvSpPr/>
          <p:nvPr/>
        </p:nvSpPr>
        <p:spPr>
          <a:xfrm>
            <a:off x="3877949" y="4385000"/>
            <a:ext cx="110000" cy="110000"/>
          </a:xfrm>
          <a:prstGeom prst="ellipse">
            <a:avLst/>
          </a:prstGeom>
          <a:solidFill>
            <a:srgbClr val="595959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83" name="Shape 83"/>
          <p:cNvSpPr/>
          <p:nvPr/>
        </p:nvSpPr>
        <p:spPr>
          <a:xfrm>
            <a:off x="3681117" y="4385000"/>
            <a:ext cx="110000" cy="110000"/>
          </a:xfrm>
          <a:prstGeom prst="ellipse">
            <a:avLst/>
          </a:prstGeom>
          <a:solidFill>
            <a:srgbClr val="595959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84" name="Shape 84"/>
          <p:cNvSpPr/>
          <p:nvPr/>
        </p:nvSpPr>
        <p:spPr>
          <a:xfrm>
            <a:off x="4052949" y="4180000"/>
            <a:ext cx="1300000" cy="52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18288" rIns="0" bIns="18288" rtlCol="0" anchor="ctr"/>
          <a:lstStyle/>
          <a:p>
            <a:pPr algn="l"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0.62~0.79</a:t>
            </a:r>
          </a:p>
        </p:txBody>
      </p:sp>
      <p:sp>
        <p:nvSpPr>
          <p:cNvPr id="85" name="Shape 85"/>
          <p:cNvSpPr/>
          <p:nvPr/>
        </p:nvSpPr>
        <p:spPr>
          <a:xfrm>
            <a:off x="1133856" y="4700000"/>
            <a:ext cx="1400000" cy="52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r"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쏟아짐</a:t>
            </a:r>
          </a:p>
        </p:txBody>
      </p:sp>
      <p:sp>
        <p:nvSpPr>
          <p:cNvPr id="86" name="Shape 86"/>
          <p:cNvSpPr/>
          <p:nvPr/>
        </p:nvSpPr>
        <p:spPr>
          <a:xfrm>
            <a:off x="4660596" y="4850000"/>
            <a:ext cx="6280220" cy="220000"/>
          </a:xfrm>
          <a:prstGeom prst="rect">
            <a:avLst/>
          </a:prstGeom>
          <a:solidFill>
            <a:srgbClr val="FBE5D6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87" name="Shape 87"/>
          <p:cNvSpPr/>
          <p:nvPr/>
        </p:nvSpPr>
        <p:spPr>
          <a:xfrm>
            <a:off x="10845816" y="4905000"/>
            <a:ext cx="110000" cy="110000"/>
          </a:xfrm>
          <a:prstGeom prst="ellipse">
            <a:avLst/>
          </a:prstGeom>
          <a:solidFill>
            <a:srgbClr val="F4B183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88" name="Shape 88"/>
          <p:cNvSpPr/>
          <p:nvPr/>
        </p:nvSpPr>
        <p:spPr>
          <a:xfrm>
            <a:off x="8483827" y="4905000"/>
            <a:ext cx="110000" cy="110000"/>
          </a:xfrm>
          <a:prstGeom prst="ellipse">
            <a:avLst/>
          </a:prstGeom>
          <a:solidFill>
            <a:srgbClr val="F4B183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89" name="Shape 89"/>
          <p:cNvSpPr/>
          <p:nvPr/>
        </p:nvSpPr>
        <p:spPr>
          <a:xfrm>
            <a:off x="9927264" y="4905000"/>
            <a:ext cx="110000" cy="110000"/>
          </a:xfrm>
          <a:prstGeom prst="ellipse">
            <a:avLst/>
          </a:prstGeom>
          <a:solidFill>
            <a:srgbClr val="F4B183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90" name="Shape 90"/>
          <p:cNvSpPr/>
          <p:nvPr/>
        </p:nvSpPr>
        <p:spPr>
          <a:xfrm>
            <a:off x="9192424" y="4905000"/>
            <a:ext cx="110000" cy="110000"/>
          </a:xfrm>
          <a:prstGeom prst="ellipse">
            <a:avLst/>
          </a:prstGeom>
          <a:solidFill>
            <a:srgbClr val="F4B183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91" name="Shape 91"/>
          <p:cNvSpPr/>
          <p:nvPr/>
        </p:nvSpPr>
        <p:spPr>
          <a:xfrm>
            <a:off x="5058944" y="4905000"/>
            <a:ext cx="110000" cy="110000"/>
          </a:xfrm>
          <a:prstGeom prst="ellipse">
            <a:avLst/>
          </a:prstGeom>
          <a:solidFill>
            <a:srgbClr val="F4B183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92" name="Shape 92"/>
          <p:cNvSpPr/>
          <p:nvPr/>
        </p:nvSpPr>
        <p:spPr>
          <a:xfrm>
            <a:off x="5610074" y="4905000"/>
            <a:ext cx="110000" cy="110000"/>
          </a:xfrm>
          <a:prstGeom prst="ellipse">
            <a:avLst/>
          </a:prstGeom>
          <a:solidFill>
            <a:srgbClr val="F4B183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93" name="Shape 93"/>
          <p:cNvSpPr/>
          <p:nvPr/>
        </p:nvSpPr>
        <p:spPr>
          <a:xfrm>
            <a:off x="4940844" y="4905000"/>
            <a:ext cx="110000" cy="110000"/>
          </a:xfrm>
          <a:prstGeom prst="ellipse">
            <a:avLst/>
          </a:prstGeom>
          <a:solidFill>
            <a:srgbClr val="F4B183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94" name="Shape 94"/>
          <p:cNvSpPr/>
          <p:nvPr/>
        </p:nvSpPr>
        <p:spPr>
          <a:xfrm>
            <a:off x="5058944" y="4905000"/>
            <a:ext cx="110000" cy="110000"/>
          </a:xfrm>
          <a:prstGeom prst="ellipse">
            <a:avLst/>
          </a:prstGeom>
          <a:solidFill>
            <a:srgbClr val="F4B183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95" name="Shape 95"/>
          <p:cNvSpPr/>
          <p:nvPr/>
        </p:nvSpPr>
        <p:spPr>
          <a:xfrm>
            <a:off x="4645596" y="4905000"/>
            <a:ext cx="110000" cy="110000"/>
          </a:xfrm>
          <a:prstGeom prst="ellipse">
            <a:avLst/>
          </a:prstGeom>
          <a:solidFill>
            <a:srgbClr val="F4B183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96" name="Shape 96"/>
          <p:cNvSpPr/>
          <p:nvPr/>
        </p:nvSpPr>
        <p:spPr>
          <a:xfrm>
            <a:off x="5058944" y="4905000"/>
            <a:ext cx="110000" cy="110000"/>
          </a:xfrm>
          <a:prstGeom prst="ellipse">
            <a:avLst/>
          </a:prstGeom>
          <a:solidFill>
            <a:srgbClr val="F4B183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97" name="Shape 97"/>
          <p:cNvSpPr/>
          <p:nvPr/>
        </p:nvSpPr>
        <p:spPr>
          <a:xfrm>
            <a:off x="5885640" y="4905000"/>
            <a:ext cx="110000" cy="110000"/>
          </a:xfrm>
          <a:prstGeom prst="ellipse">
            <a:avLst/>
          </a:prstGeom>
          <a:solidFill>
            <a:srgbClr val="F4B183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98" name="Shape 98"/>
          <p:cNvSpPr/>
          <p:nvPr/>
        </p:nvSpPr>
        <p:spPr>
          <a:xfrm>
            <a:off x="5554961" y="4905000"/>
            <a:ext cx="110000" cy="110000"/>
          </a:xfrm>
          <a:prstGeom prst="ellipse">
            <a:avLst/>
          </a:prstGeom>
          <a:solidFill>
            <a:srgbClr val="F4B183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99" name="Shape 99"/>
          <p:cNvSpPr/>
          <p:nvPr/>
        </p:nvSpPr>
        <p:spPr>
          <a:xfrm>
            <a:off x="5224283" y="4905000"/>
            <a:ext cx="110000" cy="110000"/>
          </a:xfrm>
          <a:prstGeom prst="ellipse">
            <a:avLst/>
          </a:prstGeom>
          <a:solidFill>
            <a:srgbClr val="F4B183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100" name="Shape 100"/>
          <p:cNvSpPr/>
          <p:nvPr/>
        </p:nvSpPr>
        <p:spPr>
          <a:xfrm>
            <a:off x="5554961" y="4905000"/>
            <a:ext cx="110000" cy="110000"/>
          </a:xfrm>
          <a:prstGeom prst="ellipse">
            <a:avLst/>
          </a:prstGeom>
          <a:solidFill>
            <a:srgbClr val="F4B183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101" name="Shape 101"/>
          <p:cNvSpPr/>
          <p:nvPr/>
        </p:nvSpPr>
        <p:spPr>
          <a:xfrm>
            <a:off x="5885640" y="4905000"/>
            <a:ext cx="110000" cy="110000"/>
          </a:xfrm>
          <a:prstGeom prst="ellipse">
            <a:avLst/>
          </a:prstGeom>
          <a:solidFill>
            <a:srgbClr val="F4B183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102" name="Shape 102"/>
          <p:cNvSpPr/>
          <p:nvPr/>
        </p:nvSpPr>
        <p:spPr>
          <a:xfrm>
            <a:off x="5885640" y="4905000"/>
            <a:ext cx="110000" cy="110000"/>
          </a:xfrm>
          <a:prstGeom prst="ellipse">
            <a:avLst/>
          </a:prstGeom>
          <a:solidFill>
            <a:srgbClr val="F4B183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103" name="Shape 103"/>
          <p:cNvSpPr/>
          <p:nvPr/>
        </p:nvSpPr>
        <p:spPr>
          <a:xfrm>
            <a:off x="11020816" y="4700000"/>
            <a:ext cx="1300000" cy="52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18288" rIns="0" bIns="18288" rtlCol="0" anchor="ctr"/>
          <a:lstStyle/>
          <a:p>
            <a:pPr algn="l"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1.25~5.00</a:t>
            </a:r>
          </a:p>
        </p:txBody>
      </p:sp>
      <p:sp>
        <p:nvSpPr>
          <p:cNvPr id="104" name="Shape 104"/>
          <p:cNvSpPr/>
          <p:nvPr/>
        </p:nvSpPr>
        <p:spPr>
          <a:xfrm>
            <a:off x="1133856" y="5220000"/>
            <a:ext cx="1400000" cy="52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r"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사람</a:t>
            </a:r>
          </a:p>
        </p:txBody>
      </p:sp>
      <p:sp>
        <p:nvSpPr>
          <p:cNvPr id="105" name="Shape 105"/>
          <p:cNvSpPr/>
          <p:nvPr/>
        </p:nvSpPr>
        <p:spPr>
          <a:xfrm>
            <a:off x="4483446" y="5370000"/>
            <a:ext cx="394932" cy="220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106" name="Shape 106"/>
          <p:cNvSpPr/>
          <p:nvPr/>
        </p:nvSpPr>
        <p:spPr>
          <a:xfrm>
            <a:off x="4783378" y="5425000"/>
            <a:ext cx="110000" cy="110000"/>
          </a:xfrm>
          <a:prstGeom prst="ellipse">
            <a:avLst/>
          </a:prstGeom>
          <a:solidFill>
            <a:srgbClr val="404040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107" name="Shape 107"/>
          <p:cNvSpPr/>
          <p:nvPr/>
        </p:nvSpPr>
        <p:spPr>
          <a:xfrm>
            <a:off x="4468446" y="5425000"/>
            <a:ext cx="110000" cy="110000"/>
          </a:xfrm>
          <a:prstGeom prst="ellipse">
            <a:avLst/>
          </a:prstGeom>
          <a:solidFill>
            <a:srgbClr val="404040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108" name="Shape 108"/>
          <p:cNvSpPr/>
          <p:nvPr/>
        </p:nvSpPr>
        <p:spPr>
          <a:xfrm>
            <a:off x="4562926" y="5425000"/>
            <a:ext cx="110000" cy="110000"/>
          </a:xfrm>
          <a:prstGeom prst="ellipse">
            <a:avLst/>
          </a:prstGeom>
          <a:solidFill>
            <a:srgbClr val="404040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109" name="Shape 109"/>
          <p:cNvSpPr/>
          <p:nvPr/>
        </p:nvSpPr>
        <p:spPr>
          <a:xfrm>
            <a:off x="4783378" y="5425000"/>
            <a:ext cx="110000" cy="110000"/>
          </a:xfrm>
          <a:prstGeom prst="ellipse">
            <a:avLst/>
          </a:prstGeom>
          <a:solidFill>
            <a:srgbClr val="404040"/>
          </a:solidFill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ctr"/>
            <a:endParaRPr lang="ko-KR" altLang="en-US"/>
          </a:p>
        </p:txBody>
      </p:sp>
      <p:sp>
        <p:nvSpPr>
          <p:cNvPr id="110" name="Shape 110"/>
          <p:cNvSpPr/>
          <p:nvPr/>
        </p:nvSpPr>
        <p:spPr>
          <a:xfrm>
            <a:off x="4958378" y="5220000"/>
            <a:ext cx="1300000" cy="52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18288" rIns="0" bIns="18288" rtlCol="0" anchor="ctr"/>
          <a:lstStyle/>
          <a:p>
            <a:pPr algn="l"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1.14~1.33</a:t>
            </a:r>
          </a:p>
        </p:txBody>
      </p:sp>
      <p:sp>
        <p:nvSpPr>
          <p:cNvPr id="111" name="TextBox 111"/>
          <p:cNvSpPr txBox="1"/>
          <p:nvPr/>
        </p:nvSpPr>
        <p:spPr>
          <a:xfrm>
            <a:off x="1133856" y="6090000"/>
            <a:ext cx="996696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ko-KR" altLang="en-US" sz="10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크기가 클수록 효율을 살짝 낮춤 (소형 &gt; 중형 &gt; 대형) · 보물 · 사람은 대가(드묾 · 움직임)가 있어 1 이상 · 가구는 쏟아짐 · 연구자료로 보상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ko-KR" altLang="en-US" sz="10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쏟아짐 물건은 박살 직후의 덤이라 효율이 높아도 총량이 작음 (부모 오브젝트 박살 시에만 생성)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200" b="0" dirty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가이드라인</a:t>
            </a:r>
            <a:r>
              <a:rPr lang="ko-KR" altLang="en-US" sz="2400" b="0" dirty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물건 테이블 작성 규칙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e 11"/>
          <p:cNvGraphicFramePr>
            <a:graphicFrameLocks noGrp="1"/>
          </p:cNvGraphicFramePr>
          <p:nvPr/>
        </p:nvGraphicFramePr>
        <p:xfrm>
          <a:off x="1133856" y="1600200"/>
          <a:ext cx="9966960" cy="46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3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50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781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칸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뜻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작성 규칙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item_id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고유 번호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일반 · 보물 · 쏟아짐 600xx · 가구 610xx · 사람 900xx (대역 안 다음 빈 번호)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item_name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화면 이름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한글 · 다른 물건과 겹치지 않게 (가구는 '의자(가구)'처럼 구분)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code_id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내부 id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영문 소문자 · 가구는 furn_ 접두 · 화면에 안 보임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item_category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분류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Item(일반 · 보물) / Furniture / Spill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radius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충돌 반지름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그림 폭 = radius × 1.45 × 2.6 · 분류별 범위(38p)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hp_mul · value_mul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체력 · 치즈 배율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분류별 범위 · 효율(치즈 ÷ 체력) 확인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spawn_weight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출현 가중치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일반 1 · 대형 0.35~0.6 · 보물 0.25~0.5 · 가구 · 쏟아짐 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heavy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무게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가구만 (밀림 감소 · 날아가는 속도 × 1/√무게)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is_big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대형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 = 큰 히트스톱 · 낮게 날아감 · 큰 먼지 (체력 배율 9 이상)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is_sturdy · is_paper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재질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소리 결정: is_paper 1 = 나무 · is_sturdy 1 = 금속 · 둘 다 0 = 유리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spill_color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얼룩 색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액체 · 가루가 든 물건만 #rrggbb · 없으면 빈칸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drop_01~04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쏟아짐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나올 물건 id · 0 = 없음 · 같은 id 반복 가능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asset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그림 경로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Items/item_&lt;code&gt; · Furniture/furn_&lt;code&gt; (Assets/Art/Rats/ 기준)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from_floor · to_floor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등장 · 마지막 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 = 제한 없음 (가구 0) · to_floor = 마지막으로 나오는 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9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unlock_skill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해금 노드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 = 기본 · 보물은 Loot 브랜치 '신규 물건 출현' 노드 id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200" b="0" dirty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가이드라인</a:t>
            </a:r>
            <a:r>
              <a:rPr lang="ko-KR" altLang="en-US" sz="2400" b="0" dirty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검증 체크리스트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e 11"/>
          <p:cNvGraphicFramePr>
            <a:graphicFrameLocks noGrp="1"/>
          </p:cNvGraphicFramePr>
          <p:nvPr/>
        </p:nvGraphicFramePr>
        <p:xfrm>
          <a:off x="1133856" y="1600200"/>
          <a:ext cx="9966960" cy="37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40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861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867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항목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확인 방법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치즈 효율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분류별 범위 안 (벗어나면 대가 명시)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치즈 배율 ÷ 체력 배율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충돌 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적정 전투력에서 소형 2회 · 대형은 연쇄로 비슷한 체감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체력 배율 × 1.2 = 공격력 10 쥐 기준 충돌 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등장 시점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보물 등장 층 ≤ 해금 훈장을 따는 층대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층 별 허들 기획서 훈장 구간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가중치 비중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한 층 보물 가중치 합 ≤ 약 20% (현재 20층 14%)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층별 출현 구성 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쏟아짐 비율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가구 · 보물 현재 범위 안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drop 물건 치즈 합 ÷ 본체 치즈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연출 연결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그림 · 재질 소리 · 얼룩 색 · 그림자 크기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게임에서 타격 · 박살 확인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데이터 반영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xlsx2json 자료형 오류 없음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변환 로그의 '틀린 칸' 위치 없음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문서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명세표 · 층별 구성 · 로그 갱신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이 기획서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2" name="TextBox 12"/>
          <p:cNvSpPr txBox="1"/>
          <p:nvPr/>
        </p:nvSpPr>
        <p:spPr>
          <a:xfrm>
            <a:off x="1133856" y="5580200"/>
            <a:ext cx="996696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ko-KR" altLang="en-US" sz="115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어긋났을 때 조정 순서 — ① 그 오브젝트 배율 칸 → ② 층 배율 (스테이지 테이블) → ③ 기준 단위 12 · 3 (최후 수단)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200" b="0" dirty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가이드라인</a:t>
            </a:r>
            <a:r>
              <a:rPr lang="ko-KR" altLang="en-US" sz="2400" b="0" dirty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신규 물건 추가 예시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1"/>
          <p:cNvSpPr/>
          <p:nvPr/>
        </p:nvSpPr>
        <p:spPr>
          <a:xfrm>
            <a:off x="1133856" y="1330977"/>
            <a:ext cx="9966960" cy="502920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lIns="109728" tIns="36576" rIns="109728" bIns="36576" rtlCol="0" anchor="ctr"/>
          <a:lstStyle/>
          <a:p>
            <a:pPr algn="l">
              <a:spcAft>
                <a:spcPts val="300"/>
              </a:spcAft>
              <a:buNone/>
            </a:pPr>
            <a:r>
              <a:rPr lang="ko-KR" altLang="en-US" sz="14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예시 — 7층부터 나오는 대형 물건 '실험용 쳇바퀴' 추가 (설명용 가상의 물건)</a:t>
            </a:r>
          </a:p>
        </p:txBody>
      </p:sp>
      <p:sp>
        <p:nvSpPr>
          <p:cNvPr id="12" name="Shape 12"/>
          <p:cNvSpPr/>
          <p:nvPr/>
        </p:nvSpPr>
        <p:spPr>
          <a:xfrm>
            <a:off x="1133856" y="2040000"/>
            <a:ext cx="420000" cy="42000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txBody>
          <a:bodyPr wrap="square" lIns="0" tIns="18288" rIns="0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13" name="Shape 13"/>
          <p:cNvSpPr/>
          <p:nvPr/>
        </p:nvSpPr>
        <p:spPr>
          <a:xfrm>
            <a:off x="1683856" y="1950000"/>
            <a:ext cx="4450000" cy="64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l">
              <a:spcAft>
                <a:spcPts val="0"/>
              </a:spcAft>
              <a:buNone/>
            </a:pPr>
            <a:r>
              <a:rPr lang="ko-KR" altLang="en-US" sz="115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분류</a:t>
            </a:r>
          </a:p>
          <a:p>
            <a:pPr algn="l"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일반 대형 — 자동 보충 · 로켓배송으로 등장</a:t>
            </a:r>
          </a:p>
        </p:txBody>
      </p:sp>
      <p:sp>
        <p:nvSpPr>
          <p:cNvPr id="14" name="Shape 14"/>
          <p:cNvSpPr/>
          <p:nvPr/>
        </p:nvSpPr>
        <p:spPr>
          <a:xfrm>
            <a:off x="1133856" y="2760000"/>
            <a:ext cx="420000" cy="42000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txBody>
          <a:bodyPr wrap="square" lIns="0" tIns="18288" rIns="0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15" name="Shape 15"/>
          <p:cNvSpPr/>
          <p:nvPr/>
        </p:nvSpPr>
        <p:spPr>
          <a:xfrm>
            <a:off x="1683856" y="2670000"/>
            <a:ext cx="4450000" cy="64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l">
              <a:spcAft>
                <a:spcPts val="0"/>
              </a:spcAft>
              <a:buNone/>
            </a:pPr>
            <a:r>
              <a:rPr lang="ko-KR" altLang="en-US" sz="115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기준 수치</a:t>
            </a:r>
          </a:p>
          <a:p>
            <a:pPr algn="l"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체력 4 · 치즈 3.4 → 효율 0.85 (대형 범위 0.75~1.00 안)</a:t>
            </a:r>
          </a:p>
        </p:txBody>
      </p:sp>
      <p:sp>
        <p:nvSpPr>
          <p:cNvPr id="16" name="Shape 16"/>
          <p:cNvSpPr/>
          <p:nvPr/>
        </p:nvSpPr>
        <p:spPr>
          <a:xfrm>
            <a:off x="1133856" y="3480000"/>
            <a:ext cx="420000" cy="42000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txBody>
          <a:bodyPr wrap="square" lIns="0" tIns="18288" rIns="0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17" name="Shape 17"/>
          <p:cNvSpPr/>
          <p:nvPr/>
        </p:nvSpPr>
        <p:spPr>
          <a:xfrm>
            <a:off x="1683856" y="3390000"/>
            <a:ext cx="4450000" cy="64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l">
              <a:spcAft>
                <a:spcPts val="0"/>
              </a:spcAft>
              <a:buNone/>
            </a:pPr>
            <a:r>
              <a:rPr lang="ko-KR" altLang="en-US" sz="115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등장 조건</a:t>
            </a:r>
          </a:p>
          <a:p>
            <a:pPr algn="l"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7층부터 · 마지막 층 없음 · 가중치 0.6 (체력 5 이상 대형과 같은 급) · 해금 없음</a:t>
            </a:r>
          </a:p>
        </p:txBody>
      </p:sp>
      <p:sp>
        <p:nvSpPr>
          <p:cNvPr id="18" name="Shape 18"/>
          <p:cNvSpPr/>
          <p:nvPr/>
        </p:nvSpPr>
        <p:spPr>
          <a:xfrm>
            <a:off x="1133856" y="4200000"/>
            <a:ext cx="420000" cy="42000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txBody>
          <a:bodyPr wrap="square" lIns="0" tIns="18288" rIns="0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19" name="Shape 19"/>
          <p:cNvSpPr/>
          <p:nvPr/>
        </p:nvSpPr>
        <p:spPr>
          <a:xfrm>
            <a:off x="1683856" y="4110000"/>
            <a:ext cx="4450000" cy="64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l">
              <a:spcAft>
                <a:spcPts val="0"/>
              </a:spcAft>
              <a:buNone/>
            </a:pPr>
            <a:r>
              <a:rPr lang="ko-KR" altLang="en-US" sz="115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그림 · 재질</a:t>
            </a:r>
          </a:p>
          <a:p>
            <a:pPr algn="l"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Codex로 그림 생성 → Items/item_wheel · 금속(is_sturdy 1) · 반지름 24</a:t>
            </a:r>
          </a:p>
        </p:txBody>
      </p:sp>
      <p:sp>
        <p:nvSpPr>
          <p:cNvPr id="20" name="Shape 20"/>
          <p:cNvSpPr/>
          <p:nvPr/>
        </p:nvSpPr>
        <p:spPr>
          <a:xfrm>
            <a:off x="1133856" y="4920000"/>
            <a:ext cx="420000" cy="42000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txBody>
          <a:bodyPr wrap="square" lIns="0" tIns="18288" rIns="0" bIns="18288" rtlCol="0" anchor="ctr"/>
          <a:lstStyle/>
          <a:p>
            <a:pPr algn="ctr">
              <a:spcAft>
                <a:spcPts val="0"/>
              </a:spcAft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5</a:t>
            </a:r>
          </a:p>
        </p:txBody>
      </p:sp>
      <p:sp>
        <p:nvSpPr>
          <p:cNvPr id="21" name="Shape 21"/>
          <p:cNvSpPr/>
          <p:nvPr/>
        </p:nvSpPr>
        <p:spPr>
          <a:xfrm>
            <a:off x="1683856" y="4830000"/>
            <a:ext cx="4450000" cy="64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tIns="18288" rIns="54864" bIns="18288" rtlCol="0" anchor="ctr"/>
          <a:lstStyle/>
          <a:p>
            <a:pPr algn="l">
              <a:spcAft>
                <a:spcPts val="0"/>
              </a:spcAft>
              <a:buNone/>
            </a:pPr>
            <a:r>
              <a:rPr lang="ko-KR" altLang="en-US" sz="115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검증</a:t>
            </a:r>
          </a:p>
          <a:p>
            <a:pPr algn="l"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7층 시작 방 실제 체력 294 · 치즈 98.3 · 체력 9 미만이라 is_big 0</a:t>
            </a: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0144" y="5600000"/>
            <a:ext cx="727424" cy="750000"/>
          </a:xfrm>
          <a:prstGeom prst="rect">
            <a:avLst/>
          </a:prstGeom>
        </p:spPr>
      </p:pic>
      <p:graphicFrame>
        <p:nvGraphicFramePr>
          <p:cNvPr id="23" name="Table 23"/>
          <p:cNvGraphicFramePr>
            <a:graphicFrameLocks noGrp="1"/>
          </p:cNvGraphicFramePr>
          <p:nvPr/>
        </p:nvGraphicFramePr>
        <p:xfrm>
          <a:off x="6383856" y="1950000"/>
          <a:ext cx="4716960" cy="41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8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8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2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칸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값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2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item_id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60049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2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item_name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실험용 쳇바퀴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2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code_id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wheel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2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item_category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Item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2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radius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2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hp_mul · value_mul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 · 3.4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2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spawn_weight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2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heavy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2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is_big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2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is_sturdy · is_paper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 · 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2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spill_color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(빈칸)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2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drop_01~04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2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asset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Items/item_wheel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62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from_floor · to_floor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 · 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62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unlock_skill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24" name="TextBox 24"/>
          <p:cNvSpPr txBox="1"/>
          <p:nvPr/>
        </p:nvSpPr>
        <p:spPr>
          <a:xfrm>
            <a:off x="1133856" y="6350000"/>
            <a:ext cx="9966960" cy="23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ko-KR" altLang="en-US" sz="10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새 id = 600xx 대역의 다음 빈 번호 (60049) · 엑셀 입력 후 python Tools/xlsx2json.py → Fill Item Sprites → 게임에서 박살 확인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200" b="0" dirty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검증</a:t>
            </a:r>
            <a:r>
              <a:rPr lang="ko-KR" altLang="en-US" sz="2400" b="0" dirty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기획 · 구현 차이와 남은 결정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1"/>
          <p:cNvSpPr/>
          <p:nvPr/>
        </p:nvSpPr>
        <p:spPr>
          <a:xfrm>
            <a:off x="1133856" y="1330977"/>
            <a:ext cx="9966960" cy="502920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lIns="109728" tIns="36576" rIns="109728" bIns="36576" rtlCol="0" anchor="ctr"/>
          <a:lstStyle/>
          <a:p>
            <a:pPr algn="l">
              <a:spcAft>
                <a:spcPts val="300"/>
              </a:spcAft>
              <a:buNone/>
            </a:pPr>
            <a:r>
              <a:rPr lang="ko-KR" altLang="en-US" sz="14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10-08 오브젝트 기획과 현재 구현이 다른 항목 — 어느 쪽에 맞출지 결정 필요</a:t>
            </a:r>
          </a:p>
        </p:txBody>
      </p:sp>
      <p:graphicFrame>
        <p:nvGraphicFramePr>
          <p:cNvPr id="12" name="Table 12"/>
          <p:cNvGraphicFramePr>
            <a:graphicFrameLocks noGrp="1"/>
          </p:cNvGraphicFramePr>
          <p:nvPr/>
        </p:nvGraphicFramePr>
        <p:xfrm>
          <a:off x="1133856" y="1950000"/>
          <a:ext cx="9966960" cy="33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47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10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890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920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항목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기획 (10-08)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현재 구현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결정 필요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사람 수치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체력 3~5 · 치즈 6~9 · 효율 약 2배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코드에서 체력 ×3 · 치즈 ×2 추가 → 효율 1.14~1.33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기획 효율로 되돌릴지 여부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황금 물건 확률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최대 7% (4 · 5훈장)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최대 21% (4~8훈장 노드 5개)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상한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쏟아짐 물건 판정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규칙 없음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황금 확률 · 연구자료 1.2% 대상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제외 여부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치즈 금고 쏟아짐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쏟아짐 치즈 합 = 본체의 131%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비율 조정 여부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층 돌파 연구자료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 × 1.45^(층-1) · 보스 층 ×3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스테이지 테이블 research 칸 (10-13 반영) · HANDOFF.md 는 8 × 1.25 (옛 값)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HANDOFF 갱신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사라지는 층 표기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'사라지는 층 10층' (클립보드)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to_floor 10 = 10층까지 등장 · 11층부터 없음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표기 통일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1048</TotalTime>
  <Words>7914</Words>
  <Application>Microsoft Office PowerPoint</Application>
  <PresentationFormat>와이드스크린</PresentationFormat>
  <Paragraphs>2331</Paragraphs>
  <Slides>43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43</vt:i4>
      </vt:variant>
    </vt:vector>
  </HeadingPairs>
  <TitlesOfParts>
    <vt:vector size="48" baseType="lpstr">
      <vt:lpstr>Noto Sans KR</vt:lpstr>
      <vt:lpstr>Noto Sans KR Black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도원 박</dc:creator>
  <cp:lastModifiedBy>도원 박</cp:lastModifiedBy>
  <cp:revision>26</cp:revision>
  <dcterms:created xsi:type="dcterms:W3CDTF">2026-09-29T07:46:10Z</dcterms:created>
  <dcterms:modified xsi:type="dcterms:W3CDTF">2026-10-13T04:25:18Z</dcterms:modified>
</cp:coreProperties>
</file>