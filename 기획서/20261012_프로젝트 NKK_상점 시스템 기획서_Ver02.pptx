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8"/>
    <p:sldId id="259" r:id="rId9"/>
    <p:sldId id="260" r:id="rId10"/>
    <p:sldId id="261" r:id="rId7"/>
    <p:sldId id="262" r:id="rId6"/>
    <p:sldId id="263" r:id="rId5"/>
    <p:sldId id="264" r:id="rId4"/>
    <p:sldId id="265" r:id="rId3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D6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층별 여유도 (기준 전투력 ÷ 적정 찍찍)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층별 여유도 (기준 전투력 ÷ 적정 찍찍)</c:v>
                </c:pt>
              </c:strCache>
            </c:strRef>
          </c:tx>
          <c:spPr>
            <a:solidFill>
              <a:srgbClr val="806D64"/>
            </a:solidFill>
          </c:spPr>
          <c:dPt>
            <c:idx val="15"/>
            <c:spPr>
              <a:solidFill>
                <a:srgbClr val="E97132"/>
              </a:solidFill>
            </c:spPr>
          </c:dPt>
          <c:dPt>
            <c:idx val="16"/>
            <c:spPr>
              <a:solidFill>
                <a:srgbClr val="E97132"/>
              </a:solidFill>
            </c:spPr>
          </c:dPt>
          <c:dPt>
            <c:idx val="17"/>
            <c:spPr>
              <a:solidFill>
                <a:srgbClr val="E97132"/>
              </a:solidFill>
            </c:spPr>
          </c:dPt>
          <c:dPt>
            <c:idx val="18"/>
            <c:spPr>
              <a:solidFill>
                <a:srgbClr val="E97132"/>
              </a:solidFill>
            </c:spPr>
          </c:dPt>
          <c:dPt>
            <c:idx val="19"/>
            <c:spPr>
              <a:solidFill>
                <a:srgbClr val="E97132"/>
              </a:solidFill>
            </c:spPr>
          </c:dPt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1.02</c:v>
                </c:pt>
                <c:pt idx="2">
                  <c:v>1.03</c:v>
                </c:pt>
                <c:pt idx="3">
                  <c:v>1.05</c:v>
                </c:pt>
                <c:pt idx="4">
                  <c:v>0.78</c:v>
                </c:pt>
                <c:pt idx="5">
                  <c:v>0.87</c:v>
                </c:pt>
                <c:pt idx="6">
                  <c:v>0.98</c:v>
                </c:pt>
                <c:pt idx="7">
                  <c:v>1.03</c:v>
                </c:pt>
                <c:pt idx="8">
                  <c:v>1.05</c:v>
                </c:pt>
                <c:pt idx="9">
                  <c:v>1.07</c:v>
                </c:pt>
                <c:pt idx="10">
                  <c:v>1.08</c:v>
                </c:pt>
                <c:pt idx="11">
                  <c:v>1.1</c:v>
                </c:pt>
                <c:pt idx="12">
                  <c:v>1.11</c:v>
                </c:pt>
                <c:pt idx="13">
                  <c:v>1.13</c:v>
                </c:pt>
                <c:pt idx="14">
                  <c:v>1.15</c:v>
                </c:pt>
                <c:pt idx="15">
                  <c:v>0.95</c:v>
                </c:pt>
                <c:pt idx="16">
                  <c:v>0.88</c:v>
                </c:pt>
                <c:pt idx="17">
                  <c:v>0.7</c:v>
                </c:pt>
                <c:pt idx="18">
                  <c:v>0.56</c:v>
                </c:pt>
                <c:pt idx="19">
                  <c:v>0.44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리롤 회차별 비용 (BC)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리롤 회차별 비용 (BC)</c:v>
                </c:pt>
              </c:strCache>
            </c:strRef>
          </c:tx>
          <c:spPr>
            <a:solidFill>
              <a:srgbClr val="806D64"/>
            </a:solidFill>
          </c:spPr>
          <c:cat>
            <c:strRef>
              <c:f>Sheet1!$A$2:$A$9</c:f>
              <c:strCache>
                <c:ptCount val="8"/>
                <c:pt idx="0">
                  <c:v>1회</c:v>
                </c:pt>
                <c:pt idx="1">
                  <c:v>2회</c:v>
                </c:pt>
                <c:pt idx="2">
                  <c:v>3회</c:v>
                </c:pt>
                <c:pt idx="3">
                  <c:v>4회</c:v>
                </c:pt>
                <c:pt idx="4">
                  <c:v>5회</c:v>
                </c:pt>
                <c:pt idx="5">
                  <c:v>6회</c:v>
                </c:pt>
                <c:pt idx="6">
                  <c:v>7회</c:v>
                </c:pt>
                <c:pt idx="7">
                  <c:v>8회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300</c:v>
                </c:pt>
                <c:pt idx="1">
                  <c:v>450</c:v>
                </c:pt>
                <c:pt idx="2">
                  <c:v>675</c:v>
                </c:pt>
                <c:pt idx="3">
                  <c:v>1013</c:v>
                </c:pt>
                <c:pt idx="4">
                  <c:v>1519</c:v>
                </c:pt>
                <c:pt idx="5">
                  <c:v>2278</c:v>
                </c:pt>
                <c:pt idx="6">
                  <c:v>3417</c:v>
                </c:pt>
                <c:pt idx="7">
                  <c:v>5126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상점 시스템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AI 초안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AI 초안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625600" y="17018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90700" y="16256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개요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0600" y="20320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0600" y="2311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0600" y="2590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3.   용어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0600" y="28702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4.   기획 의도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5600" y="34290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90700" y="33528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문제 분석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6P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0600" y="37592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후반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0600" y="40386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여유도와 조각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5600" y="45974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90700" y="45212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상점 시스템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8P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0600" y="49276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개요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0600" y="52070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해금 · 허들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0600" y="5486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3.   이용 흐름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7600" y="17018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2700" y="16256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상점 구성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11P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2600" y="20320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UI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2600" y="2311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슬롯 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2600" y="2590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3.   상품 결정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2600" y="28702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4.   가격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7600" y="34290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2700" y="33528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갱신 · 리롤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15P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2600" y="37592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자동 갱신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2600" y="40386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리롤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2600" y="43180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3.   신화 천장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7600" y="4876800"/>
            <a:ext cx="88900" cy="254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2700" y="4800600"/>
            <a:ext cx="381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Noto Sans KR Black"/>
                <a:ea typeface="Noto Sans KR Black"/>
              </a:rPr>
              <a:t>밸런스 · 데이터</a:t>
            </a:r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 – 18P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2600" y="52070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1.   판당 공급과 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2600" y="54864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2.   데이터 테이블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2600" y="5765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3.   예외처리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2600" y="60452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"/>
                <a:ea typeface="Noto Sans KR"/>
              </a:rPr>
              <a:t>4.   추후 검토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로그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651000"/>
          <a:ext cx="9906000" cy="2590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35000"/>
                <a:gridCol w="1270000"/>
                <a:gridCol w="1016000"/>
                <a:gridCol w="1905000"/>
                <a:gridCol w="5080000"/>
              </a:tblGrid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순번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작성일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작성자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작성 내용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비고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2026-10-12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AI 초안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문서 최초 작성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쥐구멍 암시장 초안 (해금 · 슬롯 · 가격 · 갱신 · 리롤 · 테이블)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2026-10-12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AI 초안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결제 재화 변경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 전용으로 변경 (연구 자료는 뽑기 시스템으로 분리)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2026-10-12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AI 초안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허들 기획서 반영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별 허들 기획서 Ver02 기준 개정 — 17층 해금, 18 · 19 · 20층 확장, 판당 공급 · 검증 지표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용어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49400"/>
          <a:ext cx="9906000" cy="3937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05000"/>
                <a:gridCol w="8001000"/>
              </a:tblGrid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용어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설명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쥐구멍 암시장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· 신화 쥐 조각을 치즈로 구매하는 아지트 상점. 17층(어려움) 첫 돌파 시 해금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라인업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현재 상점에 진열된 상품 목록. 돌파한 층에 따라 슬롯 4 ~ 6개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슬롯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상품 1개가 진열되는 칸. 슬롯마다 전설 / 신화 등장 확률이 다름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자동 갱신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30분(실시간)마다 라인업 전체를 무료로 새로 뽑는 것 (≈ 후반 판 1회 길이)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리롤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치즈를 소모해 라인업을 즉시 새로 뽑는 것. 같은 갱신 주기 안에서 회차마다 비용 증가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슬롯 고정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리롤해도 바뀌지 않도록 지정한 슬롯 1개. 자동 갱신 시 해제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천장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조각이 없는 라인업이 8회 연속되면 다음 라인업에 신화 조각을 확정 진열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기준 치즈 (BC)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최고 도달 층에서 가치 배율 1.0 물건 1개를 부술 때의 기본 치즈. 상점 가격의 단위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여유도 · 판당 성장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별 허들 기획서 용어. 기준 전투력 ÷ 적정 찍찍 / 판 사이 로비 성장 배율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기획 의도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5240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한줄요약 : </a:t>
            </a:r>
            <a:r>
              <a:rPr sz="1700" b="0">
                <a:solidFill>
                  <a:schemeClr val="accent2"/>
                </a:solidFill>
                <a:latin typeface="Noto Sans KR Black"/>
                <a:ea typeface="Noto Sans KR Black"/>
              </a:rPr>
              <a:t>후반 반복 판에서 쌓이는 치즈를 '끝까지 키울 쥐'의 조각으로 바꾼다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1336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46200" y="2336800"/>
            <a:ext cx="431800" cy="431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2387600"/>
            <a:ext cx="228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후반 성장 수단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71800"/>
            <a:ext cx="2794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허들 기획서가 '추후 추가'로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비워 둔 후반 성장 수단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(조각 수급)을 채운다.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8500" y="21336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1700" y="2336800"/>
            <a:ext cx="431800" cy="431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0500" y="2387600"/>
            <a:ext cx="228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치즈 적체 해소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7100" y="2971800"/>
            <a:ext cx="2794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매 판 1~15층을 다시 돌며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쌓이는 치즈에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사용처를 만든다.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4000" y="2133600"/>
            <a:ext cx="31750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77200" y="2336800"/>
            <a:ext cx="431800" cy="431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2387600"/>
            <a:ext cx="228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Noto Sans KR Black"/>
                <a:ea typeface="Noto Sans KR Black"/>
              </a:rPr>
              <a:t>'키울 쥐'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2600" y="2971800"/>
            <a:ext cx="2794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후반 의사결정 '어떤 쥐를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끝까지 키울지'를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Noto Sans KR"/>
                <a:ea typeface="Noto Sans KR"/>
              </a:rPr>
              <a:t>직접 고르게 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6990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치즈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(후반 반복 판 적체)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4699000"/>
            <a:ext cx="2540000" cy="7620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700" b="0">
                <a:solidFill>
                  <a:srgbClr val="FFFFFF"/>
                </a:solidFill>
                <a:latin typeface="Noto Sans KR Black"/>
                <a:ea typeface="Noto Sans KR Black"/>
              </a:rPr>
              <a:t>쥐구멍 암시장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9000" y="4699000"/>
            <a:ext cx="2540000" cy="762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전설 · 신화 조각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Noto Sans KR"/>
                <a:ea typeface="Noto Sans KR"/>
              </a:rPr>
              <a:t>(판당 성장 ×1.31)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83000" y="5080000"/>
            <a:ext cx="1143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6000" y="5080000"/>
            <a:ext cx="1143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83000" y="5562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구매 · 리롤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6000" y="5562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집중 육성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문제 분석 – 후반 구조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24000"/>
          <a:ext cx="9906000" cy="2578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32000"/>
                <a:gridCol w="2413000"/>
                <a:gridCol w="2413000"/>
                <a:gridCol w="3048000"/>
              </a:tblGrid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초반 · 1~5층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중반 · 6~15층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· 16~20층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누적 시간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30분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2시간 15분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8시간 30분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 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2~3판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5판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13판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진척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1~4층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0.3~0.5층 (2~3판에 1층)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성장 / 층당 난이도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×1.34 / ×1.37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×1.74 / ×1.32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×1.31 / ×2.01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한 판 길이 (로비 포함)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10분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21분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29분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성장 수단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번식 · 승급 · 1단계 스킬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훈장 · 스킬 트리 · 새 쥐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조각 수급 · 종결 쥐 · 높은 훈장</a:t>
                      </a:r>
                    </a:p>
                  </a:txBody>
                  <a:tcPr marL="76200" marR="76200" marT="25400" marB="25400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4191000"/>
            <a:ext cx="990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층 별 허들 기획서 Ver02 (박도원, 2026-10-12) · 자동 플레이 · 표준 플레이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521200"/>
            <a:ext cx="9906000" cy="1473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46200" y="4711700"/>
            <a:ext cx="76200" cy="228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8600" y="46482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200" y="5029200"/>
            <a:ext cx="9525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후반은 13판 동안 고점이 5층만 오르지만, 매 판 1~15층(약 16분)을 다시 지나며 치즈를 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공용 스킬 · 반복 스킬만으로는 판당 성장 ×1.31을 채우기 어렵고 치즈는 남는다.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→ 허들 기획서의 후반 성장 수단 '조각 수급'을 치즈 소비처로 연결한다.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문제 분석 – 여유도와 조각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143000" y="1447800"/>
          <a:ext cx="6096000" cy="332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0" y="1524000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chemeClr val="accent2"/>
                </a:solidFill>
                <a:latin typeface="Noto Sans KR Black"/>
                <a:ea typeface="Noto Sans KR Black"/>
              </a:rPr>
              <a:t>0.44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21844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20층 여유도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(15층 1.15 → 16층부터 하락)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0" y="2794000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806D64"/>
                </a:solidFill>
                <a:latin typeface="Noto Sans KR Black"/>
                <a:ea typeface="Noto Sans KR Black"/>
              </a:rPr>
              <a:t>×1.31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0" y="34544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후반 목표 판당 성장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(층당 난이도 ×2.01)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4038600"/>
            <a:ext cx="342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허들 기획서는 이 차이를 '반복 판 · 조각 파밍'으로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메운다고 설계했지만, 조각 수급 기능은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'추후 추가'로 비어 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978400"/>
            <a:ext cx="9906000" cy="787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6200" y="5105400"/>
            <a:ext cx="9525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현재 조각은 번식 · 승급으로만 얻고, 전설 탄생 가중치는 일반의 1/10,000 · 신화는 약 1/54,000 (쥐 등급 테이블).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→ 후반 판당 성장 ×1.31을 받칠 조각 공급원이 필요하다 — 상점(치즈) · 뽑기(연구 자료).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상점 시스템 – 개요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5240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Noto Sans KR Black"/>
                <a:ea typeface="Noto Sans KR Black"/>
              </a:rPr>
              <a:t>남는 치즈로 전설 · 신화 쥐 조각을 사는 아지트 상점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095500"/>
            <a:ext cx="18288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9900" y="2260600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해금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3073400"/>
            <a:ext cx="167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17층 어려움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첫 돌파 시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메뉴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2300" y="2095500"/>
            <a:ext cx="18288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59200" y="2260600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판매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500" y="3073400"/>
            <a:ext cx="167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보유한 전설 · 신화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쥐의 조각만 판매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(일반 ~ 유니크 제외)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1600" y="2095500"/>
            <a:ext cx="18288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78500" y="2260600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결제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3073400"/>
            <a:ext cx="167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치즈 전용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가격 단위 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900" y="2095500"/>
            <a:ext cx="18288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97800" y="2260600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갱신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7100" y="3073400"/>
            <a:ext cx="167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30분(실시간)마다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라인업 자동 교체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≈ 후반 판 1회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20200" y="2095500"/>
            <a:ext cx="1828800" cy="2032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17100" y="2260600"/>
            <a:ext cx="635000" cy="635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리롤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3073400"/>
            <a:ext cx="167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치즈로 즉시 교체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주기 내 회차마다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비용 1.5배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4704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아지트 메뉴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작전 회의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876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찍찍!! 훈장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322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쳇바퀴 훈련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치즈 창고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14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친구들!!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60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낮잠 침대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106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유전자 뽑기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5200" y="4826000"/>
            <a:ext cx="1168400" cy="431800"/>
          </a:xfrm>
          <a:prstGeom prst="roundRect">
            <a:avLst>
              <a:gd name="adj" fmla="val 30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쥐구멍 암시장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41000" y="4686300"/>
            <a:ext cx="482600" cy="228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Noto Sans KR Black"/>
                <a:ea typeface="Noto Sans KR Black"/>
              </a:rPr>
              <a:t>NEW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435600"/>
            <a:ext cx="990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유전자 뽑기는 16층 허들 돌파 시 먼저 열림 · 판 진행 중에는 이용 불가 (아지트 전용)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상점 시스템 – 해금 · 허들 연계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549400"/>
            <a:ext cx="3683000" cy="3175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018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해금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32000"/>
            <a:ext cx="3302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chemeClr val="accent2"/>
                </a:solidFill>
                <a:latin typeface="Noto Sans KR Black"/>
                <a:ea typeface="Noto Sans KR Black"/>
              </a:rPr>
              <a:t>17층 첫 돌파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908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어려움 층 · 후반 두 번째 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22600"/>
            <a:ext cx="3302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누적 약 3시간 52분 · 12판째</a:t>
            </a:r>
          </a:p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머무는 시간 54분 (2판)</a:t>
            </a:r>
          </a:p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허들 보상 '조각 수급량 증가'</a:t>
            </a:r>
          </a:p>
          <a:p>
            <a:pPr algn="l" marL="177800" indent="-177800">
              <a:spcAft>
                <a:spcPts val="3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첫 방문 선물 : 전설 조각 3개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196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(층 별 허들 기획서 Ver02 기준)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7000" y="15494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17층에 여는 이유</a:t>
            </a:r>
          </a:p>
        </p:txBody>
      </p:sp>
      <p:sp>
        <p:nvSpPr>
          <p:cNvPr id="11" name="Oval 10"/>
          <p:cNvSpPr/>
          <p:nvPr/>
        </p:nvSpPr>
        <p:spPr>
          <a:xfrm>
            <a:off x="5207000" y="20066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4200" y="1981200"/>
            <a:ext cx="53848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허들 보상과 일치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허들 기획서의 17층 보상 '조각 수급량 증가'를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상점으로 구현한다.</a:t>
            </a:r>
          </a:p>
        </p:txBody>
      </p:sp>
      <p:sp>
        <p:nvSpPr>
          <p:cNvPr id="13" name="Oval 12"/>
          <p:cNvSpPr/>
          <p:nvPr/>
        </p:nvSpPr>
        <p:spPr>
          <a:xfrm>
            <a:off x="5207000" y="27178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4200" y="2692400"/>
            <a:ext cx="53848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치즈 적체 시점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16층 허들(53분 · 2판) 동안 고점이 멈추고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1~15층 재통과로 치즈가 쌓인다.</a:t>
            </a:r>
          </a:p>
        </p:txBody>
      </p:sp>
      <p:sp>
        <p:nvSpPr>
          <p:cNvPr id="15" name="Oval 14"/>
          <p:cNvSpPr/>
          <p:nvPr/>
        </p:nvSpPr>
        <p:spPr>
          <a:xfrm>
            <a:off x="5207000" y="34290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4200" y="3403600"/>
            <a:ext cx="53848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한 번에 하나씩 공개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16층 뽑기(넓은 수급) → 17층 상점(집중 육성)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허들 기획서의 '구간별 차등 공개' 원칙을 따른다.</a:t>
            </a:r>
          </a:p>
        </p:txBody>
      </p:sp>
      <p:sp>
        <p:nvSpPr>
          <p:cNvPr id="17" name="Oval 16"/>
          <p:cNvSpPr/>
          <p:nvPr/>
        </p:nvSpPr>
        <p:spPr>
          <a:xfrm>
            <a:off x="5207000" y="41402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200" y="4114800"/>
            <a:ext cx="53848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세계관 연결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브로커 쥐가 아지트를 찾아와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연구소에서 빼돌린 유전자 샘플(조각)을 판다.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9784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허들 보상에 맞춘 상점 확장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3086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17층 · 3시간 52분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상점 해금 · 슬롯 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29000" y="56515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83000" y="53086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18층 · 5시간 18분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슬롯 5 (종결 쥐 후보)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9000" y="56515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23000" y="53086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19층 · 6시간 48분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무료 리롤 1회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09000" y="56515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63000" y="530860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20층 · 8시간 23분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Noto Sans KR"/>
                <a:ea typeface="Noto Sans KR"/>
              </a:rPr>
              <a:t>슬롯 6 신화 확정 · 리롤 2회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상점 시스템 – 이용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6510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"/>
                <a:ea typeface="Noto Sans KR"/>
              </a:rPr>
              <a:t>판 종료 · 아지트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0" y="16510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"/>
                <a:ea typeface="Noto Sans KR"/>
              </a:rPr>
              <a:t>암시장 입장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7000" y="16510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"/>
                <a:ea typeface="Noto Sans KR"/>
              </a:rPr>
              <a:t>라인업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6510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"/>
                <a:ea typeface="Noto Sans KR"/>
              </a:rPr>
              <a:t>구매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8000" y="19685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15000" y="19685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82000" y="19685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0" y="38862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조각 획득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7000" y="38862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쳇바퀴 훈련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(쥐 강화)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10000" y="38862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판 전투력 상승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(판당 성장)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8862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다음 판 출발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Noto Sans KR"/>
                <a:ea typeface="Noto Sans KR"/>
              </a:rPr>
              <a:t>고점 · 허들 도전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382000" y="42037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715000" y="42037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048000" y="4203700"/>
            <a:ext cx="762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96500" y="2286000"/>
            <a:ext cx="0" cy="16002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95500" y="2286000"/>
            <a:ext cx="0" cy="16002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84400" y="29464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약 29분 뒤 귀환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2819400"/>
            <a:ext cx="1905000" cy="55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806D64"/>
                </a:solidFill>
                <a:latin typeface="Noto Sans KR Black"/>
                <a:ea typeface="Noto Sans KR Black"/>
              </a:rPr>
              <a:t>리롤 (치즈)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0" y="2819400"/>
            <a:ext cx="1905000" cy="55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806D64"/>
                </a:solidFill>
                <a:latin typeface="Noto Sans KR Black"/>
                <a:ea typeface="Noto Sans KR Black"/>
              </a:rPr>
              <a:t>자동 갱신 (30분)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264400" y="2286000"/>
            <a:ext cx="0" cy="5334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94600" y="2286000"/>
            <a:ext cx="0" cy="5334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715000" y="2286000"/>
            <a:ext cx="990600" cy="8128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83600" y="2921000"/>
            <a:ext cx="88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원하는 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3600" y="3098800"/>
            <a:ext cx="88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없을 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876800"/>
            <a:ext cx="9906000" cy="1092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6200" y="5003800"/>
            <a:ext cx="952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5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상점은 번식 · 승급을 대체하지 않는 보충 수단 — '끝까지 키울 쥐'를 골라 집중 육성</a:t>
            </a:r>
          </a:p>
          <a:p>
            <a:pPr algn="l" marL="177800" indent="-177800">
              <a:spcAft>
                <a:spcPts val="5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30분 갱신 ≈ 후반 판 길이 29분 → 판을 마치고 돌아올 때마다 새 라인업 1회</a:t>
            </a:r>
          </a:p>
          <a:p>
            <a:pPr algn="l" marL="177800" indent="-177800">
              <a:spcAft>
                <a:spcPts val="5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구매한 조각은 즉시 지급 → 다음 판 출발 전 쳇바퀴 훈련에서 사용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상점 구성 – UI 구성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498600"/>
            <a:ext cx="6858000" cy="487680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6200" y="1625600"/>
            <a:ext cx="228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Noto Sans KR Black"/>
                <a:ea typeface="Noto Sans KR Black"/>
              </a:rPr>
              <a:t>쥐구멍 암시장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6000" y="1651000"/>
            <a:ext cx="1549400" cy="330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Noto Sans KR Black"/>
                <a:ea typeface="Noto Sans KR Black"/>
              </a:rPr>
              <a:t>다음 입고  23:41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02400" y="1651000"/>
            <a:ext cx="1320800" cy="330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치즈 12.4M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0" y="2133600"/>
            <a:ext cx="2057400" cy="167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35100" y="2235200"/>
            <a:ext cx="533400" cy="254000"/>
          </a:xfrm>
          <a:prstGeom prst="roundRect">
            <a:avLst>
              <a:gd name="adj" fmla="val 40000"/>
            </a:avLst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전설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55900" y="2235200"/>
            <a:ext cx="533400" cy="254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595959"/>
                </a:solidFill>
                <a:latin typeface="Noto Sans KR Black"/>
                <a:ea typeface="Noto Sans KR Black"/>
              </a:rPr>
              <a:t>고정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500" y="26162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사무라이 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0500" y="2921000"/>
            <a:ext cx="1803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0500" y="3327400"/>
            <a:ext cx="1803400" cy="3556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치즈 81.2K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3300" y="2133600"/>
            <a:ext cx="2057400" cy="167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44900" y="2235200"/>
            <a:ext cx="533400" cy="254000"/>
          </a:xfrm>
          <a:prstGeom prst="roundRect">
            <a:avLst>
              <a:gd name="adj" fmla="val 40000"/>
            </a:avLst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전설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65700" y="2235200"/>
            <a:ext cx="533400" cy="25400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고정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0300" y="26162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쥐왕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0300" y="2921000"/>
            <a:ext cx="1803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70300" y="3327400"/>
            <a:ext cx="1803400" cy="3556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치즈 45K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53100" y="2133600"/>
            <a:ext cx="2057400" cy="1676400"/>
          </a:xfrm>
          <a:prstGeom prst="roundRect">
            <a:avLst>
              <a:gd name="adj" fmla="val 6000"/>
            </a:avLst>
          </a:prstGeom>
          <a:solidFill>
            <a:srgbClr val="E6E6E6"/>
          </a:solidFill>
          <a:ln w="2857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54700" y="2235200"/>
            <a:ext cx="533400" cy="254000"/>
          </a:xfrm>
          <a:prstGeom prst="roundRect">
            <a:avLst>
              <a:gd name="adj" fmla="val 40000"/>
            </a:avLst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전설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0100" y="26162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Noto Sans KR Black"/>
                <a:ea typeface="Noto Sans KR Black"/>
              </a:rPr>
              <a:t>산타 생쥐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0100" y="2921000"/>
            <a:ext cx="1803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조각 ×10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80100" y="3327400"/>
            <a:ext cx="1803400" cy="355600"/>
          </a:xfrm>
          <a:prstGeom prst="roundRect">
            <a:avLst>
              <a:gd name="adj" fmla="val 30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품절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500" y="3937000"/>
            <a:ext cx="2057400" cy="167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7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35100" y="4038600"/>
            <a:ext cx="533400" cy="254000"/>
          </a:xfrm>
          <a:prstGeom prst="roundRect">
            <a:avLst>
              <a:gd name="adj" fmla="val 40000"/>
            </a:avLst>
          </a:prstGeom>
          <a:solidFill>
            <a:srgbClr val="D978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신화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55900" y="4038600"/>
            <a:ext cx="533400" cy="254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595959"/>
                </a:solidFill>
                <a:latin typeface="Noto Sans KR Black"/>
                <a:ea typeface="Noto Sans KR Black"/>
              </a:rPr>
              <a:t>고정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0500" y="44196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기사 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0500" y="4724400"/>
            <a:ext cx="1803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0500" y="5130800"/>
            <a:ext cx="1803400" cy="3556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치즈 165K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43300" y="3937000"/>
            <a:ext cx="2057400" cy="167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44900" y="4038600"/>
            <a:ext cx="533400" cy="254000"/>
          </a:xfrm>
          <a:prstGeom prst="roundRect">
            <a:avLst>
              <a:gd name="adj" fmla="val 40000"/>
            </a:avLst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전설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65700" y="4038600"/>
            <a:ext cx="533400" cy="2540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595959"/>
                </a:solidFill>
                <a:latin typeface="Noto Sans KR Black"/>
                <a:ea typeface="Noto Sans KR Black"/>
              </a:rPr>
              <a:t>고정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0300" y="44196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바이킹 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0300" y="4724400"/>
            <a:ext cx="1803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조각 ×6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70300" y="5130800"/>
            <a:ext cx="1803400" cy="3556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치즈 81.2K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53100" y="3937000"/>
            <a:ext cx="2057400" cy="167640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슬롯 6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20층 돌파 시 해금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(신화 확정)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33500" y="5816600"/>
            <a:ext cx="2159000" cy="4064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리롤 · 치즈 37.5K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6800" y="5905500"/>
            <a:ext cx="139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무료 리롤 0 /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0000" y="5905500"/>
            <a:ext cx="88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oto Sans KR Black"/>
                <a:ea typeface="Noto Sans KR Black"/>
              </a:rPr>
              <a:t>신화 천장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18200" y="5930900"/>
            <a:ext cx="139700" cy="177800"/>
          </a:xfrm>
          <a:prstGeom prst="rect">
            <a:avLst/>
          </a:prstGeom>
          <a:solidFill>
            <a:srgbClr val="806D64"/>
          </a:solidFill>
          <a:ln w="9525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000" y="5930900"/>
            <a:ext cx="139700" cy="177800"/>
          </a:xfrm>
          <a:prstGeom prst="rect">
            <a:avLst/>
          </a:prstGeom>
          <a:solidFill>
            <a:srgbClr val="806D64"/>
          </a:solidFill>
          <a:ln w="9525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73800" y="5930900"/>
            <a:ext cx="139700" cy="177800"/>
          </a:xfrm>
          <a:prstGeom prst="rect">
            <a:avLst/>
          </a:prstGeom>
          <a:solidFill>
            <a:srgbClr val="806D64"/>
          </a:solidFill>
          <a:ln w="9525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51600" y="5930900"/>
            <a:ext cx="1397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29400" y="5930900"/>
            <a:ext cx="1397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07200" y="5930900"/>
            <a:ext cx="1397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5000" y="5930900"/>
            <a:ext cx="1397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62800" y="5930900"/>
            <a:ext cx="1397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806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91400" y="5905500"/>
            <a:ext cx="50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3/8</a:t>
            </a:r>
          </a:p>
        </p:txBody>
      </p:sp>
      <p:sp>
        <p:nvSpPr>
          <p:cNvPr id="50" name="Oval 49"/>
          <p:cNvSpPr/>
          <p:nvPr/>
        </p:nvSpPr>
        <p:spPr>
          <a:xfrm>
            <a:off x="4775200" y="14732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51" name="Oval 50"/>
          <p:cNvSpPr/>
          <p:nvPr/>
        </p:nvSpPr>
        <p:spPr>
          <a:xfrm>
            <a:off x="7772400" y="14732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52" name="Oval 51"/>
          <p:cNvSpPr/>
          <p:nvPr/>
        </p:nvSpPr>
        <p:spPr>
          <a:xfrm>
            <a:off x="1206500" y="20066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53" name="Oval 52"/>
          <p:cNvSpPr/>
          <p:nvPr/>
        </p:nvSpPr>
        <p:spPr>
          <a:xfrm>
            <a:off x="5384800" y="20066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1206500" y="56896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5</a:t>
            </a:r>
          </a:p>
        </p:txBody>
      </p:sp>
      <p:sp>
        <p:nvSpPr>
          <p:cNvPr id="55" name="Oval 54"/>
          <p:cNvSpPr/>
          <p:nvPr/>
        </p:nvSpPr>
        <p:spPr>
          <a:xfrm>
            <a:off x="5740400" y="56896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Noto Sans KR Black"/>
                <a:ea typeface="Noto Sans KR Black"/>
              </a:rPr>
              <a:t>6</a:t>
            </a:r>
          </a:p>
        </p:txBody>
      </p:sp>
      <p:sp>
        <p:nvSpPr>
          <p:cNvPr id="56" name="Oval 55"/>
          <p:cNvSpPr/>
          <p:nvPr/>
        </p:nvSpPr>
        <p:spPr>
          <a:xfrm>
            <a:off x="8255000" y="15748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36000" y="15494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갱신 타이머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다음 자동 갱신까지 남은 실시간</a:t>
            </a:r>
          </a:p>
        </p:txBody>
      </p:sp>
      <p:sp>
        <p:nvSpPr>
          <p:cNvPr id="58" name="Oval 57"/>
          <p:cNvSpPr/>
          <p:nvPr/>
        </p:nvSpPr>
        <p:spPr>
          <a:xfrm>
            <a:off x="8255000" y="23749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36000" y="23495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보유 치즈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현재 보유 치즈 (실제 수치)</a:t>
            </a:r>
          </a:p>
        </p:txBody>
      </p:sp>
      <p:sp>
        <p:nvSpPr>
          <p:cNvPr id="60" name="Oval 59"/>
          <p:cNvSpPr/>
          <p:nvPr/>
        </p:nvSpPr>
        <p:spPr>
          <a:xfrm>
            <a:off x="8255000" y="31750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36000" y="31496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상품 슬롯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등급색 테두리 · 종 · 수량 · 가격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구매하면 품절 처리</a:t>
            </a:r>
          </a:p>
        </p:txBody>
      </p:sp>
      <p:sp>
        <p:nvSpPr>
          <p:cNvPr id="62" name="Oval 61"/>
          <p:cNvSpPr/>
          <p:nvPr/>
        </p:nvSpPr>
        <p:spPr>
          <a:xfrm>
            <a:off x="8255000" y="39751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36000" y="39497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슬롯 고정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1개 지정, 리롤해도 유지</a:t>
            </a:r>
          </a:p>
        </p:txBody>
      </p:sp>
      <p:sp>
        <p:nvSpPr>
          <p:cNvPr id="64" name="Oval 63"/>
          <p:cNvSpPr/>
          <p:nvPr/>
        </p:nvSpPr>
        <p:spPr>
          <a:xfrm>
            <a:off x="8255000" y="47752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36000" y="47498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리롤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현재 회차 비용 표시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무료 리롤 우선 소모</a:t>
            </a:r>
          </a:p>
        </p:txBody>
      </p:sp>
      <p:sp>
        <p:nvSpPr>
          <p:cNvPr id="66" name="Oval 65"/>
          <p:cNvSpPr/>
          <p:nvPr/>
        </p:nvSpPr>
        <p:spPr>
          <a:xfrm>
            <a:off x="8255000" y="5575300"/>
            <a:ext cx="279400" cy="2794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 Black"/>
                <a:ea typeface="Noto Sans KR Black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36000" y="55499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신화 천장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신화 미등장 라인업 수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8 도달 시 다음 라인업 확정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" y="6426200"/>
            <a:ext cx="6858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18층 돌파 후 예시 화면. 치즈 표기는 BC 환산 후 실제 수치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상점 구성 – 슬롯 구성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49400"/>
          <a:ext cx="9906000" cy="2578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62000"/>
                <a:gridCol w="1397000"/>
                <a:gridCol w="1016000"/>
                <a:gridCol w="1016000"/>
                <a:gridCol w="1651000"/>
                <a:gridCol w="4064000"/>
              </a:tblGrid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슬롯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해금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결제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비고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17층 돌파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기본 슬롯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17층 돌파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기본 슬롯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17층 돌파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기본 슬롯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17층 돌파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75%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천장 적용 슬롯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18층 돌파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확장 슬롯 — 허들 보상 '종결 쥐 후보 공개'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20층 돌파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확정 — 허들 보상 '종결 쥐 육성'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4318000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돌파 층별 상점 확장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4699000"/>
            <a:ext cx="2336800" cy="127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0800" y="48260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chemeClr val="accent2"/>
                </a:solidFill>
                <a:latin typeface="Noto Sans KR Black"/>
                <a:ea typeface="Noto Sans KR Black"/>
              </a:rPr>
              <a:t>17층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800" y="5257800"/>
            <a:ext cx="203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 Black"/>
                <a:ea typeface="Noto Sans KR Black"/>
              </a:rPr>
              <a:t>슬롯 4개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라인업당 신화 기대 0.25개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9800" y="5334000"/>
            <a:ext cx="1905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70300" y="4699000"/>
            <a:ext cx="2336800" cy="127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8100" y="48260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chemeClr val="accent2"/>
                </a:solidFill>
                <a:latin typeface="Noto Sans KR Black"/>
                <a:ea typeface="Noto Sans KR Black"/>
              </a:rPr>
              <a:t>18층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8100" y="5257800"/>
            <a:ext cx="203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 Black"/>
                <a:ea typeface="Noto Sans KR Black"/>
              </a:rPr>
              <a:t>슬롯 5개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라인업당 신화 기대 0.65개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07100" y="5334000"/>
            <a:ext cx="1905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97600" y="4699000"/>
            <a:ext cx="2336800" cy="127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5400" y="48260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chemeClr val="accent2"/>
                </a:solidFill>
                <a:latin typeface="Noto Sans KR Black"/>
                <a:ea typeface="Noto Sans KR Black"/>
              </a:rPr>
              <a:t>19층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5400" y="5257800"/>
            <a:ext cx="203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 Black"/>
                <a:ea typeface="Noto Sans KR Black"/>
              </a:rPr>
              <a:t>무료 리롤 1회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허들 보상 '높은 훈장'과 함께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34400" y="5334000"/>
            <a:ext cx="1905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24900" y="4699000"/>
            <a:ext cx="2336800" cy="127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02700" y="48260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chemeClr val="accent2"/>
                </a:solidFill>
                <a:latin typeface="Noto Sans KR Black"/>
                <a:ea typeface="Noto Sans KR Black"/>
              </a:rPr>
              <a:t>20층 ~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2700" y="5257800"/>
            <a:ext cx="203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 Black"/>
                <a:ea typeface="Noto Sans KR Black"/>
              </a:rPr>
              <a:t>슬롯 6개 · 무료 리롤 2회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라인업당 신화 기대 1.65개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6096000"/>
            <a:ext cx="990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21층 이후 · 무한 모드는 20층 구성 유지 (가격은 BC를 따라 상승)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상점 구성 – 상품 결정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143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① 슬롯 등급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21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68400" y="2260600"/>
            <a:ext cx="17526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슬롯별 전설 / 신화 확률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(천장 시 신화 확정)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5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② 판매 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3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260600"/>
            <a:ext cx="17526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해당 등급 중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해금 + 도감 보유 종만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7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③ 종 선택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85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32400" y="2260600"/>
            <a:ext cx="17526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종 가중치로 1종 추첨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(아래 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④ 수량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17000" y="1854200"/>
            <a:ext cx="2540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64400" y="2260600"/>
            <a:ext cx="17526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소 · 중 · 대 묶음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전설 50 · 35 · 15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신화 60 · 30 ·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1000" y="1549400"/>
            <a:ext cx="1778000" cy="609600"/>
          </a:xfrm>
          <a:prstGeom prst="roundRect">
            <a:avLst>
              <a:gd name="adj" fmla="val 12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Noto Sans KR Black"/>
                <a:ea typeface="Noto Sans KR Black"/>
              </a:rPr>
              <a:t>⑤ 가격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6400" y="2260600"/>
            <a:ext cx="17526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상품 표기 값 × BC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(치즈 결제)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238500"/>
            <a:ext cx="76200" cy="228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5400" y="31750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③ 종 가중치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143000" y="3581400"/>
          <a:ext cx="99060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1000"/>
                <a:gridCol w="5969000"/>
                <a:gridCol w="2286000"/>
              </a:tblGrid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보정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조건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가중치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판매 풀의 모든 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캐치업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해당 종 조각 강화 레벨이 같은 등급 보유 종 평균보다 낮음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 1.5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신규 해금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직전 허들 돌파 이후 새로 해금된 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 1.3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중복 방지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같은 라인업에 이미 진열된 종 (풀 부족 시 해제)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 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고정 슬롯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고정된 슬롯의 상품은 리롤 추첨 대상에서 제외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-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상점 구성 – 가격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49400"/>
          <a:ext cx="6350000" cy="2489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1000"/>
                <a:gridCol w="762000"/>
                <a:gridCol w="1143000"/>
                <a:gridCol w="1397000"/>
                <a:gridCol w="1397000"/>
              </a:tblGrid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상품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수량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등장 가중치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 가격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개당 단가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조각 (소)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120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조각 (중)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108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조각 (대)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1,000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조각 (소)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720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조각 (중)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1,320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330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조각 (대)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1,800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143000" y="4267200"/>
            <a:ext cx="6350000" cy="1778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6200" y="4394200"/>
            <a:ext cx="584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17층 라인업 전량 구매 기대값 (슬롯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6200" y="4749800"/>
            <a:ext cx="1854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chemeClr val="accent2"/>
                </a:solidFill>
                <a:latin typeface="Noto Sans KR Black"/>
                <a:ea typeface="Noto Sans KR Black"/>
              </a:rPr>
              <a:t>≈ 19개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6200" y="51308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전설 조각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1200" y="4749800"/>
            <a:ext cx="1854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chemeClr val="accent2"/>
                </a:solidFill>
                <a:latin typeface="Noto Sans KR Black"/>
                <a:ea typeface="Noto Sans KR Black"/>
              </a:rPr>
              <a:t>≈ 0.75개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1200" y="51308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신화 조각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6200" y="4749800"/>
            <a:ext cx="1854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chemeClr val="accent2"/>
                </a:solidFill>
                <a:latin typeface="Noto Sans KR Black"/>
                <a:ea typeface="Noto Sans KR Black"/>
              </a:rPr>
              <a:t>≈ 2,340 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6200" y="5130800"/>
            <a:ext cx="1854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치즈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6200" y="5486400"/>
            <a:ext cx="596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튜닝 목표 : 후반 판 1회(약 29분) 치즈 수입 ≈ 라인업 전량 구매 + 리롤 3~4회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0" y="1549400"/>
            <a:ext cx="317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가격 규칙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0" y="1930400"/>
            <a:ext cx="3175000" cy="419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치즈 가격 = 표기 값 × BC</a:t>
            </a:r>
          </a:p>
          <a:p>
            <a:pPr algn="l" marL="177800" indent="0">
              <a:spcAft>
                <a:spcPts val="1200"/>
              </a:spcAft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층이 오를수록 가격도 함께 상승</a:t>
            </a:r>
          </a:p>
          <a:p>
            <a:pPr algn="l" marL="177800" indent="-177800">
              <a:spcAft>
                <a:spcPts val="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묶음이 클수록 단가 할인</a:t>
            </a:r>
          </a:p>
          <a:p>
            <a:pPr algn="l" marL="177800" indent="0">
              <a:spcAft>
                <a:spcPts val="1200"/>
              </a:spcAft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전설 120 → 100 BC, 신화 360 → 300 BC</a:t>
            </a:r>
          </a:p>
          <a:p>
            <a:pPr algn="l" marL="177800" indent="-177800">
              <a:spcAft>
                <a:spcPts val="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신화 단가 = 전설의 약 3배</a:t>
            </a:r>
          </a:p>
          <a:p>
            <a:pPr algn="l" marL="177800" indent="0">
              <a:spcAft>
                <a:spcPts val="1200"/>
              </a:spcAft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낮은 등장 확률과 높은 강화 가치를 반영</a:t>
            </a:r>
          </a:p>
          <a:p>
            <a:pPr algn="l" marL="177800" indent="-177800">
              <a:spcAft>
                <a:spcPts val="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21층 이후 · 무한 모드</a:t>
            </a:r>
          </a:p>
          <a:p>
            <a:pPr algn="l" marL="177800" indent="0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BC가 최고 도달 층을 따라 오르므로 같은 표 사용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갱신 · 리롤 – 자동 갱신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97000" y="2235200"/>
            <a:ext cx="95250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422400" y="2133600"/>
            <a:ext cx="203200" cy="203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해금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3876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3:52</a:t>
            </a:r>
          </a:p>
        </p:txBody>
      </p:sp>
      <p:sp>
        <p:nvSpPr>
          <p:cNvPr id="8" name="Oval 7"/>
          <p:cNvSpPr/>
          <p:nvPr/>
        </p:nvSpPr>
        <p:spPr>
          <a:xfrm>
            <a:off x="3708400" y="2133600"/>
            <a:ext cx="203200" cy="203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02000" y="1803400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갱신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2000" y="23876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4:22</a:t>
            </a:r>
          </a:p>
        </p:txBody>
      </p:sp>
      <p:sp>
        <p:nvSpPr>
          <p:cNvPr id="11" name="Oval 10"/>
          <p:cNvSpPr/>
          <p:nvPr/>
        </p:nvSpPr>
        <p:spPr>
          <a:xfrm>
            <a:off x="5994400" y="2133600"/>
            <a:ext cx="203200" cy="203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0" y="1803400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갱신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0" y="23876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4:52</a:t>
            </a:r>
          </a:p>
        </p:txBody>
      </p:sp>
      <p:sp>
        <p:nvSpPr>
          <p:cNvPr id="14" name="Oval 13"/>
          <p:cNvSpPr/>
          <p:nvPr/>
        </p:nvSpPr>
        <p:spPr>
          <a:xfrm>
            <a:off x="8280400" y="2133600"/>
            <a:ext cx="203200" cy="203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4000" y="1803400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갱신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000" y="23876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5:22</a:t>
            </a:r>
          </a:p>
        </p:txBody>
      </p:sp>
      <p:sp>
        <p:nvSpPr>
          <p:cNvPr id="17" name="Oval 16"/>
          <p:cNvSpPr/>
          <p:nvPr/>
        </p:nvSpPr>
        <p:spPr>
          <a:xfrm>
            <a:off x="10566400" y="2133600"/>
            <a:ext cx="203200" cy="203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60000" y="1803400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갱신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0" y="23876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5:52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4800" y="2667000"/>
            <a:ext cx="2108200" cy="304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12판 · 약 29분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0800" y="2667000"/>
            <a:ext cx="2108200" cy="304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13판 · 약 29분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2667000"/>
            <a:ext cx="2108200" cy="304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14판 · 약 29분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32800" y="2667000"/>
            <a:ext cx="2108200" cy="304800"/>
          </a:xfrm>
          <a:prstGeom prst="roundRect">
            <a:avLst>
              <a:gd name="adj" fmla="val 30000"/>
            </a:avLst>
          </a:prstGeom>
          <a:solidFill>
            <a:srgbClr val="806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Noto Sans KR"/>
                <a:ea typeface="Noto Sans KR"/>
              </a:rPr>
              <a:t>15판 · 약 29분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7000" y="3022600"/>
            <a:ext cx="965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판을 마치고 아지트에 돌아올 때마다 새 라인업 1회 (누적 플레이타임 · 허들 기획서 표준 플레이 기준)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143000" y="3378200"/>
          <a:ext cx="9906000" cy="1981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51000"/>
                <a:gridCol w="8255000"/>
              </a:tblGrid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규칙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주기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30분. 상점 해금 시각부터 고정 간격 (실시간 기준)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교체 범위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라인업 전체 (고정 슬롯 포함) · 품절 해제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초기화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리롤 회차(비용) · 슬롯 고정 · 무료 리롤 횟수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 진행 중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타이머 진행, 판 종료 정산 화면에 '암시장 새 물건 입고!' 알림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오프라인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경과 시간 반영. 여러 주기가 지나도 갱신은 1회 (라인업 누적 없음)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143000" y="55372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※ 17층 → 20층 약 4시간 30분 = 자동 갱신 약 9회. 건너뛰기 사용 시 후반 판이 약 21분으로 줄어 판 1.4회당 갱신 1회 → 부족분은 리롤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갱신 · 리롤 – 리롤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143000" y="1498600"/>
          <a:ext cx="52070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4978400"/>
            <a:ext cx="520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비용 = 300 × 1.5^(회차 − 1) BC · 자동 갱신 시 1회차로 초기화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67500" y="1549400"/>
          <a:ext cx="4381500" cy="3403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16000"/>
                <a:gridCol w="3365500"/>
              </a:tblGrid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규칙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결제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 (BC 기준)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대상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고정 슬롯을 제외한 모든 슬롯 (품절 포함)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횟수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제한 없음 — 1.5배 증가로 자연 제한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8회 누적 약 14,780 BC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슬롯 고정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1개, 무료. 리롤 시 유지 / 자동 갱신 시 해제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무료 리롤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19층 돌파 주기당 1회, 20층 돌파 2회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유료 회차 증가에 포함 안 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천장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리롤로 나온 라인업도 신화 천장 횟수에 포함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143000" y="5334000"/>
            <a:ext cx="9906000" cy="7366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6200" y="5435600"/>
            <a:ext cx="95250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설계 의도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남는 치즈를 '끝까지 키울 쥐가 나올 때까지' 쓰게 하여 치즈 적체를 풀고, 조각을 특정 종에 모은다.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갱신 · 리롤 – 신화 천장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524000"/>
            <a:ext cx="9906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Noto Sans KR Black"/>
                <a:ea typeface="Noto Sans KR Black"/>
              </a:rPr>
              <a:t>신화 조각이 없는 라인업이 8회 연속되면, 다음 라인업의 4번 슬롯에 신화 조각을 확정 진열한다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108200"/>
            <a:ext cx="711200" cy="635000"/>
          </a:xfrm>
          <a:prstGeom prst="roundRect">
            <a:avLst>
              <a:gd name="adj" fmla="val 15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200" y="2108200"/>
            <a:ext cx="711200" cy="635000"/>
          </a:xfrm>
          <a:prstGeom prst="roundRect">
            <a:avLst>
              <a:gd name="adj" fmla="val 15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9400" y="2108200"/>
            <a:ext cx="711200" cy="635000"/>
          </a:xfrm>
          <a:prstGeom prst="roundRect">
            <a:avLst>
              <a:gd name="adj" fmla="val 15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8200"/>
            <a:ext cx="711200" cy="635000"/>
          </a:xfrm>
          <a:prstGeom prst="roundRect">
            <a:avLst>
              <a:gd name="adj" fmla="val 15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KR Black"/>
                <a:ea typeface="Noto Sans KR Black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800" y="2108200"/>
            <a:ext cx="711200" cy="635000"/>
          </a:xfrm>
          <a:prstGeom prst="roundRect">
            <a:avLst>
              <a:gd name="adj" fmla="val 15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KR Black"/>
                <a:ea typeface="Noto Sans KR Black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0" y="2108200"/>
            <a:ext cx="711200" cy="635000"/>
          </a:xfrm>
          <a:prstGeom prst="roundRect">
            <a:avLst>
              <a:gd name="adj" fmla="val 15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KR Black"/>
                <a:ea typeface="Noto Sans KR Black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8200"/>
            <a:ext cx="711200" cy="635000"/>
          </a:xfrm>
          <a:prstGeom prst="roundRect">
            <a:avLst>
              <a:gd name="adj" fmla="val 15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KR Black"/>
                <a:ea typeface="Noto Sans KR Black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10400" y="2108200"/>
            <a:ext cx="711200" cy="635000"/>
          </a:xfrm>
          <a:prstGeom prst="roundRect">
            <a:avLst>
              <a:gd name="adj" fmla="val 15000"/>
            </a:avLst>
          </a:prstGeom>
          <a:solidFill>
            <a:srgbClr val="806D6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KR Black"/>
                <a:ea typeface="Noto Sans KR Black"/>
              </a:rPr>
              <a:t>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48600" y="2425700"/>
            <a:ext cx="5334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82000" y="2032000"/>
            <a:ext cx="2667000" cy="787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9번째 라인업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Noto Sans KR Black"/>
                <a:ea typeface="Noto Sans KR Black"/>
              </a:rPr>
              <a:t>신화 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44800"/>
            <a:ext cx="660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Noto Sans KR"/>
                <a:ea typeface="Noto Sans KR"/>
              </a:rPr>
              <a:t>신화 조각이 없는 라인업 (자동 갱신 · 리롤 모두 1회로 집계)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27400"/>
            <a:ext cx="5588000" cy="27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10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초기화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어느 슬롯이든 신화 조각이 진열되면 0으로 (구매 여부 무관)</a:t>
            </a:r>
          </a:p>
          <a:p>
            <a:pPr algn="l" marL="177800" indent="-177800">
              <a:spcAft>
                <a:spcPts val="10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고정 충돌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4번 슬롯이 고정 상태면 5번 슬롯에 적용, 둘 다 불가하면 다음 라인업으로 이월</a:t>
            </a:r>
          </a:p>
          <a:p>
            <a:pPr algn="l" marL="177800" indent="-177800">
              <a:spcAft>
                <a:spcPts val="10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20층 이후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6번 슬롯이 항상 신화이므로 천장이 발동하지 않음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048500" y="3327400"/>
          <a:ext cx="4000500" cy="1676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43000"/>
                <a:gridCol w="1524000"/>
                <a:gridCol w="1333500"/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돌파 층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라인업당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미등장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8연속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미등장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75%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10.0%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 ~ 19층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0.17%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20층 ~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048500" y="5080000"/>
            <a:ext cx="40005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자동 갱신만으로 8회 ≈ 4시간 → 17층 → 20층(약 4.5시간) 안에 신화를 최소 1회 보장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밸런스 – 판당 공급과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473200"/>
            <a:ext cx="635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판당 조각 공급 예산 (기대값)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803400"/>
          <a:ext cx="6350000" cy="2400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78000"/>
                <a:gridCol w="2032000"/>
                <a:gridCol w="254000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공급원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이용 (가정)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기대 조각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상점 · 17층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라인업 1회 전량 구매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≈19 · 신화 ≈0.75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상점 · 18~19층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〃 (슬롯 5)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≈22 · 신화 ≈2.0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상점 · 20층~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〃 (슬롯 6)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≈22 · 신화 ≈5.0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뽑기 · 16층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10회 약 1.8회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 등급 ≈140 (전설 ≈2.2)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뽑기 · 20층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10회 약 1.0회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 등급 ≈78 (전설 ≈1.2)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번식 · 승급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기존 규칙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등급 테이블 기준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74000" y="14732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어긋났을 때 조정 순서</a:t>
            </a:r>
          </a:p>
        </p:txBody>
      </p:sp>
      <p:sp>
        <p:nvSpPr>
          <p:cNvPr id="7" name="Oval 6"/>
          <p:cNvSpPr/>
          <p:nvPr/>
        </p:nvSpPr>
        <p:spPr>
          <a:xfrm>
            <a:off x="7874000" y="18796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1200" y="1854200"/>
            <a:ext cx="2717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묶음 수량 · 캡슐 조각 수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한 구간만 빠르거나 느릴 때</a:t>
            </a:r>
          </a:p>
        </p:txBody>
      </p:sp>
      <p:sp>
        <p:nvSpPr>
          <p:cNvPr id="9" name="Oval 8"/>
          <p:cNvSpPr/>
          <p:nvPr/>
        </p:nvSpPr>
        <p:spPr>
          <a:xfrm>
            <a:off x="7874000" y="25908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1200" y="2565400"/>
            <a:ext cx="2717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가격 계수 (BC · BR)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판당 이용 횟수가 예산과 다를 때</a:t>
            </a:r>
          </a:p>
        </p:txBody>
      </p:sp>
      <p:sp>
        <p:nvSpPr>
          <p:cNvPr id="11" name="Oval 10"/>
          <p:cNvSpPr/>
          <p:nvPr/>
        </p:nvSpPr>
        <p:spPr>
          <a:xfrm>
            <a:off x="7874000" y="3302000"/>
            <a:ext cx="330200" cy="330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5400" bIns="25400"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1200" y="3276600"/>
            <a:ext cx="2717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등급 · 슬롯 확률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고등급 체감이 다를 때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143000" y="4470400"/>
          <a:ext cx="99060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24000"/>
                <a:gridCol w="4826000"/>
                <a:gridCol w="3556000"/>
              </a:tblGrid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검증 지표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목표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확인 방법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진척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2~3판에 1층 (16~20층 13판)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판별 최고 층 기록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성장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×1.31 유지 — 공급이 많으면 20층 도달 시간 단축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판별 최고 전투력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20층 도달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8.5시간 (최대 건너뛰기 약 6.6시간)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플레이 로그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이용 빈도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상점 라인업 1회 · 뽑기 10회 1회 안팎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Shop_Save · Gacha_Log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데이터 테이블 (1)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4732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Shop_Config</a:t>
            </a:r>
            <a:r>
              <a:rPr sz="1400" b="0">
                <a:solidFill>
                  <a:srgbClr val="595959"/>
                </a:solidFill>
                <a:latin typeface="Noto Sans KR"/>
                <a:ea typeface="Noto Sans KR"/>
              </a:rPr>
              <a:t>  상점 기본 설정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803400"/>
          <a:ext cx="5080000" cy="3962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68500"/>
                <a:gridCol w="635000"/>
                <a:gridCol w="2476500"/>
              </a:tblGrid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키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값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설명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key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value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desc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string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float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string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unlock_floor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상점 해금 층 (첫 돌파)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refresh_interval_sec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1800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자동 갱신 주기 (초)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reroll_base_bc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1회차 리롤 비용 (BC)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reroll_growth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회차당 리롤 비용 배율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lock_slot_max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고정 가능 슬롯 수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mythic_pity_count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천장 횟수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pity_slot_id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천장 확정 슬롯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first_visit_goods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90001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첫 방문 무료 상품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catchup_weight_mul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캐치업 가중치 배율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new_unlock_weight_mul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1.3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신규 해금 가중치 배율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40500" y="1473200"/>
            <a:ext cx="457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Shop_Slot</a:t>
            </a:r>
            <a:r>
              <a:rPr sz="1400" b="0">
                <a:solidFill>
                  <a:srgbClr val="595959"/>
                </a:solidFill>
                <a:latin typeface="Noto Sans KR"/>
                <a:ea typeface="Noto Sans KR"/>
              </a:rPr>
              <a:t>  슬롯별 등장 확률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40500" y="1803400"/>
          <a:ext cx="450850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89000"/>
                <a:gridCol w="1206500"/>
                <a:gridCol w="1206500"/>
                <a:gridCol w="1206500"/>
              </a:tblGrid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슬롯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해금 층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확률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확률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slot_id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unlock_floor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legend_rate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mythic_rate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int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int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float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float</a:t>
                      </a:r>
                    </a:p>
                  </a:txBody>
                  <a:tcPr marL="38100" marR="381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0.75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0.25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0.6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0.4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40500" y="4724400"/>
            <a:ext cx="4508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해금은 훈장이 아닌 층 첫 돌파 기준 (허들 기획서 보상 연동)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모든 상품은 치즈 결제 (price_cheese_bc × BC)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데이터 테이블 (2)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43000" y="1473200"/>
            <a:ext cx="635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Shop_Goods</a:t>
            </a:r>
            <a:r>
              <a:rPr sz="1400" b="0">
                <a:solidFill>
                  <a:srgbClr val="595959"/>
                </a:solidFill>
                <a:latin typeface="Noto Sans KR"/>
                <a:ea typeface="Noto Sans KR"/>
              </a:rPr>
              <a:t>  판매 상품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0" y="1524000"/>
            <a:ext cx="381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Noto Sans KR"/>
                <a:ea typeface="Noto Sans KR"/>
              </a:rPr>
              <a:t>※ 실제 가격 = price_cheese_bc × BC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43000" y="1803400"/>
          <a:ext cx="9906000" cy="2400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43000"/>
                <a:gridCol w="2032000"/>
                <a:gridCol w="1524000"/>
                <a:gridCol w="1397000"/>
                <a:gridCol w="1524000"/>
                <a:gridCol w="2286000"/>
              </a:tblGrid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상품 id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상품 이름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등급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묶음 수량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등장 가중치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치즈 가격 (BC)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goods_id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goods_name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grade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pack_size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spawn_weight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price_cheese_bc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int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string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enum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int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float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float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90001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조각 (소)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Legendary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360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90002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조각 (중)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Legendary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90003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전설 조각 (대)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Legendary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90011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조각 (소)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Mythic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90012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조각 (중)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Mythic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1320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90013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조각 (대)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Mythic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" y="4470400"/>
            <a:ext cx="4826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oto Sans KR Black"/>
                <a:ea typeface="Noto Sans KR Black"/>
              </a:rPr>
              <a:t>Shop_Floor</a:t>
            </a:r>
            <a:r>
              <a:rPr sz="1400" b="0">
                <a:solidFill>
                  <a:srgbClr val="595959"/>
                </a:solidFill>
                <a:latin typeface="Noto Sans KR"/>
                <a:ea typeface="Noto Sans KR"/>
              </a:rPr>
              <a:t>  돌파 층별 상점 보정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43000" y="4800600"/>
          <a:ext cx="4699000" cy="1511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43000"/>
                <a:gridCol w="1778000"/>
                <a:gridCol w="1778000"/>
              </a:tblGrid>
              <a:tr h="2159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돌파 층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무료 리롤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슬롯 수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2159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floor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free_reroll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slot_count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2159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int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int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int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2159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159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159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1590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23000" y="4470400"/>
            <a:ext cx="4826000" cy="1778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 Black"/>
                <a:ea typeface="Noto Sans KR Black"/>
              </a:rPr>
              <a:t>저장 데이터 (Shop_Save)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76800"/>
            <a:ext cx="4521200" cy="132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lineup — 슬롯별 goods_id · character_id · 품절 여부</a:t>
            </a:r>
          </a:p>
          <a:p>
            <a:pPr algn="l" marL="177800" indent="-177800"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next_refresh_at — 다음 갱신 시각 (UTC)</a:t>
            </a:r>
          </a:p>
          <a:p>
            <a:pPr algn="l" marL="177800" indent="-177800"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reroll_count · free_reroll_left · locked_slot</a:t>
            </a:r>
          </a:p>
          <a:p>
            <a:pPr algn="l" marL="177800" indent="-177800"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pity_count — 신화 미등장 연속 라인업 수</a:t>
            </a:r>
          </a:p>
          <a:p>
            <a:pPr algn="l" marL="177800" indent="-177800">
              <a:spcAft>
                <a:spcPts val="2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Noto Sans KR"/>
                <a:ea typeface="Noto Sans KR"/>
              </a:rPr>
              <a:t>last_seen_at — 시간 역행 검사용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예외처리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43000" y="1587500"/>
            <a:ext cx="76200" cy="241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5400" y="15240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Noto Sans KR Black"/>
                <a:ea typeface="Noto Sans KR Black"/>
              </a:rPr>
              <a:t>판매 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1955800"/>
            <a:ext cx="45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해당 등급 보유 종이 없으면 다른 등급으로 대체, 둘 다 없으면 '입고 대기' 표시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보유 종 수가 해당 등급 슬롯 수보다 적으면 중복 방지 해제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도감 미보유 종의 조각은 판매하지 않음 (뽑기 · 번식으로 첫 획득 후 편입)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924300"/>
            <a:ext cx="76200" cy="241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5400" y="38608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Noto Sans KR Black"/>
                <a:ea typeface="Noto Sans KR Black"/>
              </a:rPr>
              <a:t>구매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4292600"/>
            <a:ext cx="45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재화 부족 시 구매 버튼 비활성 + 부족량 표시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신화 구매 · 보유 치즈 50% 이상 리롤은 확인 팝업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구매 · 리롤 직후 자동 저장 (중복 지급 방지)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0" y="1587500"/>
            <a:ext cx="76200" cy="241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2400" y="15240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Noto Sans KR Black"/>
                <a:ea typeface="Noto Sans KR Black"/>
              </a:rPr>
              <a:t>시간 · 갱신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400" y="1955800"/>
            <a:ext cx="45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시스템 시간이 과거로 바뀌면 갱신하지 않고 남은 시간 유지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오프라인 중 여러 주기 경과 → 갱신 1회만 적용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상점 화면을 보는 중 갱신 → 교체 연출 후 새 라인업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구매 진행 중 갱신 시점 도달 → 구매 완료 후 교체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0" y="3924300"/>
            <a:ext cx="76200" cy="241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2400" y="38608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Noto Sans KR Black"/>
                <a:ea typeface="Noto Sans KR Black"/>
              </a:rPr>
              <a:t>판 진행 · 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2400" y="4292600"/>
            <a:ext cx="45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판 진행 중에는 진입 불가, 타이머만 진행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층 건너뛰기로 시작해도 BC는 최고 도달 층 기준</a:t>
            </a:r>
          </a:p>
          <a:p>
            <a:pPr algn="l" marL="177800" indent="-177800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21층 이후 · 무한 모드도 같은 규칙 (20층 구성 유지)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746252"/>
            <a:ext cx="10414000" cy="58420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추후 검토 사항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3000" y="1320800"/>
            <a:ext cx="58547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49400"/>
          <a:ext cx="9906000" cy="355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87500"/>
                <a:gridCol w="5524500"/>
                <a:gridCol w="2794000"/>
              </a:tblGrid>
              <a:tr h="3556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현재 가정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확정 필요 문서</a:t>
                      </a:r>
                    </a:p>
                  </a:txBody>
                  <a:tcPr marL="76200" marR="76200" marT="25400" marB="25400" anchor="ctr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티어 테이블 정합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티어 테이블 Max_Floor(2·4·7·10·13·16·20)와 허들 기획서 훈장 지급 층(5·10·15·19)이 다름 → 상점은 층 기준으로만 해금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승급 · 티어 시스템 기획서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티어 테이블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판당 치즈 수입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튜닝 목표(판당 라인업 전량 구매 + 리롤 3~4회)를 플레이 로그로 검증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플레이 로그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기준 치즈 (BC)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층별 오브젝트 가치 배수 미확정 → BC 정의만 고정, 값은 연동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오브젝트 기획서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후반 판당 성장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상점 · 뽑기 도입 후에도 ×1.31 · 2~3판에 1층 유지되는지 플레이테스트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별 허들 기획서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조각 강화 비용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레벨당 필요 조각 미정 → 묶음 수량(전설 3/6/10, 신화 2/4/6)은 가정치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성장 테이블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건너뛰기 사용률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판이 21분으로 줄면 갱신이 판보다 느림 → 주기 단축(20분) 검토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별 허들 기획서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57150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수치는 위 문서 확정 후 Shop_Goods · Shop_Config · Shop_Floor 값만 교체하면 반영되도록 테이블로 분리했다.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471</Words>
  <Application>Microsoft Office PowerPoint</Application>
  <PresentationFormat>와이드스크린</PresentationFormat>
  <Paragraphs>113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영웅 김</cp:lastModifiedBy>
  <cp:revision>21</cp:revision>
  <dcterms:created xsi:type="dcterms:W3CDTF">2026-09-29T07:46:10Z</dcterms:created>
  <dcterms:modified xsi:type="dcterms:W3CDTF">2026-10-06T07:59:24Z</dcterms:modified>
</cp:coreProperties>
</file>