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70" r:id="rId3"/>
    <p:sldId id="288" r:id="rId6"/>
    <p:sldId id="292" r:id="rId13"/>
    <p:sldId id="293" r:id="rId7"/>
    <p:sldId id="294" r:id="rId5"/>
    <p:sldId id="295" r:id="rId4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3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4912504" y="2025631"/>
            <a:ext cx="6583680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튜토리얼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7924727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7924727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9746184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9746184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7924727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9746184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8667156" y="3269557"/>
            <a:ext cx="28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15361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2P</a:t>
            </a:r>
          </a:p>
        </p:txBody>
      </p:sp>
      <p:sp>
        <p:nvSpPr>
          <p:cNvPr id="1002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20116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목차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로그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용어 정리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기획 의도</a:t>
            </a:r>
          </a:p>
        </p:txBody>
      </p:sp>
      <p:sp>
        <p:nvSpPr>
          <p:cNvPr id="1003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1664207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4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31363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스토리 – 6P</a:t>
            </a:r>
          </a:p>
        </p:txBody>
      </p:sp>
      <p:sp>
        <p:nvSpPr>
          <p:cNvPr id="1005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36118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세계관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오프닝 컷씬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대사 규칙</a:t>
            </a:r>
          </a:p>
        </p:txBody>
      </p:sp>
      <p:sp>
        <p:nvSpPr>
          <p:cNvPr id="1006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32644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7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47365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튜토리얼 구조 – 9P</a:t>
            </a:r>
          </a:p>
        </p:txBody>
      </p:sp>
      <p:sp>
        <p:nvSpPr>
          <p:cNvPr id="1008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5212079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전체 흐름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단계 스위치 · 저장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해설 쥐 · 대사창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기능 잠금</a:t>
            </a:r>
          </a:p>
        </p:txBody>
      </p:sp>
      <p:sp>
        <p:nvSpPr>
          <p:cNvPr id="1009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48646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0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15361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인게임 튜토리얼 – 13P</a:t>
            </a:r>
          </a:p>
        </p:txBody>
      </p:sp>
      <p:sp>
        <p:nvSpPr>
          <p:cNvPr id="1011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20116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첫 판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두 번째 판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돌발 상황 (고양이 · 보스 · 필살기)</a:t>
            </a:r>
          </a:p>
        </p:txBody>
      </p:sp>
      <p:sp>
        <p:nvSpPr>
          <p:cNvPr id="1012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1664207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3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31363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아웃게임 튜토리얼 – 16P</a:t>
            </a:r>
          </a:p>
        </p:txBody>
      </p:sp>
      <p:sp>
        <p:nvSpPr>
          <p:cNvPr id="1014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36118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로비 해금 순서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타이틀 · 저장 슬롯</a:t>
            </a:r>
          </a:p>
        </p:txBody>
      </p:sp>
      <p:sp>
        <p:nvSpPr>
          <p:cNvPr id="1015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32644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6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47365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데이터 · 예외처리 – 18P</a:t>
            </a:r>
          </a:p>
        </p:txBody>
      </p:sp>
      <p:sp>
        <p:nvSpPr>
          <p:cNvPr id="1017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5212079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튜토리얼 테이블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예외처리</a:t>
            </a:r>
          </a:p>
        </p:txBody>
      </p:sp>
      <p:sp>
        <p:nvSpPr>
          <p:cNvPr id="1018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48646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로그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19" name="표 1019"/>
          <p:cNvGraphicFramePr>
            <a:graphicFrameLocks noGrp="1"/>
          </p:cNvGraphicFramePr>
          <p:nvPr/>
        </p:nvGraphicFramePr>
        <p:xfrm>
          <a:off x="1133856" y="1600200"/>
          <a:ext cx="8595360" cy="274320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1188720"/>
                <a:gridCol w="1005840"/>
                <a:gridCol w="164592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2026-10-09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정승운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튜토리얼 계획 + 유니티 구현(1차) 기준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용어 정리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20" name="표 1020"/>
          <p:cNvGraphicFramePr>
            <a:graphicFrameLocks noGrp="1"/>
          </p:cNvGraphicFramePr>
          <p:nvPr/>
        </p:nvGraphicFramePr>
        <p:xfrm>
          <a:off x="1133856" y="1508760"/>
          <a:ext cx="8595360" cy="4114800"/>
        </p:xfrm>
        <a:graphic>
          <a:graphicData uri="http://schemas.openxmlformats.org/drawingml/2006/table">
            <a:tbl>
              <a:tblPr firstRow="1" bandRow="1"/>
              <a:tblGrid>
                <a:gridCol w="1645920"/>
                <a:gridCol w="6949440"/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용어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튜토리얼 단계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발동 조건 충족 시 1회 출력되는 대사 묶음 (튜토리얼 테이블 Step 1행)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스위치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단계별 완료 기록. ON 이후 해당 저장 슬롯에서 재출력 없음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기능 해금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잠긴 기능(승급 · 치즈 창고 등)을 단계별로 순차 해금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해설 쥐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대사 담당 쥐 4종 (흰 실험쥐 · 안경 쥐 · 시궁쥐 · 슈퍼 생쥐), 표정 4종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강조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대사 대상 UI 를 노란 테두리 + 화살표로 표시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오프닝 컷씬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신규 시작 시 출력되는 7컷 스토리, 건너뛰기 가능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 슬롯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기록 1 ~ 5. 진행 · 튜토리얼 스위치 · 해금 상태 슬롯별 저장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낮잠 침대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5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 내 저장 후 타이틀 이동 메뉴 (진행은 자동 저장)</a:t>
                      </a:r>
                      <a:endParaRPr lang="ko-KR" sz="12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기획 의도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7315200" y="1051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도입 배경</a:t>
            </a:r>
          </a:p>
        </p:txBody>
      </p:sp>
      <p:sp>
        <p:nvSpPr>
          <p:cNvPr id="104" name="box 104"/>
          <p:cNvSpPr/>
          <p:nvPr/>
        </p:nvSpPr>
        <p:spPr>
          <a:xfrm>
            <a:off x="1143000" y="1600200"/>
            <a:ext cx="2651760" cy="8686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초반 전체 기능 공개</a:t>
            </a: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플레이 목표 혼란</a:t>
            </a:r>
          </a:p>
        </p:txBody>
      </p:sp>
      <p:cxnSp>
        <p:nvCxnSpPr>
          <p:cNvPr id="105" name="arrow 105"/>
          <p:cNvCxnSpPr/>
          <p:nvPr/>
        </p:nvCxnSpPr>
        <p:spPr>
          <a:xfrm>
            <a:off x="3794760" y="2029968"/>
            <a:ext cx="54863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6" name="box 106"/>
          <p:cNvSpPr/>
          <p:nvPr/>
        </p:nvSpPr>
        <p:spPr>
          <a:xfrm>
            <a:off x="4343400" y="1600200"/>
            <a:ext cx="2651760" cy="8686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 시점에 순차 해금</a:t>
            </a: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쥐 캐릭터 설명</a:t>
            </a:r>
          </a:p>
        </p:txBody>
      </p:sp>
      <p:cxnSp>
        <p:nvCxnSpPr>
          <p:cNvPr id="107" name="arrow 107"/>
          <p:cNvCxnSpPr/>
          <p:nvPr/>
        </p:nvCxnSpPr>
        <p:spPr>
          <a:xfrm>
            <a:off x="6995160" y="2029968"/>
            <a:ext cx="54863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8" name="box 108"/>
          <p:cNvSpPr/>
          <p:nvPr/>
        </p:nvSpPr>
        <p:spPr>
          <a:xfrm>
            <a:off x="7543800" y="1600200"/>
            <a:ext cx="2651760" cy="868680"/>
          </a:xfrm>
          <a:prstGeom prst="roundRect">
            <a:avLst/>
          </a:prstGeom>
          <a:solidFill>
            <a:srgbClr val="FBE5D6"/>
          </a:solidFill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점진적 적응</a:t>
            </a: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몰입감 상승</a:t>
            </a:r>
          </a:p>
        </p:txBody>
      </p:sp>
      <p:sp>
        <p:nvSpPr>
          <p:cNvPr id="109" name="bullets 109"/>
          <p:cNvSpPr txBox="1"/>
          <p:nvPr/>
        </p:nvSpPr>
        <p:spPr>
          <a:xfrm>
            <a:off x="1033271" y="2880360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단계적 해금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해당 상황 최초 발생 시 발동 (첫 탄생 · 10마리 · 고양이 첫 등장 · 첫 보스 등)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스토리 연계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쥐 캐릭터 대사 형식으로 세계관 · 기본 메카닉 동시 전달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방해 최소화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대사 중 게임 · 제한시간 정지, 클릭으로 진행, 완료 단계 재출력 없음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성장 연계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판 종료마다 로비 기능 순차 해금 → 재도전 동기 부여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스토리 – 세계관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7315200" y="1051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오프닝 컷씬 줄거리</a:t>
            </a:r>
          </a:p>
        </p:txBody>
      </p:sp>
      <p:sp>
        <p:nvSpPr>
          <p:cNvPr id="104" name="box 104"/>
          <p:cNvSpPr/>
          <p:nvPr/>
        </p:nvSpPr>
        <p:spPr>
          <a:xfrm>
            <a:off x="1143000" y="1600200"/>
            <a:ext cx="1874519" cy="7772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평화로운 실험실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(낙원이라 믿음)</a:t>
            </a:r>
          </a:p>
        </p:txBody>
      </p:sp>
      <p:cxnSp>
        <p:nvCxnSpPr>
          <p:cNvPr id="105" name="arrow 105"/>
          <p:cNvCxnSpPr/>
          <p:nvPr/>
        </p:nvCxnSpPr>
        <p:spPr>
          <a:xfrm>
            <a:off x="3017520" y="1988819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6" name="box 106"/>
          <p:cNvSpPr/>
          <p:nvPr/>
        </p:nvSpPr>
        <p:spPr>
          <a:xfrm>
            <a:off x="3429000" y="1600200"/>
            <a:ext cx="1874519" cy="7772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'손가락'의 은총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(돌아오지 않는 친구)</a:t>
            </a:r>
          </a:p>
        </p:txBody>
      </p:sp>
      <p:cxnSp>
        <p:nvCxnSpPr>
          <p:cNvPr id="107" name="arrow 107"/>
          <p:cNvCxnSpPr/>
          <p:nvPr/>
        </p:nvCxnSpPr>
        <p:spPr>
          <a:xfrm>
            <a:off x="5303520" y="1988819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8" name="box 108"/>
          <p:cNvSpPr/>
          <p:nvPr/>
        </p:nvSpPr>
        <p:spPr>
          <a:xfrm>
            <a:off x="5715000" y="1600200"/>
            <a:ext cx="1874519" cy="7772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집단지성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(실험당한다는 깨달음)</a:t>
            </a:r>
          </a:p>
        </p:txBody>
      </p:sp>
      <p:cxnSp>
        <p:nvCxnSpPr>
          <p:cNvPr id="109" name="arrow 109"/>
          <p:cNvCxnSpPr/>
          <p:nvPr/>
        </p:nvCxnSpPr>
        <p:spPr>
          <a:xfrm>
            <a:off x="7589520" y="1988819"/>
            <a:ext cx="41147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0" name="box 110"/>
          <p:cNvSpPr/>
          <p:nvPr/>
        </p:nvSpPr>
        <p:spPr>
          <a:xfrm>
            <a:off x="8001000" y="1600200"/>
            <a:ext cx="1874519" cy="7772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탈출 결심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(사람·고양이를 뚫고)</a:t>
            </a:r>
          </a:p>
        </p:txBody>
      </p:sp>
      <p:sp>
        <p:nvSpPr>
          <p:cNvPr id="111" name="bullets 111"/>
          <p:cNvSpPr txBox="1"/>
          <p:nvPr/>
        </p:nvSpPr>
        <p:spPr>
          <a:xfrm>
            <a:off x="1033271" y="2743200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배경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실험실에서 평화롭게 배양되며 바깥세상의 위험을 모른 채 성장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계기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'손가락'의 은총을 받은 쥐가 돌아오지 않는다는 사실 인지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패러디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진격의 거인 오프닝 "그날, 인류는 떠올렸다" → "그날, 쥐류는 떠올렸다....."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사람 · 고양이의 방해를 뚫고 실험실 탈출 = 층 진행 구조와 연결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스토리 – 오프닝 컷씬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7315200" y="1051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7컷 · 대사 12줄 · Codex 제작</a:t>
            </a:r>
          </a:p>
        </p:txBody>
      </p:sp>
      <p:pic>
        <p:nvPicPr>
          <p:cNvPr id="104" name="Picture 103" descr="story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72768"/>
            <a:ext cx="2103120" cy="1399032"/>
          </a:xfrm>
          <a:prstGeom prst="rect">
            <a:avLst/>
          </a:prstGeom>
        </p:spPr>
      </p:pic>
      <p:sp>
        <p:nvSpPr>
          <p:cNvPr id="104" name="label 104"/>
          <p:cNvSpPr txBox="1"/>
          <p:nvPr/>
        </p:nvSpPr>
        <p:spPr>
          <a:xfrm>
            <a:off x="1143000" y="3017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낙원 같은 실험실 우리</a:t>
            </a:r>
          </a:p>
        </p:txBody>
      </p:sp>
      <p:pic>
        <p:nvPicPr>
          <p:cNvPr id="105" name="Picture 104" descr="story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1572768"/>
            <a:ext cx="2103120" cy="1399032"/>
          </a:xfrm>
          <a:prstGeom prst="rect">
            <a:avLst/>
          </a:prstGeom>
        </p:spPr>
      </p:pic>
      <p:sp>
        <p:nvSpPr>
          <p:cNvPr id="105" name="label 105"/>
          <p:cNvSpPr txBox="1"/>
          <p:nvPr/>
        </p:nvSpPr>
        <p:spPr>
          <a:xfrm>
            <a:off x="3447288" y="3017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하늘에서 내려온 '손가락'</a:t>
            </a:r>
          </a:p>
        </p:txBody>
      </p:sp>
      <p:pic>
        <p:nvPicPr>
          <p:cNvPr id="106" name="Picture 105" descr="story_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1572768"/>
            <a:ext cx="2103120" cy="1399032"/>
          </a:xfrm>
          <a:prstGeom prst="rect">
            <a:avLst/>
          </a:prstGeom>
        </p:spPr>
      </p:pic>
      <p:sp>
        <p:nvSpPr>
          <p:cNvPr id="106" name="label 106"/>
          <p:cNvSpPr txBox="1"/>
          <p:nvPr/>
        </p:nvSpPr>
        <p:spPr>
          <a:xfrm>
            <a:off x="5751576" y="3017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돌아오지 않는 친구</a:t>
            </a:r>
          </a:p>
        </p:txBody>
      </p:sp>
      <p:pic>
        <p:nvPicPr>
          <p:cNvPr id="107" name="Picture 106" descr="story_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572768"/>
            <a:ext cx="2103120" cy="1399032"/>
          </a:xfrm>
          <a:prstGeom prst="rect">
            <a:avLst/>
          </a:prstGeom>
        </p:spPr>
      </p:pic>
      <p:sp>
        <p:nvSpPr>
          <p:cNvPr id="107" name="label 107"/>
          <p:cNvSpPr txBox="1"/>
          <p:nvPr/>
        </p:nvSpPr>
        <p:spPr>
          <a:xfrm>
            <a:off x="8055864" y="3017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연구 노트를 훔쳐보다</a:t>
            </a:r>
          </a:p>
        </p:txBody>
      </p:sp>
      <p:pic>
        <p:nvPicPr>
          <p:cNvPr id="108" name="Picture 107" descr="story_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538728"/>
            <a:ext cx="2103120" cy="1399032"/>
          </a:xfrm>
          <a:prstGeom prst="rect">
            <a:avLst/>
          </a:prstGeom>
        </p:spPr>
      </p:pic>
      <p:sp>
        <p:nvSpPr>
          <p:cNvPr id="108" name="label 108"/>
          <p:cNvSpPr txBox="1"/>
          <p:nvPr/>
        </p:nvSpPr>
        <p:spPr>
          <a:xfrm>
            <a:off x="1143000" y="4983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그날, 쥐류는 떠올렸다</a:t>
            </a:r>
          </a:p>
        </p:txBody>
      </p:sp>
      <p:pic>
        <p:nvPicPr>
          <p:cNvPr id="109" name="Picture 108" descr="story_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538728"/>
            <a:ext cx="2103120" cy="1399032"/>
          </a:xfrm>
          <a:prstGeom prst="rect">
            <a:avLst/>
          </a:prstGeom>
        </p:spPr>
      </p:pic>
      <p:sp>
        <p:nvSpPr>
          <p:cNvPr id="109" name="label 109"/>
          <p:cNvSpPr txBox="1"/>
          <p:nvPr/>
        </p:nvSpPr>
        <p:spPr>
          <a:xfrm>
            <a:off x="3447288" y="4983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6. 철창을 갉아 여는 결의</a:t>
            </a:r>
          </a:p>
        </p:txBody>
      </p:sp>
      <p:pic>
        <p:nvPicPr>
          <p:cNvPr id="110" name="Picture 109" descr="story_0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1576" y="3538728"/>
            <a:ext cx="2103120" cy="1399032"/>
          </a:xfrm>
          <a:prstGeom prst="rect">
            <a:avLst/>
          </a:prstGeom>
        </p:spPr>
      </p:pic>
      <p:sp>
        <p:nvSpPr>
          <p:cNvPr id="110" name="label 110"/>
          <p:cNvSpPr txBox="1"/>
          <p:nvPr/>
        </p:nvSpPr>
        <p:spPr>
          <a:xfrm>
            <a:off x="5751576" y="4983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7. 대탈출</a:t>
            </a:r>
          </a:p>
        </p:txBody>
      </p:sp>
      <p:sp>
        <p:nvSpPr>
          <p:cNvPr id="111" name="box 111"/>
          <p:cNvSpPr/>
          <p:nvPr/>
        </p:nvSpPr>
        <p:spPr>
          <a:xfrm>
            <a:off x="8055864" y="3538728"/>
            <a:ext cx="2103120" cy="1399032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· 스페이스로 진행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우측 상단 건너뛰기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종료 후 1층 진입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스토리 – 대사 규칙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1143000" y="1600200"/>
          <a:ext cx="9692640" cy="3017520"/>
        </p:xfrm>
        <a:graphic>
          <a:graphicData uri="http://schemas.openxmlformats.org/drawingml/2006/table">
            <a:tbl>
              <a:tblPr firstRow="1" bandRow="1"/>
              <a:tblGrid>
                <a:gridCol w="1554480"/>
                <a:gridCol w="365760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규칙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예시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오프닝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울음소리 + 괄호 안 의미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찍... 찍찍찍...!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(우리들은 그저 이곳이 낙원인 줄만 알고 있었지...)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인게임 · 로비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해설 쥐 말투, 문장 끝 '찍!'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화면을 클릭하면 그곳으로 모두 우르르 돌진해! … 찍!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· 스페이스 · 엔터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출력 중 입력 시 전체 즉시 출력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텍스트 관리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전체 대사 엑셀 튜토리얼 테이블 관리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(코드 내 텍스트 없음)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Line 시트 (튜토리얼) · Story 시트 (오프닝)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4" name="bullets 104"/>
          <p:cNvSpPr txBox="1"/>
          <p:nvPr/>
        </p:nvSpPr>
        <p:spPr>
          <a:xfrm>
            <a:off x="1033271" y="4800600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대사별 표정 4종 (기본 · 기쁨 · 놀람 · 다급) 지정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튜토리얼 구조 – 전체 흐름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7315200" y="1051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 종료마다 순차 해금</a:t>
            </a:r>
          </a:p>
        </p:txBody>
      </p:sp>
      <p:sp>
        <p:nvSpPr>
          <p:cNvPr id="104" name="label 104"/>
          <p:cNvSpPr txBox="1"/>
          <p:nvPr/>
        </p:nvSpPr>
        <p:spPr>
          <a:xfrm>
            <a:off x="1143000" y="160020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1회차</a:t>
            </a:r>
          </a:p>
        </p:txBody>
      </p:sp>
      <p:sp>
        <p:nvSpPr>
          <p:cNvPr id="105" name="box 105"/>
          <p:cNvSpPr/>
          <p:nvPr/>
        </p:nvSpPr>
        <p:spPr>
          <a:xfrm>
            <a:off x="2057400" y="1600200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타이틀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처음부터</a:t>
            </a:r>
          </a:p>
        </p:txBody>
      </p:sp>
      <p:cxnSp>
        <p:nvCxnSpPr>
          <p:cNvPr id="106" name="arrow 106"/>
          <p:cNvCxnSpPr/>
          <p:nvPr/>
        </p:nvCxnSpPr>
        <p:spPr>
          <a:xfrm>
            <a:off x="3840480" y="196596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7" name="box 107"/>
          <p:cNvSpPr/>
          <p:nvPr/>
        </p:nvSpPr>
        <p:spPr>
          <a:xfrm>
            <a:off x="4251960" y="1600200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오프닝 컷씬</a:t>
            </a:r>
          </a:p>
        </p:txBody>
      </p:sp>
      <p:cxnSp>
        <p:nvCxnSpPr>
          <p:cNvPr id="108" name="arrow 108"/>
          <p:cNvCxnSpPr/>
          <p:nvPr/>
        </p:nvCxnSpPr>
        <p:spPr>
          <a:xfrm>
            <a:off x="6035040" y="196596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9" name="box 109"/>
          <p:cNvSpPr/>
          <p:nvPr/>
        </p:nvSpPr>
        <p:spPr>
          <a:xfrm>
            <a:off x="6446520" y="1600200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첫 판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· 번식 · 승급</a:t>
            </a:r>
          </a:p>
        </p:txBody>
      </p:sp>
      <p:cxnSp>
        <p:nvCxnSpPr>
          <p:cNvPr id="110" name="arrow 110"/>
          <p:cNvCxnSpPr/>
          <p:nvPr/>
        </p:nvCxnSpPr>
        <p:spPr>
          <a:xfrm>
            <a:off x="8229600" y="1965960"/>
            <a:ext cx="41147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1" name="box 111"/>
          <p:cNvSpPr/>
          <p:nvPr/>
        </p:nvSpPr>
        <p:spPr>
          <a:xfrm>
            <a:off x="8641080" y="1600200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오버</a:t>
            </a:r>
          </a:p>
        </p:txBody>
      </p:sp>
      <p:sp>
        <p:nvSpPr>
          <p:cNvPr id="112" name="label 112"/>
          <p:cNvSpPr txBox="1"/>
          <p:nvPr/>
        </p:nvSpPr>
        <p:spPr>
          <a:xfrm>
            <a:off x="1143000" y="278892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2회차</a:t>
            </a:r>
          </a:p>
        </p:txBody>
      </p:sp>
      <p:sp>
        <p:nvSpPr>
          <p:cNvPr id="113" name="box 113"/>
          <p:cNvSpPr/>
          <p:nvPr/>
        </p:nvSpPr>
        <p:spPr>
          <a:xfrm>
            <a:off x="2057400" y="2788920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치즈 창고 해금</a:t>
            </a:r>
          </a:p>
        </p:txBody>
      </p:sp>
      <p:cxnSp>
        <p:nvCxnSpPr>
          <p:cNvPr id="114" name="arrow 114"/>
          <p:cNvCxnSpPr/>
          <p:nvPr/>
        </p:nvCxnSpPr>
        <p:spPr>
          <a:xfrm>
            <a:off x="3840480" y="3154679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5" name="box 115"/>
          <p:cNvSpPr/>
          <p:nvPr/>
        </p:nvSpPr>
        <p:spPr>
          <a:xfrm>
            <a:off x="4251960" y="2788920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 번째 판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적정 찍찍 · 인구수</a:t>
            </a:r>
          </a:p>
        </p:txBody>
      </p:sp>
      <p:cxnSp>
        <p:nvCxnSpPr>
          <p:cNvPr id="116" name="arrow 116"/>
          <p:cNvCxnSpPr/>
          <p:nvPr/>
        </p:nvCxnSpPr>
        <p:spPr>
          <a:xfrm>
            <a:off x="6035040" y="3154679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7" name="box 117"/>
          <p:cNvSpPr/>
          <p:nvPr/>
        </p:nvSpPr>
        <p:spPr>
          <a:xfrm>
            <a:off x="6446520" y="2788920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오버</a:t>
            </a:r>
          </a:p>
        </p:txBody>
      </p:sp>
      <p:cxnSp>
        <p:nvCxnSpPr>
          <p:cNvPr id="118" name="arrow 118"/>
          <p:cNvCxnSpPr/>
          <p:nvPr/>
        </p:nvCxnSpPr>
        <p:spPr>
          <a:xfrm>
            <a:off x="8229600" y="3154679"/>
            <a:ext cx="41147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9" name="box 119"/>
          <p:cNvSpPr/>
          <p:nvPr/>
        </p:nvSpPr>
        <p:spPr>
          <a:xfrm>
            <a:off x="8641080" y="2788920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쳇바퀴 훈련 해금</a:t>
            </a:r>
          </a:p>
        </p:txBody>
      </p:sp>
      <p:sp>
        <p:nvSpPr>
          <p:cNvPr id="120" name="label 120"/>
          <p:cNvSpPr txBox="1"/>
          <p:nvPr/>
        </p:nvSpPr>
        <p:spPr>
          <a:xfrm>
            <a:off x="1143000" y="3977639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</a:t>
            </a:r>
          </a:p>
        </p:txBody>
      </p:sp>
      <p:sp>
        <p:nvSpPr>
          <p:cNvPr id="121" name="box 121"/>
          <p:cNvSpPr/>
          <p:nvPr/>
        </p:nvSpPr>
        <p:spPr>
          <a:xfrm>
            <a:off x="2057400" y="3977639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1훈장 트리 완료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승급 조건</a:t>
            </a:r>
          </a:p>
        </p:txBody>
      </p:sp>
      <p:cxnSp>
        <p:nvCxnSpPr>
          <p:cNvPr id="122" name="arrow 122"/>
          <p:cNvCxnSpPr/>
          <p:nvPr/>
        </p:nvCxnSpPr>
        <p:spPr>
          <a:xfrm>
            <a:off x="3840480" y="434340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23" name="box 123"/>
          <p:cNvSpPr/>
          <p:nvPr/>
        </p:nvSpPr>
        <p:spPr>
          <a:xfrm>
            <a:off x="4251960" y="3977639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찍찍!! 훈장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해금</a:t>
            </a:r>
          </a:p>
        </p:txBody>
      </p:sp>
      <p:cxnSp>
        <p:nvCxnSpPr>
          <p:cNvPr id="124" name="arrow 124"/>
          <p:cNvCxnSpPr/>
          <p:nvPr/>
        </p:nvCxnSpPr>
        <p:spPr>
          <a:xfrm>
            <a:off x="6035040" y="434340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25" name="box 125"/>
          <p:cNvSpPr/>
          <p:nvPr/>
        </p:nvSpPr>
        <p:spPr>
          <a:xfrm>
            <a:off x="6446520" y="3977639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첫 훈장 승급</a:t>
            </a:r>
          </a:p>
        </p:txBody>
      </p:sp>
      <p:cxnSp>
        <p:nvCxnSpPr>
          <p:cNvPr id="126" name="arrow 126"/>
          <p:cNvCxnSpPr/>
          <p:nvPr/>
        </p:nvCxnSpPr>
        <p:spPr>
          <a:xfrm>
            <a:off x="8229600" y="4343400"/>
            <a:ext cx="41147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27" name="box 127"/>
          <p:cNvSpPr/>
          <p:nvPr/>
        </p:nvSpPr>
        <p:spPr>
          <a:xfrm>
            <a:off x="8641080" y="3977639"/>
            <a:ext cx="178308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친구들!!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해금</a:t>
            </a:r>
          </a:p>
        </p:txBody>
      </p:sp>
      <p:sp>
        <p:nvSpPr>
          <p:cNvPr id="128" name="bullets 128"/>
          <p:cNvSpPr txBox="1"/>
          <p:nvPr/>
        </p:nvSpPr>
        <p:spPr>
          <a:xfrm>
            <a:off x="1033271" y="5257800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고양이 첫 등장 · 첫 보스 · 필살기 게이지는 순서 무관, 최초 발생 시 발동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튜토리얼 구조 – 단계 스위치 · 저장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box 103"/>
          <p:cNvSpPr/>
          <p:nvPr/>
        </p:nvSpPr>
        <p:spPr>
          <a:xfrm>
            <a:off x="1143000" y="1600200"/>
            <a:ext cx="1554480" cy="6858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발동 조건 확인</a:t>
            </a:r>
          </a:p>
        </p:txBody>
      </p:sp>
      <p:cxnSp>
        <p:nvCxnSpPr>
          <p:cNvPr id="104" name="arrow 104"/>
          <p:cNvCxnSpPr/>
          <p:nvPr/>
        </p:nvCxnSpPr>
        <p:spPr>
          <a:xfrm>
            <a:off x="2697480" y="1943100"/>
            <a:ext cx="38404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5" name="box 105"/>
          <p:cNvSpPr/>
          <p:nvPr/>
        </p:nvSpPr>
        <p:spPr>
          <a:xfrm>
            <a:off x="3081528" y="1600200"/>
            <a:ext cx="1554480" cy="6858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 ON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(바로 저장)</a:t>
            </a:r>
          </a:p>
        </p:txBody>
      </p:sp>
      <p:cxnSp>
        <p:nvCxnSpPr>
          <p:cNvPr id="106" name="arrow 106"/>
          <p:cNvCxnSpPr/>
          <p:nvPr/>
        </p:nvCxnSpPr>
        <p:spPr>
          <a:xfrm>
            <a:off x="4636008" y="1943100"/>
            <a:ext cx="38404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7" name="box 107"/>
          <p:cNvSpPr/>
          <p:nvPr/>
        </p:nvSpPr>
        <p:spPr>
          <a:xfrm>
            <a:off x="5020056" y="1600200"/>
            <a:ext cx="1554480" cy="6858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기능 해금</a:t>
            </a:r>
          </a:p>
        </p:txBody>
      </p:sp>
      <p:cxnSp>
        <p:nvCxnSpPr>
          <p:cNvPr id="108" name="arrow 108"/>
          <p:cNvCxnSpPr/>
          <p:nvPr/>
        </p:nvCxnSpPr>
        <p:spPr>
          <a:xfrm>
            <a:off x="6574536" y="1943100"/>
            <a:ext cx="38404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9" name="box 109"/>
          <p:cNvSpPr/>
          <p:nvPr/>
        </p:nvSpPr>
        <p:spPr>
          <a:xfrm>
            <a:off x="6958584" y="1600200"/>
            <a:ext cx="1554480" cy="6858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대사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(게임 정지)</a:t>
            </a:r>
          </a:p>
        </p:txBody>
      </p:sp>
      <p:cxnSp>
        <p:nvCxnSpPr>
          <p:cNvPr id="110" name="arrow 110"/>
          <p:cNvCxnSpPr/>
          <p:nvPr/>
        </p:nvCxnSpPr>
        <p:spPr>
          <a:xfrm>
            <a:off x="8513064" y="1943100"/>
            <a:ext cx="38404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1" name="box 111"/>
          <p:cNvSpPr/>
          <p:nvPr/>
        </p:nvSpPr>
        <p:spPr>
          <a:xfrm>
            <a:off x="8897112" y="1600200"/>
            <a:ext cx="1554480" cy="6858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끝 행동 →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다음 단계</a:t>
            </a:r>
          </a:p>
        </p:txBody>
      </p:sp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1143000" y="2697480"/>
          <a:ext cx="8961120" cy="2743200"/>
        </p:xfrm>
        <a:graphic>
          <a:graphicData uri="http://schemas.openxmlformats.org/drawingml/2006/table">
            <a:tbl>
              <a:tblPr firstRow="1" bandRow="1"/>
              <a:tblGrid>
                <a:gridCol w="1828800"/>
                <a:gridCol w="7132320"/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 위치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 슬롯(기록 1 ~ 5)별 개별 저장 → 새 기록은 튜토리얼 처음부터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기록 시점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 발동 즉시 기록 → 대사 도중 종료해도 재출력 없음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순서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테이블 순서(sort)대로 확인, 동시 발동 1단계 제한. 'After' 단계는 선행 단계 종료 직후 연결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대기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 · 슈퍼 점프 · 층 이동 · 게임 오버 · 보스 컷씬 연출 중 대기 후 발동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이전 저장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튜토리얼 도입 이전 저장은 전 단계 완료 · 전체 해금 처리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튜토리얼 구조 – 해설 쥐 · 대사창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" name="Picture 102" descr="tuto_labrat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08760"/>
            <a:ext cx="1371600" cy="1371600"/>
          </a:xfrm>
          <a:prstGeom prst="rect">
            <a:avLst/>
          </a:prstGeom>
        </p:spPr>
      </p:pic>
      <p:sp>
        <p:nvSpPr>
          <p:cNvPr id="103" name="label 103"/>
          <p:cNvSpPr txBox="1"/>
          <p:nvPr/>
        </p:nvSpPr>
        <p:spPr>
          <a:xfrm>
            <a:off x="1143000" y="29260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흰 실험쥐</a:t>
            </a:r>
          </a:p>
        </p:txBody>
      </p:sp>
      <p:sp>
        <p:nvSpPr>
          <p:cNvPr id="104" name="label 104"/>
          <p:cNvSpPr txBox="1"/>
          <p:nvPr/>
        </p:nvSpPr>
        <p:spPr>
          <a:xfrm>
            <a:off x="1143000" y="3218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기본 조작 · 위기 상황</a:t>
            </a:r>
          </a:p>
        </p:txBody>
      </p:sp>
      <p:pic>
        <p:nvPicPr>
          <p:cNvPr id="105" name="Picture 104" descr="tuto_nerd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508760"/>
            <a:ext cx="1371600" cy="1371600"/>
          </a:xfrm>
          <a:prstGeom prst="rect">
            <a:avLst/>
          </a:prstGeom>
        </p:spPr>
      </p:pic>
      <p:sp>
        <p:nvSpPr>
          <p:cNvPr id="105" name="label 105"/>
          <p:cNvSpPr txBox="1"/>
          <p:nvPr/>
        </p:nvSpPr>
        <p:spPr>
          <a:xfrm>
            <a:off x="3429000" y="29260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안경 쥐</a:t>
            </a:r>
          </a:p>
        </p:txBody>
      </p:sp>
      <p:sp>
        <p:nvSpPr>
          <p:cNvPr id="106" name="label 106"/>
          <p:cNvSpPr txBox="1"/>
          <p:nvPr/>
        </p:nvSpPr>
        <p:spPr>
          <a:xfrm>
            <a:off x="3429000" y="3218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승급 · 적정 찍찍 · 로비 설명</a:t>
            </a:r>
          </a:p>
        </p:txBody>
      </p:sp>
      <p:pic>
        <p:nvPicPr>
          <p:cNvPr id="107" name="Picture 106" descr="tuto_brownrat_norm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508760"/>
            <a:ext cx="1371600" cy="1371600"/>
          </a:xfrm>
          <a:prstGeom prst="rect">
            <a:avLst/>
          </a:prstGeom>
        </p:spPr>
      </p:pic>
      <p:sp>
        <p:nvSpPr>
          <p:cNvPr id="107" name="label 107"/>
          <p:cNvSpPr txBox="1"/>
          <p:nvPr/>
        </p:nvSpPr>
        <p:spPr>
          <a:xfrm>
            <a:off x="5715000" y="29260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시궁쥐</a:t>
            </a:r>
          </a:p>
        </p:txBody>
      </p:sp>
      <p:sp>
        <p:nvSpPr>
          <p:cNvPr id="108" name="label 108"/>
          <p:cNvSpPr txBox="1"/>
          <p:nvPr/>
        </p:nvSpPr>
        <p:spPr>
          <a:xfrm>
            <a:off x="5715000" y="3218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번식 · 계단 · 인구수 · 친구들</a:t>
            </a:r>
          </a:p>
        </p:txBody>
      </p:sp>
      <p:pic>
        <p:nvPicPr>
          <p:cNvPr id="109" name="Picture 108" descr="tuto_hero_norm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508760"/>
            <a:ext cx="1371600" cy="1371600"/>
          </a:xfrm>
          <a:prstGeom prst="rect">
            <a:avLst/>
          </a:prstGeom>
        </p:spPr>
      </p:pic>
      <p:sp>
        <p:nvSpPr>
          <p:cNvPr id="109" name="label 109"/>
          <p:cNvSpPr txBox="1"/>
          <p:nvPr/>
        </p:nvSpPr>
        <p:spPr>
          <a:xfrm>
            <a:off x="8001000" y="29260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슈퍼 생쥐</a:t>
            </a:r>
          </a:p>
        </p:txBody>
      </p:sp>
      <p:sp>
        <p:nvSpPr>
          <p:cNvPr id="110" name="label 110"/>
          <p:cNvSpPr txBox="1"/>
          <p:nvPr/>
        </p:nvSpPr>
        <p:spPr>
          <a:xfrm>
            <a:off x="8001000" y="3218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첫 보스전 도우미 · 필살기</a:t>
            </a:r>
          </a:p>
        </p:txBody>
      </p:sp>
      <p:pic>
        <p:nvPicPr>
          <p:cNvPr id="111" name="Picture 110" descr="tuto_labrat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886200"/>
            <a:ext cx="640080" cy="640080"/>
          </a:xfrm>
          <a:prstGeom prst="rect">
            <a:avLst/>
          </a:prstGeom>
        </p:spPr>
      </p:pic>
      <p:pic>
        <p:nvPicPr>
          <p:cNvPr id="112" name="Picture 111" descr="tuto_labrat_hap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672" y="3886200"/>
            <a:ext cx="640080" cy="640080"/>
          </a:xfrm>
          <a:prstGeom prst="rect">
            <a:avLst/>
          </a:prstGeom>
        </p:spPr>
      </p:pic>
      <p:pic>
        <p:nvPicPr>
          <p:cNvPr id="113" name="Picture 112" descr="tuto_labrat_surpri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0904" y="3886200"/>
            <a:ext cx="640080" cy="640080"/>
          </a:xfrm>
          <a:prstGeom prst="rect">
            <a:avLst/>
          </a:prstGeom>
        </p:spPr>
      </p:pic>
      <p:pic>
        <p:nvPicPr>
          <p:cNvPr id="114" name="Picture 113" descr="tuto_labrat_pan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136" y="3886200"/>
            <a:ext cx="640080" cy="640080"/>
          </a:xfrm>
          <a:prstGeom prst="rect">
            <a:avLst/>
          </a:prstGeom>
        </p:spPr>
      </p:pic>
      <p:sp>
        <p:nvSpPr>
          <p:cNvPr id="111" name="label 111"/>
          <p:cNvSpPr txBox="1"/>
          <p:nvPr/>
        </p:nvSpPr>
        <p:spPr>
          <a:xfrm>
            <a:off x="1143000" y="4544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표정 4종: 기본 · 기쁨 · 놀람 · 다급</a:t>
            </a:r>
          </a:p>
        </p:txBody>
      </p:sp>
      <p:sp>
        <p:nvSpPr>
          <p:cNvPr id="112" name="bullets 112"/>
          <p:cNvSpPr txBox="1"/>
          <p:nvPr/>
        </p:nvSpPr>
        <p:spPr>
          <a:xfrm>
            <a:off x="4297680" y="3749039"/>
            <a:ext cx="585216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대사창</a:t>
            </a:r>
            <a:r>
              <a:rPr lang="ko-KR" altLang="en-US" dirty="0" sz="1400">
                <a:latin typeface="Noto Sans KR" panose="020B0200000000000000" pitchFamily="50" charset="-127"/>
                <a:ea typeface="Noto Sans KR" panose="020B0200000000000000" pitchFamily="50" charset="-127"/>
              </a:rPr>
              <a:t> : 하단 대사판 + 좌측 초상화 + 이름 리본, 타이핑 출력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정지</a:t>
            </a:r>
            <a:r>
              <a:rPr lang="ko-KR" altLang="en-US" dirty="0" sz="1400">
                <a:latin typeface="Noto Sans KR" panose="020B0200000000000000" pitchFamily="50" charset="-127"/>
                <a:ea typeface="Noto Sans KR" panose="020B0200000000000000" pitchFamily="50" charset="-127"/>
              </a:rPr>
              <a:t> : 대사 중 게임 · 제한시간 정지, 총공격 · 카메라 이동 차단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강조</a:t>
            </a:r>
            <a:r>
              <a:rPr lang="ko-KR" altLang="en-US" dirty="0" sz="1400">
                <a:latin typeface="Noto Sans KR" panose="020B0200000000000000" pitchFamily="50" charset="-127"/>
                <a:ea typeface="Noto Sans KR" panose="020B0200000000000000" pitchFamily="50" charset="-127"/>
              </a:rPr>
              <a:t> : 대상 UI 노란 테두리 + 화살표, 종료 후 4초 유지 (로비 탭은 진입 시까지)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튜토리얼 구조 – 기능 잠금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7315200" y="1051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잠긴 기능 클릭 시 자물쇠 흔들림 + 안내 문구</a:t>
            </a:r>
          </a:p>
        </p:txBody>
      </p:sp>
      <p:pic>
        <p:nvPicPr>
          <p:cNvPr id="104" name="Picture 103" descr="ui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502920"/>
            <a:ext cx="502920" cy="630936"/>
          </a:xfrm>
          <a:prstGeom prst="rect">
            <a:avLst/>
          </a:prstGeom>
        </p:spPr>
      </p:pic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1143000" y="1600200"/>
          <a:ext cx="9144000" cy="3785616"/>
        </p:xfrm>
        <a:graphic>
          <a:graphicData uri="http://schemas.openxmlformats.org/drawingml/2006/table">
            <a:tbl>
              <a:tblPr firstRow="1" bandRow="1"/>
              <a:tblGrid>
                <a:gridCol w="2103120"/>
                <a:gridCol w="1920240"/>
                <a:gridCol w="2011680"/>
                <a:gridCol w="3108960"/>
              </a:tblGrid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기능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위치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잠금 표시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해금 시점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승급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게임 HUD 왼쪽 아래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비노출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 판 쥐 10마리 / 두 번째 판 시작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찍찍!! (전투력 / 적정)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게임 HUD 왼쪽 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비노출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두 번째 판 시작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마릿수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게임 HUD 오른쪽 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비노출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두 번째 판 시작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작전 회의 · 낮잠 침대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기본 해금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 창고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자물쇠 + 진입 불가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 게임 오버 뒤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쳇바퀴 훈련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자물쇠 + 진입 불가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두 번째 게임 오버 뒤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찍찍!! 훈장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자물쇠 + 진입 불가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1훈장 트리 완료 + 승급 조건 충족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친구들!!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자물쇠 + 진입 불가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 훈장 승급 뒤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인게임 튜토리얼 – 첫 판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5852160" y="9601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"큰일이다!! 어서 이 연구실을 탈출해야 해!!"</a:t>
            </a:r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1143000" y="1600200"/>
          <a:ext cx="9966960" cy="3236976"/>
        </p:xfrm>
        <a:graphic>
          <a:graphicData uri="http://schemas.openxmlformats.org/drawingml/2006/table">
            <a:tbl>
              <a:tblPr firstRow="1" bandRow="1"/>
              <a:tblGrid>
                <a:gridCol w="1463040"/>
                <a:gridCol w="1645920"/>
                <a:gridCol w="1737360"/>
                <a:gridCol w="39319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발동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해설 쥐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강조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기본 조작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1층 시작 3초 뒤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흰 실험쥐 · 안경 쥐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탈출 목표 · 자동 이동 물체 파괴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시 돌진 공격 · 드래그로 화면 이동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계단 · 제한시간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1층 12초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시궁쥐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벽 파괴로 방 확장 → 계단 방 → 다음 층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제한시간 종료 시 게임 오버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미니맵 · 시계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번식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 탄생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시궁쥐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"앗...! 우리들의 사랑의 결실이..!"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쥐끼리 충돌 시 번식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승급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쥐 10마리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안경 쥐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승급 해금 · 동일 등급 모아 상위 등급 획득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승급 버튼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5" name="bullets 105"/>
          <p:cNvSpPr txBox="1"/>
          <p:nvPr/>
        </p:nvSpPr>
        <p:spPr>
          <a:xfrm>
            <a:off x="1033271" y="5029200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첫 판은 승급 버튼 · 찍찍!! · 쥐 마릿수 비노출 → 필요 시점에 순차 노출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인게임 튜토리얼 – 두 번째 판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box 103"/>
          <p:cNvSpPr/>
          <p:nvPr/>
        </p:nvSpPr>
        <p:spPr>
          <a:xfrm>
            <a:off x="1143000" y="1828800"/>
            <a:ext cx="182880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 번째 판 시작</a:t>
            </a:r>
          </a:p>
        </p:txBody>
      </p:sp>
      <p:cxnSp>
        <p:nvCxnSpPr>
          <p:cNvPr id="104" name="arrow 104"/>
          <p:cNvCxnSpPr/>
          <p:nvPr/>
        </p:nvCxnSpPr>
        <p:spPr>
          <a:xfrm>
            <a:off x="2971800" y="219456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5" name="box 105"/>
          <p:cNvSpPr/>
          <p:nvPr/>
        </p:nvSpPr>
        <p:spPr>
          <a:xfrm>
            <a:off x="3383280" y="1828800"/>
            <a:ext cx="210312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적정 찍찍 설명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(찍찍!! 표시 해금)</a:t>
            </a:r>
          </a:p>
        </p:txBody>
      </p:sp>
      <p:cxnSp>
        <p:nvCxnSpPr>
          <p:cNvPr id="106" name="arrow 106"/>
          <p:cNvCxnSpPr/>
          <p:nvPr/>
        </p:nvCxnSpPr>
        <p:spPr>
          <a:xfrm>
            <a:off x="5486400" y="219456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7" name="box 107"/>
          <p:cNvSpPr/>
          <p:nvPr/>
        </p:nvSpPr>
        <p:spPr>
          <a:xfrm>
            <a:off x="5897880" y="1828800"/>
            <a:ext cx="210312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인구수 설명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(쥐 마릿수 해금)</a:t>
            </a:r>
          </a:p>
        </p:txBody>
      </p:sp>
      <p:cxnSp>
        <p:nvCxnSpPr>
          <p:cNvPr id="108" name="arrow 108"/>
          <p:cNvCxnSpPr/>
          <p:nvPr/>
        </p:nvCxnSpPr>
        <p:spPr>
          <a:xfrm flipV="1">
            <a:off x="8001000" y="1783080"/>
            <a:ext cx="411479" cy="41147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cxnSp>
        <p:nvCxnSpPr>
          <p:cNvPr id="109" name="arrow 109"/>
          <p:cNvCxnSpPr/>
          <p:nvPr/>
        </p:nvCxnSpPr>
        <p:spPr>
          <a:xfrm>
            <a:off x="8001000" y="2194560"/>
            <a:ext cx="411479" cy="41148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0" name="box 110"/>
          <p:cNvSpPr/>
          <p:nvPr/>
        </p:nvSpPr>
        <p:spPr>
          <a:xfrm>
            <a:off x="8412480" y="1463040"/>
            <a:ext cx="2194560" cy="6400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승급 해금 시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승급으로도 찍찍 상승</a:t>
            </a:r>
          </a:p>
        </p:txBody>
      </p:sp>
      <p:sp>
        <p:nvSpPr>
          <p:cNvPr id="111" name="box 111"/>
          <p:cNvSpPr/>
          <p:nvPr/>
        </p:nvSpPr>
        <p:spPr>
          <a:xfrm>
            <a:off x="8412480" y="2286000"/>
            <a:ext cx="2194560" cy="640080"/>
          </a:xfrm>
          <a:prstGeom prst="roundRect">
            <a:avLst/>
          </a:prstGeom>
          <a:solidFill>
            <a:srgbClr val="FBE5D6"/>
          </a:solidFill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승급 미해금 시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승급 해금 + 설명</a:t>
            </a:r>
          </a:p>
        </p:txBody>
      </p:sp>
      <p:sp>
        <p:nvSpPr>
          <p:cNvPr id="112" name="bullets 112"/>
          <p:cNvSpPr txBox="1"/>
          <p:nvPr/>
        </p:nvSpPr>
        <p:spPr>
          <a:xfrm>
            <a:off x="1033271" y="3337560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적정 찍찍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좌측 상단 "찍찍!!" = 현재 무리 전투력, "적정" = 층 돌파 권장 전투력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인구수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우측 상단 현재 / 최대 마릿수, 치즈 창고 둥지 스킬로 최대치 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연계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마릿수 · 등급 상승 = 찍찍 상승 → 다음 강화 방향 유도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인게임 튜토리얼 – 돌발 상황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7315200" y="1051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상황 최초 발생 시 1회</a:t>
            </a:r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1143000" y="1600200"/>
          <a:ext cx="7680960" cy="3017520"/>
        </p:xfrm>
        <a:graphic>
          <a:graphicData uri="http://schemas.openxmlformats.org/drawingml/2006/table">
            <a:tbl>
              <a:tblPr firstRow="1" bandRow="1"/>
              <a:tblGrid>
                <a:gridCol w="1645920"/>
                <a:gridCol w="18288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상황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발동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고양이 첫 등장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고양이 등장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처치 전까지 잔류 · 빨간 원 = 공격 예고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 보스전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보스전 시작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처치 전 계단 사용 불가 안내 → 슈퍼 생쥐 등장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"여기선 내가 도와주지!!" → 필살기 시연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 설명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시연 종료 직후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쳇바퀴 훈련 Lv 7 해금 · 게이지 충전 시 하단 버튼으로 발동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필살기 첫 충전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게이지 최초 충전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하단 필살기 버튼 강조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5" name="Picture 104" descr="tuto_hero_ha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828800"/>
            <a:ext cx="1737360" cy="1737360"/>
          </a:xfrm>
          <a:prstGeom prst="rect">
            <a:avLst/>
          </a:prstGeom>
        </p:spPr>
      </p:pic>
      <p:sp>
        <p:nvSpPr>
          <p:cNvPr id="105" name="label 105"/>
          <p:cNvSpPr txBox="1"/>
          <p:nvPr/>
        </p:nvSpPr>
        <p:spPr>
          <a:xfrm>
            <a:off x="8778240" y="3611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슈퍼 생쥐 · 슈퍼 노바 빔</a:t>
            </a:r>
          </a:p>
        </p:txBody>
      </p:sp>
      <p:sp>
        <p:nvSpPr>
          <p:cNvPr id="106" name="bullets 106"/>
          <p:cNvSpPr txBox="1"/>
          <p:nvPr/>
        </p:nvSpPr>
        <p:spPr>
          <a:xfrm>
            <a:off x="1033271" y="4892040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필살기는 쳇바퀴 Lv 7 해금이라 초반 체험 불가 → 첫 보스전에서 미리 시연해 성장 목표로 제시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아웃게임 튜토리얼 – 로비 해금 순서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box 103"/>
          <p:cNvSpPr/>
          <p:nvPr/>
        </p:nvSpPr>
        <p:spPr>
          <a:xfrm>
            <a:off x="1143000" y="1600200"/>
            <a:ext cx="1965960" cy="7772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첫 게임 오버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치즈 창고</a:t>
            </a:r>
          </a:p>
        </p:txBody>
      </p:sp>
      <p:cxnSp>
        <p:nvCxnSpPr>
          <p:cNvPr id="104" name="arrow 104"/>
          <p:cNvCxnSpPr/>
          <p:nvPr/>
        </p:nvCxnSpPr>
        <p:spPr>
          <a:xfrm>
            <a:off x="3108960" y="1988819"/>
            <a:ext cx="36575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5" name="box 105"/>
          <p:cNvSpPr/>
          <p:nvPr/>
        </p:nvSpPr>
        <p:spPr>
          <a:xfrm>
            <a:off x="3474720" y="1600200"/>
            <a:ext cx="1965960" cy="7772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 번째 게임 오버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쳇바퀴 훈련</a:t>
            </a:r>
          </a:p>
        </p:txBody>
      </p:sp>
      <p:cxnSp>
        <p:nvCxnSpPr>
          <p:cNvPr id="106" name="arrow 106"/>
          <p:cNvCxnSpPr/>
          <p:nvPr/>
        </p:nvCxnSpPr>
        <p:spPr>
          <a:xfrm>
            <a:off x="5440679" y="1988819"/>
            <a:ext cx="3657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7" name="box 107"/>
          <p:cNvSpPr/>
          <p:nvPr/>
        </p:nvSpPr>
        <p:spPr>
          <a:xfrm>
            <a:off x="5806440" y="1600200"/>
            <a:ext cx="1965960" cy="7772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1훈장 트리 완료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찍찍!! 훈장</a:t>
            </a:r>
          </a:p>
        </p:txBody>
      </p:sp>
      <p:cxnSp>
        <p:nvCxnSpPr>
          <p:cNvPr id="108" name="arrow 108"/>
          <p:cNvCxnSpPr/>
          <p:nvPr/>
        </p:nvCxnSpPr>
        <p:spPr>
          <a:xfrm>
            <a:off x="7772400" y="1988819"/>
            <a:ext cx="3657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9" name="box 109"/>
          <p:cNvSpPr/>
          <p:nvPr/>
        </p:nvSpPr>
        <p:spPr>
          <a:xfrm>
            <a:off x="8138159" y="1600200"/>
            <a:ext cx="1965960" cy="7772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첫 훈장 승급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친구들!!</a:t>
            </a:r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1143000" y="2697480"/>
          <a:ext cx="9326880" cy="2798064"/>
        </p:xfrm>
        <a:graphic>
          <a:graphicData uri="http://schemas.openxmlformats.org/drawingml/2006/table">
            <a:tbl>
              <a:tblPr firstRow="1" bandRow="1"/>
              <a:tblGrid>
                <a:gridCol w="1554480"/>
                <a:gridCol w="420624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해금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해금 대사 (요약)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 진입 시 설명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 창고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"앞으론 잡히지 않게 더욱 강해지자!!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치즈를 쓰면 더 강해질 수 있을 거야 찍찍!!"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치즈로 스킬 해금 · 상위 단계는 연구자료 필요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쳇바퀴 훈련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"판에서 모은 조각으로 쥐를 한 종씩 강화!"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Lv 3 특수 액션 · Lv 7 필살기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찍찍!! 훈장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"더 이상 강해질 수가 없어 찍!!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그렇다면.... 연구의 성과를!!"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연구자료 + 조건 충족 시 훈장 상승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친구들!!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"찍찍 훈장을 얻으면 친구들도 늘어날 거야 찍찍!!"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친구 도감 (미발견 친구는 실루엣)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아웃게임 튜토리얼 – 타이틀 · 저장 슬롯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1143000" y="169164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처음부터</a:t>
            </a:r>
          </a:p>
        </p:txBody>
      </p:sp>
      <p:sp>
        <p:nvSpPr>
          <p:cNvPr id="104" name="box 104"/>
          <p:cNvSpPr/>
          <p:nvPr/>
        </p:nvSpPr>
        <p:spPr>
          <a:xfrm>
            <a:off x="2286000" y="1600200"/>
            <a:ext cx="173736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기록 고르기</a:t>
            </a:r>
          </a:p>
        </p:txBody>
      </p:sp>
      <p:cxnSp>
        <p:nvCxnSpPr>
          <p:cNvPr id="105" name="arrow 105"/>
          <p:cNvCxnSpPr/>
          <p:nvPr/>
        </p:nvCxnSpPr>
        <p:spPr>
          <a:xfrm>
            <a:off x="4023360" y="196596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6" name="box 106"/>
          <p:cNvSpPr/>
          <p:nvPr/>
        </p:nvSpPr>
        <p:spPr>
          <a:xfrm>
            <a:off x="4434840" y="1600200"/>
            <a:ext cx="173736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덮어쓰기 확인</a:t>
            </a:r>
          </a:p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(기존 기록 시)</a:t>
            </a:r>
          </a:p>
        </p:txBody>
      </p:sp>
      <p:cxnSp>
        <p:nvCxnSpPr>
          <p:cNvPr id="107" name="arrow 107"/>
          <p:cNvCxnSpPr/>
          <p:nvPr/>
        </p:nvCxnSpPr>
        <p:spPr>
          <a:xfrm>
            <a:off x="6172200" y="196596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08" name="box 108"/>
          <p:cNvSpPr/>
          <p:nvPr/>
        </p:nvSpPr>
        <p:spPr>
          <a:xfrm>
            <a:off x="6583679" y="1600200"/>
            <a:ext cx="173736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오프닝 컷씬</a:t>
            </a:r>
          </a:p>
        </p:txBody>
      </p:sp>
      <p:cxnSp>
        <p:nvCxnSpPr>
          <p:cNvPr id="109" name="arrow 109"/>
          <p:cNvCxnSpPr/>
          <p:nvPr/>
        </p:nvCxnSpPr>
        <p:spPr>
          <a:xfrm>
            <a:off x="8321040" y="1965960"/>
            <a:ext cx="411479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0" name="box 110"/>
          <p:cNvSpPr/>
          <p:nvPr/>
        </p:nvSpPr>
        <p:spPr>
          <a:xfrm>
            <a:off x="8732519" y="1600200"/>
            <a:ext cx="173736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1층 진입</a:t>
            </a:r>
          </a:p>
        </p:txBody>
      </p:sp>
      <p:sp>
        <p:nvSpPr>
          <p:cNvPr id="111" name="label 111"/>
          <p:cNvSpPr txBox="1"/>
          <p:nvPr/>
        </p:nvSpPr>
        <p:spPr>
          <a:xfrm>
            <a:off x="1143000" y="2788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lang="ko-KR" altLang="en-US" sz="1400" dirty="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이어 하기</a:t>
            </a:r>
          </a:p>
        </p:txBody>
      </p:sp>
      <p:sp>
        <p:nvSpPr>
          <p:cNvPr id="112" name="box 112"/>
          <p:cNvSpPr/>
          <p:nvPr/>
        </p:nvSpPr>
        <p:spPr>
          <a:xfrm>
            <a:off x="2286000" y="2697480"/>
            <a:ext cx="173736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기록 고르기</a:t>
            </a:r>
          </a:p>
        </p:txBody>
      </p:sp>
      <p:cxnSp>
        <p:nvCxnSpPr>
          <p:cNvPr id="113" name="arrow 113"/>
          <p:cNvCxnSpPr/>
          <p:nvPr/>
        </p:nvCxnSpPr>
        <p:spPr>
          <a:xfrm>
            <a:off x="4023360" y="3063240"/>
            <a:ext cx="41148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</p:cxnSp>
      <p:sp>
        <p:nvSpPr>
          <p:cNvPr id="114" name="box 114"/>
          <p:cNvSpPr/>
          <p:nvPr/>
        </p:nvSpPr>
        <p:spPr>
          <a:xfrm>
            <a:off x="4434840" y="2697480"/>
            <a:ext cx="1737360" cy="7315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로비</a:t>
            </a:r>
          </a:p>
        </p:txBody>
      </p:sp>
      <p:sp>
        <p:nvSpPr>
          <p:cNvPr id="115" name="box 115"/>
          <p:cNvSpPr/>
          <p:nvPr/>
        </p:nvSpPr>
        <p:spPr>
          <a:xfrm>
            <a:off x="6583680" y="2697480"/>
            <a:ext cx="333756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tx1"/>
            </a:solidFill>
          </a:ln>
        </p:spPr>
        <p:txBody>
          <a:bodyPr rtlCol="0" anchor="ctr" lIns="45720" rIns="45720">
            <a:norm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오프닝 도중 종료한 기록은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오프닝부터 재생</a:t>
            </a:r>
          </a:p>
        </p:txBody>
      </p:sp>
      <p:sp>
        <p:nvSpPr>
          <p:cNvPr id="116" name="bullets 116"/>
          <p:cNvSpPr txBox="1"/>
          <p:nvPr/>
        </p:nvSpPr>
        <p:spPr>
          <a:xfrm>
            <a:off x="1033271" y="3886200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저장 슬롯 5개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슬롯별 훈장 · 최고 층 · 탈출 시도 횟수 · 저장 시각 표시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자동 저장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진행 상황 자동 저장, 낮잠 침대에서 저장 후 타이틀 이동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튜토리얼</a:t>
            </a: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 : 새 기록은 스위치 전체 초기화 → 튜토리얼 처음부터 진행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데이터 – 튜토리얼 테이블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label 103"/>
          <p:cNvSpPr txBox="1"/>
          <p:nvPr/>
        </p:nvSpPr>
        <p:spPr>
          <a:xfrm>
            <a:off x="7315200" y="1051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Data_Table/튜토리얼 테이블.xlsx</a:t>
            </a:r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1143000" y="1600200"/>
          <a:ext cx="9144000" cy="2103120"/>
        </p:xfrm>
        <a:graphic>
          <a:graphicData uri="http://schemas.openxmlformats.org/drawingml/2006/table">
            <a:tbl>
              <a:tblPr firstRow="1" bandRow="1"/>
              <a:tblGrid>
                <a:gridCol w="1371600"/>
                <a:gridCol w="2103120"/>
                <a:gridCol w="5669280"/>
              </a:tblGrid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시트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주요 칸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Speaker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해설 쥐 4마리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화자 id · 화면 이름 · 쥐 코드 · 초상화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Step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 18개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씬 · 발동 · 발동 값 · 조건 1 · 2 · 시작 시 해금 · 종료 시 행동 · 순서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Line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대사 47줄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 · 화자 · 표정 · 대사 · 강조할 곳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Story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오프닝 12줄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컷 · 그림 · 대사</a:t>
                      </a:r>
                      <a:endParaRPr lang="ko-KR" sz="13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5" name="bullets 105"/>
          <p:cNvSpPr txBox="1"/>
          <p:nvPr/>
        </p:nvSpPr>
        <p:spPr>
          <a:xfrm>
            <a:off x="1033271" y="3977639"/>
            <a:ext cx="9144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발동</a:t>
            </a:r>
            <a:r>
              <a:rPr lang="ko-KR" altLang="en-US" dirty="0" sz="1400">
                <a:latin typeface="Noto Sans KR" panose="020B0200000000000000" pitchFamily="50" charset="-127"/>
                <a:ea typeface="Noto Sans KR" panose="020B0200000000000000" pitchFamily="50" charset="-127"/>
              </a:rPr>
              <a:t> : FloorStart · FloorTime · Birth · RatCount · CatAppear · BossFight · UltReady · After · LobbyEnter · PageOpen · CanRankUp · TierAtLeast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조건</a:t>
            </a:r>
            <a:r>
              <a:rPr lang="ko-KR" altLang="en-US" dirty="0" sz="1400">
                <a:latin typeface="Noto Sans KR" panose="020B0200000000000000" pitchFamily="50" charset="-127"/>
                <a:ea typeface="Noto Sans KR" panose="020B0200000000000000" pitchFamily="50" charset="-127"/>
              </a:rPr>
              <a:t> : RunMin · RunMax (탈출 시도 횟수) · Unlocked · Locked (기능) · Done · NotDone (단계)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행동</a:t>
            </a:r>
            <a:r>
              <a:rPr lang="ko-KR" altLang="en-US" dirty="0" sz="1400">
                <a:latin typeface="Noto Sans KR" panose="020B0200000000000000" pitchFamily="50" charset="-127"/>
                <a:ea typeface="Noto Sans KR" panose="020B0200000000000000" pitchFamily="50" charset="-127"/>
              </a:rPr>
              <a:t> : Ult (해당 쥐 소환 후 필살기 시연) · OpenPage (로비 페이지 이동)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 101"/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예외처리</a:t>
            </a:r>
          </a:p>
        </p:txBody>
      </p:sp>
      <p:cxnSp>
        <p:nvCxnSpPr>
          <p:cNvPr id="102" name="line 102"/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bullets 103"/>
          <p:cNvSpPr txBox="1"/>
          <p:nvPr/>
        </p:nvSpPr>
        <p:spPr>
          <a:xfrm>
            <a:off x="1033271" y="1554480"/>
            <a:ext cx="932688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진행 중 종료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단계 발동 즉시 기록 → 재실행 시 같은 대사 반복 없음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오프닝 도중 종료한 기록은 이어 하기 시 오프닝부터 재생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>
              <a:buNone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연출 겹침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필살기 · 슈퍼 점프 · 층 이동 · 게임 오버 · 보스 컷씬 연출 종료 후 발동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시연 필살기 발동 실패 시 5초간 재시도 후 생략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>
              <a:buNone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입력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대사 중 총공격 · 카메라 이동 · 줌 차단, ESC 입력 무시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</a:p>
          <a:p>
            <a:pPr>
              <a:buNone/>
            </a:pPr>
            <a:r>
              <a:rPr lang="ko-KR" altLang="en-US" dirty="0" sz="1500" b="1"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z="1500">
                <a:latin typeface="Noto Sans KR" panose="020B0200000000000000" pitchFamily="50" charset="-127"/>
                <a:ea typeface="Noto Sans KR" panose="020B0200000000000000" pitchFamily="50" charset="-127"/>
              </a:rPr>
              <a:t>튜토리얼 도입 이전 저장은 전체 완료 처리 · 밸런스 측정 중 튜토리얼 비활성화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303</Words>
  <Application>Microsoft Office PowerPoint</Application>
  <PresentationFormat>와이드스크린</PresentationFormat>
  <Paragraphs>76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송호 박</cp:lastModifiedBy>
  <cp:revision>17</cp:revision>
  <dcterms:created xsi:type="dcterms:W3CDTF">2026-09-29T07:46:10Z</dcterms:created>
  <dcterms:modified xsi:type="dcterms:W3CDTF">2026-10-05T07:19:09Z</dcterms:modified>
</cp:coreProperties>
</file>