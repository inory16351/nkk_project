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0" r:id="rId3"/>
    <p:sldId id="292" r:id="rId13"/>
    <p:sldId id="259" r:id="rId4"/>
    <p:sldId id="298" r:id="rId6"/>
    <p:sldId id="299" r:id="rId5"/>
    <p:sldId id="300" r:id="rId19"/>
    <p:sldId id="301" r:id="rId2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9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흔들림 (px) — 세기 0.5에서 시작, 0.8초</a:t>
            </a:r>
          </a:p>
        </c:rich>
      </c:tx>
      <c:layout/>
      <c:overlay val="0"/>
    </c:title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흔들림 (px) — 세기 0.5에서 시작, 0.8초</c:v>
                </c:pt>
              </c:strCache>
            </c:strRef>
          </c:tx>
          <c:spPr>
            <a:ln w="28575">
              <a:solidFill>
                <a:srgbClr val="C9745B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</c:v>
                </c:pt>
                <c:pt idx="78">
                  <c:v>0.39</c:v>
                </c:pt>
                <c:pt idx="79">
                  <c:v>0.395</c:v>
                </c:pt>
                <c:pt idx="80">
                  <c:v>0.4</c:v>
                </c:pt>
                <c:pt idx="81">
                  <c:v>0.405</c:v>
                </c:pt>
                <c:pt idx="82">
                  <c:v>0.41</c:v>
                </c:pt>
                <c:pt idx="83">
                  <c:v>0.415</c:v>
                </c:pt>
                <c:pt idx="84">
                  <c:v>0.42</c:v>
                </c:pt>
                <c:pt idx="85">
                  <c:v>0.425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</c:v>
                </c:pt>
                <c:pt idx="90">
                  <c:v>0.45</c:v>
                </c:pt>
                <c:pt idx="91">
                  <c:v>0.455</c:v>
                </c:pt>
                <c:pt idx="92">
                  <c:v>0.46</c:v>
                </c:pt>
                <c:pt idx="93">
                  <c:v>0.465</c:v>
                </c:pt>
                <c:pt idx="94">
                  <c:v>0.47</c:v>
                </c:pt>
                <c:pt idx="95">
                  <c:v>0.475</c:v>
                </c:pt>
                <c:pt idx="96">
                  <c:v>0.48</c:v>
                </c:pt>
                <c:pt idx="97">
                  <c:v>0.485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</c:v>
                </c:pt>
                <c:pt idx="104">
                  <c:v>0.52</c:v>
                </c:pt>
                <c:pt idx="105">
                  <c:v>0.525</c:v>
                </c:pt>
                <c:pt idx="106">
                  <c:v>0.53</c:v>
                </c:pt>
                <c:pt idx="107">
                  <c:v>0.535</c:v>
                </c:pt>
                <c:pt idx="108">
                  <c:v>0.54</c:v>
                </c:pt>
                <c:pt idx="109">
                  <c:v>0.545</c:v>
                </c:pt>
                <c:pt idx="110">
                  <c:v>0.55</c:v>
                </c:pt>
                <c:pt idx="111">
                  <c:v>0.555</c:v>
                </c:pt>
                <c:pt idx="112">
                  <c:v>0.56</c:v>
                </c:pt>
                <c:pt idx="113">
                  <c:v>0.565</c:v>
                </c:pt>
                <c:pt idx="114">
                  <c:v>0.57</c:v>
                </c:pt>
                <c:pt idx="115">
                  <c:v>0.575</c:v>
                </c:pt>
                <c:pt idx="116">
                  <c:v>0.58</c:v>
                </c:pt>
                <c:pt idx="117">
                  <c:v>0.585</c:v>
                </c:pt>
                <c:pt idx="118">
                  <c:v>0.59</c:v>
                </c:pt>
                <c:pt idx="119">
                  <c:v>0.595</c:v>
                </c:pt>
                <c:pt idx="120">
                  <c:v>0.6</c:v>
                </c:pt>
                <c:pt idx="121">
                  <c:v>0.605</c:v>
                </c:pt>
                <c:pt idx="122">
                  <c:v>0.61</c:v>
                </c:pt>
                <c:pt idx="123">
                  <c:v>0.615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</c:v>
                </c:pt>
                <c:pt idx="128">
                  <c:v>0.64</c:v>
                </c:pt>
                <c:pt idx="129">
                  <c:v>0.645</c:v>
                </c:pt>
                <c:pt idx="130">
                  <c:v>0.65</c:v>
                </c:pt>
                <c:pt idx="131">
                  <c:v>0.655</c:v>
                </c:pt>
                <c:pt idx="132">
                  <c:v>0.66</c:v>
                </c:pt>
                <c:pt idx="133">
                  <c:v>0.665</c:v>
                </c:pt>
                <c:pt idx="134">
                  <c:v>0.67</c:v>
                </c:pt>
                <c:pt idx="135">
                  <c:v>0.675</c:v>
                </c:pt>
                <c:pt idx="136">
                  <c:v>0.68</c:v>
                </c:pt>
                <c:pt idx="137">
                  <c:v>0.685</c:v>
                </c:pt>
                <c:pt idx="138">
                  <c:v>0.69</c:v>
                </c:pt>
                <c:pt idx="139">
                  <c:v>0.695</c:v>
                </c:pt>
                <c:pt idx="140">
                  <c:v>0.7</c:v>
                </c:pt>
                <c:pt idx="141">
                  <c:v>0.705</c:v>
                </c:pt>
                <c:pt idx="142">
                  <c:v>0.71</c:v>
                </c:pt>
                <c:pt idx="143">
                  <c:v>0.715</c:v>
                </c:pt>
                <c:pt idx="144">
                  <c:v>0.72</c:v>
                </c:pt>
                <c:pt idx="145">
                  <c:v>0.725</c:v>
                </c:pt>
                <c:pt idx="146">
                  <c:v>0.73</c:v>
                </c:pt>
                <c:pt idx="147">
                  <c:v>0.735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</c:v>
                </c:pt>
                <c:pt idx="154">
                  <c:v>0.77</c:v>
                </c:pt>
                <c:pt idx="155">
                  <c:v>0.775</c:v>
                </c:pt>
                <c:pt idx="156">
                  <c:v>0.78</c:v>
                </c:pt>
                <c:pt idx="157">
                  <c:v>0.785</c:v>
                </c:pt>
                <c:pt idx="158">
                  <c:v>0.79</c:v>
                </c:pt>
                <c:pt idx="159">
                  <c:v>0.795</c:v>
                </c:pt>
                <c:pt idx="160">
                  <c:v>0.8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5.98</c:v>
                </c:pt>
                <c:pt idx="2">
                  <c:v>10.58</c:v>
                </c:pt>
                <c:pt idx="3">
                  <c:v>12.93</c:v>
                </c:pt>
                <c:pt idx="4">
                  <c:v>12.67</c:v>
                </c:pt>
                <c:pt idx="5">
                  <c:v>9.93</c:v>
                </c:pt>
                <c:pt idx="6">
                  <c:v>5.35</c:v>
                </c:pt>
                <c:pt idx="7">
                  <c:v>-0.1</c:v>
                </c:pt>
                <c:pt idx="8">
                  <c:v>-5.34</c:v>
                </c:pt>
                <c:pt idx="9">
                  <c:v>-9.32</c:v>
                </c:pt>
                <c:pt idx="10">
                  <c:v>-11.33</c:v>
                </c:pt>
                <c:pt idx="11">
                  <c:v>-11.05</c:v>
                </c:pt>
                <c:pt idx="12">
                  <c:v>-8.61</c:v>
                </c:pt>
                <c:pt idx="13">
                  <c:v>-4.58</c:v>
                </c:pt>
                <c:pt idx="14">
                  <c:v>0.18</c:v>
                </c:pt>
                <c:pt idx="15">
                  <c:v>4.71</c:v>
                </c:pt>
                <c:pt idx="16">
                  <c:v>8.14</c:v>
                </c:pt>
                <c:pt idx="17">
                  <c:v>9.84</c:v>
                </c:pt>
                <c:pt idx="18">
                  <c:v>9.54</c:v>
                </c:pt>
                <c:pt idx="19">
                  <c:v>7.38</c:v>
                </c:pt>
                <c:pt idx="20">
                  <c:v>3.88</c:v>
                </c:pt>
                <c:pt idx="21">
                  <c:v>-0.23</c:v>
                </c:pt>
                <c:pt idx="22">
                  <c:v>-4.12</c:v>
                </c:pt>
                <c:pt idx="23">
                  <c:v>-7.03</c:v>
                </c:pt>
                <c:pt idx="24">
                  <c:v>-8.44</c:v>
                </c:pt>
                <c:pt idx="25">
                  <c:v>-8.14</c:v>
                </c:pt>
                <c:pt idx="26">
                  <c:v>-6.26</c:v>
                </c:pt>
                <c:pt idx="27">
                  <c:v>-3.24</c:v>
                </c:pt>
                <c:pt idx="28">
                  <c:v>0.26</c:v>
                </c:pt>
                <c:pt idx="29">
                  <c:v>3.56</c:v>
                </c:pt>
                <c:pt idx="30">
                  <c:v>6.0</c:v>
                </c:pt>
                <c:pt idx="31">
                  <c:v>7.15</c:v>
                </c:pt>
                <c:pt idx="32">
                  <c:v>6.85</c:v>
                </c:pt>
                <c:pt idx="33">
                  <c:v>5.23</c:v>
                </c:pt>
                <c:pt idx="34">
                  <c:v>2.68</c:v>
                </c:pt>
                <c:pt idx="35">
                  <c:v>-0.28</c:v>
                </c:pt>
                <c:pt idx="36">
                  <c:v>-3.02</c:v>
                </c:pt>
                <c:pt idx="37">
                  <c:v>-5.04</c:v>
                </c:pt>
                <c:pt idx="38">
                  <c:v>-5.96</c:v>
                </c:pt>
                <c:pt idx="39">
                  <c:v>-5.68</c:v>
                </c:pt>
                <c:pt idx="40">
                  <c:v>-4.31</c:v>
                </c:pt>
                <c:pt idx="41">
                  <c:v>-2.17</c:v>
                </c:pt>
                <c:pt idx="42">
                  <c:v>0.27</c:v>
                </c:pt>
                <c:pt idx="43">
                  <c:v>2.52</c:v>
                </c:pt>
                <c:pt idx="44">
                  <c:v>4.16</c:v>
                </c:pt>
                <c:pt idx="45">
                  <c:v>4.88</c:v>
                </c:pt>
                <c:pt idx="46">
                  <c:v>4.62</c:v>
                </c:pt>
                <c:pt idx="47">
                  <c:v>3.47</c:v>
                </c:pt>
                <c:pt idx="48">
                  <c:v>1.72</c:v>
                </c:pt>
                <c:pt idx="49">
                  <c:v>-0.26</c:v>
                </c:pt>
                <c:pt idx="50">
                  <c:v>-2.06</c:v>
                </c:pt>
                <c:pt idx="51">
                  <c:v>-3.35</c:v>
                </c:pt>
                <c:pt idx="52">
                  <c:v>-3.91</c:v>
                </c:pt>
                <c:pt idx="53">
                  <c:v>-3.67</c:v>
                </c:pt>
                <c:pt idx="54">
                  <c:v>-2.74</c:v>
                </c:pt>
                <c:pt idx="55">
                  <c:v>-1.33</c:v>
                </c:pt>
                <c:pt idx="56">
                  <c:v>0.23</c:v>
                </c:pt>
                <c:pt idx="57">
                  <c:v>1.64</c:v>
                </c:pt>
                <c:pt idx="58">
                  <c:v>2.63</c:v>
                </c:pt>
                <c:pt idx="59">
                  <c:v>3.04</c:v>
                </c:pt>
                <c:pt idx="60">
                  <c:v>2.83</c:v>
                </c:pt>
                <c:pt idx="61">
                  <c:v>2.09</c:v>
                </c:pt>
                <c:pt idx="62">
                  <c:v>1.0</c:v>
                </c:pt>
                <c:pt idx="63">
                  <c:v>-0.2</c:v>
                </c:pt>
                <c:pt idx="64">
                  <c:v>-1.26</c:v>
                </c:pt>
                <c:pt idx="65">
                  <c:v>-2.0</c:v>
                </c:pt>
                <c:pt idx="66">
                  <c:v>-2.28</c:v>
                </c:pt>
                <c:pt idx="67">
                  <c:v>-2.1</c:v>
                </c:pt>
                <c:pt idx="68">
                  <c:v>-1.54</c:v>
                </c:pt>
                <c:pt idx="69">
                  <c:v>-0.72</c:v>
                </c:pt>
                <c:pt idx="70">
                  <c:v>0.16</c:v>
                </c:pt>
                <c:pt idx="71">
                  <c:v>0.93</c:v>
                </c:pt>
                <c:pt idx="72">
                  <c:v>1.44</c:v>
                </c:pt>
                <c:pt idx="73">
                  <c:v>1.63</c:v>
                </c:pt>
                <c:pt idx="74">
                  <c:v>1.49</c:v>
                </c:pt>
                <c:pt idx="75">
                  <c:v>1.07</c:v>
                </c:pt>
                <c:pt idx="76">
                  <c:v>0.49</c:v>
                </c:pt>
                <c:pt idx="77">
                  <c:v>-0.12</c:v>
                </c:pt>
                <c:pt idx="78">
                  <c:v>-0.64</c:v>
                </c:pt>
                <c:pt idx="79">
                  <c:v>-0.98</c:v>
                </c:pt>
                <c:pt idx="80">
                  <c:v>-1.09</c:v>
                </c:pt>
                <c:pt idx="81">
                  <c:v>-0.98</c:v>
                </c:pt>
                <c:pt idx="82">
                  <c:v>-0.69</c:v>
                </c:pt>
                <c:pt idx="83">
                  <c:v>-0.31</c:v>
                </c:pt>
                <c:pt idx="84">
                  <c:v>0.08</c:v>
                </c:pt>
                <c:pt idx="85">
                  <c:v>0.4</c:v>
                </c:pt>
                <c:pt idx="86">
                  <c:v>0.6</c:v>
                </c:pt>
                <c:pt idx="87">
                  <c:v>0.65</c:v>
                </c:pt>
                <c:pt idx="88">
                  <c:v>0.57</c:v>
                </c:pt>
                <c:pt idx="89">
                  <c:v>0.39</c:v>
                </c:pt>
                <c:pt idx="90">
                  <c:v>0.17</c:v>
                </c:pt>
                <c:pt idx="91">
                  <c:v>-0.05</c:v>
                </c:pt>
                <c:pt idx="92">
                  <c:v>-0.22</c:v>
                </c:pt>
                <c:pt idx="93">
                  <c:v>-0.31</c:v>
                </c:pt>
                <c:pt idx="94">
                  <c:v>-0.33</c:v>
                </c:pt>
                <c:pt idx="95">
                  <c:v>-0.28</c:v>
                </c:pt>
                <c:pt idx="96">
                  <c:v>-0.18</c:v>
                </c:pt>
                <c:pt idx="97">
                  <c:v>-0.07</c:v>
                </c:pt>
                <c:pt idx="98">
                  <c:v>0.02</c:v>
                </c:pt>
                <c:pt idx="99">
                  <c:v>0.09</c:v>
                </c:pt>
                <c:pt idx="100">
                  <c:v>0.12</c:v>
                </c:pt>
                <c:pt idx="101">
                  <c:v>0.12</c:v>
                </c:pt>
                <c:pt idx="102">
                  <c:v>0.09</c:v>
                </c:pt>
                <c:pt idx="103">
                  <c:v>0.05</c:v>
                </c:pt>
                <c:pt idx="104">
                  <c:v>0.02</c:v>
                </c:pt>
                <c:pt idx="105">
                  <c:v>-0.01</c:v>
                </c:pt>
                <c:pt idx="106">
                  <c:v>-0.02</c:v>
                </c:pt>
                <c:pt idx="107">
                  <c:v>-0.02</c:v>
                </c:pt>
                <c:pt idx="108">
                  <c:v>-0.01</c:v>
                </c:pt>
                <c:pt idx="109">
                  <c:v>-0.0</c:v>
                </c:pt>
                <c:pt idx="110">
                  <c:v>-0.0</c:v>
                </c:pt>
                <c:pt idx="111">
                  <c:v>-0.0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-0.0</c:v>
                </c:pt>
                <c:pt idx="120">
                  <c:v>-0.0</c:v>
                </c:pt>
                <c:pt idx="121">
                  <c:v>-0.0</c:v>
                </c:pt>
                <c:pt idx="122">
                  <c:v>-0.0</c:v>
                </c:pt>
                <c:pt idx="123">
                  <c:v>-0.0</c:v>
                </c:pt>
                <c:pt idx="124">
                  <c:v>-0.0</c:v>
                </c:pt>
                <c:pt idx="125">
                  <c:v>-0.0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-0.0</c:v>
                </c:pt>
                <c:pt idx="134">
                  <c:v>-0.0</c:v>
                </c:pt>
                <c:pt idx="135">
                  <c:v>-0.0</c:v>
                </c:pt>
                <c:pt idx="136">
                  <c:v>-0.0</c:v>
                </c:pt>
                <c:pt idx="137">
                  <c:v>-0.0</c:v>
                </c:pt>
                <c:pt idx="138">
                  <c:v>-0.0</c:v>
                </c:pt>
                <c:pt idx="139">
                  <c:v>-0.0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-0.0</c:v>
                </c:pt>
                <c:pt idx="148">
                  <c:v>-0.0</c:v>
                </c:pt>
                <c:pt idx="149">
                  <c:v>-0.0</c:v>
                </c:pt>
                <c:pt idx="150">
                  <c:v>-0.0</c:v>
                </c:pt>
                <c:pt idx="151">
                  <c:v>-0.0</c:v>
                </c:pt>
                <c:pt idx="152">
                  <c:v>-0.0</c:v>
                </c:pt>
                <c:pt idx="153">
                  <c:v>-0.0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D746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5.0"/>
          <c:min val="-15.0"/>
        </c:scaling>
        <c:delete val="0"/>
        <c:axPos val="l"/>
        <c:majorGridlines>
          <c:spPr>
            <a:ln>
              <a:solidFill>
                <a:srgbClr val="EEE7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D746B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줌 펀치 (배율) — 필살기</a:t>
            </a:r>
          </a:p>
        </c:rich>
      </c:tx>
      <c:layout/>
      <c:overlay val="0"/>
    </c:title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줌 펀치 (배율) — 필살기</c:v>
                </c:pt>
              </c:strCache>
            </c:strRef>
          </c:tx>
          <c:spPr>
            <a:ln w="28575">
              <a:solidFill>
                <a:srgbClr val="E6B35A"/>
              </a:solidFill>
            </a:ln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0.0</c:v>
                </c:pt>
                <c:pt idx="1">
                  <c:v>0.008</c:v>
                </c:pt>
                <c:pt idx="2">
                  <c:v>0.016</c:v>
                </c:pt>
                <c:pt idx="3">
                  <c:v>0.024</c:v>
                </c:pt>
                <c:pt idx="4">
                  <c:v>0.032</c:v>
                </c:pt>
                <c:pt idx="5">
                  <c:v>0.04</c:v>
                </c:pt>
                <c:pt idx="6">
                  <c:v>0.048</c:v>
                </c:pt>
                <c:pt idx="7">
                  <c:v>0.056</c:v>
                </c:pt>
                <c:pt idx="8">
                  <c:v>0.064</c:v>
                </c:pt>
                <c:pt idx="9">
                  <c:v>0.072</c:v>
                </c:pt>
                <c:pt idx="10">
                  <c:v>0.08</c:v>
                </c:pt>
                <c:pt idx="11">
                  <c:v>0.088</c:v>
                </c:pt>
                <c:pt idx="12">
                  <c:v>0.096</c:v>
                </c:pt>
                <c:pt idx="13">
                  <c:v>0.104</c:v>
                </c:pt>
                <c:pt idx="14">
                  <c:v>0.112</c:v>
                </c:pt>
                <c:pt idx="15">
                  <c:v>0.12</c:v>
                </c:pt>
                <c:pt idx="16">
                  <c:v>0.128</c:v>
                </c:pt>
                <c:pt idx="17">
                  <c:v>0.136</c:v>
                </c:pt>
                <c:pt idx="18">
                  <c:v>0.144</c:v>
                </c:pt>
                <c:pt idx="19">
                  <c:v>0.152</c:v>
                </c:pt>
                <c:pt idx="20">
                  <c:v>0.16</c:v>
                </c:pt>
                <c:pt idx="21">
                  <c:v>0.168</c:v>
                </c:pt>
                <c:pt idx="22">
                  <c:v>0.176</c:v>
                </c:pt>
                <c:pt idx="23">
                  <c:v>0.184</c:v>
                </c:pt>
                <c:pt idx="24">
                  <c:v>0.192</c:v>
                </c:pt>
                <c:pt idx="25">
                  <c:v>0.2</c:v>
                </c:pt>
                <c:pt idx="26">
                  <c:v>0.208</c:v>
                </c:pt>
                <c:pt idx="27">
                  <c:v>0.216</c:v>
                </c:pt>
                <c:pt idx="28">
                  <c:v>0.224</c:v>
                </c:pt>
                <c:pt idx="29">
                  <c:v>0.232</c:v>
                </c:pt>
                <c:pt idx="30">
                  <c:v>0.24</c:v>
                </c:pt>
                <c:pt idx="31">
                  <c:v>0.248</c:v>
                </c:pt>
                <c:pt idx="32">
                  <c:v>0.256</c:v>
                </c:pt>
                <c:pt idx="33">
                  <c:v>0.264</c:v>
                </c:pt>
                <c:pt idx="34">
                  <c:v>0.272</c:v>
                </c:pt>
                <c:pt idx="35">
                  <c:v>0.28</c:v>
                </c:pt>
                <c:pt idx="36">
                  <c:v>0.288</c:v>
                </c:pt>
                <c:pt idx="37">
                  <c:v>0.296</c:v>
                </c:pt>
                <c:pt idx="38">
                  <c:v>0.304</c:v>
                </c:pt>
                <c:pt idx="39">
                  <c:v>0.312</c:v>
                </c:pt>
                <c:pt idx="40">
                  <c:v>0.32</c:v>
                </c:pt>
                <c:pt idx="41">
                  <c:v>0.328</c:v>
                </c:pt>
                <c:pt idx="42">
                  <c:v>0.336</c:v>
                </c:pt>
                <c:pt idx="43">
                  <c:v>0.344</c:v>
                </c:pt>
                <c:pt idx="44">
                  <c:v>0.352</c:v>
                </c:pt>
                <c:pt idx="45">
                  <c:v>0.36</c:v>
                </c:pt>
                <c:pt idx="46">
                  <c:v>0.368</c:v>
                </c:pt>
                <c:pt idx="47">
                  <c:v>0.376</c:v>
                </c:pt>
                <c:pt idx="48">
                  <c:v>0.384</c:v>
                </c:pt>
                <c:pt idx="49">
                  <c:v>0.392</c:v>
                </c:pt>
                <c:pt idx="50">
                  <c:v>0.4</c:v>
                </c:pt>
                <c:pt idx="51">
                  <c:v>0.408</c:v>
                </c:pt>
                <c:pt idx="52">
                  <c:v>0.416</c:v>
                </c:pt>
                <c:pt idx="53">
                  <c:v>0.424</c:v>
                </c:pt>
                <c:pt idx="54">
                  <c:v>0.432</c:v>
                </c:pt>
                <c:pt idx="55">
                  <c:v>0.44</c:v>
                </c:pt>
                <c:pt idx="56">
                  <c:v>0.448</c:v>
                </c:pt>
                <c:pt idx="57">
                  <c:v>0.456</c:v>
                </c:pt>
                <c:pt idx="58">
                  <c:v>0.464</c:v>
                </c:pt>
                <c:pt idx="59">
                  <c:v>0.472</c:v>
                </c:pt>
                <c:pt idx="60">
                  <c:v>0.48</c:v>
                </c:pt>
                <c:pt idx="61">
                  <c:v>0.488</c:v>
                </c:pt>
                <c:pt idx="62">
                  <c:v>0.496</c:v>
                </c:pt>
                <c:pt idx="63">
                  <c:v>0.504</c:v>
                </c:pt>
                <c:pt idx="64">
                  <c:v>0.512</c:v>
                </c:pt>
                <c:pt idx="65">
                  <c:v>0.52</c:v>
                </c:pt>
                <c:pt idx="66">
                  <c:v>0.528</c:v>
                </c:pt>
                <c:pt idx="67">
                  <c:v>0.536</c:v>
                </c:pt>
                <c:pt idx="68">
                  <c:v>0.544</c:v>
                </c:pt>
                <c:pt idx="69">
                  <c:v>0.552</c:v>
                </c:pt>
                <c:pt idx="70">
                  <c:v>0.56</c:v>
                </c:pt>
                <c:pt idx="71">
                  <c:v>0.568</c:v>
                </c:pt>
                <c:pt idx="72">
                  <c:v>0.576</c:v>
                </c:pt>
                <c:pt idx="73">
                  <c:v>0.584</c:v>
                </c:pt>
                <c:pt idx="74">
                  <c:v>0.592</c:v>
                </c:pt>
                <c:pt idx="75">
                  <c:v>0.6</c:v>
                </c:pt>
                <c:pt idx="76">
                  <c:v>0.608</c:v>
                </c:pt>
                <c:pt idx="77">
                  <c:v>0.616</c:v>
                </c:pt>
                <c:pt idx="78">
                  <c:v>0.624</c:v>
                </c:pt>
                <c:pt idx="79">
                  <c:v>0.632</c:v>
                </c:pt>
                <c:pt idx="80">
                  <c:v>0.64</c:v>
                </c:pt>
                <c:pt idx="81">
                  <c:v>0.648</c:v>
                </c:pt>
                <c:pt idx="82">
                  <c:v>0.656</c:v>
                </c:pt>
                <c:pt idx="83">
                  <c:v>0.664</c:v>
                </c:pt>
                <c:pt idx="84">
                  <c:v>0.672</c:v>
                </c:pt>
                <c:pt idx="85">
                  <c:v>0.68</c:v>
                </c:pt>
                <c:pt idx="86">
                  <c:v>0.688</c:v>
                </c:pt>
                <c:pt idx="87">
                  <c:v>0.696</c:v>
                </c:pt>
                <c:pt idx="88">
                  <c:v>0.704</c:v>
                </c:pt>
                <c:pt idx="89">
                  <c:v>0.712</c:v>
                </c:pt>
                <c:pt idx="90">
                  <c:v>0.72</c:v>
                </c:pt>
                <c:pt idx="91">
                  <c:v>0.728</c:v>
                </c:pt>
                <c:pt idx="92">
                  <c:v>0.736</c:v>
                </c:pt>
                <c:pt idx="93">
                  <c:v>0.744</c:v>
                </c:pt>
                <c:pt idx="94">
                  <c:v>0.752</c:v>
                </c:pt>
                <c:pt idx="95">
                  <c:v>0.76</c:v>
                </c:pt>
                <c:pt idx="96">
                  <c:v>0.768</c:v>
                </c:pt>
                <c:pt idx="97">
                  <c:v>0.776</c:v>
                </c:pt>
                <c:pt idx="98">
                  <c:v>0.784</c:v>
                </c:pt>
                <c:pt idx="99">
                  <c:v>0.792</c:v>
                </c:pt>
                <c:pt idx="100">
                  <c:v>0.8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1.0</c:v>
                </c:pt>
                <c:pt idx="1">
                  <c:v>1.01</c:v>
                </c:pt>
                <c:pt idx="2">
                  <c:v>1.02</c:v>
                </c:pt>
                <c:pt idx="3">
                  <c:v>1.03</c:v>
                </c:pt>
                <c:pt idx="4">
                  <c:v>1.04</c:v>
                </c:pt>
                <c:pt idx="5">
                  <c:v>1.05</c:v>
                </c:pt>
                <c:pt idx="6">
                  <c:v>1.06</c:v>
                </c:pt>
                <c:pt idx="7">
                  <c:v>1.07</c:v>
                </c:pt>
                <c:pt idx="8">
                  <c:v>1.08</c:v>
                </c:pt>
                <c:pt idx="9">
                  <c:v>1.09</c:v>
                </c:pt>
                <c:pt idx="10">
                  <c:v>1.1</c:v>
                </c:pt>
                <c:pt idx="11">
                  <c:v>1.11</c:v>
                </c:pt>
                <c:pt idx="12">
                  <c:v>1.12</c:v>
                </c:pt>
                <c:pt idx="13">
                  <c:v>1.13</c:v>
                </c:pt>
                <c:pt idx="14">
                  <c:v>1.14</c:v>
                </c:pt>
                <c:pt idx="15">
                  <c:v>1.15</c:v>
                </c:pt>
                <c:pt idx="16">
                  <c:v>1.142</c:v>
                </c:pt>
                <c:pt idx="17">
                  <c:v>1.134</c:v>
                </c:pt>
                <c:pt idx="18">
                  <c:v>1.127</c:v>
                </c:pt>
                <c:pt idx="19">
                  <c:v>1.12</c:v>
                </c:pt>
                <c:pt idx="20">
                  <c:v>1.113</c:v>
                </c:pt>
                <c:pt idx="21">
                  <c:v>1.107</c:v>
                </c:pt>
                <c:pt idx="22">
                  <c:v>1.101</c:v>
                </c:pt>
                <c:pt idx="23">
                  <c:v>1.096</c:v>
                </c:pt>
                <c:pt idx="24">
                  <c:v>1.091</c:v>
                </c:pt>
                <c:pt idx="25">
                  <c:v>1.086</c:v>
                </c:pt>
                <c:pt idx="26">
                  <c:v>1.081</c:v>
                </c:pt>
                <c:pt idx="27">
                  <c:v>1.077</c:v>
                </c:pt>
                <c:pt idx="28">
                  <c:v>1.072</c:v>
                </c:pt>
                <c:pt idx="29">
                  <c:v>1.068</c:v>
                </c:pt>
                <c:pt idx="30">
                  <c:v>1.065</c:v>
                </c:pt>
                <c:pt idx="31">
                  <c:v>1.061</c:v>
                </c:pt>
                <c:pt idx="32">
                  <c:v>1.058</c:v>
                </c:pt>
                <c:pt idx="33">
                  <c:v>1.055</c:v>
                </c:pt>
                <c:pt idx="34">
                  <c:v>1.052</c:v>
                </c:pt>
                <c:pt idx="35">
                  <c:v>1.049</c:v>
                </c:pt>
                <c:pt idx="36">
                  <c:v>1.046</c:v>
                </c:pt>
                <c:pt idx="37">
                  <c:v>1.044</c:v>
                </c:pt>
                <c:pt idx="38">
                  <c:v>1.041</c:v>
                </c:pt>
                <c:pt idx="39">
                  <c:v>1.039</c:v>
                </c:pt>
                <c:pt idx="40">
                  <c:v>1.037</c:v>
                </c:pt>
                <c:pt idx="41">
                  <c:v>1.035</c:v>
                </c:pt>
                <c:pt idx="42">
                  <c:v>1.033</c:v>
                </c:pt>
                <c:pt idx="43">
                  <c:v>1.031</c:v>
                </c:pt>
                <c:pt idx="44">
                  <c:v>1.03</c:v>
                </c:pt>
                <c:pt idx="45">
                  <c:v>1.028</c:v>
                </c:pt>
                <c:pt idx="46">
                  <c:v>1.026</c:v>
                </c:pt>
                <c:pt idx="47">
                  <c:v>1.025</c:v>
                </c:pt>
                <c:pt idx="48">
                  <c:v>1.024</c:v>
                </c:pt>
                <c:pt idx="49">
                  <c:v>1.022</c:v>
                </c:pt>
                <c:pt idx="50">
                  <c:v>1.021</c:v>
                </c:pt>
                <c:pt idx="51">
                  <c:v>1.02</c:v>
                </c:pt>
                <c:pt idx="52">
                  <c:v>1.019</c:v>
                </c:pt>
                <c:pt idx="53">
                  <c:v>1.018</c:v>
                </c:pt>
                <c:pt idx="54">
                  <c:v>1.017</c:v>
                </c:pt>
                <c:pt idx="55">
                  <c:v>1.016</c:v>
                </c:pt>
                <c:pt idx="56">
                  <c:v>1.015</c:v>
                </c:pt>
                <c:pt idx="57">
                  <c:v>1.014</c:v>
                </c:pt>
                <c:pt idx="58">
                  <c:v>1.013</c:v>
                </c:pt>
                <c:pt idx="59">
                  <c:v>1.013</c:v>
                </c:pt>
                <c:pt idx="60">
                  <c:v>1.012</c:v>
                </c:pt>
                <c:pt idx="61">
                  <c:v>1.011</c:v>
                </c:pt>
                <c:pt idx="62">
                  <c:v>1.011</c:v>
                </c:pt>
                <c:pt idx="63">
                  <c:v>1.01</c:v>
                </c:pt>
                <c:pt idx="64">
                  <c:v>1.01</c:v>
                </c:pt>
                <c:pt idx="65">
                  <c:v>1.009</c:v>
                </c:pt>
                <c:pt idx="66">
                  <c:v>1.009</c:v>
                </c:pt>
                <c:pt idx="67">
                  <c:v>1.008</c:v>
                </c:pt>
                <c:pt idx="68">
                  <c:v>1.008</c:v>
                </c:pt>
                <c:pt idx="69">
                  <c:v>1.007</c:v>
                </c:pt>
                <c:pt idx="70">
                  <c:v>1.007</c:v>
                </c:pt>
                <c:pt idx="71">
                  <c:v>1.007</c:v>
                </c:pt>
                <c:pt idx="72">
                  <c:v>1.006</c:v>
                </c:pt>
                <c:pt idx="73">
                  <c:v>1.006</c:v>
                </c:pt>
                <c:pt idx="74">
                  <c:v>1.006</c:v>
                </c:pt>
                <c:pt idx="75">
                  <c:v>1.005</c:v>
                </c:pt>
                <c:pt idx="76">
                  <c:v>1.005</c:v>
                </c:pt>
                <c:pt idx="77">
                  <c:v>1.005</c:v>
                </c:pt>
                <c:pt idx="78">
                  <c:v>1.004</c:v>
                </c:pt>
                <c:pt idx="79">
                  <c:v>1.004</c:v>
                </c:pt>
                <c:pt idx="80">
                  <c:v>1.004</c:v>
                </c:pt>
                <c:pt idx="81">
                  <c:v>1.004</c:v>
                </c:pt>
                <c:pt idx="82">
                  <c:v>1.004</c:v>
                </c:pt>
                <c:pt idx="83">
                  <c:v>1.003</c:v>
                </c:pt>
                <c:pt idx="84">
                  <c:v>1.003</c:v>
                </c:pt>
                <c:pt idx="85">
                  <c:v>1.003</c:v>
                </c:pt>
                <c:pt idx="86">
                  <c:v>1.003</c:v>
                </c:pt>
                <c:pt idx="87">
                  <c:v>1.003</c:v>
                </c:pt>
                <c:pt idx="88">
                  <c:v>1.003</c:v>
                </c:pt>
                <c:pt idx="89">
                  <c:v>1.002</c:v>
                </c:pt>
                <c:pt idx="90">
                  <c:v>1.002</c:v>
                </c:pt>
                <c:pt idx="91">
                  <c:v>1.002</c:v>
                </c:pt>
                <c:pt idx="92">
                  <c:v>1.002</c:v>
                </c:pt>
                <c:pt idx="93">
                  <c:v>1.002</c:v>
                </c:pt>
                <c:pt idx="94">
                  <c:v>1.002</c:v>
                </c:pt>
                <c:pt idx="95">
                  <c:v>1.002</c:v>
                </c:pt>
                <c:pt idx="96">
                  <c:v>1.002</c:v>
                </c:pt>
                <c:pt idx="97">
                  <c:v>1.002</c:v>
                </c:pt>
                <c:pt idx="98">
                  <c:v>1.001</c:v>
                </c:pt>
                <c:pt idx="99">
                  <c:v>1.001</c:v>
                </c:pt>
                <c:pt idx="100">
                  <c:v>1.001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D746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2"/>
          <c:min val="0.95"/>
        </c:scaling>
        <c:delete val="0"/>
        <c:axPos val="l"/>
        <c:majorGridlines>
          <c:spPr>
            <a:ln>
              <a:solidFill>
                <a:srgbClr val="EEE7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D746B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가이드</a:t>
            </a:r>
            <a:endParaRPr lang="ko-KR" altLang="en-US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5359" y="1674538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0184" y="1971932"/>
            <a:ext cx="3840480" cy="1399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정리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 방향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558803" y="18540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80CA0-0152-AFBE-492B-1DB0B212F3DD}"/>
              </a:ext>
            </a:extLst>
          </p:cNvPr>
          <p:cNvSpPr txBox="1"/>
          <p:nvPr/>
        </p:nvSpPr>
        <p:spPr>
          <a:xfrm>
            <a:off x="1705359" y="3429000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9F84C-44F8-E50F-B02B-B19B5918AE2E}"/>
              </a:ext>
            </a:extLst>
          </p:cNvPr>
          <p:cNvSpPr txBox="1"/>
          <p:nvPr/>
        </p:nvSpPr>
        <p:spPr>
          <a:xfrm>
            <a:off x="2210184" y="3767328"/>
            <a:ext cx="38404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요소와 묘사 단계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 : 길과 무대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UI 공통 원칙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인게임 HUD · 로비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강화 화면 · 판 결과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383A49-20C2-6444-EA90-520AAB3011AA}"/>
              </a:ext>
            </a:extLst>
          </p:cNvPr>
          <p:cNvSpPr/>
          <p:nvPr/>
        </p:nvSpPr>
        <p:spPr>
          <a:xfrm rot="5400000">
            <a:off x="1558803" y="3602736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1674538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아트 스타일 · 색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17P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2034362"/>
            <a:ext cx="38404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스타일 규칙 · 빛과 그림자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표현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에셋 제작 기준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사용처별 색 범위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구간별 색 · 등급색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1845701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3840480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연출 · 부록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27P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4178808"/>
            <a:ext cx="38404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폰트와 텍스트 색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부록 (제작 순서·레퍼런스)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4014215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- 로그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353312" y="1645920"/>
          <a:ext cx="948232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380744"/>
                <a:gridCol w="1426464"/>
                <a:gridCol w="1938528"/>
                <a:gridCol w="4096512"/>
              </a:tblGrid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아트 스타일·색·화면 구성·폰트·이펙트·필터·카메라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6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310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용어 정리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rade card">
            <a:extLst>
              <a:ext uri="{FF2B5EF4-FFF2-40B4-BE49-F238E27FC236}">
                <a16:creationId xmlns:a16="http://schemas.microsoft.com/office/drawing/2014/main" id="{9C7E9DC0-2095-6A26-BD26-794CF5456B81}"/>
              </a:ext>
            </a:extLst>
          </p:cNvPr>
          <p:cNvSpPr/>
          <p:nvPr/>
        </p:nvSpPr>
        <p:spPr>
          <a:xfrm>
            <a:off x="1161265" y="1805940"/>
            <a:ext cx="4572356" cy="3731463"/>
          </a:xfrm>
          <a:prstGeom prst="roundRect">
            <a:avLst>
              <a:gd name="adj" fmla="val 3380"/>
            </a:avLst>
          </a:prstGeom>
          <a:solidFill>
            <a:srgbClr val="FBF7EF"/>
          </a:solidFill>
          <a:ln w="9525">
            <a:solidFill>
              <a:srgbClr val="E7DFD2"/>
            </a:solidFill>
            <a:prstDash val="solid"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38143B22-1BE0-7C36-326A-403EA88AD6BE}"/>
              </a:ext>
            </a:extLst>
          </p:cNvPr>
          <p:cNvSpPr txBox="1"/>
          <p:nvPr/>
        </p:nvSpPr>
        <p:spPr>
          <a:xfrm>
            <a:off x="1527048" y="190537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묘사 단계 (D1~D5)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4B335B-9A92-0020-0EC8-28BFC8874457}"/>
              </a:ext>
            </a:extLst>
          </p:cNvPr>
          <p:cNvSpPr txBox="1"/>
          <p:nvPr/>
        </p:nvSpPr>
        <p:spPr>
          <a:xfrm>
            <a:off x="1282809" y="2632530"/>
            <a:ext cx="43117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요소를 플레이어에게 주는 의미에 따라 5단계로 나눈 것 : 쥐(D1) · 부서지는 것(D2) · 길이 되는 벽(D3) · 무대(D4) · UI(D5)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단계마다 색 수, 명암 단계, 디테일 허용치가 다름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 강도 단계(L0~L5)와 구분하기 위해 D를 붙임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grade card">
            <a:extLst>
              <a:ext uri="{FF2B5EF4-FFF2-40B4-BE49-F238E27FC236}">
                <a16:creationId xmlns:a16="http://schemas.microsoft.com/office/drawing/2014/main" id="{CBE441C2-7BAE-CC53-7A30-CA94A1FC90A6}"/>
              </a:ext>
            </a:extLst>
          </p:cNvPr>
          <p:cNvSpPr/>
          <p:nvPr/>
        </p:nvSpPr>
        <p:spPr>
          <a:xfrm>
            <a:off x="6458379" y="1805940"/>
            <a:ext cx="4572354" cy="3731461"/>
          </a:xfrm>
          <a:prstGeom prst="roundRect">
            <a:avLst>
              <a:gd name="adj" fmla="val 3380"/>
            </a:avLst>
          </a:prstGeom>
          <a:solidFill>
            <a:srgbClr val="FBF7EF"/>
          </a:solidFill>
          <a:ln w="9525">
            <a:solidFill>
              <a:srgbClr val="E7DFD2"/>
            </a:solidFill>
            <a:prstDash val="solid"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20A7A62-DFD3-C536-CC33-2C67A8E905E1}"/>
              </a:ext>
            </a:extLst>
          </p:cNvPr>
          <p:cNvSpPr txBox="1"/>
          <p:nvPr/>
        </p:nvSpPr>
        <p:spPr>
          <a:xfrm>
            <a:off x="6821424" y="190537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HSV (색상·채도·명도)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A33E2E-BB87-6930-1449-DF1A2255BEF8}"/>
              </a:ext>
            </a:extLst>
          </p:cNvPr>
          <p:cNvSpPr txBox="1"/>
          <p:nvPr/>
        </p:nvSpPr>
        <p:spPr>
          <a:xfrm>
            <a:off x="6603713" y="2632530"/>
            <a:ext cx="4305478" cy="237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 색상: 0~360°, 빨강→노랑→초록→파랑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 채도: 0~100, 낮을수록 탁하고 높을수록 선명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 명도: 0~100, 낮을수록 어둡고 높을수록 밝음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문서의 색 범위는 모두 HSV로 적음. 사용처마다 S·V 칸을 나눠 역할을 구분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- 비주얼 방향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1600200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한 줄 요약 : 조용한 연구소를 쥐 떼가 부수며 길을 넓혀 가는 모습을, 장난감 디오라마처럼 귀엽고 깔끔하게 보여줌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핵심 플레이 : 물건과 가구를 부숴 돈을 벌고, 벽을 부숴 맵을 넓히며 계단으로 가는 길을 찾음. 화면은 "무엇을 부수면 돈이고, 무엇을 부수면 길인가"에 먼저 답해야 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이 문서는 아트 제작 전에 정하는 기준 : 화면 구성, 그림체, 색, 폰트, 이펙트, 필터, 카메라. 모든 결정에 의도와 이유를 붙임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903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520440"/>
          <a:ext cx="978408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뜻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 문서에서 쓰이는 곳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돈과 길의 구분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부서지는 것 중 돈이 되는 것(물건·가구)과 길이 되는 것(벽)을 한눈에 구분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묘사 단계 D2/D3, 벽 색, 금 표현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난장판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화면에 쥐 30~70마리와 깨지는 것들이 동시에 있음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묘사 정도를 낮추고 색 역할을 나눔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귀엽고 깔끔하게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혼란스러워도 읽히고, 오래 켜둬도 피곤하지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파스텔, 외곽선 없음, 필터 최소화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디오라마처럼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위에서 내려다보는 작은 세계, 손으로 만지는 느낌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3/4 탑다운 카메라, 둥근 UI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화면 요소와 묘사 단계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1847088" cy="3703320"/>
          </a:xfrm>
          <a:prstGeom prst="roundRect">
            <a:avLst>
              <a:gd name="adj" fmla="val 7425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00200"/>
            <a:ext cx="162763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D1 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874519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"내 군대"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3584" y="2167128"/>
            <a:ext cx="1627632" cy="1463040"/>
          </a:xfrm>
          <a:prstGeom prst="roundRect">
            <a:avLst>
              <a:gd name="adj" fmla="val 6250"/>
            </a:avLst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749039"/>
            <a:ext cx="1627632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색 3~5, 명암 2단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실루엣 + 소품 1개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48px에서도 읽힘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18104" y="1508760"/>
            <a:ext cx="1847088" cy="3703320"/>
          </a:xfrm>
          <a:prstGeom prst="roundRect">
            <a:avLst>
              <a:gd name="adj" fmla="val 7425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00200"/>
            <a:ext cx="162763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D2 부서지는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1874519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"부수면 돈"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2167128"/>
            <a:ext cx="1627632" cy="1463040"/>
          </a:xfrm>
          <a:prstGeom prst="roundRect">
            <a:avLst>
              <a:gd name="adj" fmla="val 6250"/>
            </a:avLst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3749039"/>
            <a:ext cx="1627632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소품 + 가구 전부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색 3~6, 명암 3단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크기 = 가치 = 내구도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08760"/>
            <a:ext cx="1847088" cy="3703320"/>
          </a:xfrm>
          <a:prstGeom prst="roundRect">
            <a:avLst>
              <a:gd name="adj" fmla="val 7425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600200"/>
            <a:ext cx="162763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D3 길이 되는 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74519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"부수면 길"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2167128"/>
            <a:ext cx="1627632" cy="1463040"/>
          </a:xfrm>
          <a:prstGeom prst="roundRect">
            <a:avLst>
              <a:gd name="adj" fmla="val 6250"/>
            </a:avLst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39"/>
            <a:ext cx="1627632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밝은 벽 + 금 1줄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색 2 + 금 선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맞을수록 금이 늘어남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508760"/>
            <a:ext cx="1847088" cy="3703320"/>
          </a:xfrm>
          <a:prstGeom prst="roundRect">
            <a:avLst>
              <a:gd name="adj" fmla="val 7425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8" y="1600200"/>
            <a:ext cx="162763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D4 무대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1874519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"여기는 끝"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96328" y="2167128"/>
            <a:ext cx="1627632" cy="1463040"/>
          </a:xfrm>
          <a:prstGeom prst="roundRect">
            <a:avLst>
              <a:gd name="adj" fmla="val 6250"/>
            </a:avLst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328" y="3749039"/>
            <a:ext cx="1627632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바닥 + 부서지지 않는 벽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색 1~2, 명암 거의 없음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디테일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1508760"/>
            <a:ext cx="1847088" cy="3703320"/>
          </a:xfrm>
          <a:prstGeom prst="roundRect">
            <a:avLst>
              <a:gd name="adj" fmla="val 7425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1600200"/>
            <a:ext cx="162763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D5 UI 아이콘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874519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"정보"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2167128"/>
            <a:ext cx="1627632" cy="1463040"/>
          </a:xfrm>
          <a:prstGeom prst="roundRect">
            <a:avLst>
              <a:gd name="adj" fmla="val 6250"/>
            </a:avLst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3749039"/>
            <a:ext cx="1627632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면 1색 + 포인트 1색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64px 원본, 최소 28px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· 이모지 금지</a:t>
            </a:r>
          </a:p>
        </p:txBody>
      </p:sp>
      <p:sp>
        <p:nvSpPr>
          <p:cNvPr id="33" name="Oval 32"/>
          <p:cNvSpPr/>
          <p:nvPr/>
        </p:nvSpPr>
        <p:spPr>
          <a:xfrm>
            <a:off x="1355140" y="2670048"/>
            <a:ext cx="395020" cy="548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20100000">
            <a:off x="1289304" y="2593238"/>
            <a:ext cx="186537" cy="2194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88059" y="2483510"/>
            <a:ext cx="340156" cy="18653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31950" y="2593238"/>
            <a:ext cx="263347" cy="71323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53895" y="2653588"/>
            <a:ext cx="60350" cy="2743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96542" y="2653588"/>
            <a:ext cx="60350" cy="2743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18488" y="2450592"/>
            <a:ext cx="181051" cy="14813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18488" y="2395728"/>
            <a:ext cx="87782" cy="877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40433" y="2417673"/>
            <a:ext cx="43891" cy="438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783080" y="2516428"/>
            <a:ext cx="38404" cy="3840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28216" y="2483510"/>
            <a:ext cx="24688" cy="2468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95220" y="2990088"/>
            <a:ext cx="395020" cy="548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 rot="20100000">
            <a:off x="1929384" y="2913278"/>
            <a:ext cx="186537" cy="2194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28139" y="2803550"/>
            <a:ext cx="340156" cy="186537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72030" y="2913278"/>
            <a:ext cx="263347" cy="71323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093976" y="2973628"/>
            <a:ext cx="60350" cy="2743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36622" y="2973628"/>
            <a:ext cx="60350" cy="2743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258568" y="2770632"/>
            <a:ext cx="181051" cy="14813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58568" y="2715768"/>
            <a:ext cx="87782" cy="8778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80513" y="2737713"/>
            <a:ext cx="43891" cy="438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23160" y="2836468"/>
            <a:ext cx="38404" cy="3840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68296" y="2803550"/>
            <a:ext cx="24688" cy="2468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69540" y="2781604"/>
            <a:ext cx="164592" cy="27432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81328" y="3264408"/>
            <a:ext cx="329184" cy="4572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 rot="20100000">
            <a:off x="1426463" y="3200400"/>
            <a:ext cx="155448" cy="18288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08760" y="3108960"/>
            <a:ext cx="283464" cy="15544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45336" y="3200400"/>
            <a:ext cx="219456" cy="59436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63623" y="3250692"/>
            <a:ext cx="50292" cy="2286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82495" y="3250692"/>
            <a:ext cx="50292" cy="2286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784" y="3081528"/>
            <a:ext cx="150876" cy="123444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00784" y="3035808"/>
            <a:ext cx="73152" cy="7315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719072" y="3054096"/>
            <a:ext cx="36576" cy="36576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37943" y="3136392"/>
            <a:ext cx="32004" cy="3200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792224" y="3108960"/>
            <a:ext cx="20574" cy="2057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719072" y="2962656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09928" y="3044952"/>
            <a:ext cx="109728" cy="2286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9388" y="3381451"/>
            <a:ext cx="307238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454603" y="3058850"/>
            <a:ext cx="76809" cy="13825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443081" y="3035808"/>
            <a:ext cx="99852" cy="38404"/>
          </a:xfrm>
          <a:prstGeom prst="roundRect">
            <a:avLst>
              <a:gd name="adj" fmla="val 29999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70112" y="3151022"/>
            <a:ext cx="245790" cy="230428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93155" y="3250874"/>
            <a:ext cx="199704" cy="115214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416198" y="3181746"/>
            <a:ext cx="38404" cy="38404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755898" y="3387852"/>
            <a:ext cx="452628" cy="5029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770985" y="3196742"/>
            <a:ext cx="422452" cy="22128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760927" y="3106216"/>
            <a:ext cx="442569" cy="181051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31336" y="3126333"/>
            <a:ext cx="301752" cy="110642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31336" y="3307384"/>
            <a:ext cx="40233" cy="40233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921861" y="3307384"/>
            <a:ext cx="160934" cy="45262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251959" y="2809036"/>
            <a:ext cx="548640" cy="658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79392" y="2304288"/>
            <a:ext cx="493776" cy="54864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06824" y="2342692"/>
            <a:ext cx="438912" cy="13716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34255" y="2375611"/>
            <a:ext cx="109728" cy="104241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98848" y="2397556"/>
            <a:ext cx="76809" cy="82296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06824" y="2512771"/>
            <a:ext cx="438912" cy="13716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34255" y="2545689"/>
            <a:ext cx="109728" cy="104241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98848" y="2567635"/>
            <a:ext cx="76809" cy="82296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06824" y="2682849"/>
            <a:ext cx="438912" cy="13716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34255" y="2715768"/>
            <a:ext cx="109728" cy="104241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498848" y="2737713"/>
            <a:ext cx="76809" cy="82296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302812" y="2790748"/>
            <a:ext cx="855878" cy="658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368649" y="2560320"/>
            <a:ext cx="49377" cy="24688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43476" y="2560320"/>
            <a:ext cx="49377" cy="24688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319272" y="2494483"/>
            <a:ext cx="822960" cy="82296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19272" y="2395728"/>
            <a:ext cx="822960" cy="115214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212080" y="2167128"/>
            <a:ext cx="1627632" cy="14630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12080" y="2487168"/>
            <a:ext cx="320040" cy="288036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212080" y="2775204"/>
            <a:ext cx="320040" cy="35204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32120" y="2487168"/>
            <a:ext cx="987552" cy="288036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532120" y="2775204"/>
            <a:ext cx="987552" cy="35204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H="1">
            <a:off x="5846710" y="2775204"/>
            <a:ext cx="31053" cy="16002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846710" y="2935224"/>
            <a:ext cx="36294" cy="16002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6137535" y="2775204"/>
            <a:ext cx="36493" cy="10668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6119163" y="2881884"/>
            <a:ext cx="18372" cy="10668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119163" y="2988564"/>
            <a:ext cx="40495" cy="10668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025896" y="2487168"/>
            <a:ext cx="12137" cy="128016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038033" y="2615184"/>
            <a:ext cx="11740" cy="128016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6519672" y="2487168"/>
            <a:ext cx="320040" cy="288036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519672" y="2775204"/>
            <a:ext cx="320040" cy="35204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18657" y="3360420"/>
            <a:ext cx="296265" cy="4114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 rot="20100000">
            <a:off x="5669280" y="3302812"/>
            <a:ext cx="139903" cy="16459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743346" y="3220516"/>
            <a:ext cx="255117" cy="139903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776264" y="3302812"/>
            <a:ext cx="197510" cy="53492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792724" y="3348075"/>
            <a:ext cx="45262" cy="205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899708" y="3348075"/>
            <a:ext cx="45262" cy="205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916168" y="3195828"/>
            <a:ext cx="135788" cy="111099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16168" y="3154680"/>
            <a:ext cx="65836" cy="6583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932627" y="3171139"/>
            <a:ext cx="32918" cy="329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039612" y="3245205"/>
            <a:ext cx="28803" cy="2880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98464" y="3220516"/>
            <a:ext cx="18516" cy="1851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078931" y="3374136"/>
            <a:ext cx="263347" cy="3657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 rot="20100000">
            <a:off x="6035040" y="3322929"/>
            <a:ext cx="124358" cy="14630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100876" y="3249777"/>
            <a:ext cx="226771" cy="124358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130137" y="3322929"/>
            <a:ext cx="175564" cy="47548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144768" y="3363163"/>
            <a:ext cx="40233" cy="1828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239865" y="3363163"/>
            <a:ext cx="40233" cy="1828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54496" y="3227832"/>
            <a:ext cx="120700" cy="98755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254496" y="3191256"/>
            <a:ext cx="58521" cy="5852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269126" y="3205886"/>
            <a:ext cx="29260" cy="2926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364224" y="3271723"/>
            <a:ext cx="25603" cy="2560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327648" y="3249777"/>
            <a:ext cx="16459" cy="16459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196328" y="2167128"/>
            <a:ext cx="1627632" cy="14630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7467599" y="2670048"/>
            <a:ext cx="0" cy="96012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738872" y="2670048"/>
            <a:ext cx="0" cy="96012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010144" y="2670048"/>
            <a:ext cx="0" cy="96012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281416" y="2670048"/>
            <a:ext cx="0" cy="96012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52688" y="2670048"/>
            <a:ext cx="0" cy="96012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196328" y="2907791"/>
            <a:ext cx="1627632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196328" y="3145536"/>
            <a:ext cx="1627632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196328" y="3383280"/>
            <a:ext cx="1627632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196328" y="2167128"/>
            <a:ext cx="1627632" cy="226314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196328" y="2393442"/>
            <a:ext cx="1627632" cy="276606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ight Triangle 143"/>
          <p:cNvSpPr/>
          <p:nvPr/>
        </p:nvSpPr>
        <p:spPr>
          <a:xfrm>
            <a:off x="9272015" y="2670048"/>
            <a:ext cx="411480" cy="288036"/>
          </a:xfrm>
          <a:prstGeom prst="rtTriangl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498330" y="2855214"/>
            <a:ext cx="49377" cy="49377"/>
          </a:xfrm>
          <a:prstGeom prst="ellipse">
            <a:avLst/>
          </a:prstGeom>
          <a:solidFill>
            <a:srgbClr val="E3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580626" y="2793491"/>
            <a:ext cx="32918" cy="32918"/>
          </a:xfrm>
          <a:prstGeom prst="ellipse">
            <a:avLst/>
          </a:prstGeom>
          <a:solidFill>
            <a:srgbClr val="E3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9820655" y="2578608"/>
            <a:ext cx="347472" cy="4572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9875519" y="2670048"/>
            <a:ext cx="228600" cy="45720"/>
          </a:xfrm>
          <a:prstGeom prst="roundRect">
            <a:avLst>
              <a:gd name="adj" fmla="val 4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9875519" y="2770632"/>
            <a:ext cx="192024" cy="45720"/>
          </a:xfrm>
          <a:prstGeom prst="roundRect">
            <a:avLst>
              <a:gd name="adj" fmla="val 4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875519" y="2871216"/>
            <a:ext cx="155448" cy="45720"/>
          </a:xfrm>
          <a:prstGeom prst="roundRect">
            <a:avLst>
              <a:gd name="adj" fmla="val 4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049255" y="2916936"/>
            <a:ext cx="155448" cy="155448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323576" y="2734056"/>
            <a:ext cx="384048" cy="31089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296144" y="2624328"/>
            <a:ext cx="155448" cy="15544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552176" y="2624328"/>
            <a:ext cx="155448" cy="15544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424159" y="2834640"/>
            <a:ext cx="36576" cy="3657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570463" y="2834640"/>
            <a:ext cx="36576" cy="3657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33856" y="5349240"/>
            <a:ext cx="978408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D1 → D4로 갈수록 디테일을 줄이되, D3(길이 되는 벽)만 "금"이라는 디테일 하나를 더 가진다. 무대처럼 단순하지만 무대가 아니라는 표시다.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사람(연구원·경비원)과 고양이는 D1과 같은 묘사로 그리고, 쥐의 2~3배 크기 + 추격 중 위험색 표시로 구분한다.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묘사 단계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822960"/>
                <a:gridCol w="292608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대상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명암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디테일 규칙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D1 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주인공 군집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 3~5, 실루엣 + 소품 1개로 종 구분, 눈은 점 1개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30~70마리가 겹침. 디테일은 노이즈가 되고 실루엣만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D2 부서지는 것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소품 + 가구 전부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 = 가치 = 내구도. 가구는 파손 3단계(멀쩡·금·반파)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돈이 되는 대상이라 화면에서 가장 입체적. 크기만 보고 무엇을 노릴지 고름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D3 길이 되는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파괴 가능한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2단 + 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무대 벽보다 밝고 따뜻한 색, 처음부터 금 1줄, 맞을수록 금 증가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맵을 넓히는 핵심 대상. 금은 "부술 수 있다"는 가장 보편적인 신호. 물건 색과 겹치지 않아 돈이 아니라 길로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D4 무대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 + 부서지지 않는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0~1단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 격자 1종, 불가 벽은 장면에서 가장 어둡고 금 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어둡고 무거우면 "막힘"으로 읽힘. 방 경계가 또렷해져 길 찾기가 쉬워짐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D5 UI 아이콘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HUD·메뉴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 1색 + 포인트 1색, 64px 원본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이모지는 기기마다 모양이 달라 팔레트를 지킬 수 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위협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사람·고양이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D1과 같음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2~3배 크기, 추격 중에만 위험색 표시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평소엔 장애물, 추격할 때만 위험으로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5312664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디테일 순서 : D2 &gt; D1 &gt; D3 &gt; D4. 플레이어가 고르는 대상(D2)이 가장 많고, 무대(D4)가 가장 적다. D3는 무대와 같은 단순함에 금 하나만 더한다.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벽 : 길과 무대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00200"/>
            <a:ext cx="21945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C9745B"/>
                </a:solidFill>
                <a:latin typeface="Noto Sans KR"/>
                <a:ea typeface="Noto Sans KR"/>
              </a:rPr>
              <a:t>D3 길이 되는 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3584" y="1920240"/>
            <a:ext cx="2203704" cy="114300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53895" y="2057400"/>
            <a:ext cx="1783080" cy="30861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53895" y="2366010"/>
            <a:ext cx="1783080" cy="377190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021906" y="2366010"/>
            <a:ext cx="56068" cy="17145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21906" y="2537460"/>
            <a:ext cx="65531" cy="171450"/>
          </a:xfrm>
          <a:prstGeom prst="line">
            <a:avLst/>
          </a:prstGeom>
          <a:ln w="2540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43584" y="3154680"/>
            <a:ext cx="2240280" cy="1280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밝고 따뜻한 색 (S 10~20, V 84~94)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처음부터 금 1줄 → 맞을수록 금 증가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무너지면 잔해가 남고 너머 구역이 열림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94176" y="150876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600200"/>
            <a:ext cx="21945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4B4540"/>
                </a:solidFill>
                <a:latin typeface="Noto Sans KR"/>
                <a:ea typeface="Noto Sans KR"/>
              </a:rPr>
              <a:t>D4 부서지지 않는 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1920240"/>
            <a:ext cx="2203704" cy="114300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4215" y="2057400"/>
            <a:ext cx="1783080" cy="308610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4215" y="2366010"/>
            <a:ext cx="1783080" cy="377190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4" y="3154680"/>
            <a:ext cx="2240280" cy="1280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가장 어둡고 무거운 무채색 (S 5~12)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금·무늬 없음, 두께 일정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· 층의 바깥 테두리와 구역 경계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08760"/>
            <a:ext cx="465429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600200"/>
            <a:ext cx="4389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4B4540"/>
                </a:solidFill>
                <a:latin typeface="Noto Sans KR"/>
                <a:ea typeface="Noto Sans KR"/>
              </a:rPr>
              <a:t>벽 파손 3단계 + 열림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65960"/>
            <a:ext cx="1005840" cy="10972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2148840"/>
            <a:ext cx="822960" cy="24688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395728"/>
            <a:ext cx="822960" cy="301752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6754398" y="2395728"/>
            <a:ext cx="25878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54398" y="2532888"/>
            <a:ext cx="30245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55080" y="3127248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처음 (금 1줄)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8" y="1965960"/>
            <a:ext cx="1005840" cy="10972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07808" y="2148840"/>
            <a:ext cx="822960" cy="24688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07808" y="2395728"/>
            <a:ext cx="822960" cy="301752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7869966" y="2395728"/>
            <a:ext cx="25878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69966" y="2532888"/>
            <a:ext cx="30245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112320" y="2395728"/>
            <a:ext cx="30412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097011" y="2487168"/>
            <a:ext cx="15309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97011" y="2578608"/>
            <a:ext cx="33745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19288" y="2148840"/>
            <a:ext cx="10114" cy="109728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29402" y="2258568"/>
            <a:ext cx="9784" cy="109728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70648" y="3127248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맞는 중 (금 증가)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31936" y="1965960"/>
            <a:ext cx="1005840" cy="10972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23376" y="2148840"/>
            <a:ext cx="822960" cy="24688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23376" y="2395728"/>
            <a:ext cx="822960" cy="301752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8985534" y="2395728"/>
            <a:ext cx="25877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85534" y="2532888"/>
            <a:ext cx="30245" cy="13716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227888" y="2395728"/>
            <a:ext cx="30412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212579" y="2487168"/>
            <a:ext cx="15309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12579" y="2578608"/>
            <a:ext cx="33745" cy="91440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34855" y="2148840"/>
            <a:ext cx="10115" cy="109728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44970" y="2258568"/>
            <a:ext cx="9784" cy="109728"/>
          </a:xfrm>
          <a:prstGeom prst="line">
            <a:avLst/>
          </a:prstGeom>
          <a:ln w="22859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>
            <a:off x="8929115" y="2313432"/>
            <a:ext cx="411480" cy="384048"/>
          </a:xfrm>
          <a:prstGeom prst="triangle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7" y="2631643"/>
            <a:ext cx="65836" cy="5486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1500000">
            <a:off x="9027871" y="2664561"/>
            <a:ext cx="65836" cy="5486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3000000">
            <a:off x="9167774" y="2631643"/>
            <a:ext cx="65836" cy="5486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4500000">
            <a:off x="9307677" y="2664561"/>
            <a:ext cx="65836" cy="5486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5" y="3127248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무너짐 직전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47504" y="1965960"/>
            <a:ext cx="1005840" cy="10972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57232" y="2560320"/>
            <a:ext cx="91440" cy="6400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1800000">
            <a:off x="10012680" y="2615184"/>
            <a:ext cx="91440" cy="6400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3600000">
            <a:off x="10168128" y="2560320"/>
            <a:ext cx="91440" cy="6400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5400000">
            <a:off x="10323576" y="2615184"/>
            <a:ext cx="91440" cy="6400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7200000">
            <a:off x="10479024" y="2560320"/>
            <a:ext cx="91440" cy="64008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85248" y="2468880"/>
            <a:ext cx="329184" cy="4572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 rot="20100000">
            <a:off x="9930384" y="2404872"/>
            <a:ext cx="155448" cy="18288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12680" y="2313432"/>
            <a:ext cx="283464" cy="15544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49256" y="2404872"/>
            <a:ext cx="219456" cy="5943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67544" y="2455164"/>
            <a:ext cx="50292" cy="2286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186415" y="2455164"/>
            <a:ext cx="50292" cy="2286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204704" y="2286000"/>
            <a:ext cx="150876" cy="12344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204704" y="2240280"/>
            <a:ext cx="73152" cy="7315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222992" y="2258568"/>
            <a:ext cx="36576" cy="36576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341863" y="2340864"/>
            <a:ext cx="32004" cy="3200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296144" y="2313432"/>
            <a:ext cx="20574" cy="2057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01784" y="3127248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열림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73368" y="3520440"/>
            <a:ext cx="443484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금이 늘어나는 정도 = 남은 내구도. 숫자 체력바를 따로 띄우지 않음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무너지면 너머 구역의 가림이 걷히며 새 방이 드러남 (필터·카메라 장 참고)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33856" y="4572000"/>
            <a:ext cx="978408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80160" y="4681728"/>
            <a:ext cx="2926080" cy="1572768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62456" y="4764024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693143" y="5110769"/>
            <a:ext cx="49743" cy="621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711797" y="5058538"/>
            <a:ext cx="12435" cy="22384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709932" y="5054807"/>
            <a:ext cx="16166" cy="6217"/>
          </a:xfrm>
          <a:prstGeom prst="roundRect">
            <a:avLst>
              <a:gd name="adj" fmla="val 204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698117" y="5073461"/>
            <a:ext cx="39794" cy="37307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701848" y="5089628"/>
            <a:ext cx="32333" cy="1865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5579" y="5078435"/>
            <a:ext cx="6217" cy="621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482560" y="5132858"/>
            <a:ext cx="54864" cy="91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482560" y="5050562"/>
            <a:ext cx="54864" cy="86868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482560" y="5050562"/>
            <a:ext cx="54864" cy="1097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489875" y="5068850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525537" y="5068850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489875" y="5081651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525537" y="5081651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489875" y="5094453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525537" y="5094453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489875" y="5107254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25537" y="5107254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89875" y="5120056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525537" y="5120056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0647" y="5254274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 rot="20100000">
            <a:off x="1647480" y="5238912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667231" y="5216967"/>
            <a:ext cx="68031" cy="37307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676009" y="5238912"/>
            <a:ext cx="52669" cy="14264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713317" y="5210383"/>
            <a:ext cx="36210" cy="29626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713317" y="5199410"/>
            <a:ext cx="17556" cy="17556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746235" y="5223551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735262" y="5216967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16494" y="5256482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 rot="20100000">
            <a:off x="1503327" y="5241120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523078" y="5219174"/>
            <a:ext cx="68031" cy="37307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31856" y="5241120"/>
            <a:ext cx="52669" cy="14264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69163" y="5212591"/>
            <a:ext cx="36210" cy="2962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569163" y="5201618"/>
            <a:ext cx="17556" cy="1755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602082" y="5225758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91109" y="5219174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62456" y="5509260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513615" y="5818092"/>
            <a:ext cx="75712" cy="841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516139" y="5786125"/>
            <a:ext cx="70664" cy="3701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514456" y="5770982"/>
            <a:ext cx="74029" cy="3028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526234" y="5774347"/>
            <a:ext cx="50474" cy="1850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526234" y="5804632"/>
            <a:ext cx="6729" cy="672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541376" y="5804632"/>
            <a:ext cx="26919" cy="7571"/>
          </a:xfrm>
          <a:prstGeom prst="roundRect">
            <a:avLst>
              <a:gd name="adj" fmla="val 276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769280" y="5812263"/>
            <a:ext cx="75712" cy="841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771804" y="5780296"/>
            <a:ext cx="70664" cy="3701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770121" y="5765153"/>
            <a:ext cx="74029" cy="3028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781899" y="5768518"/>
            <a:ext cx="50474" cy="1850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781899" y="5798803"/>
            <a:ext cx="6729" cy="672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797041" y="5798803"/>
            <a:ext cx="26919" cy="7571"/>
          </a:xfrm>
          <a:prstGeom prst="roundRect">
            <a:avLst>
              <a:gd name="adj" fmla="val 276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834772" y="5975565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 rot="20100000">
            <a:off x="1821605" y="5960203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841356" y="5938258"/>
            <a:ext cx="68031" cy="3730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50134" y="5960203"/>
            <a:ext cx="52669" cy="14264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887442" y="5931674"/>
            <a:ext cx="36210" cy="2962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887442" y="5920701"/>
            <a:ext cx="17556" cy="1755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920360" y="5944841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909387" y="5938258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753246" y="5926440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 rot="20100000">
            <a:off x="1740079" y="5911078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759830" y="5889132"/>
            <a:ext cx="68031" cy="37307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768608" y="5911078"/>
            <a:ext cx="52669" cy="14264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805916" y="5882548"/>
            <a:ext cx="36210" cy="29626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805916" y="5871576"/>
            <a:ext cx="17556" cy="17556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838834" y="5895716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827861" y="5889132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310384" y="4764024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536805" y="5116221"/>
            <a:ext cx="75712" cy="841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539329" y="5084253"/>
            <a:ext cx="70664" cy="3701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537646" y="5069111"/>
            <a:ext cx="74029" cy="3028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549424" y="5072476"/>
            <a:ext cx="50474" cy="1850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549424" y="5102761"/>
            <a:ext cx="6729" cy="672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2564566" y="5102761"/>
            <a:ext cx="26919" cy="7571"/>
          </a:xfrm>
          <a:prstGeom prst="roundRect">
            <a:avLst>
              <a:gd name="adj" fmla="val 276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767160" y="5072927"/>
            <a:ext cx="54864" cy="91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767160" y="4990631"/>
            <a:ext cx="54864" cy="86868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67160" y="4990631"/>
            <a:ext cx="54864" cy="1097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74475" y="5008919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810137" y="5008919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774475" y="5021721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810137" y="5021721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774475" y="5034522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810137" y="5034522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774475" y="5047324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810137" y="5047324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774475" y="5060126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10137" y="5060126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456901" y="5146920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 rot="20100000">
            <a:off x="2443734" y="5131558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463485" y="5109613"/>
            <a:ext cx="68031" cy="37307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472263" y="5131558"/>
            <a:ext cx="52669" cy="14264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509570" y="5103029"/>
            <a:ext cx="36210" cy="29626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509570" y="5092056"/>
            <a:ext cx="17556" cy="17556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542489" y="5116196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531516" y="5109613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750651" y="5210412"/>
            <a:ext cx="79004" cy="1097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 rot="20100000">
            <a:off x="2737484" y="5195050"/>
            <a:ext cx="37307" cy="4572"/>
          </a:xfrm>
          <a:prstGeom prst="roundRect">
            <a:avLst>
              <a:gd name="adj" fmla="val 2399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2757235" y="5173104"/>
            <a:ext cx="68031" cy="37307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766013" y="5195050"/>
            <a:ext cx="52669" cy="14264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803321" y="5166520"/>
            <a:ext cx="36210" cy="29626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803321" y="5155548"/>
            <a:ext cx="17556" cy="17556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836239" y="5179688"/>
            <a:ext cx="7680" cy="7680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825266" y="5173104"/>
            <a:ext cx="4937" cy="4937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310384" y="5509260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2791808" y="5813067"/>
            <a:ext cx="49743" cy="621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2810462" y="5760836"/>
            <a:ext cx="12435" cy="22384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2808596" y="5757106"/>
            <a:ext cx="16166" cy="6217"/>
          </a:xfrm>
          <a:prstGeom prst="roundRect">
            <a:avLst>
              <a:gd name="adj" fmla="val 204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796782" y="5775759"/>
            <a:ext cx="39794" cy="37307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800513" y="5791926"/>
            <a:ext cx="32333" cy="1865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804244" y="5780734"/>
            <a:ext cx="6217" cy="621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797119" y="5671606"/>
            <a:ext cx="54864" cy="91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797119" y="5589310"/>
            <a:ext cx="54864" cy="86868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797119" y="5589310"/>
            <a:ext cx="54864" cy="1097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804434" y="5607598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840095" y="5607598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804434" y="5620400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840095" y="5620400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2804434" y="5633201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840095" y="5633201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804434" y="5646003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840095" y="5646003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804434" y="5658804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840095" y="5658804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258312" y="4764024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509097" y="5013848"/>
            <a:ext cx="75712" cy="841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3511620" y="4981880"/>
            <a:ext cx="70664" cy="3701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509938" y="4966738"/>
            <a:ext cx="74029" cy="3028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3521715" y="4970103"/>
            <a:ext cx="50474" cy="1850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3521715" y="5000388"/>
            <a:ext cx="6729" cy="672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3536858" y="5000388"/>
            <a:ext cx="26919" cy="7571"/>
          </a:xfrm>
          <a:prstGeom prst="roundRect">
            <a:avLst>
              <a:gd name="adj" fmla="val 276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755941" y="4987413"/>
            <a:ext cx="49743" cy="621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3774595" y="4935182"/>
            <a:ext cx="12435" cy="22384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3772730" y="4931451"/>
            <a:ext cx="16166" cy="6217"/>
          </a:xfrm>
          <a:prstGeom prst="roundRect">
            <a:avLst>
              <a:gd name="adj" fmla="val 204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3760915" y="4950105"/>
            <a:ext cx="39794" cy="37307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3764646" y="4966272"/>
            <a:ext cx="32333" cy="1865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3768377" y="4955080"/>
            <a:ext cx="6217" cy="621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58312" y="5509260"/>
            <a:ext cx="865632" cy="6629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3864254" y="5641848"/>
            <a:ext cx="173126" cy="331470"/>
          </a:xfrm>
          <a:prstGeom prst="roundRect">
            <a:avLst>
              <a:gd name="adj" fmla="val 15845"/>
            </a:avLst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3645414" y="5723563"/>
            <a:ext cx="54864" cy="91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645414" y="5641267"/>
            <a:ext cx="54864" cy="86868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645414" y="5641267"/>
            <a:ext cx="54864" cy="1097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652729" y="5659555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688391" y="5659555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652729" y="5672356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3688391" y="5672356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652729" y="5685158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688391" y="5685158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652729" y="5697960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3688391" y="5697960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652729" y="5710761"/>
            <a:ext cx="31089" cy="5486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3688391" y="5710761"/>
            <a:ext cx="4572" cy="45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3672786" y="5774791"/>
            <a:ext cx="75712" cy="841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3675309" y="5742823"/>
            <a:ext cx="70664" cy="3701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673627" y="5727681"/>
            <a:ext cx="74029" cy="3028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3685404" y="5731046"/>
            <a:ext cx="50474" cy="1850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3685404" y="5761331"/>
            <a:ext cx="6729" cy="672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3700547" y="5761331"/>
            <a:ext cx="26919" cy="7571"/>
          </a:xfrm>
          <a:prstGeom prst="roundRect">
            <a:avLst>
              <a:gd name="adj" fmla="val 276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228088" y="4962906"/>
            <a:ext cx="82296" cy="2651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176016" y="4896612"/>
            <a:ext cx="82296" cy="178993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176016" y="5075605"/>
            <a:ext cx="82296" cy="218770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 flipH="1">
            <a:off x="3202231" y="5075605"/>
            <a:ext cx="2588" cy="99441"/>
          </a:xfrm>
          <a:prstGeom prst="line">
            <a:avLst/>
          </a:prstGeom>
          <a:ln w="16573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3202231" y="5175046"/>
            <a:ext cx="3025" cy="99441"/>
          </a:xfrm>
          <a:prstGeom prst="line">
            <a:avLst/>
          </a:prstGeom>
          <a:ln w="16573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2228088" y="5641848"/>
            <a:ext cx="82296" cy="178993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228088" y="5820841"/>
            <a:ext cx="82296" cy="218770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 flipH="1">
            <a:off x="2254303" y="5820841"/>
            <a:ext cx="2588" cy="99441"/>
          </a:xfrm>
          <a:prstGeom prst="line">
            <a:avLst/>
          </a:prstGeom>
          <a:ln w="16573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2254303" y="5920282"/>
            <a:ext cx="3025" cy="99441"/>
          </a:xfrm>
          <a:prstGeom prst="line">
            <a:avLst/>
          </a:prstGeom>
          <a:ln w="16573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1622145" y="5426964"/>
            <a:ext cx="346252" cy="8229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310384" y="5509260"/>
            <a:ext cx="865632" cy="662940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3258312" y="4764024"/>
            <a:ext cx="865632" cy="662940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3258312" y="5509260"/>
            <a:ext cx="865632" cy="662940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434840" y="4709160"/>
            <a:ext cx="6309360" cy="1554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층 전체에서 보이는 모습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· 어두운 테두리(D4) 안에서 밝은 벽(D3)만 "열 수 있는 문"처럼 튀어 보임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· 이미 뚫린 곳은 바닥색으로 이어지고, 아직 안 간 방은 어둡게 가려짐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· 플레이어는 지도를 펼치지 않아도 "밝은 벽 = 다음 목표"를 바로 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아트 스타일 - 스타일 규칙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43000" y="150876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0280" y="2514600"/>
            <a:ext cx="822960" cy="12801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691640"/>
            <a:ext cx="731520" cy="822960"/>
          </a:xfrm>
          <a:prstGeom prst="roundRect">
            <a:avLst>
              <a:gd name="adj" fmla="val 175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16916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B5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24912"/>
            <a:ext cx="2926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6F8A6B"/>
                </a:solidFill>
                <a:latin typeface="Noto Sans KR"/>
                <a:ea typeface="Noto Sans KR"/>
              </a:rPr>
              <a:t>O  외곽선 없음 · 접지 그림자 1개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1691640"/>
            <a:ext cx="731520" cy="822960"/>
          </a:xfrm>
          <a:prstGeom prst="roundRect">
            <a:avLst>
              <a:gd name="adj" fmla="val 17500"/>
            </a:avLst>
          </a:prstGeom>
          <a:solidFill>
            <a:srgbClr val="8FB3C7"/>
          </a:solidFill>
          <a:ln w="50800">
            <a:solidFill>
              <a:srgbClr val="3C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724912"/>
            <a:ext cx="2926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C9745B"/>
                </a:solidFill>
                <a:latin typeface="Noto Sans KR"/>
                <a:ea typeface="Noto Sans KR"/>
              </a:rPr>
              <a:t>X  검은 외곽선 (만화·셀 스타일)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50876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1691640"/>
            <a:ext cx="731520" cy="822960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E8F4FF"/>
              </a:gs>
              <a:gs pos="100000">
                <a:srgbClr val="1F3D52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79408" y="178308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2926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C9745B"/>
                </a:solidFill>
                <a:latin typeface="Noto Sans KR"/>
                <a:ea typeface="Noto Sans KR"/>
              </a:rPr>
              <a:t>X  그라데이션 · 반사광 · 텍스처</a:t>
            </a:r>
          </a:p>
        </p:txBody>
      </p:sp>
      <p:graphicFrame>
        <p:nvGraphicFramePr>
          <p:cNvPr id="914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291840"/>
          <a:ext cx="978408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383280"/>
                <a:gridCol w="53035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규칙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외곽선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쓰지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수십 마리가 겹치면 선이 화면을 뒤덮음. 면의 명도 차이로 형태를 구분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단색 면. 그라데이션·텍스처·반사광 금지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같은 대상이 위치마다 다른 색으로 읽히면 색 역할 구분이 무너짐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금(크랙)과 파손 표현에만 사용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선이 귀하면 금 하나만으로 "부술 수 있는 벽"이 바로 눈에 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모서리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형태를 둥글게 (UI 반경 22px)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위험은 색으로만 표시하므로 형태는 모두 순하게 맞춤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3/4 탑다운, 세로 압축 0.85 (약 58°)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바닥이 넓게 보여 쥐 떼가 퍼지는 모습과 벽 너머로 이어지는 길이 함께 보임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아트 스타일 - 빛과 그림자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47548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45920"/>
            <a:ext cx="4389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광원 : 화면 위쪽 고정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1965960"/>
            <a:ext cx="0" cy="365760"/>
          </a:xfrm>
          <a:prstGeom prst="line">
            <a:avLst/>
          </a:prstGeom>
          <a:ln w="25400">
            <a:solidFill>
              <a:srgbClr val="E6B3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1965960"/>
            <a:ext cx="0" cy="365760"/>
          </a:xfrm>
          <a:prstGeom prst="line">
            <a:avLst/>
          </a:prstGeom>
          <a:ln w="25400">
            <a:solidFill>
              <a:srgbClr val="E6B3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1965960"/>
            <a:ext cx="0" cy="365760"/>
          </a:xfrm>
          <a:prstGeom prst="line">
            <a:avLst/>
          </a:prstGeom>
          <a:ln w="25400">
            <a:solidFill>
              <a:srgbClr val="E6B3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83080" y="4434840"/>
            <a:ext cx="1828800" cy="27432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2468880"/>
            <a:ext cx="1737360" cy="1965960"/>
          </a:xfrm>
          <a:prstGeom prst="roundRect">
            <a:avLst>
              <a:gd name="adj" fmla="val 9473"/>
            </a:avLst>
          </a:prstGeom>
          <a:solidFill>
            <a:srgbClr val="C98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2468880"/>
            <a:ext cx="1737360" cy="548640"/>
          </a:xfrm>
          <a:prstGeom prst="roundRect">
            <a:avLst>
              <a:gd name="adj" fmla="val 26666"/>
            </a:avLst>
          </a:prstGeom>
          <a:solidFill>
            <a:srgbClr val="DDA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977639"/>
            <a:ext cx="1737360" cy="457200"/>
          </a:xfrm>
          <a:prstGeom prst="roundRect">
            <a:avLst>
              <a:gd name="adj" fmla="val 32000"/>
            </a:avLst>
          </a:prstGeom>
          <a:solidFill>
            <a:srgbClr val="A96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611880" y="2761488"/>
            <a:ext cx="182880" cy="0"/>
          </a:xfrm>
          <a:prstGeom prst="line">
            <a:avLst/>
          </a:prstGeom>
          <a:ln w="9525">
            <a:solidFill>
              <a:srgbClr val="7D7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22191" y="2651760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윗면 : 명도 +12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1880" y="3493008"/>
            <a:ext cx="182880" cy="0"/>
          </a:xfrm>
          <a:prstGeom prst="line">
            <a:avLst/>
          </a:prstGeom>
          <a:ln w="9525">
            <a:solidFill>
              <a:srgbClr val="7D7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22191" y="3383280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기본 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4224528"/>
            <a:ext cx="182880" cy="0"/>
          </a:xfrm>
          <a:prstGeom prst="line">
            <a:avLst/>
          </a:prstGeom>
          <a:ln w="9525">
            <a:solidFill>
              <a:srgbClr val="7D7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22191" y="4114800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아랫면 : 명도 −15, 채도 +5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4608576"/>
            <a:ext cx="182880" cy="0"/>
          </a:xfrm>
          <a:prstGeom prst="line">
            <a:avLst/>
          </a:prstGeom>
          <a:ln w="9525">
            <a:solidFill>
              <a:srgbClr val="7D7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22191" y="4498848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그림자 : 먹색 18%, 높이 = 폭의 22%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08760"/>
            <a:ext cx="4791456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45920"/>
            <a:ext cx="4389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단계별 명암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76272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D1 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103120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8C7A6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66760" y="2103120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6E5E51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176272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>
                <a:solidFill>
                  <a:srgbClr val="C9745B"/>
                </a:solidFill>
                <a:latin typeface="Noto Sans KR"/>
                <a:ea typeface="Noto Sans KR"/>
              </a:rPr>
              <a:t>2단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798064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D2 부서지는 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2724912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DCC3A3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66760" y="2724912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C8A27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2724912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A88660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798064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>
                <a:solidFill>
                  <a:srgbClr val="C9745B"/>
                </a:solidFill>
                <a:latin typeface="Noto Sans KR"/>
                <a:ea typeface="Noto Sans KR"/>
              </a:rPr>
              <a:t>3단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419856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D3 길이 되는 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3346704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D9C7A8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3346704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E8DCC4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8122051" y="3392424"/>
            <a:ext cx="16109" cy="155448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106233" y="3547872"/>
            <a:ext cx="15818" cy="155448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509760" y="3419856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>
                <a:solidFill>
                  <a:srgbClr val="C9745B"/>
                </a:solidFill>
                <a:latin typeface="Noto Sans KR"/>
                <a:ea typeface="Noto Sans KR"/>
              </a:rPr>
              <a:t>2단+금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041648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D4 무대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968496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EEF0EC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66760" y="3968496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9C968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4041648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>
                <a:solidFill>
                  <a:srgbClr val="C9745B"/>
                </a:solidFill>
                <a:latin typeface="Noto Sans KR"/>
                <a:ea typeface="Noto Sans KR"/>
              </a:rPr>
              <a:t>0~1단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663440"/>
            <a:ext cx="1463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4B4540"/>
                </a:solidFill>
                <a:latin typeface="Noto Sans KR"/>
                <a:ea typeface="Noto Sans KR"/>
              </a:rPr>
              <a:t>D5 아이콘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590288"/>
            <a:ext cx="438912" cy="402336"/>
          </a:xfrm>
          <a:prstGeom prst="roundRect">
            <a:avLst>
              <a:gd name="adj" fmla="val 15909"/>
            </a:avLst>
          </a:prstGeom>
          <a:solidFill>
            <a:srgbClr val="F2C14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4663440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1">
                <a:solidFill>
                  <a:srgbClr val="C9745B"/>
                </a:solidFill>
                <a:latin typeface="Noto Sans KR"/>
                <a:ea typeface="Noto Sans KR"/>
              </a:rPr>
              <a:t>1단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5486400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광원을 고정하면 아티스트마다 그림자 방향이 달라지는 일이 없고, 내려다보는 시점과도 맞음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발밑 타원 그림자는 바닥에 붙었는지, 공중에 떴는지(슈퍼점프·튕겨나감)를 알려주는 유일한 단서라 쥐·물건·가구에 모두 넣음. 벽은 바닥에 붙어 있으므로 그림자 없음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아트 스타일 - 파괴 표현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9784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2743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4B4540"/>
                </a:solidFill>
                <a:latin typeface="Noto Sans KR"/>
                <a:ea typeface="Noto Sans KR"/>
              </a:rPr>
              <a:t>가구 (D2)</a:t>
            </a:r>
          </a:p>
        </p:txBody>
      </p:sp>
      <p:sp>
        <p:nvSpPr>
          <p:cNvPr id="10" name="Oval 9"/>
          <p:cNvSpPr/>
          <p:nvPr/>
        </p:nvSpPr>
        <p:spPr>
          <a:xfrm>
            <a:off x="1441094" y="2675534"/>
            <a:ext cx="1141171" cy="8778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8876" y="2368296"/>
            <a:ext cx="65836" cy="32918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8646" y="2368296"/>
            <a:ext cx="65836" cy="32918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280513"/>
            <a:ext cx="1097280" cy="10972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2148840"/>
            <a:ext cx="1097280" cy="153619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멀쩡</a:t>
            </a:r>
          </a:p>
        </p:txBody>
      </p:sp>
      <p:sp>
        <p:nvSpPr>
          <p:cNvPr id="16" name="Oval 15"/>
          <p:cNvSpPr/>
          <p:nvPr/>
        </p:nvSpPr>
        <p:spPr>
          <a:xfrm>
            <a:off x="3041294" y="2675534"/>
            <a:ext cx="1141171" cy="8778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29076" y="2368296"/>
            <a:ext cx="65836" cy="32918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8846" y="2368296"/>
            <a:ext cx="65836" cy="32918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2280513"/>
            <a:ext cx="1097280" cy="10972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148840"/>
            <a:ext cx="1097280" cy="153619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3407167" y="2148840"/>
            <a:ext cx="40121" cy="109728"/>
          </a:xfrm>
          <a:prstGeom prst="line">
            <a:avLst/>
          </a:prstGeom>
          <a:ln w="15875">
            <a:solidFill>
              <a:srgbClr val="7A5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07167" y="2258568"/>
            <a:ext cx="78244" cy="109728"/>
          </a:xfrm>
          <a:prstGeom prst="line">
            <a:avLst/>
          </a:prstGeom>
          <a:ln w="15875">
            <a:solidFill>
              <a:srgbClr val="7A5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31336" y="2148840"/>
            <a:ext cx="40031" cy="98755"/>
          </a:xfrm>
          <a:prstGeom prst="line">
            <a:avLst/>
          </a:prstGeom>
          <a:ln w="15875">
            <a:solidFill>
              <a:srgbClr val="7A5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870647" y="2247595"/>
            <a:ext cx="720" cy="98755"/>
          </a:xfrm>
          <a:prstGeom prst="line">
            <a:avLst/>
          </a:prstGeom>
          <a:ln w="15875">
            <a:solidFill>
              <a:srgbClr val="7A5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63240" y="3108960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금</a:t>
            </a:r>
          </a:p>
        </p:txBody>
      </p:sp>
      <p:sp>
        <p:nvSpPr>
          <p:cNvPr id="26" name="Oval 25"/>
          <p:cNvSpPr/>
          <p:nvPr/>
        </p:nvSpPr>
        <p:spPr>
          <a:xfrm>
            <a:off x="4641494" y="2675534"/>
            <a:ext cx="1141171" cy="8778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29276" y="2478024"/>
            <a:ext cx="65836" cy="219456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720000">
            <a:off x="4663440" y="2368296"/>
            <a:ext cx="548640" cy="13167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520000">
            <a:off x="5212079" y="2434132"/>
            <a:ext cx="526694" cy="13167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28031" y="2631643"/>
            <a:ext cx="76809" cy="548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00000">
            <a:off x="5047488" y="2631643"/>
            <a:ext cx="76809" cy="548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3600000">
            <a:off x="5266944" y="2631643"/>
            <a:ext cx="76809" cy="548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5400000">
            <a:off x="5486400" y="2631643"/>
            <a:ext cx="76809" cy="548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108960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반파 → 부서짐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06040" y="2377440"/>
            <a:ext cx="411480" cy="0"/>
          </a:xfrm>
          <a:prstGeom prst="line">
            <a:avLst/>
          </a:prstGeom>
          <a:ln w="12700">
            <a:solidFill>
              <a:srgbClr val="7D74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2377440"/>
            <a:ext cx="411480" cy="0"/>
          </a:xfrm>
          <a:prstGeom prst="line">
            <a:avLst/>
          </a:prstGeom>
          <a:ln w="12700">
            <a:solidFill>
              <a:srgbClr val="7D74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1600200"/>
            <a:ext cx="2743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4B4540"/>
                </a:solidFill>
                <a:latin typeface="Noto Sans KR"/>
                <a:ea typeface="Noto Sans KR"/>
              </a:rPr>
              <a:t>작은 소품 (D2)</a:t>
            </a:r>
          </a:p>
        </p:txBody>
      </p:sp>
      <p:sp>
        <p:nvSpPr>
          <p:cNvPr id="38" name="Oval 37"/>
          <p:cNvSpPr/>
          <p:nvPr/>
        </p:nvSpPr>
        <p:spPr>
          <a:xfrm>
            <a:off x="6656832" y="2761488"/>
            <a:ext cx="585216" cy="7315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76288" y="2147011"/>
            <a:ext cx="146304" cy="263347"/>
          </a:xfrm>
          <a:prstGeom prst="roundRect">
            <a:avLst>
              <a:gd name="adj" fmla="val 19999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4342" y="2103120"/>
            <a:ext cx="190195" cy="73152"/>
          </a:xfrm>
          <a:prstGeom prst="roundRect">
            <a:avLst>
              <a:gd name="adj" fmla="val 29999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15353" y="2322576"/>
            <a:ext cx="468172" cy="438912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9244" y="2512771"/>
            <a:ext cx="380390" cy="219456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03136" y="2381097"/>
            <a:ext cx="73152" cy="73152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452360" y="2468880"/>
            <a:ext cx="411480" cy="0"/>
          </a:xfrm>
          <a:prstGeom prst="line">
            <a:avLst/>
          </a:prstGeom>
          <a:ln w="12700">
            <a:solidFill>
              <a:srgbClr val="7D74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>
            <a:off x="8046720" y="2194560"/>
            <a:ext cx="146304" cy="128016"/>
          </a:xfrm>
          <a:prstGeom prst="triangl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2400000">
            <a:off x="8275320" y="2331720"/>
            <a:ext cx="146304" cy="128016"/>
          </a:xfrm>
          <a:prstGeom prst="triangl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4800000">
            <a:off x="8138160" y="2514600"/>
            <a:ext cx="146304" cy="128016"/>
          </a:xfrm>
          <a:prstGeom prst="triangle">
            <a:avLst/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7200000">
            <a:off x="8412480" y="2560320"/>
            <a:ext cx="146304" cy="128016"/>
          </a:xfrm>
          <a:prstGeom prst="triangl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9600000">
            <a:off x="8549640" y="2286000"/>
            <a:ext cx="146304" cy="128016"/>
          </a:xfrm>
          <a:prstGeom prst="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2697480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ln w="7620">
                  <a:solidFill>
                    <a:srgbClr val="3C322D"/>
                  </a:solidFill>
                </a:ln>
                <a:solidFill>
                  <a:srgbClr val="F2C14E"/>
                </a:solidFill>
                <a:latin typeface="IBM Plex Sans KR"/>
                <a:ea typeface="IBM Plex Sans KR"/>
              </a:rPr>
              <a:t>+8.9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108960"/>
            <a:ext cx="4389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한 번에 깨짐 · 조각은 원래 물건 색</a:t>
            </a:r>
          </a:p>
        </p:txBody>
      </p:sp>
      <p:graphicFrame>
        <p:nvGraphicFramePr>
          <p:cNvPr id="946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794760"/>
          <a:ext cx="97840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48463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대상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표현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 소품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 번에 깨짐, 물건 색 조각 + 수입 숫자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가장 자주 깨지는 것이라 빠르고 가볍게. 조각 색으로 무엇을 깼는지 흔적이 남음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멀쩡 → 금 → 반파 → 부서짐 (3단계)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여러 번 때려야 하는 대상. 금이 늘어나는 것으로 "곧 깨진다"를 보여줘 계속 때리게 만듦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길이 되는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금 1줄 → 금 증가 → 무너짐 직전 → 열림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가구와 같은 금 문법을 써서 따로 배우지 않아도 됨. 다만 처음부터 금이 있어 시작 전에 구분됨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체력바 숫자 없음, 금 선은 #B89F7E 계열 한 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위 숫자를 줄이고 그림으로 내구도를 읽게 함. 선 색 하나로 통일해 "금 = 부서짐"만 기억하면 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아트 스타일 - 에셋 제작 기준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대상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제작 기준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원본 128px, 화면 표시 48~72px, 종마다 소품 1개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30~70마리가 동시에 보이는 크기에서 실루엣이 읽혀야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사람·고양이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2~3배, 무채색 옷 + 위험색 표시(추격 시)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평소엔 장애물, 추격 중일 때만 위험으로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 소품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소·중 2단계 (96 / 160px), 조각 스프라이트 1장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크기가 곧 가치. 숫자를 안 봐도 노릴 대상을 고름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 (256px 이상), 파손 3단계 스프라이트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소품보다 크고 비싸고 단단함. 금으로 남은 내구도를 보여줌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길이 되는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격자 1칸 단위 모듈, 파손 3단계 + 잔해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맵 생성 시 어느 벽이든 교체 가능하도록 같은 크기 모듈로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바닥·부서지지 않는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256px 격자 타일 1종 + 구간별 색 덧칠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구간마다 바닥을 새로 그리지 않고 색만 바꿔 리소스 절약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 아이콘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64px, 면 1색 + 포인트 1색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 크기에서도 형태가 뭉개지지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 도형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원·고리·삼각 조각·별 4종을 색만 바꿔 재사용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 색은 상황 색을 따르므로 모양은 공용으로 충분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사용처별 색 범위 ① 월드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33856" y="1554480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바닥 (D4)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37943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가장 밝고 가장 탁하게. 위에 올라가는 모든 것이 바로 보임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EEF0EC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9781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#EEF0EC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90·2·94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544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F6EFE2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781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#F6EFE2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39·8·96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E2E6DF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9781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#E2E6DF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94·3·90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15544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E9E4D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19781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#E9E4DA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40·6·91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52704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30~100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2821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178308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71585" y="178308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79608" y="172821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2~12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2082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1352" y="207568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80929" y="2075688"/>
            <a:ext cx="301752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9608" y="202082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82~97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33856" y="227990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33856" y="2362199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부서지지 않는 벽 (D4)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2645664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장면에서 가장 어둡고 무거움. "막힘·끝"으로 읽힘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236219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7F7A73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79" y="278587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#7F7A73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35·9·50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236219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9C968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7952" y="278587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#9C968E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34·9·61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236219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8A847C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4" y="278587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#8A847C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34·10·54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3476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25~40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535935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31352" y="2590799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31936" y="2590799"/>
            <a:ext cx="140817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79608" y="2535935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5~12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828543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1352" y="2883407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36608" y="2883407"/>
            <a:ext cx="402336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9608" y="2828543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45~65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33856" y="308762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33856" y="3169919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길이 되는 벽 (D3)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" y="3453383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바닥보다 조금 진하고 따뜻함. 금 선(#B89F7E)만 예외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316991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D9C7A8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79" y="359359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#D9C7A8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38·23·85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79392" y="316991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E8DCC4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7952" y="359359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#E8DCC4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40·16·91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84064" y="316991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DDD0B8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92624" y="359359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#DDD0B8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39·17·87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88736" y="316991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B89F7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7296" y="359359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#B89F7E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34·32·72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314248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30~45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343655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31352" y="3398519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32520" y="3398519"/>
            <a:ext cx="261518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79608" y="3343655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10~23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3636263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31352" y="3691127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21163" y="3691127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79608" y="3636263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84~94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33856" y="389534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33856" y="3977639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쥐 (D1)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" y="4261104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실제 쥐 털색. 등급은 몸이 아니라 발밑 고리로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74720" y="397763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F3EEE6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79" y="440131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#F3EEE6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37·5·95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79392" y="397763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C9B8A6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952" y="440131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#C9B8A6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31·17·79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84064" y="397763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8C7A6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92624" y="440131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#8C7A6B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27·24·55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88736" y="3977639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4F4842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97296" y="440131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#4F4842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28·16·31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3950207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20~40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75320" y="415137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31352" y="420624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631936" y="4206240"/>
            <a:ext cx="603504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579608" y="415137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5~35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75320" y="444398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531352" y="449884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34856" y="4498848"/>
            <a:ext cx="1327708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79608" y="444398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30~96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133856" y="470306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133856" y="4785360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부서지는 것 (D2)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6" y="5068824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소품·가구 공통. 가구는 면적이 커서 채도 40 이하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474720" y="478536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BFE3E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83279" y="520903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#BFE3EA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190·18·92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79392" y="478536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9DD5A8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87952" y="520903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#9DD5A8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132·26·84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84064" y="478536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C8A27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92624" y="520903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#C8A27A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31·39·78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888736" y="478536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8FB3C7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97296" y="520903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#8FB3C7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201·28·78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693408" y="478536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CDB4D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01968" y="5209032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#CDB4DB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278·18·86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475792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자유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320" y="495909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31352" y="501396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933688" y="5013960"/>
            <a:ext cx="502920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579608" y="495909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20~45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75320" y="525170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31352" y="530656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738360" y="5306568"/>
            <a:ext cx="663854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79608" y="525170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60~93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33856" y="551078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33856" y="5593080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보상 (치즈·재화)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6" y="5876544"/>
            <a:ext cx="2240280" cy="4419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화면에서 가장 진한 노랑. 돈이 생길 때만 씀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474720" y="55930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F2C14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383279" y="60167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#F2C14E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42·68·95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79392" y="55930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E6B35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87952" y="60167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#E6B35A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38·61·90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84064" y="5593080"/>
            <a:ext cx="713232" cy="423672"/>
          </a:xfrm>
          <a:prstGeom prst="roundRect">
            <a:avLst>
              <a:gd name="adj" fmla="val 17266"/>
            </a:avLst>
          </a:prstGeom>
          <a:solidFill>
            <a:srgbClr val="FFF3BF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992624" y="6016751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#FFF3BF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49·25·100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75320" y="5565647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38~48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75320" y="576681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531352" y="582168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637776" y="5821680"/>
            <a:ext cx="402336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579608" y="576681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55~75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75320" y="605942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531352" y="611428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301630" y="6114288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9608" y="605942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88~98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사용처별 색 범위 ② 위험·UI·등급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33856" y="1554480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위험 (고양이·경비·덫)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37943"/>
            <a:ext cx="2240280" cy="84581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유일한 빨강 계열. 보이면 "피해라"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C9745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212140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#C9745B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14·55·79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544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8786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212140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#E8786A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7·54·91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D9786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12140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#D9786A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8·51·85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0~15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2821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1352" y="178308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36608" y="1783080"/>
            <a:ext cx="402336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79608" y="172821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45~65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2082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1352" y="207568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79761" y="2075688"/>
            <a:ext cx="402336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202082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72~92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33856" y="2683763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33856" y="2766059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UI 패널·글자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049523"/>
            <a:ext cx="2240280" cy="84581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종이와 먹. 순흑·순백 대신 따뜻한 갈색 기운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276605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F7EF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79" y="3332987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#FBF7EF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40·5·98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276605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6EFE2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7952" y="3332987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#F6EFE2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39·8·96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84064" y="276605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7D746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2624" y="3332987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#7D746B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30·14·49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88736" y="276605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B4540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32987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27·15·29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93408" y="276605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3C322D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332987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#3C322D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20·25·24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738627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H 25~40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939795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31352" y="2994659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11819" y="2994659"/>
            <a:ext cx="281635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9608" y="2939795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4~18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232403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31352" y="3287267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94038" y="3287267"/>
            <a:ext cx="1508760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9608" y="3232403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23~98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33856" y="389534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33856" y="3977639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UI 상태색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" y="4261104"/>
            <a:ext cx="2240280" cy="84581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같은 의미에는 항상 같은 색 4개 고정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397763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8FA98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79" y="454456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#8FA98B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112·18·66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79392" y="397763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6B35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87952" y="454456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#E6B35A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38·61·90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84064" y="397763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C9745B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2624" y="454456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#C9745B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14·55·79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88736" y="3977639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8FB3C7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97296" y="454456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#8FB3C7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201·28·78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950207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긍정·진행·경고·정보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415137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31352" y="420624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93454" y="4206240"/>
            <a:ext cx="865022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79608" y="415137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18~61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44398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31352" y="449884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859060" y="4498848"/>
            <a:ext cx="482803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79608" y="444398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66~90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133856" y="5106924"/>
            <a:ext cx="9784080" cy="0"/>
          </a:xfrm>
          <a:prstGeom prst="line">
            <a:avLst/>
          </a:prstGeom>
          <a:ln w="9525">
            <a:solidFill>
              <a:srgbClr val="E9E1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133856" y="5189220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등급 6단계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" y="5472684"/>
            <a:ext cx="2240280" cy="84581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등급이 오를수록 채도가 오름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74720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A8A29A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83279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#A8A29A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34·8·66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79392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7FA8BF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87952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#7FA8BF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202·34·75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84064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9878C2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2624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#9878C2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266·38·76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88736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C9846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97296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#C9846E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15·45·79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93408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DDA43C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01968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#DDA43C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39·73·87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79" y="518922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0705E"/>
          </a:solidFill>
          <a:ln w="6350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06640" y="5756148"/>
            <a:ext cx="89611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650" b="1">
                <a:solidFill>
                  <a:srgbClr val="4B4540"/>
                </a:solidFill>
                <a:latin typeface="Noto Sans KR"/>
                <a:ea typeface="Noto Sans KR"/>
              </a:rPr>
              <a:t>#E0705E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7D746B"/>
                </a:solidFill>
                <a:latin typeface="Noto Sans KR"/>
                <a:ea typeface="Noto Sans KR"/>
              </a:rPr>
              <a:t>8·58·88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5320" y="5161788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일반 → 신화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75320" y="5362956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531352" y="541782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92286" y="5417820"/>
            <a:ext cx="1307592" cy="118872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79608" y="5362956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8~73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5320" y="5655564"/>
            <a:ext cx="228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31352" y="5710428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859060" y="5710428"/>
            <a:ext cx="442569" cy="11887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79608" y="56555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66~88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사용처별 범위와 이유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43000"/>
                <a:gridCol w="731520"/>
                <a:gridCol w="731520"/>
                <a:gridCol w="544068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사용처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30~100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82~97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가장 밝고 가장 탁하게. 위에 올라가는 모든 것이 바로 보임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부서지지 않는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25~40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5~12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45~65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가장 어둡고 무거워 "막힘"으로 읽힘. 밝은 바닥과 명도차가 커 방 경계가 또렷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길이 되는 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30~45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10~23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84~94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어두운 벽 사이에서 밝게 튀어 "열 수 있음". 부서지는 것 칸보다 탁해 돈이 아니라 길로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20~40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5~35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30~96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 쥐 털색. 몸을 등급색으로 칠하면 쥐가 사탕처럼 보여 세계관이 깨짐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부서지는 것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20~45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60~93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소품·가구 공통. 배경보다 진하고 보상보다 연함. 가구는 면적이 커서 채도 40 이하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보상 (치즈·재화)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38~48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55~75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88~98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화면에서 가장 진한 노랑. 물건·배경에 이 범위의 노랑을 쓰지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0~15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45~65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72~92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유일한 빨강 계열. 장식에 쓰지 않아야 "피해라"로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 패널·글자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25~40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4~18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23~98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순흑·순백 대신 따뜻한 갈색 기운. 오래 켜둬도 눈이 덜 피곤함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 상태색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4색 고정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18~61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66~90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세이지 = 좋음/누름, 선 = 진행, 테라 = 경고, 스카이 = 정보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 6단계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일반→신화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8→73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66~88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색약 플레이어도 "진할수록 귀함"으로 순서를 읽음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 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40~85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85~100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칸을 넘을 수 있지만 0.5초 안에 사라짐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채도 × 명도 지도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737360" y="1600200"/>
            <a:ext cx="5120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737360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7360" y="5989320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4480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897880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49424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7360" y="5550408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66543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45896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61488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5111496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78608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20056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73552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37360" y="4672583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90672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81144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30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85616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4233672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2736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4223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40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79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37360" y="3794760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4799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703320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50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09744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37360" y="3355848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26864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26440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60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21808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37360" y="2916936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38928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2825496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70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33872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737360" y="2478024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50992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2386584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80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45936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737360" y="2039112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163055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94767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90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0" y="1600200"/>
            <a:ext cx="0" cy="438912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37360" y="1600200"/>
            <a:ext cx="5120640" cy="0"/>
          </a:xfrm>
          <a:prstGeom prst="line">
            <a:avLst/>
          </a:prstGeom>
          <a:ln w="6350">
            <a:solidFill>
              <a:srgbClr val="EEE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75120" y="6016752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1508760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6217920"/>
            <a:ext cx="51206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4B4540"/>
                </a:solidFill>
                <a:latin typeface="Noto Sans KR"/>
                <a:ea typeface="Noto Sans KR"/>
              </a:rPr>
              <a:t>채도 S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3657600"/>
            <a:ext cx="3657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4B4540"/>
                </a:solidFill>
                <a:latin typeface="Noto Sans KR"/>
                <a:ea typeface="Noto Sans KR"/>
              </a:rPr>
              <a:t>명도</a:t>
            </a:r>
          </a:p>
          <a:p>
            <a:pPr algn="ctr"/>
            <a:r>
              <a:rPr sz="1000" b="0">
                <a:solidFill>
                  <a:srgbClr val="4B4540"/>
                </a:solidFill>
                <a:latin typeface="Noto Sans KR"/>
                <a:ea typeface="Noto Sans KR"/>
              </a:rPr>
              <a:t>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39772" y="1731873"/>
            <a:ext cx="512064" cy="658368"/>
          </a:xfrm>
          <a:prstGeom prst="roundRect">
            <a:avLst>
              <a:gd name="adj" fmla="val 8928"/>
            </a:avLst>
          </a:prstGeom>
          <a:solidFill>
            <a:srgbClr val="9AA597">
              <a:alpha val="16000"/>
            </a:srgbClr>
          </a:solidFill>
          <a:ln w="19050">
            <a:solidFill>
              <a:srgbClr val="9AA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67204" y="2408529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9AA597"/>
                </a:solidFill>
                <a:latin typeface="Noto Sans KR"/>
                <a:ea typeface="Noto Sans KR"/>
              </a:rPr>
              <a:t>바닥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93391" y="3136391"/>
            <a:ext cx="358444" cy="877824"/>
          </a:xfrm>
          <a:prstGeom prst="roundRect">
            <a:avLst>
              <a:gd name="adj" fmla="val 12755"/>
            </a:avLst>
          </a:prstGeom>
          <a:solidFill>
            <a:srgbClr val="7F7A73">
              <a:alpha val="16000"/>
            </a:srgbClr>
          </a:solidFill>
          <a:ln w="19050">
            <a:solidFill>
              <a:srgbClr val="7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3" y="3154679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7F7A73"/>
                </a:solidFill>
                <a:latin typeface="Noto Sans KR"/>
                <a:ea typeface="Noto Sans KR"/>
              </a:rPr>
              <a:t>불가 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49424" y="1863547"/>
            <a:ext cx="665683" cy="438912"/>
          </a:xfrm>
          <a:prstGeom prst="roundRect">
            <a:avLst>
              <a:gd name="adj" fmla="val 10416"/>
            </a:avLst>
          </a:prstGeom>
          <a:solidFill>
            <a:srgbClr val="B89F7E">
              <a:alpha val="16000"/>
            </a:srgbClr>
          </a:solidFill>
          <a:ln w="19050">
            <a:solidFill>
              <a:srgbClr val="B89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76856" y="2320747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B89F7E"/>
                </a:solidFill>
                <a:latin typeface="Noto Sans KR"/>
                <a:ea typeface="Noto Sans KR"/>
              </a:rPr>
              <a:t>길 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93391" y="1775764"/>
            <a:ext cx="1536192" cy="2896819"/>
          </a:xfrm>
          <a:prstGeom prst="roundRect">
            <a:avLst>
              <a:gd name="adj" fmla="val 2976"/>
            </a:avLst>
          </a:prstGeom>
          <a:solidFill>
            <a:srgbClr val="8C7A6B">
              <a:alpha val="16000"/>
            </a:srgbClr>
          </a:solidFill>
          <a:ln w="19050">
            <a:solidFill>
              <a:srgbClr val="8C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20823" y="4443983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8C7A6B"/>
                </a:solidFill>
                <a:latin typeface="Noto Sans KR"/>
                <a:ea typeface="Noto Sans KR"/>
              </a:rPr>
              <a:t>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61488" y="1907438"/>
            <a:ext cx="1280160" cy="1448409"/>
          </a:xfrm>
          <a:prstGeom prst="roundRect">
            <a:avLst>
              <a:gd name="adj" fmla="val 3571"/>
            </a:avLst>
          </a:prstGeom>
          <a:solidFill>
            <a:srgbClr val="6F95AB">
              <a:alpha val="16000"/>
            </a:srgbClr>
          </a:solidFill>
          <a:ln w="19050">
            <a:solidFill>
              <a:srgbClr val="6F95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8920" y="1925726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F95AB"/>
                </a:solidFill>
                <a:latin typeface="Noto Sans KR"/>
                <a:ea typeface="Noto Sans KR"/>
              </a:rPr>
              <a:t>부서지는 것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53712" y="1687982"/>
            <a:ext cx="1024127" cy="438912"/>
          </a:xfrm>
          <a:prstGeom prst="roundRect">
            <a:avLst>
              <a:gd name="adj" fmla="val 10416"/>
            </a:avLst>
          </a:prstGeom>
          <a:solidFill>
            <a:srgbClr val="E3A93A">
              <a:alpha val="16000"/>
            </a:srgbClr>
          </a:solidFill>
          <a:ln w="19050">
            <a:solidFill>
              <a:srgbClr val="E3A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81144" y="1706270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E3A93A"/>
                </a:solidFill>
                <a:latin typeface="Noto Sans KR"/>
                <a:ea typeface="Noto Sans KR"/>
              </a:rPr>
              <a:t>보상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41648" y="1951329"/>
            <a:ext cx="1024128" cy="877824"/>
          </a:xfrm>
          <a:prstGeom prst="roundRect">
            <a:avLst>
              <a:gd name="adj" fmla="val 5208"/>
            </a:avLst>
          </a:prstGeom>
          <a:solidFill>
            <a:srgbClr val="C9745B">
              <a:alpha val="16000"/>
            </a:srgbClr>
          </a:solidFill>
          <a:ln w="19050">
            <a:solidFill>
              <a:srgbClr val="C97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9080" y="1969617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C9745B"/>
                </a:solidFill>
                <a:latin typeface="Noto Sans KR"/>
                <a:ea typeface="Noto Sans KR"/>
              </a:rPr>
              <a:t>위험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51836" y="3794760"/>
            <a:ext cx="307238" cy="1185062"/>
          </a:xfrm>
          <a:prstGeom prst="roundRect">
            <a:avLst>
              <a:gd name="adj" fmla="val 14880"/>
            </a:avLst>
          </a:prstGeom>
          <a:solidFill>
            <a:srgbClr val="4B4540">
              <a:alpha val="16000"/>
            </a:srgbClr>
          </a:solidFill>
          <a:ln w="19050">
            <a:solidFill>
              <a:srgbClr val="4B4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79268" y="3813048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글자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785616" y="1600200"/>
            <a:ext cx="2304287" cy="658368"/>
          </a:xfrm>
          <a:prstGeom prst="roundRect">
            <a:avLst>
              <a:gd name="adj" fmla="val 6944"/>
            </a:avLst>
          </a:prstGeom>
          <a:solidFill>
            <a:srgbClr val="D9786A">
              <a:alpha val="7000"/>
            </a:srgbClr>
          </a:solidFill>
          <a:ln w="19050">
            <a:solidFill>
              <a:srgbClr val="D978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13048" y="1618488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D9786A"/>
                </a:solidFill>
                <a:latin typeface="Noto Sans KR"/>
                <a:ea typeface="Noto Sans KR"/>
              </a:rPr>
              <a:t>이펙트 (0.5초)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1600200"/>
            <a:ext cx="3749039" cy="4480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B4540"/>
                </a:solidFill>
                <a:latin typeface="Noto Sans KR"/>
                <a:ea typeface="Noto Sans KR"/>
              </a:rPr>
              <a:t>읽는 법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오른쪽 위일수록 눈에 먼저 들어온다.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바닥은 왼쪽 위(밝고 탁함), 불가 벽과 글자는 왼쪽 아래(어둡고 탁함)에 모인다.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길이 되는 벽은 바닥 바로 오른쪽 아래. 어두운 벽 사이에서 밝게 튀지만 부서지는 것 칸에는 들어가지 않는다.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보상과 위험만 오른쪽 위를 쓴다. 화면에서 가장 먼저 봐야 할 두 가지이기 때문이다.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이펙트는 모든 칸을 넘을 수 있지만 0.5초 안에 사라진다.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4B4540"/>
                </a:solidFill>
                <a:latin typeface="Noto Sans KR"/>
                <a:ea typeface="Noto Sans KR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4B4540"/>
                </a:solidFill>
                <a:latin typeface="Noto Sans KR"/>
                <a:ea typeface="Noto Sans KR"/>
              </a:rPr>
              <a:t>색을 추가할 때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새 색은 먼저 이 지도에 찍어 해당 칸 안인지 확인한다.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칸 밖이면 칸을 넓히지 말고 색을 고친다.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4540"/>
                </a:solidFill>
                <a:latin typeface="Noto Sans KR"/>
                <a:ea typeface="Noto Sans KR"/>
              </a:rPr>
              <a:t>· 보상·위험 칸에는 새 색을 추가하지 않는다.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층 구간별 색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1874519" cy="25146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25296" y="1600200"/>
            <a:ext cx="1691640" cy="12344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37617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2704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7792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7967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055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142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3230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8318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3405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8493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25296" y="196230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25296" y="2113178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25296" y="2264054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25296" y="2414930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25296" y="2565806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25296" y="271668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225296" y="1600200"/>
            <a:ext cx="1691640" cy="9505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25296" y="1695251"/>
            <a:ext cx="1691640" cy="11617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35784" y="1600200"/>
            <a:ext cx="338328" cy="9505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35784" y="1695251"/>
            <a:ext cx="338328" cy="11617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2043561" y="1695251"/>
            <a:ext cx="10638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43561" y="1748058"/>
            <a:ext cx="12434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08176" y="210312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11095" y="2286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BFE3E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6739" y="262890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0100000">
            <a:off x="2185415" y="254568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92400" y="242681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39949" y="254568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63723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18257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42032" y="239115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42032" y="233172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565806" y="2355494"/>
            <a:ext cx="47548" cy="4754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20339" y="246247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60903" y="242681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25296" y="2880360"/>
            <a:ext cx="169164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1~4층</a:t>
            </a:r>
          </a:p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지하 비밀 실험실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덧칠 없음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대표 물건색 #BFE3EA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18104" y="1508760"/>
            <a:ext cx="1874519" cy="25146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9544" y="1600200"/>
            <a:ext cx="1691640" cy="123444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36042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51129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6217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1304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96392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11480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6567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41655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6742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1830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6918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209544" y="196230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09544" y="2113178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09544" y="2264054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209544" y="2414930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09544" y="2565806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09544" y="271668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209544" y="1600200"/>
            <a:ext cx="1691640" cy="9505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9544" y="1695251"/>
            <a:ext cx="1691640" cy="11617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920032" y="1600200"/>
            <a:ext cx="338328" cy="9505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920032" y="1695251"/>
            <a:ext cx="338328" cy="11617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H="1">
            <a:off x="4027809" y="1695251"/>
            <a:ext cx="10638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027809" y="1748058"/>
            <a:ext cx="12434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392424" y="210312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95344" y="2286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8A27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240987" y="262890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 rot="20100000">
            <a:off x="4169664" y="254568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76648" y="242681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24197" y="254568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347972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02505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26280" y="239115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526280" y="233172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550054" y="2355494"/>
            <a:ext cx="47548" cy="4754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04588" y="246247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45152" y="242681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9544" y="2880360"/>
            <a:ext cx="169164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5~9층</a:t>
            </a:r>
          </a:p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실험동물 사육동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덧칠 없음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대표 물건색 #C8A27A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02352" y="1508760"/>
            <a:ext cx="1874519" cy="25146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93792" y="1600200"/>
            <a:ext cx="1691640" cy="12344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34466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49554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64642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79729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94817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09904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249924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400800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51676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02552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853428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193792" y="1962302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193792" y="2113178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193792" y="2264054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193792" y="2414930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193792" y="2565806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193792" y="2716682"/>
            <a:ext cx="169163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5193792" y="1600200"/>
            <a:ext cx="1691640" cy="9505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193792" y="1695251"/>
            <a:ext cx="1691640" cy="11617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4280" y="1600200"/>
            <a:ext cx="338328" cy="9505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04280" y="1695251"/>
            <a:ext cx="338328" cy="11617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H="1">
            <a:off x="6012057" y="1695251"/>
            <a:ext cx="10638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12057" y="1748058"/>
            <a:ext cx="12434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5193792" y="1600200"/>
            <a:ext cx="1691640" cy="1234440"/>
          </a:xfrm>
          <a:prstGeom prst="rect">
            <a:avLst/>
          </a:prstGeom>
          <a:solidFill>
            <a:srgbClr val="9DD5A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376672" y="210312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879592" y="2286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DD5A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225235" y="262890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 rot="20100000">
            <a:off x="6153912" y="254568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260896" y="242681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308445" y="254568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332220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486753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510528" y="239115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510528" y="233172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534302" y="2355494"/>
            <a:ext cx="47548" cy="4754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688836" y="246247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629400" y="242681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93792" y="2880360"/>
            <a:ext cx="169164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10~14층</a:t>
            </a:r>
          </a:p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약품 연구동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덧칠 #9DD5A8 16%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대표 물건색 #9DD5A8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086600" y="1508760"/>
            <a:ext cx="1874519" cy="25146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178040" y="1600200"/>
            <a:ext cx="1691640" cy="123444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7328915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479791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630667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781543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932419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083295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234171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385047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535923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686799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37675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178040" y="196230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178040" y="2113178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178040" y="2264054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178040" y="2414930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178040" y="2565806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178040" y="271668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7178040" y="1600200"/>
            <a:ext cx="1691640" cy="9505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178040" y="1695251"/>
            <a:ext cx="1691640" cy="11617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888528" y="1600200"/>
            <a:ext cx="338328" cy="9505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888528" y="1695251"/>
            <a:ext cx="338328" cy="11617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H="1">
            <a:off x="7996305" y="1695251"/>
            <a:ext cx="10638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996305" y="1748058"/>
            <a:ext cx="12434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7178040" y="1600200"/>
            <a:ext cx="1691640" cy="1234440"/>
          </a:xfrm>
          <a:prstGeom prst="rect">
            <a:avLst/>
          </a:prstGeom>
          <a:solidFill>
            <a:srgbClr val="8FB3C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360920" y="210312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863840" y="2286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FB3C7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209483" y="262890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 rot="20100000">
            <a:off x="8138160" y="254568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245144" y="242681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292693" y="254568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316468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471001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494776" y="239115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94776" y="233172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518550" y="2355494"/>
            <a:ext cx="47548" cy="4754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673084" y="246247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613648" y="242681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178040" y="2880360"/>
            <a:ext cx="169164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15~19층</a:t>
            </a:r>
          </a:p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전산·관리동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덧칠 #8FB3C7 20%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대표 물건색 #8FB3C7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070848" y="1508760"/>
            <a:ext cx="1874519" cy="25146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162288" y="1600200"/>
            <a:ext cx="1691640" cy="12344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9313163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464039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614915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765791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916667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067543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218419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369295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520171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671047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21923" y="1811426"/>
            <a:ext cx="0" cy="1023214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162288" y="196230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9162288" y="2113178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162288" y="2264054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9162288" y="2414930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162288" y="2565806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162288" y="2716682"/>
            <a:ext cx="1691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9162288" y="1600200"/>
            <a:ext cx="1691640" cy="9505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62288" y="1695251"/>
            <a:ext cx="1691640" cy="11617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872776" y="1600200"/>
            <a:ext cx="338328" cy="9505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872776" y="1695251"/>
            <a:ext cx="338328" cy="11617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H="1">
            <a:off x="9980553" y="1695251"/>
            <a:ext cx="10638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9980553" y="1748058"/>
            <a:ext cx="12434" cy="52807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ctangle 190"/>
          <p:cNvSpPr/>
          <p:nvPr/>
        </p:nvSpPr>
        <p:spPr>
          <a:xfrm>
            <a:off x="9162288" y="1600200"/>
            <a:ext cx="1691640" cy="1234440"/>
          </a:xfrm>
          <a:prstGeom prst="rect">
            <a:avLst/>
          </a:prstGeom>
          <a:solidFill>
            <a:srgbClr val="E3C4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345168" y="210312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E3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9848088" y="2286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3C46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193731" y="262890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 rot="20100000">
            <a:off x="10122408" y="254568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229392" y="242681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0276941" y="254568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300716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0455249" y="2611069"/>
            <a:ext cx="65379" cy="2971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479024" y="239115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479024" y="233172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0502798" y="2355494"/>
            <a:ext cx="47548" cy="47548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657332" y="246247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597896" y="242681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162288" y="2880360"/>
            <a:ext cx="169164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20층</a:t>
            </a:r>
          </a:p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연구소장 층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덧칠 #E3C46A 18%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대표 물건색 #E3C46A</a:t>
            </a:r>
          </a:p>
        </p:txBody>
      </p:sp>
      <p:graphicFrame>
        <p:nvGraphicFramePr>
          <p:cNvPr id="1100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4206240"/>
          <a:ext cx="9784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676656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구간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덧칠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1~4층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첫인상은 가장 차분하고 깨끗하게. 쥐 떼가 망가뜨리는 대비가 커짐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5~9층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 (복도 바닥)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바닥만 바꿔 "다른 건물로 왔다"는 첫 변화. 덧칠은 아낌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10~14층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초록 16%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플레이가 늘어지기 쉬운 중반부에 처음으로 분위기를 바꿔 환기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15~19층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하늘 20%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막히는 층이 몰린 구간. 차갑고 단단한 긴장감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금빛 18%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마지막 층은 보상색에 가깝게. 치즈 노랑과 헷갈리지 않게 18%로 제한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01" name="TextBox 1100"/>
          <p:cNvSpPr txBox="1"/>
          <p:nvPr/>
        </p:nvSpPr>
        <p:spPr>
          <a:xfrm>
            <a:off x="1133856" y="6217920"/>
            <a:ext cx="9784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덧칠은 일반 블렌딩 16~20%. 곱하기(Multiply)는 화면 전체를 어둡게 만들어 명도 칸이 무너지므로 쓰지 않음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 - 등급색과 로비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#A8A29A  S8</a:t>
            </a:r>
          </a:p>
        </p:txBody>
      </p:sp>
      <p:sp>
        <p:nvSpPr>
          <p:cNvPr id="10" name="Oval 9"/>
          <p:cNvSpPr/>
          <p:nvPr/>
        </p:nvSpPr>
        <p:spPr>
          <a:xfrm>
            <a:off x="1545336" y="2971800"/>
            <a:ext cx="640080" cy="182880"/>
          </a:xfrm>
          <a:prstGeom prst="ellipse">
            <a:avLst/>
          </a:prstGeom>
          <a:solidFill>
            <a:srgbClr val="A8A29A">
              <a:alpha val="35000"/>
            </a:srgbClr>
          </a:solidFill>
          <a:ln w="31750">
            <a:solidFill>
              <a:srgbClr val="A8A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093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0100000">
            <a:off x="149961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660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414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623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5623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3454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7510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7977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7F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레어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#7FA8BF  S34</a:t>
            </a:r>
          </a:p>
        </p:txBody>
      </p:sp>
      <p:sp>
        <p:nvSpPr>
          <p:cNvPr id="21" name="Oval 20"/>
          <p:cNvSpPr/>
          <p:nvPr/>
        </p:nvSpPr>
        <p:spPr>
          <a:xfrm>
            <a:off x="3191256" y="2971800"/>
            <a:ext cx="640080" cy="182880"/>
          </a:xfrm>
          <a:prstGeom prst="ellipse">
            <a:avLst/>
          </a:prstGeom>
          <a:solidFill>
            <a:srgbClr val="7FA8BF">
              <a:alpha val="35000"/>
            </a:srgbClr>
          </a:solidFill>
          <a:ln w="31750">
            <a:solidFill>
              <a:srgbClr val="7FA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1685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 rot="20100000">
            <a:off x="314553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252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0006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0215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0215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8046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2102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2569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987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에픽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#9878C2  S38</a:t>
            </a:r>
          </a:p>
        </p:txBody>
      </p:sp>
      <p:sp>
        <p:nvSpPr>
          <p:cNvPr id="32" name="Oval 31"/>
          <p:cNvSpPr/>
          <p:nvPr/>
        </p:nvSpPr>
        <p:spPr>
          <a:xfrm>
            <a:off x="4837176" y="2971800"/>
            <a:ext cx="640080" cy="182880"/>
          </a:xfrm>
          <a:prstGeom prst="ellipse">
            <a:avLst/>
          </a:prstGeom>
          <a:solidFill>
            <a:srgbClr val="9878C2">
              <a:alpha val="35000"/>
            </a:srgbClr>
          </a:solidFill>
          <a:ln w="31750">
            <a:solidFill>
              <a:srgbClr val="987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6277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20100000">
            <a:off x="479145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9844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4598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4807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4807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2638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6694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7161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C98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유니크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161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#C9846E  S45</a:t>
            </a:r>
          </a:p>
        </p:txBody>
      </p:sp>
      <p:sp>
        <p:nvSpPr>
          <p:cNvPr id="43" name="Oval 42"/>
          <p:cNvSpPr/>
          <p:nvPr/>
        </p:nvSpPr>
        <p:spPr>
          <a:xfrm>
            <a:off x="6483096" y="2971800"/>
            <a:ext cx="640080" cy="182880"/>
          </a:xfrm>
          <a:prstGeom prst="ellipse">
            <a:avLst/>
          </a:prstGeom>
          <a:solidFill>
            <a:srgbClr val="C9846E">
              <a:alpha val="35000"/>
            </a:srgbClr>
          </a:solidFill>
          <a:ln w="31750">
            <a:solidFill>
              <a:srgbClr val="C98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0869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 rot="20100000">
            <a:off x="643737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4436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9190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9399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9399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7230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1286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1753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DD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전설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#DDA43C  S73</a:t>
            </a:r>
          </a:p>
        </p:txBody>
      </p:sp>
      <p:sp>
        <p:nvSpPr>
          <p:cNvPr id="54" name="Oval 53"/>
          <p:cNvSpPr/>
          <p:nvPr/>
        </p:nvSpPr>
        <p:spPr>
          <a:xfrm>
            <a:off x="8129015" y="2971800"/>
            <a:ext cx="640080" cy="182880"/>
          </a:xfrm>
          <a:prstGeom prst="ellipse">
            <a:avLst/>
          </a:prstGeom>
          <a:solidFill>
            <a:srgbClr val="DDA43C">
              <a:alpha val="35000"/>
            </a:srgbClr>
          </a:solidFill>
          <a:ln w="31750">
            <a:solidFill>
              <a:srgbClr val="DD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461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 rot="20100000">
            <a:off x="808329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9028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3782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3991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91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61822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55878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363456" y="15544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07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  <a:ea typeface="Noto Sans KR"/>
              </a:rPr>
              <a:t>신화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3456" y="2514600"/>
            <a:ext cx="14630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#E0705E  S58</a:t>
            </a:r>
          </a:p>
        </p:txBody>
      </p:sp>
      <p:sp>
        <p:nvSpPr>
          <p:cNvPr id="65" name="Oval 64"/>
          <p:cNvSpPr/>
          <p:nvPr/>
        </p:nvSpPr>
        <p:spPr>
          <a:xfrm>
            <a:off x="9774936" y="2971800"/>
            <a:ext cx="640080" cy="182880"/>
          </a:xfrm>
          <a:prstGeom prst="ellipse">
            <a:avLst/>
          </a:prstGeom>
          <a:solidFill>
            <a:srgbClr val="E0705E">
              <a:alpha val="35000"/>
            </a:srgbClr>
          </a:solidFill>
          <a:ln w="31750">
            <a:solidFill>
              <a:srgbClr val="E07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800539" y="2994660"/>
            <a:ext cx="427939" cy="594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 rot="20100000">
            <a:off x="9729216" y="2911449"/>
            <a:ext cx="202082" cy="23774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836200" y="2792577"/>
            <a:ext cx="368503" cy="20208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83749" y="2911449"/>
            <a:ext cx="285292" cy="7726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085832" y="2756916"/>
            <a:ext cx="196138" cy="16047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85832" y="2697480"/>
            <a:ext cx="95097" cy="9509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264140" y="2828239"/>
            <a:ext cx="41605" cy="4160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204704" y="2792577"/>
            <a:ext cx="26746" cy="26746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33856" y="3246120"/>
            <a:ext cx="9784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7D746B"/>
                </a:solidFill>
                <a:latin typeface="Noto Sans KR"/>
                <a:ea typeface="Noto Sans KR"/>
              </a:rPr>
              <a:t>등급은 쥐 몸이 아니라 발밑 고리로 표시 · 왼쪽에서 오른쪽으로 채도가 오름 · 신화는 무지개 반짝임 이펙트를 더해 위험색과 구분</a:t>
            </a:r>
          </a:p>
        </p:txBody>
      </p:sp>
      <p:graphicFrame>
        <p:nvGraphicFramePr>
          <p:cNvPr id="969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70332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521208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(아지트)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나무 판자 (상단 바·버튼)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#8A6A52 / #6F5442 / #C69A72 / #B07E57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쥐구멍 아지트 = 나무. 나무결 텍스처·베벨 없이 두 톤 면으로만 칠해 플랫 스타일과 맞춤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#EFE3CF + 가장자리 갈색 비네트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차가운 연구소와 대비되는 따뜻함. 판이 끝나고 돌아오면 "집에 왔다"는 안도감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재화 표시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#3C322D 알약 위 흰 숫자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밝은 나무 배경 위에서 재화가 가장 먼저 보임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출발 버튼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#B07E57 + 아래 그림자 띠 #8A6040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로비에서 가장 크고 가장 진한 나무. 최종 목적지임을 크기와 색으로 알림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UI 공통 원칙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결정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가로 16:9, 기준 1920×1080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방이 가로로 넓고, 쥐 떼 퍼짐·필살기·슈퍼점프 연출이 가로에서 가장 잘 보임. PC와 모바일 같은 배치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안전 영역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상하 36px, 좌우 64px 안에만 UI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노치와 둥근 모서리에 가리지 않게 함 (Screen.safeArea)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둥근 사각형 22px, 종이색 96%, 부드러운 그림자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반투명이라 뒤에서 게임이 계속 돌아가는 것이 느껴짐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알약형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누르는 것은 알약, 정보는 사각형. 읽기 전에 "눌러도 되는지" 앎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가장자리 우선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정보는 테두리, 가운데는 비움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가운데는 플레이 영역. 가리는 UI는 곧 헛탭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인게임 HUD 배치도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7406640" cy="4166234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408176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82496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56816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31136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05456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7977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5409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2841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0273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7705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5137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2569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0001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7433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4865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2297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9729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7161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4593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2025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9457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6889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4321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1753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9185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66175" y="1892807"/>
            <a:ext cx="0" cy="3782187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3856" y="216712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33856" y="244144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3856" y="271576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33856" y="299008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33856" y="326440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33856" y="353872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3856" y="381304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3856" y="408736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33856" y="436168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33856" y="463600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3856" y="491032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3856" y="518464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3856" y="5458967"/>
            <a:ext cx="740664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33856" y="1508760"/>
            <a:ext cx="7406640" cy="172821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3856" y="1681581"/>
            <a:ext cx="7406640" cy="211226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44644" y="1508760"/>
            <a:ext cx="1481328" cy="172821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44644" y="1681581"/>
            <a:ext cx="1481328" cy="211226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>
            <a:off x="4716530" y="1681581"/>
            <a:ext cx="46579" cy="96012"/>
          </a:xfrm>
          <a:prstGeom prst="line">
            <a:avLst/>
          </a:prstGeom>
          <a:ln w="16002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716530" y="1777593"/>
            <a:ext cx="54441" cy="96012"/>
          </a:xfrm>
          <a:prstGeom prst="line">
            <a:avLst/>
          </a:prstGeom>
          <a:ln w="16002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472184" y="2161641"/>
            <a:ext cx="640080" cy="76809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04188" y="1572767"/>
            <a:ext cx="576072" cy="64008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36192" y="1617573"/>
            <a:ext cx="512063" cy="16002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68196" y="1655978"/>
            <a:ext cx="128015" cy="12161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60220" y="1681581"/>
            <a:ext cx="89611" cy="96012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536192" y="1815998"/>
            <a:ext cx="512063" cy="16002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568196" y="1854403"/>
            <a:ext cx="128015" cy="12161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60220" y="1880006"/>
            <a:ext cx="89611" cy="96012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36192" y="2014423"/>
            <a:ext cx="512063" cy="160020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68196" y="2052827"/>
            <a:ext cx="128015" cy="12161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60220" y="2078431"/>
            <a:ext cx="89611" cy="96012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30744" y="2242108"/>
            <a:ext cx="855878" cy="6583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96581" y="2011680"/>
            <a:ext cx="49377" cy="24688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71408" y="2011680"/>
            <a:ext cx="49377" cy="246888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47204" y="1945843"/>
            <a:ext cx="822960" cy="82296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47204" y="1847088"/>
            <a:ext cx="822960" cy="115214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94772" y="3189631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 rot="20100000">
            <a:off x="6848687" y="3135864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17815" y="3059054"/>
            <a:ext cx="238109" cy="13057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48539" y="3135864"/>
            <a:ext cx="184343" cy="4992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63901" y="3178109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63754" y="3178109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79115" y="3036012"/>
            <a:ext cx="126735" cy="10369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079115" y="2997607"/>
            <a:ext cx="61447" cy="6144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094477" y="3012969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194330" y="3082097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55925" y="3059054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205562" y="3316295"/>
            <a:ext cx="378561" cy="4206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218181" y="3156458"/>
            <a:ext cx="353324" cy="18507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209769" y="3080745"/>
            <a:ext cx="370149" cy="15142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268656" y="3097570"/>
            <a:ext cx="252374" cy="9253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268656" y="3248995"/>
            <a:ext cx="33649" cy="3364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44368" y="3248995"/>
            <a:ext cx="134599" cy="37856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11820" y="3370697"/>
            <a:ext cx="248716" cy="31089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205089" y="3109545"/>
            <a:ext cx="62179" cy="11192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195762" y="3090891"/>
            <a:ext cx="80832" cy="31089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136692" y="3184160"/>
            <a:ext cx="198973" cy="186537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155345" y="3264993"/>
            <a:ext cx="161665" cy="9326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173999" y="3209031"/>
            <a:ext cx="31089" cy="31089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72974" y="3530399"/>
            <a:ext cx="248716" cy="31089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366243" y="3269246"/>
            <a:ext cx="62179" cy="11192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356916" y="3250592"/>
            <a:ext cx="80832" cy="31089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297846" y="3343861"/>
            <a:ext cx="198973" cy="186537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316500" y="3424694"/>
            <a:ext cx="161665" cy="9326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335153" y="3368733"/>
            <a:ext cx="31089" cy="31089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211041" y="3897816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 rot="20100000">
            <a:off x="5164956" y="3844049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234084" y="3767239"/>
            <a:ext cx="238109" cy="13057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264808" y="3844049"/>
            <a:ext cx="184343" cy="4992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80170" y="3886294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80022" y="3886294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395384" y="3744196"/>
            <a:ext cx="126735" cy="10369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95384" y="3705792"/>
            <a:ext cx="61447" cy="6144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410746" y="3721154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510599" y="3790282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472194" y="3767239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547779" y="4114648"/>
            <a:ext cx="378561" cy="4206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560398" y="3954811"/>
            <a:ext cx="353324" cy="185074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551985" y="3879098"/>
            <a:ext cx="370149" cy="151424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10872" y="3895923"/>
            <a:ext cx="252374" cy="92537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0872" y="4047348"/>
            <a:ext cx="33649" cy="33649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686585" y="4047348"/>
            <a:ext cx="134599" cy="37856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146098" y="4271544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 rot="20100000">
            <a:off x="4100012" y="4217777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169141" y="4140968"/>
            <a:ext cx="238109" cy="130576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99865" y="4217777"/>
            <a:ext cx="184343" cy="49926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215227" y="4260023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315079" y="4260023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330441" y="4117925"/>
            <a:ext cx="126735" cy="10369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330441" y="4079520"/>
            <a:ext cx="61447" cy="61447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345803" y="4094882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445655" y="4164011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407251" y="4140968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338122" y="4125606"/>
            <a:ext cx="115214" cy="19202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942868" y="4298434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 rot="20100000">
            <a:off x="2896782" y="4244668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965911" y="4167858"/>
            <a:ext cx="238109" cy="130576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996635" y="4244668"/>
            <a:ext cx="184343" cy="49926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011997" y="4286913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111849" y="4286913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127211" y="4144815"/>
            <a:ext cx="126735" cy="10369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127211" y="4106410"/>
            <a:ext cx="61447" cy="61447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142573" y="4121772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242425" y="4190901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04021" y="4167858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571876" y="4381351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 rot="20100000">
            <a:off x="5525791" y="4327585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594919" y="4250775"/>
            <a:ext cx="238109" cy="13057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625643" y="4327585"/>
            <a:ext cx="184343" cy="49926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641005" y="4369830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740858" y="4369830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756220" y="4227732"/>
            <a:ext cx="126735" cy="10369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756220" y="4189327"/>
            <a:ext cx="61447" cy="61447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771581" y="4204689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871434" y="4273818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833029" y="4250775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400081" y="4986378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 rot="20100000">
            <a:off x="3353996" y="4932611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423124" y="4855801"/>
            <a:ext cx="238109" cy="130576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453848" y="4932611"/>
            <a:ext cx="184343" cy="49926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69210" y="4974856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569063" y="4974856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584424" y="4832759"/>
            <a:ext cx="126735" cy="10369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584424" y="4794354"/>
            <a:ext cx="61447" cy="61447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99786" y="4809716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699639" y="4878844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661234" y="4855801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599786" y="4732906"/>
            <a:ext cx="76809" cy="76809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592105" y="4802035"/>
            <a:ext cx="92171" cy="19202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634439" y="5096266"/>
            <a:ext cx="276514" cy="3840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 rot="20100000">
            <a:off x="1588353" y="5042499"/>
            <a:ext cx="130576" cy="15361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657482" y="4965689"/>
            <a:ext cx="238109" cy="130576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688206" y="5042499"/>
            <a:ext cx="184343" cy="49926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703568" y="5084744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803420" y="5084744"/>
            <a:ext cx="42245" cy="19202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818782" y="4942646"/>
            <a:ext cx="126735" cy="10369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818782" y="4904242"/>
            <a:ext cx="61447" cy="61447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834144" y="4919604"/>
            <a:ext cx="30723" cy="3072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933996" y="4988732"/>
            <a:ext cx="26883" cy="26883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895592" y="4965689"/>
            <a:ext cx="17282" cy="17282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33856" y="1508760"/>
            <a:ext cx="7406640" cy="416623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380744" y="1647634"/>
            <a:ext cx="6912863" cy="3888485"/>
          </a:xfrm>
          <a:prstGeom prst="roundRect">
            <a:avLst>
              <a:gd name="adj" fmla="val 1881"/>
            </a:avLst>
          </a:prstGeom>
          <a:noFill/>
          <a:ln w="12700">
            <a:solidFill>
              <a:srgbClr val="6F8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380744" y="1647634"/>
            <a:ext cx="1273016" cy="424338"/>
          </a:xfrm>
          <a:prstGeom prst="roundRect">
            <a:avLst>
              <a:gd name="adj" fmla="val 20000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ight Triangle 176"/>
          <p:cNvSpPr/>
          <p:nvPr/>
        </p:nvSpPr>
        <p:spPr>
          <a:xfrm>
            <a:off x="1481042" y="1732502"/>
            <a:ext cx="228600" cy="160020"/>
          </a:xfrm>
          <a:prstGeom prst="rtTriangl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606772" y="1835372"/>
            <a:ext cx="27432" cy="27432"/>
          </a:xfrm>
          <a:prstGeom prst="ellipse">
            <a:avLst/>
          </a:prstGeom>
          <a:solidFill>
            <a:srgbClr val="E3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652492" y="1801082"/>
            <a:ext cx="18288" cy="18288"/>
          </a:xfrm>
          <a:prstGeom prst="ellipse">
            <a:avLst/>
          </a:prstGeom>
          <a:solidFill>
            <a:srgbClr val="E3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751076" y="1678495"/>
            <a:ext cx="84867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4B4540"/>
                </a:solidFill>
                <a:latin typeface="IBM Plex Sans KR"/>
                <a:ea typeface="IBM Plex Sans KR"/>
              </a:rPr>
              <a:t>6.22K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81042" y="1909952"/>
            <a:ext cx="11572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1">
                <a:solidFill>
                  <a:srgbClr val="6F8A6B"/>
                </a:solidFill>
                <a:latin typeface="Noto Sans KR"/>
                <a:ea typeface="Noto Sans KR"/>
              </a:rPr>
              <a:t>+270 /초 · 자료 60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3294126" y="1647634"/>
            <a:ext cx="2931794" cy="462915"/>
          </a:xfrm>
          <a:prstGeom prst="roundRect">
            <a:avLst>
              <a:gd name="adj" fmla="val 18333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294126" y="1678495"/>
            <a:ext cx="293179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1층 · 지하 비밀 실험실 · 방 1/3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294126" y="1778793"/>
            <a:ext cx="293179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찍찍 345 / 400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3448430" y="1963959"/>
            <a:ext cx="2623184" cy="77152"/>
          </a:xfrm>
          <a:prstGeom prst="roundRect">
            <a:avLst>
              <a:gd name="adj" fmla="val 50000"/>
            </a:avLst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3448430" y="1963959"/>
            <a:ext cx="2256710" cy="77152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303073" y="1647634"/>
            <a:ext cx="810101" cy="424338"/>
          </a:xfrm>
          <a:prstGeom prst="roundRect">
            <a:avLst>
              <a:gd name="adj" fmla="val 20000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303073" y="1678495"/>
            <a:ext cx="810101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남은 시간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303073" y="1778793"/>
            <a:ext cx="810101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4:12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190327" y="1647634"/>
            <a:ext cx="578643" cy="424338"/>
          </a:xfrm>
          <a:prstGeom prst="roundRect">
            <a:avLst>
              <a:gd name="adj" fmla="val 20000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190327" y="1678495"/>
            <a:ext cx="578643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쥐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190327" y="1778793"/>
            <a:ext cx="57864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30/30</a:t>
            </a:r>
          </a:p>
        </p:txBody>
      </p:sp>
      <p:sp>
        <p:nvSpPr>
          <p:cNvPr id="193" name="Oval 192"/>
          <p:cNvSpPr/>
          <p:nvPr/>
        </p:nvSpPr>
        <p:spPr>
          <a:xfrm>
            <a:off x="7846123" y="1686210"/>
            <a:ext cx="347186" cy="347186"/>
          </a:xfrm>
          <a:prstGeom prst="ellipse">
            <a:avLst/>
          </a:prstGeom>
          <a:solidFill>
            <a:srgbClr val="7D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≡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380744" y="2550318"/>
            <a:ext cx="1620202" cy="1002982"/>
          </a:xfrm>
          <a:prstGeom prst="roundRect">
            <a:avLst>
              <a:gd name="adj" fmla="val 7293"/>
            </a:avLst>
          </a:prstGeom>
          <a:solidFill>
            <a:srgbClr val="C9745B">
              <a:alpha val="6000"/>
            </a:srgbClr>
          </a:solidFill>
          <a:ln w="12700">
            <a:solidFill>
              <a:srgbClr val="C97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1457896" y="2627471"/>
            <a:ext cx="1465897" cy="246887"/>
          </a:xfrm>
          <a:prstGeom prst="roundRect">
            <a:avLst>
              <a:gd name="adj" fmla="val 34375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l"/>
            <a:r>
              <a:rPr sz="750" b="0">
                <a:solidFill>
                  <a:srgbClr val="4B4540"/>
                </a:solidFill>
                <a:latin typeface="Noto Sans KR"/>
                <a:ea typeface="Noto Sans KR"/>
              </a:rPr>
              <a:t>레어 쥐가 태어났다!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457896" y="2936081"/>
            <a:ext cx="1465897" cy="246887"/>
          </a:xfrm>
          <a:prstGeom prst="roundRect">
            <a:avLst>
              <a:gd name="adj" fmla="val 34375"/>
            </a:avLst>
          </a:prstGeom>
          <a:solidFill>
            <a:srgbClr val="FBF7E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l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물건 보충 · 방 2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564159" y="2473166"/>
            <a:ext cx="2546032" cy="771524"/>
          </a:xfrm>
          <a:prstGeom prst="roundRect">
            <a:avLst>
              <a:gd name="adj" fmla="val 9481"/>
            </a:avLst>
          </a:prstGeom>
          <a:solidFill>
            <a:srgbClr val="C9745B">
              <a:alpha val="6000"/>
            </a:srgbClr>
          </a:solidFill>
          <a:ln w="12700">
            <a:solidFill>
              <a:srgbClr val="C97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564159" y="2519457"/>
            <a:ext cx="2546032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000" b="1">
                <a:ln w="15875">
                  <a:solidFill>
                    <a:srgbClr val="3C322D"/>
                  </a:solidFill>
                </a:ln>
                <a:solidFill>
                  <a:srgbClr val="C9E4DC"/>
                </a:solidFill>
                <a:latin typeface="Jua"/>
                <a:ea typeface="Jua"/>
              </a:rPr>
              <a:t>GREAT!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564159" y="2974657"/>
            <a:ext cx="254603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ln w="7620">
                  <a:solidFill>
                    <a:srgbClr val="3C322D"/>
                  </a:solidFill>
                </a:ln>
                <a:solidFill>
                  <a:srgbClr val="FFFFFF"/>
                </a:solidFill>
                <a:latin typeface="Noto Sans KR"/>
                <a:ea typeface="Noto Sans KR"/>
              </a:rPr>
              <a:t>25 콤보 · 수입 ×1.13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255549" y="3437572"/>
            <a:ext cx="3163252" cy="1080135"/>
          </a:xfrm>
          <a:prstGeom prst="roundRect">
            <a:avLst>
              <a:gd name="adj" fmla="val 6772"/>
            </a:avLst>
          </a:prstGeom>
          <a:solidFill>
            <a:srgbClr val="8FA98B">
              <a:alpha val="8000"/>
            </a:srgbClr>
          </a:solidFill>
          <a:ln w="12700">
            <a:solidFill>
              <a:srgbClr val="6F8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255549" y="3881199"/>
            <a:ext cx="316325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6F8A6B"/>
                </a:solidFill>
                <a:latin typeface="Noto Sans KR"/>
                <a:ea typeface="Noto Sans KR"/>
              </a:rPr>
              <a:t>플레이 영역 (UI 금지)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380744" y="4672012"/>
            <a:ext cx="1118711" cy="771524"/>
          </a:xfrm>
          <a:prstGeom prst="roundRect">
            <a:avLst>
              <a:gd name="adj" fmla="val 11000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635347" y="4726019"/>
            <a:ext cx="77152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층 지도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457896" y="4942046"/>
            <a:ext cx="277748" cy="208311"/>
          </a:xfrm>
          <a:prstGeom prst="roundRect">
            <a:avLst>
              <a:gd name="adj" fmla="val 13168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789652" y="4942046"/>
            <a:ext cx="277748" cy="208311"/>
          </a:xfrm>
          <a:prstGeom prst="roundRect">
            <a:avLst>
              <a:gd name="adj" fmla="val 13168"/>
            </a:avLst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2121408" y="4942046"/>
            <a:ext cx="277748" cy="208311"/>
          </a:xfrm>
          <a:prstGeom prst="roundRect">
            <a:avLst>
              <a:gd name="adj" fmla="val 13168"/>
            </a:avLst>
          </a:prstGeom>
          <a:solidFill>
            <a:srgbClr val="E9E1D2"/>
          </a:solidFill>
          <a:ln w="12700">
            <a:solidFill>
              <a:srgbClr val="C97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418802" y="4903469"/>
            <a:ext cx="540067" cy="540067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418802" y="4999910"/>
            <a:ext cx="540067" cy="34718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4B4540"/>
                </a:solidFill>
                <a:latin typeface="Noto Sans KR"/>
                <a:ea typeface="Noto Sans KR"/>
              </a:rPr>
              <a:t/>
            </a:r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필살기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준비!</a:t>
            </a:r>
          </a:p>
        </p:txBody>
      </p:sp>
      <p:sp>
        <p:nvSpPr>
          <p:cNvPr id="209" name="Oval 208"/>
          <p:cNvSpPr/>
          <p:nvPr/>
        </p:nvSpPr>
        <p:spPr>
          <a:xfrm>
            <a:off x="7036022" y="4903469"/>
            <a:ext cx="540067" cy="540067"/>
          </a:xfrm>
          <a:prstGeom prst="ellipse">
            <a:avLst/>
          </a:prstGeom>
          <a:solidFill>
            <a:srgbClr val="BD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036022" y="4903469"/>
            <a:ext cx="540067" cy="540067"/>
          </a:xfrm>
          <a:prstGeom prst="ellipse">
            <a:avLst/>
          </a:prstGeom>
          <a:solidFill>
            <a:srgbClr val="BD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hord 210"/>
          <p:cNvSpPr/>
          <p:nvPr/>
        </p:nvSpPr>
        <p:spPr>
          <a:xfrm>
            <a:off x="7036022" y="4903469"/>
            <a:ext cx="540067" cy="540067"/>
          </a:xfrm>
          <a:prstGeom prst="chord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036022" y="4999910"/>
            <a:ext cx="540067" cy="34718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4B4540"/>
                </a:solidFill>
                <a:latin typeface="Noto Sans KR"/>
                <a:ea typeface="Noto Sans KR"/>
              </a:rPr>
              <a:t/>
            </a:r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슈퍼점프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0:18</a:t>
            </a:r>
          </a:p>
        </p:txBody>
      </p:sp>
      <p:sp>
        <p:nvSpPr>
          <p:cNvPr id="213" name="Oval 212"/>
          <p:cNvSpPr/>
          <p:nvPr/>
        </p:nvSpPr>
        <p:spPr>
          <a:xfrm>
            <a:off x="7653242" y="4903469"/>
            <a:ext cx="540067" cy="540067"/>
          </a:xfrm>
          <a:prstGeom prst="ellips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653242" y="4999910"/>
            <a:ext cx="540067" cy="34718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4B4540"/>
                </a:solidFill>
                <a:latin typeface="Noto Sans KR"/>
                <a:ea typeface="Noto Sans KR"/>
              </a:rPr>
              <a:t/>
            </a:r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자동탭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ON</a:t>
            </a:r>
          </a:p>
        </p:txBody>
      </p:sp>
      <p:sp>
        <p:nvSpPr>
          <p:cNvPr id="215" name="Oval 214"/>
          <p:cNvSpPr/>
          <p:nvPr/>
        </p:nvSpPr>
        <p:spPr>
          <a:xfrm>
            <a:off x="1303591" y="1570481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216" name="Oval 215"/>
          <p:cNvSpPr/>
          <p:nvPr/>
        </p:nvSpPr>
        <p:spPr>
          <a:xfrm>
            <a:off x="3216973" y="1570481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17" name="Oval 216"/>
          <p:cNvSpPr/>
          <p:nvPr/>
        </p:nvSpPr>
        <p:spPr>
          <a:xfrm>
            <a:off x="6225921" y="1570481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218" name="Oval 217"/>
          <p:cNvSpPr/>
          <p:nvPr/>
        </p:nvSpPr>
        <p:spPr>
          <a:xfrm>
            <a:off x="7113174" y="1570481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19" name="Oval 218"/>
          <p:cNvSpPr/>
          <p:nvPr/>
        </p:nvSpPr>
        <p:spPr>
          <a:xfrm>
            <a:off x="1303591" y="2473166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20" name="Oval 219"/>
          <p:cNvSpPr/>
          <p:nvPr/>
        </p:nvSpPr>
        <p:spPr>
          <a:xfrm>
            <a:off x="3487007" y="2396013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221" name="Oval 220"/>
          <p:cNvSpPr/>
          <p:nvPr/>
        </p:nvSpPr>
        <p:spPr>
          <a:xfrm>
            <a:off x="3178397" y="336042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222" name="Oval 221"/>
          <p:cNvSpPr/>
          <p:nvPr/>
        </p:nvSpPr>
        <p:spPr>
          <a:xfrm>
            <a:off x="1303591" y="4594859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223" name="Oval 222"/>
          <p:cNvSpPr/>
          <p:nvPr/>
        </p:nvSpPr>
        <p:spPr>
          <a:xfrm>
            <a:off x="6341649" y="482631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224" name="Oval 223"/>
          <p:cNvSpPr/>
          <p:nvPr/>
        </p:nvSpPr>
        <p:spPr>
          <a:xfrm>
            <a:off x="8732520" y="15544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025128" y="15361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재화 (치즈·초당 수입·연구자료)</a:t>
            </a:r>
          </a:p>
        </p:txBody>
      </p:sp>
      <p:sp>
        <p:nvSpPr>
          <p:cNvPr id="226" name="Oval 225"/>
          <p:cNvSpPr/>
          <p:nvPr/>
        </p:nvSpPr>
        <p:spPr>
          <a:xfrm>
            <a:off x="8732520" y="20116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025128" y="19933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층 목표 (찍찍 게이지)</a:t>
            </a:r>
          </a:p>
        </p:txBody>
      </p:sp>
      <p:sp>
        <p:nvSpPr>
          <p:cNvPr id="228" name="Oval 227"/>
          <p:cNvSpPr/>
          <p:nvPr/>
        </p:nvSpPr>
        <p:spPr>
          <a:xfrm>
            <a:off x="8732520" y="24688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025128" y="24505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남은 시간</a:t>
            </a:r>
          </a:p>
        </p:txBody>
      </p:sp>
      <p:sp>
        <p:nvSpPr>
          <p:cNvPr id="230" name="Oval 229"/>
          <p:cNvSpPr/>
          <p:nvPr/>
        </p:nvSpPr>
        <p:spPr>
          <a:xfrm>
            <a:off x="8732520" y="29260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025128" y="29077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쥐 수 · 메뉴</a:t>
            </a:r>
          </a:p>
        </p:txBody>
      </p:sp>
      <p:sp>
        <p:nvSpPr>
          <p:cNvPr id="232" name="Oval 231"/>
          <p:cNvSpPr/>
          <p:nvPr/>
        </p:nvSpPr>
        <p:spPr>
          <a:xfrm>
            <a:off x="8732520" y="33832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9025128" y="33649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알림 (최대 3줄, 3초)</a:t>
            </a:r>
          </a:p>
        </p:txBody>
      </p:sp>
      <p:sp>
        <p:nvSpPr>
          <p:cNvPr id="234" name="Oval 233"/>
          <p:cNvSpPr/>
          <p:nvPr/>
        </p:nvSpPr>
        <p:spPr>
          <a:xfrm>
            <a:off x="8732520" y="38404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025128" y="38221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콤보 배너 자리</a:t>
            </a:r>
          </a:p>
        </p:txBody>
      </p:sp>
      <p:sp>
        <p:nvSpPr>
          <p:cNvPr id="236" name="Oval 235"/>
          <p:cNvSpPr/>
          <p:nvPr/>
        </p:nvSpPr>
        <p:spPr>
          <a:xfrm>
            <a:off x="8732520" y="42976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025128" y="42793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플레이 영역 (UI 금지)</a:t>
            </a:r>
          </a:p>
        </p:txBody>
      </p:sp>
      <p:sp>
        <p:nvSpPr>
          <p:cNvPr id="238" name="Oval 237"/>
          <p:cNvSpPr/>
          <p:nvPr/>
        </p:nvSpPr>
        <p:spPr>
          <a:xfrm>
            <a:off x="8732520" y="47548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025128" y="47365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층 지도 (뚫린 길·밝은 벽)</a:t>
            </a:r>
          </a:p>
        </p:txBody>
      </p:sp>
      <p:sp>
        <p:nvSpPr>
          <p:cNvPr id="240" name="Oval 239"/>
          <p:cNvSpPr/>
          <p:nvPr/>
        </p:nvSpPr>
        <p:spPr>
          <a:xfrm>
            <a:off x="8732520" y="52120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025128" y="51937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실행 버튼 3개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732520" y="5760720"/>
            <a:ext cx="2194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6F8A6B"/>
                </a:solidFill>
                <a:latin typeface="Noto Sans KR"/>
                <a:ea typeface="Noto Sans KR"/>
              </a:rPr>
              <a:t>초록 점선 = 안전 영역</a:t>
            </a:r>
          </a:p>
          <a:p>
            <a:pPr algn="l"/>
            <a:r>
              <a:rPr sz="850" b="0">
                <a:solidFill>
                  <a:srgbClr val="6F8A6B"/>
                </a:solidFill>
                <a:latin typeface="Noto Sans KR"/>
                <a:ea typeface="Noto Sans KR"/>
              </a:rPr>
              <a:t>(상하 36 / 좌우 64px)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인게임 HUD 배치 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1463040"/>
                <a:gridCol w="649224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위치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왼쪽 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시선이 시작되는 자리. 가장 자주 확인하는 "얼마나 벌고 있나"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목표 (찍찍)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 가운데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"이번 층을 넘을 수 있나"가 이 게임의 핵심 질문이라 가장 넓은 자리에 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남은 시간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 옆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목표와 시간은 함께 봐야 의미가 있음. 30초 이하에서 테라색 + 경고 필터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수·메뉴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오른쪽 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등급별 마릿수는 늘 띄우면 플레이 영역을 가리므로 쥐 수를 누르면 펼침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왼쪽 가운데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3줄, 3초 후 사라짐. 플레이 영역을 가리지 않는 여백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배너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가운데 위 1/3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정가운데는 손가락과 쥐 떼 자리. 그 바로 위가 보이지만 가리지 않는 자리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 영역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가운데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UI를 두지 않음. 손가락이 가장 자주 닿는 곳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지도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왼쪽 아래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부숴서 넓힌 길과 아직 남은 밝은 벽(D3)을 표시. 길 찾기가 핵심이라 늘 띄워 두되 왼손 엄지 자리 구석에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실행 버튼 3개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오른쪽 아래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강화는 로비에서 하므로 판 안에는 필살기·슈퍼점프·자동탭만. 오른손 엄지 자리에 크게(140px)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5696712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실행 버튼 상태 : 준비 완료 = 고유색이 꽉 참 / 쿨타임 = 회색 위로 아래부터 색이 차오르고 남은 초 표시. 글자를 안 읽어도 차오른 높이로 남은 시간을 앎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로비 배치도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7406640" cy="4166234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508760"/>
            <a:ext cx="7406640" cy="4166234"/>
          </a:xfrm>
          <a:prstGeom prst="rect">
            <a:avLst/>
          </a:prstGeom>
          <a:gradFill rotWithShape="1">
            <a:gsLst>
              <a:gs pos="0">
                <a:srgbClr val="5A3C28">
                  <a:alpha val="0"/>
                </a:srgbClr>
              </a:gs>
              <a:gs pos="45000">
                <a:srgbClr val="5A3C28">
                  <a:alpha val="0"/>
                </a:srgbClr>
              </a:gs>
              <a:gs pos="100000">
                <a:srgbClr val="5A3C28">
                  <a:alpha val="3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1508760"/>
            <a:ext cx="7406640" cy="455199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1925383"/>
            <a:ext cx="7406640" cy="46291"/>
          </a:xfrm>
          <a:prstGeom prst="rect">
            <a:avLst/>
          </a:prstGeom>
          <a:solidFill>
            <a:srgbClr val="6F5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80744" y="1616773"/>
            <a:ext cx="925830" cy="246887"/>
          </a:xfrm>
          <a:prstGeom prst="roundRect">
            <a:avLst>
              <a:gd name="adj" fmla="val 18518"/>
            </a:avLst>
          </a:prstGeom>
          <a:solidFill>
            <a:srgbClr val="C69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◀ 아지트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4024" y="1624488"/>
            <a:ext cx="617219" cy="231457"/>
          </a:xfrm>
          <a:prstGeom prst="roundRect">
            <a:avLst>
              <a:gd name="adj" fmla="val 19753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4B4540"/>
                </a:solidFill>
                <a:latin typeface="Noto Sans KR"/>
                <a:ea typeface="Noto Sans KR"/>
              </a:rPr>
              <a:t>작전 회의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9109" y="1624488"/>
            <a:ext cx="617219" cy="231457"/>
          </a:xfrm>
          <a:prstGeom prst="roundRect">
            <a:avLst>
              <a:gd name="adj" fmla="val 19753"/>
            </a:avLst>
          </a:prstGeom>
          <a:solidFill>
            <a:srgbClr val="C69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훈장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4193" y="1624488"/>
            <a:ext cx="617219" cy="231457"/>
          </a:xfrm>
          <a:prstGeom prst="roundRect">
            <a:avLst>
              <a:gd name="adj" fmla="val 19753"/>
            </a:avLst>
          </a:prstGeom>
          <a:solidFill>
            <a:srgbClr val="C69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훈련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9277" y="1624488"/>
            <a:ext cx="617219" cy="231457"/>
          </a:xfrm>
          <a:prstGeom prst="roundRect">
            <a:avLst>
              <a:gd name="adj" fmla="val 19753"/>
            </a:avLst>
          </a:prstGeom>
          <a:solidFill>
            <a:srgbClr val="C69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창고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4362" y="1624488"/>
            <a:ext cx="617219" cy="231457"/>
          </a:xfrm>
          <a:prstGeom prst="roundRect">
            <a:avLst>
              <a:gd name="adj" fmla="val 19753"/>
            </a:avLst>
          </a:prstGeom>
          <a:solidFill>
            <a:srgbClr val="C69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친구들</a:t>
            </a:r>
          </a:p>
        </p:txBody>
      </p:sp>
      <p:sp>
        <p:nvSpPr>
          <p:cNvPr id="18" name="Oval 17"/>
          <p:cNvSpPr/>
          <p:nvPr/>
        </p:nvSpPr>
        <p:spPr>
          <a:xfrm>
            <a:off x="4374261" y="1639919"/>
            <a:ext cx="54006" cy="54006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20293" y="1616773"/>
            <a:ext cx="732948" cy="246887"/>
          </a:xfrm>
          <a:prstGeom prst="roundRect">
            <a:avLst>
              <a:gd name="adj" fmla="val 50000"/>
            </a:avLst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치즈 5.00K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30394" y="1616773"/>
            <a:ext cx="563213" cy="246887"/>
          </a:xfrm>
          <a:prstGeom prst="roundRect">
            <a:avLst>
              <a:gd name="adj" fmla="val 50000"/>
            </a:avLst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</a:rPr>
              <a:t>자료 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80744" y="2125979"/>
            <a:ext cx="4166234" cy="3317557"/>
          </a:xfrm>
          <a:prstGeom prst="roundRect">
            <a:avLst>
              <a:gd name="adj" fmla="val 2558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19618" y="2226278"/>
            <a:ext cx="2314574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탈출 작전 회의</a:t>
            </a:r>
          </a:p>
        </p:txBody>
      </p:sp>
      <p:sp>
        <p:nvSpPr>
          <p:cNvPr id="23" name="Oval 22"/>
          <p:cNvSpPr/>
          <p:nvPr/>
        </p:nvSpPr>
        <p:spPr>
          <a:xfrm>
            <a:off x="1558194" y="2550318"/>
            <a:ext cx="370331" cy="370331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2059686" y="2550318"/>
            <a:ext cx="370331" cy="370331"/>
          </a:xfrm>
          <a:prstGeom prst="ellipse">
            <a:avLst/>
          </a:prstGeom>
          <a:noFill/>
          <a:ln w="15875">
            <a:solidFill>
              <a:srgbClr val="7D74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2561177" y="2550318"/>
            <a:ext cx="370331" cy="370331"/>
          </a:xfrm>
          <a:prstGeom prst="ellipse">
            <a:avLst/>
          </a:prstGeom>
          <a:noFill/>
          <a:ln w="15875">
            <a:solidFill>
              <a:srgbClr val="7D74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3062668" y="2550318"/>
            <a:ext cx="370331" cy="370331"/>
          </a:xfrm>
          <a:prstGeom prst="ellipse">
            <a:avLst/>
          </a:prstGeom>
          <a:noFill/>
          <a:ln w="15875">
            <a:solidFill>
              <a:srgbClr val="D6CD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D6CDB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19618" y="3090386"/>
            <a:ext cx="1890236" cy="277748"/>
          </a:xfrm>
          <a:prstGeom prst="roundRect">
            <a:avLst>
              <a:gd name="adj" fmla="val 13168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340" y="3159823"/>
            <a:ext cx="84867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구역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8296" y="3159823"/>
            <a:ext cx="98369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50" b="1">
                <a:solidFill>
                  <a:srgbClr val="4B4540"/>
                </a:solidFill>
                <a:latin typeface="Noto Sans KR"/>
                <a:ea typeface="Noto Sans KR"/>
              </a:rPr>
              <a:t>지하 비밀 실험실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87007" y="3090386"/>
            <a:ext cx="1890236" cy="277748"/>
          </a:xfrm>
          <a:prstGeom prst="roundRect">
            <a:avLst>
              <a:gd name="adj" fmla="val 13168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8729" y="3159823"/>
            <a:ext cx="84867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제한시간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5684" y="3159823"/>
            <a:ext cx="98369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50" b="1">
                <a:solidFill>
                  <a:srgbClr val="4B4540"/>
                </a:solidFill>
                <a:latin typeface="Noto Sans KR"/>
                <a:ea typeface="Noto Sans KR"/>
              </a:rPr>
              <a:t>4:55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19618" y="3437572"/>
            <a:ext cx="1890236" cy="277748"/>
          </a:xfrm>
          <a:prstGeom prst="roundRect">
            <a:avLst>
              <a:gd name="adj" fmla="val 13168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81340" y="3507009"/>
            <a:ext cx="84867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8296" y="3507009"/>
            <a:ext cx="98369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50" b="1">
                <a:solidFill>
                  <a:srgbClr val="4B4540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87007" y="3437572"/>
            <a:ext cx="1890236" cy="277748"/>
          </a:xfrm>
          <a:prstGeom prst="roundRect">
            <a:avLst>
              <a:gd name="adj" fmla="val 13168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8729" y="3507009"/>
            <a:ext cx="84867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목표 찍찍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5684" y="3507009"/>
            <a:ext cx="98369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50" b="1">
                <a:solidFill>
                  <a:srgbClr val="4B4540"/>
                </a:solidFill>
                <a:latin typeface="Noto Sans KR"/>
                <a:ea typeface="Noto Sans KR"/>
              </a:rPr>
              <a:t>400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19618" y="3861911"/>
            <a:ext cx="3857624" cy="1427321"/>
          </a:xfrm>
          <a:prstGeom prst="roundRect">
            <a:avLst>
              <a:gd name="adj" fmla="val 3843"/>
            </a:avLst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0">
                <a:solidFill>
                  <a:srgbClr val="7D746B"/>
                </a:solidFill>
                <a:latin typeface="Noto Sans KR"/>
                <a:ea typeface="Noto Sans KR"/>
              </a:rPr>
              <a:t>층 미리보기 (방 구성 · 등장 물건 · 위협)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85853" y="2125979"/>
            <a:ext cx="2607754" cy="3317557"/>
          </a:xfrm>
          <a:prstGeom prst="roundRect">
            <a:avLst>
              <a:gd name="adj" fmla="val 3254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24727" y="2226278"/>
            <a:ext cx="154304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출동 멤버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7" y="2473166"/>
            <a:ext cx="154304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C9745B"/>
                </a:solidFill>
                <a:latin typeface="Noto Sans KR"/>
                <a:ea typeface="Noto Sans KR"/>
              </a:rPr>
              <a:t>8마리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4727" y="2858928"/>
            <a:ext cx="11572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일반 89%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24727" y="2993945"/>
            <a:ext cx="2314574" cy="61721"/>
          </a:xfrm>
          <a:prstGeom prst="roundRect">
            <a:avLst>
              <a:gd name="adj" fmla="val 50000"/>
            </a:avLst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24727" y="2993945"/>
            <a:ext cx="2059971" cy="61721"/>
          </a:xfrm>
          <a:prstGeom prst="roundRect">
            <a:avLst>
              <a:gd name="adj" fmla="val 50000"/>
            </a:avLst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24727" y="3128962"/>
            <a:ext cx="11572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레어 8.9%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24727" y="3263979"/>
            <a:ext cx="2314574" cy="61721"/>
          </a:xfrm>
          <a:prstGeom prst="roundRect">
            <a:avLst>
              <a:gd name="adj" fmla="val 50000"/>
            </a:avLst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824727" y="3263979"/>
            <a:ext cx="208311" cy="61721"/>
          </a:xfrm>
          <a:prstGeom prst="roundRect">
            <a:avLst>
              <a:gd name="adj" fmla="val 50000"/>
            </a:avLst>
          </a:prstGeom>
          <a:solidFill>
            <a:srgbClr val="7F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24727" y="3398996"/>
            <a:ext cx="11572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에픽 1.4%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24727" y="3534013"/>
            <a:ext cx="2314574" cy="61721"/>
          </a:xfrm>
          <a:prstGeom prst="roundRect">
            <a:avLst>
              <a:gd name="adj" fmla="val 50000"/>
            </a:avLst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24727" y="3534013"/>
            <a:ext cx="61721" cy="61721"/>
          </a:xfrm>
          <a:prstGeom prst="roundRect">
            <a:avLst>
              <a:gd name="adj" fmla="val 50000"/>
            </a:avLst>
          </a:prstGeom>
          <a:solidFill>
            <a:srgbClr val="987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24727" y="4864893"/>
            <a:ext cx="2330005" cy="478345"/>
          </a:xfrm>
          <a:prstGeom prst="roundRect">
            <a:avLst>
              <a:gd name="adj" fmla="val 15292"/>
            </a:avLst>
          </a:prstGeom>
          <a:solidFill>
            <a:srgbClr val="8A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824727" y="4810887"/>
            <a:ext cx="2330005" cy="478345"/>
          </a:xfrm>
          <a:prstGeom prst="roundRect">
            <a:avLst>
              <a:gd name="adj" fmla="val 15292"/>
            </a:avLst>
          </a:prstGeom>
          <a:solidFill>
            <a:srgbClr val="B07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  <a:ea typeface="Noto Sans KR"/>
              </a:rPr>
              <a:t>1층으로 출발!</a:t>
            </a:r>
          </a:p>
        </p:txBody>
      </p:sp>
      <p:sp>
        <p:nvSpPr>
          <p:cNvPr id="54" name="Oval 53"/>
          <p:cNvSpPr/>
          <p:nvPr/>
        </p:nvSpPr>
        <p:spPr>
          <a:xfrm>
            <a:off x="1303591" y="1547336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2406872" y="1547336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56" name="Oval 55"/>
          <p:cNvSpPr/>
          <p:nvPr/>
        </p:nvSpPr>
        <p:spPr>
          <a:xfrm>
            <a:off x="6843141" y="1547336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57" name="Oval 56"/>
          <p:cNvSpPr/>
          <p:nvPr/>
        </p:nvSpPr>
        <p:spPr>
          <a:xfrm>
            <a:off x="1303591" y="204882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58" name="Oval 57"/>
          <p:cNvSpPr/>
          <p:nvPr/>
        </p:nvSpPr>
        <p:spPr>
          <a:xfrm>
            <a:off x="5608700" y="204882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59" name="Oval 58"/>
          <p:cNvSpPr/>
          <p:nvPr/>
        </p:nvSpPr>
        <p:spPr>
          <a:xfrm>
            <a:off x="8077580" y="4710588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8732520" y="15544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25128" y="15361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아지트(홈)로 돌아가기</a:t>
            </a:r>
          </a:p>
        </p:txBody>
      </p:sp>
      <p:sp>
        <p:nvSpPr>
          <p:cNvPr id="62" name="Oval 61"/>
          <p:cNvSpPr/>
          <p:nvPr/>
        </p:nvSpPr>
        <p:spPr>
          <a:xfrm>
            <a:off x="8732520" y="20116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5128" y="19933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로비 탭 (회의·훈장·훈련·창고·친구)</a:t>
            </a:r>
          </a:p>
        </p:txBody>
      </p:sp>
      <p:sp>
        <p:nvSpPr>
          <p:cNvPr id="64" name="Oval 63"/>
          <p:cNvSpPr/>
          <p:nvPr/>
        </p:nvSpPr>
        <p:spPr>
          <a:xfrm>
            <a:off x="8732520" y="24688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25128" y="24505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보유 재화 (어두운 알약)</a:t>
            </a:r>
          </a:p>
        </p:txBody>
      </p:sp>
      <p:sp>
        <p:nvSpPr>
          <p:cNvPr id="66" name="Oval 65"/>
          <p:cNvSpPr/>
          <p:nvPr/>
        </p:nvSpPr>
        <p:spPr>
          <a:xfrm>
            <a:off x="8732520" y="29260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5128" y="29077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왼쪽 = 정보 (어디로 가나)</a:t>
            </a:r>
          </a:p>
        </p:txBody>
      </p:sp>
      <p:sp>
        <p:nvSpPr>
          <p:cNvPr id="68" name="Oval 67"/>
          <p:cNvSpPr/>
          <p:nvPr/>
        </p:nvSpPr>
        <p:spPr>
          <a:xfrm>
            <a:off x="8732520" y="33832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5128" y="33649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오른쪽 = 결정 (누가 가나)</a:t>
            </a:r>
          </a:p>
        </p:txBody>
      </p:sp>
      <p:sp>
        <p:nvSpPr>
          <p:cNvPr id="70" name="Oval 69"/>
          <p:cNvSpPr/>
          <p:nvPr/>
        </p:nvSpPr>
        <p:spPr>
          <a:xfrm>
            <a:off x="8732520" y="38404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25128" y="38221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출발 버튼 (가장 큰 버튼)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4389120"/>
            <a:ext cx="2194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탭의 빨간 점 = 살 수 있는 강화 있음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로비 배치 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2377440"/>
                <a:gridCol w="53035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아지트로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홈으로 돌아가기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뒤로 가기는 항상 왼쪽 위. 모든 앱의 관습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탭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회의·훈장·훈련·창고·친구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판 사이에 할 일을 탭으로 나눔. 살 수 있는 강화가 있으면 빨간 점으로 다음 할 일 안내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보유 재화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치즈·연구자료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오른쪽 위. 강화 화면에서도 같은 자리라 늘 확인 가능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정보 패널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층·구역·시간·방·목표·미리보기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왼쪽→오른쪽 읽는 순서로 "어디로 → 누구와 → 출발" 흐름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결정 패널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출동 멤버·등급 확률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정보를 본 다음에 결정하는 순서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출발 버튼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판 시작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화면에서 가장 큰 버튼, 오른손 엄지 자리. 로비의 최종 목적지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강화 화면 배치도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7406640" cy="4166234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508760"/>
            <a:ext cx="7406640" cy="455199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1925383"/>
            <a:ext cx="7406640" cy="46291"/>
          </a:xfrm>
          <a:prstGeom prst="rect">
            <a:avLst/>
          </a:prstGeom>
          <a:solidFill>
            <a:srgbClr val="6F5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0744" y="1663064"/>
            <a:ext cx="462914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F6EFE2"/>
                </a:solidFill>
                <a:latin typeface="Noto Sans KR"/>
                <a:ea typeface="Noto Sans KR"/>
              </a:rPr>
              <a:t>로비 상단 바 (훈련 탭 선택)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0744" y="2125979"/>
            <a:ext cx="4436268" cy="3317557"/>
          </a:xfrm>
          <a:prstGeom prst="roundRect">
            <a:avLst>
              <a:gd name="adj" fmla="val 2756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598878" y="4286250"/>
            <a:ext cx="0" cy="694372"/>
          </a:xfrm>
          <a:prstGeom prst="line">
            <a:avLst/>
          </a:prstGeom>
          <a:ln w="50800">
            <a:solidFill>
              <a:srgbClr val="8FA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638329" y="3669029"/>
            <a:ext cx="960549" cy="617221"/>
          </a:xfrm>
          <a:prstGeom prst="line">
            <a:avLst/>
          </a:prstGeom>
          <a:ln w="50800">
            <a:solidFill>
              <a:srgbClr val="8FA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598878" y="3669029"/>
            <a:ext cx="960548" cy="617221"/>
          </a:xfrm>
          <a:prstGeom prst="line">
            <a:avLst/>
          </a:prstGeom>
          <a:ln w="50800">
            <a:solidFill>
              <a:srgbClr val="CB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598878" y="3437572"/>
            <a:ext cx="0" cy="848678"/>
          </a:xfrm>
          <a:prstGeom prst="line">
            <a:avLst/>
          </a:prstGeom>
          <a:ln w="50800">
            <a:solidFill>
              <a:srgbClr val="CB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38329" y="2897504"/>
            <a:ext cx="0" cy="771525"/>
          </a:xfrm>
          <a:prstGeom prst="line">
            <a:avLst/>
          </a:prstGeom>
          <a:ln w="50800">
            <a:solidFill>
              <a:srgbClr val="CB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59426" y="2897504"/>
            <a:ext cx="0" cy="771525"/>
          </a:xfrm>
          <a:prstGeom prst="line">
            <a:avLst/>
          </a:prstGeom>
          <a:ln w="50800">
            <a:solidFill>
              <a:srgbClr val="CB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48132" y="4729876"/>
            <a:ext cx="501491" cy="501491"/>
          </a:xfrm>
          <a:prstGeom prst="ellipse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탭 힘 7</a:t>
            </a:r>
          </a:p>
        </p:txBody>
      </p:sp>
      <p:sp>
        <p:nvSpPr>
          <p:cNvPr id="20" name="Oval 19"/>
          <p:cNvSpPr/>
          <p:nvPr/>
        </p:nvSpPr>
        <p:spPr>
          <a:xfrm>
            <a:off x="3348132" y="4035504"/>
            <a:ext cx="501491" cy="501491"/>
          </a:xfrm>
          <a:prstGeom prst="ellipse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번식 4</a:t>
            </a:r>
          </a:p>
        </p:txBody>
      </p:sp>
      <p:sp>
        <p:nvSpPr>
          <p:cNvPr id="21" name="Oval 20"/>
          <p:cNvSpPr/>
          <p:nvPr/>
        </p:nvSpPr>
        <p:spPr>
          <a:xfrm>
            <a:off x="2368296" y="3398996"/>
            <a:ext cx="540067" cy="54006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7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4B4540"/>
                </a:solidFill>
                <a:latin typeface="Noto Sans KR"/>
                <a:ea typeface="Noto Sans KR"/>
              </a:rPr>
              <a:t>돌진 2</a:t>
            </a:r>
          </a:p>
        </p:txBody>
      </p:sp>
      <p:sp>
        <p:nvSpPr>
          <p:cNvPr id="22" name="Oval 21"/>
          <p:cNvSpPr/>
          <p:nvPr/>
        </p:nvSpPr>
        <p:spPr>
          <a:xfrm>
            <a:off x="4308681" y="3418284"/>
            <a:ext cx="501491" cy="5014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4B4540"/>
                </a:solidFill>
                <a:latin typeface="Noto Sans KR"/>
                <a:ea typeface="Noto Sans KR"/>
              </a:rPr>
              <a:t>수입 0</a:t>
            </a:r>
          </a:p>
        </p:txBody>
      </p:sp>
      <p:sp>
        <p:nvSpPr>
          <p:cNvPr id="23" name="Oval 22"/>
          <p:cNvSpPr/>
          <p:nvPr/>
        </p:nvSpPr>
        <p:spPr>
          <a:xfrm>
            <a:off x="3348132" y="3186826"/>
            <a:ext cx="501491" cy="5014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4B4540"/>
                </a:solidFill>
                <a:latin typeface="Noto Sans KR"/>
                <a:ea typeface="Noto Sans KR"/>
              </a:rPr>
              <a:t>덫 0</a:t>
            </a:r>
          </a:p>
        </p:txBody>
      </p:sp>
      <p:sp>
        <p:nvSpPr>
          <p:cNvPr id="24" name="Oval 23"/>
          <p:cNvSpPr/>
          <p:nvPr/>
        </p:nvSpPr>
        <p:spPr>
          <a:xfrm>
            <a:off x="2387584" y="2646759"/>
            <a:ext cx="501491" cy="501491"/>
          </a:xfrm>
          <a:prstGeom prst="ellipse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A8A29A"/>
                </a:solidFill>
                <a:latin typeface="Noto Sans KR"/>
                <a:ea typeface="Noto Sans KR"/>
              </a:rPr>
              <a:t>잠김</a:t>
            </a:r>
          </a:p>
        </p:txBody>
      </p:sp>
      <p:sp>
        <p:nvSpPr>
          <p:cNvPr id="25" name="Oval 24"/>
          <p:cNvSpPr/>
          <p:nvPr/>
        </p:nvSpPr>
        <p:spPr>
          <a:xfrm>
            <a:off x="4308681" y="2646759"/>
            <a:ext cx="501491" cy="501491"/>
          </a:xfrm>
          <a:prstGeom prst="ellipse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A8A29A"/>
                </a:solidFill>
                <a:latin typeface="Noto Sans KR"/>
                <a:ea typeface="Noto Sans KR"/>
              </a:rPr>
              <a:t>잠김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55887" y="2125979"/>
            <a:ext cx="2337720" cy="3317557"/>
          </a:xfrm>
          <a:prstGeom prst="roundRect">
            <a:avLst>
              <a:gd name="adj" fmla="val 3630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10192" y="2280285"/>
            <a:ext cx="424338" cy="424338"/>
          </a:xfrm>
          <a:prstGeom prst="roundRect">
            <a:avLst>
              <a:gd name="adj" fmla="val 12929"/>
            </a:avLst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683" y="2299573"/>
            <a:ext cx="154304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4B4540"/>
                </a:solidFill>
                <a:latin typeface="Noto Sans KR"/>
                <a:ea typeface="Noto Sans KR"/>
              </a:rPr>
              <a:t>돌진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683" y="2531030"/>
            <a:ext cx="1543049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7D746B"/>
                </a:solidFill>
                <a:latin typeface="Noto Sans KR"/>
                <a:ea typeface="Noto Sans KR"/>
              </a:rPr>
              <a:t>Lv 2 →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0192" y="2858928"/>
            <a:ext cx="208311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쥐가 물건까지 달려가는 속도가 빨라진다.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10192" y="3128962"/>
            <a:ext cx="2029110" cy="540067"/>
          </a:xfrm>
          <a:prstGeom prst="roundRect">
            <a:avLst>
              <a:gd name="adj" fmla="val 677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7344" y="3206114"/>
            <a:ext cx="1890236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50" b="0">
                <a:solidFill>
                  <a:srgbClr val="4B4540"/>
                </a:solidFill>
                <a:latin typeface="Noto Sans KR"/>
                <a:ea typeface="Noto Sans KR"/>
              </a:rPr>
              <a:t>이동 속도   120 → 135</a:t>
            </a:r>
          </a:p>
          <a:p>
            <a:pPr algn="l"/>
            <a:r>
              <a:rPr sz="750" b="0">
                <a:solidFill>
                  <a:srgbClr val="4B4540"/>
                </a:solidFill>
                <a:latin typeface="Noto Sans KR"/>
                <a:ea typeface="Noto Sans KR"/>
              </a:rPr>
              <a:t>물건 도착 시간   1.4초 → 1.2초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0192" y="4903469"/>
            <a:ext cx="2029110" cy="424338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1.20K 강화</a:t>
            </a:r>
          </a:p>
        </p:txBody>
      </p:sp>
      <p:sp>
        <p:nvSpPr>
          <p:cNvPr id="34" name="Oval 33"/>
          <p:cNvSpPr/>
          <p:nvPr/>
        </p:nvSpPr>
        <p:spPr>
          <a:xfrm>
            <a:off x="1303591" y="204882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2291143" y="3321843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5878734" y="204882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8039004" y="4826317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8732520" y="15544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15361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트리 (아래→위로 자람)</a:t>
            </a:r>
          </a:p>
        </p:txBody>
      </p:sp>
      <p:sp>
        <p:nvSpPr>
          <p:cNvPr id="40" name="Oval 39"/>
          <p:cNvSpPr/>
          <p:nvPr/>
        </p:nvSpPr>
        <p:spPr>
          <a:xfrm>
            <a:off x="8732520" y="20116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19933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선택한 노드 (테라 테두리)</a:t>
            </a:r>
          </a:p>
        </p:txBody>
      </p:sp>
      <p:sp>
        <p:nvSpPr>
          <p:cNvPr id="42" name="Oval 41"/>
          <p:cNvSpPr/>
          <p:nvPr/>
        </p:nvSpPr>
        <p:spPr>
          <a:xfrm>
            <a:off x="8732520" y="24688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24505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상세 : 지금 → 다음 수치</a:t>
            </a:r>
          </a:p>
        </p:txBody>
      </p:sp>
      <p:sp>
        <p:nvSpPr>
          <p:cNvPr id="44" name="Oval 43"/>
          <p:cNvSpPr/>
          <p:nvPr/>
        </p:nvSpPr>
        <p:spPr>
          <a:xfrm>
            <a:off x="8732520" y="2926080"/>
            <a:ext cx="237744" cy="237744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5128" y="2907792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구매 버튼 (위치 고정)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566160"/>
            <a:ext cx="219456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노드 색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초록 = 이미 찍음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흰색 = 지금 살 수 있음</a:t>
            </a:r>
          </a:p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회색 = 잠김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강화 화면 배치 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2377440"/>
                <a:gridCol w="53035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강화 노드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아래에서 위로 자람. 아래층에서 위층으로 탈출하는 이야기와 같은 방향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선택한 노드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지금 보는 강화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테라 테두리만 바꿔 다른 상태 색(초록·흰색·회색)과 섞이지 않게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이름·설명·지금 → 다음 수치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공식이 아니라 "무엇이 얼마나 좋아지나"만. 좋아지는 값은 세이지색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 버튼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위치 고정. 같은 강화를 손가락 이동 없이 연타. 돈이 모자라면 버튼만 회색, 노드는 흰색 유지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4105656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노드 색은 UI 상태색 규칙과 같음 : 초록 = 이미 찍음, 흰색 = 지금 살 수 있음, 회색 = 잠김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 - 판 결과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4800600" cy="2700337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1216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047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6878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4708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25395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03703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82011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19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38627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16935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95243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73551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51859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30167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08475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86783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65091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43399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21707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001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7832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5663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3494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1324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9155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6986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3856" y="193669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33856" y="211500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3856" y="229331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33856" y="2471623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33856" y="2649931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33856" y="282823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3856" y="300654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3856" y="318485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33856" y="3363163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33856" y="3541471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3856" y="371977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3856" y="389808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3856" y="407639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33856" y="1508760"/>
            <a:ext cx="4800600" cy="112334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3856" y="1621094"/>
            <a:ext cx="4800600" cy="137297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0108" y="1508760"/>
            <a:ext cx="960120" cy="11233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50108" y="1621094"/>
            <a:ext cx="960120" cy="137297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>
            <a:off x="3455959" y="1621094"/>
            <a:ext cx="30191" cy="62407"/>
          </a:xfrm>
          <a:prstGeom prst="line">
            <a:avLst/>
          </a:prstGeom>
          <a:ln w="104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455959" y="1683501"/>
            <a:ext cx="35286" cy="62408"/>
          </a:xfrm>
          <a:prstGeom prst="line">
            <a:avLst/>
          </a:prstGeom>
          <a:ln w="104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353083" y="1933133"/>
            <a:ext cx="416051" cy="4992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373886" y="1550365"/>
            <a:ext cx="374446" cy="416051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94688" y="1579488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15491" y="1604451"/>
            <a:ext cx="83210" cy="79049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40306" y="1621094"/>
            <a:ext cx="58247" cy="62407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94688" y="1708464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15491" y="1733428"/>
            <a:ext cx="83210" cy="79049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40306" y="1750070"/>
            <a:ext cx="58247" cy="62407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94688" y="1837441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15491" y="1862404"/>
            <a:ext cx="83210" cy="79049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40306" y="1879046"/>
            <a:ext cx="58247" cy="62407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48803" y="1969434"/>
            <a:ext cx="556320" cy="4279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91597" y="1819656"/>
            <a:ext cx="32095" cy="160477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30235" y="1819656"/>
            <a:ext cx="32095" cy="160477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59502" y="1776862"/>
            <a:ext cx="534924" cy="534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59502" y="1712671"/>
            <a:ext cx="534924" cy="74889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218231" y="2762305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 rot="20100000">
            <a:off x="3188275" y="2727357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3209" y="2677431"/>
            <a:ext cx="154771" cy="84874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53179" y="2727357"/>
            <a:ext cx="119822" cy="32452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8054" y="2662453"/>
            <a:ext cx="82378" cy="67400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8054" y="2637490"/>
            <a:ext cx="39940" cy="39940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412943" y="2692409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87980" y="2677431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348039" y="2597549"/>
            <a:ext cx="49926" cy="4992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43047" y="2642482"/>
            <a:ext cx="59911" cy="12481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910523" y="2857306"/>
            <a:ext cx="161665" cy="2020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971147" y="2687557"/>
            <a:ext cx="40416" cy="72749"/>
          </a:xfrm>
          <a:prstGeom prst="roundRect">
            <a:avLst>
              <a:gd name="adj" fmla="val 19999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965085" y="2675432"/>
            <a:ext cx="52541" cy="20208"/>
          </a:xfrm>
          <a:prstGeom prst="roundRect">
            <a:avLst>
              <a:gd name="adj" fmla="val 29999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926689" y="2736057"/>
            <a:ext cx="129332" cy="121249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38814" y="2788598"/>
            <a:ext cx="105082" cy="60624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950939" y="2752223"/>
            <a:ext cx="20208" cy="20208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080327" y="2920837"/>
            <a:ext cx="161665" cy="2020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140952" y="2751088"/>
            <a:ext cx="40416" cy="72749"/>
          </a:xfrm>
          <a:prstGeom prst="roundRect">
            <a:avLst>
              <a:gd name="adj" fmla="val 19999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134889" y="2738963"/>
            <a:ext cx="52541" cy="20208"/>
          </a:xfrm>
          <a:prstGeom prst="roundRect">
            <a:avLst>
              <a:gd name="adj" fmla="val 29999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096493" y="2799588"/>
            <a:ext cx="129332" cy="121249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108618" y="2852129"/>
            <a:ext cx="105082" cy="60624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120743" y="2815754"/>
            <a:ext cx="20208" cy="20208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705913" y="2945394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 rot="20100000">
            <a:off x="1675957" y="2910446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720891" y="2860520"/>
            <a:ext cx="154771" cy="8487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740861" y="2910446"/>
            <a:ext cx="119822" cy="32452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825736" y="2845542"/>
            <a:ext cx="82378" cy="67400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825736" y="2820579"/>
            <a:ext cx="39940" cy="39940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900625" y="2875498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875662" y="2860520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372705" y="3090559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 rot="20100000">
            <a:off x="1342749" y="3055611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87682" y="3005685"/>
            <a:ext cx="154771" cy="84874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407653" y="3055611"/>
            <a:ext cx="119822" cy="32452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492528" y="2990707"/>
            <a:ext cx="82378" cy="67400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492528" y="2965744"/>
            <a:ext cx="39940" cy="39940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67417" y="3020663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542454" y="3005685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268529" y="3091696"/>
            <a:ext cx="178308" cy="2971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268529" y="2824234"/>
            <a:ext cx="178308" cy="282321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268529" y="2824234"/>
            <a:ext cx="178308" cy="35661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292304" y="2883670"/>
            <a:ext cx="101041" cy="1783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408204" y="2883670"/>
            <a:ext cx="14859" cy="14859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92304" y="2925275"/>
            <a:ext cx="101041" cy="1783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408204" y="2925275"/>
            <a:ext cx="14859" cy="14859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292304" y="2966880"/>
            <a:ext cx="101041" cy="1783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408204" y="2966880"/>
            <a:ext cx="14859" cy="14859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292304" y="3008485"/>
            <a:ext cx="101041" cy="1783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408204" y="3008485"/>
            <a:ext cx="14859" cy="14859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292304" y="3050090"/>
            <a:ext cx="101041" cy="1783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408204" y="3050090"/>
            <a:ext cx="14859" cy="14859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121988" y="3456689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 rot="20100000">
            <a:off x="3092032" y="3421740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136966" y="3371814"/>
            <a:ext cx="154771" cy="84874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156936" y="3421740"/>
            <a:ext cx="119822" cy="32452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41811" y="3356836"/>
            <a:ext cx="82378" cy="6740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241811" y="3331873"/>
            <a:ext cx="39940" cy="3994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316700" y="3386792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291737" y="3371814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46804" y="3361829"/>
            <a:ext cx="74889" cy="12481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987044" y="3545564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 rot="20100000">
            <a:off x="3957088" y="3510616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002022" y="3460690"/>
            <a:ext cx="154771" cy="84874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021992" y="3510616"/>
            <a:ext cx="119822" cy="32452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106867" y="3445712"/>
            <a:ext cx="82378" cy="6740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106867" y="3420749"/>
            <a:ext cx="39940" cy="3994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181756" y="3475668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156793" y="3460690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111860" y="3450704"/>
            <a:ext cx="74889" cy="12481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33856" y="1508760"/>
            <a:ext cx="4800600" cy="2700337"/>
          </a:xfrm>
          <a:prstGeom prst="rect">
            <a:avLst/>
          </a:prstGeom>
          <a:solidFill>
            <a:srgbClr val="322D2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2283999" y="1858803"/>
            <a:ext cx="2500312" cy="2000250"/>
          </a:xfrm>
          <a:prstGeom prst="roundRect">
            <a:avLst>
              <a:gd name="adj" fmla="val 2749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83999" y="1958816"/>
            <a:ext cx="2500312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00" b="1">
                <a:solidFill>
                  <a:srgbClr val="6F8A6B"/>
                </a:solidFill>
                <a:latin typeface="Noto Sans KR"/>
                <a:ea typeface="Noto Sans KR"/>
              </a:rPr>
              <a:t>탈출 성공!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283999" y="2283856"/>
            <a:ext cx="250031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4층까지 도착 · 최고 기록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434018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434018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치즈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434018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+12.4K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184112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84112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연구자료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184112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+18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934206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934206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새 친구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34206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434018" y="3258978"/>
            <a:ext cx="2200275" cy="375046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</a:rPr>
              <a:t>아지트로</a:t>
            </a:r>
          </a:p>
        </p:txBody>
      </p:sp>
      <p:sp>
        <p:nvSpPr>
          <p:cNvPr id="153" name="Oval 152"/>
          <p:cNvSpPr/>
          <p:nvPr/>
        </p:nvSpPr>
        <p:spPr>
          <a:xfrm>
            <a:off x="2183987" y="1908810"/>
            <a:ext cx="219456" cy="219456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154" name="Oval 153"/>
          <p:cNvSpPr/>
          <p:nvPr/>
        </p:nvSpPr>
        <p:spPr>
          <a:xfrm>
            <a:off x="2183987" y="2608897"/>
            <a:ext cx="219456" cy="219456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55" name="Oval 154"/>
          <p:cNvSpPr/>
          <p:nvPr/>
        </p:nvSpPr>
        <p:spPr>
          <a:xfrm>
            <a:off x="2183987" y="3308984"/>
            <a:ext cx="219456" cy="219456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17336" y="1508760"/>
            <a:ext cx="4800600" cy="2700337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629564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47395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665226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83056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00887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18718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36549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54380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72210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90041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07872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25703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43534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1364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9195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7026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14857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32688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50518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68349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86180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040112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218420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396728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575036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753344" y="1758391"/>
            <a:ext cx="0" cy="245070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117336" y="193669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117336" y="211500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117336" y="229331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6117336" y="2471623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117336" y="2649931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117336" y="282823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6117336" y="300654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6117336" y="318485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6117336" y="3363163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6117336" y="3541471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117336" y="3719779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117336" y="3898087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117336" y="4076395"/>
            <a:ext cx="4800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ectangle 195"/>
          <p:cNvSpPr/>
          <p:nvPr/>
        </p:nvSpPr>
        <p:spPr>
          <a:xfrm>
            <a:off x="6117336" y="1508760"/>
            <a:ext cx="4800600" cy="112334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117336" y="1621094"/>
            <a:ext cx="4800600" cy="137297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133588" y="1508760"/>
            <a:ext cx="960120" cy="112334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133588" y="1621094"/>
            <a:ext cx="960120" cy="137297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 flipH="1">
            <a:off x="8439439" y="1621094"/>
            <a:ext cx="30191" cy="62407"/>
          </a:xfrm>
          <a:prstGeom prst="line">
            <a:avLst/>
          </a:prstGeom>
          <a:ln w="104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439439" y="1683501"/>
            <a:ext cx="35286" cy="62408"/>
          </a:xfrm>
          <a:prstGeom prst="line">
            <a:avLst/>
          </a:prstGeom>
          <a:ln w="104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6336563" y="1933133"/>
            <a:ext cx="416051" cy="4992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357366" y="1550365"/>
            <a:ext cx="374446" cy="416051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378168" y="1579488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398971" y="1604451"/>
            <a:ext cx="83210" cy="79049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523786" y="1621094"/>
            <a:ext cx="58247" cy="62407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378168" y="1708464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398971" y="1733428"/>
            <a:ext cx="83210" cy="79049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523786" y="1750070"/>
            <a:ext cx="58247" cy="62407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78168" y="1837441"/>
            <a:ext cx="332841" cy="104012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98971" y="1862404"/>
            <a:ext cx="83210" cy="79049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23786" y="1879046"/>
            <a:ext cx="58247" cy="62407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132283" y="1969434"/>
            <a:ext cx="556320" cy="4279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175077" y="1819656"/>
            <a:ext cx="32095" cy="160477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613715" y="1819656"/>
            <a:ext cx="32095" cy="160477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142982" y="1776862"/>
            <a:ext cx="534924" cy="534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142982" y="1712671"/>
            <a:ext cx="534924" cy="74889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672642" y="2501535"/>
            <a:ext cx="246065" cy="2734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8680844" y="2397641"/>
            <a:ext cx="229660" cy="120298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675376" y="2348428"/>
            <a:ext cx="240596" cy="98426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13653" y="2359364"/>
            <a:ext cx="164043" cy="60149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13653" y="2457790"/>
            <a:ext cx="21872" cy="2187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8762866" y="2457790"/>
            <a:ext cx="87489" cy="24606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36571" y="2700555"/>
            <a:ext cx="161665" cy="2020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8597196" y="2530806"/>
            <a:ext cx="40416" cy="72749"/>
          </a:xfrm>
          <a:prstGeom prst="roundRect">
            <a:avLst>
              <a:gd name="adj" fmla="val 19999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8591134" y="2518681"/>
            <a:ext cx="52541" cy="20208"/>
          </a:xfrm>
          <a:prstGeom prst="roundRect">
            <a:avLst>
              <a:gd name="adj" fmla="val 29999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552738" y="2579306"/>
            <a:ext cx="129332" cy="121249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564863" y="2631847"/>
            <a:ext cx="105082" cy="60624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576988" y="2595472"/>
            <a:ext cx="20208" cy="20208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640058" y="2799279"/>
            <a:ext cx="246065" cy="2734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9648260" y="2695385"/>
            <a:ext cx="229660" cy="120298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642792" y="2646172"/>
            <a:ext cx="240596" cy="98426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681069" y="2657108"/>
            <a:ext cx="164043" cy="60149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681069" y="2755534"/>
            <a:ext cx="21872" cy="2187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9730282" y="2755534"/>
            <a:ext cx="87489" cy="24606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859388" y="3386557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 rot="20100000">
            <a:off x="7829432" y="3351609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74366" y="3301683"/>
            <a:ext cx="154771" cy="8487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894336" y="3351609"/>
            <a:ext cx="119822" cy="32452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979211" y="3286705"/>
            <a:ext cx="82378" cy="67400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979211" y="3261742"/>
            <a:ext cx="39940" cy="39940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8054100" y="3316660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8029137" y="3301683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43132" y="3723020"/>
            <a:ext cx="179734" cy="2496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 rot="20100000">
            <a:off x="8513176" y="3688071"/>
            <a:ext cx="84874" cy="9985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558110" y="3638145"/>
            <a:ext cx="154771" cy="84874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578081" y="3688071"/>
            <a:ext cx="119822" cy="32452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662955" y="3623167"/>
            <a:ext cx="82378" cy="67400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662955" y="3598204"/>
            <a:ext cx="39940" cy="39940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737845" y="3653123"/>
            <a:ext cx="17474" cy="1747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712881" y="3638145"/>
            <a:ext cx="11233" cy="11233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8672940" y="3558263"/>
            <a:ext cx="49926" cy="4992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667948" y="3603197"/>
            <a:ext cx="59911" cy="12481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835694" y="4137317"/>
            <a:ext cx="178308" cy="3566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871356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935547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6849959" y="3859156"/>
            <a:ext cx="149778" cy="178308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871356" y="3759304"/>
            <a:ext cx="106984" cy="106984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6864224" y="3745039"/>
            <a:ext cx="121249" cy="42793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9514724" y="4137317"/>
            <a:ext cx="178308" cy="3566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550385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614576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9528989" y="3859156"/>
            <a:ext cx="149778" cy="178308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9550385" y="3759304"/>
            <a:ext cx="106984" cy="106984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9543253" y="3745039"/>
            <a:ext cx="121249" cy="42793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7438397" y="4137317"/>
            <a:ext cx="178308" cy="3566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474058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538249" y="4012501"/>
            <a:ext cx="42793" cy="142646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ounded Rectangle 268"/>
          <p:cNvSpPr/>
          <p:nvPr/>
        </p:nvSpPr>
        <p:spPr>
          <a:xfrm>
            <a:off x="7452661" y="3859156"/>
            <a:ext cx="149778" cy="178308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474058" y="3759304"/>
            <a:ext cx="106984" cy="106984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7466926" y="3745039"/>
            <a:ext cx="121249" cy="42793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117336" y="1508760"/>
            <a:ext cx="4800600" cy="2700337"/>
          </a:xfrm>
          <a:prstGeom prst="rect">
            <a:avLst/>
          </a:prstGeom>
          <a:solidFill>
            <a:srgbClr val="9E989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117336" y="1508760"/>
            <a:ext cx="4800600" cy="2700337"/>
          </a:xfrm>
          <a:prstGeom prst="rect">
            <a:avLst/>
          </a:prstGeom>
          <a:solidFill>
            <a:srgbClr val="322D2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7267479" y="1858803"/>
            <a:ext cx="2500312" cy="2000250"/>
          </a:xfrm>
          <a:prstGeom prst="roundRect">
            <a:avLst>
              <a:gd name="adj" fmla="val 2749"/>
            </a:avLst>
          </a:prstGeom>
          <a:solidFill>
            <a:srgbClr val="FBF7E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267479" y="1958816"/>
            <a:ext cx="2500312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00" b="1">
                <a:solidFill>
                  <a:srgbClr val="C9745B"/>
                </a:solidFill>
                <a:latin typeface="Noto Sans KR"/>
                <a:ea typeface="Noto Sans KR"/>
              </a:rPr>
              <a:t>붙잡혔다…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267479" y="2283856"/>
            <a:ext cx="250031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50" b="0">
                <a:solidFill>
                  <a:srgbClr val="7D746B"/>
                </a:solidFill>
                <a:latin typeface="Noto Sans KR"/>
                <a:ea typeface="Noto Sans KR"/>
              </a:rPr>
              <a:t>3층 방 2에서 경비원에게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7417498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7417498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치즈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417498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+6.1K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167592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8167592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연구자료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167592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+9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8917686" y="2508885"/>
            <a:ext cx="700087" cy="500062"/>
          </a:xfrm>
          <a:prstGeom prst="roundRect">
            <a:avLst>
              <a:gd name="adj" fmla="val 9142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917686" y="2558891"/>
            <a:ext cx="700087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0">
                <a:solidFill>
                  <a:srgbClr val="7D746B"/>
                </a:solidFill>
                <a:latin typeface="Noto Sans KR"/>
                <a:ea typeface="Noto Sans KR"/>
              </a:rPr>
              <a:t>추천 강화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917686" y="2708910"/>
            <a:ext cx="700087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C9745B"/>
                </a:solidFill>
                <a:latin typeface="Noto Sans KR"/>
                <a:ea typeface="Noto Sans KR"/>
              </a:rPr>
              <a:t>돌진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417498" y="3258978"/>
            <a:ext cx="2200275" cy="375046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</a:rPr>
              <a:t>아지트로</a:t>
            </a:r>
          </a:p>
        </p:txBody>
      </p:sp>
      <p:sp>
        <p:nvSpPr>
          <p:cNvPr id="287" name="Oval 286"/>
          <p:cNvSpPr/>
          <p:nvPr/>
        </p:nvSpPr>
        <p:spPr>
          <a:xfrm>
            <a:off x="9617773" y="2608897"/>
            <a:ext cx="219456" cy="219456"/>
          </a:xfrm>
          <a:prstGeom prst="ellipse">
            <a:avLst/>
          </a:prstGeom>
          <a:solidFill>
            <a:srgbClr val="C974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graphicFrame>
        <p:nvGraphicFramePr>
          <p:cNvPr id="118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4434840"/>
          <a:ext cx="97840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737360"/>
                <a:gridCol w="75895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제목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성공 = 세이지, 실패 = 테라. 글자보다 색으로 먼저 알림. 패널은 둘 다 같은 종이색이라 실패도 무겁지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얻은 것 3칸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항상 같은 순서 (치즈 → 연구자료 → 세 번째 칸). 몇 판 하면 위치만 봐도 읽힘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 1개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화면에는 선택지를 두지 않음. 다음 할 일은 로비에서 고름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실패 시 강화 추천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막히는 층이 9번 나오므로, 막혔을 때 무엇을 하면 되는지 바로 알려 이탈을 막음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폰트 - 폰트 3종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315468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16736" y="16459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제목 · 배너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965960"/>
            <a:ext cx="283464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800" b="1">
                <a:solidFill>
                  <a:srgbClr val="4B4540"/>
                </a:solidFill>
                <a:latin typeface="Jua"/>
                <a:ea typeface="Jua"/>
              </a:rPr>
              <a:t>주아 Jua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697480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둥글고 굵음. 2~8자 짧은 말에만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508760"/>
            <a:ext cx="315468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8576" y="16459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본문 · 라벨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65960"/>
            <a:ext cx="283464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800" b="0">
                <a:solidFill>
                  <a:srgbClr val="4B4540"/>
                </a:solidFill>
                <a:latin typeface="Gowun Dodum"/>
                <a:ea typeface="Gowun Dodum"/>
              </a:rPr>
              <a:t>고운돋움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697480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부드럽고 가벼움. 설명·알림·말풍선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1508760"/>
            <a:ext cx="315468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0415" y="16459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7D746B"/>
                </a:solidFill>
                <a:latin typeface="Noto Sans KR"/>
                <a:ea typeface="Noto Sans KR"/>
              </a:rPr>
              <a:t>숫자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5" y="1965960"/>
            <a:ext cx="283464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800" b="1">
                <a:solidFill>
                  <a:srgbClr val="4B4540"/>
                </a:solidFill>
                <a:latin typeface="IBM Plex Sans KR"/>
                <a:ea typeface="IBM Plex Sans KR"/>
              </a:rPr>
              <a:t>1,234.5K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5" y="2697480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숫자 폭이 일정. 600 / 700</a:t>
            </a:r>
          </a:p>
        </p:txBody>
      </p:sp>
      <p:graphicFrame>
        <p:nvGraphicFramePr>
          <p:cNvPr id="914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291840"/>
          <a:ext cx="9784080" cy="1938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57607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폰트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용도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주아 (Jua)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제목·배너·버튼·등급 이름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"와장창!", "쥐아포칼립스!!!" 같은 외침에 감정이 실림. 둥근 UI와 같은 모양. 길면 읽기 어려워 짧은 말에만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고운돋움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본문·설명·알림·말풍선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부드럽고 가벼워 따뜻한 톤과 맞음. 굵기가 하나뿐이라 강조는 색(테라)으로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IBM Plex Sans KR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숫자 600/700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 폭이 일정해 치즈가 초당 수십 번 바뀌어도 흔들리지 않음. TMP에서 &lt;mspace&gt;로 폭 고정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033271" y="5440680"/>
            <a:ext cx="978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세 폰트 모두 SIL OFL (무료 상업 사용 가능). 이 문서의 견본은 폰트가 설치된 환경에서 정확히 보임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z="1400">
                <a:latin typeface="Noto Sans KR" panose="020B0200000000000000" pitchFamily="50" charset="-127"/>
                <a:ea typeface="Noto Sans KR" panose="020B0200000000000000" pitchFamily="50" charset="-127"/>
              </a:rPr>
              <a:t>고운돋움은 KS X 1001 2,350자 + 게임 내 사용 글자로 정적 아틀라스, 나머지는 동적 폴백 (용량 절약). 최소 크기 13px (1080 기준)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폰트 - 텍스트별 폰트와 색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9784080" cy="292608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545336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견본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5" y="1545336"/>
            <a:ext cx="1463039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폰트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496" y="1545336"/>
            <a:ext cx="7315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크기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1545336"/>
            <a:ext cx="1005839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1545336"/>
            <a:ext cx="3840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의도와 이유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33856" y="1801368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25296" y="1847088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Jua"/>
                <a:ea typeface="Jua"/>
              </a:rPr>
              <a:t>층·화면 제목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892807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Jua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1892807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36~48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1920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4540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892807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1892807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종이 패널 위 짧은 제목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3856" y="2185416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5296" y="2231136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ln w="6350">
                  <a:solidFill>
                    <a:srgbClr val="3C322D"/>
                  </a:solidFill>
                </a:ln>
                <a:solidFill>
                  <a:srgbClr val="C9E4DC"/>
                </a:solidFill>
                <a:latin typeface="Jua"/>
                <a:ea typeface="Jua"/>
              </a:rPr>
              <a:t>콤보·이벤트 배너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2276856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Jua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227685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64~96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98464" y="23042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E4DC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227685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#C9E4DC +선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276856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게임 화면 위에 바로 뜸. 바닥색이 계속 바뀌어 굵은 테두리 필수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3856" y="2569464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25296" y="2615184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6F8A6B"/>
                </a:solidFill>
                <a:latin typeface="Jua"/>
                <a:ea typeface="Jua"/>
              </a:rPr>
              <a:t>결과 제목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2660904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Jua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5776" y="266090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40~56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98464" y="2688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F8A6B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266090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#6F8A6B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660904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성공·실패를 색으로 먼저 알림 (실패 = 테라)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33856" y="2953512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25296" y="3017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Jua"/>
                <a:ea typeface="Jua"/>
              </a:rPr>
              <a:t>버튼 글자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296" y="3044952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Jua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304495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20~30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8464" y="30723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304495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#FFFFFF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86016" y="3044952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채도 있는 버튼 면 위라 흰 글자 대비가 충분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33856" y="3337560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225296" y="3383279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Gowun Dodum"/>
                <a:ea typeface="Gowun Dodum"/>
              </a:rPr>
              <a:t>본문·설명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1296" y="3429000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Gowun Dodum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342900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16~20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98464" y="34564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4540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342900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86016" y="3429000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순흑 대신 먹색으로 눈의 피로를 줄임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33856" y="3721608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25296" y="3767328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7D746B"/>
                </a:solidFill>
                <a:latin typeface="Gowun Dodum"/>
                <a:ea typeface="Gowun Dodum"/>
              </a:rPr>
              <a:t>보조 설명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1296" y="3813048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Gowun Dodum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5776" y="3813048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13~15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98464" y="3840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D746B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81344" y="3813048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#7D746B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86016" y="3813048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덜 중요한 정보는 연하게 해 정보 순서를 만듦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33856" y="4105656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225296" y="4151376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Gowun Dodum"/>
                <a:ea typeface="Gowun Dodum"/>
              </a:rPr>
              <a:t>알림 (토스트)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1296" y="4197096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Gowun Dodum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65776" y="419709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16~18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98464" y="42245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4540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1344" y="419709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86016" y="4197096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패널 배경 위라 테두리 불필요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33856" y="4489704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25296" y="4535424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IBM Plex Sans KR"/>
                <a:ea typeface="IBM Plex Sans KR"/>
              </a:rPr>
              <a:t>재화 숫자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1296" y="4581144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IBM Plex Sans KR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65776" y="458114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26~34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98464" y="46085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4540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81344" y="458114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86016" y="4581144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HUD에서 가장 큰 숫자. 가장 자주 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33856" y="4873752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225296" y="4919472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6F8A6B"/>
                </a:solidFill>
                <a:latin typeface="IBM Plex Sans KR"/>
                <a:ea typeface="IBM Plex Sans KR"/>
              </a:rPr>
              <a:t>증감 숫자 +12 / −3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11296" y="4965192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IBM Plex Sans KR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65776" y="496519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14~16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98464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F8A6B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81344" y="496519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#6F8A6B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86016" y="4965192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+ 초록 #6F8A6B, − 테라 #AD5C45 (상태색 규칙)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33856" y="5257800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225296" y="5303520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ln w="6350">
                  <a:solidFill>
                    <a:srgbClr val="3C322D"/>
                  </a:solidFill>
                </a:ln>
                <a:solidFill>
                  <a:srgbClr val="F2C14E"/>
                </a:solidFill>
                <a:latin typeface="IBM Plex Sans KR"/>
                <a:ea typeface="IBM Plex Sans KR"/>
              </a:rPr>
              <a:t>떠오르는 수입 +8.9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11296" y="5349240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IBM Plex Sans KR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65776" y="534924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18~26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98464" y="5376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C14E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81344" y="534924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#F2C14E +선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86016" y="5349240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보상색 그대로. 큰 물건일수록 글자가 큼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133856" y="5641848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225296" y="5687568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Gowun Dodum"/>
                <a:ea typeface="Gowun Dodum"/>
              </a:rPr>
              <a:t>캐릭터 말풍선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1296" y="5733288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Gowun Dodum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65776" y="5733288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15~17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98464" y="5760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4540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81344" y="5733288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#4B4540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86016" y="5733288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흰 말풍선 안. 연구원·경비원 대사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133856" y="6025896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225296" y="6071616"/>
            <a:ext cx="22860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9878C2"/>
                </a:solidFill>
                <a:latin typeface="Jua"/>
                <a:ea typeface="Jua"/>
              </a:rPr>
              <a:t>등급 이름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11296" y="6117336"/>
            <a:ext cx="1554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Jua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65776" y="611733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4B4540"/>
                </a:solidFill>
                <a:latin typeface="Noto Sans KR"/>
                <a:ea typeface="Noto Sans KR"/>
              </a:rPr>
              <a:t>16~20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98464" y="6144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9878C2"/>
          </a:solidFill>
          <a:ln w="6350">
            <a:solidFill>
              <a:srgbClr val="CB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81344" y="6117336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4B4540"/>
                </a:solidFill>
                <a:latin typeface="Noto Sans KR"/>
                <a:ea typeface="Noto Sans KR"/>
              </a:rPr>
              <a:t>#9878C2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86016" y="6117336"/>
            <a:ext cx="3931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등급 6색과 같은 색. 이름과 색을 함께 외우게 함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133856" y="6409944"/>
            <a:ext cx="9784080" cy="0"/>
          </a:xfrm>
          <a:prstGeom prst="line">
            <a:avLst/>
          </a:prstGeom>
          <a:ln w="6350">
            <a:solidFill>
              <a:srgbClr val="E2D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이펙트 - 원칙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8580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원칙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보상과 중요도에 비례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이펙트가 크면 "중요한 일"로 읽힘. 작은 일에 큰 이펙트를 쓰면 정작 큰일이 묻힘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플랫 도형만 (원·고리·삼각 조각·별)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스타일 규칙과 같음. 글로우 대신 흰색 덧칠 0.08초로 번쩍임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색은 팔레트에서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돈 = 치즈 노랑, 위험 = 테라, 등급 = 등급색. 색만 봐도 무슨 일인지 앎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L4 이상은 동시에 1개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필살기와 보스 등장이 겹치면 둘 다 안 보임. 큐에 넣고 차례로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0.3초 안 같은 단계는 합침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30마리가 동시에 깨면 이펙트도 30개. 합쳐서 한 번 크게 (성능 + 가독성)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흔들림 끄기·번쩍임 줄이기 옵션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광과민성 대응. 오래 켜두는 방치형의 기본 접근성 항목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이펙트 - 강도 단계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33856" y="1481328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23774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81328"/>
            <a:ext cx="283464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보이는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81328"/>
            <a:ext cx="18288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멈춤 · 흔들림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481328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7D746B"/>
                </a:solidFill>
                <a:latin typeface="Noto Sans KR"/>
                <a:ea typeface="Noto Sans KR"/>
              </a:rPr>
              <a:t>길이 (0~3초)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6" y="1783080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0160" y="1901952"/>
            <a:ext cx="274320" cy="274320"/>
          </a:xfrm>
          <a:prstGeom prst="ellipse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920240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탭 · 쥐가 물건 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29384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흙먼지 3~5개 · 흰 반짝 0.08초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929384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0.02초 · 흔들림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965960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400" y="19659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901952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0.1s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3856" y="2368296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61872" y="2468880"/>
            <a:ext cx="310896" cy="310896"/>
          </a:xfrm>
          <a:prstGeom prst="ellips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505456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작은 물건 부숨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514600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조각 6~10개(물건 색) · +수입 숫자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514600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0.03초 · 흔들림 0.05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2551176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15400" y="2551176"/>
            <a:ext cx="192024" cy="146304"/>
          </a:xfrm>
          <a:prstGeom prst="roundRect">
            <a:avLst>
              <a:gd name="adj" fmla="val 5000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2487168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0.35s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3856" y="2953512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43584" y="3035808"/>
            <a:ext cx="347472" cy="347472"/>
          </a:xfrm>
          <a:prstGeom prst="ellipse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090672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큰 물건 부숨 · 레어 탄생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099816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조각 14개 · 고리 1개 · 숫자 크게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099816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0.07초 · 흔들림 0.15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3136392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15400" y="3136392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3072384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0.6s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33856" y="3538728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25296" y="3602736"/>
            <a:ext cx="384048" cy="384048"/>
          </a:xfrm>
          <a:prstGeom prst="ellipse">
            <a:avLst/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675888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콤보 · 승급 · 벽 뚫기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685032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배너 · 화면 번쩍(등급색 15%) · 고리 2개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685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0.07초 · 흔들림 0.25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400" y="3721608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15400" y="3721608"/>
            <a:ext cx="658368" cy="146304"/>
          </a:xfrm>
          <a:prstGeom prst="roundRect">
            <a:avLst>
              <a:gd name="adj" fmla="val 50000"/>
            </a:avLst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9488" y="3657600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1.2s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33856" y="4123944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07008" y="4169664"/>
            <a:ext cx="420623" cy="420623"/>
          </a:xfrm>
          <a:prstGeom prst="ellipse">
            <a:avLst/>
          </a:prstGeom>
          <a:solidFill>
            <a:srgbClr val="E3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261104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필살기 · 보스 · 전설 탄생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270248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배경 어둡게 40% · 컷 연출 · 줌인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270248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0.12초 · 흔들림 0.4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15400" y="4306824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915400" y="4306824"/>
            <a:ext cx="1097280" cy="146304"/>
          </a:xfrm>
          <a:prstGeom prst="roundRect">
            <a:avLst>
              <a:gd name="adj" fmla="val 50000"/>
            </a:avLst>
          </a:prstGeom>
          <a:solidFill>
            <a:srgbClr val="E3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0" y="4242816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2.0s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33856" y="4709160"/>
            <a:ext cx="9784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88720" y="4736592"/>
            <a:ext cx="457200" cy="457200"/>
          </a:xfrm>
          <a:prstGeom prst="ellipse">
            <a:avLst/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L5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4846320"/>
            <a:ext cx="23774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슈퍼점프 · 경보 · 붙잡힘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4855464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만화 컷인 · 사이렌 비네트 · 화면 전체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855464"/>
            <a:ext cx="1828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멈춤 0.12초+슬로모 · 흔들림 0.5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15400" y="4892040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EE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15400" y="4892040"/>
            <a:ext cx="1645920" cy="146304"/>
          </a:xfrm>
          <a:prstGeom prst="roundRect">
            <a:avLst>
              <a:gd name="adj" fmla="val 50000"/>
            </a:avLst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88752" y="4828032"/>
            <a:ext cx="4114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0">
                <a:solidFill>
                  <a:srgbClr val="4B4540"/>
                </a:solidFill>
                <a:latin typeface="Noto Sans KR"/>
                <a:ea typeface="Noto Sans KR"/>
              </a:rPr>
              <a:t>3.0s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" y="5577840"/>
            <a:ext cx="1371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콤보 배너 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80" y="5440680"/>
            <a:ext cx="94869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ln w="15875">
                  <a:solidFill>
                    <a:srgbClr val="3C322D"/>
                  </a:solidFill>
                </a:ln>
                <a:solidFill>
                  <a:srgbClr val="A9D3DC"/>
                </a:solidFill>
                <a:latin typeface="Jua"/>
                <a:ea typeface="Jua"/>
              </a:rPr>
              <a:t>NICE!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17570" y="5440680"/>
            <a:ext cx="120650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ln w="15875">
                  <a:solidFill>
                    <a:srgbClr val="3C322D"/>
                  </a:solidFill>
                </a:ln>
                <a:solidFill>
                  <a:srgbClr val="C9E4DC"/>
                </a:solidFill>
                <a:latin typeface="Jua"/>
                <a:ea typeface="Jua"/>
              </a:rPr>
              <a:t>GREAT!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4070" y="5440680"/>
            <a:ext cx="179324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ln w="15875">
                  <a:solidFill>
                    <a:srgbClr val="3C322D"/>
                  </a:solidFill>
                </a:ln>
                <a:solidFill>
                  <a:srgbClr val="F0C878"/>
                </a:solidFill>
                <a:latin typeface="Jua"/>
                <a:ea typeface="Jua"/>
              </a:rPr>
              <a:t>AWESOME!!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7310" y="5440680"/>
            <a:ext cx="15087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ln w="15875">
                  <a:solidFill>
                    <a:srgbClr val="3C322D"/>
                  </a:solidFill>
                </a:ln>
                <a:solidFill>
                  <a:srgbClr val="E39A5A"/>
                </a:solidFill>
                <a:latin typeface="Jua"/>
                <a:ea typeface="Jua"/>
              </a:rPr>
              <a:t>CHAOS!!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6070" y="5440680"/>
            <a:ext cx="2556509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600" b="1">
                <a:ln w="15875">
                  <a:solidFill>
                    <a:srgbClr val="3C322D"/>
                  </a:solidFill>
                </a:ln>
                <a:solidFill>
                  <a:srgbClr val="D9786A"/>
                </a:solidFill>
                <a:latin typeface="Jua"/>
                <a:ea typeface="Jua"/>
              </a:rPr>
              <a:t>쥐아포칼립스!!!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6035040"/>
            <a:ext cx="84124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7D746B"/>
                </a:solidFill>
                <a:latin typeface="Noto Sans KR"/>
                <a:ea typeface="Noto Sans KR"/>
              </a:rPr>
              <a:t>10 · 25 · 50 · 100 · 200 콤보 — 차가운 색 → 따뜻한 색, 글자 크기 +6px씩. 색이 따뜻해질수록 "뜨거워진다"가 쌓임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이펙트 - 강도 단계별 의도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68580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탭, 쥐가 물건을 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초당 수십 번. "눌렀다"는 손맛만 주고 0.1초 만에 사라짐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 물건 부숨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가장 흔한 보상. 떠오르는 숫자가 핵심, 조각은 거들 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물건 부숨, 레어 탄생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"오, 크다"를 느끼게. 멈춤 0.07초로 무게감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단계, 승급, 벽 뚫기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진행이 한 단계 올랐다는 표시. 벽이 무너지는 순간은 "맵이 넓어졌다"는 핵심 보상이라 L3로 크게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필살기, 보스, 전설 이상 탄생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게임이 잠깐 멈추고 "이 순간을 봐". 몇 분에 한 번 수준이어야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슈퍼점프, 경보, 붙잡힘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판 하나에 한두 번 나오는 큰 사건. 만화 컷인과 사이렌으로 평소 화면과 가장 크게 대비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이펙트 - 상황별 상세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물건 부숨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물건 색 삼각 조각이 튀고 0.3초 뒤 흐려짐, 바닥 최대 40개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원색 조각은 쌓여서 위험색·보상색을 묻음. 물건 색 조각은 디오라마의 흔적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수입 숫자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깬 자리에서 40px 떠오름, 같은 자리는 합산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숫자가 터지는 것이 방치형의 쾌감. 겹치면 안 읽혀 합산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탄생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레어 이상: 등급색 고리 + 발밑 고리 3초. 신화: 무지개 반짝임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등급은 몸색이 아니라 고리로 표시하므로 태어날 때 크게 인식시킴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10·25·50·100·200 콤보 배너, 차가운 색 → 따뜻한 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색이 따뜻해질수록 "뜨거워진다"가 쌓임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배경 40% 어둡게 → 쥐 컷인 → 줌 펀치 → 충격 고리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주인공 쥐가 보여지는 순간. 배경을 죽여 시선을 모음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슈퍼점프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만화 컷인(집중선·망점) → 줌아웃 → 착지 고리 + 흙먼지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망점·집중선은 플랫 스타일과 잘 맞는 만화 기법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사이렌 + 빨간 비네트 맥박 + "빨리 도망가!!!"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평화로운 화면과 가장 크게 대비. 위험색을 화면 전체에 쓰는 유일한 경우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위협 등장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가장자리 테라 화살표 → 짧은 흔들림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방치 중에도 "뭔가 온다"를 놓치지 않게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뚫기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맞을 때마다 금 증가 + 작은 먼지 → 무너질 때 먼지 구름 + 벽 조각 + 너머 가림이 0.5초에 걷힘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맵이 넓어지는 순간이 핵심 보상. 가림이 걷히며 새 방이 드러나는 것 자체가 연출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가구 부숨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금 → 반파 → 부서짐, 마지막에 L2 + 안에 든 물건이 쏟아짐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여러 번 때린 보람을 크게 돌려줌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붙잡힘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경비원이 덮침 → 회색조 → 결과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충격보다 "아이고" 정도의 코믹한 톤. 쥐는 연기와 함께 사라짐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 반응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 0.95배 눌림, 재화 숫자 1.1배 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9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둥근 UI가 말랑하게 반응해 손으로 만지는 느낌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필터 - 화면별 필터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" y="1508760"/>
            <a:ext cx="2331720" cy="1307592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508760"/>
            <a:ext cx="2331720" cy="164592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25296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42615" y="17830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8336" y="246888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B07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3856" y="1508760"/>
            <a:ext cx="2331720" cy="1307592"/>
          </a:xfrm>
          <a:prstGeom prst="rect">
            <a:avLst/>
          </a:prstGeom>
          <a:solidFill>
            <a:srgbClr val="F0B07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3856" y="1508760"/>
            <a:ext cx="2331720" cy="1307592"/>
          </a:xfrm>
          <a:prstGeom prst="rect">
            <a:avLst/>
          </a:prstGeom>
          <a:gradFill rotWithShape="1">
            <a:gsLst>
              <a:gs pos="0">
                <a:srgbClr val="5A3C28">
                  <a:alpha val="0"/>
                </a:srgbClr>
              </a:gs>
              <a:gs pos="45000">
                <a:srgbClr val="5A3C28">
                  <a:alpha val="0"/>
                </a:srgbClr>
              </a:gs>
              <a:gs pos="100000">
                <a:srgbClr val="5A3C28">
                  <a:alpha val="38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88950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로비 · 아지트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16382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따뜻한 색 보정 + 갈색 비네트 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4" y="1508760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73623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5145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6666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8188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9709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1231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752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4273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5795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8838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0359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1881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34025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924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6445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966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9488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1009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2531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21024" y="178527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21024" y="190048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21024" y="201570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21024" y="213091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21024" y="224613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21024" y="236134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21024" y="247656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21024" y="259177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621024" y="270698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621024" y="1508760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21024" y="158134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00346" y="1508760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00346" y="158134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>
            <a:off x="4748902" y="158134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48902" y="162167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724168" y="178297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37610" y="153564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51051" y="155446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64493" y="157059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5143" y="158134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51051" y="163780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64493" y="165393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45143" y="166468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751051" y="172113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64493" y="173726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5143" y="174802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483601" y="179024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1253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94680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90514" y="166581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90514" y="162434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99312" y="2145175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 rot="20100000">
            <a:off x="4579956" y="2122593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08990" y="2090333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21894" y="2122593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676736" y="2080655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676736" y="2064525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725126" y="2100011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708996" y="2090333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703224" y="2212735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 rot="20100000">
            <a:off x="3683868" y="2190153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12902" y="2157893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725806" y="2190153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780648" y="2148215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780648" y="2132085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29038" y="2167571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12908" y="2157893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787100" y="2106277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83874" y="2135311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978191" y="2256568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983491" y="2189437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979958" y="2157637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04690" y="2164704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004690" y="2228302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036489" y="2228302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25658" y="2262900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 rot="20100000">
            <a:off x="5706302" y="2240318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735336" y="2208057"/>
            <a:ext cx="100006" cy="5484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748240" y="2240318"/>
            <a:ext cx="77424" cy="20969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803082" y="2198379"/>
            <a:ext cx="53229" cy="4355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803082" y="2182249"/>
            <a:ext cx="25808" cy="25808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51472" y="2217735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835342" y="2208057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633997" y="2393354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639297" y="2326223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635764" y="2294423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660497" y="2301490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0497" y="2365088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692296" y="2365088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260501" y="2645946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 rot="20100000">
            <a:off x="4241144" y="2623364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70179" y="2591104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283083" y="2623364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37925" y="2581426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37925" y="2565296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86315" y="2600782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70185" y="2591104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344377" y="2539488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341151" y="2568522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206593" y="1508760"/>
            <a:ext cx="746150" cy="1307592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21024" y="288950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인게임 기본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21024" y="316382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필터 없음 · 미개척 구역만 가림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1508760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22340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33862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453835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56904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68426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79947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91469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02990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14512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26033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37555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49076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60597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72119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83640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95162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06683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18205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297265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41247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108192" y="178527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108192" y="190048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108192" y="201570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108192" y="213091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108192" y="224613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108192" y="236134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108192" y="247656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108192" y="259177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108192" y="270698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6108192" y="1508760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108192" y="158134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87514" y="1508760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087514" y="158134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H="1">
            <a:off x="7236070" y="158134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236070" y="162167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6211336" y="178297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24778" y="153564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38219" y="155446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51661" y="157059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32311" y="158134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238219" y="163780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251661" y="165393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332311" y="166468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238219" y="172113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251661" y="173726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332311" y="174802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970769" y="179024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998421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281848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977682" y="166581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77682" y="162434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226246" y="2176640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 rot="20100000">
            <a:off x="6206890" y="2154058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235924" y="2121798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248828" y="2154058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6303670" y="2112120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6303670" y="2095990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352060" y="2131476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335930" y="2121798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6310122" y="2070182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306896" y="2099216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6366180" y="2200943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 rot="20100000">
            <a:off x="6346824" y="2178361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375858" y="2146101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388762" y="2178361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443604" y="2136423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443604" y="2120293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491994" y="2155779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475864" y="2146101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990892" y="2276556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7030065" y="2166872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7026148" y="2159037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001338" y="2198210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009173" y="2232160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017008" y="2208656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797955" y="2304458"/>
            <a:ext cx="115214" cy="1920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797955" y="2131637"/>
            <a:ext cx="115214" cy="182422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797955" y="2131637"/>
            <a:ext cx="115214" cy="2304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813317" y="2170042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6888206" y="2170042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813317" y="2196925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888206" y="2196925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813317" y="2223808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6888206" y="2223808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813317" y="2250692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888206" y="2250692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813317" y="2277575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888206" y="2277575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6352102" y="2336938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 rot="20100000">
            <a:off x="6332746" y="2314356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6361780" y="2282096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374684" y="2314356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429526" y="2272418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429526" y="2256288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477916" y="2291774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461786" y="2282096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6435978" y="2230480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432752" y="2259514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045069" y="2356545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 rot="20100000">
            <a:off x="7025713" y="2333963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054747" y="2301703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067651" y="2333963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7122493" y="2292025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7122493" y="2275895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170883" y="2311381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154753" y="2301703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7128945" y="2250087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125719" y="2279121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108192" y="1508760"/>
            <a:ext cx="2331720" cy="1307592"/>
          </a:xfrm>
          <a:prstGeom prst="rect">
            <a:avLst/>
          </a:prstGeom>
          <a:solidFill>
            <a:srgbClr val="9DD5A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108192" y="288950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구간 덧칠 (10층~)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108192" y="316382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일반 덧칠 16~20%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595360" y="1508760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871057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82578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94100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05621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17143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286646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40186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9517075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963228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974750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9862718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9977932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09314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08361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3575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438790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554004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669219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784433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899647" y="1670060"/>
            <a:ext cx="0" cy="114629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595360" y="178527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8595360" y="190048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595360" y="201570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595360" y="213091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595360" y="224613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595360" y="236134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8595360" y="247656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8595360" y="259177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8595360" y="270698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angle 261"/>
          <p:cNvSpPr/>
          <p:nvPr/>
        </p:nvSpPr>
        <p:spPr>
          <a:xfrm>
            <a:off x="8595360" y="1508760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595360" y="158134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574682" y="1508760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574682" y="158134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6" name="Connector 265"/>
          <p:cNvCxnSpPr/>
          <p:nvPr/>
        </p:nvCxnSpPr>
        <p:spPr>
          <a:xfrm flipH="1">
            <a:off x="9723238" y="158134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723238" y="162167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Oval 267"/>
          <p:cNvSpPr/>
          <p:nvPr/>
        </p:nvSpPr>
        <p:spPr>
          <a:xfrm>
            <a:off x="8698504" y="178297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711946" y="153564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725387" y="155446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738829" y="157059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819479" y="158134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725387" y="163780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8738829" y="165393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819479" y="166468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725387" y="172113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738829" y="173726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819479" y="174802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457937" y="179024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485589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769016" y="169346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464850" y="166581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464850" y="162434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478929" y="2075238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 rot="20100000">
            <a:off x="9459573" y="2052656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9488607" y="2020396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9501511" y="2052656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9556353" y="2010718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556353" y="1994588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4743" y="2030074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9588613" y="2020396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661076" y="2260324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ounded Rectangle 292"/>
          <p:cNvSpPr/>
          <p:nvPr/>
        </p:nvSpPr>
        <p:spPr>
          <a:xfrm>
            <a:off x="9666376" y="2193193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9662843" y="2161394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9687576" y="2168460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687576" y="2232058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ounded Rectangle 296"/>
          <p:cNvSpPr/>
          <p:nvPr/>
        </p:nvSpPr>
        <p:spPr>
          <a:xfrm>
            <a:off x="9719375" y="2232058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9568016" y="2288537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ounded Rectangle 298"/>
          <p:cNvSpPr/>
          <p:nvPr/>
        </p:nvSpPr>
        <p:spPr>
          <a:xfrm>
            <a:off x="9607189" y="2178853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9603272" y="2171019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9578462" y="2210191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9586297" y="2244141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594131" y="2220638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602390" y="2391799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 rot="20100000">
            <a:off x="9583034" y="2369217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9612068" y="2336957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624972" y="2369217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679814" y="2327279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9679814" y="2311149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728204" y="2346635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9712074" y="2336957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433955" y="2426801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 rot="20100000">
            <a:off x="10414599" y="2404219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0443633" y="2371959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0456537" y="2404219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0511379" y="2362281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0511379" y="2346151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0559769" y="2381637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0543639" y="2371959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10517831" y="2320343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514605" y="2349377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9729260" y="2448097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ounded Rectangle 322"/>
          <p:cNvSpPr/>
          <p:nvPr/>
        </p:nvSpPr>
        <p:spPr>
          <a:xfrm rot="20100000">
            <a:off x="9709904" y="2425515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9738938" y="2393255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9751842" y="2425515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9806684" y="2383577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9806684" y="2367447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9855074" y="2402933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9838944" y="2393255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595360" y="1508760"/>
            <a:ext cx="2331720" cy="1307592"/>
          </a:xfrm>
          <a:prstGeom prst="rect">
            <a:avLst/>
          </a:prstGeom>
          <a:gradFill rotWithShape="1">
            <a:gsLst>
              <a:gs pos="0">
                <a:srgbClr val="C9745B">
                  <a:alpha val="0"/>
                </a:srgbClr>
              </a:gs>
              <a:gs pos="50000">
                <a:srgbClr val="C9745B">
                  <a:alpha val="0"/>
                </a:srgbClr>
              </a:gs>
              <a:gs pos="100000">
                <a:srgbClr val="C9745B">
                  <a:alpha val="4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8595360" y="288950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남은 시간 30초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595360" y="3163824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가장자리 테라 비네트 · 1초 맥박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133856" y="3749039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124907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36428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47949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59471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70992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82514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94035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205557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217078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228599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240121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251642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263164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274685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286207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297728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309250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320771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332292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43814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133856" y="402555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133856" y="414076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133856" y="425598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133856" y="437119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133856" y="448641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133856" y="460162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133856" y="471684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133856" y="483205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133856" y="494726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Rectangle 362"/>
          <p:cNvSpPr/>
          <p:nvPr/>
        </p:nvSpPr>
        <p:spPr>
          <a:xfrm>
            <a:off x="1133856" y="3749039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133856" y="382162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113178" y="3749039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113178" y="382162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 flipH="1">
            <a:off x="2261734" y="382162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2261734" y="386195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Oval 368"/>
          <p:cNvSpPr/>
          <p:nvPr/>
        </p:nvSpPr>
        <p:spPr>
          <a:xfrm>
            <a:off x="1237000" y="402325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250442" y="377592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263883" y="379474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77325" y="381087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57975" y="382162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263883" y="387808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277325" y="389421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357975" y="390496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263883" y="396141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277325" y="397754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357975" y="398830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996433" y="403052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3024085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307512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3003346" y="390609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003346" y="386462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949962" y="4283130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ounded Rectangle 385"/>
          <p:cNvSpPr/>
          <p:nvPr/>
        </p:nvSpPr>
        <p:spPr>
          <a:xfrm>
            <a:off x="1989135" y="4173446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1985218" y="4165611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960408" y="4204784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968243" y="4238734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976078" y="4215230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409891" y="4502041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2415191" y="4434909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411658" y="4403110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436391" y="4410176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436391" y="4473775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2468190" y="4473775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41620" y="4545964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ounded Rectangle 397"/>
          <p:cNvSpPr/>
          <p:nvPr/>
        </p:nvSpPr>
        <p:spPr>
          <a:xfrm rot="20100000">
            <a:off x="2622264" y="4523382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51298" y="4491122"/>
            <a:ext cx="100006" cy="5484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64202" y="4523382"/>
            <a:ext cx="77424" cy="20969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719044" y="4481444"/>
            <a:ext cx="53229" cy="435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19044" y="4465314"/>
            <a:ext cx="25808" cy="2580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67434" y="4500800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51304" y="4491122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722270" y="4484670"/>
            <a:ext cx="48390" cy="8065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523100" y="4643175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ounded Rectangle 406"/>
          <p:cNvSpPr/>
          <p:nvPr/>
        </p:nvSpPr>
        <p:spPr>
          <a:xfrm rot="20100000">
            <a:off x="1503744" y="4620593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532778" y="4588333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545682" y="4620593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600524" y="4578655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600524" y="4562525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648915" y="4598011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632784" y="4588333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664777" y="4682678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ounded Rectangle 414"/>
          <p:cNvSpPr/>
          <p:nvPr/>
        </p:nvSpPr>
        <p:spPr>
          <a:xfrm rot="20100000">
            <a:off x="1645421" y="4660096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674455" y="4627836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687359" y="4660096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742201" y="4618158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742201" y="4602028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790591" y="4637514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774461" y="4627836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792860" y="4755499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ounded Rectangle 422"/>
          <p:cNvSpPr/>
          <p:nvPr/>
        </p:nvSpPr>
        <p:spPr>
          <a:xfrm rot="20100000">
            <a:off x="2773504" y="4732917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802538" y="4700657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815442" y="4732917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870284" y="4690979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870284" y="4674849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18674" y="4710335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2544" y="4700657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133856" y="3749039"/>
            <a:ext cx="2331720" cy="1307592"/>
          </a:xfrm>
          <a:prstGeom prst="rect">
            <a:avLst/>
          </a:prstGeom>
          <a:gradFill rotWithShape="1">
            <a:gsLst>
              <a:gs pos="0">
                <a:srgbClr val="D95046">
                  <a:alpha val="0"/>
                </a:srgbClr>
              </a:gs>
              <a:gs pos="35000">
                <a:srgbClr val="D95046">
                  <a:alpha val="0"/>
                </a:srgbClr>
              </a:gs>
              <a:gs pos="100000">
                <a:srgbClr val="D95046">
                  <a:alpha val="5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1225296" y="4251959"/>
            <a:ext cx="274320" cy="274320"/>
          </a:xfrm>
          <a:prstGeom prst="ellipse">
            <a:avLst/>
          </a:prstGeom>
          <a:solidFill>
            <a:srgbClr val="E8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307592" y="4334255"/>
            <a:ext cx="109728" cy="109728"/>
          </a:xfrm>
          <a:prstGeom prst="ellipse">
            <a:avLst/>
          </a:prstGeom>
          <a:solidFill>
            <a:srgbClr val="FFF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3099816" y="4251959"/>
            <a:ext cx="274320" cy="274320"/>
          </a:xfrm>
          <a:prstGeom prst="ellipse">
            <a:avLst/>
          </a:prstGeom>
          <a:solidFill>
            <a:srgbClr val="E8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182112" y="4334255"/>
            <a:ext cx="109728" cy="109728"/>
          </a:xfrm>
          <a:prstGeom prst="ellipse">
            <a:avLst/>
          </a:prstGeom>
          <a:solidFill>
            <a:srgbClr val="FFF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1133856" y="3840479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ln w="11430">
                  <a:solidFill>
                    <a:srgbClr val="3C322D"/>
                  </a:solidFill>
                </a:ln>
                <a:solidFill>
                  <a:srgbClr val="E8786A"/>
                </a:solidFill>
                <a:latin typeface="Jua"/>
                <a:ea typeface="Jua"/>
              </a:rPr>
              <a:t>빨리 도망가!!!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133856" y="512978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경보 (자료 훔침)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133856" y="540410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빨간 비네트 0.8초 맥박 · 사이렌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3621024" y="3749039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9" name="Connector 438"/>
          <p:cNvCxnSpPr/>
          <p:nvPr/>
        </p:nvCxnSpPr>
        <p:spPr>
          <a:xfrm>
            <a:off x="373623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385145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396666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408188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419709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31231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442752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54273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65795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477316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488838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500359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511881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523402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534924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546445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557966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569488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581009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92531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3621024" y="402555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3621024" y="414076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3621024" y="425598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621024" y="437119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621024" y="448641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3621024" y="460162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3621024" y="471684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3621024" y="483205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3621024" y="494726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Rectangle 467"/>
          <p:cNvSpPr/>
          <p:nvPr/>
        </p:nvSpPr>
        <p:spPr>
          <a:xfrm>
            <a:off x="3621024" y="3749039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3621024" y="382162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4600346" y="3749039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600346" y="382162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H="1">
            <a:off x="4748902" y="382162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4748902" y="386195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3724168" y="402325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737610" y="377592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751051" y="379474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764493" y="381087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3845143" y="382162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3751051" y="387808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3764493" y="389421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3845143" y="390496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751051" y="396141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3764493" y="397754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3845143" y="398830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5483601" y="403052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5511253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5794680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5490514" y="390609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5490514" y="386462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4643115" y="4217459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ounded Rectangle 490"/>
          <p:cNvSpPr/>
          <p:nvPr/>
        </p:nvSpPr>
        <p:spPr>
          <a:xfrm>
            <a:off x="4648415" y="4150327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4644881" y="4118528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4669614" y="4125595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4669614" y="4189193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ounded Rectangle 494"/>
          <p:cNvSpPr/>
          <p:nvPr/>
        </p:nvSpPr>
        <p:spPr>
          <a:xfrm>
            <a:off x="4701413" y="4189193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4753718" y="4301270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ounded Rectangle 496"/>
          <p:cNvSpPr/>
          <p:nvPr/>
        </p:nvSpPr>
        <p:spPr>
          <a:xfrm>
            <a:off x="4759018" y="4234138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755484" y="4202339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4780217" y="4209406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780217" y="4273004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ounded Rectangle 500"/>
          <p:cNvSpPr/>
          <p:nvPr/>
        </p:nvSpPr>
        <p:spPr>
          <a:xfrm>
            <a:off x="4812016" y="4273004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3822625" y="4469193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ounded Rectangle 502"/>
          <p:cNvSpPr/>
          <p:nvPr/>
        </p:nvSpPr>
        <p:spPr>
          <a:xfrm rot="20100000">
            <a:off x="3803269" y="4446611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3832303" y="4414351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3845207" y="4446611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900049" y="4404673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3900049" y="4388543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3948439" y="4424029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3932309" y="4414351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ounded Rectangle 509"/>
          <p:cNvSpPr/>
          <p:nvPr/>
        </p:nvSpPr>
        <p:spPr>
          <a:xfrm>
            <a:off x="3906501" y="4362735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3903275" y="4391769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5466144" y="4740604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ounded Rectangle 512"/>
          <p:cNvSpPr/>
          <p:nvPr/>
        </p:nvSpPr>
        <p:spPr>
          <a:xfrm rot="20100000">
            <a:off x="5446788" y="4718022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5475822" y="4685762"/>
            <a:ext cx="100006" cy="5484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5488726" y="4718022"/>
            <a:ext cx="77424" cy="20969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5543568" y="4676084"/>
            <a:ext cx="53229" cy="435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5543568" y="4659954"/>
            <a:ext cx="25808" cy="2580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5591958" y="4695440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5575828" y="4685762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5546794" y="4679310"/>
            <a:ext cx="48390" cy="8065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923065" y="4854392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ounded Rectangle 521"/>
          <p:cNvSpPr/>
          <p:nvPr/>
        </p:nvSpPr>
        <p:spPr>
          <a:xfrm rot="20100000">
            <a:off x="3903709" y="4831810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932743" y="4799550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945647" y="4831810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4000489" y="4789872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4000489" y="4773742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4048879" y="4809228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4032749" y="4799550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4123450" y="4883433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ounded Rectangle 529"/>
          <p:cNvSpPr/>
          <p:nvPr/>
        </p:nvSpPr>
        <p:spPr>
          <a:xfrm rot="20100000">
            <a:off x="4104094" y="4860851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4133128" y="4828591"/>
            <a:ext cx="100006" cy="5484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4146032" y="4860851"/>
            <a:ext cx="77424" cy="20969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4200874" y="4818913"/>
            <a:ext cx="53229" cy="4355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4200874" y="4802783"/>
            <a:ext cx="25808" cy="25808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4249264" y="4838269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4233134" y="4828591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3621024" y="3749039"/>
            <a:ext cx="2331720" cy="1307592"/>
          </a:xfrm>
          <a:prstGeom prst="rect">
            <a:avLst/>
          </a:prstGeom>
          <a:solidFill>
            <a:srgbClr val="C8C2B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3621024" y="3749039"/>
            <a:ext cx="2331720" cy="1307592"/>
          </a:xfrm>
          <a:prstGeom prst="rect">
            <a:avLst/>
          </a:prstGeom>
          <a:solidFill>
            <a:srgbClr val="322D2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ounded Rectangle 538"/>
          <p:cNvSpPr/>
          <p:nvPr/>
        </p:nvSpPr>
        <p:spPr>
          <a:xfrm>
            <a:off x="4169663" y="4023359"/>
            <a:ext cx="1234440" cy="777240"/>
          </a:xfrm>
          <a:prstGeom prst="roundRect">
            <a:avLst>
              <a:gd name="adj" fmla="val 9411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ounded Rectangle 539"/>
          <p:cNvSpPr/>
          <p:nvPr/>
        </p:nvSpPr>
        <p:spPr>
          <a:xfrm>
            <a:off x="4398264" y="4526279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3621024" y="512978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팝업 · 일시정지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3621024" y="540410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어둡게 35% + 흐림 2px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6108192" y="3749039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4" name="Connector 543"/>
          <p:cNvCxnSpPr/>
          <p:nvPr/>
        </p:nvCxnSpPr>
        <p:spPr>
          <a:xfrm>
            <a:off x="622340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633862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645383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656904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668426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679947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691469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02990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714512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26033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37555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749076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60597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772119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783640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795162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806683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818205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829726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841247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6108192" y="402555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6108192" y="414076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6108192" y="425598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6108192" y="437119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6108192" y="448641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6108192" y="460162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6108192" y="471684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6108192" y="483205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6108192" y="494726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Rectangle 572"/>
          <p:cNvSpPr/>
          <p:nvPr/>
        </p:nvSpPr>
        <p:spPr>
          <a:xfrm>
            <a:off x="6108192" y="3749039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6108192" y="382162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7087514" y="3749039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7087514" y="382162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 flipH="1">
            <a:off x="7236070" y="382162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7236070" y="386195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Oval 578"/>
          <p:cNvSpPr/>
          <p:nvPr/>
        </p:nvSpPr>
        <p:spPr>
          <a:xfrm>
            <a:off x="6211336" y="402325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6224778" y="377592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6238219" y="379474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6251661" y="381087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6332311" y="382162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6238219" y="387808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6251661" y="389421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6332311" y="390496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6238219" y="396141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6251661" y="397754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6332311" y="398830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7970769" y="403052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7998421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281848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7977682" y="390609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7977682" y="386462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7579380" y="4249676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ounded Rectangle 595"/>
          <p:cNvSpPr/>
          <p:nvPr/>
        </p:nvSpPr>
        <p:spPr>
          <a:xfrm>
            <a:off x="7618553" y="4139992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ounded Rectangle 596"/>
          <p:cNvSpPr/>
          <p:nvPr/>
        </p:nvSpPr>
        <p:spPr>
          <a:xfrm>
            <a:off x="7614635" y="4132157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7589826" y="4171330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7597661" y="4205280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7605495" y="4181776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8144544" y="4297168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ounded Rectangle 601"/>
          <p:cNvSpPr/>
          <p:nvPr/>
        </p:nvSpPr>
        <p:spPr>
          <a:xfrm rot="20100000">
            <a:off x="8125188" y="4274586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8154222" y="4242326"/>
            <a:ext cx="100006" cy="5484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8167126" y="4274586"/>
            <a:ext cx="77424" cy="20969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8221968" y="4232648"/>
            <a:ext cx="53229" cy="43551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8221968" y="4216518"/>
            <a:ext cx="25808" cy="25808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8270358" y="4252004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8254228" y="4242326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ounded Rectangle 608"/>
          <p:cNvSpPr/>
          <p:nvPr/>
        </p:nvSpPr>
        <p:spPr>
          <a:xfrm>
            <a:off x="8228420" y="4190710"/>
            <a:ext cx="32260" cy="32260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8225194" y="4219744"/>
            <a:ext cx="38712" cy="80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7927745" y="4371330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ounded Rectangle 611"/>
          <p:cNvSpPr/>
          <p:nvPr/>
        </p:nvSpPr>
        <p:spPr>
          <a:xfrm rot="20100000">
            <a:off x="7908389" y="4348748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7937423" y="4316488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7950327" y="4348748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8005169" y="4306810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8005169" y="4290680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8053559" y="4326166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8037429" y="4316488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7243824" y="4449257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ounded Rectangle 619"/>
          <p:cNvSpPr/>
          <p:nvPr/>
        </p:nvSpPr>
        <p:spPr>
          <a:xfrm>
            <a:off x="7282997" y="4339573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ounded Rectangle 620"/>
          <p:cNvSpPr/>
          <p:nvPr/>
        </p:nvSpPr>
        <p:spPr>
          <a:xfrm>
            <a:off x="7279080" y="4331739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7254270" y="4370912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7262105" y="4404862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7269940" y="4381358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802743" y="4728286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ounded Rectangle 625"/>
          <p:cNvSpPr/>
          <p:nvPr/>
        </p:nvSpPr>
        <p:spPr>
          <a:xfrm rot="20100000">
            <a:off x="7783387" y="4705704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7812421" y="4673444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825325" y="4705704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880167" y="4663766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7880167" y="4647636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928557" y="4683122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912427" y="4673444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7270618" y="4969530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ounded Rectangle 633"/>
          <p:cNvSpPr/>
          <p:nvPr/>
        </p:nvSpPr>
        <p:spPr>
          <a:xfrm rot="20100000">
            <a:off x="7251262" y="4946948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7280296" y="4914688"/>
            <a:ext cx="100006" cy="5484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293200" y="4946948"/>
            <a:ext cx="77424" cy="20969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7348042" y="4905010"/>
            <a:ext cx="53229" cy="435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7348042" y="4888880"/>
            <a:ext cx="25808" cy="2580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96432" y="4924366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80302" y="4914688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7351268" y="4908236"/>
            <a:ext cx="48390" cy="8065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6108192" y="3749039"/>
            <a:ext cx="2331720" cy="1307592"/>
          </a:xfrm>
          <a:prstGeom prst="rect">
            <a:avLst/>
          </a:prstGeom>
          <a:solidFill>
            <a:srgbClr val="9E989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6108192" y="3749039"/>
            <a:ext cx="2331720" cy="1307592"/>
          </a:xfrm>
          <a:prstGeom prst="rect">
            <a:avLst/>
          </a:prstGeom>
          <a:solidFill>
            <a:srgbClr val="322D2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 rot="1500000">
            <a:off x="6199631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 rot="1500000">
            <a:off x="6547103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 rot="1500000">
            <a:off x="6894575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 rot="1500000">
            <a:off x="7242048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 rot="1500000">
            <a:off x="7589519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 rot="1500000">
            <a:off x="7936992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 rot="1500000">
            <a:off x="8284463" y="3657599"/>
            <a:ext cx="27432" cy="14904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6898233" y="4640579"/>
            <a:ext cx="625449" cy="8686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ounded Rectangle 651"/>
          <p:cNvSpPr/>
          <p:nvPr/>
        </p:nvSpPr>
        <p:spPr>
          <a:xfrm rot="20100000">
            <a:off x="6793992" y="4518964"/>
            <a:ext cx="295351" cy="34747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6950354" y="4345228"/>
            <a:ext cx="538581" cy="2953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7019848" y="4518964"/>
            <a:ext cx="416966" cy="112928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7054596" y="4614519"/>
            <a:ext cx="95554" cy="4343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7280452" y="4614519"/>
            <a:ext cx="95554" cy="4343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7315200" y="4293107"/>
            <a:ext cx="286664" cy="234543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7315200" y="4206240"/>
            <a:ext cx="138988" cy="13898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7349947" y="4240987"/>
            <a:ext cx="69494" cy="69494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7575804" y="4397349"/>
            <a:ext cx="60807" cy="60807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7488936" y="4345228"/>
            <a:ext cx="39090" cy="39090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6108192" y="3794759"/>
            <a:ext cx="233172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00" b="1">
                <a:ln w="13970">
                  <a:solidFill>
                    <a:srgbClr val="3C322D"/>
                  </a:solidFill>
                </a:ln>
                <a:solidFill>
                  <a:srgbClr val="FFFFFF"/>
                </a:solidFill>
                <a:latin typeface="Jua"/>
                <a:ea typeface="Jua"/>
              </a:rPr>
              <a:t>슈퍼 점프!!!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6108192" y="512978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슈퍼점프 컷인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6108192" y="540410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배경 어둡게 + 집중선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8595360" y="3749039"/>
            <a:ext cx="2331720" cy="1307592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>
            <a:off x="871057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882578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894100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905621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917143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9286646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940186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951707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963228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974750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9862718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9977932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1009314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10208361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10323575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10438790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10554004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10669219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10784433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10899647" y="3910340"/>
            <a:ext cx="0" cy="1146291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595360" y="4025554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595360" y="4140768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8595360" y="4255983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8595360" y="4371197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8595360" y="4486412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8595360" y="4601626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8595360" y="4716840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8595360" y="4832055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8595360" y="4947269"/>
            <a:ext cx="233172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Rectangle 694"/>
          <p:cNvSpPr/>
          <p:nvPr/>
        </p:nvSpPr>
        <p:spPr>
          <a:xfrm>
            <a:off x="8595360" y="3749039"/>
            <a:ext cx="2331720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8595360" y="3821625"/>
            <a:ext cx="2331720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9574682" y="3749039"/>
            <a:ext cx="46634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9574682" y="3821625"/>
            <a:ext cx="46634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9" name="Connector 698"/>
          <p:cNvCxnSpPr/>
          <p:nvPr/>
        </p:nvCxnSpPr>
        <p:spPr>
          <a:xfrm flipH="1">
            <a:off x="9723238" y="3821625"/>
            <a:ext cx="14664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9723238" y="3861950"/>
            <a:ext cx="17139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1" name="Oval 700"/>
          <p:cNvSpPr/>
          <p:nvPr/>
        </p:nvSpPr>
        <p:spPr>
          <a:xfrm>
            <a:off x="8698504" y="402325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8711946" y="377592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8725387" y="379474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8738829" y="381087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8819479" y="382162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8725387" y="387808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8738829" y="389421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8819479" y="390496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8725387" y="396141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8738829" y="397754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8819479" y="398830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10457937" y="403052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10485589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10769016" y="393374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10464850" y="390609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10464850" y="386462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10652895" y="4274494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ounded Rectangle 717"/>
          <p:cNvSpPr/>
          <p:nvPr/>
        </p:nvSpPr>
        <p:spPr>
          <a:xfrm rot="20100000">
            <a:off x="10633539" y="4251912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10662573" y="4219652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10675477" y="4251912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10730319" y="4209974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10730319" y="4193844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10778709" y="4229330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10762579" y="4219652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10166356" y="4280609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ounded Rectangle 725"/>
          <p:cNvSpPr/>
          <p:nvPr/>
        </p:nvSpPr>
        <p:spPr>
          <a:xfrm rot="20100000">
            <a:off x="10147000" y="4258027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10176034" y="4225767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10188938" y="4258027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10243780" y="4216089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10243780" y="4199959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10292170" y="4235445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10276040" y="4225767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9230542" y="4435122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ounded Rectangle 733"/>
          <p:cNvSpPr/>
          <p:nvPr/>
        </p:nvSpPr>
        <p:spPr>
          <a:xfrm>
            <a:off x="9235841" y="4367990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9232308" y="4336191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9257041" y="4343257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9257041" y="4406856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ounded Rectangle 737"/>
          <p:cNvSpPr/>
          <p:nvPr/>
        </p:nvSpPr>
        <p:spPr>
          <a:xfrm>
            <a:off x="9288840" y="4406856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9840711" y="4439345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ounded Rectangle 739"/>
          <p:cNvSpPr/>
          <p:nvPr/>
        </p:nvSpPr>
        <p:spPr>
          <a:xfrm rot="20100000">
            <a:off x="9821355" y="4416763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9850389" y="4384503"/>
            <a:ext cx="100006" cy="5484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9863293" y="4416763"/>
            <a:ext cx="77424" cy="20969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9918135" y="4374825"/>
            <a:ext cx="53229" cy="435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9918135" y="4358695"/>
            <a:ext cx="25808" cy="2580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9966525" y="4394181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9950395" y="4384503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9921361" y="4378051"/>
            <a:ext cx="48390" cy="8065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9607982" y="4446356"/>
            <a:ext cx="115214" cy="1920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9607982" y="4273534"/>
            <a:ext cx="115214" cy="182422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9607982" y="4273534"/>
            <a:ext cx="115214" cy="23042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9623344" y="4311939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9698233" y="4311939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9623344" y="4338822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9698233" y="4338822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9623344" y="4365705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9698233" y="4365705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9623344" y="4392589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9698233" y="4392589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9623344" y="4419472"/>
            <a:ext cx="65288" cy="11521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9698233" y="4419472"/>
            <a:ext cx="9601" cy="9601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9940709" y="4845354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ounded Rectangle 761"/>
          <p:cNvSpPr/>
          <p:nvPr/>
        </p:nvSpPr>
        <p:spPr>
          <a:xfrm rot="20100000">
            <a:off x="9921353" y="4822772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9950387" y="4790512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9963291" y="4822772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10018133" y="4780834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0018133" y="4764704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10066523" y="4800190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10050393" y="4790512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9744874" y="5003779"/>
            <a:ext cx="115214" cy="2304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9767917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9809394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ounded Rectangle 771"/>
          <p:cNvSpPr/>
          <p:nvPr/>
        </p:nvSpPr>
        <p:spPr>
          <a:xfrm>
            <a:off x="9754091" y="4824045"/>
            <a:ext cx="96780" cy="115214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9767917" y="4759525"/>
            <a:ext cx="69128" cy="69128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9763308" y="4750307"/>
            <a:ext cx="78345" cy="27651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9453736" y="5003779"/>
            <a:ext cx="115214" cy="2304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9476779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9518256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ounded Rectangle 777"/>
          <p:cNvSpPr/>
          <p:nvPr/>
        </p:nvSpPr>
        <p:spPr>
          <a:xfrm>
            <a:off x="9462953" y="4824045"/>
            <a:ext cx="96780" cy="115214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9476779" y="4759525"/>
            <a:ext cx="69128" cy="69128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ounded Rectangle 779"/>
          <p:cNvSpPr/>
          <p:nvPr/>
        </p:nvSpPr>
        <p:spPr>
          <a:xfrm>
            <a:off x="9472170" y="4750307"/>
            <a:ext cx="78345" cy="27651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10515321" y="5003779"/>
            <a:ext cx="115214" cy="23042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10538364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10579841" y="4923129"/>
            <a:ext cx="27651" cy="92171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ounded Rectangle 783"/>
          <p:cNvSpPr/>
          <p:nvPr/>
        </p:nvSpPr>
        <p:spPr>
          <a:xfrm>
            <a:off x="10524538" y="4824045"/>
            <a:ext cx="96780" cy="115214"/>
          </a:xfrm>
          <a:prstGeom prst="roundRect">
            <a:avLst>
              <a:gd name="adj" fmla="val 23809"/>
            </a:avLst>
          </a:prstGeom>
          <a:solidFill>
            <a:srgbClr val="6B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10538364" y="4759525"/>
            <a:ext cx="69128" cy="69128"/>
          </a:xfrm>
          <a:prstGeom prst="ellipse">
            <a:avLst/>
          </a:prstGeom>
          <a:solidFill>
            <a:srgbClr val="F0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ounded Rectangle 785"/>
          <p:cNvSpPr/>
          <p:nvPr/>
        </p:nvSpPr>
        <p:spPr>
          <a:xfrm>
            <a:off x="10533755" y="4750307"/>
            <a:ext cx="78345" cy="27651"/>
          </a:xfrm>
          <a:prstGeom prst="roundRect">
            <a:avLst>
              <a:gd name="adj" fmla="val 41666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8595360" y="3749039"/>
            <a:ext cx="2331720" cy="1307592"/>
          </a:xfrm>
          <a:prstGeom prst="rect">
            <a:avLst/>
          </a:prstGeom>
          <a:solidFill>
            <a:srgbClr val="9E989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8595360" y="3749039"/>
            <a:ext cx="2331720" cy="1307592"/>
          </a:xfrm>
          <a:prstGeom prst="rect">
            <a:avLst/>
          </a:prstGeom>
          <a:solidFill>
            <a:srgbClr val="3C28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8595360" y="512978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붙잡힘 · 게임오버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595360" y="5404103"/>
            <a:ext cx="2331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회색조 75% · 2초에 걸쳐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1133856" y="6035040"/>
            <a:ext cx="9784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4B4540"/>
                </a:solidFill>
                <a:latin typeface="Noto Sans KR"/>
                <a:ea typeface="Noto Sans KR"/>
              </a:rPr>
              <a:t>사용하는 필터는 색 보정 · 비네트 · 덧칠 세 가지뿐. 블룸 · 피사계 심도 · 색수차 · 그레인은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필터 - 원칙과 화면별 지정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493776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/ 상황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필터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색온도 +10, 갈색 비네트 25%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차가운 연구소와 대비되는 "집". 가운데 패널로 시선을 모음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인게임 기본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정한 색이 그대로 보여야 역할 구분이 작동. 필터는 평소와 다른 일에만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미개척 구역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먹색 55% 가림, 벽이 무너지면 0.5초에 걷힘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아직 안 간 곳은 "모름"으로 남겨 벽을 부술 이유를 만듦. 윤곽은 흐릿하게 보여 궁금하게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구간 덧칠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초록 16% / 하늘 20% / 금 18%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바닥을 다시 그리지 않고 구간 변화를 알림. 리소스 절약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남은 시간 30초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채도 −20, 테라 비네트 35% 맥박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숫자를 안 봐도 가장자리로 "급하다". 가운데는 건드리지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빨간 비네트 42%, 0.8초 맥박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위험색을 화면 전체에 쓰는 유일한 상황이라 효과가 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팝업·일시정지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어둡게 35% + 흐림 2px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"게임은 뒤에 있고 지금은 이것". 흐림은 1/4 축소 이미지로 처리해 모바일에서도 가벼움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슈퍼점프 컷인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회색조 40% + 어둡게 + 집중선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컷인만 컬러로 남겨 만화 한 컷처럼 보이게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붙잡힘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회색조 75%를 2초에 걸쳐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색이 빠지며 "끝났다". 서서히 바꿔 충격보다 아쉬움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화면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배경 흐림 3px + 어둡게 35% (실패 45%)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실패가 조금 더 어둡지만 패널은 같은 종이색이라 무겁지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쓰지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블룸 · 피사계 심도 · 색수차 · 그레인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 경계가 번지고(블룸), 디오라마는 전부 같은 거리(심도), 깨끗한 파스텔과 반대(색수차·그레인)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카메라 - 시점과 배율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3108960" cy="448056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28346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4B4540"/>
                </a:solidFill>
                <a:latin typeface="Noto Sans KR"/>
                <a:ea typeface="Noto Sans KR"/>
              </a:rPr>
              <a:t>시점 : 3/4 탑다운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4663440"/>
            <a:ext cx="2651760" cy="0"/>
          </a:xfrm>
          <a:prstGeom prst="line">
            <a:avLst/>
          </a:prstGeom>
          <a:ln w="63500">
            <a:solidFill>
              <a:srgbClr val="C8BF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77440" y="4754880"/>
            <a:ext cx="914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바닥</a:t>
            </a:r>
          </a:p>
        </p:txBody>
      </p:sp>
      <p:sp>
        <p:nvSpPr>
          <p:cNvPr id="12" name="Rounded Rectangle 11"/>
          <p:cNvSpPr/>
          <p:nvPr/>
        </p:nvSpPr>
        <p:spPr>
          <a:xfrm rot="1920000">
            <a:off x="3063240" y="2057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011680" y="2514600"/>
            <a:ext cx="1143000" cy="2103120"/>
          </a:xfrm>
          <a:prstGeom prst="line">
            <a:avLst/>
          </a:prstGeom>
          <a:ln w="25400">
            <a:solidFill>
              <a:srgbClr val="E6B3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1720" y="4160520"/>
            <a:ext cx="9144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C9745B"/>
                </a:solidFill>
                <a:latin typeface="Noto Sans KR"/>
                <a:ea typeface="Noto Sans KR"/>
              </a:rPr>
              <a:t>≈ 58°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283464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세로 압축 0.85</a:t>
            </a:r>
          </a:p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직교 카메라, 회전하지 않음</a:t>
            </a:r>
          </a:p>
          <a:p>
            <a:pPr algn="l"/>
            <a:r>
              <a:rPr sz="950" b="0">
                <a:solidFill>
                  <a:srgbClr val="4B4540"/>
                </a:solidFill>
                <a:latin typeface="Noto Sans KR"/>
                <a:ea typeface="Noto Sans KR"/>
              </a:rPr>
              <a:t>2D 스프라이트 + Y값 정렬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2057400" cy="4480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79" y="1645920"/>
            <a:ext cx="1874519" cy="1463040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5" y="1728216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19360" y="1888076"/>
            <a:ext cx="85176" cy="94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22199" y="1852112"/>
            <a:ext cx="79497" cy="4164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20306" y="1835077"/>
            <a:ext cx="83283" cy="34070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3556" y="1838863"/>
            <a:ext cx="56784" cy="20820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33556" y="1872933"/>
            <a:ext cx="7571" cy="7571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0591" y="1872933"/>
            <a:ext cx="30284" cy="8517"/>
          </a:xfrm>
          <a:prstGeom prst="roundRect">
            <a:avLst>
              <a:gd name="adj" fmla="val 3105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70213" y="1951416"/>
            <a:ext cx="55961" cy="6995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1198" y="1892656"/>
            <a:ext cx="13990" cy="2518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89100" y="1888459"/>
            <a:ext cx="18187" cy="6995"/>
          </a:xfrm>
          <a:prstGeom prst="roundRect">
            <a:avLst>
              <a:gd name="adj" fmla="val 2295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5809" y="1909445"/>
            <a:ext cx="44769" cy="41970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80006" y="1927632"/>
            <a:ext cx="36374" cy="20985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84203" y="1915041"/>
            <a:ext cx="6995" cy="6995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50576" y="2069831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 rot="20100000">
            <a:off x="4935763" y="2052549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57983" y="2027860"/>
            <a:ext cx="76535" cy="4197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67858" y="2052549"/>
            <a:ext cx="59253" cy="16047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09829" y="2020453"/>
            <a:ext cx="40736" cy="33329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09829" y="2008109"/>
            <a:ext cx="19751" cy="197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46862" y="2035267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34518" y="2027860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54926" y="2091765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0100000">
            <a:off x="4840112" y="2074483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62332" y="2049794"/>
            <a:ext cx="76535" cy="41970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72208" y="2074483"/>
            <a:ext cx="59253" cy="16047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14179" y="2042388"/>
            <a:ext cx="40736" cy="33329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14179" y="2030043"/>
            <a:ext cx="19751" cy="197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51212" y="2057201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38867" y="2049794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08575" y="2418588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52220" y="2681612"/>
            <a:ext cx="85176" cy="94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55059" y="2645649"/>
            <a:ext cx="79497" cy="4164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53167" y="2628613"/>
            <a:ext cx="83283" cy="34070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66416" y="2632399"/>
            <a:ext cx="56784" cy="20820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66416" y="2666469"/>
            <a:ext cx="7571" cy="7571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83451" y="2666469"/>
            <a:ext cx="30284" cy="8517"/>
          </a:xfrm>
          <a:prstGeom prst="roundRect">
            <a:avLst>
              <a:gd name="adj" fmla="val 3105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758184" y="2696909"/>
            <a:ext cx="55961" cy="6995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79169" y="2638150"/>
            <a:ext cx="13990" cy="2518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77070" y="2633953"/>
            <a:ext cx="18187" cy="6995"/>
          </a:xfrm>
          <a:prstGeom prst="roundRect">
            <a:avLst>
              <a:gd name="adj" fmla="val 2295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63780" y="2654938"/>
            <a:ext cx="44769" cy="41970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767977" y="2673125"/>
            <a:ext cx="36374" cy="20985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772174" y="2660534"/>
            <a:ext cx="6995" cy="6995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43763" y="2849515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 rot="20100000">
            <a:off x="4728950" y="2832233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751169" y="2807544"/>
            <a:ext cx="76535" cy="41970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761045" y="2832233"/>
            <a:ext cx="59253" cy="16047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03016" y="2800137"/>
            <a:ext cx="40736" cy="3332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03016" y="2787793"/>
            <a:ext cx="19751" cy="1975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40049" y="2814950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827705" y="2807544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807509" y="2838499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 rot="20100000">
            <a:off x="4792696" y="2821217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14916" y="2796528"/>
            <a:ext cx="76535" cy="41970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824791" y="2821217"/>
            <a:ext cx="59253" cy="16047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866762" y="2789121"/>
            <a:ext cx="40736" cy="3332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866762" y="2776777"/>
            <a:ext cx="19751" cy="1975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03796" y="2803935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91451" y="2796528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205983" y="1728216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45429" y="2001469"/>
            <a:ext cx="61722" cy="1028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245429" y="1908886"/>
            <a:ext cx="61722" cy="9772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245429" y="1908886"/>
            <a:ext cx="61722" cy="12344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53658" y="1929460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293778" y="1929460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253658" y="1943862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293778" y="1943862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53658" y="1958264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293778" y="1958264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53658" y="1972665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293778" y="1972665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53658" y="1987067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293778" y="1987067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278843" y="2058336"/>
            <a:ext cx="85176" cy="94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281682" y="2022373"/>
            <a:ext cx="79497" cy="4164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279789" y="2005338"/>
            <a:ext cx="83283" cy="34070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293039" y="2009123"/>
            <a:ext cx="56784" cy="20820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293039" y="2043194"/>
            <a:ext cx="7571" cy="7571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310074" y="2043194"/>
            <a:ext cx="30284" cy="8517"/>
          </a:xfrm>
          <a:prstGeom prst="roundRect">
            <a:avLst>
              <a:gd name="adj" fmla="val 3105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37574" y="2100384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 rot="20100000">
            <a:off x="5322760" y="2083102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44980" y="2058413"/>
            <a:ext cx="76535" cy="41970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54856" y="2083102"/>
            <a:ext cx="59253" cy="16047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396827" y="2051006"/>
            <a:ext cx="40736" cy="33329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396827" y="2038662"/>
            <a:ext cx="19751" cy="1975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33860" y="2065820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421516" y="2058413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266942" y="2097393"/>
            <a:ext cx="88879" cy="1234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 rot="20100000">
            <a:off x="5252129" y="2080111"/>
            <a:ext cx="41970" cy="4937"/>
          </a:xfrm>
          <a:prstGeom prst="roundRect">
            <a:avLst>
              <a:gd name="adj" fmla="val 27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74349" y="2055422"/>
            <a:ext cx="76535" cy="41970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284224" y="2080111"/>
            <a:ext cx="59253" cy="16047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326195" y="2048015"/>
            <a:ext cx="40736" cy="33329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326195" y="2035671"/>
            <a:ext cx="19751" cy="197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63229" y="2062828"/>
            <a:ext cx="8641" cy="864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350884" y="2055422"/>
            <a:ext cx="5554" cy="555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205983" y="2418588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487271" y="2764197"/>
            <a:ext cx="61722" cy="1028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87271" y="2671614"/>
            <a:ext cx="61722" cy="9772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87271" y="2671614"/>
            <a:ext cx="61722" cy="12344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95500" y="2692188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535620" y="2692188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95500" y="2706590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535620" y="2706590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95500" y="2720992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535620" y="2720992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495500" y="2735394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35620" y="2735394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495500" y="2749796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535620" y="2749796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446043" y="2727113"/>
            <a:ext cx="55961" cy="6995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5467028" y="2668353"/>
            <a:ext cx="13990" cy="2518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464930" y="2664156"/>
            <a:ext cx="18187" cy="6995"/>
          </a:xfrm>
          <a:prstGeom prst="roundRect">
            <a:avLst>
              <a:gd name="adj" fmla="val 2295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451639" y="2685142"/>
            <a:ext cx="44769" cy="41970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455836" y="2703329"/>
            <a:ext cx="36374" cy="20985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460033" y="2690738"/>
            <a:ext cx="6995" cy="6995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803391" y="1728216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012130" y="1907579"/>
            <a:ext cx="61722" cy="1028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012130" y="1814996"/>
            <a:ext cx="61722" cy="9772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012130" y="1814996"/>
            <a:ext cx="61722" cy="12344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020360" y="1835570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060479" y="1835570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20360" y="1849972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060479" y="1849972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020360" y="1864374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060479" y="1864374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20360" y="1878776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060479" y="1878776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020360" y="1893177"/>
            <a:ext cx="34975" cy="6172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060479" y="1893177"/>
            <a:ext cx="5143" cy="5143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63237" y="1933369"/>
            <a:ext cx="85176" cy="9464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066076" y="1897406"/>
            <a:ext cx="79497" cy="4164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64183" y="1880371"/>
            <a:ext cx="83283" cy="34070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77433" y="1884156"/>
            <a:ext cx="56784" cy="20820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77433" y="1918227"/>
            <a:ext cx="7571" cy="7571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094468" y="1918227"/>
            <a:ext cx="30284" cy="8517"/>
          </a:xfrm>
          <a:prstGeom prst="roundRect">
            <a:avLst>
              <a:gd name="adj" fmla="val 31050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803391" y="2418588"/>
            <a:ext cx="515112" cy="60807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163970" y="2540203"/>
            <a:ext cx="103022" cy="304038"/>
          </a:xfrm>
          <a:prstGeom prst="roundRect">
            <a:avLst>
              <a:gd name="adj" fmla="val 26627"/>
            </a:avLst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70054" y="2679953"/>
            <a:ext cx="55961" cy="6995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6091039" y="2621194"/>
            <a:ext cx="13990" cy="2518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088940" y="2616997"/>
            <a:ext cx="18187" cy="6995"/>
          </a:xfrm>
          <a:prstGeom prst="roundRect">
            <a:avLst>
              <a:gd name="adj" fmla="val 2295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75650" y="2637982"/>
            <a:ext cx="44769" cy="41970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79847" y="2656170"/>
            <a:ext cx="36374" cy="20985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084044" y="2643578"/>
            <a:ext cx="6995" cy="6995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843173" y="2695857"/>
            <a:ext cx="55961" cy="6995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864158" y="2637098"/>
            <a:ext cx="13990" cy="25182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5862060" y="2632901"/>
            <a:ext cx="18187" cy="6995"/>
          </a:xfrm>
          <a:prstGeom prst="roundRect">
            <a:avLst>
              <a:gd name="adj" fmla="val 2295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848769" y="2653886"/>
            <a:ext cx="44769" cy="41970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852966" y="2672074"/>
            <a:ext cx="36374" cy="20985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857163" y="2659482"/>
            <a:ext cx="6995" cy="6995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123687" y="1910638"/>
            <a:ext cx="82296" cy="24323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721095" y="1849831"/>
            <a:ext cx="82296" cy="16418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721095" y="2014011"/>
            <a:ext cx="82296" cy="20066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H="1">
            <a:off x="5747311" y="2014011"/>
            <a:ext cx="2588" cy="91212"/>
          </a:xfrm>
          <a:prstGeom prst="line">
            <a:avLst/>
          </a:prstGeom>
          <a:ln w="152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5747311" y="2105223"/>
            <a:ext cx="3025" cy="91211"/>
          </a:xfrm>
          <a:prstGeom prst="line">
            <a:avLst/>
          </a:prstGeom>
          <a:ln w="152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5123687" y="2540203"/>
            <a:ext cx="82296" cy="16418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123687" y="2704383"/>
            <a:ext cx="82296" cy="20066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 flipH="1">
            <a:off x="5149903" y="2704383"/>
            <a:ext cx="2588" cy="91212"/>
          </a:xfrm>
          <a:prstGeom prst="line">
            <a:avLst/>
          </a:prstGeom>
          <a:ln w="152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5149903" y="2795595"/>
            <a:ext cx="3025" cy="91211"/>
          </a:xfrm>
          <a:prstGeom prst="line">
            <a:avLst/>
          </a:prstGeom>
          <a:ln w="15201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4763109" y="2336292"/>
            <a:ext cx="206044" cy="82296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205983" y="2418588"/>
            <a:ext cx="515112" cy="608076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803391" y="1728216"/>
            <a:ext cx="515112" cy="608076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803391" y="2418588"/>
            <a:ext cx="515112" cy="608076"/>
          </a:xfrm>
          <a:prstGeom prst="rect">
            <a:avLst/>
          </a:prstGeom>
          <a:solidFill>
            <a:srgbClr val="3C322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526279" y="3200400"/>
            <a:ext cx="187451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0.45 · 전체 보기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26279" y="3474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층 시작 · 방 지도 · 슈퍼점프 비행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601968" y="1508760"/>
            <a:ext cx="2057400" cy="4480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693407" y="1645920"/>
            <a:ext cx="1874519" cy="14630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6808622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923836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039051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154265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269480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384694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499908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615123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730337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845551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960766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075980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191195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8306409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421623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536838" y="1807220"/>
            <a:ext cx="0" cy="130174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693407" y="1922434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693407" y="2037648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6693407" y="2152863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693407" y="2268077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693407" y="2383292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693407" y="2498506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693407" y="2613720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693407" y="2728935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693407" y="2844149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693407" y="2959364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6693407" y="3074578"/>
            <a:ext cx="1874521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/>
          <p:cNvSpPr/>
          <p:nvPr/>
        </p:nvSpPr>
        <p:spPr>
          <a:xfrm>
            <a:off x="6693407" y="1645920"/>
            <a:ext cx="1874519" cy="72585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693407" y="1718505"/>
            <a:ext cx="1874519" cy="88715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480706" y="1645920"/>
            <a:ext cx="374904" cy="72585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480706" y="1718505"/>
            <a:ext cx="374904" cy="88715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 flipH="1">
            <a:off x="7600134" y="1718505"/>
            <a:ext cx="11788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7600134" y="1758830"/>
            <a:ext cx="13778" cy="40325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773692" y="1920130"/>
            <a:ext cx="268833" cy="3226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87133" y="1672803"/>
            <a:ext cx="241950" cy="268833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0575" y="1691621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14017" y="1707751"/>
            <a:ext cx="53766" cy="51078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94667" y="1718505"/>
            <a:ext cx="37636" cy="40325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0575" y="1774960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14017" y="1791090"/>
            <a:ext cx="53766" cy="51078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894667" y="1801843"/>
            <a:ext cx="37636" cy="40325"/>
          </a:xfrm>
          <a:prstGeom prst="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800575" y="1858298"/>
            <a:ext cx="215066" cy="67208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814017" y="1874428"/>
            <a:ext cx="53766" cy="51078"/>
          </a:xfrm>
          <a:prstGeom prst="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94667" y="1885181"/>
            <a:ext cx="37636" cy="40325"/>
          </a:xfrm>
          <a:prstGeom prst="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121645" y="1927408"/>
            <a:ext cx="359468" cy="2765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149297" y="183062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432724" y="1830628"/>
            <a:ext cx="20738" cy="103692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128558" y="1802977"/>
            <a:ext cx="345643" cy="34564"/>
          </a:xfrm>
          <a:prstGeom prst="rect">
            <a:avLst/>
          </a:prstGeom>
          <a:solidFill>
            <a:srgbClr val="A88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128558" y="1761500"/>
            <a:ext cx="345643" cy="4839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327236" y="2218140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7332536" y="2151009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329003" y="2119209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353736" y="2126276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353736" y="2189874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7385535" y="2189874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693552" y="2289796"/>
            <a:ext cx="104461" cy="13057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7732725" y="2180112"/>
            <a:ext cx="26115" cy="47007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7728808" y="2172277"/>
            <a:ext cx="33949" cy="13057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703998" y="2211450"/>
            <a:ext cx="83568" cy="78345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711833" y="2245400"/>
            <a:ext cx="67899" cy="39172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719668" y="2221896"/>
            <a:ext cx="13057" cy="13057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073448" y="2308822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 rot="20100000">
            <a:off x="8054092" y="2286240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083126" y="2253980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096030" y="2286240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150872" y="2244302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150872" y="2228172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199262" y="2263658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183132" y="2253980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234630" y="2445681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 rot="20100000">
            <a:off x="7215274" y="2423099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244308" y="2390839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257212" y="2423099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312054" y="2381161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312054" y="2365031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7360444" y="2400517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7344314" y="2390839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7791044" y="2483913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 rot="20100000">
            <a:off x="7771688" y="2461331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7800722" y="2429071"/>
            <a:ext cx="100006" cy="54842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7813626" y="2461331"/>
            <a:ext cx="77424" cy="20969"/>
          </a:xfrm>
          <a:prstGeom prst="ellipse">
            <a:avLst/>
          </a:prstGeom>
          <a:solidFill>
            <a:srgbClr val="6E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868468" y="2419393"/>
            <a:ext cx="53229" cy="43551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868468" y="2403263"/>
            <a:ext cx="25808" cy="25808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7916859" y="2438749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7900728" y="2429071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7450422" y="2524769"/>
            <a:ext cx="158995" cy="1766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ounded Rectangle 268"/>
          <p:cNvSpPr/>
          <p:nvPr/>
        </p:nvSpPr>
        <p:spPr>
          <a:xfrm>
            <a:off x="7455721" y="2457638"/>
            <a:ext cx="148396" cy="77731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452188" y="2425838"/>
            <a:ext cx="155462" cy="63598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476921" y="2432905"/>
            <a:ext cx="105997" cy="38865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476921" y="2496503"/>
            <a:ext cx="14132" cy="14132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ounded Rectangle 272"/>
          <p:cNvSpPr/>
          <p:nvPr/>
        </p:nvSpPr>
        <p:spPr>
          <a:xfrm>
            <a:off x="7508720" y="2496503"/>
            <a:ext cx="56531" cy="15899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7786139" y="2948444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 rot="20100000">
            <a:off x="7766783" y="2925862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7795817" y="2893602"/>
            <a:ext cx="100006" cy="5484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808721" y="2925862"/>
            <a:ext cx="77424" cy="20969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863563" y="2883924"/>
            <a:ext cx="53229" cy="4355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7863563" y="2867794"/>
            <a:ext cx="25808" cy="2580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7911953" y="2903280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7895823" y="2893602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866789" y="2887150"/>
            <a:ext cx="48390" cy="8065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505758" y="3015551"/>
            <a:ext cx="116136" cy="1613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 rot="20100000">
            <a:off x="7486402" y="2992969"/>
            <a:ext cx="54842" cy="6452"/>
          </a:xfrm>
          <a:prstGeom prst="roundRect">
            <a:avLst>
              <a:gd name="adj" fmla="val 35279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515436" y="2960709"/>
            <a:ext cx="100006" cy="54842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528340" y="2992969"/>
            <a:ext cx="77424" cy="20969"/>
          </a:xfrm>
          <a:prstGeom prst="ellipse">
            <a:avLst/>
          </a:prstGeom>
          <a:solidFill>
            <a:srgbClr val="8A8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583182" y="2951031"/>
            <a:ext cx="53229" cy="43551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7583182" y="2934901"/>
            <a:ext cx="25808" cy="25808"/>
          </a:xfrm>
          <a:prstGeom prst="ellipse">
            <a:avLst/>
          </a:prstGeom>
          <a:solidFill>
            <a:srgbClr val="A39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7631572" y="2970387"/>
            <a:ext cx="11291" cy="1129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7615442" y="2960709"/>
            <a:ext cx="7258" cy="7258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6693407" y="3200400"/>
            <a:ext cx="187451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1.0 · 기본 (방 1개)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93407" y="3474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평소 플레이 · 탭과 방치 모두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8769096" y="1508760"/>
            <a:ext cx="2057400" cy="4480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860536" y="1645920"/>
            <a:ext cx="1874519" cy="146304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Connector 294"/>
          <p:cNvCxnSpPr/>
          <p:nvPr/>
        </p:nvCxnSpPr>
        <p:spPr>
          <a:xfrm>
            <a:off x="9079992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299448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518904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738360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957816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177272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396728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616184" y="1938528"/>
            <a:ext cx="0" cy="1170432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8860536" y="2157984"/>
            <a:ext cx="187451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8860536" y="2377440"/>
            <a:ext cx="187451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8860536" y="2596896"/>
            <a:ext cx="187451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8860536" y="2816352"/>
            <a:ext cx="187451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8860536" y="3035808"/>
            <a:ext cx="1874519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Rectangle 307"/>
          <p:cNvSpPr/>
          <p:nvPr/>
        </p:nvSpPr>
        <p:spPr>
          <a:xfrm>
            <a:off x="8860536" y="1645920"/>
            <a:ext cx="1874519" cy="131673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860536" y="1777593"/>
            <a:ext cx="1874519" cy="160934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9647834" y="1645920"/>
            <a:ext cx="374904" cy="131673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647834" y="1777593"/>
            <a:ext cx="374904" cy="160934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 flipH="1">
            <a:off x="9767262" y="1777593"/>
            <a:ext cx="11788" cy="73152"/>
          </a:xfrm>
          <a:prstGeom prst="line">
            <a:avLst/>
          </a:prstGeom>
          <a:ln w="12192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9767262" y="1850745"/>
            <a:ext cx="13778" cy="73152"/>
          </a:xfrm>
          <a:prstGeom prst="line">
            <a:avLst/>
          </a:prstGeom>
          <a:ln w="12192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/>
          <p:cNvSpPr/>
          <p:nvPr/>
        </p:nvSpPr>
        <p:spPr>
          <a:xfrm>
            <a:off x="9186172" y="2488043"/>
            <a:ext cx="221211" cy="3072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 rot="20100000">
            <a:off x="9149303" y="2445029"/>
            <a:ext cx="104461" cy="12289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9204606" y="2383581"/>
            <a:ext cx="190487" cy="104461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9229185" y="2445029"/>
            <a:ext cx="147474" cy="39940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9241475" y="2478825"/>
            <a:ext cx="33796" cy="1536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9321357" y="2478825"/>
            <a:ext cx="33796" cy="1536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9333646" y="2365147"/>
            <a:ext cx="101388" cy="82954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9333646" y="2334423"/>
            <a:ext cx="49158" cy="49158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9345936" y="2346713"/>
            <a:ext cx="24579" cy="24579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9425818" y="2402016"/>
            <a:ext cx="21506" cy="21506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9395094" y="2383581"/>
            <a:ext cx="13825" cy="13825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339791" y="2371292"/>
            <a:ext cx="92171" cy="15361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0271526" y="2570440"/>
            <a:ext cx="221211" cy="30723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 rot="20100000">
            <a:off x="10234657" y="2527427"/>
            <a:ext cx="104461" cy="12289"/>
          </a:xfrm>
          <a:prstGeom prst="roundRect">
            <a:avLst>
              <a:gd name="adj" fmla="val 500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0289960" y="2465979"/>
            <a:ext cx="190487" cy="104461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314539" y="2527427"/>
            <a:ext cx="147474" cy="39940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0326829" y="2561223"/>
            <a:ext cx="33796" cy="1536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0406711" y="2561223"/>
            <a:ext cx="33796" cy="15361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0419000" y="2447545"/>
            <a:ext cx="101388" cy="82954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419000" y="2416821"/>
            <a:ext cx="49158" cy="49158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431290" y="2429110"/>
            <a:ext cx="24579" cy="24579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511172" y="2484413"/>
            <a:ext cx="21506" cy="21506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80448" y="2465979"/>
            <a:ext cx="13825" cy="13825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9407412" y="2739879"/>
            <a:ext cx="219456" cy="3657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407412" y="2410695"/>
            <a:ext cx="219456" cy="347472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407412" y="2410695"/>
            <a:ext cx="219456" cy="43891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436673" y="2483847"/>
            <a:ext cx="124358" cy="21945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579319" y="2483847"/>
            <a:ext cx="18288" cy="1828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436673" y="2535054"/>
            <a:ext cx="124358" cy="21945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9579319" y="2535054"/>
            <a:ext cx="18288" cy="1828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9436673" y="2586260"/>
            <a:ext cx="124358" cy="21945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9579319" y="2586260"/>
            <a:ext cx="18288" cy="1828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436673" y="2637467"/>
            <a:ext cx="124358" cy="21945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9579319" y="2637467"/>
            <a:ext cx="18288" cy="1828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9436673" y="2688673"/>
            <a:ext cx="124358" cy="21945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579319" y="2688673"/>
            <a:ext cx="18288" cy="1828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8860536" y="3200400"/>
            <a:ext cx="187451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4B4540"/>
                </a:solidFill>
                <a:latin typeface="Noto Sans KR"/>
                <a:ea typeface="Noto Sans KR"/>
              </a:rPr>
              <a:t>1.3 · 가까이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860536" y="3474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7D746B"/>
                </a:solidFill>
                <a:latin typeface="Noto Sans KR"/>
                <a:ea typeface="Noto Sans KR"/>
              </a:rPr>
              <a:t>보스 · 필살기 · 전설 이상 탄생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526280" y="4114800"/>
            <a:ext cx="1874519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이유</a:t>
            </a:r>
          </a:p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0.45보다 멀면 쥐가 점이 됨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693408" y="4114800"/>
            <a:ext cx="1874519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이유</a:t>
            </a:r>
          </a:p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배율이 자주 바뀌면 오래 켜두는 동안 멀미가 남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8860536" y="4114800"/>
            <a:ext cx="1874519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이유</a:t>
            </a:r>
          </a:p>
          <a:p>
            <a:pPr algn="l"/>
            <a:r>
              <a:rPr sz="900" b="0">
                <a:solidFill>
                  <a:srgbClr val="4B4540"/>
                </a:solidFill>
                <a:latin typeface="Noto Sans KR"/>
                <a:ea typeface="Noto Sans KR"/>
              </a:rPr>
              <a:t>1.3보다 가까우면 스프라이트 해상도가 깨짐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카메라 - 기본 카메라와 배율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지정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투영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직교 카메라, 2D 스프라이트 + Y값 정렬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원근이 있으면 가장자리가 일그러져 플랫 스타일이 깨짐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3/4 탑다운, 세로 압축 0.85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아트를 이 각도로 그리고 카메라는 회전하지 않음. 회전하면 모든 스프라이트를 여러 각도로 그려야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 배율 1.0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 하나가 화면을 꽉 채움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방이 플레이 단위. 탭할 때와 켜둘 때 모두 이 배율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범위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0.45 ~ 1.3 (핀치·휠)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더 가까우면 스프라이트가 깨지고, 더 멀면 쥐가 점이 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0.45 전체 보기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시작 1.5초, 방 지도, 슈퍼점프 비행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"이번 층은 방 몇 개, 계단은 어디"를 먼저 보여줌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1.3 가까이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보스, 필살기, 전설 이상 탄생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L4 이펙트와 짝. 중요한 순간에만 다가가 특별함을 지킴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카메라 - 카메라 움직임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33856" y="15087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1645920"/>
            <a:ext cx="1371600" cy="8686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362456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44752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27048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09344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91640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73936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56232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38528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20824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8541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67711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50007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2303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14599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9689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0160" y="1843430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1925726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80160" y="2008022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0160" y="2090318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0160" y="2172614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80160" y="2254910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80160" y="2337206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80160" y="2419502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80160" y="2501798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80160" y="1645920"/>
            <a:ext cx="1371600" cy="51846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80160" y="1697766"/>
            <a:ext cx="1371600" cy="63367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56231" y="1645920"/>
            <a:ext cx="274320" cy="51846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56231" y="1697766"/>
            <a:ext cx="274320" cy="63367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1943618" y="1697766"/>
            <a:ext cx="8625" cy="28804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943618" y="1726570"/>
            <a:ext cx="10081" cy="28803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262471" y="2070788"/>
            <a:ext cx="82296" cy="1371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62471" y="1947344"/>
            <a:ext cx="82296" cy="130301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62471" y="1947344"/>
            <a:ext cx="82296" cy="16459"/>
          </a:xfrm>
          <a:prstGeom prst="rect">
            <a:avLst/>
          </a:prstGeom>
          <a:solidFill>
            <a:srgbClr val="778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73444" y="1974776"/>
            <a:ext cx="46634" cy="8229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26936" y="1974776"/>
            <a:ext cx="6858" cy="685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3444" y="1993979"/>
            <a:ext cx="46634" cy="8229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26936" y="1993979"/>
            <a:ext cx="6858" cy="685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73444" y="2013181"/>
            <a:ext cx="46634" cy="8229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26936" y="2013181"/>
            <a:ext cx="6858" cy="685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73444" y="2032383"/>
            <a:ext cx="46634" cy="8229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26936" y="2032383"/>
            <a:ext cx="6858" cy="685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73444" y="2051586"/>
            <a:ext cx="46634" cy="8229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26936" y="2051586"/>
            <a:ext cx="6858" cy="6858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20841" y="2169789"/>
            <a:ext cx="82954" cy="1152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 rot="20100000">
            <a:off x="1307016" y="2153659"/>
            <a:ext cx="39172" cy="4608"/>
          </a:xfrm>
          <a:prstGeom prst="roundRect">
            <a:avLst>
              <a:gd name="adj" fmla="val 252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27754" y="2130616"/>
            <a:ext cx="71432" cy="3917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36971" y="2153659"/>
            <a:ext cx="55302" cy="14977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6144" y="2123703"/>
            <a:ext cx="38020" cy="31107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76144" y="2112181"/>
            <a:ext cx="18434" cy="18434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410708" y="2137529"/>
            <a:ext cx="8065" cy="806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99187" y="2130616"/>
            <a:ext cx="5184" cy="518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380753" y="2093747"/>
            <a:ext cx="23042" cy="2304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78448" y="2114486"/>
            <a:ext cx="27651" cy="576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98646" y="2327953"/>
            <a:ext cx="82954" cy="1152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 rot="20100000">
            <a:off x="1484820" y="2311823"/>
            <a:ext cx="39172" cy="4608"/>
          </a:xfrm>
          <a:prstGeom prst="roundRect">
            <a:avLst>
              <a:gd name="adj" fmla="val 252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05559" y="2288780"/>
            <a:ext cx="71432" cy="3917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514776" y="2311823"/>
            <a:ext cx="55302" cy="14977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53949" y="2281867"/>
            <a:ext cx="38020" cy="31107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553949" y="2270345"/>
            <a:ext cx="18434" cy="18434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588513" y="2295693"/>
            <a:ext cx="8065" cy="806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576992" y="2288780"/>
            <a:ext cx="5184" cy="518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586382" y="2332271"/>
            <a:ext cx="82954" cy="1152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 rot="20100000">
            <a:off x="1572557" y="2316141"/>
            <a:ext cx="39172" cy="4608"/>
          </a:xfrm>
          <a:prstGeom prst="roundRect">
            <a:avLst>
              <a:gd name="adj" fmla="val 252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93295" y="2293098"/>
            <a:ext cx="71432" cy="39172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602512" y="2316141"/>
            <a:ext cx="55302" cy="14977"/>
          </a:xfrm>
          <a:prstGeom prst="ellipse">
            <a:avLst/>
          </a:prstGeom>
          <a:solidFill>
            <a:srgbClr val="3C3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641685" y="2286185"/>
            <a:ext cx="38020" cy="31107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641685" y="2274664"/>
            <a:ext cx="18434" cy="18434"/>
          </a:xfrm>
          <a:prstGeom prst="ellipse">
            <a:avLst/>
          </a:prstGeom>
          <a:solidFill>
            <a:srgbClr val="4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6250" y="2300011"/>
            <a:ext cx="8065" cy="806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664728" y="2293098"/>
            <a:ext cx="5184" cy="518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43990" y="2288490"/>
            <a:ext cx="34564" cy="576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782533" y="2399849"/>
            <a:ext cx="82954" cy="1152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 rot="20100000">
            <a:off x="1768708" y="2383719"/>
            <a:ext cx="39172" cy="4608"/>
          </a:xfrm>
          <a:prstGeom prst="roundRect">
            <a:avLst>
              <a:gd name="adj" fmla="val 252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789446" y="2360676"/>
            <a:ext cx="71432" cy="39172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98663" y="2383719"/>
            <a:ext cx="55302" cy="14977"/>
          </a:xfrm>
          <a:prstGeom prst="ellipse">
            <a:avLst/>
          </a:prstGeom>
          <a:solidFill>
            <a:srgbClr val="B3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837836" y="2353764"/>
            <a:ext cx="38020" cy="31107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7836" y="2342242"/>
            <a:ext cx="18434" cy="18434"/>
          </a:xfrm>
          <a:prstGeom prst="ellipse">
            <a:avLst/>
          </a:prstGeom>
          <a:solidFill>
            <a:srgbClr val="C9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872401" y="2367589"/>
            <a:ext cx="8065" cy="806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860879" y="2360676"/>
            <a:ext cx="5184" cy="518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842445" y="2323808"/>
            <a:ext cx="23042" cy="2304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840141" y="2344546"/>
            <a:ext cx="27651" cy="576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46120" y="1645920"/>
            <a:ext cx="1371600" cy="868680"/>
          </a:xfrm>
          <a:prstGeom prst="rect">
            <a:avLst/>
          </a:prstGeom>
          <a:solidFill>
            <a:srgbClr val="EE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332841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410711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493007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575303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657599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73989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822191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04487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986783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069079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15137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233671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315967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398263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480559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562855" y="1761134"/>
            <a:ext cx="0" cy="753466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246120" y="1843430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246120" y="1925726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246120" y="2008022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246120" y="2090318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246120" y="2172614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246120" y="2254910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246120" y="2337206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246120" y="2419502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46120" y="2501798"/>
            <a:ext cx="1371600" cy="0"/>
          </a:xfrm>
          <a:prstGeom prst="line">
            <a:avLst/>
          </a:prstGeom>
          <a:ln w="6350">
            <a:solidFill>
              <a:srgbClr val="DF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3246120" y="1645920"/>
            <a:ext cx="1371600" cy="51846"/>
          </a:xfrm>
          <a:prstGeom prst="rect">
            <a:avLst/>
          </a:prstGeom>
          <a:solidFill>
            <a:srgbClr val="7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246120" y="1697766"/>
            <a:ext cx="1371600" cy="63367"/>
          </a:xfrm>
          <a:prstGeom prst="rect">
            <a:avLst/>
          </a:prstGeom>
          <a:solidFill>
            <a:srgbClr val="9C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822191" y="1645920"/>
            <a:ext cx="274320" cy="51846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822191" y="1697766"/>
            <a:ext cx="274320" cy="63367"/>
          </a:xfrm>
          <a:prstGeom prst="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H="1">
            <a:off x="3909578" y="1697766"/>
            <a:ext cx="8626" cy="28804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909578" y="1726570"/>
            <a:ext cx="10081" cy="28803"/>
          </a:xfrm>
          <a:prstGeom prst="line">
            <a:avLst/>
          </a:prstGeom>
          <a:ln w="9525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4105295" y="2098391"/>
            <a:ext cx="82954" cy="11521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 rot="20100000">
            <a:off x="4091470" y="2082261"/>
            <a:ext cx="39172" cy="4608"/>
          </a:xfrm>
          <a:prstGeom prst="roundRect">
            <a:avLst>
              <a:gd name="adj" fmla="val 25200"/>
            </a:avLst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112208" y="2059218"/>
            <a:ext cx="71432" cy="39172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21425" y="2082261"/>
            <a:ext cx="55302" cy="14977"/>
          </a:xfrm>
          <a:prstGeom prst="ellipse">
            <a:avLst/>
          </a:prstGeom>
          <a:solidFill>
            <a:srgbClr val="E2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160598" y="2052305"/>
            <a:ext cx="38020" cy="31107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160598" y="2040783"/>
            <a:ext cx="18434" cy="18434"/>
          </a:xfrm>
          <a:prstGeom prst="ellipse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195163" y="2066131"/>
            <a:ext cx="8065" cy="8065"/>
          </a:xfrm>
          <a:prstGeom prst="ellipse">
            <a:avLst/>
          </a:prstGeom>
          <a:solidFill>
            <a:srgbClr val="E8A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183641" y="2059218"/>
            <a:ext cx="5184" cy="5184"/>
          </a:xfrm>
          <a:prstGeom prst="ellipse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348083" y="2185768"/>
            <a:ext cx="113568" cy="12618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351869" y="2137817"/>
            <a:ext cx="105997" cy="55522"/>
          </a:xfrm>
          <a:prstGeom prst="roundRect">
            <a:avLst>
              <a:gd name="adj" fmla="val 22727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349345" y="2115103"/>
            <a:ext cx="111044" cy="45427"/>
          </a:xfrm>
          <a:prstGeom prst="ellipse">
            <a:avLst/>
          </a:prstGeom>
          <a:solidFill>
            <a:srgbClr val="C9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367011" y="2120151"/>
            <a:ext cx="75712" cy="27761"/>
          </a:xfrm>
          <a:prstGeom prst="ellipse">
            <a:avLst/>
          </a:prstGeom>
          <a:solidFill>
            <a:srgbClr val="D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367011" y="2165578"/>
            <a:ext cx="10094" cy="10094"/>
          </a:xfrm>
          <a:prstGeom prst="ellipse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389725" y="2165578"/>
            <a:ext cx="40379" cy="11356"/>
          </a:xfrm>
          <a:prstGeom prst="roundRect">
            <a:avLst>
              <a:gd name="adj" fmla="val 33333"/>
            </a:avLst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214332" y="2236269"/>
            <a:ext cx="74615" cy="9326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4242312" y="2157924"/>
            <a:ext cx="18653" cy="33576"/>
          </a:xfrm>
          <a:prstGeom prst="roundRect">
            <a:avLst>
              <a:gd name="adj" fmla="val 20000"/>
            </a:avLst>
          </a:prstGeom>
          <a:solidFill>
            <a:srgbClr val="D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4239514" y="2152327"/>
            <a:ext cx="24249" cy="9326"/>
          </a:xfrm>
          <a:prstGeom prst="roundRect">
            <a:avLst>
              <a:gd name="adj" fmla="val 30000"/>
            </a:avLst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221793" y="2180308"/>
            <a:ext cx="59692" cy="55961"/>
          </a:xfrm>
          <a:prstGeom prst="ellipse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227389" y="2204558"/>
            <a:ext cx="48499" cy="27980"/>
          </a:xfrm>
          <a:prstGeom prst="ellipse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232985" y="2187770"/>
            <a:ext cx="9326" cy="9326"/>
          </a:xfrm>
          <a:prstGeom prst="ellipse">
            <a:avLst/>
          </a:prstGeom>
          <a:solidFill>
            <a:srgbClr val="E6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252728" y="1618488"/>
            <a:ext cx="1426464" cy="923544"/>
          </a:xfrm>
          <a:prstGeom prst="roundRect">
            <a:avLst>
              <a:gd name="adj" fmla="val 3960"/>
            </a:avLst>
          </a:prstGeom>
          <a:noFill/>
          <a:ln w="25400">
            <a:solidFill>
              <a:srgbClr val="6F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697480" y="2103120"/>
            <a:ext cx="502920" cy="0"/>
          </a:xfrm>
          <a:prstGeom prst="line">
            <a:avLst/>
          </a:prstGeom>
          <a:ln w="25400">
            <a:solidFill>
              <a:srgbClr val="C974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188720" y="2606040"/>
            <a:ext cx="35661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50" b="1">
                <a:solidFill>
                  <a:srgbClr val="C9745B"/>
                </a:solidFill>
                <a:latin typeface="Noto Sans KR"/>
                <a:ea typeface="Noto Sans KR"/>
              </a:rPr>
              <a:t>무리의 60%가 넘어가면 0.6초 감속 이동</a:t>
            </a:r>
          </a:p>
        </p:txBody>
      </p:sp>
      <p:graphicFrame>
        <p:nvGraphicFramePr>
          <p:cNvPr id="1040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4983480" y="1508760"/>
          <a:ext cx="58978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224028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동작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 중심 고정, 무리를 따라다니지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따라가면 계속 흔들려 오래 보기 힘듦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 이동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무리 60% 이상 → 0.6초 감속 이동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"대부분" 기준이라 왔다 갔다 안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수동 이동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드래그, 손 떼고 3초 후 복귀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구경은 자유, 방치 중엔 제자리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뚫림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열린 쪽으로 10% 0.4초 끌림 후 복귀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85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"저쪽이 열렸다"를 시선으로 알림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1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3429000"/>
          <a:ext cx="978408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45720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동작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방치 모드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10초마다 가장 바쁜 방으로 1초 이동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켜두고 볼 때 볼거리를 자동으로 찾아줌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줌 1.0 → 1.15 (0.12초) → 1.0 (0.6초)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화면이 숨을 쉬듯 타격의 무게를 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등장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쪽 이동 + 1.3 줌 + 먹색 레터박스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레터박스가 "컷신, 입력 안 받음"의 표시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슈퍼점프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컷인 → 0.45 줌아웃 포물선 추적 → 착지 1.0 + 흔들림 0.5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높이 뛰는 느낌을 멀어지는 카메라로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클리어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계단 1.3 줌인 → 위로 미끄러지며 다음 층 0.45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 층 올라간 것을 카메라 방향(위)으로 보여줌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붙잡힘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 → 1.15로 2초 천천히 줌인 + 회색조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천천히 다가가 "아이고…" 하는 여운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카메라 - 흔들림과 멈춤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133856" y="1508760"/>
          <a:ext cx="47548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63056" y="1508760"/>
          <a:ext cx="47548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04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406908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45720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지정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의도와 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흔들림 방식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세기 0~0.5를 쌓고, 흔들림 = 세기² × 최대 14px, 초당 0.9 감소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제곱이라 작은 충격은 거의 안 흔들리고 큰 충격만 확 흔들림. L0~L1이 많아도 화면이 떨리지 않음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흔들림 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위치만, 회전 없음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회전하면 3/4 시점 수평이 무너져 디오라마가 기울어 보임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멈춤 (히트스톱)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0.02~0.12초, 멈춘 동안 카메라도 멈춤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타격의 무게를 주는 가장 싼 방법. 카메라도 멈춰야 시간이 멈춘 느낌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겹침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흔들림은 더하되 0.5에서 멈춤, 멈춤은 큰 값 하나만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멈춤이 쌓이면 게임이 끊기는 것처럼 느껴짐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접근성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흔들림 끄기 / 50% 선택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0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광과민성과 멀미 대응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부록 - 아트 제작 순서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81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5943600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만들 것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이유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팔레트와 HSV 칸 확정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에셋의 기준. 나중에 바꾸면 전부 다시 칠해야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바닥 + 부서지지 않는 벽 + 길이 되는 벽 (파손 3단계)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핵심인 길 찾기가 읽히는지 가장 먼저 검증. 밝은 벽이 어두운 벽 사이에서 바로 보여야 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기본형 + 그림자 + 등급 고리, 소품 소·중 각 2종, 가구 2종 (파손 3단계)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돈(D2)과 길(D3)이 한 화면에서 헷갈리지 않는지 확인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HUD 패널·버튼·아이콘 세트, 폰트 아틀라스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 테스트를 시작할 수 있는 최소 화면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 L0~L2, 떠오르는 수입 숫자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탭 손맛과 보상 쾌감. 가장 자주 보이는 이펙트부터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사람·고양이, 나머지 4구간 색, 쥐 종류 확장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기준이 검증된 뒤 늘리는 것들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이펙트 L3~L5, 컷인, 필터, 카메라 연출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연출은 기본 화면이 완성된 뒤 대비를 보며 조정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부록 - 레퍼런스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133856" y="1481328"/>
          <a:ext cx="97840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3749039"/>
              </a:tblGrid>
              <a:tr h="292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레퍼런스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참고할 점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참고하지 않을 점</a:t>
                      </a: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Untitled Goose Game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외곽선 없는 평면 파스텔, 탑다운 장난 게임의 톤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초록 일색 배경 (이 게임은 구간마다 색이 바뀜)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Mini Motorways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단색 면과 그림자로 정보 정리, 오래 봐도 편한 화면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지나친 미니멀리즘 (캐릭터 매력이 필요)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Townscaper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장난감 디오라마 느낌, 따뜻한 파스텔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원근 카메라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Overcooked 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혼란한 화면에서 위험과 목표를 색으로 구분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외곽선과 강한 셰이딩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Vampire Survivors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개체가 수백 개여도 보상이 눈에 띄는 색 독점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픽셀아트, 화면을 덮는 이펙트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젤다의 전설 시리즈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금 간 벽 = 부술 수 있다는 시각 언어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 sz="11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사실적인 재질 표현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marT="27432" marB="27432" marL="64008" marR="640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302</Words>
  <Application>Microsoft Office PowerPoint</Application>
  <PresentationFormat>와이드스크린</PresentationFormat>
  <Paragraphs>76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19</cp:revision>
  <dcterms:created xsi:type="dcterms:W3CDTF">2026-09-29T07:46:10Z</dcterms:created>
  <dcterms:modified xsi:type="dcterms:W3CDTF">2026-10-05T07:31:38Z</dcterms:modified>
</cp:coreProperties>
</file>