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8"/>
    <p:sldId id="259" r:id="rId9"/>
    <p:sldId id="260" r:id="rId10"/>
    <p:sldId id="261" r:id="rId7"/>
    <p:sldId id="262" r:id="rId6"/>
    <p:sldId id="263" r:id="rId5"/>
    <p:sldId id="264" r:id="rId4"/>
    <p:sldId id="265" r:id="rId3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D6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층별 여유도 (기준 전투력 ÷ 적정 찍찍)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층별 여유도 (기준 전투력 ÷ 적정 찍찍)</c:v>
                </c:pt>
              </c:strCache>
            </c:strRef>
          </c:tx>
          <c:spPr>
            <a:solidFill>
              <a:srgbClr val="806D64"/>
            </a:solidFill>
          </c:spPr>
          <c:dPt>
            <c:idx val="15"/>
            <c:spPr>
              <a:solidFill>
                <a:srgbClr val="E97132"/>
              </a:solidFill>
            </c:spPr>
          </c:dPt>
          <c:dPt>
            <c:idx val="16"/>
            <c:spPr>
              <a:solidFill>
                <a:srgbClr val="E97132"/>
              </a:solidFill>
            </c:spPr>
          </c:dPt>
          <c:dPt>
            <c:idx val="17"/>
            <c:spPr>
              <a:solidFill>
                <a:srgbClr val="E97132"/>
              </a:solidFill>
            </c:spPr>
          </c:dPt>
          <c:dPt>
            <c:idx val="18"/>
            <c:spPr>
              <a:solidFill>
                <a:srgbClr val="E97132"/>
              </a:solidFill>
            </c:spPr>
          </c:dPt>
          <c:dPt>
            <c:idx val="19"/>
            <c:spPr>
              <a:solidFill>
                <a:srgbClr val="E97132"/>
              </a:solidFill>
            </c:spPr>
          </c:dPt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1.02</c:v>
                </c:pt>
                <c:pt idx="2">
                  <c:v>1.03</c:v>
                </c:pt>
                <c:pt idx="3">
                  <c:v>1.05</c:v>
                </c:pt>
                <c:pt idx="4">
                  <c:v>0.78</c:v>
                </c:pt>
                <c:pt idx="5">
                  <c:v>0.87</c:v>
                </c:pt>
                <c:pt idx="6">
                  <c:v>0.98</c:v>
                </c:pt>
                <c:pt idx="7">
                  <c:v>1.03</c:v>
                </c:pt>
                <c:pt idx="8">
                  <c:v>1.05</c:v>
                </c:pt>
                <c:pt idx="9">
                  <c:v>1.07</c:v>
                </c:pt>
                <c:pt idx="10">
                  <c:v>1.08</c:v>
                </c:pt>
                <c:pt idx="11">
                  <c:v>1.1</c:v>
                </c:pt>
                <c:pt idx="12">
                  <c:v>1.11</c:v>
                </c:pt>
                <c:pt idx="13">
                  <c:v>1.13</c:v>
                </c:pt>
                <c:pt idx="14">
                  <c:v>1.15</c:v>
                </c:pt>
                <c:pt idx="15">
                  <c:v>0.95</c:v>
                </c:pt>
                <c:pt idx="16">
                  <c:v>0.88</c:v>
                </c:pt>
                <c:pt idx="17">
                  <c:v>0.7</c:v>
                </c:pt>
                <c:pt idx="18">
                  <c:v>0.56</c:v>
                </c:pt>
                <c:pt idx="19">
                  <c:v>0.44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후반 1판 연구 자료로 가능한 10회 뽑기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후반 1판 연구 자료로 가능한 10회 뽑기</c:v>
                </c:pt>
              </c:strCache>
            </c:strRef>
          </c:tx>
          <c:spPr>
            <a:solidFill>
              <a:srgbClr val="806D64"/>
            </a:solidFill>
          </c:spPr>
          <c:cat>
            <c:strRef>
              <c:f>Sheet1!$A$2:$A$6</c:f>
              <c:strCache>
                <c:ptCount val="5"/>
                <c:pt idx="0">
                  <c:v>16층</c:v>
                </c:pt>
                <c:pt idx="1">
                  <c:v>17층</c:v>
                </c:pt>
                <c:pt idx="2">
                  <c:v>18층</c:v>
                </c:pt>
                <c:pt idx="3">
                  <c:v>19층</c:v>
                </c:pt>
                <c:pt idx="4">
                  <c:v>20층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1.83</c:v>
                </c:pt>
                <c:pt idx="1">
                  <c:v>1.63</c:v>
                </c:pt>
                <c:pt idx="2">
                  <c:v>1.33</c:v>
                </c:pt>
                <c:pt idx="3">
                  <c:v>1.16</c:v>
                </c:pt>
                <c:pt idx="4">
                  <c:v>1.04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뽑기 시스템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AI 초안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AI 초안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625600" y="17018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90700" y="16256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개요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0600" y="20320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0600" y="2311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0600" y="2590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용어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0600" y="2870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4.   기획 의도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5600" y="34290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90700" y="33528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문제 분석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6P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0600" y="3759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후반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0600" y="40386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여유도와 조각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0600" y="43180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상점과의 역할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5600" y="48768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0700" y="48006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뽑기 시스템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0600" y="52070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개요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0600" y="5486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해금 · 허들 연계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0600" y="5765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이용 흐름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7600" y="17018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2700" y="16256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화면 구성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12P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2600" y="20320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뽑기 화면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2600" y="2311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결과 화면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7600" y="28702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2700" y="27940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뽑기 구성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14P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2600" y="3200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등급 확률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2600" y="3479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종 결정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2600" y="3759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1회 · 10회 뽑기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2600" y="40386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4.   비용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7600" y="45974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2700" y="45212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천장 · 밸런스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18P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2600" y="49276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천장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2600" y="52070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판당 공급과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2600" y="5486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데이터 테이블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2600" y="5765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4.   예외처리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2600" y="6045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5.   추후 검토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로그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651000"/>
          <a:ext cx="9906000" cy="2590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35000"/>
                <a:gridCol w="1270000"/>
                <a:gridCol w="1016000"/>
                <a:gridCol w="1905000"/>
                <a:gridCol w="5080000"/>
              </a:tblGrid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순번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작성일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작성자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작성 내용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비고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2026-10-12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AI 초안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문서 최초 작성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유전자 뽑기 초안 (해금 · 확률 · 1회 / 10회 · 천장 · 테이블)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2026-10-12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AI 초안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 기획서 반영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별 허들 기획서 Ver02 기준 개정 — 16층 해금, 비용 BR 기준, 천장 판 수 보정, 판당 공급 · 검증 지표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용어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49400"/>
          <a:ext cx="9906000" cy="3937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05000"/>
                <a:gridCol w="8001000"/>
              </a:tblGrid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용어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설명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유전자 뽑기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연구 자료로 쥐 조각 캡슐을 뽑는 아지트 기능. 16층 허들 첫 돌파 시 해금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캡슐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뽑기 1회의 결과. 쥐 1종의 조각 묶음이 들어 있음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1회 · 10회 뽑기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캡슐 1개 / 1회 비용의 9배로 캡슐 10개. 10회는 유니크 이상 1개 보장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10회 보장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10개 결과에 유니크 이상이 없으면 마지막 결과를 유니크 이상으로 다시 추첨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/ 신화 천장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이상 30회 · 신화 100회 연속으로 못 얻으면 해당 회차를 그 등급으로 확정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관심 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· 신화 각 1종 지정 (18층 돌파 후). 해당 등급 당첨 시 50% 확률로 관심 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기준 연구 자료 (BR)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최고 도달 층을 1회 클리어할 때 받는 연구 자료. 뽑기 비용의 단위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조각 계수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등급 테이블의 shard_k. 캡슐당 조각 수 = 5 × 조각 계수 (소수점 버림)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여유도 · 판당 성장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별 허들 기획서 용어. 기준 전투력 ÷ 적정 찍찍 / 판 사이 로비 성장 배율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기획 의도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5240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한줄요약 : </a:t>
            </a:r>
            <a:r>
              <a:rPr sz="1700" b="0">
                <a:solidFill>
                  <a:schemeClr val="accent2"/>
                </a:solidFill>
                <a:latin typeface="Noto Sans KR Black"/>
                <a:ea typeface="Noto Sans KR Black"/>
              </a:rPr>
              <a:t>후반 반복 판의 연구 자료를 확률형 조각 수급으로 바꾼다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1336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46200" y="2336800"/>
            <a:ext cx="431800" cy="431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2387600"/>
            <a:ext cx="228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후반 입장 보상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2794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16층 허들 보상 '조각 수급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콘텐츠 해금'을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뽑기로 구현한다.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8500" y="21336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1700" y="2336800"/>
            <a:ext cx="431800" cy="431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0500" y="2387600"/>
            <a:ext cx="228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조각 총량 보완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7100" y="2971800"/>
            <a:ext cx="2794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일반 ~ 신화 전 등급 조각을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공급해 판당 성장 ×1.31을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받친다.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4000" y="21336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77200" y="2336800"/>
            <a:ext cx="431800" cy="431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2387600"/>
            <a:ext cx="228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도감 완성 동기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2600" y="2971800"/>
            <a:ext cx="2794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미보유 종도 등장해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긴 목표 '도감 완성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(20~30시간)'을 돕는다.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699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연구 자료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(후반 반복 판 적체)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4699000"/>
            <a:ext cx="2540000" cy="7620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700" b="0">
                <a:solidFill>
                  <a:srgbClr val="FFFFFF"/>
                </a:solidFill>
                <a:latin typeface="Noto Sans KR Black"/>
                <a:ea typeface="Noto Sans KR Black"/>
              </a:rPr>
              <a:t>유전자 뽑기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9000" y="4699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전 등급 쥐 조각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+ 도감 등록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83000" y="5080000"/>
            <a:ext cx="1143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6000" y="5080000"/>
            <a:ext cx="1143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83000" y="5562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1회 · 10회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6000" y="5562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쥐 강화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문제 분석 – 후반 구조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24000"/>
          <a:ext cx="9906000" cy="2578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32000"/>
                <a:gridCol w="2413000"/>
                <a:gridCol w="2413000"/>
                <a:gridCol w="3048000"/>
              </a:tblGrid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 · 1~5층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 · 6~15층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· 16~20층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누적 시간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30분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2시간 15분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8시간 30분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 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2~3판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5판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13판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진척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1~4층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0.3~0.5층 (2~3판에 1층)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성장 / 층당 난이도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×1.34 / ×1.37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×1.74 / ×1.32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×1.31 / ×2.01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한 판 길이 (로비 포함)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10분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21분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29분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성장 수단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번식 · 승급 · 1단계 스킬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훈장 · 스킬 트리 · 새 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조각 수급 · 종결 쥐 · 높은 훈장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4191000"/>
            <a:ext cx="990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층 별 허들 기획서 Ver02 (박도원, 2026-10-12) · 자동 플레이 · 표준 플레이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521200"/>
            <a:ext cx="9906000" cy="1473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46200" y="4711700"/>
            <a:ext cx="76200" cy="228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8600" y="46482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5029200"/>
            <a:ext cx="9525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후반은 13판 동안 고점이 5층만 오르지만, 매 판 1~15층을 다시 클리어하며 연구 자료를 받는다.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연구 자료의 소비처는 훈장뿐이라 고점이 멈춘 동안 쌓이고, 성장은 조각 수급에 달려 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→ 허들 기획서가 16층 보상으로 정한 '조각 수급 콘텐츠'를 연구 자료 소비처로 연결한다.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문제 분석 – 여유도와 조각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143000" y="1447800"/>
          <a:ext cx="6096000" cy="332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0" y="1524000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chemeClr val="accent2"/>
                </a:solidFill>
                <a:latin typeface="Noto Sans KR Black"/>
                <a:ea typeface="Noto Sans KR Black"/>
              </a:rPr>
              <a:t>0.44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21844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20층 여유도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(15층 1.15 → 16층부터 하락)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2794000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806D64"/>
                </a:solidFill>
                <a:latin typeface="Noto Sans KR Black"/>
                <a:ea typeface="Noto Sans KR Black"/>
              </a:rPr>
              <a:t>×1.31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34544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후반 목표 판당 성장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(층당 난이도 ×2.01)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4038600"/>
            <a:ext cx="342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허들 기획서는 이 차이를 '반복 판 · 조각 파밍'으로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메운다고 설계했지만, 조각 수급 기능은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'추후 추가'로 비어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978400"/>
            <a:ext cx="9906000" cy="787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6200" y="5105400"/>
            <a:ext cx="9525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현재 조각은 번식 · 승급으로만 얻고, 전설 탄생 가중치는 일반의 1/10,000 · 신화는 약 1/54,000 (쥐 등급 테이블).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→ 후반 판당 성장 ×1.31을 받칠 조각 공급원이 필요하다 — 상점(치즈) · 뽑기(연구 자료).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문제 분석 – 상점과의 역할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49400"/>
          <a:ext cx="990600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1000"/>
                <a:gridCol w="4127500"/>
                <a:gridCol w="4127500"/>
              </a:tblGrid>
              <a:tr h="406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쥐구멍 암시장 (상점)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유전자 뽑기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재화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(BC 단위)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연구 자료 (BR 단위)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대상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· 신화 조각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 등급 조각 (일반 ~ 신화)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방식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선택형 — 라인업에서 골라 구매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확률형 — 1회 / 10회 연속 뽑기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17층 어려움 (조각 수급량 증가)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16층 허들 (조각 수급 콘텐츠 해금)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18층 슬롯 5 · 19층 무료 리롤 · 20층 신화 슬롯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18층 관심 종 · 20층 관심 종 75%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슬롯 고정 · 신화 천장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10회 보장 · 전설 / 신화 천장 · 관심 종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미보유 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판매하지 않음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등장 — 첫 당첨 시 도감 등록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역할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'끝까지 키울 쥐' 집중 육성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조각 총량 확보 + 도감 수집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5461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재화가 겹치지 않아 서로 경쟁하지 않고, 같은 목표(후반 판당 성장 ×1.31)를 다른 방식으로 채운다.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뽑기 시스템 – 개요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5240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Noto Sans KR Black"/>
                <a:ea typeface="Noto Sans KR Black"/>
              </a:rPr>
              <a:t>남는 연구 자료로 쥐 조각 캡슐을 뽑는 아지트 기계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095500"/>
            <a:ext cx="18288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9900" y="2260600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해금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3073400"/>
            <a:ext cx="167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16층 허들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첫 돌파 시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메뉴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2300" y="2095500"/>
            <a:ext cx="18288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59200" y="2260600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재화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0" y="3073400"/>
            <a:ext cx="167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연구 자료 전용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가격 단위 BR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1600" y="2095500"/>
            <a:ext cx="18288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78500" y="2260600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1회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3073400"/>
            <a:ext cx="167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0.2 BR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캡슐 1개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900" y="2095500"/>
            <a:ext cx="18288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97800" y="2260600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10회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7100" y="3073400"/>
            <a:ext cx="167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1.8 BR (1회 × 9)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유니크 이상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1개 보장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20200" y="2095500"/>
            <a:ext cx="18288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17100" y="2260600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천장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3073400"/>
            <a:ext cx="167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전설 이상 30회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신화 100회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연속 미획득 시 확정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704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아지트 메뉴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작전 회의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876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찍찍!! 훈장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322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쳇바퀴 훈련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치즈 창고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14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친구들!!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60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낮잠 침대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106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유전자 뽑기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96400" y="4686300"/>
            <a:ext cx="482600" cy="228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 Black"/>
                <a:ea typeface="Noto Sans KR Black"/>
              </a:rPr>
              <a:t>NEW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552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806D64"/>
                </a:solidFill>
                <a:latin typeface="Noto Sans KR"/>
                <a:ea typeface="Noto Sans KR"/>
              </a:rPr>
              <a:t>쥐구멍 암시장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35600"/>
            <a:ext cx="990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쥐구멍 암시장은 17층 돌파 시 이어서 열림 · 판 진행 중에는 이용 불가 (아지트 전용)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뽑기 시스템 – 해금 · 허들 연계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549400"/>
            <a:ext cx="3683000" cy="3175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018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해금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32000"/>
            <a:ext cx="3302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chemeClr val="accent2"/>
                </a:solidFill>
                <a:latin typeface="Noto Sans KR Black"/>
                <a:ea typeface="Noto Sans KR Black"/>
              </a:rPr>
              <a:t>16층 첫 돌파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908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허들 층 · 후반 입장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22600"/>
            <a:ext cx="330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누적 약 2시간 58분 · 10판째</a:t>
            </a:r>
          </a:p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머무는 시간 53분 (2판)</a:t>
            </a:r>
          </a:p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허들 보상 '조각 수급 콘텐츠 해금'</a:t>
            </a:r>
          </a:p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첫 방문 선물 : 10회 뽑기 1회 무료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196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(층 별 허들 기획서 Ver02 기준)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7000" y="15494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16층에 여는 이유</a:t>
            </a:r>
          </a:p>
        </p:txBody>
      </p:sp>
      <p:sp>
        <p:nvSpPr>
          <p:cNvPr id="11" name="Oval 10"/>
          <p:cNvSpPr/>
          <p:nvPr/>
        </p:nvSpPr>
        <p:spPr>
          <a:xfrm>
            <a:off x="5207000" y="20066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4200" y="1981200"/>
            <a:ext cx="5384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허들 보상과 일치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허들 기획서의 16층 보상 '조각 수급 콘텐츠 해금 ·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후반 입장'을 뽑기로 구현한다.</a:t>
            </a:r>
          </a:p>
        </p:txBody>
      </p:sp>
      <p:sp>
        <p:nvSpPr>
          <p:cNvPr id="13" name="Oval 12"/>
          <p:cNvSpPr/>
          <p:nvPr/>
        </p:nvSpPr>
        <p:spPr>
          <a:xfrm>
            <a:off x="5207000" y="27178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4200" y="2692400"/>
            <a:ext cx="5384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후반의 첫 벽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여유도가 1.15(15층) → 0.95(16층)로 처음 꺾이는 지점.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판당 성장이 ×1.74 → ×1.31로 줄어든다.</a:t>
            </a:r>
          </a:p>
        </p:txBody>
      </p:sp>
      <p:sp>
        <p:nvSpPr>
          <p:cNvPr id="15" name="Oval 14"/>
          <p:cNvSpPr/>
          <p:nvPr/>
        </p:nvSpPr>
        <p:spPr>
          <a:xfrm>
            <a:off x="5207000" y="34290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4200" y="3403600"/>
            <a:ext cx="5384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정보 공개 순서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허들 기획서 '후반 진입' 단계에서 조각 수급이 열린다.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16층 뽑기 → 17층 상점 순으로 하나씩 공개.</a:t>
            </a:r>
          </a:p>
        </p:txBody>
      </p:sp>
      <p:sp>
        <p:nvSpPr>
          <p:cNvPr id="17" name="Oval 16"/>
          <p:cNvSpPr/>
          <p:nvPr/>
        </p:nvSpPr>
        <p:spPr>
          <a:xfrm>
            <a:off x="5207000" y="41402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200" y="4114800"/>
            <a:ext cx="5384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세계관 연결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16층 허들 너머에서 고장 난 유전자 분석기를 발견,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훔친 연구 자료로 동료의 유전자를 추출한다.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784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허들 보상에 맞춘 뽑기 확장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3086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16층 · 2시간 58분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뽑기 해금 · 첫 10회 무료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29000" y="56515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83000" y="53086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17층 · 3시간 52분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상점 해금 (치즈 수급)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9000" y="56515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23000" y="53086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18층 · 5시간 18분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관심 종 지정 (종결 쥐 후보)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09000" y="56515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63000" y="53086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20층 · 8시간 23분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관심 종 확률 75%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뽑기 시스템 – 이용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6510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"/>
                <a:ea typeface="Noto Sans KR"/>
              </a:rPr>
              <a:t>판 종료 · 아지트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0" y="16510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"/>
                <a:ea typeface="Noto Sans KR"/>
              </a:rPr>
              <a:t>유전자 뽑기 입장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7000" y="16510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"/>
                <a:ea typeface="Noto Sans KR"/>
              </a:rPr>
              <a:t>1회 / 10회 선택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6510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"/>
                <a:ea typeface="Noto Sans KR"/>
              </a:rPr>
              <a:t>캡슐 연출 · 결과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8000" y="19685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15000" y="19685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82000" y="19685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0" y="38862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조각 지급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미보유 종 도감 등록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7000" y="38862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쳇바퀴 훈련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(쥐 강화)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0000" y="38862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판 전투력 상승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(판당 성장)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8862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다음 판 출발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고점 · 허들 도전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382000" y="42037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715000" y="42037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048000" y="42037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96500" y="2286000"/>
            <a:ext cx="0" cy="16002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95500" y="2286000"/>
            <a:ext cx="0" cy="16002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84400" y="29464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판마다 연구 자료 획득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0000" y="2819400"/>
            <a:ext cx="1905000" cy="55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806D64"/>
                </a:solidFill>
                <a:latin typeface="Noto Sans KR Black"/>
                <a:ea typeface="Noto Sans KR Black"/>
              </a:rPr>
              <a:t>관심 종 지정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7000" y="2819400"/>
            <a:ext cx="1905000" cy="55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806D64"/>
                </a:solidFill>
                <a:latin typeface="Noto Sans KR Black"/>
                <a:ea typeface="Noto Sans KR Black"/>
              </a:rPr>
              <a:t>천장 · 보장 판정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715000" y="2286000"/>
            <a:ext cx="990600" cy="8128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382000" y="2286000"/>
            <a:ext cx="1041400" cy="8128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143000" y="4876800"/>
            <a:ext cx="9906000" cy="1092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200" y="5003800"/>
            <a:ext cx="952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5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후반 1판 연구 자료로 10회 뽑기 약 1~1.8회 — 판마다 아지트에서 한 번 뽑는 리듬</a:t>
            </a:r>
          </a:p>
          <a:p>
            <a:pPr algn="l" marL="177800" indent="-177800">
              <a:spcAft>
                <a:spcPts val="5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미보유 종이 나오면 도감에 등록 → 도감 보너스(치즈 획득량)와 도감 완성 목표가 함께 진행</a:t>
            </a:r>
          </a:p>
          <a:p>
            <a:pPr algn="l" marL="177800" indent="-177800">
              <a:spcAft>
                <a:spcPts val="5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결과는 연출 전에 저장되고, 조각은 다음 판 출발 전 쳇바퀴 훈련에서 바로 사용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화면 구성 – 뽑기 화면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498600"/>
            <a:ext cx="6858000" cy="4876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6200" y="1625600"/>
            <a:ext cx="228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Noto Sans KR Black"/>
                <a:ea typeface="Noto Sans KR Black"/>
              </a:rPr>
              <a:t>유전자 뽑기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0800" y="1651000"/>
            <a:ext cx="1016000" cy="330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Noto Sans KR Black"/>
                <a:ea typeface="Noto Sans KR Black"/>
              </a:rPr>
              <a:t>확률 정보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400" y="1651000"/>
            <a:ext cx="1574800" cy="330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연구 자료 1,280</a:t>
            </a:r>
          </a:p>
        </p:txBody>
      </p:sp>
      <p:sp>
        <p:nvSpPr>
          <p:cNvPr id="8" name="Oval 7"/>
          <p:cNvSpPr/>
          <p:nvPr/>
        </p:nvSpPr>
        <p:spPr>
          <a:xfrm>
            <a:off x="1587500" y="2133600"/>
            <a:ext cx="2540000" cy="20955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95500" y="3175000"/>
            <a:ext cx="304800" cy="304800"/>
          </a:xfrm>
          <a:prstGeom prst="ellipse">
            <a:avLst/>
          </a:prstGeom>
          <a:solidFill>
            <a:srgbClr val="A8A2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76500" y="3556000"/>
            <a:ext cx="304800" cy="304800"/>
          </a:xfrm>
          <a:prstGeom prst="ellipse">
            <a:avLst/>
          </a:prstGeom>
          <a:solidFill>
            <a:srgbClr val="7FA8B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46400" y="3327400"/>
            <a:ext cx="304800" cy="304800"/>
          </a:xfrm>
          <a:prstGeom prst="ellipse">
            <a:avLst/>
          </a:prstGeom>
          <a:solidFill>
            <a:srgbClr val="A8A2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03600" y="3581400"/>
            <a:ext cx="304800" cy="304800"/>
          </a:xfrm>
          <a:prstGeom prst="ellipse">
            <a:avLst/>
          </a:prstGeom>
          <a:solidFill>
            <a:srgbClr val="A58B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0" y="2667000"/>
            <a:ext cx="304800" cy="304800"/>
          </a:xfrm>
          <a:prstGeom prst="ellipse">
            <a:avLst/>
          </a:prstGeom>
          <a:solidFill>
            <a:srgbClr val="C984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19400" y="2819400"/>
            <a:ext cx="304800" cy="304800"/>
          </a:xfrm>
          <a:prstGeom prst="ellipse">
            <a:avLst/>
          </a:prstGeom>
          <a:solidFill>
            <a:srgbClr val="A8A2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27400" y="2997200"/>
            <a:ext cx="304800" cy="304800"/>
          </a:xfrm>
          <a:prstGeom prst="ellipse">
            <a:avLst/>
          </a:prstGeom>
          <a:solidFill>
            <a:srgbClr val="7FA8B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67000" y="3759200"/>
            <a:ext cx="304800" cy="304800"/>
          </a:xfrm>
          <a:prstGeom prst="ellipse">
            <a:avLst/>
          </a:prstGeom>
          <a:solidFill>
            <a:srgbClr val="A8A2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24200" y="2489200"/>
            <a:ext cx="304800" cy="3048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30400" y="3632200"/>
            <a:ext cx="304800" cy="304800"/>
          </a:xfrm>
          <a:prstGeom prst="ellipse">
            <a:avLst/>
          </a:prstGeom>
          <a:solidFill>
            <a:srgbClr val="7FA8B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19500" y="3124200"/>
            <a:ext cx="304800" cy="304800"/>
          </a:xfrm>
          <a:prstGeom prst="ellipse">
            <a:avLst/>
          </a:prstGeom>
          <a:solidFill>
            <a:srgbClr val="A8A2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40000" y="2311400"/>
            <a:ext cx="304800" cy="304800"/>
          </a:xfrm>
          <a:prstGeom prst="ellipse">
            <a:avLst/>
          </a:prstGeom>
          <a:solidFill>
            <a:srgbClr val="D978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78000" y="4013200"/>
            <a:ext cx="2159000" cy="9398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41148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유전자 분석기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40000" y="4495800"/>
            <a:ext cx="635000" cy="279400"/>
          </a:xfrm>
          <a:prstGeom prst="roundRect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5000" y="2159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관심 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5000" y="2489200"/>
            <a:ext cx="508000" cy="254000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전설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4600" y="25019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 Black"/>
                <a:ea typeface="Noto Sans KR Black"/>
              </a:rPr>
              <a:t>사무라이 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88200" y="2489200"/>
            <a:ext cx="609600" cy="254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변경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5000" y="2870200"/>
            <a:ext cx="508000" cy="254000"/>
          </a:xfrm>
          <a:prstGeom prst="roundRect">
            <a:avLst>
              <a:gd name="adj" fmla="val 40000"/>
            </a:avLst>
          </a:prstGeom>
          <a:solidFill>
            <a:srgbClr val="D9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신화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4600" y="28829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 Black"/>
                <a:ea typeface="Noto Sans KR Black"/>
              </a:rPr>
              <a:t>기사 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88200" y="2870200"/>
            <a:ext cx="609600" cy="254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변경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5000" y="33274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천장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5000" y="3683000"/>
            <a:ext cx="88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전설 이상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34000" y="3733800"/>
            <a:ext cx="1778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34000" y="3733800"/>
            <a:ext cx="711200" cy="1524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88200" y="3683000"/>
            <a:ext cx="71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12 /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5000" y="4064000"/>
            <a:ext cx="88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신화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0" y="4114800"/>
            <a:ext cx="1778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34000" y="4114800"/>
            <a:ext cx="835660" cy="152400"/>
          </a:xfrm>
          <a:prstGeom prst="rect">
            <a:avLst/>
          </a:prstGeom>
          <a:solidFill>
            <a:srgbClr val="D9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88200" y="4064000"/>
            <a:ext cx="71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47 / 100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33500" y="5435600"/>
            <a:ext cx="2921000" cy="711200"/>
          </a:xfrm>
          <a:prstGeom prst="roundRect">
            <a:avLst>
              <a:gd name="adj" fmla="val 2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1회 뽑기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연구 자료 40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45000" y="5435600"/>
            <a:ext cx="3365500" cy="711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10회 뽑기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연구 자료 360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69000" y="5283200"/>
            <a:ext cx="1727200" cy="254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유니크 이상 1개 보장</a:t>
            </a:r>
          </a:p>
        </p:txBody>
      </p:sp>
      <p:sp>
        <p:nvSpPr>
          <p:cNvPr id="43" name="Oval 42"/>
          <p:cNvSpPr/>
          <p:nvPr/>
        </p:nvSpPr>
        <p:spPr>
          <a:xfrm>
            <a:off x="7696200" y="14986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44" name="Oval 43"/>
          <p:cNvSpPr/>
          <p:nvPr/>
        </p:nvSpPr>
        <p:spPr>
          <a:xfrm>
            <a:off x="5003800" y="15240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45" name="Oval 44"/>
          <p:cNvSpPr/>
          <p:nvPr/>
        </p:nvSpPr>
        <p:spPr>
          <a:xfrm>
            <a:off x="5105400" y="21844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6" name="Oval 45"/>
          <p:cNvSpPr/>
          <p:nvPr/>
        </p:nvSpPr>
        <p:spPr>
          <a:xfrm>
            <a:off x="4876800" y="33528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4</a:t>
            </a:r>
          </a:p>
        </p:txBody>
      </p:sp>
      <p:sp>
        <p:nvSpPr>
          <p:cNvPr id="47" name="Oval 46"/>
          <p:cNvSpPr/>
          <p:nvPr/>
        </p:nvSpPr>
        <p:spPr>
          <a:xfrm>
            <a:off x="1231900" y="53086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5</a:t>
            </a:r>
          </a:p>
        </p:txBody>
      </p:sp>
      <p:sp>
        <p:nvSpPr>
          <p:cNvPr id="48" name="Oval 47"/>
          <p:cNvSpPr/>
          <p:nvPr/>
        </p:nvSpPr>
        <p:spPr>
          <a:xfrm>
            <a:off x="4343400" y="53086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6</a:t>
            </a:r>
          </a:p>
        </p:txBody>
      </p:sp>
      <p:sp>
        <p:nvSpPr>
          <p:cNvPr id="49" name="Oval 48"/>
          <p:cNvSpPr/>
          <p:nvPr/>
        </p:nvSpPr>
        <p:spPr>
          <a:xfrm>
            <a:off x="8255000" y="15748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36000" y="15494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보유 연구 자료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현재 보유량 표시</a:t>
            </a:r>
          </a:p>
        </p:txBody>
      </p:sp>
      <p:sp>
        <p:nvSpPr>
          <p:cNvPr id="51" name="Oval 50"/>
          <p:cNvSpPr/>
          <p:nvPr/>
        </p:nvSpPr>
        <p:spPr>
          <a:xfrm>
            <a:off x="8255000" y="23749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36000" y="23495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확률 정보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등급 확률 · 보장 · 천장 규칙 공개</a:t>
            </a:r>
          </a:p>
        </p:txBody>
      </p:sp>
      <p:sp>
        <p:nvSpPr>
          <p:cNvPr id="53" name="Oval 52"/>
          <p:cNvSpPr/>
          <p:nvPr/>
        </p:nvSpPr>
        <p:spPr>
          <a:xfrm>
            <a:off x="8255000" y="31750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36000" y="31496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관심 종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18층 돌파 후 전설 · 신화 각 1종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해당 등급 당첨 시 50%</a:t>
            </a:r>
          </a:p>
        </p:txBody>
      </p:sp>
      <p:sp>
        <p:nvSpPr>
          <p:cNvPr id="55" name="Oval 54"/>
          <p:cNvSpPr/>
          <p:nvPr/>
        </p:nvSpPr>
        <p:spPr>
          <a:xfrm>
            <a:off x="8255000" y="39751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36000" y="39497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천장 게이지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전설 이상 · 신화 누적 횟수</a:t>
            </a:r>
          </a:p>
        </p:txBody>
      </p:sp>
      <p:sp>
        <p:nvSpPr>
          <p:cNvPr id="57" name="Oval 56"/>
          <p:cNvSpPr/>
          <p:nvPr/>
        </p:nvSpPr>
        <p:spPr>
          <a:xfrm>
            <a:off x="8255000" y="47752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36000" y="47498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1회 뽑기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0.2 BR (현재 최고 층 기준)</a:t>
            </a:r>
          </a:p>
        </p:txBody>
      </p:sp>
      <p:sp>
        <p:nvSpPr>
          <p:cNvPr id="59" name="Oval 58"/>
          <p:cNvSpPr/>
          <p:nvPr/>
        </p:nvSpPr>
        <p:spPr>
          <a:xfrm>
            <a:off x="8255000" y="55753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36000" y="55499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10회 뽑기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1.8 BR · 유니크 이상 보장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6426200"/>
            <a:ext cx="685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18층 돌파 후 예시 화면 (BR = 200 가정)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화면 구성 – 결과 화면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473200"/>
            <a:ext cx="9906000" cy="45212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6200" y="1574800"/>
            <a:ext cx="381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Noto Sans KR Black"/>
                <a:ea typeface="Noto Sans KR Black"/>
              </a:rPr>
              <a:t>뽑기 결과 · 10회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94800" y="1600200"/>
            <a:ext cx="1651000" cy="279400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최고 등급 : 전설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46200" y="1981200"/>
            <a:ext cx="17526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A8A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06600" y="2108200"/>
            <a:ext cx="431800" cy="431800"/>
          </a:xfrm>
          <a:prstGeom prst="ellipse">
            <a:avLst/>
          </a:prstGeom>
          <a:solidFill>
            <a:srgbClr val="A8A2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7000" y="2616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A29A"/>
                </a:solidFill>
                <a:latin typeface="Noto Sans KR Black"/>
                <a:ea typeface="Noto Sans KR Black"/>
              </a:rPr>
              <a:t>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7000" y="28448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시궁쥐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7000" y="3149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1200" y="1981200"/>
            <a:ext cx="17526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7FA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11600" y="2108200"/>
            <a:ext cx="431800" cy="431800"/>
          </a:xfrm>
          <a:prstGeom prst="ellipse">
            <a:avLst/>
          </a:prstGeom>
          <a:solidFill>
            <a:srgbClr val="7FA8B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2000" y="2616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FA8BF"/>
                </a:solidFill>
                <a:latin typeface="Noto Sans KR Black"/>
                <a:ea typeface="Noto Sans KR Black"/>
              </a:rPr>
              <a:t>레어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2000" y="28448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복서 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2000" y="3149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6200" y="1981200"/>
            <a:ext cx="17526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A8A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16600" y="2108200"/>
            <a:ext cx="431800" cy="431800"/>
          </a:xfrm>
          <a:prstGeom prst="ellipse">
            <a:avLst/>
          </a:prstGeom>
          <a:solidFill>
            <a:srgbClr val="A8A2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7000" y="2616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A29A"/>
                </a:solidFill>
                <a:latin typeface="Noto Sans KR Black"/>
                <a:ea typeface="Noto Sans KR Black"/>
              </a:rPr>
              <a:t>일반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000" y="28448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생쥐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000" y="3149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1200" y="1981200"/>
            <a:ext cx="17526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A58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21600" y="2108200"/>
            <a:ext cx="431800" cy="431800"/>
          </a:xfrm>
          <a:prstGeom prst="ellipse">
            <a:avLst/>
          </a:prstGeom>
          <a:solidFill>
            <a:srgbClr val="A58B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2000" y="2616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58BB8"/>
                </a:solidFill>
                <a:latin typeface="Noto Sans KR Black"/>
                <a:ea typeface="Noto Sans KR Black"/>
              </a:rPr>
              <a:t>에픽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0" y="28448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닌자 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2000" y="3149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6200" y="1981200"/>
            <a:ext cx="17526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A8A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26600" y="2108200"/>
            <a:ext cx="431800" cy="431800"/>
          </a:xfrm>
          <a:prstGeom prst="ellipse">
            <a:avLst/>
          </a:prstGeom>
          <a:solidFill>
            <a:srgbClr val="A8A2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7000" y="2616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A29A"/>
                </a:solidFill>
                <a:latin typeface="Noto Sans KR Black"/>
                <a:ea typeface="Noto Sans KR Black"/>
              </a:rPr>
              <a:t>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7000" y="28448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곰쥐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7000" y="3149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46200" y="3759200"/>
            <a:ext cx="17526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7FA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06600" y="3886200"/>
            <a:ext cx="431800" cy="431800"/>
          </a:xfrm>
          <a:prstGeom prst="ellipse">
            <a:avLst/>
          </a:prstGeom>
          <a:solidFill>
            <a:srgbClr val="7FA8B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7000" y="4394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FA8BF"/>
                </a:solidFill>
                <a:latin typeface="Noto Sans KR Black"/>
                <a:ea typeface="Noto Sans KR Black"/>
              </a:rPr>
              <a:t>레어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7000" y="46228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연구원 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7000" y="4927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51200" y="3759200"/>
            <a:ext cx="17526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911600" y="3886200"/>
            <a:ext cx="431800" cy="4318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02000" y="4394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9A441"/>
                </a:solidFill>
                <a:latin typeface="Noto Sans KR Black"/>
                <a:ea typeface="Noto Sans KR Black"/>
              </a:rPr>
              <a:t>전설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02000" y="46228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사무라이 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02000" y="4927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19600" y="3860800"/>
            <a:ext cx="482600" cy="228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 Black"/>
                <a:ea typeface="Noto Sans KR Black"/>
              </a:rPr>
              <a:t>관심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56200" y="3759200"/>
            <a:ext cx="17526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A8A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6600" y="3886200"/>
            <a:ext cx="431800" cy="431800"/>
          </a:xfrm>
          <a:prstGeom prst="ellipse">
            <a:avLst/>
          </a:prstGeom>
          <a:solidFill>
            <a:srgbClr val="A8A29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07000" y="4394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A29A"/>
                </a:solidFill>
                <a:latin typeface="Noto Sans KR Black"/>
                <a:ea typeface="Noto Sans KR Black"/>
              </a:rPr>
              <a:t>일반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07000" y="46228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가시쥐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07000" y="4927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24600" y="3860800"/>
            <a:ext cx="482600" cy="228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 Black"/>
                <a:ea typeface="Noto Sans KR Black"/>
              </a:rPr>
              <a:t>NEW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61200" y="3759200"/>
            <a:ext cx="17526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7FA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721600" y="3886200"/>
            <a:ext cx="431800" cy="431800"/>
          </a:xfrm>
          <a:prstGeom prst="ellipse">
            <a:avLst/>
          </a:prstGeom>
          <a:solidFill>
            <a:srgbClr val="7FA8B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12000" y="4394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7FA8BF"/>
                </a:solidFill>
                <a:latin typeface="Noto Sans KR Black"/>
                <a:ea typeface="Noto Sans KR Black"/>
              </a:rPr>
              <a:t>레어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2000" y="46228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파티 생쥐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2000" y="4927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6200" y="3759200"/>
            <a:ext cx="17526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C98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626600" y="3886200"/>
            <a:ext cx="431800" cy="431800"/>
          </a:xfrm>
          <a:prstGeom prst="ellipse">
            <a:avLst/>
          </a:prstGeom>
          <a:solidFill>
            <a:srgbClr val="C984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17000" y="4394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C9846E"/>
                </a:solidFill>
                <a:latin typeface="Noto Sans KR Black"/>
                <a:ea typeface="Noto Sans KR Black"/>
              </a:rPr>
              <a:t>유니크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17000" y="46228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탐정 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17000" y="4927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34600" y="3860800"/>
            <a:ext cx="482600" cy="228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 Black"/>
                <a:ea typeface="Noto Sans KR Black"/>
              </a:rPr>
              <a:t>NEW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46200" y="5588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 Black"/>
                <a:ea typeface="Noto Sans KR Black"/>
              </a:rPr>
              <a:t>획득 조각 합계 73개 · 신규 도감 2종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12000" y="5511800"/>
            <a:ext cx="1524000" cy="381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806D64"/>
                </a:solidFill>
                <a:latin typeface="Noto Sans KR Black"/>
                <a:ea typeface="Noto Sans KR Black"/>
              </a:rPr>
              <a:t>확인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63000" y="5511800"/>
            <a:ext cx="2108200" cy="38100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10회 더 · 연구 자료 360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" y="6096000"/>
            <a:ext cx="990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연출 : 캡슐이 순서대로 열리고 최고 등급 캡슐은 마지막에 강조 · 건너뛰기 시 결과 화면 바로 표시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후반은 '연출 감상 · 보는 플레이' 구간(허들 기획서) — 고등급 캡슐 연출을 후반 재미 요소로 활용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뽑기 구성 – 등급 확률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43000" y="1574800"/>
            <a:ext cx="4953000" cy="457200"/>
          </a:xfrm>
          <a:prstGeom prst="rect">
            <a:avLst/>
          </a:prstGeom>
          <a:solidFill>
            <a:srgbClr val="A8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일반 50%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574800"/>
            <a:ext cx="2674620" cy="457200"/>
          </a:xfrm>
          <a:prstGeom prst="rect">
            <a:avLst/>
          </a:prstGeom>
          <a:solidFill>
            <a:srgbClr val="7F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레어 27%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0620" y="1574800"/>
            <a:ext cx="1287780" cy="457200"/>
          </a:xfrm>
          <a:prstGeom prst="rect">
            <a:avLst/>
          </a:prstGeom>
          <a:solidFill>
            <a:srgbClr val="A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에픽 13%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1574800"/>
            <a:ext cx="594360" cy="457200"/>
          </a:xfrm>
          <a:prstGeom prst="rect">
            <a:avLst/>
          </a:prstGeom>
          <a:solidFill>
            <a:srgbClr val="C98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52760" y="1574800"/>
            <a:ext cx="297180" cy="4572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49940" y="1574800"/>
            <a:ext cx="99060" cy="457200"/>
          </a:xfrm>
          <a:prstGeom prst="rect">
            <a:avLst/>
          </a:prstGeom>
          <a:solidFill>
            <a:srgbClr val="D9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0" y="20828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Noto Sans KR Black"/>
                <a:ea typeface="Noto Sans KR Black"/>
              </a:rPr>
              <a:t>유니크 6% · 전설 3% · 신화 1%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3000" y="2438400"/>
          <a:ext cx="9906000" cy="2844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97000"/>
                <a:gridCol w="1143000"/>
                <a:gridCol w="1524000"/>
                <a:gridCol w="1651000"/>
                <a:gridCol w="2032000"/>
                <a:gridCol w="2159000"/>
              </a:tblGrid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등급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확률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캡슐당 조각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1회 기대 조각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10회 보장 재추첨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조각 수 산출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76200" marR="76200" marT="25400" marB="25400" anchor="ctr">
                    <a:solidFill>
                      <a:srgbClr val="A8A2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 × 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레어</a:t>
                      </a:r>
                    </a:p>
                  </a:txBody>
                  <a:tcPr marL="76200" marR="76200" marT="25400" marB="25400" anchor="ctr">
                    <a:solidFill>
                      <a:srgbClr val="7FA8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27%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1.89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1.5 × 5 = 7.5 → 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에픽</a:t>
                      </a:r>
                    </a:p>
                  </a:txBody>
                  <a:tcPr marL="76200" marR="76200" marT="25400" marB="25400" anchor="ctr">
                    <a:solidFill>
                      <a:srgbClr val="A58B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0.65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 × 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유니크</a:t>
                      </a:r>
                    </a:p>
                  </a:txBody>
                  <a:tcPr marL="76200" marR="76200" marT="25400" marB="25400" anchor="ctr">
                    <a:solidFill>
                      <a:srgbClr val="C984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0.24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0.8 × 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</a:t>
                      </a:r>
                    </a:p>
                  </a:txBody>
                  <a:tcPr marL="76200" marR="76200" marT="25400" marB="25400" anchor="ctr">
                    <a:solidFill>
                      <a:srgbClr val="D9A4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0.09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0.6 × 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</a:t>
                      </a:r>
                    </a:p>
                  </a:txBody>
                  <a:tcPr marL="76200" marR="76200" marT="25400" marB="25400" anchor="ctr">
                    <a:solidFill>
                      <a:srgbClr val="D978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0.02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0.5 × 5 = 2.5 → 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합계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100%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7.89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100%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43000" y="5461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※ 캡슐당 조각 = 5 × 쥐 등급 테이블 조각 계수(shard_k), 소수점 버림 — 높은 등급일수록 조각은 적지만 강화 가치가 큼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※ 확률은 층과 무관하게 고정, 뽑기 화면 '확률 정보'에 상시 공개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뽑기 구성 – 종 결정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① 등급 결정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21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68400" y="2260600"/>
            <a:ext cx="1752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천장 → 10회 보장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→ 확률표 순으로 판정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5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② 종 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3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260600"/>
            <a:ext cx="1752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해당 등급 해금 종 전체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(보유 여부 무관)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③ 관심 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85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32400" y="2260600"/>
            <a:ext cx="1752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18층 돌파 후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전설 · 신화 당첨 시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④ 종 추첨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17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64400" y="2260600"/>
            <a:ext cx="1752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관심 종이 아니면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풀 안에서 균등 추첨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1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⑤ 지급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6400" y="2260600"/>
            <a:ext cx="1752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지급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미보유 종은 도감 등록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238500"/>
            <a:ext cx="76200" cy="228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5400" y="31750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관심 종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143000" y="3581400"/>
          <a:ext cx="99060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1000"/>
                <a:gridCol w="8255000"/>
              </a:tblGrid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규칙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18층 허들 첫 돌파 — 허들 보상 '종결 쥐 후보 공개'와 연동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지정 대상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1종 · 신화 1종 (현재 해금된 종 중 선택)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효과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해당 등급 당첨 시 50% 확률로 관심 종 (20층 돌파 후 75% — 허들 보상 '종결 쥐 육성')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변경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아지트에서 언제든 무료 변경 (천장 카운트에는 영향 없음)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천장 적용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천장 · 10회 보장으로 확정된 전설 / 신화에도 동일하게 적용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뽑기 구성 – 1회 · 10회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549400"/>
            <a:ext cx="4826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7000" y="1727200"/>
            <a:ext cx="4318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1회 뽑기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000" y="2184400"/>
            <a:ext cx="431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06D64"/>
                </a:solidFill>
                <a:latin typeface="Noto Sans KR Black"/>
                <a:ea typeface="Noto Sans KR Black"/>
              </a:rPr>
              <a:t>연구 자료 0.2 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000" y="2616200"/>
            <a:ext cx="4318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캡슐 1개, 결과 즉시 공개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천장 카운트 +1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남은 연구 자료가 적을 때 사용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000" y="1549400"/>
            <a:ext cx="4826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0" y="1727200"/>
            <a:ext cx="4318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chemeClr val="accent2"/>
                </a:solidFill>
                <a:latin typeface="Noto Sans KR Black"/>
                <a:ea typeface="Noto Sans KR Black"/>
              </a:rPr>
              <a:t>10회 연속 뽑기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184400"/>
            <a:ext cx="431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06D64"/>
                </a:solidFill>
                <a:latin typeface="Noto Sans KR Black"/>
                <a:ea typeface="Noto Sans KR Black"/>
              </a:rPr>
              <a:t>연구 자료 1.8 BR (1회 × 9, 10% 할인)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2616200"/>
            <a:ext cx="4318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캡슐 10개, 순서대로 공개 (건너뛰기 가능)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유니크 이상 1개 보장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천장은 회차마다 판정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076700"/>
            <a:ext cx="76200" cy="228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5400" y="40132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10회 보장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4445000"/>
            <a:ext cx="6604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10개 결과에 유니크 이상이 없으면 마지막 결과를 다시 추첨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재추첨 확률 : 유니크 60% · 전설 30% · 신화 10%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보장으로 나온 전설 · 신화도 천장 카운트를 초기화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천장이 같은 회차에 걸리면 천장이 우선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5000" y="4038600"/>
            <a:ext cx="2794000" cy="16256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4191000"/>
            <a:ext cx="2413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chemeClr val="accent2"/>
                </a:solidFill>
                <a:latin typeface="Noto Sans KR Black"/>
                <a:ea typeface="Noto Sans KR Black"/>
              </a:rPr>
              <a:t>34.9%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826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10회 뽑기 중 보장이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발동하는 비율 (0.9^10)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뽑기 구성 – 비용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49400"/>
          <a:ext cx="5080000" cy="1905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1000"/>
                <a:gridCol w="3429000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값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BR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최고 도달 층 1회 클리어 연구 자료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1회 비용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0.2 BR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10회 비용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1.8 BR (1회 × 9)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첫 10회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16층 해금 시 1회 무료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3683000"/>
            <a:ext cx="50800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BR이 최고 층을 따라 상승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— 21층~ · 무한 모드도 같은 비율</a:t>
            </a:r>
          </a:p>
          <a:p>
            <a:pPr algn="l" marL="177800" indent="-17780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고점이 오를수록 판당 횟수 감소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— 천장 · 관심 종 가치 상승</a:t>
            </a:r>
          </a:p>
          <a:p>
            <a:pPr algn="l" marL="177800" indent="-177800">
              <a:spcAft>
                <a:spcPts val="8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건너뛰기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— 건너뛴 층 보상 미지급, 판당 횟수도 감소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04000" y="1473200"/>
          <a:ext cx="4445000" cy="332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04000" y="4876800"/>
            <a:ext cx="4445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가정 : 층 클리어 연구 자료가 적정 찍찍(허들 기획서)에 비례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판당 수입 = 1~F층 합 ÷ F층 1회 = 3.30 · 2.94 · 2.40 · 2.09 · 1.87 BR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10회 횟수 = 판당 수입 ÷ 1.8 BR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천장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549400"/>
            <a:ext cx="4826000" cy="2413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727200"/>
            <a:ext cx="889000" cy="304800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전설 이상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82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chemeClr val="accent2"/>
                </a:solidFill>
                <a:latin typeface="Noto Sans KR Black"/>
                <a:ea typeface="Noto Sans KR Black"/>
              </a:rPr>
              <a:t>30회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94000"/>
            <a:ext cx="2540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전설 · 신화를 29회 연속 못 얻으면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30번째 결과를 전설로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052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06D64"/>
                </a:solidFill>
                <a:latin typeface="Noto Sans KR Black"/>
                <a:ea typeface="Noto Sans KR Black"/>
              </a:rPr>
              <a:t>≈ 10회 3번 ≈ 2~3판 = 후반 한 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0" y="19050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06D64"/>
                </a:solidFill>
                <a:latin typeface="Noto Sans KR Black"/>
                <a:ea typeface="Noto Sans KR Black"/>
              </a:rPr>
              <a:t>30.6%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0" y="22860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천장 도달 확률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0" y="26670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06D64"/>
                </a:solidFill>
                <a:latin typeface="Noto Sans KR Black"/>
                <a:ea typeface="Noto Sans KR Black"/>
              </a:rPr>
              <a:t>17.7회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0" y="3048000"/>
            <a:ext cx="177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1개 획득까지 기대 횟수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1549400"/>
            <a:ext cx="4826000" cy="2413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51600" y="1727200"/>
            <a:ext cx="889000" cy="304800"/>
          </a:xfrm>
          <a:prstGeom prst="roundRect">
            <a:avLst>
              <a:gd name="adj" fmla="val 40000"/>
            </a:avLst>
          </a:prstGeom>
          <a:solidFill>
            <a:srgbClr val="D9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신화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600" y="21082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chemeClr val="accent2"/>
                </a:solidFill>
                <a:latin typeface="Noto Sans KR Black"/>
                <a:ea typeface="Noto Sans KR Black"/>
              </a:rPr>
              <a:t>100회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600" y="2794000"/>
            <a:ext cx="2540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신화를 99회 연속 못 얻으면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100번째 결과를 신화로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1600" y="35052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06D64"/>
                </a:solidFill>
                <a:latin typeface="Noto Sans KR Black"/>
                <a:ea typeface="Noto Sans KR Black"/>
              </a:rPr>
              <a:t>≈ 6~10판 → 16~20층(13판) 안에 보장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050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06D64"/>
                </a:solidFill>
                <a:latin typeface="Noto Sans KR Black"/>
                <a:ea typeface="Noto Sans KR Black"/>
              </a:rPr>
              <a:t>37.0%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860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천장 도달 확률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670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06D64"/>
                </a:solidFill>
                <a:latin typeface="Noto Sans KR Black"/>
                <a:ea typeface="Noto Sans KR Black"/>
              </a:rPr>
              <a:t>63.4회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048000"/>
            <a:ext cx="177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1개 획득까지 기대 횟수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91000"/>
            <a:ext cx="9906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7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판 수 보정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판당 10회 1~1.8회(비용 장) 기준 — 허들 기획서의 '2~3판에 1층' 리듬에 맞춤</a:t>
            </a:r>
          </a:p>
          <a:p>
            <a:pPr algn="l" marL="177800" indent="-177800">
              <a:spcAft>
                <a:spcPts val="7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공통 카운트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1회 · 10회 모두 회차마다 +1, 판 종료 · 층 건너뛰기와 무관하게 영구 유지</a:t>
            </a:r>
          </a:p>
          <a:p>
            <a:pPr algn="l" marL="177800" indent="-177800">
              <a:spcAft>
                <a:spcPts val="7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초기화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전설 천장은 전설 또는 신화 획득 시, 신화 천장은 신화 획득 시에만 0으로</a:t>
            </a:r>
          </a:p>
          <a:p>
            <a:pPr algn="l" marL="177800" indent="-177800">
              <a:spcAft>
                <a:spcPts val="7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우선순위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천장 확정 → 10회 보장 → 일반 확률표 순으로 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88000"/>
            <a:ext cx="990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도달 확률 · 기대 횟수는 10회 보장 효과를 제외한 1회 뽑기 기준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밸런스 – 판당 공급과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473200"/>
            <a:ext cx="635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판당 조각 공급 예산 (기대값)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803400"/>
          <a:ext cx="6350000" cy="2400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78000"/>
                <a:gridCol w="2032000"/>
                <a:gridCol w="254000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공급원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이용 (가정)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기대 조각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상점 · 17층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라인업 1회 전량 구매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≈19 · 신화 ≈0.75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상점 · 18~19층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〃 (슬롯 5)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≈22 · 신화 ≈2.0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상점 · 20층~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〃 (슬롯 6)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≈22 · 신화 ≈5.0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뽑기 · 16층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10회 약 1.8회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 등급 ≈140 (전설 ≈2.2)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뽑기 · 20층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10회 약 1.0회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 등급 ≈78 (전설 ≈1.2)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번식 · 승급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기존 규칙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등급 테이블 기준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74000" y="1473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어긋났을 때 조정 순서</a:t>
            </a:r>
          </a:p>
        </p:txBody>
      </p:sp>
      <p:sp>
        <p:nvSpPr>
          <p:cNvPr id="7" name="Oval 6"/>
          <p:cNvSpPr/>
          <p:nvPr/>
        </p:nvSpPr>
        <p:spPr>
          <a:xfrm>
            <a:off x="7874000" y="18796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1200" y="1854200"/>
            <a:ext cx="2717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묶음 수량 · 캡슐 조각 수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한 구간만 빠르거나 느릴 때</a:t>
            </a:r>
          </a:p>
        </p:txBody>
      </p:sp>
      <p:sp>
        <p:nvSpPr>
          <p:cNvPr id="9" name="Oval 8"/>
          <p:cNvSpPr/>
          <p:nvPr/>
        </p:nvSpPr>
        <p:spPr>
          <a:xfrm>
            <a:off x="7874000" y="25908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1200" y="2565400"/>
            <a:ext cx="2717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가격 계수 (BC · BR)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판당 이용 횟수가 예산과 다를 때</a:t>
            </a:r>
          </a:p>
        </p:txBody>
      </p:sp>
      <p:sp>
        <p:nvSpPr>
          <p:cNvPr id="11" name="Oval 10"/>
          <p:cNvSpPr/>
          <p:nvPr/>
        </p:nvSpPr>
        <p:spPr>
          <a:xfrm>
            <a:off x="7874000" y="33020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1200" y="3276600"/>
            <a:ext cx="2717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등급 · 슬롯 확률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고등급 체감이 다를 때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143000" y="4470400"/>
          <a:ext cx="99060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24000"/>
                <a:gridCol w="4826000"/>
                <a:gridCol w="3556000"/>
              </a:tblGrid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검증 지표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목표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확인 방법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진척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2~3판에 1층 (16~20층 13판)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판별 최고 층 기록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성장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×1.31 유지 — 공급이 많으면 20층 도달 시간 단축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판별 최고 전투력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20층 도달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8.5시간 (최대 건너뛰기 약 6.6시간)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플레이 로그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이용 빈도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상점 라인업 1회 · 뽑기 10회 1회 안팎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Shop_Save · Gacha_Log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데이터 테이블 (1)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4732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Gacha_Config</a:t>
            </a:r>
            <a:r>
              <a:rPr sz="1400" b="0">
                <a:solidFill>
                  <a:srgbClr val="595959"/>
                </a:solidFill>
                <a:latin typeface="Noto Sans KR"/>
                <a:ea typeface="Noto Sans KR"/>
              </a:rPr>
              <a:t>  뽑기 기본 설정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803400"/>
          <a:ext cx="5080000" cy="400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32000"/>
                <a:gridCol w="635000"/>
                <a:gridCol w="2413000"/>
              </a:tblGrid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키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값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설명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key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value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desc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string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float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string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unlock_floor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뽑기 해금 층 (첫 돌파)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cost_single_br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1회 비용 (BR 배수)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ten_pull_cost_mul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10회 비용 = 1회 × 값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ten_guarantee_grade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10회 보장 최저 등급 (3 = 유니크)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legend_pity_count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이상 천장 횟수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mythic_pity_count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천장 횟수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wish_unlock_floor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관심 종 해금 층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wish_rate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관심 종 당첨 확률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wish_rate_up_floor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관심 종 확률 상승 층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wish_rate_up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0.75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상승 후 관심 종 확률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shard_base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캡슐당 조각 = 값 × shard_k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first_free_ten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해금 시 무료 10회 횟수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40500" y="1473200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Gacha_Grade</a:t>
            </a:r>
            <a:r>
              <a:rPr sz="1400" b="0">
                <a:solidFill>
                  <a:srgbClr val="595959"/>
                </a:solidFill>
                <a:latin typeface="Noto Sans KR"/>
                <a:ea typeface="Noto Sans KR"/>
              </a:rPr>
              <a:t>  등급별 확률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40500" y="1803400"/>
          <a:ext cx="450850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16000"/>
                <a:gridCol w="1016000"/>
                <a:gridCol w="1143000"/>
                <a:gridCol w="1333500"/>
              </a:tblGrid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등급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확률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캡슐당 조각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보장 재추첨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grade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rate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shard_count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guarantee_rate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enum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float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int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float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Common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0.50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Rare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0.27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Epic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0.13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Unique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0.06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0.6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Legendary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0.03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0.3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Mythic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0.01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0.1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40500" y="4724400"/>
            <a:ext cx="4508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BR은 층 테이블의 연구 자료 보상(최고 도달 층)을 참조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해금은 훈장이 아닌 층 첫 돌파 기준 (허들 기획서 보상 연동)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데이터 테이블 (2)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473200"/>
            <a:ext cx="9906000" cy="1320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0800" y="1574800"/>
            <a:ext cx="431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저장 데이터 (Gacha_Save)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0800" y="1905000"/>
            <a:ext cx="457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legend_pity_count · mythic_pity_count — 천장 누적</a:t>
            </a:r>
          </a:p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wish_legend_id · wish_mythic_id — 관심 종</a:t>
            </a:r>
          </a:p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first_free_used — 무료 10회 사용 여부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905000"/>
            <a:ext cx="4826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pending_result — 연출 전 확정된 결과 (강제 종료 복구)</a:t>
            </a:r>
          </a:p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total_pull_count — 누적 뽑기 횟수</a:t>
            </a:r>
          </a:p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pulls_per_run — 판별 뽑기 횟수 (검증 지표)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98800"/>
            <a:ext cx="762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Gacha_Log</a:t>
            </a:r>
            <a:r>
              <a:rPr sz="1400" b="0">
                <a:solidFill>
                  <a:srgbClr val="595959"/>
                </a:solidFill>
                <a:latin typeface="Noto Sans KR"/>
                <a:ea typeface="Noto Sans KR"/>
              </a:rPr>
              <a:t>  뽑기 기록 (최근 100회 보관)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43000" y="3429000"/>
          <a:ext cx="990600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05000"/>
                <a:gridCol w="1143000"/>
                <a:gridCol w="6858000"/>
              </a:tblGrid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칼럼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타입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설명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pulled_at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datetime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뽑은 시각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max_floor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int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뽑은 시점의 최고 도달 층 (BR 산출 · 검증용)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grade · character_id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enum · int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결과 등급과 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shard_count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int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지급 조각 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source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enum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Normal · Guarantee · Pity_Legend · Pity_Mythic · Wish (판정 경로, 확률 문의 대응)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예외처리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43000" y="1587500"/>
            <a:ext cx="76200" cy="241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5400" y="15240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Noto Sans KR Black"/>
                <a:ea typeface="Noto Sans KR Black"/>
              </a:rPr>
              <a:t>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1955800"/>
            <a:ext cx="45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10회 비용 부족 시 버튼 비활성, 부족량 표시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무료 10회는 보유 연구 자료와 무관하게 사용 가능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고점 갱신 직후에는 다음 뽑기부터 새 BR 적용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924300"/>
            <a:ext cx="76200" cy="241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5400" y="38608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Noto Sans KR Black"/>
                <a:ea typeface="Noto Sans KR Black"/>
              </a:rPr>
              <a:t>결과 ·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4292600"/>
            <a:ext cx="45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연구 자료 차감과 결과 확정을 연출 전에 한 번에 저장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연출 중 강제 종료 → 재접속 시 결과 화면 복구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결과는 뽑기 기록에 최근 100회까지 보관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0" y="1587500"/>
            <a:ext cx="76200" cy="241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2400" y="15240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Noto Sans KR Black"/>
                <a:ea typeface="Noto Sans KR Black"/>
              </a:rPr>
              <a:t>종 풀 · 관심 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400" y="1955800"/>
            <a:ext cx="45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관심 종 미지정 또는 18층 이전 → 해당 등급 균등 추첨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해당 등급 해금 종이 1종뿐이면 관심 종 판정 생략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새 종이 해금되면 다음 뽑기부터 풀에 포함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3924300"/>
            <a:ext cx="76200" cy="241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2400" y="38608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Noto Sans KR Black"/>
                <a:ea typeface="Noto Sans KR Black"/>
              </a:rPr>
              <a:t>판 진행 · 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2400" y="4292600"/>
            <a:ext cx="45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판 진행 중에는 이용 불가 (아지트 전용)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층 건너뛰기로 시작해도 BR은 최고 도달 층 기준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21층 이후 · 무한 모드도 같은 규칙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추후 검토 사항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49400"/>
          <a:ext cx="9906000" cy="355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87500"/>
                <a:gridCol w="5524500"/>
                <a:gridCol w="2794000"/>
              </a:tblGrid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현재 가정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확정 필요 문서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연구 자료 곡선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클리어 연구 자료가 적정 찍찍에 비례한다고 가정 → BR · 판당 뽑기 횟수 산출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테이블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별 허들 기획서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훈장 비용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훈장이 연구 자료를 계속 소모한다면 뽑기와 배분 필요 · 티어 테이블 Max_Floor와 허들 기획서 훈장 층 불일치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승급 · 티어 시스템 기획서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티어 테이블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판당 성장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상점 · 뽑기 도입 후에도 ×1.31 · 2~3판에 1층 유지되는지 플레이테스트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별 허들 기획서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천장 수치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10회 1~1.8회 가정에서 산출 (전설 30 · 신화 100) — 실제 이용 빈도로 재조정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플레이 로그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조각 계수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캡슐당 조각을 5 × shard_k로 해석 (원래 용도 확인 필요)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등급 테이블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조각 강화 비용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레벨당 필요 조각 미정 → 1회 기대 조각 7.9개의 실제 가치 미확정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성장 테이블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57150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수치는 위 문서 확정 후 Gacha_Config · Gacha_Grade 값만 교체하면 반영되도록 테이블로 분리했다.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471</Words>
  <Application>Microsoft Office PowerPoint</Application>
  <PresentationFormat>와이드스크린</PresentationFormat>
  <Paragraphs>113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영웅 김</cp:lastModifiedBy>
  <cp:revision>21</cp:revision>
  <dcterms:created xsi:type="dcterms:W3CDTF">2026-09-29T07:46:10Z</dcterms:created>
  <dcterms:modified xsi:type="dcterms:W3CDTF">2026-10-06T07:59:24Z</dcterms:modified>
</cp:coreProperties>
</file>