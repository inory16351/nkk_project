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92" r:id="rId3"/>
    <p:sldId id="270" r:id="rId4"/>
    <p:sldId id="293" r:id="rId5"/>
    <p:sldId id="259" r:id="rId6"/>
    <p:sldId id="289" r:id="rId7"/>
    <p:sldId id="295" r:id="rId8"/>
    <p:sldId id="294" r:id="rId9"/>
    <p:sldId id="296" r:id="rId10"/>
    <p:sldId id="297" r:id="rId11"/>
    <p:sldId id="298" r:id="rId12"/>
    <p:sldId id="29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인게임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수치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20261005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20261005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5359" y="1674538"/>
            <a:ext cx="18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0184" y="1971932"/>
            <a:ext cx="29142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 계층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558803" y="18540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80CA0-0152-AFBE-492B-1DB0B212F3DD}"/>
              </a:ext>
            </a:extLst>
          </p:cNvPr>
          <p:cNvSpPr txBox="1"/>
          <p:nvPr/>
        </p:nvSpPr>
        <p:spPr>
          <a:xfrm>
            <a:off x="1705358" y="3201714"/>
            <a:ext cx="291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5P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9F84C-44F8-E50F-B02B-B19B5918AE2E}"/>
              </a:ext>
            </a:extLst>
          </p:cNvPr>
          <p:cNvSpPr txBox="1"/>
          <p:nvPr/>
        </p:nvSpPr>
        <p:spPr>
          <a:xfrm>
            <a:off x="2210184" y="3540772"/>
            <a:ext cx="3066668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명세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주요 수치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쥐 수치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아웃게임 수치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인게임 수치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383A49-20C2-6444-EA90-520AAB3011AA}"/>
              </a:ext>
            </a:extLst>
          </p:cNvPr>
          <p:cNvSpPr/>
          <p:nvPr/>
        </p:nvSpPr>
        <p:spPr>
          <a:xfrm rot="5400000">
            <a:off x="1558803" y="337287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1674538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수치별 관계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11P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2034362"/>
            <a:ext cx="2380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수치별 관계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수치 계층도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1845701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68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2469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로그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05914"/>
              </p:ext>
            </p:extLst>
          </p:nvPr>
        </p:nvGraphicFramePr>
        <p:xfrm>
          <a:off x="1353344" y="1646764"/>
          <a:ext cx="9485312" cy="4867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87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6880871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864867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양식 작성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생성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목차 작성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b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초안 작성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밸런스 기획서군 계층 기획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내용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쥐·아웃게임·인게임 수치 작성, 수치별 관계·계층도 작성</a:t>
                      </a:r>
                      <a:b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endParaRPr lang="en-US" altLang="ko-KR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3359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1830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1674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89399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4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2469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계층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77">
            <a:extLst>
              <a:ext uri="{FF2B5EF4-FFF2-40B4-BE49-F238E27FC236}">
                <a16:creationId xmlns:a16="http://schemas.microsoft.com/office/drawing/2014/main" id="{0BAFD09F-018B-A855-5AC0-CA38A5166156}"/>
              </a:ext>
            </a:extLst>
          </p:cNvPr>
          <p:cNvSpPr/>
          <p:nvPr/>
        </p:nvSpPr>
        <p:spPr>
          <a:xfrm>
            <a:off x="508000" y="4171326"/>
            <a:ext cx="1417320" cy="11704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Noto Sans KR"/>
                <a:ea typeface="Noto Sans KR"/>
              </a:rPr>
              <a:t>밸런스 </a:t>
            </a:r>
            <a:endParaRPr lang="en-US" altLang="ko-KR" sz="2000" b="1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Noto Sans KR"/>
                <a:ea typeface="Noto Sans KR"/>
              </a:rPr>
              <a:t>기획서</a:t>
            </a:r>
            <a:endParaRPr sz="2000" b="1" dirty="0">
              <a:solidFill>
                <a:schemeClr val="bg1"/>
              </a:solidFill>
              <a:latin typeface="Noto Sans KR"/>
              <a:ea typeface="Noto Sans KR"/>
            </a:endParaRPr>
          </a:p>
        </p:txBody>
      </p:sp>
      <p:cxnSp>
        <p:nvCxnSpPr>
          <p:cNvPr id="14" name="Connector 78">
            <a:extLst>
              <a:ext uri="{FF2B5EF4-FFF2-40B4-BE49-F238E27FC236}">
                <a16:creationId xmlns:a16="http://schemas.microsoft.com/office/drawing/2014/main" id="{4AD86B47-119E-3778-5FAA-F76B4BB4CED6}"/>
              </a:ext>
            </a:extLst>
          </p:cNvPr>
          <p:cNvCxnSpPr/>
          <p:nvPr/>
        </p:nvCxnSpPr>
        <p:spPr>
          <a:xfrm>
            <a:off x="1925320" y="4756542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79">
            <a:extLst>
              <a:ext uri="{FF2B5EF4-FFF2-40B4-BE49-F238E27FC236}">
                <a16:creationId xmlns:a16="http://schemas.microsoft.com/office/drawing/2014/main" id="{2AB0F85B-5157-241D-5E3F-70414570DF34}"/>
              </a:ext>
            </a:extLst>
          </p:cNvPr>
          <p:cNvCxnSpPr>
            <a:cxnSpLocks/>
          </p:cNvCxnSpPr>
          <p:nvPr/>
        </p:nvCxnSpPr>
        <p:spPr>
          <a:xfrm>
            <a:off x="2153920" y="4075124"/>
            <a:ext cx="0" cy="1362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0A32BEB-72EE-BA60-32CB-C2AD3C01C5BB}"/>
              </a:ext>
            </a:extLst>
          </p:cNvPr>
          <p:cNvGrpSpPr/>
          <p:nvPr/>
        </p:nvGrpSpPr>
        <p:grpSpPr>
          <a:xfrm>
            <a:off x="2153920" y="3821377"/>
            <a:ext cx="7078979" cy="503174"/>
            <a:chOff x="2788920" y="4004564"/>
            <a:chExt cx="7863840" cy="347472"/>
          </a:xfrm>
        </p:grpSpPr>
        <p:sp>
          <p:nvSpPr>
            <p:cNvPr id="3" name="Rectangle 68">
              <a:extLst>
                <a:ext uri="{FF2B5EF4-FFF2-40B4-BE49-F238E27FC236}">
                  <a16:creationId xmlns:a16="http://schemas.microsoft.com/office/drawing/2014/main" id="{81C51688-B974-4BEC-6E6B-5F2AB540173A}"/>
                </a:ext>
              </a:extLst>
            </p:cNvPr>
            <p:cNvSpPr/>
            <p:nvPr/>
          </p:nvSpPr>
          <p:spPr>
            <a:xfrm>
              <a:off x="2971800" y="4004564"/>
              <a:ext cx="1874519" cy="347472"/>
            </a:xfrm>
            <a:prstGeom prst="rect">
              <a:avLst/>
            </a:prstGeom>
            <a:solidFill>
              <a:srgbClr val="E9713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ctr"/>
              <a:r>
                <a:rPr lang="ko-KR" altLang="en-US" sz="1400" b="1" dirty="0" err="1">
                  <a:solidFill>
                    <a:schemeClr val="bg1"/>
                  </a:solidFill>
                  <a:latin typeface="Noto Sans KR"/>
                  <a:ea typeface="Noto Sans KR"/>
                </a:rPr>
                <a:t>인게임</a:t>
              </a:r>
              <a:r>
                <a:rPr lang="ko-KR" altLang="en-US" sz="1400" b="1" dirty="0">
                  <a:solidFill>
                    <a:schemeClr val="bg1"/>
                  </a:solidFill>
                  <a:latin typeface="Noto Sans KR"/>
                  <a:ea typeface="Noto Sans KR"/>
                </a:rPr>
                <a:t> 수치 기획서</a:t>
              </a:r>
              <a:endParaRPr sz="1400" b="1" dirty="0">
                <a:solidFill>
                  <a:schemeClr val="bg1"/>
                </a:solidFill>
                <a:latin typeface="Noto Sans KR"/>
                <a:ea typeface="Noto Sans KR"/>
              </a:endParaRPr>
            </a:p>
          </p:txBody>
        </p:sp>
        <p:sp>
          <p:nvSpPr>
            <p:cNvPr id="4" name="Rectangle 69">
              <a:extLst>
                <a:ext uri="{FF2B5EF4-FFF2-40B4-BE49-F238E27FC236}">
                  <a16:creationId xmlns:a16="http://schemas.microsoft.com/office/drawing/2014/main" id="{54795F3E-582F-52BA-9A91-B226D75D5B0F}"/>
                </a:ext>
              </a:extLst>
            </p:cNvPr>
            <p:cNvSpPr/>
            <p:nvPr/>
          </p:nvSpPr>
          <p:spPr>
            <a:xfrm>
              <a:off x="5257800" y="4004564"/>
              <a:ext cx="5394960" cy="347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l"/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인게임에서 사용되는 수치들의 명세를 정리하고</a:t>
              </a:r>
              <a:r>
                <a:rPr lang="en-US" altLang="ko-KR" sz="1200" b="0" i="0" dirty="0">
                  <a:solidFill>
                    <a:srgbClr val="0B0B0B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</a:p>
            <a:p>
              <a:pPr algn="l"/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사용처와 각 </a:t>
              </a:r>
              <a:r>
                <a:rPr lang="ko-KR" altLang="en-US" sz="1200" b="0" i="0" dirty="0" err="1">
                  <a:solidFill>
                    <a:srgbClr val="0B0B0B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수치들간의</a:t>
              </a:r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상호 관계를 정리</a:t>
              </a:r>
              <a:endParaRPr sz="1200" b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5" name="Connector 70">
              <a:extLst>
                <a:ext uri="{FF2B5EF4-FFF2-40B4-BE49-F238E27FC236}">
                  <a16:creationId xmlns:a16="http://schemas.microsoft.com/office/drawing/2014/main" id="{F666D39E-8C94-A6FC-1213-CFA94D5C4F3F}"/>
                </a:ext>
              </a:extLst>
            </p:cNvPr>
            <p:cNvCxnSpPr/>
            <p:nvPr/>
          </p:nvCxnSpPr>
          <p:spPr>
            <a:xfrm>
              <a:off x="4846320" y="4178300"/>
              <a:ext cx="4114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80">
              <a:extLst>
                <a:ext uri="{FF2B5EF4-FFF2-40B4-BE49-F238E27FC236}">
                  <a16:creationId xmlns:a16="http://schemas.microsoft.com/office/drawing/2014/main" id="{E84AA51D-C544-E36F-1734-BC61BB82B6EF}"/>
                </a:ext>
              </a:extLst>
            </p:cNvPr>
            <p:cNvCxnSpPr/>
            <p:nvPr/>
          </p:nvCxnSpPr>
          <p:spPr>
            <a:xfrm>
              <a:off x="2788920" y="4178300"/>
              <a:ext cx="1828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57D04B4-CEE9-CCCB-7498-5A608259C755}"/>
              </a:ext>
            </a:extLst>
          </p:cNvPr>
          <p:cNvGrpSpPr/>
          <p:nvPr/>
        </p:nvGrpSpPr>
        <p:grpSpPr>
          <a:xfrm>
            <a:off x="2153920" y="4503875"/>
            <a:ext cx="7078979" cy="503174"/>
            <a:chOff x="2788920" y="4416044"/>
            <a:chExt cx="7863840" cy="347472"/>
          </a:xfrm>
        </p:grpSpPr>
        <p:sp>
          <p:nvSpPr>
            <p:cNvPr id="6" name="Rectangle 71">
              <a:extLst>
                <a:ext uri="{FF2B5EF4-FFF2-40B4-BE49-F238E27FC236}">
                  <a16:creationId xmlns:a16="http://schemas.microsoft.com/office/drawing/2014/main" id="{44095EB2-915F-19F3-388D-DD5934022231}"/>
                </a:ext>
              </a:extLst>
            </p:cNvPr>
            <p:cNvSpPr/>
            <p:nvPr/>
          </p:nvSpPr>
          <p:spPr>
            <a:xfrm>
              <a:off x="2971800" y="4416044"/>
              <a:ext cx="1874519" cy="347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ctr"/>
              <a:r>
                <a:rPr lang="ko-KR" altLang="en-US" sz="1300" dirty="0">
                  <a:solidFill>
                    <a:schemeClr val="tx1"/>
                  </a:solidFill>
                  <a:latin typeface="Noto Sans KR"/>
                  <a:ea typeface="Noto Sans KR"/>
                </a:rPr>
                <a:t>층 별 허들 기획서</a:t>
              </a:r>
              <a:endParaRPr sz="1300" b="0" dirty="0">
                <a:solidFill>
                  <a:schemeClr val="tx1"/>
                </a:solidFill>
                <a:latin typeface="Noto Sans KR"/>
                <a:ea typeface="Noto Sans KR"/>
              </a:endParaRPr>
            </a:p>
          </p:txBody>
        </p:sp>
        <p:sp>
          <p:nvSpPr>
            <p:cNvPr id="7" name="Rectangle 72">
              <a:extLst>
                <a:ext uri="{FF2B5EF4-FFF2-40B4-BE49-F238E27FC236}">
                  <a16:creationId xmlns:a16="http://schemas.microsoft.com/office/drawing/2014/main" id="{C8F07BC6-7316-7D61-A5D6-EDE3D4584D02}"/>
                </a:ext>
              </a:extLst>
            </p:cNvPr>
            <p:cNvSpPr/>
            <p:nvPr/>
          </p:nvSpPr>
          <p:spPr>
            <a:xfrm>
              <a:off x="5257800" y="4416044"/>
              <a:ext cx="5394960" cy="347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l"/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게임의 총 플레이타임을 약 </a:t>
              </a:r>
              <a:r>
                <a:rPr lang="en-US" altLang="ko-KR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2</a:t>
              </a:r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시간</a:t>
              </a:r>
              <a:r>
                <a:rPr lang="en-US" altLang="ko-KR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, </a:t>
              </a:r>
              <a:r>
                <a:rPr lang="ko-KR" altLang="en-US" sz="1200" dirty="0">
                  <a:solidFill>
                    <a:srgbClr val="0B0B0B"/>
                  </a:solidFill>
                  <a:latin typeface="anthropic-sans"/>
                </a:rPr>
                <a:t>목표 층 수를 </a:t>
              </a:r>
              <a:r>
                <a:rPr lang="en-US" altLang="ko-KR" sz="1200" dirty="0">
                  <a:solidFill>
                    <a:srgbClr val="0B0B0B"/>
                  </a:solidFill>
                  <a:latin typeface="anthropic-sans"/>
                </a:rPr>
                <a:t>20</a:t>
              </a:r>
              <a:r>
                <a:rPr lang="ko-KR" altLang="en-US" sz="1200" dirty="0">
                  <a:solidFill>
                    <a:srgbClr val="0B0B0B"/>
                  </a:solidFill>
                  <a:latin typeface="anthropic-sans"/>
                </a:rPr>
                <a:t>층으로</a:t>
              </a:r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 잡았을 시</a:t>
              </a:r>
              <a:r>
                <a:rPr lang="en-US" altLang="ko-KR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, </a:t>
              </a:r>
            </a:p>
            <a:p>
              <a:pPr algn="l"/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각 층마다 다음 층으로 넘어가기 위한 수치를 얼마로 잡아야 할 지 정리</a:t>
              </a:r>
              <a:endParaRPr sz="1200" b="0" dirty="0">
                <a:solidFill>
                  <a:schemeClr val="tx1"/>
                </a:solidFill>
                <a:latin typeface="Noto Sans KR"/>
                <a:ea typeface="Noto Sans KR"/>
              </a:endParaRPr>
            </a:p>
          </p:txBody>
        </p:sp>
        <p:cxnSp>
          <p:nvCxnSpPr>
            <p:cNvPr id="8" name="Connector 73">
              <a:extLst>
                <a:ext uri="{FF2B5EF4-FFF2-40B4-BE49-F238E27FC236}">
                  <a16:creationId xmlns:a16="http://schemas.microsoft.com/office/drawing/2014/main" id="{78DE4866-2E7C-A64D-6284-205FC71C39B6}"/>
                </a:ext>
              </a:extLst>
            </p:cNvPr>
            <p:cNvCxnSpPr/>
            <p:nvPr/>
          </p:nvCxnSpPr>
          <p:spPr>
            <a:xfrm>
              <a:off x="4846320" y="4589780"/>
              <a:ext cx="4114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81">
              <a:extLst>
                <a:ext uri="{FF2B5EF4-FFF2-40B4-BE49-F238E27FC236}">
                  <a16:creationId xmlns:a16="http://schemas.microsoft.com/office/drawing/2014/main" id="{7A6ED363-7BE1-1046-2453-9CB15F6F3608}"/>
                </a:ext>
              </a:extLst>
            </p:cNvPr>
            <p:cNvCxnSpPr/>
            <p:nvPr/>
          </p:nvCxnSpPr>
          <p:spPr>
            <a:xfrm>
              <a:off x="2788920" y="4589780"/>
              <a:ext cx="1828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7974053-8D35-B6B0-E838-C62C1FAF852E}"/>
              </a:ext>
            </a:extLst>
          </p:cNvPr>
          <p:cNvGrpSpPr/>
          <p:nvPr/>
        </p:nvGrpSpPr>
        <p:grpSpPr>
          <a:xfrm>
            <a:off x="2153920" y="5186373"/>
            <a:ext cx="7078979" cy="503174"/>
            <a:chOff x="2788920" y="4827524"/>
            <a:chExt cx="7863840" cy="347472"/>
          </a:xfrm>
        </p:grpSpPr>
        <p:sp>
          <p:nvSpPr>
            <p:cNvPr id="9" name="Rectangle 74">
              <a:extLst>
                <a:ext uri="{FF2B5EF4-FFF2-40B4-BE49-F238E27FC236}">
                  <a16:creationId xmlns:a16="http://schemas.microsoft.com/office/drawing/2014/main" id="{8EDA790D-8A8E-CDD1-B676-FF9862EA5D13}"/>
                </a:ext>
              </a:extLst>
            </p:cNvPr>
            <p:cNvSpPr/>
            <p:nvPr/>
          </p:nvSpPr>
          <p:spPr>
            <a:xfrm>
              <a:off x="2971800" y="4827524"/>
              <a:ext cx="1874519" cy="347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ctr"/>
              <a:r>
                <a:rPr lang="ko-KR" altLang="en-US" sz="1300" b="0" dirty="0">
                  <a:solidFill>
                    <a:schemeClr val="tx1"/>
                  </a:solidFill>
                  <a:latin typeface="Noto Sans KR"/>
                  <a:ea typeface="Noto Sans KR"/>
                </a:rPr>
                <a:t>오브젝트 기획서</a:t>
              </a:r>
              <a:endParaRPr sz="1300" b="0" dirty="0">
                <a:solidFill>
                  <a:schemeClr val="tx1"/>
                </a:solidFill>
                <a:latin typeface="Noto Sans KR"/>
                <a:ea typeface="Noto Sans KR"/>
              </a:endParaRPr>
            </a:p>
          </p:txBody>
        </p:sp>
        <p:sp>
          <p:nvSpPr>
            <p:cNvPr id="10" name="Rectangle 75">
              <a:extLst>
                <a:ext uri="{FF2B5EF4-FFF2-40B4-BE49-F238E27FC236}">
                  <a16:creationId xmlns:a16="http://schemas.microsoft.com/office/drawing/2014/main" id="{5C6367E8-9893-7714-01F8-C90B8C71723E}"/>
                </a:ext>
              </a:extLst>
            </p:cNvPr>
            <p:cNvSpPr/>
            <p:nvPr/>
          </p:nvSpPr>
          <p:spPr>
            <a:xfrm>
              <a:off x="5257800" y="4827524"/>
              <a:ext cx="5394960" cy="347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오브젝트별 자원 드랍 양</a:t>
              </a:r>
              <a:r>
                <a:rPr lang="en-US" altLang="ko-KR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, </a:t>
              </a:r>
              <a:r>
                <a:rPr lang="ko-KR" altLang="en-US" sz="1200" b="0" i="0" dirty="0">
                  <a:solidFill>
                    <a:srgbClr val="0B0B0B"/>
                  </a:solidFill>
                  <a:effectLst/>
                  <a:latin typeface="anthropic-sans"/>
                </a:rPr>
                <a:t>층별 오브젝트 가치 배수 등을 정리</a:t>
              </a:r>
              <a:endParaRPr sz="1200" b="0" dirty="0">
                <a:solidFill>
                  <a:schemeClr val="tx1"/>
                </a:solidFill>
                <a:latin typeface="Noto Sans KR"/>
                <a:ea typeface="Noto Sans KR"/>
              </a:endParaRPr>
            </a:p>
          </p:txBody>
        </p:sp>
        <p:cxnSp>
          <p:nvCxnSpPr>
            <p:cNvPr id="11" name="Connector 76">
              <a:extLst>
                <a:ext uri="{FF2B5EF4-FFF2-40B4-BE49-F238E27FC236}">
                  <a16:creationId xmlns:a16="http://schemas.microsoft.com/office/drawing/2014/main" id="{67839D7F-25CB-CF55-58AA-C8A339CAF0CD}"/>
                </a:ext>
              </a:extLst>
            </p:cNvPr>
            <p:cNvCxnSpPr/>
            <p:nvPr/>
          </p:nvCxnSpPr>
          <p:spPr>
            <a:xfrm>
              <a:off x="4846320" y="5001260"/>
              <a:ext cx="4114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82">
              <a:extLst>
                <a:ext uri="{FF2B5EF4-FFF2-40B4-BE49-F238E27FC236}">
                  <a16:creationId xmlns:a16="http://schemas.microsoft.com/office/drawing/2014/main" id="{D373F36B-7D4E-00EE-C03F-B593819F308A}"/>
                </a:ext>
              </a:extLst>
            </p:cNvPr>
            <p:cNvCxnSpPr/>
            <p:nvPr/>
          </p:nvCxnSpPr>
          <p:spPr>
            <a:xfrm>
              <a:off x="2788920" y="5001260"/>
              <a:ext cx="1828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nector 79">
            <a:extLst>
              <a:ext uri="{FF2B5EF4-FFF2-40B4-BE49-F238E27FC236}">
                <a16:creationId xmlns:a16="http://schemas.microsoft.com/office/drawing/2014/main" id="{8E8862DE-926E-2979-64B9-BF56A50CA58D}"/>
              </a:ext>
            </a:extLst>
          </p:cNvPr>
          <p:cNvCxnSpPr>
            <a:cxnSpLocks/>
          </p:cNvCxnSpPr>
          <p:nvPr/>
        </p:nvCxnSpPr>
        <p:spPr>
          <a:xfrm>
            <a:off x="2593340" y="1907796"/>
            <a:ext cx="0" cy="15212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68">
            <a:extLst>
              <a:ext uri="{FF2B5EF4-FFF2-40B4-BE49-F238E27FC236}">
                <a16:creationId xmlns:a16="http://schemas.microsoft.com/office/drawing/2014/main" id="{A97D8290-3087-FE90-0989-EC0B43AEFE30}"/>
              </a:ext>
            </a:extLst>
          </p:cNvPr>
          <p:cNvSpPr/>
          <p:nvPr/>
        </p:nvSpPr>
        <p:spPr>
          <a:xfrm>
            <a:off x="679452" y="3251963"/>
            <a:ext cx="3835387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</a:rPr>
              <a:t>컨텐츠 기획서</a:t>
            </a:r>
            <a:endParaRPr sz="1300" b="1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sp>
        <p:nvSpPr>
          <p:cNvPr id="20" name="Rectangle 68">
            <a:extLst>
              <a:ext uri="{FF2B5EF4-FFF2-40B4-BE49-F238E27FC236}">
                <a16:creationId xmlns:a16="http://schemas.microsoft.com/office/drawing/2014/main" id="{A54DC3D4-2E2B-CA4E-1084-7DF63C51725E}"/>
              </a:ext>
            </a:extLst>
          </p:cNvPr>
          <p:cNvSpPr/>
          <p:nvPr/>
        </p:nvSpPr>
        <p:spPr>
          <a:xfrm>
            <a:off x="679452" y="2730756"/>
            <a:ext cx="3835387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</a:rPr>
              <a:t>메인 기획서</a:t>
            </a:r>
            <a:endParaRPr sz="1300" b="1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sp>
        <p:nvSpPr>
          <p:cNvPr id="21" name="Rectangle 68">
            <a:extLst>
              <a:ext uri="{FF2B5EF4-FFF2-40B4-BE49-F238E27FC236}">
                <a16:creationId xmlns:a16="http://schemas.microsoft.com/office/drawing/2014/main" id="{4DC8FD49-7307-7BAC-237C-A81AD6AE4593}"/>
              </a:ext>
            </a:extLst>
          </p:cNvPr>
          <p:cNvSpPr/>
          <p:nvPr/>
        </p:nvSpPr>
        <p:spPr>
          <a:xfrm>
            <a:off x="679452" y="2144132"/>
            <a:ext cx="3835387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</a:rPr>
              <a:t>컨셉 기획서</a:t>
            </a:r>
            <a:endParaRPr sz="1300" b="1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sp>
        <p:nvSpPr>
          <p:cNvPr id="22" name="Rectangle 68">
            <a:extLst>
              <a:ext uri="{FF2B5EF4-FFF2-40B4-BE49-F238E27FC236}">
                <a16:creationId xmlns:a16="http://schemas.microsoft.com/office/drawing/2014/main" id="{429045D7-66E8-F49B-C2D5-711C023B378A}"/>
              </a:ext>
            </a:extLst>
          </p:cNvPr>
          <p:cNvSpPr/>
          <p:nvPr/>
        </p:nvSpPr>
        <p:spPr>
          <a:xfrm>
            <a:off x="679452" y="1622925"/>
            <a:ext cx="3835387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</a:rPr>
              <a:t>원페이지 기획서</a:t>
            </a:r>
            <a:endParaRPr sz="1300" b="1" dirty="0">
              <a:solidFill>
                <a:schemeClr val="tx1"/>
              </a:solidFill>
              <a:latin typeface="Noto Sans KR"/>
              <a:ea typeface="Noto Sans KR"/>
            </a:endParaRPr>
          </a:p>
        </p:txBody>
      </p:sp>
      <p:cxnSp>
        <p:nvCxnSpPr>
          <p:cNvPr id="26" name="Connector 79">
            <a:extLst>
              <a:ext uri="{FF2B5EF4-FFF2-40B4-BE49-F238E27FC236}">
                <a16:creationId xmlns:a16="http://schemas.microsoft.com/office/drawing/2014/main" id="{BDA324C7-025C-8A02-B5DA-2486E95A6C0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216660" y="3592461"/>
            <a:ext cx="0" cy="5788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0DAFF5D-8C17-70C0-E95E-8F25EB1B51C9}"/>
              </a:ext>
            </a:extLst>
          </p:cNvPr>
          <p:cNvGrpSpPr/>
          <p:nvPr/>
        </p:nvGrpSpPr>
        <p:grpSpPr>
          <a:xfrm>
            <a:off x="9410381" y="4374816"/>
            <a:ext cx="2426867" cy="1980262"/>
            <a:chOff x="2595990" y="5168267"/>
            <a:chExt cx="2426867" cy="1367495"/>
          </a:xfrm>
        </p:grpSpPr>
        <p:sp>
          <p:nvSpPr>
            <p:cNvPr id="33" name="Rectangle 74">
              <a:extLst>
                <a:ext uri="{FF2B5EF4-FFF2-40B4-BE49-F238E27FC236}">
                  <a16:creationId xmlns:a16="http://schemas.microsoft.com/office/drawing/2014/main" id="{086A1A88-D755-6123-809F-5A8F449457C7}"/>
                </a:ext>
              </a:extLst>
            </p:cNvPr>
            <p:cNvSpPr/>
            <p:nvPr/>
          </p:nvSpPr>
          <p:spPr>
            <a:xfrm>
              <a:off x="2971800" y="5168267"/>
              <a:ext cx="1874519" cy="51359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Noto Sans KR"/>
                  <a:ea typeface="Noto Sans KR"/>
                </a:rPr>
                <a:t>레벨 디자인 기획서</a:t>
              </a:r>
              <a:endParaRPr sz="1600" b="0" dirty="0">
                <a:solidFill>
                  <a:schemeClr val="tx1"/>
                </a:solidFill>
                <a:latin typeface="Noto Sans KR"/>
                <a:ea typeface="Noto Sans KR"/>
              </a:endParaRPr>
            </a:p>
          </p:txBody>
        </p:sp>
        <p:sp>
          <p:nvSpPr>
            <p:cNvPr id="34" name="Rectangle 75">
              <a:extLst>
                <a:ext uri="{FF2B5EF4-FFF2-40B4-BE49-F238E27FC236}">
                  <a16:creationId xmlns:a16="http://schemas.microsoft.com/office/drawing/2014/main" id="{DFFA883F-F93D-B181-AFD6-5680687FDB89}"/>
                </a:ext>
              </a:extLst>
            </p:cNvPr>
            <p:cNvSpPr/>
            <p:nvPr/>
          </p:nvSpPr>
          <p:spPr>
            <a:xfrm>
              <a:off x="2795261" y="5760211"/>
              <a:ext cx="2227596" cy="7755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18288" rIns="73152" bIns="18288" rtlCol="0" anchor="ctr"/>
            <a:lstStyle/>
            <a:p>
              <a:pPr algn="ctr"/>
              <a:r>
                <a:rPr lang="ko-KR" altLang="en-US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앞선 </a:t>
              </a:r>
              <a:r>
                <a:rPr lang="ko-KR" altLang="en-US" sz="1200" dirty="0" err="1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기획서들에서</a:t>
              </a:r>
              <a:r>
                <a:rPr lang="ko-KR" altLang="en-US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solidFill>
                  <a:srgbClr val="0B0B0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기획한 내용에</a:t>
              </a:r>
              <a:r>
                <a:rPr lang="ko-KR" altLang="en-US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따라 </a:t>
              </a:r>
              <a:endParaRPr lang="en-US" altLang="ko-KR" sz="1200" b="0" dirty="0">
                <a:solidFill>
                  <a:srgbClr val="0B0B0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층 넓이</a:t>
              </a:r>
              <a:r>
                <a:rPr lang="en-US" altLang="ko-KR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층 구조</a:t>
              </a:r>
              <a:r>
                <a:rPr lang="en-US" altLang="ko-KR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</a:p>
            <a:p>
              <a:pPr algn="ctr"/>
              <a:r>
                <a:rPr lang="ko-KR" altLang="en-US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오브젝트 배치</a:t>
              </a:r>
              <a:r>
                <a:rPr lang="en-US" altLang="ko-KR" sz="1200" b="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벽 배치</a:t>
              </a:r>
              <a:r>
                <a:rPr lang="en-US" altLang="ko-KR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</a:p>
            <a:p>
              <a:pPr algn="ctr"/>
              <a:r>
                <a:rPr lang="ko-KR" altLang="en-US" sz="1200" dirty="0">
                  <a:solidFill>
                    <a:srgbClr val="0B0B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보스 배치를 기획</a:t>
              </a:r>
              <a:endParaRPr sz="1200" b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35" name="Connector 76">
              <a:extLst>
                <a:ext uri="{FF2B5EF4-FFF2-40B4-BE49-F238E27FC236}">
                  <a16:creationId xmlns:a16="http://schemas.microsoft.com/office/drawing/2014/main" id="{AB573D9E-A4CA-E4AE-1A41-F69B5A7F8BA7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H="1">
              <a:off x="3909059" y="5681857"/>
              <a:ext cx="1" cy="783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82">
              <a:extLst>
                <a:ext uri="{FF2B5EF4-FFF2-40B4-BE49-F238E27FC236}">
                  <a16:creationId xmlns:a16="http://schemas.microsoft.com/office/drawing/2014/main" id="{9B3658C3-3964-69DA-67BD-4DACB7EDE1C3}"/>
                </a:ext>
              </a:extLst>
            </p:cNvPr>
            <p:cNvCxnSpPr>
              <a:cxnSpLocks/>
            </p:cNvCxnSpPr>
            <p:nvPr/>
          </p:nvCxnSpPr>
          <p:spPr>
            <a:xfrm>
              <a:off x="2595990" y="5425222"/>
              <a:ext cx="375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Connector 79">
            <a:extLst>
              <a:ext uri="{FF2B5EF4-FFF2-40B4-BE49-F238E27FC236}">
                <a16:creationId xmlns:a16="http://schemas.microsoft.com/office/drawing/2014/main" id="{7770D40E-C714-1CFA-5282-CDE8344CEA50}"/>
              </a:ext>
            </a:extLst>
          </p:cNvPr>
          <p:cNvCxnSpPr>
            <a:cxnSpLocks/>
          </p:cNvCxnSpPr>
          <p:nvPr/>
        </p:nvCxnSpPr>
        <p:spPr>
          <a:xfrm>
            <a:off x="9415780" y="4070583"/>
            <a:ext cx="0" cy="1362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79">
            <a:extLst>
              <a:ext uri="{FF2B5EF4-FFF2-40B4-BE49-F238E27FC236}">
                <a16:creationId xmlns:a16="http://schemas.microsoft.com/office/drawing/2014/main" id="{B1975247-1B28-BCE7-8B78-4DC3F5ECC9A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232899" y="4072964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79">
            <a:extLst>
              <a:ext uri="{FF2B5EF4-FFF2-40B4-BE49-F238E27FC236}">
                <a16:creationId xmlns:a16="http://schemas.microsoft.com/office/drawing/2014/main" id="{4C9EFE4B-5AA3-8C34-7FE9-11204F7A107F}"/>
              </a:ext>
            </a:extLst>
          </p:cNvPr>
          <p:cNvCxnSpPr>
            <a:cxnSpLocks/>
          </p:cNvCxnSpPr>
          <p:nvPr/>
        </p:nvCxnSpPr>
        <p:spPr>
          <a:xfrm>
            <a:off x="9232899" y="4752001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79">
            <a:extLst>
              <a:ext uri="{FF2B5EF4-FFF2-40B4-BE49-F238E27FC236}">
                <a16:creationId xmlns:a16="http://schemas.microsoft.com/office/drawing/2014/main" id="{8CB63847-DC40-F7F4-DC79-836FD5F2A381}"/>
              </a:ext>
            </a:extLst>
          </p:cNvPr>
          <p:cNvCxnSpPr>
            <a:cxnSpLocks/>
          </p:cNvCxnSpPr>
          <p:nvPr/>
        </p:nvCxnSpPr>
        <p:spPr>
          <a:xfrm>
            <a:off x="9227501" y="5433419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839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310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명세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1DA487-2A46-AAED-6ECC-D2928C0B6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54729"/>
              </p:ext>
            </p:extLst>
          </p:nvPr>
        </p:nvGraphicFramePr>
        <p:xfrm>
          <a:off x="1353344" y="1634064"/>
          <a:ext cx="9276557" cy="439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56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2095717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6214884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503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세부 수치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116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크리티컬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추가 피해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번식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쿨타임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번식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 속도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 상승 보정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1258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인게임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남은 시간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보유 쥐 목록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 찍찍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콤보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1474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아웃게임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레벨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훈장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조각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 자료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도감 보너스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황금 오브젝트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오브젝트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스폰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딜레이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로켓 배송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쿨타임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배수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지속시간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B34CAD5-8902-10B4-2B78-5B2FDB3A4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9868" y="1466493"/>
            <a:ext cx="6203124" cy="336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6FE3-CAAC-6002-3ED8-8F2AB92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88895" y="1802189"/>
            <a:ext cx="9039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업그레이드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훈장 등급을 통해 상승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쥐들은 공격력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벽이라면 공격력에 벽 추가 계수를 곱한 만큼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수치를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충돌한 오브젝트 체력에서 감소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6B5E5-3913-2E50-FCA8-8605FBC8A19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주요 수치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D133D1-2D78-4C32-F870-4B3573D7E328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89075" y="1536039"/>
            <a:ext cx="167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공격력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88196-7EE1-34CD-2C99-8BC735305E52}"/>
              </a:ext>
            </a:extLst>
          </p:cNvPr>
          <p:cNvSpPr txBox="1"/>
          <p:nvPr/>
        </p:nvSpPr>
        <p:spPr>
          <a:xfrm>
            <a:off x="1489074" y="2840963"/>
            <a:ext cx="167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찍찍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1AED9-FC78-4EE3-109B-3FE1726F239A}"/>
              </a:ext>
            </a:extLst>
          </p:cNvPr>
          <p:cNvSpPr txBox="1"/>
          <p:nvPr/>
        </p:nvSpPr>
        <p:spPr>
          <a:xfrm>
            <a:off x="1489073" y="3866173"/>
            <a:ext cx="167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3D720-2868-3AEF-9F8F-E98D4F5D9682}"/>
              </a:ext>
            </a:extLst>
          </p:cNvPr>
          <p:cNvSpPr txBox="1"/>
          <p:nvPr/>
        </p:nvSpPr>
        <p:spPr>
          <a:xfrm>
            <a:off x="1489073" y="5107293"/>
            <a:ext cx="167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콤보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CE530B-58E1-8806-FCBF-9B2A30D1B91E}"/>
              </a:ext>
            </a:extLst>
          </p:cNvPr>
          <p:cNvSpPr txBox="1"/>
          <p:nvPr/>
        </p:nvSpPr>
        <p:spPr>
          <a:xfrm>
            <a:off x="1588895" y="3125051"/>
            <a:ext cx="9039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유저에게 표시되는 총합 전투력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존재하는 모든 쥐들의 공격력을 합한 수치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044F4B-B868-BAD7-7C88-C283CD11FDF7}"/>
              </a:ext>
            </a:extLst>
          </p:cNvPr>
          <p:cNvSpPr txBox="1"/>
          <p:nvPr/>
        </p:nvSpPr>
        <p:spPr>
          <a:xfrm>
            <a:off x="1588895" y="4117401"/>
            <a:ext cx="9039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체력을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만들어 파괴할 시 획득하는 자원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업그레이드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콤보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훈장 등급을 통해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획득량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상승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업그레이드 시 소모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303786-8F1D-A61E-E516-586C95E934FF}"/>
              </a:ext>
            </a:extLst>
          </p:cNvPr>
          <p:cNvSpPr txBox="1"/>
          <p:nvPr/>
        </p:nvSpPr>
        <p:spPr>
          <a:xfrm>
            <a:off x="1588895" y="5336858"/>
            <a:ext cx="9039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쥐의 오브젝트 충돌 시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씩 상승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일정 시간동안 상승이 없다면 초기화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제한 시간은 스킬 업그레이드로 증가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콤보 수에 따라 치즈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획득량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배율 상승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6FE3-CAAC-6002-3ED8-8F2AB92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6B5E5-3913-2E50-FCA8-8605FBC8A19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쥐 수치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D133D1-2D78-4C32-F870-4B3573D7E328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" name="라벨 공격력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공격력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2" name="설명 공격력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1819656"/>
            <a:ext cx="4745736" cy="83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쥐가 충돌한 오브젝트·벽·보스의 체력을 깎는 값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등급, 쥐 강화 레벨, 스킬 레벨, 크리티컬 확률, 찍찍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3" name="라벨 번식 쿨타임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번식 쿨타임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4" name="설명 번식 쿨타임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1819656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번식한 쥐가 다시 번식하기까지의 대기 시간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마릿수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5" name="라벨 크리티컬 확률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크리티컬 확률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6" name="설명 크리티컬 확률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313639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타격이 크리티컬로 들어갈 확률 (피해·치즈 증가)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쥐 강화 레벨, 공격력,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7" name="라벨 번식 확률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번식 확률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8" name="설명 번식 확률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313639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쥐끼리 부딪혔을 때 새끼가 태어날 확률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마릿수, 최대 마릿수, 스킬 레벨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09" name="라벨 벽 추가 피해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394106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 추가 피해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0" name="설명 벽 추가 피해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4206240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벽을 공격할 때 공격력에 곱해지는 계수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공격력, 스킬 레벨, 찍찍, 목표 찍찍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1" name="라벨 이동 속도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394106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이동 속도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2" name="설명 이동 속도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4206240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쥐가 돌진하는 속도, 오브젝트에 닿는 빈도를 결정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등급, 스킬 레벨, 쥐 강화 레벨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3" name="라벨 등급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5010912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4" name="설명 등급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5276088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~ 신화 6단계, 높을수록 기본 능력치 증가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등급 상승 보정, 승급, 공격력, 이동 속도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5" name="라벨 등급 상승 보정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5010912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등급 상승 보정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6" name="설명 등급 상승 보정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5276088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 태어나는 쥐가 높은 등급일 확률을 올리는 값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훈장 등급, 스킬 레벨, 등급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6FE3-CAAC-6002-3ED8-8F2AB92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6B5E5-3913-2E50-FCA8-8605FBC8A19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아웃 게임 수치 (1)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D133D1-2D78-4C32-F870-4B3573D7E328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D39132D-4D22-57A7-6994-73770FBF1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258091"/>
              </p:ext>
            </p:extLst>
          </p:nvPr>
        </p:nvGraphicFramePr>
        <p:xfrm>
          <a:off x="-9546467" y="1850995"/>
          <a:ext cx="9276557" cy="439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56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2095717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6214884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503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세부 수치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116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크리티컬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추가 피해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번식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쿨타임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번식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 속도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 상승 보정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1258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인게임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층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남은 시간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보유 쥐 목록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 찍찍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콤보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1474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아웃게임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스탯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레벨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훈장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조각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 자료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도감 보너스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황금 오브젝트 확률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오브젝트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스폰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딜레이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로켓 배송 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쿨타임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배수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지속시간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</a:tbl>
          </a:graphicData>
        </a:graphic>
      </p:graphicFrame>
      <p:sp>
        <p:nvSpPr>
          <p:cNvPr id="1017" name="라벨 치즈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8" name="설명 치즈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1819656"/>
            <a:ext cx="4745736" cy="83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파괴 시 획득, 스킬 업그레이드에 소모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오브젝트 파괴, 콤보 배수, 도감 보너스, 황금 오브젝트 확률, 스킬 레벨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9" name="라벨 스킬 레벨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레벨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0" name="설명 스킬 레벨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1819656"/>
            <a:ext cx="4745736" cy="83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치즈로 상승시킬 수 있으며, 스킬에 따라 다른 수치 증가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치즈, 공격력, 이동 속도, 번식, 콤보, 오브젝트 스폰 등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1" name="라벨 연구 자료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 자료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2" name="설명 연구 자료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313639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층을 돌파하면 획득, 훈장 등급 상승에 소모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현재 층, 훈장 등급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3" name="라벨 훈장 등급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훈장 등급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4" name="설명 훈장 등급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3136392"/>
            <a:ext cx="4745736" cy="1325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등급 상승 조건 만족 시, 연구 자료를 모아 상승 가능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 공격력, 치즈 획득량, 고등급 탄생 확률 등의 수치 상승 및 스킬, 도감 해금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연구 자료, 최고 층, 등급 상승 보정, 시작 마릿수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5" name="라벨 조각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468172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조각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6" name="설명 조각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4946904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 얻은 쥐를 다시 얻을 때 획득, 쥐 강화에 소모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마릿수(번식·승급), 쥐 강화 레벨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7" name="라벨 쥐 강화 레벨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468172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 강화 레벨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8" name="설명 쥐 강화 레벨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4946904"/>
            <a:ext cx="4745736" cy="107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동일한 쥐 획득 시 얻을 수 있는 조각을 사용해 상승 가능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쥐의 공격력, 이동 속도 등 쥐 스탯 상승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조각, 공격력, 이동 속도, 크리티컬 확률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154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6FE3-CAAC-6002-3ED8-8F2AB92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6B5E5-3913-2E50-FCA8-8605FBC8A19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아웃 게임 수치 (2)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D133D1-2D78-4C32-F870-4B3573D7E328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라벨 최대 마릿수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최대 마릿수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0" name="설명 최대 마릿수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1819656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 판에 동시에 존재할 수 있는 쥐 수의 상한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마릿수, 번식 확률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1" name="라벨 로켓 배송 쿨타임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로켓 배송 쿨타임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2" name="설명 로켓 배송 쿨타임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1819656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오브젝트를 한꺼번에 떨어뜨리는 로켓 배송의 주기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오브젝트 파괴,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3" name="라벨 도감 보너스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262432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도감 보너스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4" name="설명 도감 보너스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2889504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획득한 쥐 종류 수에 따라 치즈 획득량 증가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획득한 쥐 종류,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5" name="라벨 콤보 배수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262432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콤보 배수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6" name="설명 콤보 배수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2889504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콤보 수에 따라 치즈 획득량에 곱해지는 배율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현재 콤보,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7" name="라벨 황금 오브젝트 확률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369417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황금 오브젝트 확률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8" name="설명 황금 오브젝트 확률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395935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오브젝트가 황금으로 나올 확률 (치즈 대량 획득)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9" name="라벨 콤보 지속시간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369417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콤보 지속시간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0" name="설명 콤보 지속시간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395935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 충돌이 없어도 콤보가 유지되는 시간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현재 콤보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1" name="라벨 오브젝트 스폰 딜레이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476402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스폰 딜레이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2" name="설명 오브젝트 스폰 딜레이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5029200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파괴된 자리에 새 오브젝트가 생기기까지의 시간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스킬 레벨, 오브젝트 파괴, 치즈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154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6FE3-CAAC-6002-3ED8-8F2AB925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A6B5E5-3913-2E50-FCA8-8605FBC8A190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 정리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인게임 수치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D133D1-2D78-4C32-F870-4B3573D7E328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라벨 현재 층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층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4" name="설명 현재 층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1819656"/>
            <a:ext cx="4745736" cy="83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 중인 층, 오를수록 목표와 보상이 커짐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목표 찍찍, 남은 시간, 오브젝트 가치, 연구 자료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5" name="라벨 찍찍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155448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찍찍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6" name="설명 찍찍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1819656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존재하는 모든 쥐의 공격력 합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공격력, 마릿수, 목표 찍찍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7" name="라벨 남은 시간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남은 시간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8" name="설명 남은 시간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313639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층을 돌파해야 하는 제한 시간, 0이 되면 판 종료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현재 층, 방 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라벨 목표 찍찍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2871216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목표 찍찍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0" name="설명 목표 찍찍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3136392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층을 돌파하는 데 필요한 찍찍 기준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현재 층, 찍찍, 벽 추가 피해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1" name="라벨 현재 보유 쥐 목록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394106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보유 쥐 목록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2" name="설명 현재 보유 쥐 목록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4206240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판 안에 있는 쥐들의 종류와 등급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등급, 조각, 도감 보너스, 찍찍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3" name="라벨 현재 콤보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6537960" y="394106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콤보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4" name="설명 현재 콤보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6638544" y="4206240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쥐의 오브젝트 충돌 시 1씩 오르는 연속 횟수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콤보 지속시간, 콤보 배수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5" name="라벨 마릿수">
            <a:extLst>
              <a:ext uri="{FF2B5EF4-FFF2-40B4-BE49-F238E27FC236}">
                <a16:creationId xmlns:a16="http://schemas.microsoft.com/office/drawing/2014/main" id="{93A37673-16E0-9BC9-2C24-525C7A496D44}"/>
              </a:ext>
            </a:extLst>
          </p:cNvPr>
          <p:cNvSpPr txBox="1"/>
          <p:nvPr/>
        </p:nvSpPr>
        <p:spPr>
          <a:xfrm>
            <a:off x="1490472" y="5010912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마릿수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6" name="설명 마릿수">
            <a:extLst>
              <a:ext uri="{FF2B5EF4-FFF2-40B4-BE49-F238E27FC236}">
                <a16:creationId xmlns:a16="http://schemas.microsoft.com/office/drawing/2014/main" id="{B3B84F3D-83A4-C7EA-F7D8-E0CEA989EA45}"/>
              </a:ext>
            </a:extLst>
          </p:cNvPr>
          <p:cNvSpPr txBox="1"/>
          <p:nvPr/>
        </p:nvSpPr>
        <p:spPr>
          <a:xfrm>
            <a:off x="1591056" y="5276088"/>
            <a:ext cx="4745736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판의 쥐 수, 최대 마릿수까지 번식으로 증가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연관: 최대 마릿수, 번식 확률, 번식 쿨타임, 찍찍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수치별 관계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수치별 관계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1DA487-2A46-AAED-6ECC-D2928C0B6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54729"/>
              </p:ext>
            </p:extLst>
          </p:nvPr>
        </p:nvGraphicFramePr>
        <p:xfrm>
          <a:off x="1353344" y="1634064"/>
          <a:ext cx="9272015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301509337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영향을 주는 수치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영향을 받는 수치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등급, 쥐 강화 레벨, 스킬 레벨, 크리티컬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찍찍, 오브젝트 파괴, 벽 돌파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공격력, 마릿수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 돌파 (목표 찍찍과 비교)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6992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 찍찍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체력, 층 돌파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1309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마릿수, 번식 확률, 번식 쿨타임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찍찍, 조각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19702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 상승 보정, 승급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공격력, 이동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425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오브젝트 파괴, 콤보 배수, 도감 보너스, 황금 오브젝트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939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레벨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공격력, 번식, 콤보, 오브젝트 스폰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73778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 자료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훈장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26151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훈장 등급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 자료, 최고 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 상승 보정, 시작 마릿수, 해금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6329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조각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마릿수 (번식·승급)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강화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7705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강화 레벨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공격력, 이동 속도, 크리티컬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004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콤보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오브젝트 충돌, 콤보 지속시간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콤보 배수 → 치즈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930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수치별 관계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수치 계층도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3000" y="1444752"/>
            <a:ext cx="14173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  <a:ea typeface="Noto Sans KR"/>
              </a:rPr>
              <a:t>상위 수치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1444752"/>
            <a:ext cx="187451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  <a:ea typeface="Noto Sans KR"/>
              </a:rPr>
              <a:t>직접 구성 수치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1444752"/>
            <a:ext cx="53949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  <a:ea typeface="Noto Sans KR"/>
              </a:rPr>
              <a:t>하위 수치 (이 수치를 정하는 것)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1755648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공격력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1755648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등급 · 쥐 강화 레벨 · 스킬 레벨 · 크리티컬 확률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6320" y="1929384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71800" y="2167128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마릿수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2167128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최대 마릿수 · 번식 확률 · 번식 쿨타임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46320" y="2340864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71800" y="2578608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등급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2578608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등급 상승 보정 · 승급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46320" y="2752344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143000" y="1755648"/>
            <a:ext cx="1417320" cy="11704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Noto Sans KR"/>
                <a:ea typeface="Noto Sans KR"/>
              </a:rPr>
              <a:t>찍찍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60320" y="2340864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88920" y="1929384"/>
            <a:ext cx="0" cy="8229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88920" y="1929384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88920" y="2340864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88920" y="2752344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971800" y="3136392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오브젝트 파괴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3136392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공격력 · 오브젝트 스폰 딜레이 · 로켓 배송 쿨타임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846320" y="3310128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71800" y="3547872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획득 배율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3547872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콤보 배수 · 도감 보너스 · 황금 오브젝트 확률 · 크리티컬 확률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46320" y="3721608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971800" y="3959352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콤보 배수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959352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현재 콤보 · 콤보 지속시간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846320" y="4133088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143000" y="3136392"/>
            <a:ext cx="1417320" cy="11704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Noto Sans KR"/>
                <a:ea typeface="Noto Sans KR"/>
              </a:rPr>
              <a:t>치즈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560320" y="3721608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788920" y="3310128"/>
            <a:ext cx="0" cy="8229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788920" y="3310128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788920" y="3721608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88920" y="4133088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971800" y="4517136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찍찍 ↔ 목표 찍찍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517136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찍찍 · 목표 찍찍 · 벽 추가 피해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846320" y="4690872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971800" y="4928616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남은 시간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4928616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현재 층 · 방 수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846320" y="5102352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143000" y="4517136"/>
            <a:ext cx="1417320" cy="75895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Noto Sans KR"/>
                <a:ea typeface="Noto Sans KR"/>
              </a:rPr>
              <a:t>층 돌파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560320" y="4896612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788920" y="4690872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88920" y="4690872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788920" y="5102352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971800" y="5486400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스킬 레벨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57800" y="5486400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치즈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846320" y="5660136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971800" y="5897880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훈장 등급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7800" y="5897880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연구 자료 · 최고 층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846320" y="6071616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971800" y="6309360"/>
            <a:ext cx="1874519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0">
                <a:solidFill>
                  <a:schemeClr val="tx1"/>
                </a:solidFill>
                <a:latin typeface="Noto Sans KR"/>
                <a:ea typeface="Noto Sans KR"/>
              </a:rPr>
              <a:t>쥐 강화 레벨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57800" y="6309360"/>
            <a:ext cx="5394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Noto Sans KR"/>
                <a:ea typeface="Noto Sans KR"/>
              </a:rPr>
              <a:t>조각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846320" y="6483096"/>
            <a:ext cx="411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143000" y="5486400"/>
            <a:ext cx="1417320" cy="11704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Noto Sans KR"/>
                <a:ea typeface="Noto Sans KR"/>
              </a:rPr>
              <a:t>영구 성장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560320" y="6071616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788920" y="5660136"/>
            <a:ext cx="0" cy="8229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788920" y="5660136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788920" y="6071616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788920" y="6483096"/>
            <a:ext cx="182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83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