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9.jpg" ContentType="image/jpg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70" r:id="rId3"/>
    <p:sldId id="288" r:id="rId4"/>
    <p:sldId id="318" r:id="rId5"/>
    <p:sldId id="319" r:id="rId6"/>
    <p:sldId id="320" r:id="rId7"/>
    <p:sldId id="292" r:id="rId8"/>
    <p:sldId id="321" r:id="rId9"/>
    <p:sldId id="324" r:id="rId10"/>
    <p:sldId id="322" r:id="rId11"/>
    <p:sldId id="323" r:id="rId12"/>
    <p:sldId id="31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F35D8-3F1B-4838-9AA9-54A21BBB9EB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325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F35D8-3F1B-4838-9AA9-54A21BBB9EB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583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hdphoto" Target="../media/hdphoto2.wdp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4912504" y="2025631"/>
            <a:ext cx="6583680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캐릭터 기획서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찍찍이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게임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7924727" y="5681050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7924727" y="5908388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9746184" y="5681050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9746184" y="5908388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7924727" y="6125755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9746184" y="6125755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8667156" y="3269557"/>
            <a:ext cx="280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9C4F-7865-37A1-27AD-71B312452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742A394-D6B0-70C4-190D-0AE707D28723}"/>
              </a:ext>
            </a:extLst>
          </p:cNvPr>
          <p:cNvSpPr txBox="1"/>
          <p:nvPr/>
        </p:nvSpPr>
        <p:spPr>
          <a:xfrm>
            <a:off x="1029084" y="746202"/>
            <a:ext cx="1819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895294-1B2E-85B6-BD54-7A4AC2400FFB}"/>
              </a:ext>
            </a:extLst>
          </p:cNvPr>
          <p:cNvSpPr txBox="1"/>
          <p:nvPr/>
        </p:nvSpPr>
        <p:spPr>
          <a:xfrm>
            <a:off x="1705359" y="1831352"/>
            <a:ext cx="329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2P</a:t>
            </a:r>
            <a:endParaRPr lang="en-US" altLang="ko-KR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9F5D8F-ADFD-7571-6542-557516A263D9}"/>
              </a:ext>
            </a:extLst>
          </p:cNvPr>
          <p:cNvSpPr txBox="1"/>
          <p:nvPr/>
        </p:nvSpPr>
        <p:spPr>
          <a:xfrm>
            <a:off x="2210184" y="2128746"/>
            <a:ext cx="38404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목차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로그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의도 및 효과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밈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활용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080B97-AFFC-E907-6BA2-88183327C7C5}"/>
              </a:ext>
            </a:extLst>
          </p:cNvPr>
          <p:cNvSpPr/>
          <p:nvPr/>
        </p:nvSpPr>
        <p:spPr>
          <a:xfrm rot="5400000">
            <a:off x="1558803" y="2010822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7413BF-F523-661A-6695-C7B087F7BB5E}"/>
              </a:ext>
            </a:extLst>
          </p:cNvPr>
          <p:cNvSpPr txBox="1"/>
          <p:nvPr/>
        </p:nvSpPr>
        <p:spPr>
          <a:xfrm>
            <a:off x="1705359" y="3585814"/>
            <a:ext cx="329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캐릭터</a:t>
            </a:r>
            <a:r>
              <a:rPr lang="en-US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6P</a:t>
            </a:r>
            <a:endParaRPr lang="en-US" altLang="ko-KR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6735E2-98F1-F54C-AFB4-8B1B281F4D64}"/>
              </a:ext>
            </a:extLst>
          </p:cNvPr>
          <p:cNvSpPr txBox="1"/>
          <p:nvPr/>
        </p:nvSpPr>
        <p:spPr>
          <a:xfrm>
            <a:off x="2210184" y="3924142"/>
            <a:ext cx="38404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역할 및 방향성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구성 요소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전체 비주얼 컨셉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등급별 특징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C5DE5C3-090E-290F-FEF2-C16B1490DBCE}"/>
              </a:ext>
            </a:extLst>
          </p:cNvPr>
          <p:cNvSpPr/>
          <p:nvPr/>
        </p:nvSpPr>
        <p:spPr>
          <a:xfrm rot="5400000">
            <a:off x="1558803" y="3759550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2CF674-4085-FEC6-94D6-C08BAC93DDAF}"/>
              </a:ext>
            </a:extLst>
          </p:cNvPr>
          <p:cNvSpPr txBox="1"/>
          <p:nvPr/>
        </p:nvSpPr>
        <p:spPr>
          <a:xfrm>
            <a:off x="5905502" y="1831352"/>
            <a:ext cx="329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스킬</a:t>
            </a:r>
            <a:r>
              <a:rPr lang="en-US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10P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1EA2F7-58A4-EC59-3F30-9B35951F6CF1}"/>
              </a:ext>
            </a:extLst>
          </p:cNvPr>
          <p:cNvSpPr txBox="1"/>
          <p:nvPr/>
        </p:nvSpPr>
        <p:spPr>
          <a:xfrm>
            <a:off x="6410327" y="2191176"/>
            <a:ext cx="3840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스킬분류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발동조건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EA614B3-7C5B-0005-7F2F-FB0F614BF55F}"/>
              </a:ext>
            </a:extLst>
          </p:cNvPr>
          <p:cNvSpPr/>
          <p:nvPr/>
        </p:nvSpPr>
        <p:spPr>
          <a:xfrm rot="5400000">
            <a:off x="5758946" y="2002515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68">
            <a:extLst>
              <a:ext uri="{FF2B5EF4-FFF2-40B4-BE49-F238E27FC236}">
                <a16:creationId xmlns:a16="http://schemas.microsoft.com/office/drawing/2014/main" id="{28BB4048-C730-4E53-25FC-039C17428850}"/>
              </a:ext>
            </a:extLst>
          </p:cNvPr>
          <p:cNvSpPr txBox="1"/>
          <p:nvPr/>
        </p:nvSpPr>
        <p:spPr>
          <a:xfrm>
            <a:off x="5905502" y="3585814"/>
            <a:ext cx="329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상세 기획 </a:t>
            </a:r>
            <a:r>
              <a:rPr lang="en-US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12P</a:t>
            </a:r>
          </a:p>
        </p:txBody>
      </p:sp>
      <p:sp>
        <p:nvSpPr>
          <p:cNvPr id="35" name="TextBox 70">
            <a:extLst>
              <a:ext uri="{FF2B5EF4-FFF2-40B4-BE49-F238E27FC236}">
                <a16:creationId xmlns:a16="http://schemas.microsoft.com/office/drawing/2014/main" id="{A2DD47B1-1AA1-5D2A-C2BA-0BE73EA9C64F}"/>
              </a:ext>
            </a:extLst>
          </p:cNvPr>
          <p:cNvSpPr txBox="1"/>
          <p:nvPr/>
        </p:nvSpPr>
        <p:spPr>
          <a:xfrm>
            <a:off x="6410327" y="3924142"/>
            <a:ext cx="384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원페이지 예시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직사각형 72">
            <a:extLst>
              <a:ext uri="{FF2B5EF4-FFF2-40B4-BE49-F238E27FC236}">
                <a16:creationId xmlns:a16="http://schemas.microsoft.com/office/drawing/2014/main" id="{8828AD87-09F9-B607-976D-3172E2BFD735}"/>
              </a:ext>
            </a:extLst>
          </p:cNvPr>
          <p:cNvSpPr/>
          <p:nvPr/>
        </p:nvSpPr>
        <p:spPr>
          <a:xfrm rot="5400000">
            <a:off x="5758946" y="3759549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6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3958-C278-8D05-8336-90242A7B1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 – 로그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19" name="표 10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509266"/>
              </p:ext>
            </p:extLst>
          </p:nvPr>
        </p:nvGraphicFramePr>
        <p:xfrm>
          <a:off x="1133856" y="1600200"/>
          <a:ext cx="8595360" cy="2743200"/>
        </p:xfrm>
        <a:graphic>
          <a:graphicData uri="http://schemas.openxmlformats.org/drawingml/2006/table">
            <a:tbl>
              <a:tblPr firstRow="1" bandRow="1"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순번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작성일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작성자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 내용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비고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2026-10-05</a:t>
                      </a:r>
                      <a:endParaRPr 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김규장</a:t>
                      </a:r>
                      <a:endParaRPr 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최초 작성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개요작성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예시 샘플 작성</a:t>
                      </a:r>
                      <a:endParaRPr 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2026-10-0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</a:t>
                      </a:r>
                      <a:endParaRPr lang="ko-KR" alt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김규장</a:t>
                      </a:r>
                      <a:endParaRPr lang="ko-KR" alt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 </a:t>
                      </a:r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마리 추가</a:t>
                      </a:r>
                      <a:endParaRPr 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탐정쥐</a:t>
                      </a:r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치즈퐁듀쥐</a:t>
                      </a:r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작성완료</a:t>
                      </a:r>
                      <a:endParaRPr 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2026-10-0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7</a:t>
                      </a:r>
                      <a:endParaRPr lang="ko-KR" alt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김규장</a:t>
                      </a:r>
                      <a:endParaRPr 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리메이크 및 재작성</a:t>
                      </a:r>
                      <a:endParaRPr 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 제작 상세기획 양산을 위한 문서로 목적 변경</a:t>
                      </a:r>
                      <a:endParaRPr 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12</a:t>
                      </a:r>
                      <a:endParaRPr lang="ko-KR" alt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김규장</a:t>
                      </a:r>
                      <a:endParaRPr 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등급별 특징 추가</a:t>
                      </a:r>
                      <a:endParaRPr 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각 등급별 외형적 특징 추가</a:t>
                      </a:r>
                      <a:endParaRPr 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70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67011-0BBA-F163-4CF9-A776D46AA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51C30D-639F-EC0D-3B89-34D81E65B4A1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 – 의도 및 효과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8844C41-8935-CC98-AA09-84B898DD7BA4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928363F-0925-67C8-0359-AA48A382C6F6}"/>
              </a:ext>
            </a:extLst>
          </p:cNvPr>
          <p:cNvSpPr txBox="1"/>
          <p:nvPr/>
        </p:nvSpPr>
        <p:spPr>
          <a:xfrm>
            <a:off x="1133475" y="1556437"/>
            <a:ext cx="977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기획의도</a:t>
            </a: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캐릭터의 구성에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밈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을 적극적으로 활용하자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F162A9-B734-023E-4FE5-BE47A2D70F39}"/>
              </a:ext>
            </a:extLst>
          </p:cNvPr>
          <p:cNvSpPr txBox="1"/>
          <p:nvPr/>
        </p:nvSpPr>
        <p:spPr>
          <a:xfrm>
            <a:off x="1133475" y="2174214"/>
            <a:ext cx="10134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기대효과</a:t>
            </a:r>
            <a:endParaRPr lang="en-US" altLang="ko-KR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F58A39B-4ABB-83B2-5E9B-62B28E8E4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108" y="2762513"/>
            <a:ext cx="2520000" cy="252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642585C-4FDF-75A0-86F3-2A4EE160E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762513"/>
            <a:ext cx="2520000" cy="2520000"/>
          </a:xfrm>
          <a:prstGeom prst="rect">
            <a:avLst/>
          </a:prstGeom>
        </p:spPr>
      </p:pic>
      <p:pic>
        <p:nvPicPr>
          <p:cNvPr id="13" name="그림 12" descr="바이럴 마케팅 - 무료 네트워킹개 아이콘">
            <a:extLst>
              <a:ext uri="{FF2B5EF4-FFF2-40B4-BE49-F238E27FC236}">
                <a16:creationId xmlns:a16="http://schemas.microsoft.com/office/drawing/2014/main" id="{D7E2CB52-A4FC-38FE-D3E4-2057FAC50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254" y="2762513"/>
            <a:ext cx="2520000" cy="252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E69DDC5-DC3B-AFA3-FD4C-675E8597E794}"/>
              </a:ext>
            </a:extLst>
          </p:cNvPr>
          <p:cNvSpPr txBox="1"/>
          <p:nvPr/>
        </p:nvSpPr>
        <p:spPr>
          <a:xfrm>
            <a:off x="1295400" y="5393758"/>
            <a:ext cx="25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다양한 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밈을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활용한 친숙함 강화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6341F8-5252-9259-A677-4040F8DF7B63}"/>
              </a:ext>
            </a:extLst>
          </p:cNvPr>
          <p:cNvSpPr txBox="1"/>
          <p:nvPr/>
        </p:nvSpPr>
        <p:spPr>
          <a:xfrm>
            <a:off x="4691254" y="5393757"/>
            <a:ext cx="25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밈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유입과 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스트리머를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통한 바이럴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48CD40-0058-7E72-5D00-90D36F2AC31A}"/>
              </a:ext>
            </a:extLst>
          </p:cNvPr>
          <p:cNvSpPr txBox="1"/>
          <p:nvPr/>
        </p:nvSpPr>
        <p:spPr>
          <a:xfrm>
            <a:off x="8087108" y="5393757"/>
            <a:ext cx="25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재밌는 스킬과 과장된 연출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8447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F960D-D4D4-6FB8-741F-59150F39B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6E163A-06E6-1AC0-5A22-EC4E81D3AF59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 – </a:t>
            </a:r>
            <a:r>
              <a:rPr lang="ko-KR" altLang="en-US" sz="32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밈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활용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87073F0-0E7D-0C79-8FBC-8529557375B0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950397F-D707-235A-0E63-5269360D39A4}"/>
              </a:ext>
            </a:extLst>
          </p:cNvPr>
          <p:cNvSpPr txBox="1"/>
          <p:nvPr/>
        </p:nvSpPr>
        <p:spPr>
          <a:xfrm>
            <a:off x="1133475" y="1556437"/>
            <a:ext cx="977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밈</a:t>
            </a:r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활용 방향</a:t>
            </a: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외형을 쥐로 변형하고 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우리 게임의 스킬에 변형하여 적용</a:t>
            </a:r>
            <a:endParaRPr lang="en-US" altLang="ko-KR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E34530-6DE7-C1D0-09A5-C53280F0369A}"/>
              </a:ext>
            </a:extLst>
          </p:cNvPr>
          <p:cNvSpPr txBox="1"/>
          <p:nvPr/>
        </p:nvSpPr>
        <p:spPr>
          <a:xfrm>
            <a:off x="1133475" y="2174214"/>
            <a:ext cx="10134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사용하는 </a:t>
            </a:r>
            <a:r>
              <a:rPr lang="ko-KR" altLang="en-US" sz="16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밈</a:t>
            </a:r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종류</a:t>
            </a:r>
            <a:endParaRPr lang="en-US" altLang="ko-KR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065CD0C-21B7-D859-325E-F60957B41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762513"/>
            <a:ext cx="2520000" cy="252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586F874-37DD-B976-2474-F6A82B3FEFAB}"/>
              </a:ext>
            </a:extLst>
          </p:cNvPr>
          <p:cNvSpPr txBox="1"/>
          <p:nvPr/>
        </p:nvSpPr>
        <p:spPr>
          <a:xfrm>
            <a:off x="1295399" y="5393758"/>
            <a:ext cx="28094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한국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스트리머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방송 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밈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C936C2-FFF7-2924-E089-2D91974081DD}"/>
              </a:ext>
            </a:extLst>
          </p:cNvPr>
          <p:cNvSpPr txBox="1"/>
          <p:nvPr/>
        </p:nvSpPr>
        <p:spPr>
          <a:xfrm>
            <a:off x="4691254" y="5393757"/>
            <a:ext cx="25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세계적으로 유행한 해외 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밈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522FE1-2B81-7C22-0123-C7F767886460}"/>
              </a:ext>
            </a:extLst>
          </p:cNvPr>
          <p:cNvSpPr txBox="1"/>
          <p:nvPr/>
        </p:nvSpPr>
        <p:spPr>
          <a:xfrm>
            <a:off x="8087108" y="5393757"/>
            <a:ext cx="25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유명한 애니메이션 스킬 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밈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F3EFB4-E12F-BCD7-1EDE-AE5B4B022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2" t="509" r="1842" b="-1528"/>
          <a:stretch>
            <a:fillRect/>
          </a:stretch>
        </p:blipFill>
        <p:spPr>
          <a:xfrm>
            <a:off x="1206336" y="2873757"/>
            <a:ext cx="2927514" cy="2520000"/>
          </a:xfrm>
          <a:prstGeom prst="rect">
            <a:avLst/>
          </a:prstGeom>
        </p:spPr>
      </p:pic>
      <p:pic>
        <p:nvPicPr>
          <p:cNvPr id="8" name="그림 7" descr="Steam Workshop::귀멸의 칼날 -젠이츠- 벽력일섬">
            <a:extLst>
              <a:ext uri="{FF2B5EF4-FFF2-40B4-BE49-F238E27FC236}">
                <a16:creationId xmlns:a16="http://schemas.microsoft.com/office/drawing/2014/main" id="{807A047E-97B3-6809-0107-0A8CBD698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108" y="2873757"/>
            <a:ext cx="2520000" cy="2520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BAABC4A-CFBB-17B1-4B0A-949F0FEF25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42" r="13253"/>
          <a:stretch>
            <a:fillRect/>
          </a:stretch>
        </p:blipFill>
        <p:spPr>
          <a:xfrm>
            <a:off x="4457545" y="2873757"/>
            <a:ext cx="3032411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351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D064C-F2B4-BE1D-A982-5ACCEF8F0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B93C39-6DE6-1FD1-9CAB-2238DB6A5C71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캐릭터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역할 및 방향성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C98365D-ECAC-3B61-9D6D-B395B4B1A287}"/>
              </a:ext>
            </a:extLst>
          </p:cNvPr>
          <p:cNvGrpSpPr/>
          <p:nvPr/>
        </p:nvGrpSpPr>
        <p:grpSpPr>
          <a:xfrm>
            <a:off x="1489075" y="1641720"/>
            <a:ext cx="9139430" cy="1189480"/>
            <a:chOff x="1489075" y="2145639"/>
            <a:chExt cx="9139430" cy="118948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186E66C-EF79-AAC2-121D-A694839F2BFD}"/>
                </a:ext>
              </a:extLst>
            </p:cNvPr>
            <p:cNvSpPr txBox="1"/>
            <p:nvPr/>
          </p:nvSpPr>
          <p:spPr>
            <a:xfrm>
              <a:off x="1588895" y="2411789"/>
              <a:ext cx="903961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ko-KR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스킬을 사용하며 물건 과 벽을 부수거나 생명체를 공격</a:t>
              </a:r>
              <a:endPara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등급과 </a:t>
              </a:r>
              <a:r>
                <a:rPr lang="ko-KR" altLang="en-US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티어가</a:t>
              </a:r>
              <a:r>
                <a: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상승할때</a:t>
              </a:r>
              <a:r>
                <a: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마다 공격력이 </a:t>
              </a:r>
              <a:r>
                <a:rPr lang="ko-KR" altLang="en-US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강해짐</a:t>
              </a:r>
              <a:r>
                <a: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endPara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강력하고 화려한 스킬일수록 </a:t>
              </a:r>
              <a:r>
                <a:rPr lang="ko-KR" altLang="en-US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궁극기</a:t>
              </a:r>
              <a:r>
                <a: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게이지 요구량이 높음</a:t>
              </a:r>
              <a:endPara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3E3C359-F568-41FA-570B-231DB87462F0}"/>
                </a:ext>
              </a:extLst>
            </p:cNvPr>
            <p:cNvSpPr txBox="1"/>
            <p:nvPr/>
          </p:nvSpPr>
          <p:spPr>
            <a:xfrm>
              <a:off x="1489075" y="2145639"/>
              <a:ext cx="5890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메카닉스</a:t>
              </a:r>
              <a:endPara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6DACD2E-2F7B-CE8E-5379-B3DB6584BC4D}"/>
              </a:ext>
            </a:extLst>
          </p:cNvPr>
          <p:cNvGrpSpPr/>
          <p:nvPr/>
        </p:nvGrpSpPr>
        <p:grpSpPr>
          <a:xfrm>
            <a:off x="1489074" y="3188810"/>
            <a:ext cx="9139431" cy="930419"/>
            <a:chOff x="1489074" y="3450563"/>
            <a:chExt cx="9139431" cy="93041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A580A18-A24A-4E3D-2391-D957D56D4F91}"/>
                </a:ext>
              </a:extLst>
            </p:cNvPr>
            <p:cNvSpPr txBox="1"/>
            <p:nvPr/>
          </p:nvSpPr>
          <p:spPr>
            <a:xfrm>
              <a:off x="1489074" y="3450563"/>
              <a:ext cx="66442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비주얼</a:t>
              </a:r>
              <a:endPara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0B09282-4D62-C6E0-01D4-666A793A08BB}"/>
                </a:ext>
              </a:extLst>
            </p:cNvPr>
            <p:cNvSpPr txBox="1"/>
            <p:nvPr/>
          </p:nvSpPr>
          <p:spPr>
            <a:xfrm>
              <a:off x="1588895" y="3734651"/>
              <a:ext cx="90396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외형에 </a:t>
              </a:r>
              <a:r>
                <a:rPr lang="ko-KR" altLang="en-US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밈</a:t>
              </a:r>
              <a:r>
                <a: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캐릭터 특징이 드러나는 소품을 하나씩 활용</a:t>
              </a:r>
              <a:endPara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상위 등급일수록 쥐의 크기가 더욱더 커짐</a:t>
              </a:r>
              <a:endPara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C035199-F812-D5B3-A8A3-4957F4660D1E}"/>
              </a:ext>
            </a:extLst>
          </p:cNvPr>
          <p:cNvGrpSpPr/>
          <p:nvPr/>
        </p:nvGrpSpPr>
        <p:grpSpPr>
          <a:xfrm>
            <a:off x="1489073" y="4362846"/>
            <a:ext cx="9139432" cy="1174558"/>
            <a:chOff x="1489073" y="4475773"/>
            <a:chExt cx="9139432" cy="117455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717A4F9-C187-3AC8-78B3-9D067D01A55A}"/>
                </a:ext>
              </a:extLst>
            </p:cNvPr>
            <p:cNvSpPr txBox="1"/>
            <p:nvPr/>
          </p:nvSpPr>
          <p:spPr>
            <a:xfrm>
              <a:off x="1489073" y="4475773"/>
              <a:ext cx="26016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스킬</a:t>
              </a:r>
              <a:endPara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C99E4A8-89B6-515A-5814-B6D98E8AC361}"/>
                </a:ext>
              </a:extLst>
            </p:cNvPr>
            <p:cNvSpPr txBox="1"/>
            <p:nvPr/>
          </p:nvSpPr>
          <p:spPr>
            <a:xfrm>
              <a:off x="1588895" y="4727001"/>
              <a:ext cx="903961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ko-KR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캐릭터의 공격이자 시각적 재미를 담당</a:t>
              </a:r>
              <a:r>
                <a: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하며 활용</a:t>
              </a:r>
              <a:endPara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캐릭터의 특징</a:t>
              </a:r>
              <a:r>
                <a: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밈</a:t>
              </a:r>
              <a:r>
                <a: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r>
                <a: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과 최대한 연관된 스킬 활용</a:t>
              </a:r>
              <a:endPara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FC804B9-5143-FF7E-6B9D-32A6F4BC25C0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511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3958-C278-8D05-8336-90242A7B1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캐릭터 – 구성요소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20" name="표 10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319554"/>
              </p:ext>
            </p:extLst>
          </p:nvPr>
        </p:nvGraphicFramePr>
        <p:xfrm>
          <a:off x="1133856" y="1508760"/>
          <a:ext cx="8595360" cy="4114800"/>
        </p:xfrm>
        <a:graphic>
          <a:graphicData uri="http://schemas.openxmlformats.org/drawingml/2006/table">
            <a:tbl>
              <a:tblPr firstRow="1" bandRow="1"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용어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설명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이름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도감에 표시되는 쥐의 이름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등급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쥐의 성능을 표시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 (</a:t>
                      </a:r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일반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레어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25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에픽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유니크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전설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신화로 구분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티어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쥐가 해금 되는 특정한 단계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공격력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쥐가 입히는 </a:t>
                      </a:r>
                      <a:r>
                        <a:rPr lang="ko-KR" altLang="en-US" sz="125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피해량의</a:t>
                      </a:r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기초가 되는 </a:t>
                      </a:r>
                      <a:r>
                        <a:rPr lang="ko-KR" altLang="en-US" sz="125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스텟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필살기</a:t>
                      </a:r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게이지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쥐가 필살기를 사용하기 위해 채워야 하는 수치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3008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패시브 스킬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쥐의 특징이며 상시 사용되는 스킬 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모든 등급 쥐가 보유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액티브 스킬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쥐가 특정조건 마다 자동으로 사용하는 스킬 </a:t>
                      </a:r>
                      <a:r>
                        <a:rPr lang="en-US" altLang="ko-KR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희귀 쥐 이상이 보유</a:t>
                      </a:r>
                      <a:r>
                        <a:rPr lang="en-US" altLang="ko-KR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5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필살기</a:t>
                      </a:r>
                      <a:endParaRPr lang="ko-KR" alt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컷 </a:t>
                      </a:r>
                      <a:r>
                        <a:rPr lang="ko-KR" altLang="en-US" sz="125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씬과</a:t>
                      </a:r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함께 사용하는 기술 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 </a:t>
                      </a:r>
                      <a:r>
                        <a:rPr lang="ko-KR" altLang="en-US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전설 쥐 이상이 보유</a:t>
                      </a:r>
                      <a:r>
                        <a:rPr lang="en-US" altLang="ko-KR" sz="125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sz="125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700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5680A-EF48-8ECD-E87D-6B38B2BAB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EA8E41-C196-88AF-F47C-5D2B00CB87E0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캐릭터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비주얼 컨셉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5B021B1-5F14-AC09-CBDC-EE8C8433BA10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D73F7D1-11AE-88BB-5379-75271B1F42D9}"/>
              </a:ext>
            </a:extLst>
          </p:cNvPr>
          <p:cNvSpPr txBox="1"/>
          <p:nvPr/>
        </p:nvSpPr>
        <p:spPr>
          <a:xfrm>
            <a:off x="4755580" y="2259893"/>
            <a:ext cx="27527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쥐 기본 컬러 이미지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2CDC9BE-87A3-5FC5-5F11-8FB1E2E20ECC}"/>
              </a:ext>
            </a:extLst>
          </p:cNvPr>
          <p:cNvGraphicFramePr>
            <a:graphicFrameLocks noGrp="1"/>
          </p:cNvGraphicFramePr>
          <p:nvPr/>
        </p:nvGraphicFramePr>
        <p:xfrm>
          <a:off x="4258669" y="3744051"/>
          <a:ext cx="3549651" cy="1276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217">
                  <a:extLst>
                    <a:ext uri="{9D8B030D-6E8A-4147-A177-3AD203B41FA5}">
                      <a16:colId xmlns:a16="http://schemas.microsoft.com/office/drawing/2014/main" val="2856270712"/>
                    </a:ext>
                  </a:extLst>
                </a:gridCol>
                <a:gridCol w="1183217">
                  <a:extLst>
                    <a:ext uri="{9D8B030D-6E8A-4147-A177-3AD203B41FA5}">
                      <a16:colId xmlns:a16="http://schemas.microsoft.com/office/drawing/2014/main" val="3144715134"/>
                    </a:ext>
                  </a:extLst>
                </a:gridCol>
                <a:gridCol w="1183217">
                  <a:extLst>
                    <a:ext uri="{9D8B030D-6E8A-4147-A177-3AD203B41FA5}">
                      <a16:colId xmlns:a16="http://schemas.microsoft.com/office/drawing/2014/main" val="1826296053"/>
                    </a:ext>
                  </a:extLst>
                </a:gridCol>
              </a:tblGrid>
              <a:tr h="1276058">
                <a:tc>
                  <a:txBody>
                    <a:bodyPr/>
                    <a:lstStyle/>
                    <a:p>
                      <a:pPr latinLnBrk="1"/>
                      <a:endParaRPr lang="ko-KR" altLang="en-US" sz="2200" dirty="0"/>
                    </a:p>
                  </a:txBody>
                  <a:tcPr marL="114917" marR="114917" marT="57458" marB="574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6B6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200" dirty="0"/>
                    </a:p>
                  </a:txBody>
                  <a:tcPr marL="114917" marR="114917" marT="57458" marB="574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AA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200" dirty="0"/>
                    </a:p>
                  </a:txBody>
                  <a:tcPr marL="114917" marR="114917" marT="57458" marB="574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9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18705"/>
                  </a:ext>
                </a:extLst>
              </a:tr>
            </a:tbl>
          </a:graphicData>
        </a:graphic>
      </p:graphicFrame>
      <p:pic>
        <p:nvPicPr>
          <p:cNvPr id="6" name="그림 5" descr="Mäuse fangen, vertreiben und effektiv bekämpfen">
            <a:extLst>
              <a:ext uri="{FF2B5EF4-FFF2-40B4-BE49-F238E27FC236}">
                <a16:creationId xmlns:a16="http://schemas.microsoft.com/office/drawing/2014/main" id="{24E57424-E7A0-4F78-3B58-2FF591582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375" b="89931" l="4167" r="96875">
                        <a14:foregroundMark x1="10243" y1="63542" x2="8681" y2="55208"/>
                        <a14:foregroundMark x1="8333" y1="54514" x2="6771" y2="52778"/>
                        <a14:foregroundMark x1="5729" y1="57292" x2="4167" y2="51389"/>
                        <a14:foregroundMark x1="96056" y1="73611" x2="96875" y2="74653"/>
                        <a14:foregroundMark x1="89236" y1="64931" x2="90920" y2="67074"/>
                        <a14:backgroundMark x1="92198" y1="73264" x2="92882" y2="75694"/>
                        <a14:backgroundMark x1="91319" y1="70139" x2="92198" y2="73264"/>
                        <a14:backgroundMark x1="92708" y1="69792" x2="95139" y2="73264"/>
                        <a14:backgroundMark x1="91319" y1="70139" x2="93576" y2="70139"/>
                        <a14:backgroundMark x1="90451" y1="68403" x2="92708" y2="69097"/>
                        <a14:backgroundMark x1="90799" y1="67708" x2="90799" y2="67708"/>
                        <a14:backgroundMark x1="90278" y1="68056" x2="90278" y2="68056"/>
                        <a14:backgroundMark x1="94792" y1="73611" x2="94271" y2="75000"/>
                        <a14:backgroundMark x1="95139" y1="72222" x2="95139" y2="736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3484" y="3314711"/>
            <a:ext cx="3268981" cy="17940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BF02CF-A622-89C7-BD78-D2F6CCE7029F}"/>
              </a:ext>
            </a:extLst>
          </p:cNvPr>
          <p:cNvSpPr txBox="1"/>
          <p:nvPr/>
        </p:nvSpPr>
        <p:spPr>
          <a:xfrm>
            <a:off x="495300" y="2259892"/>
            <a:ext cx="30429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귀여운 쥐 </a:t>
            </a:r>
            <a:endParaRPr lang="en-US" altLang="ko-KR" sz="2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sz="2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모티브 캐릭터</a:t>
            </a:r>
          </a:p>
        </p:txBody>
      </p:sp>
      <p:pic>
        <p:nvPicPr>
          <p:cNvPr id="9" name="그림 8" descr="우주 비행사 - 무료 개 아이콘">
            <a:extLst>
              <a:ext uri="{FF2B5EF4-FFF2-40B4-BE49-F238E27FC236}">
                <a16:creationId xmlns:a16="http://schemas.microsoft.com/office/drawing/2014/main" id="{E1F1539E-2913-148D-13D3-442931D87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633" y="3279920"/>
            <a:ext cx="956375" cy="956375"/>
          </a:xfrm>
          <a:prstGeom prst="rect">
            <a:avLst/>
          </a:prstGeom>
        </p:spPr>
      </p:pic>
      <p:pic>
        <p:nvPicPr>
          <p:cNvPr id="11" name="그림 10" descr="왕관 아이콘 x Vectorslab — PNG, SVG로 다운로드">
            <a:extLst>
              <a:ext uri="{FF2B5EF4-FFF2-40B4-BE49-F238E27FC236}">
                <a16:creationId xmlns:a16="http://schemas.microsoft.com/office/drawing/2014/main" id="{AD12E63B-4BB9-89CA-DF96-F11A4B0940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38212" y="2875068"/>
            <a:ext cx="1580304" cy="1580304"/>
          </a:xfrm>
          <a:prstGeom prst="rect">
            <a:avLst/>
          </a:prstGeom>
        </p:spPr>
      </p:pic>
      <p:pic>
        <p:nvPicPr>
          <p:cNvPr id="13" name="그림 12" descr="요리사 모자 아이콘 x Photo3Idea studio — PNG, SVG로 다운로드">
            <a:extLst>
              <a:ext uri="{FF2B5EF4-FFF2-40B4-BE49-F238E27FC236}">
                <a16:creationId xmlns:a16="http://schemas.microsoft.com/office/drawing/2014/main" id="{E0DA8055-EC16-7E49-BCE5-3BDA1EA0BE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6598" y="4260459"/>
            <a:ext cx="1134443" cy="113444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8068CA5-85E1-153A-12F0-1B4AFDD17A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8476" y="4382080"/>
            <a:ext cx="1550040" cy="9563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ECEE43-B017-9D4A-7D7A-379745E520E7}"/>
              </a:ext>
            </a:extLst>
          </p:cNvPr>
          <p:cNvSpPr txBox="1"/>
          <p:nvPr/>
        </p:nvSpPr>
        <p:spPr>
          <a:xfrm>
            <a:off x="8561849" y="2259893"/>
            <a:ext cx="27527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다양한 능력들을 </a:t>
            </a:r>
            <a:endParaRPr lang="en-US" altLang="ko-KR" sz="2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sz="2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상징하는 소품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50B3FC8-5465-AB22-B8BE-8865BA6E770A}"/>
              </a:ext>
            </a:extLst>
          </p:cNvPr>
          <p:cNvGrpSpPr/>
          <p:nvPr/>
        </p:nvGrpSpPr>
        <p:grpSpPr>
          <a:xfrm>
            <a:off x="3895881" y="3545255"/>
            <a:ext cx="4341096" cy="2033953"/>
            <a:chOff x="4008331" y="2375585"/>
            <a:chExt cx="4048670" cy="3196834"/>
          </a:xfrm>
        </p:grpSpPr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1C5D8244-B2B4-B6E4-01C9-DBC04D7945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8331" y="2375585"/>
              <a:ext cx="0" cy="318609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F3534F6A-F5DD-88F9-EA63-97D61ED4B3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57001" y="2386329"/>
              <a:ext cx="0" cy="318609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53396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2FF5A-9D26-348B-A0EE-264DCAE48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DFD64-75F0-6029-FB62-A4A1DD261B38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캐릭터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등급별 특징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EB2F059-87CB-8FAE-A71B-14E097487C9B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그림 35">
            <a:extLst>
              <a:ext uri="{FF2B5EF4-FFF2-40B4-BE49-F238E27FC236}">
                <a16:creationId xmlns:a16="http://schemas.microsoft.com/office/drawing/2014/main" id="{0054D6E6-1BBB-BAB5-4091-199340CE4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714" y="1856339"/>
            <a:ext cx="1800000" cy="85312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29469007-CED7-39EB-7409-B05E92909B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7" t="1088" r="-847" b="-1088"/>
          <a:stretch>
            <a:fillRect/>
          </a:stretch>
        </p:blipFill>
        <p:spPr>
          <a:xfrm>
            <a:off x="1200714" y="3340967"/>
            <a:ext cx="1800000" cy="84590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D865D006-3944-ABFB-BCE0-B7C33B879A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897"/>
          <a:stretch>
            <a:fillRect/>
          </a:stretch>
        </p:blipFill>
        <p:spPr>
          <a:xfrm>
            <a:off x="6858977" y="1856339"/>
            <a:ext cx="1800000" cy="839613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393015EB-0DDE-0012-F6FB-3B6DECFF33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00714" y="4818371"/>
            <a:ext cx="1800000" cy="1211215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44" name="Image 0" descr="/workspace/artifacts/skill_hero.jpg">
            <a:extLst>
              <a:ext uri="{FF2B5EF4-FFF2-40B4-BE49-F238E27FC236}">
                <a16:creationId xmlns:a16="http://schemas.microsoft.com/office/drawing/2014/main" id="{F6E22B7B-8820-A073-6718-2FE73052EA3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858977" y="3371904"/>
            <a:ext cx="1800000" cy="96923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2249681C-202C-E4E7-CD31-D222B86556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976" y="4814539"/>
            <a:ext cx="1800000" cy="1012499"/>
          </a:xfrm>
          <a:prstGeom prst="rect">
            <a:avLst/>
          </a:prstGeom>
        </p:spPr>
      </p:pic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00DBE08B-BDB2-7712-6A1E-6F39A27CE16E}"/>
              </a:ext>
            </a:extLst>
          </p:cNvPr>
          <p:cNvCxnSpPr>
            <a:cxnSpLocks/>
          </p:cNvCxnSpPr>
          <p:nvPr/>
        </p:nvCxnSpPr>
        <p:spPr>
          <a:xfrm flipV="1">
            <a:off x="6096000" y="2415442"/>
            <a:ext cx="0" cy="3594833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4DBF1D6-8FE1-6E19-CB9E-14FFC4A66210}"/>
              </a:ext>
            </a:extLst>
          </p:cNvPr>
          <p:cNvSpPr/>
          <p:nvPr/>
        </p:nvSpPr>
        <p:spPr>
          <a:xfrm>
            <a:off x="3276600" y="1856339"/>
            <a:ext cx="2381250" cy="853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실제 있는 쥐 종류만 활용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그 어떠한 소품도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X ,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쥐 색깔 변화만 가능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DB9593E-EE92-19FF-E177-3BB04F89E4F9}"/>
              </a:ext>
            </a:extLst>
          </p:cNvPr>
          <p:cNvSpPr/>
          <p:nvPr/>
        </p:nvSpPr>
        <p:spPr>
          <a:xfrm>
            <a:off x="1133475" y="1533525"/>
            <a:ext cx="1304925" cy="3124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일반쥐</a:t>
            </a:r>
            <a:endParaRPr lang="ko-KR" altLang="en-US" sz="16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CB5F326-42EB-F540-4674-EAEEC8B791BF}"/>
              </a:ext>
            </a:extLst>
          </p:cNvPr>
          <p:cNvSpPr/>
          <p:nvPr/>
        </p:nvSpPr>
        <p:spPr>
          <a:xfrm>
            <a:off x="1133475" y="3017815"/>
            <a:ext cx="1304925" cy="3124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레어쥐</a:t>
            </a:r>
            <a:endParaRPr lang="ko-KR" altLang="en-US" sz="16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00BAE6D-E437-CEAE-BF8A-774764BFA07A}"/>
              </a:ext>
            </a:extLst>
          </p:cNvPr>
          <p:cNvSpPr/>
          <p:nvPr/>
        </p:nvSpPr>
        <p:spPr>
          <a:xfrm>
            <a:off x="1200714" y="4502105"/>
            <a:ext cx="1304925" cy="3124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에픽쥐</a:t>
            </a:r>
            <a:endParaRPr lang="ko-KR" altLang="en-US" sz="16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DA7D4D1-A0B6-0BE7-CF72-5139C79D44EA}"/>
              </a:ext>
            </a:extLst>
          </p:cNvPr>
          <p:cNvSpPr/>
          <p:nvPr/>
        </p:nvSpPr>
        <p:spPr>
          <a:xfrm>
            <a:off x="6858977" y="1543905"/>
            <a:ext cx="1304925" cy="3124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유니크쥐</a:t>
            </a:r>
            <a:endParaRPr lang="ko-KR" altLang="en-US" sz="16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9BDE8F90-0AD4-1F07-B82D-B3262D646B5F}"/>
              </a:ext>
            </a:extLst>
          </p:cNvPr>
          <p:cNvSpPr/>
          <p:nvPr/>
        </p:nvSpPr>
        <p:spPr>
          <a:xfrm>
            <a:off x="6858976" y="3017815"/>
            <a:ext cx="1304925" cy="3124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전설쥐</a:t>
            </a:r>
            <a:endParaRPr lang="ko-KR" altLang="en-US" sz="16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182C7CE-29BB-86F7-A61F-0CE9F8101760}"/>
              </a:ext>
            </a:extLst>
          </p:cNvPr>
          <p:cNvSpPr/>
          <p:nvPr/>
        </p:nvSpPr>
        <p:spPr>
          <a:xfrm>
            <a:off x="6858976" y="4539007"/>
            <a:ext cx="1304925" cy="3124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신화쥐</a:t>
            </a:r>
            <a:endParaRPr lang="ko-KR" altLang="en-US" sz="16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8A719DEA-F270-8299-C120-3B9E645741A1}"/>
              </a:ext>
            </a:extLst>
          </p:cNvPr>
          <p:cNvSpPr/>
          <p:nvPr/>
        </p:nvSpPr>
        <p:spPr>
          <a:xfrm>
            <a:off x="3276600" y="3330249"/>
            <a:ext cx="2381250" cy="853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소품을 간단하게 딱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개만 사용하여 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특색을 나타낸 쥐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ABC7E12D-142A-8C92-C209-C02B7753E008}"/>
              </a:ext>
            </a:extLst>
          </p:cNvPr>
          <p:cNvSpPr/>
          <p:nvPr/>
        </p:nvSpPr>
        <p:spPr>
          <a:xfrm>
            <a:off x="3268614" y="4804159"/>
            <a:ext cx="2381250" cy="853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쥐와 거리가 멀도록 외형을 특별한 컨셉을 확실하게 가지는 독특한 쥐 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메카닉스도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독특한 외형을 </a:t>
            </a:r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따라감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CAA3B025-2710-CDE6-6DCD-5A78D356BFE6}"/>
              </a:ext>
            </a:extLst>
          </p:cNvPr>
          <p:cNvSpPr/>
          <p:nvPr/>
        </p:nvSpPr>
        <p:spPr>
          <a:xfrm>
            <a:off x="8982459" y="1849582"/>
            <a:ext cx="2381250" cy="853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개이상의 소품을 가지며 화려하지만 별도의 </a:t>
            </a:r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밈을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가지고 있지 않는 </a:t>
            </a:r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평범한쥐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8E5AA07-26DE-1E00-FE4E-05416134D37A}"/>
              </a:ext>
            </a:extLst>
          </p:cNvPr>
          <p:cNvSpPr/>
          <p:nvPr/>
        </p:nvSpPr>
        <p:spPr>
          <a:xfrm>
            <a:off x="8982459" y="3330248"/>
            <a:ext cx="2381250" cy="853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필살기와 </a:t>
            </a:r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밈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활용을 확실하게 </a:t>
            </a:r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가진쥐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필살기의 이펙트가 </a:t>
            </a:r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컷신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없이도 티가 날정도로 화려하지는 </a:t>
            </a:r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않은쥐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81F9ABAA-27C4-B857-3904-1FAA7247B88A}"/>
              </a:ext>
            </a:extLst>
          </p:cNvPr>
          <p:cNvSpPr/>
          <p:nvPr/>
        </p:nvSpPr>
        <p:spPr>
          <a:xfrm>
            <a:off x="9077709" y="4804158"/>
            <a:ext cx="2381250" cy="853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필살기와 </a:t>
            </a:r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밈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활용을 확실하게 </a:t>
            </a:r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가진쥐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이펙트가 </a:t>
            </a:r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컷신이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없어도 </a:t>
            </a:r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맵에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크게 드러날 정도로 화려한 수준을 </a:t>
            </a:r>
            <a:r>
              <a:rPr lang="ko-KR" altLang="en-US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가진쥐</a:t>
            </a:r>
            <a:endParaRPr lang="ko-KR" altLang="en-US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7853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7F4E1-A3E9-46B5-C18E-8418A7DE1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BC735D-304B-E0C4-2CFC-3936C83A44BE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스킬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 </a:t>
            </a:r>
            <a:r>
              <a:rPr lang="ko-KR" altLang="en-US" sz="32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스킬분류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A355276-F353-51BC-D756-03A04C4984E6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798A50DB-2184-B5FF-C65C-0A6937EBC739}"/>
              </a:ext>
            </a:extLst>
          </p:cNvPr>
          <p:cNvGrpSpPr/>
          <p:nvPr/>
        </p:nvGrpSpPr>
        <p:grpSpPr>
          <a:xfrm>
            <a:off x="1133475" y="1608080"/>
            <a:ext cx="9495030" cy="1217011"/>
            <a:chOff x="1133475" y="1836680"/>
            <a:chExt cx="9495030" cy="1217011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4B82413A-46D3-FA91-7362-21681F1FB092}"/>
                </a:ext>
              </a:extLst>
            </p:cNvPr>
            <p:cNvGrpSpPr/>
            <p:nvPr/>
          </p:nvGrpSpPr>
          <p:grpSpPr>
            <a:xfrm>
              <a:off x="1489075" y="2202766"/>
              <a:ext cx="9139430" cy="850925"/>
              <a:chOff x="1489075" y="2145639"/>
              <a:chExt cx="9139430" cy="850925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1FCB51-0EE4-A11B-FDCB-51702C7BA0FA}"/>
                  </a:ext>
                </a:extLst>
              </p:cNvPr>
              <p:cNvSpPr txBox="1"/>
              <p:nvPr/>
            </p:nvSpPr>
            <p:spPr>
              <a:xfrm>
                <a:off x="1588895" y="2411789"/>
                <a:ext cx="903961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모든 등급의 쥐가 사용가능</a:t>
                </a:r>
                <a:endParaRPr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레벨과 등급의 제한이 없어 모든 쥐가 보유함</a:t>
                </a:r>
                <a:endParaRPr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1E2E8D-7341-C7E0-ED96-3DB7995B3866}"/>
                  </a:ext>
                </a:extLst>
              </p:cNvPr>
              <p:cNvSpPr txBox="1"/>
              <p:nvPr/>
            </p:nvSpPr>
            <p:spPr>
              <a:xfrm>
                <a:off x="1489075" y="2145639"/>
                <a:ext cx="599757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상시 적용이거나 특정조건 충족 때 즉시 보정되는 수치적 스킬</a:t>
                </a:r>
                <a:endParaRPr lang="en-US" altLang="ko-KR" sz="16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lang="en-US" altLang="ko-KR" sz="16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F636D0D-52D0-3C2A-D6FB-C0C3472CD8E1}"/>
                </a:ext>
              </a:extLst>
            </p:cNvPr>
            <p:cNvSpPr txBox="1"/>
            <p:nvPr/>
          </p:nvSpPr>
          <p:spPr>
            <a:xfrm>
              <a:off x="1133475" y="1836680"/>
              <a:ext cx="2057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패시브</a:t>
              </a:r>
              <a:endPara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8CCF2FD-8B57-CFF8-A600-AE7AF7C4AF04}"/>
              </a:ext>
            </a:extLst>
          </p:cNvPr>
          <p:cNvGrpSpPr/>
          <p:nvPr/>
        </p:nvGrpSpPr>
        <p:grpSpPr>
          <a:xfrm>
            <a:off x="1133475" y="3296771"/>
            <a:ext cx="9495030" cy="1242595"/>
            <a:chOff x="1133475" y="3861516"/>
            <a:chExt cx="9495030" cy="1242595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3B59413-ABCF-1568-DA32-B4FC00BFC4B1}"/>
                </a:ext>
              </a:extLst>
            </p:cNvPr>
            <p:cNvGrpSpPr/>
            <p:nvPr/>
          </p:nvGrpSpPr>
          <p:grpSpPr>
            <a:xfrm>
              <a:off x="1489075" y="4253186"/>
              <a:ext cx="9139430" cy="850925"/>
              <a:chOff x="1489075" y="2145639"/>
              <a:chExt cx="9139430" cy="850925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27731A-2B87-D07C-82B4-1EA63DA3903F}"/>
                  </a:ext>
                </a:extLst>
              </p:cNvPr>
              <p:cNvSpPr txBox="1"/>
              <p:nvPr/>
            </p:nvSpPr>
            <p:spPr>
              <a:xfrm>
                <a:off x="1588895" y="2411789"/>
                <a:ext cx="903961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1600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에픽</a:t>
                </a:r>
                <a:r>
                  <a:rPr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이상의 쥐만 사용가능</a:t>
                </a:r>
                <a:endParaRPr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또한 쥐의 레벨이 </a:t>
                </a:r>
                <a:r>
                  <a:rPr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5</a:t>
                </a:r>
                <a:r>
                  <a:rPr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이상이어야 사용가능</a:t>
                </a:r>
                <a:endParaRPr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560C63-FA03-CA86-EF16-19CE164EF02F}"/>
                  </a:ext>
                </a:extLst>
              </p:cNvPr>
              <p:cNvSpPr txBox="1"/>
              <p:nvPr/>
            </p:nvSpPr>
            <p:spPr>
              <a:xfrm>
                <a:off x="1489075" y="2145639"/>
                <a:ext cx="58902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특정조건 충족 때 간략한 연출과 함께 사용하는 스킬</a:t>
                </a:r>
                <a:endParaRPr lang="en-US" altLang="ko-KR" sz="16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66576F9-780C-F898-0ABC-3E612A573755}"/>
                </a:ext>
              </a:extLst>
            </p:cNvPr>
            <p:cNvSpPr txBox="1"/>
            <p:nvPr/>
          </p:nvSpPr>
          <p:spPr>
            <a:xfrm>
              <a:off x="1133475" y="3861516"/>
              <a:ext cx="2057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액티브</a:t>
              </a:r>
              <a:endPara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133F996-D184-A3FD-F7DD-3D96D493FB99}"/>
              </a:ext>
            </a:extLst>
          </p:cNvPr>
          <p:cNvGrpSpPr/>
          <p:nvPr/>
        </p:nvGrpSpPr>
        <p:grpSpPr>
          <a:xfrm>
            <a:off x="1133475" y="4985462"/>
            <a:ext cx="9495030" cy="1268179"/>
            <a:chOff x="1133475" y="5214062"/>
            <a:chExt cx="9495030" cy="1268179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296AEDC-E024-DB29-EDE7-5C95AFE1158D}"/>
                </a:ext>
              </a:extLst>
            </p:cNvPr>
            <p:cNvGrpSpPr/>
            <p:nvPr/>
          </p:nvGrpSpPr>
          <p:grpSpPr>
            <a:xfrm>
              <a:off x="1489075" y="5631316"/>
              <a:ext cx="9139430" cy="850925"/>
              <a:chOff x="1489075" y="2145639"/>
              <a:chExt cx="9139430" cy="850925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2FD4505-FC13-69BD-F415-BE63A53D104C}"/>
                  </a:ext>
                </a:extLst>
              </p:cNvPr>
              <p:cNvSpPr txBox="1"/>
              <p:nvPr/>
            </p:nvSpPr>
            <p:spPr>
              <a:xfrm>
                <a:off x="1588895" y="2411789"/>
                <a:ext cx="903961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전설 이상의 쥐만 사용가능</a:t>
                </a:r>
                <a:endParaRPr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또한 쥐의 레벨이 </a:t>
                </a:r>
                <a:r>
                  <a:rPr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10</a:t>
                </a:r>
                <a:r>
                  <a:rPr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이상이어야 사용가능</a:t>
                </a:r>
                <a:endParaRPr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557AB90-2F18-837D-9589-745C2F61D506}"/>
                  </a:ext>
                </a:extLst>
              </p:cNvPr>
              <p:cNvSpPr txBox="1"/>
              <p:nvPr/>
            </p:nvSpPr>
            <p:spPr>
              <a:xfrm>
                <a:off x="1489075" y="2145639"/>
                <a:ext cx="639762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필살기</a:t>
                </a:r>
                <a:r>
                  <a:rPr lang="ko-KR" altLang="en-US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게이지가 가득 </a:t>
                </a:r>
                <a:r>
                  <a:rPr lang="ko-KR" altLang="en-US" sz="1600" b="1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찰때</a:t>
                </a:r>
                <a:r>
                  <a:rPr lang="ko-KR" altLang="en-US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ko-KR" altLang="en-US" sz="1600" b="1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컷신과</a:t>
                </a:r>
                <a:r>
                  <a:rPr lang="ko-KR" altLang="en-US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함께 화려하게 사용하는 스킬</a:t>
                </a:r>
                <a:endParaRPr lang="en-US" altLang="ko-KR" sz="16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lang="en-US" altLang="ko-KR" sz="16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C7DE0A8-0AF2-DCA3-B906-B00AF17E826A}"/>
                </a:ext>
              </a:extLst>
            </p:cNvPr>
            <p:cNvSpPr txBox="1"/>
            <p:nvPr/>
          </p:nvSpPr>
          <p:spPr>
            <a:xfrm>
              <a:off x="1133475" y="5214062"/>
              <a:ext cx="2057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필살기</a:t>
              </a:r>
              <a:endPara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pic>
        <p:nvPicPr>
          <p:cNvPr id="37" name="그림 36">
            <a:extLst>
              <a:ext uri="{FF2B5EF4-FFF2-40B4-BE49-F238E27FC236}">
                <a16:creationId xmlns:a16="http://schemas.microsoft.com/office/drawing/2014/main" id="{0F9AB556-085A-8AF9-52FB-874A26B4A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685" y="1700316"/>
            <a:ext cx="1919999" cy="108000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A5F89D45-8E5F-E4F5-A91D-953692A9F1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685" y="3484116"/>
            <a:ext cx="1919999" cy="10800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986BDE24-0862-756D-7609-11BB3B4299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684" y="5128866"/>
            <a:ext cx="192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827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C0A9E-8D25-1919-6919-D67D509DA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1819D6-42AB-37D0-C490-64730AD52EE9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스킬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발동 조건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5679708-5142-3EB9-8C0F-AD299A9D4F82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71BF718-ED82-6F3D-3B3F-9BD8902AE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770431"/>
              </p:ext>
            </p:extLst>
          </p:nvPr>
        </p:nvGraphicFramePr>
        <p:xfrm>
          <a:off x="1133475" y="2655570"/>
          <a:ext cx="4791075" cy="2026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426055235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4505486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300" u="none" strike="noStrike">
                          <a:effectLst/>
                        </a:rPr>
                        <a:t>Ally_Count</a:t>
                      </a:r>
                      <a:endParaRPr 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300" u="none" strike="noStrike" dirty="0">
                          <a:effectLst/>
                        </a:rPr>
                        <a:t>주변에 동료가 일정 수 이상 모였을 때</a:t>
                      </a:r>
                      <a:endParaRPr 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98114925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300" u="none" strike="noStrike" dirty="0" err="1">
                          <a:effectLst/>
                        </a:rPr>
                        <a:t>Interval</a:t>
                      </a:r>
                      <a:endParaRPr 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300" u="none" strike="noStrike" dirty="0">
                          <a:effectLst/>
                        </a:rPr>
                        <a:t>일정 주기마다</a:t>
                      </a:r>
                      <a:endParaRPr 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504662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300" u="none" strike="noStrike">
                          <a:effectLst/>
                        </a:rPr>
                        <a:t>Hit_Wall</a:t>
                      </a:r>
                      <a:endParaRPr 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300" u="none" strike="noStrike">
                          <a:effectLst/>
                        </a:rPr>
                        <a:t>벽을 들이받을 때</a:t>
                      </a:r>
                      <a:endParaRPr 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72617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300" u="none" strike="noStrike">
                          <a:effectLst/>
                        </a:rPr>
                        <a:t>Hit_Item</a:t>
                      </a:r>
                      <a:endParaRPr 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300" u="none" strike="noStrike" dirty="0">
                          <a:effectLst/>
                        </a:rPr>
                        <a:t>물건에 부딪혀 갉을 때</a:t>
                      </a:r>
                      <a:endParaRPr 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2843698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300" u="none" strike="noStrike">
                          <a:effectLst/>
                        </a:rPr>
                        <a:t>Combo_Over</a:t>
                      </a:r>
                      <a:endParaRPr 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300" u="none" strike="noStrike">
                          <a:effectLst/>
                        </a:rPr>
                        <a:t>현재 콤보가 일정 이상일 때</a:t>
                      </a:r>
                      <a:endParaRPr 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813172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300" u="none" strike="noStrike">
                          <a:effectLst/>
                        </a:rPr>
                        <a:t>Birth</a:t>
                      </a:r>
                      <a:endParaRPr 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300" u="none" strike="noStrike" dirty="0">
                          <a:effectLst/>
                        </a:rPr>
                        <a:t>이 쥐가 부모로 새끼를 낳을 때</a:t>
                      </a:r>
                      <a:endParaRPr 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0042246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300" u="none" strike="noStrike" dirty="0" err="1">
                          <a:effectLst/>
                        </a:rPr>
                        <a:t>Destroy_Item</a:t>
                      </a:r>
                      <a:endParaRPr 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300" u="none" strike="noStrike" dirty="0">
                          <a:effectLst/>
                        </a:rPr>
                        <a:t>이 쥐가 물건을 부쉈을 때</a:t>
                      </a:r>
                      <a:endParaRPr 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810209933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2D178BF-8A64-DF07-8B50-0436E311A1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834032"/>
              </p:ext>
            </p:extLst>
          </p:nvPr>
        </p:nvGraphicFramePr>
        <p:xfrm>
          <a:off x="6029325" y="2655570"/>
          <a:ext cx="4791075" cy="2026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202136102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8457067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300" u="none" strike="noStrike">
                          <a:effectLst/>
                        </a:rPr>
                        <a:t>Drop_Prop</a:t>
                      </a:r>
                      <a:endParaRPr 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300" u="none" strike="noStrike" dirty="0">
                          <a:effectLst/>
                        </a:rPr>
                        <a:t>물건을</a:t>
                      </a:r>
                      <a:r>
                        <a:rPr lang="en-US" altLang="ko-KR" sz="1300" u="none" strike="noStrike" dirty="0">
                          <a:effectLst/>
                        </a:rPr>
                        <a:t> </a:t>
                      </a:r>
                      <a:r>
                        <a:rPr lang="ko-KR" altLang="en-US" sz="1300" u="none" strike="noStrike" dirty="0" err="1">
                          <a:effectLst/>
                        </a:rPr>
                        <a:t>파괴후</a:t>
                      </a:r>
                      <a:r>
                        <a:rPr lang="en-US" altLang="ko-KR" sz="1300" u="none" strike="noStrike" dirty="0">
                          <a:effectLst/>
                        </a:rPr>
                        <a:t> </a:t>
                      </a:r>
                      <a:r>
                        <a:rPr lang="ko-KR" altLang="en-US" sz="1300" u="none" strike="noStrike" dirty="0">
                          <a:effectLst/>
                        </a:rPr>
                        <a:t>소품 드랍 및 </a:t>
                      </a:r>
                      <a:r>
                        <a:rPr lang="ko-KR" altLang="en-US" sz="1300" u="none" strike="noStrike" dirty="0" err="1">
                          <a:effectLst/>
                        </a:rPr>
                        <a:t>같은종이</a:t>
                      </a:r>
                      <a:r>
                        <a:rPr lang="ko-KR" altLang="en-US" sz="1300" u="none" strike="noStrike" dirty="0">
                          <a:effectLst/>
                        </a:rPr>
                        <a:t> 획득 </a:t>
                      </a:r>
                      <a:endParaRPr 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76752092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300" u="none" strike="noStrike">
                          <a:effectLst/>
                        </a:rPr>
                        <a:t>Sleep_Start</a:t>
                      </a:r>
                      <a:endParaRPr 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300" u="none" strike="noStrike" dirty="0">
                          <a:effectLst/>
                        </a:rPr>
                        <a:t>잠들 때</a:t>
                      </a:r>
                      <a:endParaRPr 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18345859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300" u="none" strike="noStrike">
                          <a:effectLst/>
                        </a:rPr>
                        <a:t>Parcel_Drop</a:t>
                      </a:r>
                      <a:endParaRPr 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300" u="none" strike="noStrike" dirty="0">
                          <a:effectLst/>
                        </a:rPr>
                        <a:t>택배(웨이브) 투하 때</a:t>
                      </a:r>
                      <a:endParaRPr 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34677943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300" u="none" strike="noStrike">
                          <a:effectLst/>
                        </a:rPr>
                        <a:t>On_Screen</a:t>
                      </a:r>
                      <a:endParaRPr 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300" u="none" strike="noStrike" dirty="0">
                          <a:effectLst/>
                        </a:rPr>
                        <a:t>쥐가 화면에 보일 때만</a:t>
                      </a:r>
                      <a:endParaRPr 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81577133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300" u="none" strike="noStrike">
                          <a:effectLst/>
                        </a:rPr>
                        <a:t>Item_In_Range</a:t>
                      </a:r>
                      <a:endParaRPr 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300" u="none" strike="noStrike" dirty="0">
                          <a:effectLst/>
                        </a:rPr>
                        <a:t>반경 안에 물건이 있을 때만</a:t>
                      </a:r>
                      <a:endParaRPr 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78453061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300" u="none" strike="noStrike" dirty="0" err="1">
                          <a:effectLst/>
                        </a:rPr>
                        <a:t>Dashing</a:t>
                      </a:r>
                      <a:endParaRPr 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300" u="none" strike="noStrike" dirty="0">
                          <a:effectLst/>
                        </a:rPr>
                        <a:t>돌진 중일 때</a:t>
                      </a:r>
                      <a:endParaRPr 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96254306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300" u="none" strike="noStrike" dirty="0" err="1">
                          <a:effectLst/>
                        </a:rPr>
                        <a:t>Hit_Gold_Item</a:t>
                      </a:r>
                      <a:endParaRPr 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300" u="none" strike="noStrike" dirty="0">
                          <a:effectLst/>
                        </a:rPr>
                        <a:t>황금 물건을 갉을 때</a:t>
                      </a:r>
                      <a:endParaRPr 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5077091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1FDE300-5C42-07E5-6998-959D2546B40E}"/>
              </a:ext>
            </a:extLst>
          </p:cNvPr>
          <p:cNvSpPr txBox="1"/>
          <p:nvPr/>
        </p:nvSpPr>
        <p:spPr>
          <a:xfrm>
            <a:off x="1489075" y="1536039"/>
            <a:ext cx="977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쥐 캐릭터 테이블의 </a:t>
            </a: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Cond Type</a:t>
            </a:r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참조 </a:t>
            </a: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첨부한 이미지</a:t>
            </a: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017865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3958-C278-8D05-8336-90242A7B1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22232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신화쥐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– 치즈 </a:t>
            </a:r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퐁듀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쥐 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796721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Shape 4">
            <a:extLst>
              <a:ext uri="{FF2B5EF4-FFF2-40B4-BE49-F238E27FC236}">
                <a16:creationId xmlns:a16="http://schemas.microsoft.com/office/drawing/2014/main" id="{8E6DF13F-9CB0-41DC-1E4D-3F8E8166CD10}"/>
              </a:ext>
            </a:extLst>
          </p:cNvPr>
          <p:cNvSpPr/>
          <p:nvPr/>
        </p:nvSpPr>
        <p:spPr>
          <a:xfrm>
            <a:off x="1133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D9786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4" name="Text 5">
            <a:extLst>
              <a:ext uri="{FF2B5EF4-FFF2-40B4-BE49-F238E27FC236}">
                <a16:creationId xmlns:a16="http://schemas.microsoft.com/office/drawing/2014/main" id="{18EF0FF1-BC61-6CE6-EA4A-56276B1283C1}"/>
              </a:ext>
            </a:extLst>
          </p:cNvPr>
          <p:cNvSpPr/>
          <p:nvPr/>
        </p:nvSpPr>
        <p:spPr>
          <a:xfrm>
            <a:off x="1133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신화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6" name="Shape 6">
            <a:extLst>
              <a:ext uri="{FF2B5EF4-FFF2-40B4-BE49-F238E27FC236}">
                <a16:creationId xmlns:a16="http://schemas.microsoft.com/office/drawing/2014/main" id="{3A3625AB-556D-5B52-8E9C-1B5C67A64459}"/>
              </a:ext>
            </a:extLst>
          </p:cNvPr>
          <p:cNvSpPr/>
          <p:nvPr/>
        </p:nvSpPr>
        <p:spPr>
          <a:xfrm>
            <a:off x="2276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8A5A4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8" name="Text 7">
            <a:extLst>
              <a:ext uri="{FF2B5EF4-FFF2-40B4-BE49-F238E27FC236}">
                <a16:creationId xmlns:a16="http://schemas.microsoft.com/office/drawing/2014/main" id="{7066BCDD-2306-3C4B-2450-AA5B09244CF6}"/>
              </a:ext>
            </a:extLst>
          </p:cNvPr>
          <p:cNvSpPr/>
          <p:nvPr/>
        </p:nvSpPr>
        <p:spPr>
          <a:xfrm>
            <a:off x="2276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티어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2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2" name="Text 9">
            <a:extLst>
              <a:ext uri="{FF2B5EF4-FFF2-40B4-BE49-F238E27FC236}">
                <a16:creationId xmlns:a16="http://schemas.microsoft.com/office/drawing/2014/main" id="{515A52C2-C8F5-0124-7A98-78C6AD8FAAB9}"/>
              </a:ext>
            </a:extLst>
          </p:cNvPr>
          <p:cNvSpPr/>
          <p:nvPr/>
        </p:nvSpPr>
        <p:spPr>
          <a:xfrm>
            <a:off x="3419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돌파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4" name="Shape 10">
            <a:extLst>
              <a:ext uri="{FF2B5EF4-FFF2-40B4-BE49-F238E27FC236}">
                <a16:creationId xmlns:a16="http://schemas.microsoft.com/office/drawing/2014/main" id="{981861AA-7C61-E483-2BF4-00806C56C736}"/>
              </a:ext>
            </a:extLst>
          </p:cNvPr>
          <p:cNvSpPr/>
          <p:nvPr/>
        </p:nvSpPr>
        <p:spPr>
          <a:xfrm>
            <a:off x="3535680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6F8A6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6" name="Text 11">
            <a:extLst>
              <a:ext uri="{FF2B5EF4-FFF2-40B4-BE49-F238E27FC236}">
                <a16:creationId xmlns:a16="http://schemas.microsoft.com/office/drawing/2014/main" id="{76A64BE8-AC56-EB92-9B1B-8FE526AEC9BA}"/>
              </a:ext>
            </a:extLst>
          </p:cNvPr>
          <p:cNvSpPr/>
          <p:nvPr/>
        </p:nvSpPr>
        <p:spPr>
          <a:xfrm>
            <a:off x="3535680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공격력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80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8" name="Shape 12">
            <a:extLst>
              <a:ext uri="{FF2B5EF4-FFF2-40B4-BE49-F238E27FC236}">
                <a16:creationId xmlns:a16="http://schemas.microsoft.com/office/drawing/2014/main" id="{B81123D8-250C-B138-51BC-3530643868FD}"/>
              </a:ext>
            </a:extLst>
          </p:cNvPr>
          <p:cNvSpPr/>
          <p:nvPr/>
        </p:nvSpPr>
        <p:spPr>
          <a:xfrm>
            <a:off x="4678680" y="1126998"/>
            <a:ext cx="1417320" cy="329184"/>
          </a:xfrm>
          <a:prstGeom prst="roundRect">
            <a:avLst>
              <a:gd name="adj" fmla="val 44444"/>
            </a:avLst>
          </a:prstGeom>
          <a:solidFill>
            <a:srgbClr val="C9745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0" name="Text 13">
            <a:extLst>
              <a:ext uri="{FF2B5EF4-FFF2-40B4-BE49-F238E27FC236}">
                <a16:creationId xmlns:a16="http://schemas.microsoft.com/office/drawing/2014/main" id="{FCB53606-0F9A-D99F-4811-6CA609437EAB}"/>
              </a:ext>
            </a:extLst>
          </p:cNvPr>
          <p:cNvSpPr/>
          <p:nvPr/>
        </p:nvSpPr>
        <p:spPr>
          <a:xfrm>
            <a:off x="4678680" y="116357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치즈 수집 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50</a:t>
            </a: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6" name="Shape 15">
            <a:extLst>
              <a:ext uri="{FF2B5EF4-FFF2-40B4-BE49-F238E27FC236}">
                <a16:creationId xmlns:a16="http://schemas.microsoft.com/office/drawing/2014/main" id="{B971B7F7-4E63-E0AC-6B69-6A6C3A6E5ED1}"/>
              </a:ext>
            </a:extLst>
          </p:cNvPr>
          <p:cNvSpPr/>
          <p:nvPr/>
        </p:nvSpPr>
        <p:spPr>
          <a:xfrm>
            <a:off x="4732141" y="1628775"/>
            <a:ext cx="6025674" cy="852116"/>
          </a:xfrm>
          <a:prstGeom prst="roundRect">
            <a:avLst>
              <a:gd name="adj" fmla="val 7143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8" name="Text 16">
            <a:extLst>
              <a:ext uri="{FF2B5EF4-FFF2-40B4-BE49-F238E27FC236}">
                <a16:creationId xmlns:a16="http://schemas.microsoft.com/office/drawing/2014/main" id="{6FC7CDC0-AA37-2CC3-2394-21ECB8E235BB}"/>
              </a:ext>
            </a:extLst>
          </p:cNvPr>
          <p:cNvSpPr/>
          <p:nvPr/>
        </p:nvSpPr>
        <p:spPr>
          <a:xfrm>
            <a:off x="4861480" y="1689640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745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레퍼런스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0" name="Text 17">
            <a:extLst>
              <a:ext uri="{FF2B5EF4-FFF2-40B4-BE49-F238E27FC236}">
                <a16:creationId xmlns:a16="http://schemas.microsoft.com/office/drawing/2014/main" id="{7E68BBD9-C6BA-6A6C-7D9B-440C49007FB3}"/>
              </a:ext>
            </a:extLst>
          </p:cNvPr>
          <p:cNvSpPr/>
          <p:nvPr/>
        </p:nvSpPr>
        <p:spPr>
          <a:xfrm>
            <a:off x="4861480" y="1887453"/>
            <a:ext cx="5744172" cy="48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테스터훈 치즈분수 </a:t>
            </a:r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밈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패러디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촬영당시 입은 하와이완 티셔츠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치즈가 </a:t>
            </a:r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묻은게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특징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2" name="Shape 18">
            <a:extLst>
              <a:ext uri="{FF2B5EF4-FFF2-40B4-BE49-F238E27FC236}">
                <a16:creationId xmlns:a16="http://schemas.microsoft.com/office/drawing/2014/main" id="{E9552DAE-ED40-3730-2416-1050DED6C30D}"/>
              </a:ext>
            </a:extLst>
          </p:cNvPr>
          <p:cNvSpPr/>
          <p:nvPr/>
        </p:nvSpPr>
        <p:spPr>
          <a:xfrm>
            <a:off x="4732141" y="2556972"/>
            <a:ext cx="6025674" cy="935805"/>
          </a:xfrm>
          <a:prstGeom prst="roundRect">
            <a:avLst>
              <a:gd name="adj" fmla="val 6504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4" name="Text 19">
            <a:extLst>
              <a:ext uri="{FF2B5EF4-FFF2-40B4-BE49-F238E27FC236}">
                <a16:creationId xmlns:a16="http://schemas.microsoft.com/office/drawing/2014/main" id="{9DC5C2EC-FE86-87AA-8AD1-BA73B9D76D8A}"/>
              </a:ext>
            </a:extLst>
          </p:cNvPr>
          <p:cNvSpPr/>
          <p:nvPr/>
        </p:nvSpPr>
        <p:spPr>
          <a:xfrm>
            <a:off x="4861480" y="2617838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8A6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기획의도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6" name="Text 20">
            <a:extLst>
              <a:ext uri="{FF2B5EF4-FFF2-40B4-BE49-F238E27FC236}">
                <a16:creationId xmlns:a16="http://schemas.microsoft.com/office/drawing/2014/main" id="{BCDECEF3-E851-E379-7286-C1B29D93AC6E}"/>
              </a:ext>
            </a:extLst>
          </p:cNvPr>
          <p:cNvSpPr/>
          <p:nvPr/>
        </p:nvSpPr>
        <p:spPr>
          <a:xfrm>
            <a:off x="4861480" y="2815650"/>
            <a:ext cx="5744172" cy="547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360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도 방향으로 공격하며 치즈를 활용하여 공격하는 쥐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6D3D5D8-8BB1-5098-5D8A-5B3881E84DCE}"/>
              </a:ext>
            </a:extLst>
          </p:cNvPr>
          <p:cNvGrpSpPr/>
          <p:nvPr/>
        </p:nvGrpSpPr>
        <p:grpSpPr>
          <a:xfrm>
            <a:off x="1133475" y="3637333"/>
            <a:ext cx="9738463" cy="2896817"/>
            <a:chOff x="1133475" y="3637333"/>
            <a:chExt cx="9738463" cy="2404183"/>
          </a:xfrm>
        </p:grpSpPr>
        <p:sp>
          <p:nvSpPr>
            <p:cNvPr id="1098" name="Shape 21">
              <a:extLst>
                <a:ext uri="{FF2B5EF4-FFF2-40B4-BE49-F238E27FC236}">
                  <a16:creationId xmlns:a16="http://schemas.microsoft.com/office/drawing/2014/main" id="{F92536B6-0D1B-A97B-2058-3CBA7D30E905}"/>
                </a:ext>
              </a:extLst>
            </p:cNvPr>
            <p:cNvSpPr/>
            <p:nvPr/>
          </p:nvSpPr>
          <p:spPr>
            <a:xfrm>
              <a:off x="1133475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0" name="Shape 22">
              <a:extLst>
                <a:ext uri="{FF2B5EF4-FFF2-40B4-BE49-F238E27FC236}">
                  <a16:creationId xmlns:a16="http://schemas.microsoft.com/office/drawing/2014/main" id="{08429547-17AC-D887-A939-84EF33C575B3}"/>
                </a:ext>
              </a:extLst>
            </p:cNvPr>
            <p:cNvSpPr/>
            <p:nvPr/>
          </p:nvSpPr>
          <p:spPr>
            <a:xfrm>
              <a:off x="1133475" y="3637333"/>
              <a:ext cx="60865" cy="2404183"/>
            </a:xfrm>
            <a:prstGeom prst="rect">
              <a:avLst/>
            </a:prstGeom>
            <a:solidFill>
              <a:srgbClr val="6F8A6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4" name="Text 23">
              <a:extLst>
                <a:ext uri="{FF2B5EF4-FFF2-40B4-BE49-F238E27FC236}">
                  <a16:creationId xmlns:a16="http://schemas.microsoft.com/office/drawing/2014/main" id="{3F0A8A7F-38F0-DF4C-0CC8-98766580850E}"/>
                </a:ext>
              </a:extLst>
            </p:cNvPr>
            <p:cNvSpPr/>
            <p:nvPr/>
          </p:nvSpPr>
          <p:spPr>
            <a:xfrm>
              <a:off x="1285638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F8A6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패시브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6" name="Text 24">
              <a:extLst>
                <a:ext uri="{FF2B5EF4-FFF2-40B4-BE49-F238E27FC236}">
                  <a16:creationId xmlns:a16="http://schemas.microsoft.com/office/drawing/2014/main" id="{5D40D507-1176-8563-CD4F-129600489D4B}"/>
                </a:ext>
              </a:extLst>
            </p:cNvPr>
            <p:cNvSpPr/>
            <p:nvPr/>
          </p:nvSpPr>
          <p:spPr>
            <a:xfrm>
              <a:off x="1285638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치즈 추가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8" name="Text 25">
              <a:extLst>
                <a:ext uri="{FF2B5EF4-FFF2-40B4-BE49-F238E27FC236}">
                  <a16:creationId xmlns:a16="http://schemas.microsoft.com/office/drawing/2014/main" id="{2E367D38-625E-35A4-88FB-740376BC0674}"/>
                </a:ext>
              </a:extLst>
            </p:cNvPr>
            <p:cNvSpPr/>
            <p:nvPr/>
          </p:nvSpPr>
          <p:spPr>
            <a:xfrm>
              <a:off x="1285638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이 쥐의 액티브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,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필살기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스킬로 적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처치시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치즈획득량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100%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증가 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0" name="Shape 26">
              <a:extLst>
                <a:ext uri="{FF2B5EF4-FFF2-40B4-BE49-F238E27FC236}">
                  <a16:creationId xmlns:a16="http://schemas.microsoft.com/office/drawing/2014/main" id="{B02BC7E8-5969-C867-0637-0764AD693FB4}"/>
                </a:ext>
              </a:extLst>
            </p:cNvPr>
            <p:cNvSpPr/>
            <p:nvPr/>
          </p:nvSpPr>
          <p:spPr>
            <a:xfrm>
              <a:off x="4420206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2" name="Shape 27">
              <a:extLst>
                <a:ext uri="{FF2B5EF4-FFF2-40B4-BE49-F238E27FC236}">
                  <a16:creationId xmlns:a16="http://schemas.microsoft.com/office/drawing/2014/main" id="{4AC79F5D-FDFA-8593-5B80-B309CF9E6D61}"/>
                </a:ext>
              </a:extLst>
            </p:cNvPr>
            <p:cNvSpPr/>
            <p:nvPr/>
          </p:nvSpPr>
          <p:spPr>
            <a:xfrm>
              <a:off x="4420206" y="3637333"/>
              <a:ext cx="60865" cy="2404183"/>
            </a:xfrm>
            <a:prstGeom prst="rect">
              <a:avLst/>
            </a:prstGeom>
            <a:solidFill>
              <a:srgbClr val="3D6BA8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6" name="Text 28">
              <a:extLst>
                <a:ext uri="{FF2B5EF4-FFF2-40B4-BE49-F238E27FC236}">
                  <a16:creationId xmlns:a16="http://schemas.microsoft.com/office/drawing/2014/main" id="{17FD0AD5-9238-C8D3-E159-10CFEC7651F6}"/>
                </a:ext>
              </a:extLst>
            </p:cNvPr>
            <p:cNvSpPr/>
            <p:nvPr/>
          </p:nvSpPr>
          <p:spPr>
            <a:xfrm>
              <a:off x="4572370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3D6BA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액티브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8" name="Text 29">
              <a:extLst>
                <a:ext uri="{FF2B5EF4-FFF2-40B4-BE49-F238E27FC236}">
                  <a16:creationId xmlns:a16="http://schemas.microsoft.com/office/drawing/2014/main" id="{AC76061C-C722-1798-F937-245AAA0E2E49}"/>
                </a:ext>
              </a:extLst>
            </p:cNvPr>
            <p:cNvSpPr/>
            <p:nvPr/>
          </p:nvSpPr>
          <p:spPr>
            <a:xfrm>
              <a:off x="4572370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치즈 분수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0" name="Text 30">
              <a:extLst>
                <a:ext uri="{FF2B5EF4-FFF2-40B4-BE49-F238E27FC236}">
                  <a16:creationId xmlns:a16="http://schemas.microsoft.com/office/drawing/2014/main" id="{46E03D63-97AC-4E8C-58B2-D9C95DB436B7}"/>
                </a:ext>
              </a:extLst>
            </p:cNvPr>
            <p:cNvSpPr/>
            <p:nvPr/>
          </p:nvSpPr>
          <p:spPr>
            <a:xfrm>
              <a:off x="4572370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발동조건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 5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초마다 자동으로 발동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 </a:t>
              </a:r>
            </a:p>
            <a:p>
              <a:pPr marL="0" indent="0">
                <a:buNone/>
              </a:pP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효과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8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방향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(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각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45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도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)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로 일정한 각도로 특정주기 마다 치즈 탄환 발사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2" name="Shape 31">
              <a:extLst>
                <a:ext uri="{FF2B5EF4-FFF2-40B4-BE49-F238E27FC236}">
                  <a16:creationId xmlns:a16="http://schemas.microsoft.com/office/drawing/2014/main" id="{4B40E7D0-CFE6-667F-FB61-96A95A32D5A0}"/>
                </a:ext>
              </a:extLst>
            </p:cNvPr>
            <p:cNvSpPr/>
            <p:nvPr/>
          </p:nvSpPr>
          <p:spPr>
            <a:xfrm>
              <a:off x="7706938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4" name="Shape 32">
              <a:extLst>
                <a:ext uri="{FF2B5EF4-FFF2-40B4-BE49-F238E27FC236}">
                  <a16:creationId xmlns:a16="http://schemas.microsoft.com/office/drawing/2014/main" id="{E2A712AC-7F8B-C624-2A7D-2DEB378FED12}"/>
                </a:ext>
              </a:extLst>
            </p:cNvPr>
            <p:cNvSpPr/>
            <p:nvPr/>
          </p:nvSpPr>
          <p:spPr>
            <a:xfrm>
              <a:off x="7706938" y="3637333"/>
              <a:ext cx="60865" cy="2404183"/>
            </a:xfrm>
            <a:prstGeom prst="rect">
              <a:avLst/>
            </a:prstGeom>
            <a:solidFill>
              <a:srgbClr val="C9745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8" name="Text 33">
              <a:extLst>
                <a:ext uri="{FF2B5EF4-FFF2-40B4-BE49-F238E27FC236}">
                  <a16:creationId xmlns:a16="http://schemas.microsoft.com/office/drawing/2014/main" id="{3A38E8F6-E311-DDE5-29D6-0FA02668B539}"/>
                </a:ext>
              </a:extLst>
            </p:cNvPr>
            <p:cNvSpPr/>
            <p:nvPr/>
          </p:nvSpPr>
          <p:spPr>
            <a:xfrm>
              <a:off x="7859101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C9745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필살기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30" name="Text 34">
              <a:extLst>
                <a:ext uri="{FF2B5EF4-FFF2-40B4-BE49-F238E27FC236}">
                  <a16:creationId xmlns:a16="http://schemas.microsoft.com/office/drawing/2014/main" id="{08EE7A5F-E0C8-9580-FF54-B631B8F4A517}"/>
                </a:ext>
              </a:extLst>
            </p:cNvPr>
            <p:cNvSpPr/>
            <p:nvPr/>
          </p:nvSpPr>
          <p:spPr>
            <a:xfrm>
              <a:off x="7859101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 err="1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회전회오리</a:t>
              </a: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!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32" name="Text 35">
              <a:extLst>
                <a:ext uri="{FF2B5EF4-FFF2-40B4-BE49-F238E27FC236}">
                  <a16:creationId xmlns:a16="http://schemas.microsoft.com/office/drawing/2014/main" id="{82FCB3CD-5910-B048-8E13-5856401900B6}"/>
                </a:ext>
              </a:extLst>
            </p:cNvPr>
            <p:cNvSpPr/>
            <p:nvPr/>
          </p:nvSpPr>
          <p:spPr>
            <a:xfrm>
              <a:off x="7859101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치즈가 팽이처럼 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4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초동안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빙글빙글 회전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0" indent="0">
                <a:buNone/>
              </a:pP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래퍼런스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가렌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E)</a:t>
              </a:r>
            </a:p>
            <a:p>
              <a:pPr marL="0" indent="0">
                <a:buNone/>
              </a:pP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0.4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초 마다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번씩 타격하여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10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번타격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B137901D-1DA4-3D3C-2C4A-6C35C78B7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3754" y="3709912"/>
            <a:ext cx="2145306" cy="1440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C2B7F44-0EFE-A420-9F27-835972B20B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39488" y="3709912"/>
            <a:ext cx="2145306" cy="1440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9F03A7E0-493A-9DDC-4498-BBA3D437CF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52999" y="3709912"/>
            <a:ext cx="2145306" cy="144000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3558C784-5C00-8CD3-899A-242C09CB55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3647" y="1628775"/>
            <a:ext cx="3277424" cy="1843551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58C5144D-1E56-60E6-F7B1-12A7C47A69B6}"/>
              </a:ext>
            </a:extLst>
          </p:cNvPr>
          <p:cNvSpPr txBox="1"/>
          <p:nvPr/>
        </p:nvSpPr>
        <p:spPr>
          <a:xfrm>
            <a:off x="7077075" y="1106924"/>
            <a:ext cx="3642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업적:</a:t>
            </a: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🏆 치즈와 원만히 해결하시길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3582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1466</TotalTime>
  <Words>758</Words>
  <Application>Microsoft Office PowerPoint</Application>
  <PresentationFormat>와이드스크린</PresentationFormat>
  <Paragraphs>192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user</cp:lastModifiedBy>
  <cp:revision>29</cp:revision>
  <dcterms:created xsi:type="dcterms:W3CDTF">2026-09-29T07:46:10Z</dcterms:created>
  <dcterms:modified xsi:type="dcterms:W3CDTF">2026-10-12T05:50:58Z</dcterms:modified>
</cp:coreProperties>
</file>