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7"/>
    <p:sldId id="265" r:id="rId6"/>
    <p:sldId id="266" r:id="rId5"/>
    <p:sldId id="267" r:id="rId4"/>
    <p:sldId id="268" r:id="rId3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4866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소형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FBFBF"/>
              </a:solidFill>
              <a:ln>
                <a:solidFill>
                  <a:srgbClr val="BFBFBF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0.8</c:v>
                </c:pt>
                <c:pt idx="4">
                  <c:v>1.2</c:v>
                </c:pt>
                <c:pt idx="5">
                  <c:v>0.9</c:v>
                </c:pt>
                <c:pt idx="6">
                  <c:v>0.9</c:v>
                </c:pt>
                <c:pt idx="7">
                  <c:v>1</c:v>
                </c:pt>
                <c:pt idx="8">
                  <c:v>1.3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1.1</c:v>
                </c:pt>
                <c:pt idx="2">
                  <c:v>1</c:v>
                </c:pt>
                <c:pt idx="3">
                  <c:v>0.9</c:v>
                </c:pt>
                <c:pt idx="4">
                  <c:v>1.3</c:v>
                </c:pt>
                <c:pt idx="5">
                  <c:v>1.2</c:v>
                </c:pt>
                <c:pt idx="6">
                  <c:v>0.8</c:v>
                </c:pt>
                <c:pt idx="7">
                  <c:v>1</c:v>
                </c:pt>
                <c:pt idx="8">
                  <c:v>1.2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중형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Sheet1!$A$13:$A$19</c:f>
              <c:numCache>
                <c:formatCode>General</c:formatCode>
                <c:ptCount val="7"/>
                <c:pt idx="0">
                  <c:v>1.4</c:v>
                </c:pt>
                <c:pt idx="1">
                  <c:v>2</c:v>
                </c:pt>
                <c:pt idx="2">
                  <c:v>2.2</c:v>
                </c:pt>
                <c:pt idx="3">
                  <c:v>2</c:v>
                </c:pt>
                <c:pt idx="4">
                  <c:v>2</c:v>
                </c:pt>
                <c:pt idx="5">
                  <c:v>2.5</c:v>
                </c:pt>
                <c:pt idx="6">
                  <c:v>2.6</c:v>
                </c:pt>
              </c:numCache>
            </c:numRef>
          </c:xVal>
          <c:yVal>
            <c:numRef>
              <c:f>Sheet1!$B$13:$B$19</c:f>
              <c:numCache>
                <c:formatCode>General</c:formatCode>
                <c:ptCount val="7"/>
                <c:pt idx="0">
                  <c:v>1.4</c:v>
                </c:pt>
                <c:pt idx="1">
                  <c:v>2.4</c:v>
                </c:pt>
                <c:pt idx="2">
                  <c:v>1.8</c:v>
                </c:pt>
                <c:pt idx="3">
                  <c:v>1.8</c:v>
                </c:pt>
                <c:pt idx="4">
                  <c:v>2</c:v>
                </c:pt>
                <c:pt idx="5">
                  <c:v>2.4</c:v>
                </c:pt>
                <c:pt idx="6">
                  <c:v>2.2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</c:f>
              <c:strCache>
                <c:ptCount val="1"/>
                <c:pt idx="0">
                  <c:v>대형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404040"/>
              </a:solidFill>
              <a:ln>
                <a:solidFill>
                  <a:srgbClr val="404040"/>
                </a:solidFill>
              </a:ln>
            </c:spPr>
          </c:marker>
          <c:xVal>
            <c:numRef>
              <c:f>Sheet1!$A$22:$A$29</c:f>
              <c:numCache>
                <c:formatCode>General</c:formatCode>
                <c:ptCount val="8"/>
                <c:pt idx="0">
                  <c:v>3.5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9</c:v>
                </c:pt>
                <c:pt idx="7">
                  <c:v>12</c:v>
                </c:pt>
              </c:numCache>
            </c:numRef>
          </c:xVal>
          <c:yVal>
            <c:numRef>
              <c:f>Sheet1!$B$22:$B$29</c:f>
              <c:numCache>
                <c:formatCode>General</c:formatCode>
                <c:ptCount val="8"/>
                <c:pt idx="0">
                  <c:v>2.8</c:v>
                </c:pt>
                <c:pt idx="1">
                  <c:v>2.6</c:v>
                </c:pt>
                <c:pt idx="2">
                  <c:v>3</c:v>
                </c:pt>
                <c:pt idx="3">
                  <c:v>3.6</c:v>
                </c:pt>
                <c:pt idx="4">
                  <c:v>4</c:v>
                </c:pt>
                <c:pt idx="5">
                  <c:v>4.5</c:v>
                </c:pt>
                <c:pt idx="6">
                  <c:v>7</c:v>
                </c:pt>
                <c:pt idx="7">
                  <c:v>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Sheet1!$B$31</c:f>
              <c:strCache>
                <c:ptCount val="1"/>
                <c:pt idx="0">
                  <c:v>보물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Sheet1!$A$32:$A$39</c:f>
              <c:numCache>
                <c:formatCode>General</c:formatCode>
                <c:ptCount val="8"/>
                <c:pt idx="0">
                  <c:v>6</c:v>
                </c:pt>
                <c:pt idx="1">
                  <c:v>5</c:v>
                </c:pt>
                <c:pt idx="2">
                  <c:v>9</c:v>
                </c:pt>
                <c:pt idx="3">
                  <c:v>14</c:v>
                </c:pt>
                <c:pt idx="4">
                  <c:v>16</c:v>
                </c:pt>
                <c:pt idx="5">
                  <c:v>18</c:v>
                </c:pt>
                <c:pt idx="6">
                  <c:v>20</c:v>
                </c:pt>
                <c:pt idx="7">
                  <c:v>24</c:v>
                </c:pt>
              </c:numCache>
            </c:numRef>
          </c:xVal>
          <c:yVal>
            <c:numRef>
              <c:f>Sheet1!$B$32:$B$39</c:f>
              <c:numCache>
                <c:formatCode>General</c:formatCode>
                <c:ptCount val="8"/>
                <c:pt idx="0">
                  <c:v>8</c:v>
                </c:pt>
                <c:pt idx="1">
                  <c:v>10</c:v>
                </c:pt>
                <c:pt idx="2">
                  <c:v>10</c:v>
                </c:pt>
                <c:pt idx="3">
                  <c:v>14</c:v>
                </c:pt>
                <c:pt idx="4">
                  <c:v>20</c:v>
                </c:pt>
                <c:pt idx="5">
                  <c:v>24</c:v>
                </c:pt>
                <c:pt idx="6">
                  <c:v>26</c:v>
                </c:pt>
                <c:pt idx="7">
                  <c:v>36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Sheet1!$B$41</c:f>
              <c:strCache>
                <c:ptCount val="1"/>
                <c:pt idx="0">
                  <c:v>효율 1 : 1</c:v>
                </c:pt>
              </c:strCache>
            </c:strRef>
          </c:tx>
          <c:spPr>
            <a:ln w="12700">
              <a:solidFill>
                <a:srgbClr val="E97132"/>
              </a:solidFill>
              <a:prstDash val="dash"/>
            </a:ln>
          </c:spPr>
          <c:marker>
            <c:symbol val="none"/>
          </c:marker>
          <c:xVal>
            <c:numRef>
              <c:f>Sheet1!$A$42:$A$43</c:f>
              <c:numCache>
                <c:formatCode>General</c:formatCode>
                <c:ptCount val="2"/>
                <c:pt idx="0">
                  <c:v>0.7</c:v>
                </c:pt>
                <c:pt idx="1">
                  <c:v>30</c:v>
                </c:pt>
              </c:numCache>
            </c:numRef>
          </c:xVal>
          <c:yVal>
            <c:numRef>
              <c:f>Sheet1!$B$42:$B$43</c:f>
              <c:numCache>
                <c:formatCode>General</c:formatCode>
                <c:ptCount val="2"/>
                <c:pt idx="0">
                  <c:v>0.7</c:v>
                </c:pt>
                <c:pt idx="1">
                  <c:v>30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50.0"/>
          <c:min val="0.5"/>
        </c:scaling>
        <c:delete val="0"/>
        <c:axPos val="b"/>
        <c:title>
          <c:tx>
            <c:rich>
              <a:bodyPr/>
              <a:lstStyle/>
              <a:p>
                <a:r>
                  <a:rPr sz="800" b="0" lang="ko-KR" altLang="en-US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</a:rPr>
                  <a:t>체력 배율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Noto Sans KR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logBase val="10"/>
          <c:orientation val="minMax"/>
          <c:max val="50.0"/>
          <c:min val="0.5"/>
        </c:scaling>
        <c:delete val="0"/>
        <c:axPos val="l"/>
        <c:title>
          <c:tx>
            <c:rich>
              <a:bodyPr/>
              <a:lstStyle/>
              <a:p>
                <a:r>
                  <a:rPr sz="800" b="0" lang="ko-KR" altLang="en-US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</a:rPr>
                  <a:t>치즈 배율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  <a:latin typeface="Noto Sans KR"/>
              </a:defRPr>
            </a:pPr>
          </a:p>
        </c:txPr>
        <c:crossAx val="-21289408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치즈 배율 (×1.5)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1.5</c:v>
                </c:pt>
                <c:pt idx="2">
                  <c:v>2.25</c:v>
                </c:pt>
                <c:pt idx="3">
                  <c:v>3.38</c:v>
                </c:pt>
                <c:pt idx="4">
                  <c:v>5.06</c:v>
                </c:pt>
                <c:pt idx="5">
                  <c:v>7.59</c:v>
                </c:pt>
                <c:pt idx="6">
                  <c:v>11.39</c:v>
                </c:pt>
                <c:pt idx="7">
                  <c:v>17.09</c:v>
                </c:pt>
                <c:pt idx="8">
                  <c:v>25.63</c:v>
                </c:pt>
                <c:pt idx="9">
                  <c:v>38.44</c:v>
                </c:pt>
                <c:pt idx="10">
                  <c:v>57.67</c:v>
                </c:pt>
                <c:pt idx="11">
                  <c:v>86.5</c:v>
                </c:pt>
                <c:pt idx="12">
                  <c:v>130</c:v>
                </c:pt>
                <c:pt idx="13">
                  <c:v>195</c:v>
                </c:pt>
                <c:pt idx="14">
                  <c:v>292</c:v>
                </c:pt>
                <c:pt idx="15">
                  <c:v>438</c:v>
                </c:pt>
                <c:pt idx="16">
                  <c:v>657</c:v>
                </c:pt>
                <c:pt idx="17">
                  <c:v>985</c:v>
                </c:pt>
                <c:pt idx="18">
                  <c:v>1480</c:v>
                </c:pt>
                <c:pt idx="19">
                  <c:v>2220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체력 배율 (×1.38)</c:v>
                </c:pt>
              </c:strCache>
            </c:strRef>
          </c:tx>
          <c:spPr>
            <a:ln w="31750">
              <a:solidFill>
                <a:srgbClr val="595959"/>
              </a:solidFill>
            </a:ln>
          </c:spPr>
          <c:marker>
            <c:symbol val="circle"/>
            <c:size val="5"/>
            <c:spPr>
              <a:solidFill>
                <a:srgbClr val="595959"/>
              </a:solidFill>
              <a:ln>
                <a:solidFill>
                  <a:srgbClr val="595959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</c:v>
                </c:pt>
                <c:pt idx="1">
                  <c:v>1.38</c:v>
                </c:pt>
                <c:pt idx="2">
                  <c:v>1.9</c:v>
                </c:pt>
                <c:pt idx="3">
                  <c:v>2.63</c:v>
                </c:pt>
                <c:pt idx="4">
                  <c:v>3.63</c:v>
                </c:pt>
                <c:pt idx="5">
                  <c:v>5</c:v>
                </c:pt>
                <c:pt idx="6">
                  <c:v>6.91</c:v>
                </c:pt>
                <c:pt idx="7">
                  <c:v>9.53</c:v>
                </c:pt>
                <c:pt idx="8">
                  <c:v>13.15</c:v>
                </c:pt>
                <c:pt idx="9">
                  <c:v>18.15</c:v>
                </c:pt>
                <c:pt idx="10">
                  <c:v>25.05</c:v>
                </c:pt>
                <c:pt idx="11">
                  <c:v>34.57</c:v>
                </c:pt>
                <c:pt idx="12">
                  <c:v>47.7</c:v>
                </c:pt>
                <c:pt idx="13">
                  <c:v>65.83</c:v>
                </c:pt>
                <c:pt idx="14">
                  <c:v>90.85</c:v>
                </c:pt>
                <c:pt idx="15">
                  <c:v>125</c:v>
                </c:pt>
                <c:pt idx="16">
                  <c:v>173</c:v>
                </c:pt>
                <c:pt idx="17">
                  <c:v>239</c:v>
                </c:pt>
                <c:pt idx="18">
                  <c:v>329</c:v>
                </c:pt>
                <c:pt idx="19">
                  <c:v>455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</a:rPr>
                  <a:t>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  <c:max val="10000.0"/>
          <c:min val="1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 lang="ko-KR" altLang="en-US">
                    <a:solidFill>
                      <a:srgbClr val="595959"/>
                    </a:solidFill>
                    <a:latin typeface="Noto Sans KR"/>
                    <a:ea typeface="Noto Sans KR"/>
                    <a:cs typeface="Noto Sans KR"/>
                  </a:rPr>
                  <a:t>1층 대비 배율 (로그 눈금)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Noto Sans KR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물건 1개 평균 치즈 배율 (출현 가중치 반영)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스킬 해금 포함</c:v>
                </c:pt>
              </c:strCache>
            </c:strRef>
          </c:tx>
          <c:spPr>
            <a:ln w="28575">
              <a:solidFill>
                <a:srgbClr val="E97132"/>
              </a:solidFill>
            </a:ln>
          </c:spPr>
          <c:marker>
            <c:symbol val="circle"/>
            <c:size val="4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1.64</c:v>
                </c:pt>
                <c:pt idx="1">
                  <c:v>1.51</c:v>
                </c:pt>
                <c:pt idx="2">
                  <c:v>1.91</c:v>
                </c:pt>
                <c:pt idx="3">
                  <c:v>1.9</c:v>
                </c:pt>
                <c:pt idx="4">
                  <c:v>2.23</c:v>
                </c:pt>
                <c:pt idx="5">
                  <c:v>2.31</c:v>
                </c:pt>
                <c:pt idx="6">
                  <c:v>2.31</c:v>
                </c:pt>
                <c:pt idx="7">
                  <c:v>2.5</c:v>
                </c:pt>
                <c:pt idx="8">
                  <c:v>2.6</c:v>
                </c:pt>
                <c:pt idx="9">
                  <c:v>2.97</c:v>
                </c:pt>
                <c:pt idx="10">
                  <c:v>2.97</c:v>
                </c:pt>
                <c:pt idx="11">
                  <c:v>3.19</c:v>
                </c:pt>
                <c:pt idx="12">
                  <c:v>3.47</c:v>
                </c:pt>
                <c:pt idx="13">
                  <c:v>3.57</c:v>
                </c:pt>
                <c:pt idx="14">
                  <c:v>3.57</c:v>
                </c:pt>
                <c:pt idx="15">
                  <c:v>3.88</c:v>
                </c:pt>
                <c:pt idx="16">
                  <c:v>3.88</c:v>
                </c:pt>
                <c:pt idx="17">
                  <c:v>3.88</c:v>
                </c:pt>
                <c:pt idx="18">
                  <c:v>3.88</c:v>
                </c:pt>
                <c:pt idx="19">
                  <c:v>4.25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기본</c:v>
                </c:pt>
              </c:strCache>
            </c:strRef>
          </c:tx>
          <c:spPr>
            <a:ln w="28575">
              <a:solidFill>
                <a:srgbClr val="595959"/>
              </a:solidFill>
            </a:ln>
          </c:spPr>
          <c:marker>
            <c:symbol val="circle"/>
            <c:size val="4"/>
            <c:spPr>
              <a:solidFill>
                <a:srgbClr val="595959"/>
              </a:solidFill>
              <a:ln>
                <a:solidFill>
                  <a:srgbClr val="595959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0.98</c:v>
                </c:pt>
                <c:pt idx="1">
                  <c:v>1.06</c:v>
                </c:pt>
                <c:pt idx="2">
                  <c:v>1.17</c:v>
                </c:pt>
                <c:pt idx="3">
                  <c:v>1.23</c:v>
                </c:pt>
                <c:pt idx="4">
                  <c:v>1.43</c:v>
                </c:pt>
                <c:pt idx="5">
                  <c:v>1.51</c:v>
                </c:pt>
                <c:pt idx="6">
                  <c:v>1.51</c:v>
                </c:pt>
                <c:pt idx="7">
                  <c:v>1.51</c:v>
                </c:pt>
                <c:pt idx="8">
                  <c:v>1.51</c:v>
                </c:pt>
                <c:pt idx="9">
                  <c:v>1.64</c:v>
                </c:pt>
                <c:pt idx="10">
                  <c:v>1.64</c:v>
                </c:pt>
                <c:pt idx="11">
                  <c:v>1.78</c:v>
                </c:pt>
                <c:pt idx="12">
                  <c:v>1.78</c:v>
                </c:pt>
                <c:pt idx="13">
                  <c:v>1.82</c:v>
                </c:pt>
                <c:pt idx="14">
                  <c:v>1.82</c:v>
                </c:pt>
                <c:pt idx="15">
                  <c:v>1.82</c:v>
                </c:pt>
                <c:pt idx="16">
                  <c:v>1.82</c:v>
                </c:pt>
                <c:pt idx="17">
                  <c:v>1.82</c:v>
                </c:pt>
                <c:pt idx="18">
                  <c:v>1.82</c:v>
                </c:pt>
                <c:pt idx="19">
                  <c:v>1.82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Noto Sans K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Noto Sans KR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오브젝트 기획서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/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30000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627632" y="1783080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550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75688"/>
            <a:ext cx="3657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문서 계층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오브젝트 분류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설계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4110228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98221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자원 드랍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7P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402836"/>
            <a:ext cx="36576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기본 단위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물건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가구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사람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연구자료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24728" y="1783080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76" y="16550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가치 배수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12P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075688"/>
            <a:ext cx="365760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층 배율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방 거리 배율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층별 물건 구성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확률 보정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4728" y="3803904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6" y="367588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수치표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16P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096512"/>
            <a:ext cx="365760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물건 (1)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물건 (2)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가구·사람</a:t>
            </a:r>
          </a:p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층별 가치 배수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8" y="5824728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76" y="569671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sz="1600" b="0" lang="ko-KR" altLang="en-US">
                <a:solidFill>
                  <a:srgbClr val="0B0B0B"/>
                </a:solidFill>
                <a:latin typeface="Noto Sans KR Black"/>
                <a:ea typeface="Noto Sans KR Black"/>
                <a:cs typeface="Noto Sans KR Black"/>
              </a:rPr>
              <a:t> – 20P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6117336"/>
            <a:ext cx="36576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검증 지표와 조정 순서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53312" y="1645920"/>
          <a:ext cx="9482328" cy="4773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325880"/>
                <a:gridCol w="1005840"/>
                <a:gridCol w="2011680"/>
                <a:gridCol w="445312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내용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최초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양식 작성, 문서 생성, 목차 작성, 개요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내용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자원 드랍(물건·가구·사람·연구자료), 가치 배수(층·거리·구성·확률), 수치표, 검증 기준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문서 계층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76656" y="1618488"/>
            <a:ext cx="3831336" cy="3474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원페이지 기획서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139696"/>
            <a:ext cx="3831336" cy="3474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컨셉 기획서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96896" y="1965960"/>
            <a:ext cx="0" cy="1737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6656" y="2660904"/>
            <a:ext cx="3831336" cy="3474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메인 기획서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6896" y="2487168"/>
            <a:ext cx="0" cy="1737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76656" y="3182112"/>
            <a:ext cx="3831336" cy="3474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컨텐츠 기획서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96896" y="3008376"/>
            <a:ext cx="0" cy="1737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16152" y="3602736"/>
            <a:ext cx="0" cy="566927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2064" y="4169663"/>
            <a:ext cx="1417320" cy="117043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밸런스</a:t>
            </a:r>
          </a:p>
          <a:p>
            <a:pPr algn="ctr"/>
            <a:r>
              <a:rPr sz="20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9384" y="4754880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57984" y="4069080"/>
            <a:ext cx="0" cy="1362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57984" y="40690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40864" y="3813048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인게임 수치 기획서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15384" y="4069080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26864" y="3813048"/>
            <a:ext cx="475488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인게임에서 사용되는 수치들의 명세를 정리하고,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사용처와 각 수치들간의 상호 관계를 정리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81744" y="40690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57984" y="47548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340864" y="4498848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별 허들 기획서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15384" y="4754880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26864" y="4498848"/>
            <a:ext cx="475488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게임의 총 플레이타임을 약 2시간, 목표 층 수를 20층으로 잡았을 시,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각 층마다 다음 층으로 넘어가기 위한 수치를 얼마로 잡아야 할 지 정리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81744" y="47548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57984" y="54406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340864" y="5184648"/>
            <a:ext cx="1874519" cy="51206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오브젝트 기획서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15384" y="5440680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626864" y="5184648"/>
            <a:ext cx="4754880" cy="512064"/>
          </a:xfrm>
          <a:prstGeom prst="rect">
            <a:avLst/>
          </a:prstGeom>
          <a:noFill/>
          <a:ln w="285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오브젝트별 자원 드랍 양, 층별 오브젝트 가치 배수 등을 정리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81744" y="544068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64624" y="4069080"/>
            <a:ext cx="0" cy="1362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564624" y="4754880"/>
            <a:ext cx="21945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784080" y="4343400"/>
            <a:ext cx="1600200" cy="8229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레벨 디자인</a:t>
            </a:r>
          </a:p>
          <a:p>
            <a:pPr algn="ctr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기획서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584180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55480" y="5349240"/>
            <a:ext cx="2057400" cy="10515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앞선 기획서들에서 기획한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내용에 따라 층 넓이, 층 구조,</a:t>
            </a:r>
          </a:p>
          <a:p>
            <a:pPr algn="ctr"/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오브젝트·벽·보스 배치 기획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1618488"/>
            <a:ext cx="1417320" cy="34747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 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057400"/>
            <a:ext cx="6035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이 문서가 답하는 질문</a:t>
            </a:r>
          </a:p>
          <a:p>
            <a:pPr algn="l" marL="285750" indent="-285750">
              <a:lnSpc>
                <a:spcPct val="110000"/>
              </a:lnSpc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 하나를 부수면 무엇을 얼마나 주는가?</a:t>
            </a:r>
          </a:p>
          <a:p>
            <a:pPr algn="l" marL="285750" indent="-285750">
              <a:lnSpc>
                <a:spcPct val="110000"/>
              </a:lnSpc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층이 오르고 방이 깊어질 때 그 가치는 몇 배가 되는가?</a:t>
            </a:r>
          </a:p>
          <a:p>
            <a:pPr algn="l" marL="285750" indent="-285750">
              <a:lnSpc>
                <a:spcPct val="110000"/>
              </a:lnSpc>
              <a:buFont typeface="Arial"/>
              <a:buChar char="•"/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 값은 왜 그 크기여야 하는가? (층 별 허들 기획서와 연동)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오브젝트 분류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 = 쥐 무리가 부딪히는 모든 것 — 종류마다 '왜 부수는가'가 달라야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2656" y="2240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분류 (종 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8656" y="224028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역할 / 플레이어가 부수는 이유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2560320"/>
            <a:ext cx="1463040" cy="29260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오브젝트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96896" y="4023360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79776" y="2816352"/>
            <a:ext cx="0" cy="23774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79776" y="281635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2560320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물건 (24)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37176" y="281635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248656" y="2560320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수입원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1.2초마다 보충, 방당 24개 상한 · 밀리고 날아가며 연쇄 충돌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9776" y="354787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62656" y="3291839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보물 물건 (8)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54787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248656" y="3291839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투자 보상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공용 스킬로 해금하는 고가치 물건 · 드물게 나오는 '반짝이는 표적'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79776" y="427939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962656" y="4023360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 (12)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37176" y="427939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248656" y="4023360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방의 보너스 상자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테마별 고정 배치 · 단단하고 내용물이 쏟아짐 · 연구자료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79776" y="5010912"/>
            <a:ext cx="1828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62656" y="4754880"/>
            <a:ext cx="1874519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사람 (4)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37176" y="5010912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248656" y="4754880"/>
            <a:ext cx="5852160" cy="51206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움직이는 표적  </a:t>
            </a:r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걷고 기겁해 도망침 · 맞히기 어려운 만큼 치즈 효율이 높음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571500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고양이·쥐덫·보스는 쥐를 방해하는 '위험 요소'로, 층 별 허들 기획서에서 다룸 (고양이·보스도 치즈를 주지만 가치 기준은 이 문서의 단위를 따름)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설계 원칙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627632"/>
            <a:ext cx="4846320" cy="21762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131673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효율은 1 :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물건은 체력 1당 치즈 약 1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“크고 단단한 것 = 많이 준다”를 설명 없이 알게 함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모든 배율은 이 기준에서 얼마나 벗어나는지로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627632"/>
            <a:ext cx="4846320" cy="21762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39165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층이 오를수록 효율이 오른다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체력은 층마다 ×1.38, 치즈는 ×1.5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20층에서 체력 대비 치즈 효율 약 4.9배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낮은 층 반복보다 한 층 더 오르는 것이 언제나 이득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4023360"/>
            <a:ext cx="4846320" cy="21762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31673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효율 차이는 '대가'로 정당화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사람은 움직이고, 보물은 드물고, 가구는 단단함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대가 없는 고효율 오브젝트는 만들지 않음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어떤 오브젝트도 '정답'이 되지 않게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4023360"/>
            <a:ext cx="4846320" cy="2176272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639165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안에서도 깊이 갈수록 커진다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시작 방에서 멀수록 체력·치즈 모두 증가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계단 쪽으로 나아갈 이유를 오브젝트가 만들어 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단, 치즈는 체력보다 완만하게 (콤보·마릿수가 이미 키움)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자원 드랍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기본 단위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1층 플라스크 = 체력 12 · 치즈 3 — 모든 오브젝트 수치의 '기준 1'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331720"/>
            <a:ext cx="2011680" cy="9144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일반 쥐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공격력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788920"/>
            <a:ext cx="45720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49039" y="2331720"/>
            <a:ext cx="2011680" cy="9144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플라스크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2788920"/>
            <a:ext cx="45720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09359" y="2331720"/>
            <a:ext cx="2011680" cy="9144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두 번째 충돌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파괴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6759" y="2788920"/>
            <a:ext cx="45720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869680" y="2331720"/>
            <a:ext cx="2011680" cy="9144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치즈 3</a:t>
            </a:r>
          </a:p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획득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566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12 — 두 번에 부서지게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904487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한 번에 부서지면 '종이'처럼 가볍고, 세 번 이상이면 초반이 답답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충돌에 밀려 날아가고 두 번째에 부서짐 → 날아간 물건이 다른 물건과 부딪히는 연쇄·콤보의 출발점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566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3 — 첫 구매 시점으로 역산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904487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숫자 크기보다 '언제 첫 노드를 사는가'로 정함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1층 첫 노드 58치즈 = 물건 약 20개 = 방 하나(상한 24개)를 휩쓰는 양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첫 판에서 바로 첫 구매를 경험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35661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배율 두 칸으로 표현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3904487"/>
            <a:ext cx="3246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모든 오브젝트를 '체력 배율 · 치즈 배율' 두 숫자로만 정의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배율·방 거리 배율은 공통으로 곱함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개별 조정은 그 오브젝트 칸 하나에서 끝나고, 전체 조정은 공통 배율에서 끝남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5257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실제 값은 네 가지의 곱 — 칸마다 정하는 장이 다르다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3856" y="5532120"/>
            <a:ext cx="2103120" cy="7315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 1</a:t>
            </a:r>
          </a:p>
          <a:p>
            <a:pPr algn="ctr"/>
            <a:r>
              <a:rPr sz="10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체력 12 · 치즈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5623560"/>
            <a:ext cx="438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7" y="5532120"/>
            <a:ext cx="2103120" cy="7315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오브젝트 배율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무엇을 부수는가 (자원 드랍)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7" y="5623560"/>
            <a:ext cx="438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532120"/>
            <a:ext cx="2103120" cy="7315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배율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몇 층인가 (가치 배수)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623560"/>
            <a:ext cx="438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59952" y="5532120"/>
            <a:ext cx="2103120" cy="7315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거리 배율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얼마나 깊이 갔나 (가치 배수)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자원 드랍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물건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크기가 커질수록 효율은 살짝 낮추고 출현을 줄인다 — 보물만 예외로 효율을 높이되 가장 드물게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40280"/>
          <a:ext cx="996696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3566160"/>
                <a:gridCol w="1234440"/>
                <a:gridCol w="1234440"/>
                <a:gridCol w="128016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출현 가중치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 (9)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플라스크·비커·주사기·머그컵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0.8~1.3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0.8~1.3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0.89~1.33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 (7)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시험관 꽂이·구급상자·현미경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1.4~2.6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1.4~2.4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0.82~1.2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 (8)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케이지·모니터·서버 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3~12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2.6~9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0.75~1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0.35~1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 (8)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금고·금괴 상자·다이아몬드 치즈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5~24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8~36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0.25~0.5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83879" y="4160520"/>
          <a:ext cx="310896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3856" y="4206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소형·중형 ≈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526280"/>
            <a:ext cx="2286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기준 그대로 — 방을 채우는 기본 수입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가중치 1로 가장 흔하게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4206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대형 0.75~1 (낮춤)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4526280"/>
            <a:ext cx="2286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오래 맞는 동안 콤보 유지 + 주변 물건과 연쇄 충돌 → 실제 수입은 기준과 비슷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방의 '목표물' — 가중치 0.35~0.6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8736" y="4206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보물 1~2 (높임)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4526280"/>
            <a:ext cx="2286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스킬로 해금한 '투자 보상'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가중치 0.25~0.5로 총량 통제 → 한 방에 1~2개 보이는 표적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자원 드랍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가구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 = 방마다 한 번뿐인 보너스 상자 — 단단하고 효율은 낮지만, 내용물·연구자료로 돌려준다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40280"/>
          <a:ext cx="5623560" cy="42199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640080"/>
                <a:gridCol w="640080"/>
                <a:gridCol w="685800"/>
                <a:gridCol w="2377440"/>
              </a:tblGrid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쏟아지는 물건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플라스크, 비커, 약병, 삼각 플라스크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간이침대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탁자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의자(가구)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사물함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서류함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냉장고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표본 병, 페트리 접시, 시험관 꽂이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자판기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머그컵, 머그컵, 약병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86600" y="22402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6~28 (물건의 6~28배)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542032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방마다 고정된 '큰 표적' → 쥐 무리가 몰려들어 화면이 붐비는 지점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108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효율 0.65~0.79 (낮춤)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410712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대신 ① 내용물이 쏟아짐 (주황 행)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② 연구자료 12% 확률 (1~3개)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③ 재생성 없음 → 한 번뿐인 보상이라 아깝지 않게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4434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출현 가중치 0 — 배치표로만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4736592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무작위 생성 없이 방 테마(실험실·사무실·휴게실·숙직실·창고)별 배치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방의 성격은 레벨 디자인이 정함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54864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자판기 28 / 22 = 최대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5788152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휴게실의 잭팟 — 머그컵·약병을 쏟아냄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자원 드랍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사람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사람 = 움직이는 고가치 표적 — 맞히기 어려운 만큼 치즈 효율을 약 2배로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235915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7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연구원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834640"/>
            <a:ext cx="2359152" cy="13258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3  ·  치즈 6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효율 2.00</a:t>
            </a:r>
          </a:p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속도 ×1  ·  1층부터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75887" y="2286000"/>
            <a:ext cx="235915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7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청소부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834640"/>
            <a:ext cx="2359152" cy="13258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3.5  ·  치즈 6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효율 1.71</a:t>
            </a:r>
          </a:p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속도 ×0.9  ·  1층부터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235915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7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경비원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834640"/>
            <a:ext cx="2359152" cy="13258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5  ·  치즈 9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효율 1.80</a:t>
            </a:r>
          </a:p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속도 ×1.1  ·  3층부터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59952" y="2286000"/>
            <a:ext cx="235915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7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요리사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9952" y="2834640"/>
            <a:ext cx="2359152" cy="132588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4  ·  치즈 8</a:t>
            </a:r>
          </a:p>
          <a:p>
            <a:pPr algn="ctr"/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효율 2.00</a:t>
            </a:r>
          </a:p>
          <a:p>
            <a:pPr algn="ct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속도 ×0.95  ·  2층부터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4348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효율 약 2배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475488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걷고, 쥐를 보면 도망침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명중이 물건보다 훨씬 어려움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쫓아갈 가치를 보장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44348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3~5 (물건의 3~5배)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475488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박치기 한 번에 끝나지 않게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날아가고 철퍼덕하는 연출이 보일 시간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348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경비원은 3층부터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75488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가장 단단하고 가장 빠름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판(1~2층)에는 없음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성장 뒤 만나는 강적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44348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노드 분리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4754880"/>
            <a:ext cx="2377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생명체 치즈 % 노드를 물건 치즈 %와 분리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사냥형·파괴형 분기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자원 드랍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연구자료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연구자료의 주 수입은 '층 돌파' — 오브젝트 드랍은 초반을 받쳐 주는 보조 수입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5577840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77240"/>
                <a:gridCol w="777240"/>
                <a:gridCol w="1508760"/>
                <a:gridCol w="1280160"/>
                <a:gridCol w="1234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 드랍 기대값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돌파 보상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오브젝트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4.3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42%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4.3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5.8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8.6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11.5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13.0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13.0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1% 미만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14.4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20,954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1% 미만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58064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가구 드랍 기대값 = 방 수 × 방당 가구 약 6개 × 12% × 평균 2개 · 층 돌파 보상은 보스 층 ×3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물건 드랍(1.2% · 1개)은 파괴 수에 따라 달라 표에서 제외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2402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돌파 ×1.45 / 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542032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훈장 1구간 ≈ 3층 → 1.45³ ≈ ×3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훈장 승급 비용 증가폭(단계당 ×2.2~4)과 맞춤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다음 체크포인트까지 가면 모이는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6118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42%, 후반 1% 미만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913632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1층은 오브젝트가 42% → 첫 승급(연구자료 10)이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1~2판의 파괴만으로도 가능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후반엔 파밍만으로 훈장을 못 올림 = 진행 압박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9834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 12% vs 물건 1.2%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5285232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 1개 = 물건 약 15~20개 분량의 체력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확률 10배·양 최대 3배로 '가구를 부술 이유'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가치 배수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층 배율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×1.38 / 층, 치즈 ×1.5 / 층 — 손맛은 그대로, 효율은 오를수록 좋아진다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1206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5508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×1.38 = 목표 찍찍과 같은 비율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5146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전투력이면 물건을 부수는 충돌 수가 모든 층에서 같음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'두 번에 부서지는' 손맛이 20층까지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29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×1.5 &gt; ×1.38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49039"/>
            <a:ext cx="4754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층마다 효율 +8.7% → 20층은 1층의 약 4.9배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낮은 층 반복 파밍보다 한 층 더 오르는 것이 언제나 이득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로그라이크의 '한 층만 더' 동기를 수입이 받쳐 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983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스킬 비용과의 맞물림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303520"/>
            <a:ext cx="4754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훈장 트리 노드 비용은 훈장마다 약 ×12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훈장 1구간(약 3층)에 치즈 ×3.4 · 방 수 · 물건 구성 · 치즈 % 노드가 겹쳐 판당 수입 약 ×4~5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트리 1개 ≈ 판 3~5번 (목표)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가치 배수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방 거리 배율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시작 방에서 멀어질수록 체력은 방당 +13.7%, 치즈는 +6.1% — 층 안의 작은 난이도 곡선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286000"/>
            <a:ext cx="1508760" cy="10058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시작 방</a:t>
            </a:r>
          </a:p>
          <a:p>
            <a:pPr algn="ctr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×1.00</a:t>
            </a:r>
          </a:p>
          <a:p>
            <a:pPr algn="ctr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×1.00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78892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63240" y="2286000"/>
            <a:ext cx="1508760" cy="10058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1칸</a:t>
            </a:r>
          </a:p>
          <a:p>
            <a:pPr algn="ctr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×1.14</a:t>
            </a:r>
          </a:p>
          <a:p>
            <a:pPr algn="ctr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×1.06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78892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37760" y="2286000"/>
            <a:ext cx="1508760" cy="100584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2칸</a:t>
            </a:r>
          </a:p>
          <a:p>
            <a:pPr algn="ctr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×1.29</a:t>
            </a:r>
          </a:p>
          <a:p>
            <a:pPr algn="ctr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×1.12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92240" y="278892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12280" y="2514600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286000"/>
            <a:ext cx="2423160" cy="100584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6칸 (계단 쪽)</a:t>
            </a:r>
          </a:p>
          <a:p>
            <a:pPr algn="ctr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 ×2.16</a:t>
            </a:r>
          </a:p>
          <a:p>
            <a:pPr algn="ctr"/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 ×1.42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188720" y="3611880"/>
          <a:ext cx="7178040" cy="987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×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×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133856" y="4800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체력을 빠르게 (+13.7%)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512064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먼 방에는 번식으로 커진 무리가 도착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같은 '충돌 수'를 유지하려면 체력도 같이 커져야 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4800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치즈는 완만하게 (+6.1%)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512064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먼 방에선 콤보(최대 ×2)·마릿수가 이미 수입을 키움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가치까지 같이 키우면 층 안에서 수입이 폭증 → 층 배율 설계가 무너짐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4800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그래도 절대값은 커진다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512064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물건 하나가 주는 치즈 숫자가 눈에 띄게 커짐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→ 계단 쪽으로 나아갈 동기를 오브젝트가 만들어 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가치 배수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층별 물건 구성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층이 오르면 새 물건이 등장하고 싼 물건은 퇴장 — 구성 자체가 '숨은 층 배수'가 된다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40280"/>
          <a:ext cx="621792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"/>
                <a:gridCol w="2743200"/>
                <a:gridCol w="2103120"/>
                <a:gridCol w="96012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 등장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스킬 해금 시 등장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사라짐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플라스크·비커·페트리 접시·주사기·클립보드·머그컵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표본 병·치즈 금고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삼각 플라스크·약병·보안경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시험관 꽂이·구급상자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현미경·황금 치즈 트로피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소화기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케이지·의자·의료 폐기물통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원심분리기·실험용 로봇 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가스통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냉동 수면 캡슐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드럼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모니터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 치즈 바퀴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클립보드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 카트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페트리 접시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금괴 상자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보안경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코어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다이아몬드 치즈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086600" y="2148840"/>
          <a:ext cx="420624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86600" y="4754880"/>
            <a:ext cx="4160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기본 구성만으로 1층 0.98 → 20층 1.82 (×1.9)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스킬 해금 시 → 20층 4.25 (×4.3) — 로비 투자가 '방의 질'로 보임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1~6층은 매 층 새 물건 → 새 층의 시각적 보상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고가치 물건은 '스킬 해금 + 등장 층' 둘 다 필요 → 투자와 진행 모두 보상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가치 배수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확률 보정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5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확률 보정은 '기대값은 작게, 순간의 쾌감은 크게' — 기본 가치 설계를 흔들지 않는 범위에서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1737360" cy="11887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3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× 5</a:t>
            </a:r>
          </a:p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황금 물건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1215" y="2286000"/>
            <a:ext cx="3108960" cy="11887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확률 3% (4훈장) + 4% (5훈장)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= 최대 7% · 체력 그대로 · 가구 제외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기대값: 7% × (5−1) = 치즈 +28% → 치즈 % 노드 1~2개와 같은 크기, 대신 '터지는 순간'의 쾌감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체력은 그대로 — 황금이 더 단단하면 '좋은 일'이 '귀찮은 일'이 됨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가구는 제외 — 이미 큰 보너스 상자라 겹치면 잭팟이 과해짐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286000"/>
            <a:ext cx="1737360" cy="11887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3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× 2.0</a:t>
            </a:r>
          </a:p>
          <a:p>
            <a:pPr algn="ctr"/>
            <a:r>
              <a:rPr sz="13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콤보 배수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2286000"/>
            <a:ext cx="3108960" cy="11887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충돌 1회 +0.5% · 최대 200콤보</a:t>
            </a:r>
          </a:p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= 최대 ×2.0 · 유지 1.6초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361188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쥐가 많을수록 콤보 유지가 쉬움 → 번식·마릿수 투자가 치즈로도 돌아옴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상한 ×2 — 콤보가 수입을 지배하면 오브젝트별 가치 설계가 의미를 잃음</a:t>
            </a:r>
          </a:p>
          <a:p>
            <a:pPr algn="l" marL="285750" indent="-28575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유지 1.6초 — 무리가 일하고 있으면 끊기지 않는 길이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983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치즈를 키우는 요소의 위계 — 확률 보정은 가장 아래에 둔다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133856" y="5303520"/>
          <a:ext cx="9966960" cy="1097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194560"/>
                <a:gridCol w="2011680"/>
                <a:gridCol w="393192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효과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효율 ×4.9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진행 보상 (확정)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가장 큼 — 오르는 것이 최고의 파밍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구성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×1.9 · 해금 ×4.3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진행 + 투자 보상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투자가 방의 질로 보임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콤보 / 황금 물건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×2.0 / 기대값 +28%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 · 운 보상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순간의 쾌감, 총량은 작게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수치표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물건 (1)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72768"/>
          <a:ext cx="10287000" cy="47411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737360"/>
                <a:gridCol w="960120"/>
                <a:gridCol w="960120"/>
                <a:gridCol w="777240"/>
                <a:gridCol w="1051560"/>
                <a:gridCol w="868680"/>
                <a:gridCol w="1051560"/>
                <a:gridCol w="2194560"/>
              </a:tblGrid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출현 가중치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사라지는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 조건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페트리 접시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주사기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클립보드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머그컵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삼각 플라스크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보안경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표본 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시험관 꽂이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구급상자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현미경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소화기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의료 폐기물통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38251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효율 = 치즈 배율 ÷ 체력 배율 · 실제 체력 = 12 × 층 체력 배율 × 이 값 × 거리 배율 · 실제 치즈 = 3 × 층 치즈 배율 × 이 값 × 거리 배율 · 주황 행 = 보물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수치표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물건 (2)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72768"/>
          <a:ext cx="10287000" cy="47411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737360"/>
                <a:gridCol w="960120"/>
                <a:gridCol w="960120"/>
                <a:gridCol w="777240"/>
                <a:gridCol w="1051560"/>
                <a:gridCol w="868680"/>
                <a:gridCol w="1051560"/>
                <a:gridCol w="2194560"/>
              </a:tblGrid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출현 가중치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등장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사라지는 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해금 조건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케이지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원심분리기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가스통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약품 드럼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모니터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 카트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랙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금고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치즈 트로피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실험용 로봇 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냉동 수면 캡슐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거대 치즈 바퀴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금괴 상자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 코어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다이아몬드 치즈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공용 스킬 '신규 물건'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38251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효율 = 치즈 배율 ÷ 체력 배율 · 실제 체력 = 12 × 층 체력 배율 × 이 값 × 거리 배율 · 실제 치즈 = 3 × 층 치즈 배율 × 이 값 × 거리 배율 · 주황 행 = 보물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수치표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가구·사람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572768"/>
          <a:ext cx="9966960" cy="47411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77240"/>
                <a:gridCol w="1463040"/>
                <a:gridCol w="1051560"/>
                <a:gridCol w="1051560"/>
                <a:gridCol w="822960"/>
                <a:gridCol w="4800600"/>
              </a:tblGrid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체력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쏟아짐: 플라스크, 비커, 약병, 삼각 플라스크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간이침대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탁자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의자(가구)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2.5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사물함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서류함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냉장고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쏟아짐: 표본 병, 페트리 접시, 시험관 꽂이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자판기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쏟아짐: 머그컵, 머그컵, 약병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0.67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무게 2.5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속도 ×1 · 1층부터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청소부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속도 ×0.9 · 1층부터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속도 ×1.1 · 3층부터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요리사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속도 ×0.95 · 2층부터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수치표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층별 가치 배수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08760"/>
          <a:ext cx="10972800" cy="47045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1188720"/>
                <a:gridCol w="1005840"/>
                <a:gridCol w="914400"/>
                <a:gridCol w="1097280"/>
                <a:gridCol w="1097280"/>
                <a:gridCol w="685800"/>
                <a:gridCol w="2331720"/>
                <a:gridCol w="2194560"/>
              </a:tblGrid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체력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배율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효율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 체력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플라스크 치즈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출현 물건 종류 (기본 / 해금 포함)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물건 평균 치즈 배율 (기본 / 해금)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 / 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0.98 / 1.64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 / 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1.06 / 1.51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2.25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6.75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 / 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1.17 / 1.91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2.63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3.38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 / 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1.23 / 1.90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3.63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5.06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1.39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1.43 / 2.23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7.59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1.51 / 2.31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6.91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82.9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1.51 / 2.31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9.53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51.3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1.51 / 2.50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1.95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76.9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1.51 / 2.60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38.4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1.64 / 2.97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57.7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1.64 / 2.97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86.5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1.78 / 3.19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47.7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2.73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572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 / 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1.78 / 3.47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2.96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3.57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90.8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3.21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1,090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876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3.57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438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1,500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1,314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3.88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657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2,076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1,971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3.88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985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4.12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2,868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2,955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3.88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1,480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4.50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3,948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4,440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3.88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2,220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4.88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5,460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6,660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 / 29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1.82 / 4.25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26364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보스 층 · 플라스크 = 시작 방 기준 실제 값 (체력 12 · 치즈 3 × 층 배율) · 치즈 효율 = 치즈 배율 ÷ 체력 배율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검증 지표와 조정 순서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45920"/>
          <a:ext cx="653796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23160"/>
                <a:gridCol w="1508760"/>
                <a:gridCol w="26060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지표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전투력으로 물건 파괴 충돌 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평균 2~3회 (모든 층)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'두 번에 부서지는' 손맛 유지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트리 1개 비용 ÷ 판당 치즈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3~5판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 사이 로비 성장의 재원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치즈 수입 중 사람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15~25%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보조지만 무시되지 않는 크기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연구자료 중 오브젝트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 30~40%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승급을 파괴만으로도 가능하게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황금 물건 체감 빈도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하나에 1개 안팎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희소하지만 매 층 한 번은 보이게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600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어긋났을 때 조정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2011680"/>
            <a:ext cx="3429000" cy="65836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① 개별 오브젝트 배율</a:t>
            </a:r>
          </a:p>
          <a:p>
            <a:pPr algn="ctr"/>
            <a:r>
              <a:rPr sz="11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특정 물건만 튀면 그 칸만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436608" y="2670048"/>
            <a:ext cx="0" cy="256032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26679" y="2926080"/>
            <a:ext cx="3429000" cy="658368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② 층 배율 (치즈 ×1.5)</a:t>
            </a:r>
          </a:p>
          <a:p>
            <a:pPr algn="ct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층이 오를수록 수입이 어긋날 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36608" y="3584448"/>
            <a:ext cx="0" cy="256032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726679" y="3840480"/>
            <a:ext cx="3429000" cy="658368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③ 기본 단위 (12 · 3)</a:t>
            </a:r>
          </a:p>
          <a:p>
            <a:pPr algn="ctr"/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모든 수치에 곱해짐 — 최후 수단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75488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영향 범위가 작은 것부터 — 기본 단위는 허들 기획서의 '두 번 충돌' 기준까지 흔듦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84632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알려진 위험 요소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5166360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보물 해금이 몰리면 방 평균 가치가 ×4 이상으로 올라 치즈 % 노드와 겹쳐 과잉 가능 → 노드 비용과 함께 측정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대형 물건 효율(0.75~1)은 '연쇄 충돌로 비슷해진다'는 가정 — 실제 측정으로 확인 필요</a:t>
            </a:r>
          </a:p>
          <a:p>
            <a:pPr algn="l" marL="285750" indent="-28575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연구자료는 층 돌파가 압도 — 층 별 허들 기획서의 훈장 비용 재검토와 함께 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1434</Words>
  <Application>Microsoft Office PowerPoint</Application>
  <PresentationFormat>와이드스크린</PresentationFormat>
  <Paragraphs>290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anthropic-sans</vt:lpstr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22</cp:revision>
  <dcterms:created xsi:type="dcterms:W3CDTF">2026-09-29T07:46:10Z</dcterms:created>
  <dcterms:modified xsi:type="dcterms:W3CDTF">2026-10-05T12:01:17Z</dcterms:modified>
</cp:coreProperties>
</file>