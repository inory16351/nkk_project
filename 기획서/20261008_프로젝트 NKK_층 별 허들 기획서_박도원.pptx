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7"/>
    <p:sldId id="265" r:id="rId6"/>
    <p:sldId id="266" r:id="rId5"/>
    <p:sldId id="267" r:id="rId4"/>
    <p:sldId id="268" r:id="rId3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4866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새 층 돌파</c:v>
                </c:pt>
              </c:strCache>
            </c:strRef>
          </c:tx>
          <c:spPr>
            <a:solidFill>
              <a:srgbClr val="E97132"/>
            </a:solidFill>
          </c:spPr>
          <c:dLbls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초반</c:v>
                </c:pt>
                <c:pt idx="1">
                  <c:v>중반</c:v>
                </c:pt>
                <c:pt idx="2">
                  <c:v>후반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24.6</c:v>
                </c:pt>
                <c:pt idx="2">
                  <c:v>13.8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실패한 층</c:v>
                </c:pt>
              </c:strCache>
            </c:strRef>
          </c:tx>
          <c:spPr>
            <a:solidFill>
              <a:srgbClr val="8C8C8C"/>
            </a:solidFill>
          </c:spPr>
          <c:dLbls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초반</c:v>
                </c:pt>
                <c:pt idx="1">
                  <c:v>중반</c:v>
                </c:pt>
                <c:pt idx="2">
                  <c:v>후반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3.5</c:v>
                </c:pt>
                <c:pt idx="1">
                  <c:v>16.0</c:v>
                </c:pt>
                <c:pt idx="2">
                  <c:v>16.0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새 층 1개를 여는 데 드는 인게임 시간 (분)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새 층 1개당 인게임 시간 (분)</c:v>
                </c:pt>
              </c:strCache>
            </c:strRef>
          </c:tx>
          <c:spPr>
            <a:solidFill>
              <a:srgbClr val="E97132"/>
            </a:solidFill>
          </c:spPr>
          <c:dLbls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초반</c:v>
                </c:pt>
                <c:pt idx="1">
                  <c:v>중반</c:v>
                </c:pt>
                <c:pt idx="2">
                  <c:v>후반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4.1</c:v>
                </c:pt>
                <c:pt idx="2">
                  <c:v>6.0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× 1.38 (채택)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400</c:v>
                </c:pt>
                <c:pt idx="1">
                  <c:v>552</c:v>
                </c:pt>
                <c:pt idx="2">
                  <c:v>762</c:v>
                </c:pt>
                <c:pt idx="3">
                  <c:v>1050</c:v>
                </c:pt>
                <c:pt idx="4">
                  <c:v>1450</c:v>
                </c:pt>
                <c:pt idx="5">
                  <c:v>2000</c:v>
                </c:pt>
                <c:pt idx="6">
                  <c:v>2760</c:v>
                </c:pt>
                <c:pt idx="7">
                  <c:v>3810</c:v>
                </c:pt>
                <c:pt idx="8">
                  <c:v>5260</c:v>
                </c:pt>
                <c:pt idx="9">
                  <c:v>7260</c:v>
                </c:pt>
                <c:pt idx="10">
                  <c:v>10000</c:v>
                </c:pt>
                <c:pt idx="11">
                  <c:v>13800</c:v>
                </c:pt>
                <c:pt idx="12">
                  <c:v>19100</c:v>
                </c:pt>
                <c:pt idx="13">
                  <c:v>26300</c:v>
                </c:pt>
                <c:pt idx="14">
                  <c:v>36300</c:v>
                </c:pt>
                <c:pt idx="15">
                  <c:v>50100</c:v>
                </c:pt>
                <c:pt idx="16">
                  <c:v>69200</c:v>
                </c:pt>
                <c:pt idx="17">
                  <c:v>95500</c:v>
                </c:pt>
                <c:pt idx="18">
                  <c:v>132000</c:v>
                </c:pt>
                <c:pt idx="19">
                  <c:v>182000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× 1.30</c:v>
                </c:pt>
              </c:strCache>
            </c:strRef>
          </c:tx>
          <c:spPr>
            <a:ln w="19050">
              <a:solidFill>
                <a:srgbClr val="A6A6A6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400</c:v>
                </c:pt>
                <c:pt idx="1">
                  <c:v>520</c:v>
                </c:pt>
                <c:pt idx="2">
                  <c:v>676</c:v>
                </c:pt>
                <c:pt idx="3">
                  <c:v>879</c:v>
                </c:pt>
                <c:pt idx="4">
                  <c:v>1142</c:v>
                </c:pt>
                <c:pt idx="5">
                  <c:v>1485</c:v>
                </c:pt>
                <c:pt idx="6">
                  <c:v>1931</c:v>
                </c:pt>
                <c:pt idx="7">
                  <c:v>2510</c:v>
                </c:pt>
                <c:pt idx="8">
                  <c:v>3263</c:v>
                </c:pt>
                <c:pt idx="9">
                  <c:v>4242</c:v>
                </c:pt>
                <c:pt idx="10">
                  <c:v>5514</c:v>
                </c:pt>
                <c:pt idx="11">
                  <c:v>7169</c:v>
                </c:pt>
                <c:pt idx="12">
                  <c:v>9319</c:v>
                </c:pt>
                <c:pt idx="13">
                  <c:v>12115</c:v>
                </c:pt>
                <c:pt idx="14">
                  <c:v>15750</c:v>
                </c:pt>
                <c:pt idx="15">
                  <c:v>20474</c:v>
                </c:pt>
                <c:pt idx="16">
                  <c:v>26617</c:v>
                </c:pt>
                <c:pt idx="17">
                  <c:v>34602</c:v>
                </c:pt>
                <c:pt idx="18">
                  <c:v>44982</c:v>
                </c:pt>
                <c:pt idx="19">
                  <c:v>58477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× 1.50</c:v>
                </c:pt>
              </c:strCache>
            </c:strRef>
          </c:tx>
          <c:spPr>
            <a:ln w="19050">
              <a:solidFill>
                <a:srgbClr val="404040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400</c:v>
                </c:pt>
                <c:pt idx="1">
                  <c:v>600</c:v>
                </c:pt>
                <c:pt idx="2">
                  <c:v>900</c:v>
                </c:pt>
                <c:pt idx="3">
                  <c:v>1350</c:v>
                </c:pt>
                <c:pt idx="4">
                  <c:v>2025</c:v>
                </c:pt>
                <c:pt idx="5">
                  <c:v>3038</c:v>
                </c:pt>
                <c:pt idx="6">
                  <c:v>4556</c:v>
                </c:pt>
                <c:pt idx="7">
                  <c:v>6834</c:v>
                </c:pt>
                <c:pt idx="8">
                  <c:v>10252</c:v>
                </c:pt>
                <c:pt idx="9">
                  <c:v>15377</c:v>
                </c:pt>
                <c:pt idx="10">
                  <c:v>23066</c:v>
                </c:pt>
                <c:pt idx="11">
                  <c:v>34599</c:v>
                </c:pt>
                <c:pt idx="12">
                  <c:v>51899</c:v>
                </c:pt>
                <c:pt idx="13">
                  <c:v>77848</c:v>
                </c:pt>
                <c:pt idx="14">
                  <c:v>116772</c:v>
                </c:pt>
                <c:pt idx="15">
                  <c:v>175158</c:v>
                </c:pt>
                <c:pt idx="16">
                  <c:v>262736</c:v>
                </c:pt>
                <c:pt idx="17">
                  <c:v>394105</c:v>
                </c:pt>
                <c:pt idx="18">
                  <c:v>591157</c:v>
                </c:pt>
                <c:pt idx="19">
                  <c:v>886735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000.0"/>
          <c:min val="10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</a:rPr>
                  <a:t>목표 찍찍 (로그 눈금)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훈장 보상</c:v>
                </c:pt>
              </c:strCache>
            </c:strRef>
          </c:tx>
          <c:spPr>
            <a:solidFill>
              <a:srgbClr val="F2F2F2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2→4층</c:v>
                </c:pt>
                <c:pt idx="1">
                  <c:v>4→7층</c:v>
                </c:pt>
                <c:pt idx="2">
                  <c:v>7→10층</c:v>
                </c:pt>
                <c:pt idx="3">
                  <c:v>10→13층</c:v>
                </c:pt>
                <c:pt idx="4">
                  <c:v>13→16층</c:v>
                </c:pt>
                <c:pt idx="5">
                  <c:v>16→20층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</c:v>
                </c:pt>
                <c:pt idx="1">
                  <c:v>61</c:v>
                </c:pt>
                <c:pt idx="2">
                  <c:v>58</c:v>
                </c:pt>
                <c:pt idx="3">
                  <c:v>48</c:v>
                </c:pt>
                <c:pt idx="4">
                  <c:v>38</c:v>
                </c:pt>
                <c:pt idx="5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로비 성장</c:v>
                </c:pt>
              </c:strCache>
            </c:strRef>
          </c:tx>
          <c:spPr>
            <a:solidFill>
              <a:srgbClr val="E97132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2→4층</c:v>
                </c:pt>
                <c:pt idx="1">
                  <c:v>4→7층</c:v>
                </c:pt>
                <c:pt idx="2">
                  <c:v>7→10층</c:v>
                </c:pt>
                <c:pt idx="3">
                  <c:v>10→13층</c:v>
                </c:pt>
                <c:pt idx="4">
                  <c:v>13→16층</c:v>
                </c:pt>
                <c:pt idx="5">
                  <c:v>16→20층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</c:v>
                </c:pt>
                <c:pt idx="1">
                  <c:v>39</c:v>
                </c:pt>
                <c:pt idx="2">
                  <c:v>42</c:v>
                </c:pt>
                <c:pt idx="3">
                  <c:v>52</c:v>
                </c:pt>
                <c:pt idx="4">
                  <c:v>62</c:v>
                </c:pt>
                <c:pt idx="5">
                  <c:v>75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방 수</c:v>
                </c:pt>
              </c:strCache>
            </c:strRef>
          </c:tx>
          <c:spPr>
            <a:solidFill>
              <a:srgbClr val="8C8C8C"/>
            </a:solidFill>
          </c:spPr>
          <c:dPt>
            <c:idx val="4"/>
            <c:spPr>
              <a:solidFill>
                <a:srgbClr val="E97132"/>
              </a:solidFill>
            </c:spPr>
          </c:dPt>
          <c:dPt>
            <c:idx val="9"/>
            <c:spPr>
              <a:solidFill>
                <a:srgbClr val="E97132"/>
              </a:solidFill>
            </c:spPr>
          </c:dPt>
          <c:dPt>
            <c:idx val="14"/>
            <c:spPr>
              <a:solidFill>
                <a:srgbClr val="E97132"/>
              </a:solidFill>
            </c:spPr>
          </c:dPt>
          <c:dPt>
            <c:idx val="19"/>
            <c:spPr>
              <a:solidFill>
                <a:srgbClr val="E97132"/>
              </a:solidFill>
            </c:spPr>
          </c:dPt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6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9</c:v>
                </c:pt>
                <c:pt idx="13">
                  <c:v>9</c:v>
                </c:pt>
                <c:pt idx="14">
                  <c:v>10</c:v>
                </c:pt>
                <c:pt idx="15">
                  <c:v>9</c:v>
                </c:pt>
                <c:pt idx="16">
                  <c:v>9</c:v>
                </c:pt>
                <c:pt idx="17">
                  <c:v>9</c:v>
                </c:pt>
                <c:pt idx="18">
                  <c:v>9</c:v>
                </c:pt>
                <c:pt idx="19">
                  <c:v>10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</a:rPr>
                  <a:t>층 (주황 = 보스 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1100"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층 별 허들 기획서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/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30000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627632" y="1783080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550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75688"/>
            <a:ext cx="3657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문서 계층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허들의 정의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설계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4110228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98221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플레이타임 설계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7P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402836"/>
            <a:ext cx="3657600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구간별 목표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시간 계산 근거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재도전과 성장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24728" y="1783080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76" y="16550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층 별 허들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10P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075688"/>
            <a:ext cx="3657600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목표 찍찍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성장 대비 근거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벽 체력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제한 시간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보스 층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방 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4728" y="441655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6" y="4288536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허들표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16P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709160"/>
            <a:ext cx="36576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1~10층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11~20층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8" y="5824728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76" y="569671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18P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6117336"/>
            <a:ext cx="36576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검증 지표와 조정 순서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53312" y="1645920"/>
          <a:ext cx="9482328" cy="4773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325880"/>
                <a:gridCol w="1005840"/>
                <a:gridCol w="2011680"/>
                <a:gridCol w="445312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내용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최초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양식 작성, 문서 생성, 목차 작성, 개요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내용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설계, 층 별 허들(목표 찍찍·벽·시간·보스·방 수), 허들표, 검증 기준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인게임 기준 구간 목표 반영 (초반 10분·재도전 1~2회 / 중반 40분·5~6회 / 후반 30~40분·5~6회), 연관 허들·허들표·검증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문서 계층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76656" y="1618488"/>
            <a:ext cx="3831336" cy="3474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원페이지 기획서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139696"/>
            <a:ext cx="3831336" cy="3474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컨셉 기획서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96896" y="1965960"/>
            <a:ext cx="0" cy="1737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6656" y="2660904"/>
            <a:ext cx="3831336" cy="3474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메인 기획서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6896" y="2487168"/>
            <a:ext cx="0" cy="1737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76656" y="3182112"/>
            <a:ext cx="3831336" cy="3474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컨텐츠 기획서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96896" y="3008376"/>
            <a:ext cx="0" cy="1737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16152" y="3602736"/>
            <a:ext cx="0" cy="566927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2064" y="4169663"/>
            <a:ext cx="1417320" cy="117043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밸런스</a:t>
            </a:r>
          </a:p>
          <a:p>
            <a:pPr algn="ctr"/>
            <a:r>
              <a:rPr sz="2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9384" y="4754880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57984" y="4069080"/>
            <a:ext cx="0" cy="1362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57984" y="40690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40864" y="3813048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인게임 수치 기획서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15384" y="4069080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26864" y="3813048"/>
            <a:ext cx="475488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인게임에서 사용되는 수치들의 명세를 정리하고,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사용처와 각 수치들간의 상호 관계를 정리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81744" y="40690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57984" y="47548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340864" y="4498848"/>
            <a:ext cx="1874519" cy="51206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층 별 허들 기획서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15384" y="4754880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26864" y="4498848"/>
            <a:ext cx="4754880" cy="512064"/>
          </a:xfrm>
          <a:prstGeom prst="rect">
            <a:avLst/>
          </a:prstGeom>
          <a:noFill/>
          <a:ln w="285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게임의 총 플레이타임을 약 2시간, 목표 층 수를 20층으로 잡았을 시,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각 층마다 다음 층으로 넘어가기 위한 수치를 얼마로 잡아야 할 지 정리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81744" y="47548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57984" y="54406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340864" y="5184648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 기획서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15384" y="5440680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626864" y="5184648"/>
            <a:ext cx="475488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오브젝트별 자원 드랍 양, 층별 오브젝트 가치 배수 등을 정리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81744" y="54406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64624" y="4069080"/>
            <a:ext cx="0" cy="1362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564624" y="4754880"/>
            <a:ext cx="21945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784080" y="4343400"/>
            <a:ext cx="1600200" cy="8229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레벨 디자인</a:t>
            </a:r>
          </a:p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기획서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584180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55480" y="5349240"/>
            <a:ext cx="2057400" cy="10515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앞선 기획서들에서 기획한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내용에 따라 층 넓이, 층 구조,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오브젝트·벽·보스 배치 기획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1618488"/>
            <a:ext cx="1417320" cy="34747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 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057400"/>
            <a:ext cx="6035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 문서가 답하는 질문</a:t>
            </a:r>
          </a:p>
          <a:p>
            <a:pPr algn="l" marL="285750" indent="-285750">
              <a:lnSpc>
                <a:spcPct val="110000"/>
              </a:lnSpc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다음 층으로 넘어가려면 무엇이 얼마나 필요한가?</a:t>
            </a:r>
          </a:p>
          <a:p>
            <a:pPr algn="l" marL="285750" indent="-285750">
              <a:lnSpc>
                <a:spcPct val="110000"/>
              </a:lnSpc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 값은 왜 그 크기여야 하는가? (총 2시간 · 20층 기준)</a:t>
            </a:r>
          </a:p>
          <a:p>
            <a:pPr algn="l" marL="285750" indent="-285750">
              <a:lnSpc>
                <a:spcPct val="110000"/>
              </a:lnSpc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수치가 어긋났을 때 무엇부터 고쳐야 하는가?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허들의 정의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모든 허들을 '목표 찍찍으로 몇 초'라는 한 단위로 정의 → 기준 하나로 층 전체가 함께 움직인다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2656" y="2240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구성 수치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8656" y="224028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플레이어에게 던지는 질문 / 역할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3856" y="2560320"/>
            <a:ext cx="1463040" cy="3611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층 돌파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96896" y="437083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79776" y="2816352"/>
            <a:ext cx="0" cy="31089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79776" y="281635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62656" y="2560320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목표 찍찍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37176" y="281635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48656" y="2560320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“내 무리가 이 층을 감당할 만큼 강한가?”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찍찍(무리 공격력 합)이 이보다 낮으면 벽 피해가 깎임 · 모든 체력의 기준 단위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79776" y="354787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962656" y="3291839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벽 체력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37176" y="354787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48656" y="3291839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“어느 길로 뚫고 갈까?”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계단까지 가는 길의 벽 · 적정 무리가 때리는 '초'로 정의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79776" y="427939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62656" y="4023360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제한 시간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37176" y="427939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248656" y="4023360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“시간 안에 해낼 수 있나?”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모든 층 180초 고정 · 0이 되면 판 종료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79776" y="501091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62656" y="4754880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37176" y="501091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248656" y="4754880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“이 구역을 졸업할 자격이 있나?”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5층마다 계단 방을 지키는 최종 관문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79776" y="574243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62656" y="5486400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37176" y="574243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248656" y="5486400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“얼마나 멀리 가야 하나?”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층의 넓이 · 계단까지의 거리와 물건 수를 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설계 원칙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627632"/>
            <a:ext cx="4846320" cy="21762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131673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구간마다 돌파 템포를 바꾼다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새 층 첫 돌파 목표 (적정 전투력, 제한 180초 대비)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약 35% → 10분 안에 첫 보스까지 보여 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75% → 60초 경고를 보는 '아슬아슬'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85% → 30초 경고까지 보는 '빠듯'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627632"/>
            <a:ext cx="4846320" cy="21762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39165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난이도는 '시간'이 아니라 '수치'로 올린다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제한 시간은 모든 층 180초로 고정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매 층 같은 리듬이어야 플레이 감각이 쌓임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조정 변수가 하나(목표 찍찍)여야 측정·수정이 단순해짐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4023360"/>
            <a:ext cx="4846320" cy="21762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31673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재도전은 실패한 층부터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이미 깬 층을 다시 오르는 시간을 없앰 → 재도전 1회 = 막힌 허들에 바로 다시 도전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실패 직후 '무엇이 부족했는지'를 같은 층에서 확인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시작 층 스킵이 이 규칙을 받쳐야 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4023360"/>
            <a:ext cx="4846320" cy="21762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639165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막히는 빈도를 점점 늘린다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새 층 1개당 재도전: 초반 0.2~0.4 → 중반 0.5~0.6 → 후반 1~1.2회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초반은 자신감, 중반은 '성장 → 돌파'의 반복, 후반은 한 층 한 층이 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플레이타임 설계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구간별 목표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인게임 약 80~90분 = 초반 10 · 중반 40 · 후반 30~35 — 뒤로 갈수록 '새 층 하나'의 무게를 키운다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초반  ·  1~5층 클리어까지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743200"/>
            <a:ext cx="3182112" cy="7772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3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10~14분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520440"/>
            <a:ext cx="3182112" cy="16916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3611880"/>
            <a:ext cx="309067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 1~2회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새 층 5개 · 새 층 1개당 약 2분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실패는 5층 보스 한 번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의도: 10분 안에 '번식 → 벽 → 보스 → 막힘 → 구매 → 돌파'를 한 바퀴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 클리어까지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743200"/>
            <a:ext cx="3182112" cy="7772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3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41~44분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3520440"/>
            <a:ext cx="3182112" cy="16916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611880"/>
            <a:ext cx="309067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 5~6회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새 층 10개 · 새 층 1개당 약 4분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 2층마다 한 번 막힘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의도: 재도전마다 강해진 것이 '두 층 더'로 보이는 구간 — 게임의 몸통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16~20층 클리어까지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743200"/>
            <a:ext cx="3182112" cy="7772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3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30~33분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520440"/>
            <a:ext cx="3182112" cy="16916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611880"/>
            <a:ext cx="309067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 5~6회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새 층 5개 · 새 층 1개당 약 6분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거의 매 층 한 번씩 막힘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의도: 층 수는 적어도 한 층 한 층이 벽 — 최종 보스까지 긴장 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5046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인게임 시간 구성 (재도전 적은 쪽 기준 · 합계 약 80분, 많은 쪽 약 90분)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3856" y="5779008"/>
            <a:ext cx="1257725" cy="41148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10분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1581" y="5779008"/>
            <a:ext cx="5018531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41분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10112" y="5779008"/>
            <a:ext cx="3690703" cy="41148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30분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621792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로비 시간 제외. 총 플레이타임 2시간 중 나머지 약 30~40분은 로비(스킬 구매·훈련) 시간으로 별도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플레이타임 설계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시간 계산 근거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시간 = 새 층 돌파 시간 + 실패한 층에서 쓴 시간 (재도전은 실패한 층부터 시작)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40280"/>
          <a:ext cx="5486400" cy="2633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2148840"/>
                <a:gridCol w="868680"/>
                <a:gridCol w="10515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종류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층 첫 돌파 목표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대비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1회 시간*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1~4층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35%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보스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100초 (길 60 + 보스 40)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50%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일반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2.4분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10·15층 보스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157초 (길 117 + 보스 40)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2.75분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일반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153초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2.7분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보스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178초 (길 138 + 보스 40)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3.1분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실패한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 / 보스 층 210초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3.0 / 3.5분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491947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* 탈취 연출·페이드 약 8초 포함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33856" y="5212080"/>
          <a:ext cx="6400800" cy="1170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2834640"/>
                <a:gridCol w="777240"/>
                <a:gridCol w="1097280"/>
                <a:gridCol w="96012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 위치 (재도전 적은 쪽 / +1회)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돌파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보스 / +4층 또는 5층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6.7분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3.5~7.0분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10~14분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8·10·12·14·15층 / +13층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24.6분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16.0~19.0분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41~44분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17·18·19·20·20층 / +16층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13.8분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16.0~19.0분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30~33분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772400" y="2148840"/>
          <a:ext cx="347472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18120" y="4983480"/>
            <a:ext cx="3429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중·후반은 시간의 40~55%가 실패한 층 — 막힘 자체가 플레이의 큰 부분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초반은 실패를 5층 보스 한 번으로 묶어야 10분이 가능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1~4층은 적정보다 강한 템포(35%)로 지나가게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플레이타임 설계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재도전과 성장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 1회가 '몇 층'을 열어 주는가로 구간의 성격을 정한다 — 초반 보스 1번, 중반 약 2층, 후반 약 1층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640080"/>
                <a:gridCol w="777240"/>
                <a:gridCol w="1143000"/>
                <a:gridCol w="1508760"/>
                <a:gridCol w="1965960"/>
                <a:gridCol w="32461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층당 재도전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찍찍 증가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 1회당 필요한 성장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1~2회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0.2~0.4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×3.6 (1→5층)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안 번식으로 충분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막힘은 첫 보스 한 번 — 실패 → 구매 → 돌파를 한 번 체험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5~6회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0.5~0.6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×25 (5→15층)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×1.7~1.9 (≈ 2층)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성장이 가장 크게 체감되는 구간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5~6회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1.0~1.2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×5.0 (15→20층)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×1.3~1.4 (≈ 1층)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번 강해질 때마다 한 층 — 최종 긴장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05840" y="4251960"/>
          <a:ext cx="4023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49240" y="425196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왜 중반이 '2층', 후반이 '1층'인가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553712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중반엔 훈장 승급 3번(7·10·13층)과 아직 싼 노드가 몰려 재도전 사이 성장이 큼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후반은 노드 비용이 훈장마다 약 ×12 → 재도전 1회 성장이 작아져 한 층씩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539496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경제의 설계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5696712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'재도전 1회당 필요한 성장'이 스킬 비용·치즈 수입(오브젝트 기획서)의 목표값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실패한 판의 수입으로 이 성장을 살 수 있어야 재도전이 의미 있음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층 별 허들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목표 찍찍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목표 찍찍(적정 전투력) 1층 400, 층마다 × 1.38 — “한 단계 강해지면 두 층 더 간다”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1206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왜 곱셈(지수) 곡선인가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5146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쥐의 성장 요소(마릿수·등급·훈장 배율·노드 %)가 서로 곱해짐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허들도 곱셈이어야 매 층 체감 난이도가 같다 — 덧셈이면 후반이 점점 쉬워짐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29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왜 1.38인가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49039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승급 1번(공격력 1.8배) ≈ 2층 (1.38² ≈ 1.9) — 플레이어가 머릿속으로 계산 가능한 크기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1.30: 20층까지 ×146 → 메타 성장이 허들을 추월, 후반 긴장 소실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1.50: 20층까지 ×2,217 → 훈장을 다 올려도 부족, 반복 파밍 강요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212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400 시작과 초반 템포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5321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초반은 첫 실패가 5층 보스여야 함 → 1~4층은 적정보다 강한 상태로 빠르게(목표 65초)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현재 측정(노드 0개, 1층 종료 시 적정의 0.84배)은 이보다 어려움 → 1~4층 벽을 얇게 재조정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층 별 허들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성장 대비 근거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증가분을 훈장 보상과 로비 성장(스킬·훈련)이 나눠 메우게 — 뒤로 갈수록 로비 성장 몫을 키운다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475488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1325880"/>
                <a:gridCol w="1097280"/>
                <a:gridCol w="12344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찍찍 증가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보상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성장 몫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1→2층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2→4층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×1.67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4→7층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×2.63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×1.46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7→10층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×2.63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10→13층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×2.63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×1.59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×1.66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13→16층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×2.62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×1.44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×1.82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16→20층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×3.63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×2.62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525780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훈장 보상 = 시작 마릿수 × 새로 해금되는 쥐의 공격력 배율 (티어 테이블)</a:t>
            </a:r>
          </a:p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안의 번식·승급은 모든 구간에 공통으로 곱해지므로 비교에서 제외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2194560"/>
          <a:ext cx="502920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489204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초반(2→4층)은 허들의 약 80%(79%)를 훈장 보상이 메움 → 승급만 해도 강해진 것을 체감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최종 구간(16→20층)은 로비 성장 몫이 ×2.62로 가장 큼 → 후반을 새 층 5개에 재도전 5~6회로 길게 잡은 근거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성장 몫이 계속 남아 있어야 스킬 노드·훈련에 '살 이유'가 생김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층 별 허들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벽 체력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벽 체력은 '배율'이 아니라 '적정 무리가 때리는 시간'으로 정한다 — 계단까지 길의 벽 합 = 구간별 목표 돌파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377440"/>
            <a:ext cx="1508760" cy="8229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시작 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395728"/>
            <a:ext cx="365760" cy="78638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2461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일반 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377440"/>
            <a:ext cx="1508760" cy="8229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395728"/>
            <a:ext cx="365760" cy="78638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일반 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377440"/>
            <a:ext cx="1508760" cy="8229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2395728"/>
            <a:ext cx="365760" cy="78638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계단 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2377440"/>
            <a:ext cx="1508760" cy="82296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계단 방</a:t>
            </a:r>
          </a:p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(계단)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15400" y="2788920"/>
            <a:ext cx="5029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464040" y="2377440"/>
            <a:ext cx="1645920" cy="82296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계단 도착</a:t>
            </a:r>
          </a:p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= 층 돌파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365760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경로 벽 총량 = 적정 전투력 × 목표 돌파 시간 (초반 65초 · 중반 135초 · 후반 153초, 보스 층은 보스전 40초 제외)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931920"/>
            <a:ext cx="493776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벽 50% (경로의 일반 벽에 나눠 배치)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931920"/>
            <a:ext cx="498348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계단 방 벽 50% (마지막 관문)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5262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왜 시간 단위인가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84632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층마다 지형(층 번호 시드)이 달라 계단까지의 벽 수·거리가 제각각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배율을 고정하면 난이도가 들쭉날쭉 → 길 전체를 '시간'으로 맞추고, 벽 하나의 배율은 지형에 맞춰 역산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그래서 허들표의 벽 배율은 0.8~47로 불규칙한 것이 정상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45262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왜 계단 벽이 절반인가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484632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마지막 관문을 두껍게 → 총공격·필살기를 '언제 쓸지' 판단하는 지점이 생김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벽은 최소 0.8배 — 너무 얇으면 길 선택이 의미 없어짐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0416" y="45262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미달 시 벽 피해 감산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6" y="484632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전투력이 목표 찍찍보다 낮으면 벽 피해가 깎임 (계단 벽은 강하게, 일반 벽은 약하게)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약해도 탐색·파밍은 가능하지만 계단은 못 연다 → 목표 찍찍이 '권장'이 아닌 '관문'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층 별 허들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제한 시간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모든 층 180초 고정 — 시간은 무대일 뿐, 난이도는 수치(목표 찍찍)로 올린다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834640"/>
            <a:ext cx="5705856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60% 미만 · 초반 템포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94576" y="2834640"/>
            <a:ext cx="2377440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60~85% · 중반 아슬아슬</a:t>
            </a:r>
          </a:p>
        </p:txBody>
      </p:sp>
      <p:sp>
        <p:nvSpPr>
          <p:cNvPr id="9" name="Rectangle 8"/>
          <p:cNvSpPr/>
          <p:nvPr/>
        </p:nvSpPr>
        <p:spPr>
          <a:xfrm>
            <a:off x="9272016" y="2834640"/>
            <a:ext cx="1426464" cy="45720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85%~ · 후반 빠듯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834640"/>
            <a:ext cx="9509760" cy="457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5912" y="29077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180초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22800" y="2697480"/>
            <a:ext cx="0" cy="137160"/>
          </a:xfrm>
          <a:prstGeom prst="line">
            <a:avLst/>
          </a:prstGeom>
          <a:ln w="28575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91280" y="242316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▼ 초반 65초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2697480"/>
            <a:ext cx="0" cy="137160"/>
          </a:xfrm>
          <a:prstGeom prst="line">
            <a:avLst/>
          </a:prstGeom>
          <a:ln w="28575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95160" y="242316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▼ 중반 135초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72016" y="2697480"/>
            <a:ext cx="0" cy="137160"/>
          </a:xfrm>
          <a:prstGeom prst="line">
            <a:avLst/>
          </a:prstGeom>
          <a:ln w="28575">
            <a:solidFill>
              <a:srgbClr val="E97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34856" y="242316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▼ 후반 153초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3291840"/>
            <a:ext cx="0" cy="13716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4290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28560" y="3291840"/>
            <a:ext cx="0" cy="13716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25640" y="34290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60초 경고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13520" y="3291840"/>
            <a:ext cx="0" cy="13716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10600" y="34290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30초 경고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70160" y="3291840"/>
            <a:ext cx="0" cy="13716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67240" y="34290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10초 경고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1031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새 층 첫 돌파 목표 (적정 전투력, 제한 시간 대비)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133856" y="3977639"/>
          <a:ext cx="9966960" cy="24140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920240"/>
                <a:gridCol w="658368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번식으로 무리가 불어나는 것을 눈으로 볼 수 있는 최소 시간 · 한 층 = 3분짜리 몰입 단위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 목표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35% · 75% · 85%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180초 안에서 템포 → 아슬아슬 → 빠듯으로 긴장을 올림 (초반 10분 목표를 위해 초반만 빠르게)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+30초 (210초)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보스전 40초를 더해도 구간 비율 유지 — 5층 100초 · 10·15층 157초 · 20층 178초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스킬 노드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+120초 (보스 +30)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약할 때의 보험 — 시간 노드는 '버티는' 성장, 공격 노드는 '빨리 깨는' 성장으로 선택지 분리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60·30·10초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60초 경고까지, 후반은 30초 경고까지 보게 되는 긴장 장치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층 별 허들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보스 층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보스 = 구역의 졸업 시험 — 체력은 '적정 무리가 몇 초 때려야 하나'로 정하고, 보스전 40초 목표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2920"/>
                <a:gridCol w="2057400"/>
                <a:gridCol w="1371600"/>
                <a:gridCol w="777240"/>
                <a:gridCol w="1051560"/>
                <a:gridCol w="420624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(적정 × 초)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목표 돌파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경비대장 강철수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보스 = 초반 유일한 실패 지점 · '큰 벽 + 방해'의 문법 학습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광기의 수석 연구원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157초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원거리 플라스크 → 분산을 배움 · 중반 재도전 지점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연구소장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157초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경비원 호출로 방해 추가 · 중반의 마지막 관문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실험체 제로 (거대 메인쿤)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보스 · 재도전 2회 예상 · 2패턴(덮치기·헤어볼)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46177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왜 5층마다인가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93776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구역(Zone) 전환 5·10·15·20층과 일치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보스 격파 = 새 구역 진입 = 보상감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10·20층은 훈장 조건과 겹쳐 '졸업 시험'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46177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계수와 실제 시간이 다른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493776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보스전엔 이동·기절·회피로 실제로 때리는 비율이 낮음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측정: 계수 40일 때 5층 보스전 55~88초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목표 40초에 맞춰 계수를 역산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46177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보스 층 보상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0416" y="493776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연구자료 ×3 — 구간 졸업 보상을 몰아줌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훈장 승급 재료가 보스 직후에 모여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'보스 → 승급'이 한 흐름이 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층 별 허들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방 수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방은 3개에서 시작해 2층마다 1개씩, 최대 9개 (보스 층 +1) — 판마다 지도가 한 칸씩 넓어지는 체감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21945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3개에서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496312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층은 '벽 부수고 길 열기' 핵심 루프를 1분 안에 보여줄 크기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39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2층마다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364991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새 층을 열 때마다 지도가 넓어진 것을 체감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9319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최대 9개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233672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180초 고정 안에서 탐색 가능한 최대치</a:t>
            </a:r>
          </a:p>
          <a:p>
            <a:pPr algn="l" marL="285750" indent="-285750">
              <a:spcAft>
                <a:spcPts val="1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화면 줌·가독성의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8006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보스 층 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5102352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계단 방을 보스 아레나로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669279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= 수입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971031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1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방당 물건 상한 24개 → 방이 늘면 치즈도 늘어남 (오브젝트 기획서와 연결)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허들표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1~10층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835640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"/>
                <a:gridCol w="1371600"/>
                <a:gridCol w="411480"/>
                <a:gridCol w="914400"/>
                <a:gridCol w="822960"/>
                <a:gridCol w="822960"/>
                <a:gridCol w="1463040"/>
                <a:gridCol w="822960"/>
                <a:gridCol w="685800"/>
                <a:gridCol w="31089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구역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찍찍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연구자료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의도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지하 비밀 실험실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벽 — 번식으로 강해지는 것을 체감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지하 비밀 실험실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[2훈장 조건] 빠른 템포로 통과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지하 비밀 실험실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762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빠른 템포로 통과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지하 비밀 실험실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[3훈장 조건] 보스 전 준비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실험동물 사육동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경비대장 강철수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보스 · 초반 유일한 실패 지점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실험동물 사육동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시작 · 템포가 75%로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실험동물 사육동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2,760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[4훈장 조건] 승급 운영 시작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실험동물 사육동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첫 막힘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실험동물 사육동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5,260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 전 준비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연구동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7,260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157초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광기의 수석 연구원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[5훈장 조건] 두 번째 보스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2453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보스 층 또는 훈장 승급 조건 층 · 목표 돌파 = 적정 전투력으로 새 층을 처음 깰 때 목표 시간 · 재도전 = 그 층에서 예상하는 실패 횟수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허들표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11~20층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835640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"/>
                <a:gridCol w="1371600"/>
                <a:gridCol w="411480"/>
                <a:gridCol w="914400"/>
                <a:gridCol w="822960"/>
                <a:gridCol w="822960"/>
                <a:gridCol w="1463040"/>
                <a:gridCol w="822960"/>
                <a:gridCol w="685800"/>
                <a:gridCol w="31089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구역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찍찍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연구자료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의도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연구동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활용 시작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연구동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13,800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막힘 (약 2층마다)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연구동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19,100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0~1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[6훈장 조건] 방 수 상한 · 막힐 수 있음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연구동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26,300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752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막힘 (약 2층마다)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전산·관리동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36,300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157초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연구소장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3,269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 번째 보스 · 중반 졸업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전산·관리동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50,100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153초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0~1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[7훈장 조건] 후반 시작 · 템포가 85%로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전산·관리동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69,200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153초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2,291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 층 막힘 시작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전산·관리동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95,500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153초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3,322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성장 의존도 최대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전산·관리동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132,000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153초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4,817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보스 전 마지막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연구소장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182,000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210초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실험체 제로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20,954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[8훈장 조건] 최종 보스 · 최종 목표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2453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보스 층 또는 훈장 승급 조건 층 · 목표 돌파 = 적정 전투력으로 새 층을 처음 깰 때 목표 시간 · 재도전 = 그 층에서 예상하는 실패 횟수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검증 지표와 조정 순서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640080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2148840"/>
                <a:gridCol w="21031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지표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(초반 · 중반 · 후반)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 인게임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10~14 · 41~44 · 30~33분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목표 그대로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 재도전 횟수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1~2 · 5~6 · 5~6회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빈도 곡선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층 첫 돌파 (적정 고정)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제한의 35 · 75 · 85%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 템포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 1회당 성장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 · ×1.7~1.9 · ×1.3~1.4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경제가 받쳐 주는지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격파까지 인게임 합계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80~90분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시간 제외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45262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재도전 = 실패한 층부터 다시 시작 · 실패 층은 제한 시간을 다 쓴 것으로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600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어긋났을 때 조정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2011680"/>
            <a:ext cx="3429000" cy="65836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① 층별 벽 배율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층만 튀면 그 층만 수정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36608" y="2670048"/>
            <a:ext cx="0" cy="256032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726679" y="2926080"/>
            <a:ext cx="3429000" cy="658368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② 목표 찍찍 성장률 (×1.38)</a:t>
            </a:r>
          </a:p>
          <a:p>
            <a:pPr algn="ct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여러 층이 같은 방향으로 어긋날 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36608" y="3584448"/>
            <a:ext cx="0" cy="256032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726679" y="3840480"/>
            <a:ext cx="3429000" cy="658368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③ 스킬 노드 수치</a:t>
            </a:r>
          </a:p>
          <a:p>
            <a:pPr algn="ct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훈장 구간 전체가 어긋날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75488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국소 → 전역 순서로 고쳐야 다른 층에 주는 영향이 가장 적음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8920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알려진 위험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5212080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재도전이 1층부터라면 재도전마다 앞 층 재돌파가 붙어 중·후반 목표 시간을 크게 넘김 → '실패 층부터 재도전'이 전제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템포: 현재 1~4층 벽은 목표 65초보다 두꺼움 → 벽 배율 재생성·재측정 필요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지형 편차: 같은 층도 회차마다 ±50% — 층마다 2회 이상 측정한 중앙값으로 판단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연구자료 과잉: 후반 층 돌파 보상(20층 약 2만)이 8훈장 비용(4,200)을 크게 앞섬 → 훈장 비용과 함께 재검토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1434</Words>
  <Application>Microsoft Office PowerPoint</Application>
  <PresentationFormat>와이드스크린</PresentationFormat>
  <Paragraphs>290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anthropic-sans</vt:lpstr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22</cp:revision>
  <dcterms:created xsi:type="dcterms:W3CDTF">2026-09-29T07:46:10Z</dcterms:created>
  <dcterms:modified xsi:type="dcterms:W3CDTF">2026-10-05T12:01:17Z</dcterms:modified>
</cp:coreProperties>
</file>