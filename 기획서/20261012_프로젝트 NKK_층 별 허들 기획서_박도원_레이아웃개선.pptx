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88" r:id="rId37"/>
    <p:sldId id="259" r:id="rId9"/>
    <p:sldId id="260" r:id="rId8"/>
    <p:sldId id="261" r:id="rId10"/>
    <p:sldId id="262" r:id="rId11"/>
    <p:sldId id="263" r:id="rId12"/>
    <p:sldId id="264" r:id="rId13"/>
    <p:sldId id="265" r:id="rId7"/>
    <p:sldId id="266" r:id="rId6"/>
    <p:sldId id="267" r:id="rId5"/>
    <p:sldId id="268" r:id="rId4"/>
    <p:sldId id="269" r:id="rId3"/>
    <p:sldId id="271" r:id="rId20"/>
    <p:sldId id="272" r:id="rId21"/>
    <p:sldId id="273" r:id="rId22"/>
    <p:sldId id="275" r:id="rId24"/>
    <p:sldId id="276" r:id="rId25"/>
    <p:sldId id="277" r:id="rId26"/>
    <p:sldId id="283" r:id="rId32"/>
    <p:sldId id="284" r:id="rId33"/>
    <p:sldId id="285" r:id="rId34"/>
    <p:sldId id="286" r:id="rId35"/>
    <p:sldId id="287" r:id="rId36"/>
    <p:sldId id="270" r:id="rId19"/>
    <p:sldId id="274" r:id="rId23"/>
    <p:sldId id="278" r:id="rId27"/>
    <p:sldId id="279" r:id="rId28"/>
    <p:sldId id="280" r:id="rId29"/>
    <p:sldId id="281" r:id="rId30"/>
    <p:sldId id="282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3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4866" y="12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누적 플레이타임 vs 처음 깬 최고 층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초반</c:v>
                </c:pt>
              </c:strCache>
            </c:strRef>
          </c:tx>
          <c:spPr>
            <a:ln w="34925">
              <a:solidFill>
                <a:srgbClr val="F4B183"/>
              </a:solidFill>
            </a:ln>
          </c:spPr>
          <c:marker>
            <c:symbol val="circle"/>
            <c:size val="6"/>
            <c:spPr>
              <a:solidFill>
                <a:srgbClr val="F4B183"/>
              </a:solidFill>
              <a:ln>
                <a:solidFill>
                  <a:srgbClr val="F4B183"/>
                </a:solidFill>
              </a:ln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0.016</c:v>
                </c:pt>
                <c:pt idx="2">
                  <c:v>0.035</c:v>
                </c:pt>
                <c:pt idx="3">
                  <c:v>0.059</c:v>
                </c:pt>
                <c:pt idx="4">
                  <c:v>0.088</c:v>
                </c:pt>
                <c:pt idx="5">
                  <c:v>0.401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Sheet1!$B$9</c:f>
              <c:strCache>
                <c:ptCount val="1"/>
                <c:pt idx="0">
                  <c:v>중반</c:v>
                </c:pt>
              </c:strCache>
            </c:strRef>
          </c:tx>
          <c:spPr>
            <a:ln w="34925">
              <a:solidFill>
                <a:srgbClr val="E97132"/>
              </a:solidFill>
            </a:ln>
          </c:spPr>
          <c:marker>
            <c:symbol val="circle"/>
            <c:size val="6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xVal>
            <c:numRef>
              <c:f>Sheet1!$A$10:$A$20</c:f>
              <c:numCache>
                <c:formatCode>General</c:formatCode>
                <c:ptCount val="11"/>
                <c:pt idx="0">
                  <c:v>0.401</c:v>
                </c:pt>
                <c:pt idx="1">
                  <c:v>0.566</c:v>
                </c:pt>
                <c:pt idx="2">
                  <c:v>0.595</c:v>
                </c:pt>
                <c:pt idx="3">
                  <c:v>0.876</c:v>
                </c:pt>
                <c:pt idx="4">
                  <c:v>0.905</c:v>
                </c:pt>
                <c:pt idx="5">
                  <c:v>1.219</c:v>
                </c:pt>
                <c:pt idx="6">
                  <c:v>1.248</c:v>
                </c:pt>
                <c:pt idx="7">
                  <c:v>1.608</c:v>
                </c:pt>
                <c:pt idx="8">
                  <c:v>1.637</c:v>
                </c:pt>
                <c:pt idx="9">
                  <c:v>2.049</c:v>
                </c:pt>
                <c:pt idx="10">
                  <c:v>2.078</c:v>
                </c:pt>
              </c:numCache>
            </c:numRef>
          </c:xVal>
          <c:yVal>
            <c:numRef>
              <c:f>Sheet1!$B$10:$B$20</c:f>
              <c:numCache>
                <c:formatCode>General</c:formatCode>
                <c:ptCount val="11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Sheet1!$B$22</c:f>
              <c:strCache>
                <c:ptCount val="1"/>
                <c:pt idx="0">
                  <c:v>후반</c:v>
                </c:pt>
              </c:strCache>
            </c:strRef>
          </c:tx>
          <c:spPr>
            <a:ln w="34925">
              <a:solidFill>
                <a:srgbClr val="8C8C8C"/>
              </a:solidFill>
            </a:ln>
          </c:spPr>
          <c:marker>
            <c:symbol val="circle"/>
            <c:size val="6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xVal>
            <c:numRef>
              <c:f>Sheet1!$A$23:$A$28</c:f>
              <c:numCache>
                <c:formatCode>General</c:formatCode>
                <c:ptCount val="6"/>
                <c:pt idx="0">
                  <c:v>2.078</c:v>
                </c:pt>
                <c:pt idx="1">
                  <c:v>2.965</c:v>
                </c:pt>
                <c:pt idx="2">
                  <c:v>3.872</c:v>
                </c:pt>
                <c:pt idx="3">
                  <c:v>5.295</c:v>
                </c:pt>
                <c:pt idx="4">
                  <c:v>6.799</c:v>
                </c:pt>
                <c:pt idx="5">
                  <c:v>8.385</c:v>
                </c:pt>
              </c:numCache>
            </c:numRef>
          </c:xVal>
          <c:yVal>
            <c:numRef>
              <c:f>Sheet1!$B$23:$B$28</c:f>
              <c:numCache>
                <c:formatCode>General</c:formatCode>
                <c:ptCount val="6"/>
                <c:pt idx="0">
                  <c:v>15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20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.0"/>
          <c:min val="0.0"/>
        </c:scaling>
        <c:delete val="0"/>
        <c:axPos val="b"/>
        <c:majorGridlines>
          <c:spPr>
            <a:ln>
              <a:solidFill>
                <a:srgbClr val="EDEDED"/>
              </a:solidFill>
            </a:ln>
          </c:spPr>
        </c:majorGridlines>
        <c:numFmt formatCode="0&quot;시간&quot;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20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&quot;층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128940872"/>
        <c:crosses val="autoZero"/>
        <c:crossBetween val="midCat"/>
        <c:majorUnit val="5.0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적정 찍찍 (로그 눈금)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적정 찍찍 (1층 = 100)</c:v>
                </c:pt>
              </c:strCache>
            </c:strRef>
          </c:tx>
          <c:dPt>
            <c:idx val="0"/>
            <c:spPr>
              <a:solidFill>
                <a:srgbClr val="BFBFBF"/>
              </a:solidFill>
              <a:ln>
                <a:noFill/>
              </a:ln>
            </c:spPr>
          </c:dPt>
          <c:dPt>
            <c:idx val="1"/>
            <c:spPr>
              <a:solidFill>
                <a:srgbClr val="BFBFBF"/>
              </a:solidFill>
              <a:ln>
                <a:noFill/>
              </a:ln>
            </c:spPr>
          </c:dPt>
          <c:dPt>
            <c:idx val="2"/>
            <c:spPr>
              <a:solidFill>
                <a:srgbClr val="BFBFBF"/>
              </a:solidFill>
              <a:ln>
                <a:noFill/>
              </a:ln>
            </c:spPr>
          </c:dPt>
          <c:dPt>
            <c:idx val="3"/>
            <c:spPr>
              <a:solidFill>
                <a:srgbClr val="BFBFBF"/>
              </a:solidFill>
              <a:ln>
                <a:noFill/>
              </a:ln>
            </c:spPr>
          </c:dPt>
          <c:dPt>
            <c:idx val="4"/>
            <c:spPr>
              <a:solidFill>
                <a:srgbClr val="E97132"/>
              </a:solidFill>
              <a:ln>
                <a:noFill/>
              </a:ln>
            </c:spPr>
          </c:dPt>
          <c:dPt>
            <c:idx val="5"/>
            <c:spPr>
              <a:solidFill>
                <a:srgbClr val="8C8C8C"/>
              </a:solidFill>
              <a:ln>
                <a:noFill/>
              </a:ln>
            </c:spPr>
          </c:dPt>
          <c:dPt>
            <c:idx val="6"/>
            <c:spPr>
              <a:solidFill>
                <a:srgbClr val="8C8C8C"/>
              </a:solidFill>
              <a:ln>
                <a:noFill/>
              </a:ln>
            </c:spPr>
          </c:dPt>
          <c:dPt>
            <c:idx val="7"/>
            <c:spPr>
              <a:solidFill>
                <a:srgbClr val="8C8C8C"/>
              </a:solidFill>
              <a:ln>
                <a:noFill/>
              </a:ln>
            </c:spPr>
          </c:dPt>
          <c:dPt>
            <c:idx val="8"/>
            <c:spPr>
              <a:solidFill>
                <a:srgbClr val="8C8C8C"/>
              </a:solidFill>
              <a:ln>
                <a:noFill/>
              </a:ln>
            </c:spPr>
          </c:dPt>
          <c:dPt>
            <c:idx val="9"/>
            <c:spPr>
              <a:solidFill>
                <a:srgbClr val="8C8C8C"/>
              </a:solidFill>
              <a:ln>
                <a:noFill/>
              </a:ln>
            </c:spPr>
          </c:dPt>
          <c:dPt>
            <c:idx val="10"/>
            <c:spPr>
              <a:solidFill>
                <a:srgbClr val="8C8C8C"/>
              </a:solidFill>
              <a:ln>
                <a:noFill/>
              </a:ln>
            </c:spPr>
          </c:dPt>
          <c:dPt>
            <c:idx val="11"/>
            <c:spPr>
              <a:solidFill>
                <a:srgbClr val="8C8C8C"/>
              </a:solidFill>
              <a:ln>
                <a:noFill/>
              </a:ln>
            </c:spPr>
          </c:dPt>
          <c:dPt>
            <c:idx val="12"/>
            <c:spPr>
              <a:solidFill>
                <a:srgbClr val="8C8C8C"/>
              </a:solidFill>
              <a:ln>
                <a:noFill/>
              </a:ln>
            </c:spPr>
          </c:dPt>
          <c:dPt>
            <c:idx val="13"/>
            <c:spPr>
              <a:solidFill>
                <a:srgbClr val="8C8C8C"/>
              </a:solidFill>
              <a:ln>
                <a:noFill/>
              </a:ln>
            </c:spPr>
          </c:dPt>
          <c:dPt>
            <c:idx val="14"/>
            <c:spPr>
              <a:solidFill>
                <a:srgbClr val="8C8C8C"/>
              </a:solidFill>
              <a:ln>
                <a:noFill/>
              </a:ln>
            </c:spPr>
          </c:dPt>
          <c:dPt>
            <c:idx val="15"/>
            <c:spPr>
              <a:solidFill>
                <a:srgbClr val="E97132"/>
              </a:solidFill>
              <a:ln>
                <a:noFill/>
              </a:ln>
            </c:spPr>
          </c:dPt>
          <c:dPt>
            <c:idx val="16"/>
            <c:spPr>
              <a:solidFill>
                <a:srgbClr val="F4B183"/>
              </a:solidFill>
              <a:ln>
                <a:noFill/>
              </a:ln>
            </c:spPr>
          </c:dPt>
          <c:dPt>
            <c:idx val="17"/>
            <c:spPr>
              <a:solidFill>
                <a:srgbClr val="E97132"/>
              </a:solidFill>
              <a:ln>
                <a:noFill/>
              </a:ln>
            </c:spPr>
          </c:dPt>
          <c:dPt>
            <c:idx val="18"/>
            <c:spPr>
              <a:solidFill>
                <a:srgbClr val="F4B183"/>
              </a:solidFill>
              <a:ln>
                <a:noFill/>
              </a:ln>
            </c:spPr>
          </c:dPt>
          <c:dPt>
            <c:idx val="19"/>
            <c:spPr>
              <a:solidFill>
                <a:srgbClr val="E97132"/>
              </a:solidFill>
              <a:ln>
                <a:noFill/>
              </a:ln>
            </c:spPr>
          </c:dPt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100</c:v>
                </c:pt>
                <c:pt idx="1">
                  <c:v>125</c:v>
                </c:pt>
                <c:pt idx="2">
                  <c:v>156</c:v>
                </c:pt>
                <c:pt idx="3">
                  <c:v>195</c:v>
                </c:pt>
                <c:pt idx="4">
                  <c:v>352</c:v>
                </c:pt>
                <c:pt idx="5">
                  <c:v>464</c:v>
                </c:pt>
                <c:pt idx="6">
                  <c:v>613</c:v>
                </c:pt>
                <c:pt idx="7">
                  <c:v>809</c:v>
                </c:pt>
                <c:pt idx="8">
                  <c:v>1067</c:v>
                </c:pt>
                <c:pt idx="9">
                  <c:v>1409</c:v>
                </c:pt>
                <c:pt idx="10">
                  <c:v>1860</c:v>
                </c:pt>
                <c:pt idx="11">
                  <c:v>2455</c:v>
                </c:pt>
                <c:pt idx="12">
                  <c:v>3240</c:v>
                </c:pt>
                <c:pt idx="13">
                  <c:v>4277</c:v>
                </c:pt>
                <c:pt idx="14">
                  <c:v>5646</c:v>
                </c:pt>
                <c:pt idx="15">
                  <c:v>9881</c:v>
                </c:pt>
                <c:pt idx="16">
                  <c:v>16797</c:v>
                </c:pt>
                <c:pt idx="17">
                  <c:v>35273</c:v>
                </c:pt>
                <c:pt idx="18">
                  <c:v>77602</c:v>
                </c:pt>
                <c:pt idx="19">
                  <c:v>186244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  <c:min val="1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난이도 상승 (이전 층 대비 배율)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이전 층 대비 상승</c:v>
                </c:pt>
              </c:strCache>
            </c:strRef>
          </c:tx>
          <c:dPt>
            <c:idx val="0"/>
            <c:spPr>
              <a:solidFill>
                <a:srgbClr val="BFBFBF"/>
              </a:solidFill>
              <a:ln>
                <a:noFill/>
              </a:ln>
            </c:spPr>
          </c:dPt>
          <c:dPt>
            <c:idx val="1"/>
            <c:spPr>
              <a:solidFill>
                <a:srgbClr val="BFBFBF"/>
              </a:solidFill>
              <a:ln>
                <a:noFill/>
              </a:ln>
            </c:spPr>
          </c:dPt>
          <c:dPt>
            <c:idx val="2"/>
            <c:spPr>
              <a:solidFill>
                <a:srgbClr val="BFBFBF"/>
              </a:solidFill>
              <a:ln>
                <a:noFill/>
              </a:ln>
            </c:spPr>
          </c:dPt>
          <c:dPt>
            <c:idx val="3"/>
            <c:spPr>
              <a:solidFill>
                <a:srgbClr val="E97132"/>
              </a:solidFill>
              <a:ln>
                <a:noFill/>
              </a:ln>
            </c:spPr>
          </c:dPt>
          <c:dPt>
            <c:idx val="4"/>
            <c:spPr>
              <a:solidFill>
                <a:srgbClr val="8C8C8C"/>
              </a:solidFill>
              <a:ln>
                <a:noFill/>
              </a:ln>
            </c:spPr>
          </c:dPt>
          <c:dPt>
            <c:idx val="5"/>
            <c:spPr>
              <a:solidFill>
                <a:srgbClr val="8C8C8C"/>
              </a:solidFill>
              <a:ln>
                <a:noFill/>
              </a:ln>
            </c:spPr>
          </c:dPt>
          <c:dPt>
            <c:idx val="6"/>
            <c:spPr>
              <a:solidFill>
                <a:srgbClr val="8C8C8C"/>
              </a:solidFill>
              <a:ln>
                <a:noFill/>
              </a:ln>
            </c:spPr>
          </c:dPt>
          <c:dPt>
            <c:idx val="7"/>
            <c:spPr>
              <a:solidFill>
                <a:srgbClr val="8C8C8C"/>
              </a:solidFill>
              <a:ln>
                <a:noFill/>
              </a:ln>
            </c:spPr>
          </c:dPt>
          <c:dPt>
            <c:idx val="8"/>
            <c:spPr>
              <a:solidFill>
                <a:srgbClr val="8C8C8C"/>
              </a:solidFill>
              <a:ln>
                <a:noFill/>
              </a:ln>
            </c:spPr>
          </c:dPt>
          <c:dPt>
            <c:idx val="9"/>
            <c:spPr>
              <a:solidFill>
                <a:srgbClr val="8C8C8C"/>
              </a:solidFill>
              <a:ln>
                <a:noFill/>
              </a:ln>
            </c:spPr>
          </c:dPt>
          <c:dPt>
            <c:idx val="10"/>
            <c:spPr>
              <a:solidFill>
                <a:srgbClr val="8C8C8C"/>
              </a:solidFill>
              <a:ln>
                <a:noFill/>
              </a:ln>
            </c:spPr>
          </c:dPt>
          <c:dPt>
            <c:idx val="11"/>
            <c:spPr>
              <a:solidFill>
                <a:srgbClr val="8C8C8C"/>
              </a:solidFill>
              <a:ln>
                <a:noFill/>
              </a:ln>
            </c:spPr>
          </c:dPt>
          <c:dPt>
            <c:idx val="12"/>
            <c:spPr>
              <a:solidFill>
                <a:srgbClr val="8C8C8C"/>
              </a:solidFill>
              <a:ln>
                <a:noFill/>
              </a:ln>
            </c:spPr>
          </c:dPt>
          <c:dPt>
            <c:idx val="13"/>
            <c:spPr>
              <a:solidFill>
                <a:srgbClr val="8C8C8C"/>
              </a:solidFill>
              <a:ln>
                <a:noFill/>
              </a:ln>
            </c:spPr>
          </c:dPt>
          <c:dPt>
            <c:idx val="14"/>
            <c:spPr>
              <a:solidFill>
                <a:srgbClr val="E97132"/>
              </a:solidFill>
              <a:ln>
                <a:noFill/>
              </a:ln>
            </c:spPr>
          </c:dPt>
          <c:dPt>
            <c:idx val="15"/>
            <c:spPr>
              <a:solidFill>
                <a:srgbClr val="F4B183"/>
              </a:solidFill>
              <a:ln>
                <a:noFill/>
              </a:ln>
            </c:spPr>
          </c:dPt>
          <c:dPt>
            <c:idx val="16"/>
            <c:spPr>
              <a:solidFill>
                <a:srgbClr val="E97132"/>
              </a:solidFill>
              <a:ln>
                <a:noFill/>
              </a:ln>
            </c:spPr>
          </c:dPt>
          <c:dPt>
            <c:idx val="17"/>
            <c:spPr>
              <a:solidFill>
                <a:srgbClr val="F4B183"/>
              </a:solidFill>
              <a:ln>
                <a:noFill/>
              </a:ln>
            </c:spPr>
          </c:dPt>
          <c:dPt>
            <c:idx val="18"/>
            <c:spPr>
              <a:solidFill>
                <a:srgbClr val="E97132"/>
              </a:solidFill>
              <a:ln>
                <a:noFill/>
              </a:ln>
            </c:spPr>
          </c:dPt>
          <c:cat>
            <c:strRef>
              <c:f>Sheet1!$A$2:$A$20</c:f>
              <c:strCache>
                <c:ptCount val="1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1.25</c:v>
                </c:pt>
                <c:pt idx="1">
                  <c:v>1.25</c:v>
                </c:pt>
                <c:pt idx="2">
                  <c:v>1.25</c:v>
                </c:pt>
                <c:pt idx="3">
                  <c:v>1.8</c:v>
                </c:pt>
                <c:pt idx="4">
                  <c:v>1.32</c:v>
                </c:pt>
                <c:pt idx="5">
                  <c:v>1.32</c:v>
                </c:pt>
                <c:pt idx="6">
                  <c:v>1.32</c:v>
                </c:pt>
                <c:pt idx="7">
                  <c:v>1.32</c:v>
                </c:pt>
                <c:pt idx="8">
                  <c:v>1.32</c:v>
                </c:pt>
                <c:pt idx="9">
                  <c:v>1.32</c:v>
                </c:pt>
                <c:pt idx="10">
                  <c:v>1.32</c:v>
                </c:pt>
                <c:pt idx="11">
                  <c:v>1.32</c:v>
                </c:pt>
                <c:pt idx="12">
                  <c:v>1.32</c:v>
                </c:pt>
                <c:pt idx="13">
                  <c:v>1.32</c:v>
                </c:pt>
                <c:pt idx="14">
                  <c:v>1.75</c:v>
                </c:pt>
                <c:pt idx="15">
                  <c:v>1.7</c:v>
                </c:pt>
                <c:pt idx="16">
                  <c:v>2.1</c:v>
                </c:pt>
                <c:pt idx="17">
                  <c:v>2.2</c:v>
                </c:pt>
                <c:pt idx="18">
                  <c:v>2.4</c:v>
                </c:pt>
              </c:numCache>
            </c:numRef>
          </c:val>
        </c:ser>
        <c:dLbls>
          <c:numFmt formatCode="×0.0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6"/>
          <c:min val="1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×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돌파 시간 — 적정일 때 vs 아무리 강해도 걸리는 최소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적정 찍찍일 때 돌파 (초)</c:v>
                </c:pt>
              </c:strCache>
            </c:strRef>
          </c:tx>
          <c:spPr>
            <a:solidFill>
              <a:srgbClr val="BFBFBF"/>
            </a:solidFill>
          </c:spPr>
          <c:cat>
            <c:strRef>
              <c:f>Sheet1!$A$2:$A$21</c:f>
              <c:strCache>
                <c:ptCount val="20"/>
                <c:pt idx="0">
                  <c:v>1층
방2</c:v>
                </c:pt>
                <c:pt idx="1">
                  <c:v>2층
방3</c:v>
                </c:pt>
                <c:pt idx="2">
                  <c:v>3층
방3</c:v>
                </c:pt>
                <c:pt idx="3">
                  <c:v>4층
방4</c:v>
                </c:pt>
                <c:pt idx="4">
                  <c:v>5층
방4</c:v>
                </c:pt>
                <c:pt idx="5">
                  <c:v>6층
방5</c:v>
                </c:pt>
                <c:pt idx="6">
                  <c:v>7층
방5</c:v>
                </c:pt>
                <c:pt idx="7">
                  <c:v>8층
방6</c:v>
                </c:pt>
                <c:pt idx="8">
                  <c:v>9층
방6</c:v>
                </c:pt>
                <c:pt idx="9">
                  <c:v>10층
방7</c:v>
                </c:pt>
                <c:pt idx="10">
                  <c:v>11층
방7</c:v>
                </c:pt>
                <c:pt idx="11">
                  <c:v>12층
방8</c:v>
                </c:pt>
                <c:pt idx="12">
                  <c:v>13층
방8</c:v>
                </c:pt>
                <c:pt idx="13">
                  <c:v>14층
방9</c:v>
                </c:pt>
                <c:pt idx="14">
                  <c:v>15층
방9</c:v>
                </c:pt>
                <c:pt idx="15">
                  <c:v>16층
방9</c:v>
                </c:pt>
                <c:pt idx="16">
                  <c:v>17층
방9</c:v>
                </c:pt>
                <c:pt idx="17">
                  <c:v>18층
방9</c:v>
                </c:pt>
                <c:pt idx="18">
                  <c:v>19층
방9</c:v>
                </c:pt>
                <c:pt idx="19">
                  <c:v>20층
방9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108</c:v>
                </c:pt>
                <c:pt idx="1">
                  <c:v>108</c:v>
                </c:pt>
                <c:pt idx="2">
                  <c:v>108</c:v>
                </c:pt>
                <c:pt idx="3">
                  <c:v>108</c:v>
                </c:pt>
                <c:pt idx="4">
                  <c:v>162</c:v>
                </c:pt>
                <c:pt idx="5">
                  <c:v>108</c:v>
                </c:pt>
                <c:pt idx="6">
                  <c:v>108</c:v>
                </c:pt>
                <c:pt idx="7">
                  <c:v>108</c:v>
                </c:pt>
                <c:pt idx="8">
                  <c:v>108</c:v>
                </c:pt>
                <c:pt idx="9">
                  <c:v>108</c:v>
                </c:pt>
                <c:pt idx="10">
                  <c:v>108</c:v>
                </c:pt>
                <c:pt idx="11">
                  <c:v>108</c:v>
                </c:pt>
                <c:pt idx="12">
                  <c:v>108</c:v>
                </c:pt>
                <c:pt idx="13">
                  <c:v>108</c:v>
                </c:pt>
                <c:pt idx="14">
                  <c:v>108</c:v>
                </c:pt>
                <c:pt idx="15">
                  <c:v>162</c:v>
                </c:pt>
                <c:pt idx="16">
                  <c:v>135</c:v>
                </c:pt>
                <c:pt idx="17">
                  <c:v>162</c:v>
                </c:pt>
                <c:pt idx="18">
                  <c:v>135</c:v>
                </c:pt>
                <c:pt idx="19">
                  <c:v>162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충분히 강해도 걸리는 최소 시간 (초) = 방 × 10초 + 계단</c:v>
                </c:pt>
              </c:strCache>
            </c:strRef>
          </c:tx>
          <c:spPr>
            <a:solidFill>
              <a:srgbClr val="E97132"/>
            </a:solidFill>
          </c:spPr>
          <c:cat>
            <c:strRef>
              <c:f>Sheet1!$A$2:$A$21</c:f>
              <c:strCache>
                <c:ptCount val="20"/>
                <c:pt idx="0">
                  <c:v>1층
방2</c:v>
                </c:pt>
                <c:pt idx="1">
                  <c:v>2층
방3</c:v>
                </c:pt>
                <c:pt idx="2">
                  <c:v>3층
방3</c:v>
                </c:pt>
                <c:pt idx="3">
                  <c:v>4층
방4</c:v>
                </c:pt>
                <c:pt idx="4">
                  <c:v>5층
방4</c:v>
                </c:pt>
                <c:pt idx="5">
                  <c:v>6층
방5</c:v>
                </c:pt>
                <c:pt idx="6">
                  <c:v>7층
방5</c:v>
                </c:pt>
                <c:pt idx="7">
                  <c:v>8층
방6</c:v>
                </c:pt>
                <c:pt idx="8">
                  <c:v>9층
방6</c:v>
                </c:pt>
                <c:pt idx="9">
                  <c:v>10층
방7</c:v>
                </c:pt>
                <c:pt idx="10">
                  <c:v>11층
방7</c:v>
                </c:pt>
                <c:pt idx="11">
                  <c:v>12층
방8</c:v>
                </c:pt>
                <c:pt idx="12">
                  <c:v>13층
방8</c:v>
                </c:pt>
                <c:pt idx="13">
                  <c:v>14층
방9</c:v>
                </c:pt>
                <c:pt idx="14">
                  <c:v>15층
방9</c:v>
                </c:pt>
                <c:pt idx="15">
                  <c:v>16층
방9</c:v>
                </c:pt>
                <c:pt idx="16">
                  <c:v>17층
방9</c:v>
                </c:pt>
                <c:pt idx="17">
                  <c:v>18층
방9</c:v>
                </c:pt>
                <c:pt idx="18">
                  <c:v>19층
방9</c:v>
                </c:pt>
                <c:pt idx="19">
                  <c:v>20층
방9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28.0</c:v>
                </c:pt>
                <c:pt idx="1">
                  <c:v>38.0</c:v>
                </c:pt>
                <c:pt idx="2">
                  <c:v>38.0</c:v>
                </c:pt>
                <c:pt idx="3">
                  <c:v>48.0</c:v>
                </c:pt>
                <c:pt idx="4">
                  <c:v>48.0</c:v>
                </c:pt>
                <c:pt idx="5">
                  <c:v>58.0</c:v>
                </c:pt>
                <c:pt idx="6">
                  <c:v>58.0</c:v>
                </c:pt>
                <c:pt idx="7">
                  <c:v>68.0</c:v>
                </c:pt>
                <c:pt idx="8">
                  <c:v>68.0</c:v>
                </c:pt>
                <c:pt idx="9">
                  <c:v>78.0</c:v>
                </c:pt>
                <c:pt idx="10">
                  <c:v>78.0</c:v>
                </c:pt>
                <c:pt idx="11">
                  <c:v>88.0</c:v>
                </c:pt>
                <c:pt idx="12">
                  <c:v>88.0</c:v>
                </c:pt>
                <c:pt idx="13">
                  <c:v>98.0</c:v>
                </c:pt>
                <c:pt idx="14">
                  <c:v>98.0</c:v>
                </c:pt>
                <c:pt idx="15">
                  <c:v>98.0</c:v>
                </c:pt>
                <c:pt idx="16">
                  <c:v>98.0</c:v>
                </c:pt>
                <c:pt idx="17">
                  <c:v>98.0</c:v>
                </c:pt>
                <c:pt idx="18">
                  <c:v>98.0</c:v>
                </c:pt>
                <c:pt idx="19">
                  <c:v>98.0</c:v>
                </c:pt>
              </c:numCache>
            </c:numRef>
          </c:val>
        </c:ser>
        <c:gapWidth val="4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0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&quot;초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30.0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적정 찍찍 (1층 = 100 · 로그 눈금)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적정 찍찍</c:v>
                </c:pt>
              </c:strCache>
            </c:strRef>
          </c:tx>
          <c:dPt>
            <c:idx val="0"/>
            <c:spPr>
              <a:solidFill>
                <a:srgbClr val="BFBFBF"/>
              </a:solidFill>
              <a:ln>
                <a:noFill/>
              </a:ln>
            </c:spPr>
          </c:dPt>
          <c:dPt>
            <c:idx val="1"/>
            <c:spPr>
              <a:solidFill>
                <a:srgbClr val="BFBFBF"/>
              </a:solidFill>
              <a:ln>
                <a:noFill/>
              </a:ln>
            </c:spPr>
          </c:dPt>
          <c:dPt>
            <c:idx val="2"/>
            <c:spPr>
              <a:solidFill>
                <a:srgbClr val="BFBFBF"/>
              </a:solidFill>
              <a:ln>
                <a:noFill/>
              </a:ln>
            </c:spPr>
          </c:dPt>
          <c:dPt>
            <c:idx val="3"/>
            <c:spPr>
              <a:solidFill>
                <a:srgbClr val="BFBFBF"/>
              </a:solidFill>
              <a:ln>
                <a:noFill/>
              </a:ln>
            </c:spPr>
          </c:dPt>
          <c:dPt>
            <c:idx val="4"/>
            <c:spPr>
              <a:solidFill>
                <a:srgbClr val="E97132"/>
              </a:solidFill>
              <a:ln>
                <a:noFill/>
              </a:ln>
            </c:spPr>
          </c:dPt>
          <c:dPt>
            <c:idx val="5"/>
            <c:spPr>
              <a:solidFill>
                <a:srgbClr val="8C8C8C"/>
              </a:solidFill>
              <a:ln>
                <a:noFill/>
              </a:ln>
            </c:spPr>
          </c:dPt>
          <c:dPt>
            <c:idx val="6"/>
            <c:spPr>
              <a:solidFill>
                <a:srgbClr val="8C8C8C"/>
              </a:solidFill>
              <a:ln>
                <a:noFill/>
              </a:ln>
            </c:spPr>
          </c:dPt>
          <c:dPt>
            <c:idx val="7"/>
            <c:spPr>
              <a:solidFill>
                <a:srgbClr val="8C8C8C"/>
              </a:solidFill>
              <a:ln>
                <a:noFill/>
              </a:ln>
            </c:spPr>
          </c:dPt>
          <c:dPt>
            <c:idx val="8"/>
            <c:spPr>
              <a:solidFill>
                <a:srgbClr val="8C8C8C"/>
              </a:solidFill>
              <a:ln>
                <a:noFill/>
              </a:ln>
            </c:spPr>
          </c:dPt>
          <c:dPt>
            <c:idx val="9"/>
            <c:spPr>
              <a:solidFill>
                <a:srgbClr val="8C8C8C"/>
              </a:solidFill>
              <a:ln>
                <a:noFill/>
              </a:ln>
            </c:spPr>
          </c:dPt>
          <c:dPt>
            <c:idx val="10"/>
            <c:spPr>
              <a:solidFill>
                <a:srgbClr val="8C8C8C"/>
              </a:solidFill>
              <a:ln>
                <a:noFill/>
              </a:ln>
            </c:spPr>
          </c:dPt>
          <c:dPt>
            <c:idx val="11"/>
            <c:spPr>
              <a:solidFill>
                <a:srgbClr val="8C8C8C"/>
              </a:solidFill>
              <a:ln>
                <a:noFill/>
              </a:ln>
            </c:spPr>
          </c:dPt>
          <c:dPt>
            <c:idx val="12"/>
            <c:spPr>
              <a:solidFill>
                <a:srgbClr val="8C8C8C"/>
              </a:solidFill>
              <a:ln>
                <a:noFill/>
              </a:ln>
            </c:spPr>
          </c:dPt>
          <c:dPt>
            <c:idx val="13"/>
            <c:spPr>
              <a:solidFill>
                <a:srgbClr val="8C8C8C"/>
              </a:solidFill>
              <a:ln>
                <a:noFill/>
              </a:ln>
            </c:spPr>
          </c:dPt>
          <c:dPt>
            <c:idx val="14"/>
            <c:spPr>
              <a:solidFill>
                <a:srgbClr val="8C8C8C"/>
              </a:solidFill>
              <a:ln>
                <a:noFill/>
              </a:ln>
            </c:spPr>
          </c:dPt>
          <c:dPt>
            <c:idx val="15"/>
            <c:spPr>
              <a:solidFill>
                <a:srgbClr val="E97132"/>
              </a:solidFill>
              <a:ln>
                <a:noFill/>
              </a:ln>
            </c:spPr>
          </c:dPt>
          <c:dPt>
            <c:idx val="16"/>
            <c:spPr>
              <a:solidFill>
                <a:srgbClr val="F4B183"/>
              </a:solidFill>
              <a:ln>
                <a:noFill/>
              </a:ln>
            </c:spPr>
          </c:dPt>
          <c:dPt>
            <c:idx val="17"/>
            <c:spPr>
              <a:solidFill>
                <a:srgbClr val="E97132"/>
              </a:solidFill>
              <a:ln>
                <a:noFill/>
              </a:ln>
            </c:spPr>
          </c:dPt>
          <c:dPt>
            <c:idx val="18"/>
            <c:spPr>
              <a:solidFill>
                <a:srgbClr val="F4B183"/>
              </a:solidFill>
              <a:ln>
                <a:noFill/>
              </a:ln>
            </c:spPr>
          </c:dPt>
          <c:dPt>
            <c:idx val="19"/>
            <c:spPr>
              <a:solidFill>
                <a:srgbClr val="E97132"/>
              </a:solidFill>
              <a:ln>
                <a:noFill/>
              </a:ln>
            </c:spPr>
          </c:dPt>
          <c:dPt>
            <c:idx val="20"/>
            <c:spPr>
              <a:solidFill>
                <a:srgbClr val="E97132"/>
              </a:solidFill>
              <a:ln w="12700">
                <a:solidFill>
                  <a:srgbClr val="000000"/>
                </a:solidFill>
              </a:ln>
            </c:spPr>
          </c:dPt>
          <c:dPt>
            <c:idx val="21"/>
            <c:spPr>
              <a:solidFill>
                <a:srgbClr val="F4B183"/>
              </a:solidFill>
              <a:ln w="12700">
                <a:solidFill>
                  <a:srgbClr val="000000"/>
                </a:solidFill>
              </a:ln>
            </c:spPr>
          </c:dPt>
          <c:dPt>
            <c:idx val="22"/>
            <c:spPr>
              <a:solidFill>
                <a:srgbClr val="E97132"/>
              </a:solidFill>
              <a:ln w="12700">
                <a:solidFill>
                  <a:srgbClr val="000000"/>
                </a:solidFill>
              </a:ln>
            </c:spPr>
          </c:dPt>
          <c:dPt>
            <c:idx val="23"/>
            <c:spPr>
              <a:solidFill>
                <a:srgbClr val="F4B183"/>
              </a:solidFill>
              <a:ln w="12700">
                <a:solidFill>
                  <a:srgbClr val="000000"/>
                </a:solidFill>
              </a:ln>
            </c:spPr>
          </c:dPt>
          <c:dPt>
            <c:idx val="24"/>
            <c:spPr>
              <a:solidFill>
                <a:srgbClr val="E97132"/>
              </a:solidFill>
              <a:ln w="12700">
                <a:solidFill>
                  <a:srgbClr val="000000"/>
                </a:solidFill>
              </a:ln>
            </c:spPr>
          </c:dPt>
          <c:dPt>
            <c:idx val="25"/>
            <c:spPr>
              <a:solidFill>
                <a:srgbClr val="E97132"/>
              </a:solidFill>
              <a:ln w="12700">
                <a:solidFill>
                  <a:srgbClr val="000000"/>
                </a:solidFill>
              </a:ln>
            </c:spPr>
          </c:dPt>
          <c:dPt>
            <c:idx val="26"/>
            <c:spPr>
              <a:solidFill>
                <a:srgbClr val="F4B183"/>
              </a:solidFill>
              <a:ln w="12700">
                <a:solidFill>
                  <a:srgbClr val="000000"/>
                </a:solidFill>
              </a:ln>
            </c:spPr>
          </c:dPt>
          <c:dPt>
            <c:idx val="27"/>
            <c:spPr>
              <a:solidFill>
                <a:srgbClr val="E97132"/>
              </a:solidFill>
              <a:ln w="12700">
                <a:solidFill>
                  <a:srgbClr val="000000"/>
                </a:solidFill>
              </a:ln>
            </c:spPr>
          </c:dPt>
          <c:dPt>
            <c:idx val="28"/>
            <c:spPr>
              <a:solidFill>
                <a:srgbClr val="F4B183"/>
              </a:solidFill>
              <a:ln w="12700">
                <a:solidFill>
                  <a:srgbClr val="000000"/>
                </a:solidFill>
              </a:ln>
            </c:spPr>
          </c:dPt>
          <c:dPt>
            <c:idx val="29"/>
            <c:spPr>
              <a:solidFill>
                <a:srgbClr val="E97132"/>
              </a:solidFill>
              <a:ln w="12700">
                <a:solidFill>
                  <a:srgbClr val="000000"/>
                </a:solidFill>
              </a:ln>
            </c:spPr>
          </c:dPt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100</c:v>
                </c:pt>
                <c:pt idx="1">
                  <c:v>125</c:v>
                </c:pt>
                <c:pt idx="2">
                  <c:v>156</c:v>
                </c:pt>
                <c:pt idx="3">
                  <c:v>195</c:v>
                </c:pt>
                <c:pt idx="4">
                  <c:v>352</c:v>
                </c:pt>
                <c:pt idx="5">
                  <c:v>464</c:v>
                </c:pt>
                <c:pt idx="6">
                  <c:v>613</c:v>
                </c:pt>
                <c:pt idx="7">
                  <c:v>809</c:v>
                </c:pt>
                <c:pt idx="8">
                  <c:v>1067</c:v>
                </c:pt>
                <c:pt idx="9">
                  <c:v>1409</c:v>
                </c:pt>
                <c:pt idx="10">
                  <c:v>1860</c:v>
                </c:pt>
                <c:pt idx="11">
                  <c:v>2455</c:v>
                </c:pt>
                <c:pt idx="12">
                  <c:v>3240</c:v>
                </c:pt>
                <c:pt idx="13">
                  <c:v>4277</c:v>
                </c:pt>
                <c:pt idx="14">
                  <c:v>5646</c:v>
                </c:pt>
                <c:pt idx="15">
                  <c:v>9881</c:v>
                </c:pt>
                <c:pt idx="16">
                  <c:v>16797</c:v>
                </c:pt>
                <c:pt idx="17">
                  <c:v>35273</c:v>
                </c:pt>
                <c:pt idx="18">
                  <c:v>77602</c:v>
                </c:pt>
                <c:pt idx="19">
                  <c:v>186244</c:v>
                </c:pt>
                <c:pt idx="20">
                  <c:v>325927</c:v>
                </c:pt>
                <c:pt idx="21">
                  <c:v>554076</c:v>
                </c:pt>
                <c:pt idx="22">
                  <c:v>1163559</c:v>
                </c:pt>
                <c:pt idx="23">
                  <c:v>2559829</c:v>
                </c:pt>
                <c:pt idx="24">
                  <c:v>6143590</c:v>
                </c:pt>
                <c:pt idx="25">
                  <c:v>10751283</c:v>
                </c:pt>
                <c:pt idx="26">
                  <c:v>18277181</c:v>
                </c:pt>
                <c:pt idx="27">
                  <c:v>38382079</c:v>
                </c:pt>
                <c:pt idx="28">
                  <c:v>84440574</c:v>
                </c:pt>
                <c:pt idx="29">
                  <c:v>202657377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  <c:min val="10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플레이어 성장 그래프 — 판당 성장과 층당 난이도 (배율)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판당 플레이어 성장</c:v>
                </c:pt>
              </c:strCache>
            </c:strRef>
          </c:tx>
          <c:spPr>
            <a:solidFill>
              <a:srgbClr val="E97132"/>
            </a:solidFill>
          </c:spPr>
          <c:cat>
            <c:strRef>
              <c:f>Sheet1!$A$2:$A$4</c:f>
              <c:strCache>
                <c:ptCount val="3"/>
                <c:pt idx="0">
                  <c:v>초반 (1~5층)</c:v>
                </c:pt>
                <c:pt idx="1">
                  <c:v>중반 (6~15층)</c:v>
                </c:pt>
                <c:pt idx="2">
                  <c:v>후반 (16층~)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1.34</c:v>
                </c:pt>
                <c:pt idx="1">
                  <c:v>1.74</c:v>
                </c:pt>
                <c:pt idx="2">
                  <c:v>1.31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층당 난이도 상승</c:v>
                </c:pt>
              </c:strCache>
            </c:strRef>
          </c:tx>
          <c:spPr>
            <a:solidFill>
              <a:srgbClr val="BFBFBF"/>
            </a:solidFill>
          </c:spPr>
          <c:cat>
            <c:strRef>
              <c:f>Sheet1!$A$2:$A$4</c:f>
              <c:strCache>
                <c:ptCount val="3"/>
                <c:pt idx="0">
                  <c:v>초반 (1~5층)</c:v>
                </c:pt>
                <c:pt idx="1">
                  <c:v>중반 (6~15층)</c:v>
                </c:pt>
                <c:pt idx="2">
                  <c:v>후반 (16층~)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1.37</c:v>
                </c:pt>
                <c:pt idx="1">
                  <c:v>1.32</c:v>
                </c:pt>
                <c:pt idx="2">
                  <c:v>2.01</c:v>
                </c:pt>
              </c:numCache>
            </c:numRef>
          </c:val>
        </c:ser>
        <c:dLbls>
          <c:numFmt formatCode="×0.00" sourceLinked="0"/>
          <c:txPr>
            <a:bodyPr/>
            <a:lstStyle/>
            <a:p>
              <a:pPr>
                <a:defRPr sz="10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4"/>
          <c:min val="1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×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난이도 곡선 vs 플레이어 성장 곡선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난이도 (적정 찍찍)</c:v>
                </c:pt>
              </c:strCache>
            </c:strRef>
          </c:tx>
          <c:spPr>
            <a:ln w="25400">
              <a:solidFill>
                <a:srgbClr val="8C8C8C"/>
              </a:solidFill>
            </a:ln>
          </c:spPr>
          <c:marker>
            <c:size val="4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100</c:v>
                </c:pt>
                <c:pt idx="1">
                  <c:v>125</c:v>
                </c:pt>
                <c:pt idx="2">
                  <c:v>156</c:v>
                </c:pt>
                <c:pt idx="3">
                  <c:v>195</c:v>
                </c:pt>
                <c:pt idx="4">
                  <c:v>352</c:v>
                </c:pt>
                <c:pt idx="5">
                  <c:v>464</c:v>
                </c:pt>
                <c:pt idx="6">
                  <c:v>613</c:v>
                </c:pt>
                <c:pt idx="7">
                  <c:v>809</c:v>
                </c:pt>
                <c:pt idx="8">
                  <c:v>1067</c:v>
                </c:pt>
                <c:pt idx="9">
                  <c:v>1409</c:v>
                </c:pt>
                <c:pt idx="10">
                  <c:v>1860</c:v>
                </c:pt>
                <c:pt idx="11">
                  <c:v>2455</c:v>
                </c:pt>
                <c:pt idx="12">
                  <c:v>3240</c:v>
                </c:pt>
                <c:pt idx="13">
                  <c:v>4277</c:v>
                </c:pt>
                <c:pt idx="14">
                  <c:v>5646</c:v>
                </c:pt>
                <c:pt idx="15">
                  <c:v>9881</c:v>
                </c:pt>
                <c:pt idx="16">
                  <c:v>16797</c:v>
                </c:pt>
                <c:pt idx="17">
                  <c:v>35273</c:v>
                </c:pt>
                <c:pt idx="18">
                  <c:v>77602</c:v>
                </c:pt>
                <c:pt idx="19">
                  <c:v>186244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플레이어 기준 전투력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ize val="4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100</c:v>
                </c:pt>
                <c:pt idx="1">
                  <c:v>127</c:v>
                </c:pt>
                <c:pt idx="2">
                  <c:v>161</c:v>
                </c:pt>
                <c:pt idx="3">
                  <c:v>205</c:v>
                </c:pt>
                <c:pt idx="4">
                  <c:v>273</c:v>
                </c:pt>
                <c:pt idx="5">
                  <c:v>402</c:v>
                </c:pt>
                <c:pt idx="6">
                  <c:v>601</c:v>
                </c:pt>
                <c:pt idx="7">
                  <c:v>836</c:v>
                </c:pt>
                <c:pt idx="8">
                  <c:v>1120</c:v>
                </c:pt>
                <c:pt idx="9">
                  <c:v>1501</c:v>
                </c:pt>
                <c:pt idx="10">
                  <c:v>2011</c:v>
                </c:pt>
                <c:pt idx="11">
                  <c:v>2694</c:v>
                </c:pt>
                <c:pt idx="12">
                  <c:v>3611</c:v>
                </c:pt>
                <c:pt idx="13">
                  <c:v>4838</c:v>
                </c:pt>
                <c:pt idx="14">
                  <c:v>6483</c:v>
                </c:pt>
                <c:pt idx="15">
                  <c:v>9343</c:v>
                </c:pt>
                <c:pt idx="16">
                  <c:v>14855</c:v>
                </c:pt>
                <c:pt idx="17">
                  <c:v>24852</c:v>
                </c:pt>
                <c:pt idx="18">
                  <c:v>43749</c:v>
                </c:pt>
                <c:pt idx="19">
                  <c:v>81034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  <c:max val="1000000.0"/>
          <c:min val="10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여유도 = 기준 전투력 ÷ 난이도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전투력 ÷ 난이도</c:v>
                </c:pt>
              </c:strCache>
            </c:strRef>
          </c:tx>
          <c:dPt>
            <c:idx val="0"/>
            <c:spPr>
              <a:solidFill>
                <a:srgbClr val="F4B183"/>
              </a:solidFill>
              <a:ln>
                <a:noFill/>
              </a:ln>
            </c:spPr>
          </c:dPt>
          <c:dPt>
            <c:idx val="1"/>
            <c:spPr>
              <a:solidFill>
                <a:srgbClr val="F4B183"/>
              </a:solidFill>
              <a:ln>
                <a:noFill/>
              </a:ln>
            </c:spPr>
          </c:dPt>
          <c:dPt>
            <c:idx val="2"/>
            <c:spPr>
              <a:solidFill>
                <a:srgbClr val="F4B183"/>
              </a:solidFill>
              <a:ln>
                <a:noFill/>
              </a:ln>
            </c:spPr>
          </c:dPt>
          <c:dPt>
            <c:idx val="3"/>
            <c:spPr>
              <a:solidFill>
                <a:srgbClr val="F4B183"/>
              </a:solidFill>
              <a:ln>
                <a:noFill/>
              </a:ln>
            </c:spPr>
          </c:dPt>
          <c:dPt>
            <c:idx val="4"/>
            <c:spPr>
              <a:solidFill>
                <a:srgbClr val="F4B183"/>
              </a:solidFill>
              <a:ln>
                <a:noFill/>
              </a:ln>
            </c:spPr>
          </c:dPt>
          <c:dPt>
            <c:idx val="5"/>
            <c:spPr>
              <a:solidFill>
                <a:srgbClr val="E97132"/>
              </a:solidFill>
              <a:ln>
                <a:noFill/>
              </a:ln>
            </c:spPr>
          </c:dPt>
          <c:dPt>
            <c:idx val="6"/>
            <c:spPr>
              <a:solidFill>
                <a:srgbClr val="E97132"/>
              </a:solidFill>
              <a:ln>
                <a:noFill/>
              </a:ln>
            </c:spPr>
          </c:dPt>
          <c:dPt>
            <c:idx val="7"/>
            <c:spPr>
              <a:solidFill>
                <a:srgbClr val="E97132"/>
              </a:solidFill>
              <a:ln>
                <a:noFill/>
              </a:ln>
            </c:spPr>
          </c:dPt>
          <c:dPt>
            <c:idx val="8"/>
            <c:spPr>
              <a:solidFill>
                <a:srgbClr val="E97132"/>
              </a:solidFill>
              <a:ln>
                <a:noFill/>
              </a:ln>
            </c:spPr>
          </c:dPt>
          <c:dPt>
            <c:idx val="9"/>
            <c:spPr>
              <a:solidFill>
                <a:srgbClr val="E97132"/>
              </a:solidFill>
              <a:ln>
                <a:noFill/>
              </a:ln>
            </c:spPr>
          </c:dPt>
          <c:dPt>
            <c:idx val="10"/>
            <c:spPr>
              <a:solidFill>
                <a:srgbClr val="E97132"/>
              </a:solidFill>
              <a:ln>
                <a:noFill/>
              </a:ln>
            </c:spPr>
          </c:dPt>
          <c:dPt>
            <c:idx val="11"/>
            <c:spPr>
              <a:solidFill>
                <a:srgbClr val="E97132"/>
              </a:solidFill>
              <a:ln>
                <a:noFill/>
              </a:ln>
            </c:spPr>
          </c:dPt>
          <c:dPt>
            <c:idx val="12"/>
            <c:spPr>
              <a:solidFill>
                <a:srgbClr val="E97132"/>
              </a:solidFill>
              <a:ln>
                <a:noFill/>
              </a:ln>
            </c:spPr>
          </c:dPt>
          <c:dPt>
            <c:idx val="13"/>
            <c:spPr>
              <a:solidFill>
                <a:srgbClr val="E97132"/>
              </a:solidFill>
              <a:ln>
                <a:noFill/>
              </a:ln>
            </c:spPr>
          </c:dPt>
          <c:dPt>
            <c:idx val="14"/>
            <c:spPr>
              <a:solidFill>
                <a:srgbClr val="E97132"/>
              </a:solidFill>
              <a:ln>
                <a:noFill/>
              </a:ln>
            </c:spPr>
          </c:dPt>
          <c:dPt>
            <c:idx val="15"/>
            <c:spPr>
              <a:solidFill>
                <a:srgbClr val="BFBFBF"/>
              </a:solidFill>
              <a:ln>
                <a:noFill/>
              </a:ln>
            </c:spPr>
          </c:dPt>
          <c:dPt>
            <c:idx val="16"/>
            <c:spPr>
              <a:solidFill>
                <a:srgbClr val="BFBFBF"/>
              </a:solidFill>
              <a:ln>
                <a:noFill/>
              </a:ln>
            </c:spPr>
          </c:dPt>
          <c:dPt>
            <c:idx val="17"/>
            <c:spPr>
              <a:solidFill>
                <a:srgbClr val="BFBFBF"/>
              </a:solidFill>
              <a:ln>
                <a:noFill/>
              </a:ln>
            </c:spPr>
          </c:dPt>
          <c:dPt>
            <c:idx val="18"/>
            <c:spPr>
              <a:solidFill>
                <a:srgbClr val="BFBFBF"/>
              </a:solidFill>
              <a:ln>
                <a:noFill/>
              </a:ln>
            </c:spPr>
          </c:dPt>
          <c:dPt>
            <c:idx val="19"/>
            <c:spPr>
              <a:solidFill>
                <a:srgbClr val="BFBFBF"/>
              </a:solidFill>
              <a:ln>
                <a:noFill/>
              </a:ln>
            </c:spPr>
          </c:dPt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1.02</c:v>
                </c:pt>
                <c:pt idx="2">
                  <c:v>1.03</c:v>
                </c:pt>
                <c:pt idx="3">
                  <c:v>1.05</c:v>
                </c:pt>
                <c:pt idx="4">
                  <c:v>0.78</c:v>
                </c:pt>
                <c:pt idx="5">
                  <c:v>0.87</c:v>
                </c:pt>
                <c:pt idx="6">
                  <c:v>0.98</c:v>
                </c:pt>
                <c:pt idx="7">
                  <c:v>1.03</c:v>
                </c:pt>
                <c:pt idx="8">
                  <c:v>1.05</c:v>
                </c:pt>
                <c:pt idx="9">
                  <c:v>1.07</c:v>
                </c:pt>
                <c:pt idx="10">
                  <c:v>1.08</c:v>
                </c:pt>
                <c:pt idx="11">
                  <c:v>1.1</c:v>
                </c:pt>
                <c:pt idx="12">
                  <c:v>1.11</c:v>
                </c:pt>
                <c:pt idx="13">
                  <c:v>1.13</c:v>
                </c:pt>
                <c:pt idx="14">
                  <c:v>1.15</c:v>
                </c:pt>
                <c:pt idx="15">
                  <c:v>0.95</c:v>
                </c:pt>
                <c:pt idx="16">
                  <c:v>0.88</c:v>
                </c:pt>
                <c:pt idx="17">
                  <c:v>0.7</c:v>
                </c:pt>
                <c:pt idx="18">
                  <c:v>0.56</c:v>
                </c:pt>
                <c:pt idx="19">
                  <c:v>0.44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6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0.5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(1~5층)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난이도 (적정 찍찍)</c:v>
                </c:pt>
              </c:strCache>
            </c:strRef>
          </c:tx>
          <c:spPr>
            <a:ln w="25400">
              <a:solidFill>
                <a:srgbClr val="8C8C8C"/>
              </a:solidFill>
            </a:ln>
          </c:spPr>
          <c:marker>
            <c:size val="5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125</c:v>
                </c:pt>
                <c:pt idx="2">
                  <c:v>156</c:v>
                </c:pt>
                <c:pt idx="3">
                  <c:v>195</c:v>
                </c:pt>
                <c:pt idx="4">
                  <c:v>352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플레이어 기준 전투력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ize val="5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127</c:v>
                </c:pt>
                <c:pt idx="2">
                  <c:v>161</c:v>
                </c:pt>
                <c:pt idx="3">
                  <c:v>205</c:v>
                </c:pt>
                <c:pt idx="4">
                  <c:v>273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(5~15층)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난이도 (적정 찍찍)</c:v>
                </c:pt>
              </c:strCache>
            </c:strRef>
          </c:tx>
          <c:spPr>
            <a:ln w="25400">
              <a:solidFill>
                <a:srgbClr val="8C8C8C"/>
              </a:solidFill>
            </a:ln>
          </c:spPr>
          <c:marker>
            <c:size val="5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352</c:v>
                </c:pt>
                <c:pt idx="1">
                  <c:v>464</c:v>
                </c:pt>
                <c:pt idx="2">
                  <c:v>613</c:v>
                </c:pt>
                <c:pt idx="3">
                  <c:v>809</c:v>
                </c:pt>
                <c:pt idx="4">
                  <c:v>1067</c:v>
                </c:pt>
                <c:pt idx="5">
                  <c:v>1409</c:v>
                </c:pt>
                <c:pt idx="6">
                  <c:v>1860</c:v>
                </c:pt>
                <c:pt idx="7">
                  <c:v>2455</c:v>
                </c:pt>
                <c:pt idx="8">
                  <c:v>3240</c:v>
                </c:pt>
                <c:pt idx="9">
                  <c:v>4277</c:v>
                </c:pt>
                <c:pt idx="10">
                  <c:v>5646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플레이어 기준 전투력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ize val="5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273</c:v>
                </c:pt>
                <c:pt idx="1">
                  <c:v>402</c:v>
                </c:pt>
                <c:pt idx="2">
                  <c:v>601</c:v>
                </c:pt>
                <c:pt idx="3">
                  <c:v>836</c:v>
                </c:pt>
                <c:pt idx="4">
                  <c:v>1120</c:v>
                </c:pt>
                <c:pt idx="5">
                  <c:v>1501</c:v>
                </c:pt>
                <c:pt idx="6">
                  <c:v>2011</c:v>
                </c:pt>
                <c:pt idx="7">
                  <c:v>2694</c:v>
                </c:pt>
                <c:pt idx="8">
                  <c:v>3611</c:v>
                </c:pt>
                <c:pt idx="9">
                  <c:v>4838</c:v>
                </c:pt>
                <c:pt idx="10">
                  <c:v>6483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(15~20층)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난이도 (적정 찍찍)</c:v>
                </c:pt>
              </c:strCache>
            </c:strRef>
          </c:tx>
          <c:spPr>
            <a:ln w="25400">
              <a:solidFill>
                <a:srgbClr val="8C8C8C"/>
              </a:solidFill>
            </a:ln>
          </c:spPr>
          <c:marker>
            <c:size val="5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15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5646</c:v>
                </c:pt>
                <c:pt idx="1">
                  <c:v>9881</c:v>
                </c:pt>
                <c:pt idx="2">
                  <c:v>16797</c:v>
                </c:pt>
                <c:pt idx="3">
                  <c:v>35273</c:v>
                </c:pt>
                <c:pt idx="4">
                  <c:v>77602</c:v>
                </c:pt>
                <c:pt idx="5">
                  <c:v>186244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플레이어 기준 전투력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ize val="5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15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20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6483</c:v>
                </c:pt>
                <c:pt idx="1">
                  <c:v>9343</c:v>
                </c:pt>
                <c:pt idx="2">
                  <c:v>14855</c:v>
                </c:pt>
                <c:pt idx="3">
                  <c:v>24852</c:v>
                </c:pt>
                <c:pt idx="4">
                  <c:v>43749</c:v>
                </c:pt>
                <c:pt idx="5">
                  <c:v>81034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플레이어 성장 그래프 — 판별 최고 층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그 판의 최고 층</c:v>
                </c:pt>
              </c:strCache>
            </c:strRef>
          </c:tx>
          <c:dPt>
            <c:idx val="0"/>
            <c:spPr>
              <a:solidFill>
                <a:srgbClr val="F4B183"/>
              </a:solidFill>
              <a:ln>
                <a:noFill/>
              </a:ln>
            </c:spPr>
          </c:dPt>
          <c:dPt>
            <c:idx val="1"/>
            <c:spPr>
              <a:solidFill>
                <a:srgbClr val="F4B183"/>
              </a:solidFill>
              <a:ln>
                <a:noFill/>
              </a:ln>
            </c:spPr>
          </c:dPt>
          <c:dPt>
            <c:idx val="2"/>
            <c:spPr>
              <a:solidFill>
                <a:srgbClr val="F4B183"/>
              </a:solidFill>
              <a:ln>
                <a:noFill/>
              </a:ln>
            </c:spPr>
          </c:dPt>
          <c:dPt>
            <c:idx val="3"/>
            <c:spPr>
              <a:solidFill>
                <a:srgbClr val="E97132"/>
              </a:solidFill>
              <a:ln>
                <a:noFill/>
              </a:ln>
            </c:spPr>
          </c:dPt>
          <c:dPt>
            <c:idx val="4"/>
            <c:spPr>
              <a:solidFill>
                <a:srgbClr val="E97132"/>
              </a:solidFill>
              <a:ln>
                <a:noFill/>
              </a:ln>
            </c:spPr>
          </c:dPt>
          <c:dPt>
            <c:idx val="5"/>
            <c:spPr>
              <a:solidFill>
                <a:srgbClr val="E97132"/>
              </a:solidFill>
              <a:ln>
                <a:noFill/>
              </a:ln>
            </c:spPr>
          </c:dPt>
          <c:dPt>
            <c:idx val="6"/>
            <c:spPr>
              <a:solidFill>
                <a:srgbClr val="E97132"/>
              </a:solidFill>
              <a:ln>
                <a:noFill/>
              </a:ln>
            </c:spPr>
          </c:dPt>
          <c:dPt>
            <c:idx val="7"/>
            <c:spPr>
              <a:solidFill>
                <a:srgbClr val="E97132"/>
              </a:solidFill>
              <a:ln>
                <a:noFill/>
              </a:ln>
            </c:spPr>
          </c:dPt>
          <c:dPt>
            <c:idx val="8"/>
            <c:spPr>
              <a:solidFill>
                <a:srgbClr val="BFBFBF"/>
              </a:solidFill>
              <a:ln>
                <a:noFill/>
              </a:ln>
            </c:spPr>
          </c:dPt>
          <c:dPt>
            <c:idx val="9"/>
            <c:spPr>
              <a:solidFill>
                <a:srgbClr val="BFBFBF"/>
              </a:solidFill>
              <a:ln>
                <a:noFill/>
              </a:ln>
            </c:spPr>
          </c:dPt>
          <c:dPt>
            <c:idx val="10"/>
            <c:spPr>
              <a:solidFill>
                <a:srgbClr val="BFBFBF"/>
              </a:solidFill>
              <a:ln>
                <a:noFill/>
              </a:ln>
            </c:spPr>
          </c:dPt>
          <c:dPt>
            <c:idx val="11"/>
            <c:spPr>
              <a:solidFill>
                <a:srgbClr val="BFBFBF"/>
              </a:solidFill>
              <a:ln>
                <a:noFill/>
              </a:ln>
            </c:spPr>
          </c:dPt>
          <c:dPt>
            <c:idx val="12"/>
            <c:spPr>
              <a:solidFill>
                <a:srgbClr val="BFBFBF"/>
              </a:solidFill>
              <a:ln>
                <a:noFill/>
              </a:ln>
            </c:spPr>
          </c:dPt>
          <c:dPt>
            <c:idx val="13"/>
            <c:spPr>
              <a:solidFill>
                <a:srgbClr val="BFBFBF"/>
              </a:solidFill>
              <a:ln>
                <a:noFill/>
              </a:ln>
            </c:spPr>
          </c:dPt>
          <c:dPt>
            <c:idx val="14"/>
            <c:spPr>
              <a:solidFill>
                <a:srgbClr val="BFBFBF"/>
              </a:solidFill>
              <a:ln>
                <a:noFill/>
              </a:ln>
            </c:spPr>
          </c:dPt>
          <c:dPt>
            <c:idx val="15"/>
            <c:spPr>
              <a:solidFill>
                <a:srgbClr val="BFBFBF"/>
              </a:solidFill>
              <a:ln>
                <a:noFill/>
              </a:ln>
            </c:spPr>
          </c:dPt>
          <c:dPt>
            <c:idx val="16"/>
            <c:spPr>
              <a:solidFill>
                <a:srgbClr val="BFBFBF"/>
              </a:solidFill>
              <a:ln>
                <a:noFill/>
              </a:ln>
            </c:spPr>
          </c:dPt>
          <c:dPt>
            <c:idx val="17"/>
            <c:spPr>
              <a:solidFill>
                <a:srgbClr val="BFBFBF"/>
              </a:solidFill>
              <a:ln>
                <a:noFill/>
              </a:ln>
            </c:spPr>
          </c:dPt>
          <c:dPt>
            <c:idx val="18"/>
            <c:spPr>
              <a:solidFill>
                <a:srgbClr val="BFBFBF"/>
              </a:solidFill>
              <a:ln>
                <a:noFill/>
              </a:ln>
            </c:spPr>
          </c:dPt>
          <c:dPt>
            <c:idx val="19"/>
            <c:spPr>
              <a:solidFill>
                <a:srgbClr val="BFBFBF"/>
              </a:solidFill>
              <a:ln>
                <a:noFill/>
              </a:ln>
            </c:spPr>
          </c:dPt>
          <c:dPt>
            <c:idx val="20"/>
            <c:spPr>
              <a:solidFill>
                <a:srgbClr val="BFBFBF"/>
              </a:solidFill>
              <a:ln>
                <a:noFill/>
              </a:ln>
            </c:spPr>
          </c:dPt>
          <c:cat>
            <c:strRef>
              <c:f>Sheet1!$A$2:$A$22</c:f>
              <c:strCache>
                <c:ptCount val="21"/>
                <c:pt idx="0">
                  <c:v>1판
10분</c:v>
                </c:pt>
                <c:pt idx="1">
                  <c:v>2판
18분</c:v>
                </c:pt>
                <c:pt idx="2">
                  <c:v>3판
29분</c:v>
                </c:pt>
                <c:pt idx="3">
                  <c:v>4판
46분</c:v>
                </c:pt>
                <c:pt idx="4">
                  <c:v>5판
1시간
04분</c:v>
                </c:pt>
                <c:pt idx="5">
                  <c:v>6판
1시간
25분</c:v>
                </c:pt>
                <c:pt idx="6">
                  <c:v>7판
1시간
48분</c:v>
                </c:pt>
                <c:pt idx="7">
                  <c:v>8판
2시간
15분</c:v>
                </c:pt>
                <c:pt idx="8">
                  <c:v>9판
2시간
39분</c:v>
                </c:pt>
                <c:pt idx="9">
                  <c:v>10판
3시간
06분</c:v>
                </c:pt>
                <c:pt idx="10">
                  <c:v>11판
3시간
32분</c:v>
                </c:pt>
                <c:pt idx="11">
                  <c:v>12판
4시간
00분</c:v>
                </c:pt>
                <c:pt idx="12">
                  <c:v>13판
4시간
28분</c:v>
                </c:pt>
                <c:pt idx="13">
                  <c:v>14판
4시간
56분</c:v>
                </c:pt>
                <c:pt idx="14">
                  <c:v>15판
5시간
26분</c:v>
                </c:pt>
                <c:pt idx="15">
                  <c:v>16판
5시간
55분</c:v>
                </c:pt>
                <c:pt idx="16">
                  <c:v>17판
6시간
25분</c:v>
                </c:pt>
                <c:pt idx="17">
                  <c:v>18판
6시간
56분</c:v>
                </c:pt>
                <c:pt idx="18">
                  <c:v>19판
7시간
27분</c:v>
                </c:pt>
                <c:pt idx="19">
                  <c:v>20판
7시간
58분</c:v>
                </c:pt>
                <c:pt idx="20">
                  <c:v>21판
8시간
31분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  <c:pt idx="8">
                  <c:v>15</c:v>
                </c:pt>
                <c:pt idx="9">
                  <c:v>16</c:v>
                </c:pt>
                <c:pt idx="10">
                  <c:v>16</c:v>
                </c:pt>
                <c:pt idx="11">
                  <c:v>17</c:v>
                </c:pt>
                <c:pt idx="12">
                  <c:v>17</c:v>
                </c:pt>
                <c:pt idx="13">
                  <c:v>17</c:v>
                </c:pt>
                <c:pt idx="14">
                  <c:v>18</c:v>
                </c:pt>
                <c:pt idx="15">
                  <c:v>18</c:v>
                </c:pt>
                <c:pt idx="16">
                  <c:v>18</c:v>
                </c:pt>
                <c:pt idx="17">
                  <c:v>19</c:v>
                </c:pt>
                <c:pt idx="18">
                  <c:v>19</c:v>
                </c:pt>
                <c:pt idx="19">
                  <c:v>19</c:v>
                </c:pt>
                <c:pt idx="20">
                  <c:v>20</c:v>
                </c:pt>
              </c:numCache>
            </c:numRef>
          </c:val>
        </c:ser>
        <c:dLbls>
          <c:numFmt formatCode="0&quot;층&quot;" sourceLinked="0"/>
          <c:txPr>
            <a:bodyPr/>
            <a:lstStyle/>
            <a:p>
              <a:pPr>
                <a:defRPr sz="9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유저 소모 시간 — 이전 층을 처음 깬 뒤 이 층을 처음 깰 때까지 (분, 재도전 · 로비 포함)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머무는 시간 (분)</c:v>
                </c:pt>
              </c:strCache>
            </c:strRef>
          </c:tx>
          <c:dPt>
            <c:idx val="0"/>
            <c:spPr>
              <a:solidFill>
                <a:srgbClr val="BFBFBF"/>
              </a:solidFill>
              <a:ln>
                <a:noFill/>
              </a:ln>
            </c:spPr>
          </c:dPt>
          <c:dPt>
            <c:idx val="1"/>
            <c:spPr>
              <a:solidFill>
                <a:srgbClr val="BFBFBF"/>
              </a:solidFill>
              <a:ln>
                <a:noFill/>
              </a:ln>
            </c:spPr>
          </c:dPt>
          <c:dPt>
            <c:idx val="2"/>
            <c:spPr>
              <a:solidFill>
                <a:srgbClr val="BFBFBF"/>
              </a:solidFill>
              <a:ln>
                <a:noFill/>
              </a:ln>
            </c:spPr>
          </c:dPt>
          <c:dPt>
            <c:idx val="3"/>
            <c:spPr>
              <a:solidFill>
                <a:srgbClr val="BFBFBF"/>
              </a:solidFill>
              <a:ln>
                <a:noFill/>
              </a:ln>
            </c:spPr>
          </c:dPt>
          <c:dPt>
            <c:idx val="4"/>
            <c:spPr>
              <a:solidFill>
                <a:srgbClr val="E97132"/>
              </a:solidFill>
              <a:ln>
                <a:noFill/>
              </a:ln>
            </c:spPr>
          </c:dPt>
          <c:dPt>
            <c:idx val="5"/>
            <c:spPr>
              <a:solidFill>
                <a:srgbClr val="8C8C8C"/>
              </a:solidFill>
              <a:ln>
                <a:noFill/>
              </a:ln>
            </c:spPr>
          </c:dPt>
          <c:dPt>
            <c:idx val="6"/>
            <c:spPr>
              <a:solidFill>
                <a:srgbClr val="8C8C8C"/>
              </a:solidFill>
              <a:ln>
                <a:noFill/>
              </a:ln>
            </c:spPr>
          </c:dPt>
          <c:dPt>
            <c:idx val="7"/>
            <c:spPr>
              <a:solidFill>
                <a:srgbClr val="8C8C8C"/>
              </a:solidFill>
              <a:ln>
                <a:noFill/>
              </a:ln>
            </c:spPr>
          </c:dPt>
          <c:dPt>
            <c:idx val="8"/>
            <c:spPr>
              <a:solidFill>
                <a:srgbClr val="8C8C8C"/>
              </a:solidFill>
              <a:ln>
                <a:noFill/>
              </a:ln>
            </c:spPr>
          </c:dPt>
          <c:dPt>
            <c:idx val="9"/>
            <c:spPr>
              <a:solidFill>
                <a:srgbClr val="8C8C8C"/>
              </a:solidFill>
              <a:ln>
                <a:noFill/>
              </a:ln>
            </c:spPr>
          </c:dPt>
          <c:dPt>
            <c:idx val="10"/>
            <c:spPr>
              <a:solidFill>
                <a:srgbClr val="8C8C8C"/>
              </a:solidFill>
              <a:ln>
                <a:noFill/>
              </a:ln>
            </c:spPr>
          </c:dPt>
          <c:dPt>
            <c:idx val="11"/>
            <c:spPr>
              <a:solidFill>
                <a:srgbClr val="8C8C8C"/>
              </a:solidFill>
              <a:ln>
                <a:noFill/>
              </a:ln>
            </c:spPr>
          </c:dPt>
          <c:dPt>
            <c:idx val="12"/>
            <c:spPr>
              <a:solidFill>
                <a:srgbClr val="8C8C8C"/>
              </a:solidFill>
              <a:ln>
                <a:noFill/>
              </a:ln>
            </c:spPr>
          </c:dPt>
          <c:dPt>
            <c:idx val="13"/>
            <c:spPr>
              <a:solidFill>
                <a:srgbClr val="8C8C8C"/>
              </a:solidFill>
              <a:ln>
                <a:noFill/>
              </a:ln>
            </c:spPr>
          </c:dPt>
          <c:dPt>
            <c:idx val="14"/>
            <c:spPr>
              <a:solidFill>
                <a:srgbClr val="8C8C8C"/>
              </a:solidFill>
              <a:ln>
                <a:noFill/>
              </a:ln>
            </c:spPr>
          </c:dPt>
          <c:dPt>
            <c:idx val="15"/>
            <c:spPr>
              <a:solidFill>
                <a:srgbClr val="E97132"/>
              </a:solidFill>
              <a:ln>
                <a:noFill/>
              </a:ln>
            </c:spPr>
          </c:dPt>
          <c:dPt>
            <c:idx val="16"/>
            <c:spPr>
              <a:solidFill>
                <a:srgbClr val="F4B183"/>
              </a:solidFill>
              <a:ln>
                <a:noFill/>
              </a:ln>
            </c:spPr>
          </c:dPt>
          <c:dPt>
            <c:idx val="17"/>
            <c:spPr>
              <a:solidFill>
                <a:srgbClr val="E97132"/>
              </a:solidFill>
              <a:ln>
                <a:noFill/>
              </a:ln>
            </c:spPr>
          </c:dPt>
          <c:dPt>
            <c:idx val="18"/>
            <c:spPr>
              <a:solidFill>
                <a:srgbClr val="F4B183"/>
              </a:solidFill>
              <a:ln>
                <a:noFill/>
              </a:ln>
            </c:spPr>
          </c:dPt>
          <c:dPt>
            <c:idx val="19"/>
            <c:spPr>
              <a:solidFill>
                <a:srgbClr val="E97132"/>
              </a:solidFill>
              <a:ln>
                <a:noFill/>
              </a:ln>
            </c:spPr>
          </c:dPt>
          <c:cat>
            <c:strRef>
              <c:f>Sheet1!$A$2:$A$21</c:f>
              <c:strCache>
                <c:ptCount val="20"/>
                <c:pt idx="0">
                  <c:v>1층
방2</c:v>
                </c:pt>
                <c:pt idx="1">
                  <c:v>2층
방3</c:v>
                </c:pt>
                <c:pt idx="2">
                  <c:v>3층
방3</c:v>
                </c:pt>
                <c:pt idx="3">
                  <c:v>4층
방4</c:v>
                </c:pt>
                <c:pt idx="4">
                  <c:v>5층
방4</c:v>
                </c:pt>
                <c:pt idx="5">
                  <c:v>6층
방5</c:v>
                </c:pt>
                <c:pt idx="6">
                  <c:v>7층
방5</c:v>
                </c:pt>
                <c:pt idx="7">
                  <c:v>8층
방6</c:v>
                </c:pt>
                <c:pt idx="8">
                  <c:v>9층
방6</c:v>
                </c:pt>
                <c:pt idx="9">
                  <c:v>10층
방7</c:v>
                </c:pt>
                <c:pt idx="10">
                  <c:v>11층
방7</c:v>
                </c:pt>
                <c:pt idx="11">
                  <c:v>12층
방8</c:v>
                </c:pt>
                <c:pt idx="12">
                  <c:v>13층
방8</c:v>
                </c:pt>
                <c:pt idx="13">
                  <c:v>14층
방9</c:v>
                </c:pt>
                <c:pt idx="14">
                  <c:v>15층
방9</c:v>
                </c:pt>
                <c:pt idx="15">
                  <c:v>16층
방9</c:v>
                </c:pt>
                <c:pt idx="16">
                  <c:v>17층
방9</c:v>
                </c:pt>
                <c:pt idx="17">
                  <c:v>18층
방9</c:v>
                </c:pt>
                <c:pt idx="18">
                  <c:v>19층
방9</c:v>
                </c:pt>
                <c:pt idx="19">
                  <c:v>20층
방9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1.2</c:v>
                </c:pt>
                <c:pt idx="2">
                  <c:v>1.4</c:v>
                </c:pt>
                <c:pt idx="3">
                  <c:v>1.7</c:v>
                </c:pt>
                <c:pt idx="4">
                  <c:v>18.8</c:v>
                </c:pt>
                <c:pt idx="5">
                  <c:v>9.9</c:v>
                </c:pt>
                <c:pt idx="6">
                  <c:v>1.7</c:v>
                </c:pt>
                <c:pt idx="7">
                  <c:v>16.8</c:v>
                </c:pt>
                <c:pt idx="8">
                  <c:v>1.7</c:v>
                </c:pt>
                <c:pt idx="9">
                  <c:v>18.9</c:v>
                </c:pt>
                <c:pt idx="10">
                  <c:v>1.7</c:v>
                </c:pt>
                <c:pt idx="11">
                  <c:v>21.6</c:v>
                </c:pt>
                <c:pt idx="12">
                  <c:v>1.7</c:v>
                </c:pt>
                <c:pt idx="13">
                  <c:v>24.7</c:v>
                </c:pt>
                <c:pt idx="14">
                  <c:v>1.7</c:v>
                </c:pt>
                <c:pt idx="15">
                  <c:v>53.2</c:v>
                </c:pt>
                <c:pt idx="16">
                  <c:v>54.4</c:v>
                </c:pt>
                <c:pt idx="17">
                  <c:v>85.4</c:v>
                </c:pt>
                <c:pt idx="18">
                  <c:v>90.2</c:v>
                </c:pt>
                <c:pt idx="19">
                  <c:v>95.1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누적 플레이타임 vs 처음 깬 최고 층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건너뛰기 없음</c:v>
                </c:pt>
              </c:strCache>
            </c:strRef>
          </c:tx>
          <c:spPr>
            <a:ln w="31750">
              <a:solidFill>
                <a:srgbClr val="8C8C8C"/>
              </a:solidFill>
            </a:ln>
          </c:spPr>
          <c:marker>
            <c:symbol val="circle"/>
            <c:size val="5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0.016</c:v>
                </c:pt>
                <c:pt idx="2">
                  <c:v>0.035</c:v>
                </c:pt>
                <c:pt idx="3">
                  <c:v>0.059</c:v>
                </c:pt>
                <c:pt idx="4">
                  <c:v>0.088</c:v>
                </c:pt>
                <c:pt idx="5">
                  <c:v>0.401</c:v>
                </c:pt>
                <c:pt idx="6">
                  <c:v>0.566</c:v>
                </c:pt>
                <c:pt idx="7">
                  <c:v>0.595</c:v>
                </c:pt>
                <c:pt idx="8">
                  <c:v>0.876</c:v>
                </c:pt>
                <c:pt idx="9">
                  <c:v>0.905</c:v>
                </c:pt>
                <c:pt idx="10">
                  <c:v>1.219</c:v>
                </c:pt>
                <c:pt idx="11">
                  <c:v>1.248</c:v>
                </c:pt>
                <c:pt idx="12">
                  <c:v>1.608</c:v>
                </c:pt>
                <c:pt idx="13">
                  <c:v>1.637</c:v>
                </c:pt>
                <c:pt idx="14">
                  <c:v>2.049</c:v>
                </c:pt>
                <c:pt idx="15">
                  <c:v>2.078</c:v>
                </c:pt>
                <c:pt idx="16">
                  <c:v>2.965</c:v>
                </c:pt>
                <c:pt idx="17">
                  <c:v>3.872</c:v>
                </c:pt>
                <c:pt idx="18">
                  <c:v>5.295</c:v>
                </c:pt>
                <c:pt idx="19">
                  <c:v>6.799</c:v>
                </c:pt>
                <c:pt idx="20">
                  <c:v>8.385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Sheet1!$B$24</c:f>
              <c:strCache>
                <c:ptCount val="1"/>
                <c:pt idx="0">
                  <c:v>최대로 건너뛰기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ymbol val="circle"/>
            <c:size val="5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xVal>
            <c:numRef>
              <c:f>Sheet1!$A$25:$A$45</c:f>
              <c:numCache>
                <c:formatCode>General</c:formatCode>
                <c:ptCount val="21"/>
                <c:pt idx="0">
                  <c:v>0</c:v>
                </c:pt>
                <c:pt idx="1">
                  <c:v>0.016</c:v>
                </c:pt>
                <c:pt idx="2">
                  <c:v>0.035</c:v>
                </c:pt>
                <c:pt idx="3">
                  <c:v>0.059</c:v>
                </c:pt>
                <c:pt idx="4">
                  <c:v>0.088</c:v>
                </c:pt>
                <c:pt idx="5">
                  <c:v>0.401</c:v>
                </c:pt>
                <c:pt idx="6">
                  <c:v>0.548</c:v>
                </c:pt>
                <c:pt idx="7">
                  <c:v>0.577</c:v>
                </c:pt>
                <c:pt idx="8">
                  <c:v>0.828</c:v>
                </c:pt>
                <c:pt idx="9">
                  <c:v>0.857</c:v>
                </c:pt>
                <c:pt idx="10">
                  <c:v>1.117</c:v>
                </c:pt>
                <c:pt idx="11">
                  <c:v>1.146</c:v>
                </c:pt>
                <c:pt idx="12">
                  <c:v>1.434</c:v>
                </c:pt>
                <c:pt idx="13">
                  <c:v>1.463</c:v>
                </c:pt>
                <c:pt idx="14">
                  <c:v>1.768</c:v>
                </c:pt>
                <c:pt idx="15">
                  <c:v>1.797</c:v>
                </c:pt>
                <c:pt idx="16">
                  <c:v>2.433</c:v>
                </c:pt>
                <c:pt idx="17">
                  <c:v>3.089</c:v>
                </c:pt>
                <c:pt idx="18">
                  <c:v>4.135</c:v>
                </c:pt>
                <c:pt idx="19">
                  <c:v>5.262</c:v>
                </c:pt>
                <c:pt idx="20">
                  <c:v>6.471</c:v>
                </c:pt>
              </c:numCache>
            </c:numRef>
          </c:xVal>
          <c:yVal>
            <c:numRef>
              <c:f>Sheet1!$B$25:$B$45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.0"/>
          <c:min val="0.0"/>
        </c:scaling>
        <c:delete val="0"/>
        <c:axPos val="b"/>
        <c:majorGridlines>
          <c:spPr>
            <a:ln>
              <a:solidFill>
                <a:srgbClr val="EDEDED"/>
              </a:solidFill>
            </a:ln>
          </c:spPr>
        </c:majorGridlines>
        <c:numFmt formatCode="0&quot;시간&quot;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20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&quot;층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128940872"/>
        <c:crosses val="autoZero"/>
        <c:crossBetween val="midCat"/>
        <c:majorUnit val="5.0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층 별 허들 기획서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/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20261008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20261012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로그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53312" y="1645920"/>
          <a:ext cx="9482328" cy="47731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85800"/>
                <a:gridCol w="1325880"/>
                <a:gridCol w="1005840"/>
                <a:gridCol w="2011680"/>
                <a:gridCol w="445312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 내용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최초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양식 작성, 문서 생성, 목차 작성, 개요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내용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플레이타임 설계, 층 별 허들(목표 찍찍·벽·시간·보스·방 수), 허들표, 검증 기준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플레이타임 설계 수정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인게임 기준 구간 목표 반영 (초반 10분·재도전 1~2회 / 중반 40분·5~6회 / 후반 30~40분·5~6회), 연관 허들·허들표·검증 수정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2026-10-11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개정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회의 피드백 반영 — 구간 재정의(초반 20~30분 · 중반 ~2시간 반 · 후반 2시간 반~), 층별 방 수 · 제한 시간 180초 통일, 구간별 플레이 경험, 허들 배치(5 · 16층 허들, 17층~ 어려움 · 허들), 난이도 · 성장 곡선, 층별 소모 시간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2026-10-11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건너뛰기 추가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재도전 시작 층 선택(5층 클리어 시 3층 → 15층 클리어 시 10층 → 20층 클리어 시 15층 최대, 보정 없는 선택형), 해금표 · 플레이타임 영향(건너뛰기 없이 8.4시간 / 최대 건너뛰기 6.5시간), 허들 보상 · 정보 공개 · 남은 결정 반영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허들 조정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 완화(×2.2 → ×1.75, 3판 → 2판), 19층(×2.2, 2판 → 3판) · 20층(×2.4) 강화로 총 플레이타임 유지, 기준 성장 곡선 조정(16층 여유 0.97 → 0.95, 15층 → 16층 낙차 축소), 21~30층 적정 난이도(16~20층 배율 반복) 추가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한 장 요약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20층까지 약 8.5시간 — 초반 30분은 손, 중반 2시간은 머리, 후반은 눈과 긴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40280"/>
            <a:ext cx="3182112" cy="438912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 ·  1~5층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79192"/>
            <a:ext cx="31821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2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29분</a:t>
            </a:r>
          </a:p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여기까지 누적 플레이타임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" y="3502152"/>
            <a:ext cx="318211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3584" y="35844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판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3976" y="35844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3판 (재도전 2회)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389534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판당 진척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3976" y="3895344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첫 판 4층 → 5층 허들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4206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층당 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42062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2~4개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451713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난이도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4517136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 → 5층 허들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48280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노는 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48280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손 — 조작과 판단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2240280"/>
            <a:ext cx="3182112" cy="43891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 ·  6~15층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8848" y="2679192"/>
            <a:ext cx="31821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2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2시간 15분</a:t>
            </a:r>
          </a:p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여기까지 누적 플레이타임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8848" y="3502152"/>
            <a:ext cx="318211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35844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판 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35844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389534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판당 진척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8968" y="3895344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+2층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4206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층당 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8" y="42062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 → 9개 (늘어남)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451713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난이도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4517136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보통 (허들 없음)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6" y="48280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노는 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48280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머리 — 빌드와 성장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2240280"/>
            <a:ext cx="3182112" cy="43891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 ·  16~20층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2679192"/>
            <a:ext cx="31821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2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8시간 31분</a:t>
            </a:r>
          </a:p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여기까지 누적 플레이타임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3502152"/>
            <a:ext cx="318211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7" y="35844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 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35844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7" y="389534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진척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3895344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2~3판에 1층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7" y="4206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층당 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42062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9개 고정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7" y="451713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난이도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4517136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 · 어려움만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7" y="48280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노는 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48280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눈 — 연출과 깽판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" y="52852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 한 줄 지도 — 색 = 층 유형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7572" y="5577840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45920" y="5577840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44268" y="5577840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42616" y="5577840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40964" y="5577840"/>
            <a:ext cx="470916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39312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37660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36008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34356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32704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31052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27748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26096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24444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22792" y="5577840"/>
            <a:ext cx="470916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21140" y="5577840"/>
            <a:ext cx="470916" cy="384048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19488" y="5577840"/>
            <a:ext cx="470916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17836" y="5577840"/>
            <a:ext cx="470916" cy="384048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616184" y="5577840"/>
            <a:ext cx="470916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33856" y="6108192"/>
            <a:ext cx="146304" cy="14630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98448" y="6035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74519" y="6108192"/>
            <a:ext cx="146304" cy="14630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39112" y="6035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15184" y="6108192"/>
            <a:ext cx="146304" cy="146304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79776" y="6035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0" y="6108192"/>
            <a:ext cx="146304" cy="14630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39312" y="6035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54880" y="6035040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허들 = 5 · 16 · 18 · 20층 / 어려움 = 17 · 19층 / 제한 180초 / 층 건너뛰기 최대 사용 시 20층 약 6.6시간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기획 방향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같은 쥐 게임을 세 번 다르게 — 구간이 바뀔 때마다 플레이 경험과 스타일이 바뀌도록 층과 허들을 짠다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331720"/>
          <a:ext cx="9966960" cy="38039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4206240"/>
                <a:gridCol w="393192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회의 피드백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 문서의 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반영한 곳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초반이 짧고, 순수 메카닉스 재미가 검증되지 않음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= 1~5층 · 20~30분 · 필살기와 다양한 쥐 없이 조작과 전략만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 설계 – 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다양한 쥐 · 연출 · 깽판은 후반에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중반은 '쥐 한두 마리의 필살기', 깽판은 후반(16층~)에 몰아 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 설계 – 중반 · 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인크리멘탈 요소와 선택의 효과가 안 보임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중반은 판당 성장이 난이도보다 가파름 → 판마다 고점 2층 갱신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플레이어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성장 곡선에 기준이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판(런) 단위 성장 곡선을 먼저 정하고 수치를 맞춤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별 난이도 · 플레이어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힘든 구간과 쉬운 구간의 교차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· 16층에 허들, 그 사이 6~15층은 허들 없는 보통 층, 17층부터는 어려움 · 허들만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배치 · 가스 빼기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정보가 너무 많아 빨리 질림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구간별로 화면과 기능을 차등 공개, 20~30시간 정보는 끝까지 숨김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구성과 정보 공개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찍찍이면 일반 60% · 보스 90%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제한 시간은 모든 층 180초 — 쉬움 · 보통 60%, 어려움 75%, 허들 90%로 '목표 돌파 시간'을 정함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별 소모 시간 · 허들표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3856" y="623620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※ 현재 프로젝트는 구조(번식 · 벽 · 총공격 · 승급 · 로비 성장 · 5층마다 보스)만 참고했고, 모든 수치는 이 문서에서 새로 정한다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설계 원칙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627632"/>
            <a:ext cx="48463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16736" y="1810512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179222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구간마다 다른 게임을 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2377440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'손' — 조작과 판단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'머리' — 빌드와 성장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'눈' — 연출과 깽판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 전환 = 새 규칙과 새 화면이 열리는 순간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8776" y="1627632"/>
            <a:ext cx="48463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91656" y="1810512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0296" y="179222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성장 속도로 구간의 성격을 정한다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377440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초반: 재도전 1~2회로 5층 허들 격파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중반: 판당 성장 ×1.7 &gt; 층당 난이도 ×1.32 → 판마다 고점 2층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중반은 쉽지만 방이 5개 → 9개로 늘어 판이 길어짐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후반: 판당 성장 ×1.31 → 2~3판에 한 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6" y="4023360"/>
            <a:ext cx="48463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16736" y="4206240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418795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허들로 구간의 문을 단다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4773168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허들 = 초반 졸업 · 16층 허들 = 후반 입장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6~15층은 허들 없는 보통 층 — 성장이 난이도를 앞지름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17층부터는 어려움 · 허들만, 성장이 빨라지는 만큼 난이도는 더 가파르게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4023360"/>
            <a:ext cx="48463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91656" y="4206240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0296" y="418795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적정 찍찍 = 시간 기준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4773168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적정 찍찍일 때 쉬움 · 보통 층은 제한 시간의 60%, 어려움 75%, 허들 90%를 써서 돌파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제한 시간은 모든 층 180초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강해도 방 하나에 최소 10초 — 방이 많은 층은 쉬워도 오래 걸림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용어 정리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00200"/>
          <a:ext cx="9966960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521208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용어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뜻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 문서의 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 (런)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1층부터 다시 올라가는 한 번의 도전 — 제한 시간을 넘기면 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 = 튜토리얼 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 판에서 깬 가장 높은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중반은 판마다 고점 +2층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판과 판 사이 — 치즈 · 훈장으로 영구 성장을 사는 곳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1.5분 · 중반 7분 · 후반 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 층을 '적정 시간'에 깨는 데 필요한 전투력 (1층 = 100 지수)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352 · 20층 186,244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전투력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 무리 전체의 힘 — 판 안 번식 · 승급 + 로비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판당 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여유도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전투력 ÷ 적정 찍찍 — 1보다 크면 시원하게, 작으면 막힘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0.78 · 15층 1.15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 · 보통 · 어려움 · 허들 — 이전 층 대비 난이도 배율로 구분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 ×1.32 · 허들 ×1.75~2.4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층을 이루는 칸 — 벽을 뚫어 열고 계단 방까지 가야 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4개 · 15층부터 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제한 시간 · 목표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층마다 180초 · 적정 찍찍일 때 깨는 데 드는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 108초 · 허들 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머무는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 층을 처음 깬 뒤 이 층을 처음 깰 때까지 (재도전 · 로비 포함)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19분 · 20층 95분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기준 성장 곡선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진행에 따라 게임이 주는 성장 (반복 파밍 제외)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난이도 · 성장 곡선 비교 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세 구간 한눈에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초반은 손으로, 중반은 머리로, 후반은 눈으로 — 구간이 바뀌면 같은 쥐 게임의 노는 방법이 바뀐다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3182112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초반  ·  1~5층 클리어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743200"/>
            <a:ext cx="31821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2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20~30분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" y="3520440"/>
            <a:ext cx="31821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9576" y="3611880"/>
            <a:ext cx="3090672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 3개 · 재도전 1~2회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필살기 · 다양한 쥐 없이 번식 · 벽 · 총공격 · 승급만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첫 판에 4층까지 · 막힘은 5층 허들 하나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끝: 5층 허들 격파 → 첫 훈장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8848" y="2286000"/>
            <a:ext cx="3182112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 ·  6~15층 클리어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2743200"/>
            <a:ext cx="31821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2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누적 2~2.5시간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3520440"/>
            <a:ext cx="31821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3611880"/>
            <a:ext cx="3090672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 5개 · 판마다 고점 +2층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난이도는 쉽지만 방이 5개 → 9개로 늘어 판이 길어짐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'쥐 한두 마리가 필살기를 쓰네?'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판당 성장 ×1.7로 난이도(층당 ×1.32)를 앞지름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 없는 보통 10층 · 끝: 16층 허들 예고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286000"/>
            <a:ext cx="3182112" cy="45720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 ·  16층부터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743200"/>
            <a:ext cx="31821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2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2시간 반 이후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3520440"/>
            <a:ext cx="31821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611880"/>
            <a:ext cx="3090672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16층 허들부터 매 층이 벽 (어려움 · 허들) · 2~3판에 한 층 · 방 9개 고정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다양한 쥐의 필살기 연쇄 = 깽판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 최종 허들 약 8.5시간 · 21층~ 엔드게임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조각 수급 · 종결 쥐 · 도감 완성(20~30시간)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54681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누적 플레이타임 (로비 포함 · 표준 플레이 기준)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33856" y="5742432"/>
            <a:ext cx="527145" cy="41148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61001" y="5742432"/>
            <a:ext cx="1958722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106분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9724" y="5742432"/>
            <a:ext cx="7481091" cy="41148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→  20층 약 8.5시간 · 이후 엔드게임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553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2975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2시간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0415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785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4시간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529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2735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6시간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017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7시간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761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8시간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3505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9시간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지도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20층을 한 장에 — 층마다 유형 · 방 수 · 처음 깨는 판과 시점 · 머무는 시간</a:t>
            </a:r>
          </a:p>
        </p:txBody>
      </p:sp>
      <p:sp>
        <p:nvSpPr>
          <p:cNvPr id="7" name="Rectangle 6"/>
          <p:cNvSpPr/>
          <p:nvPr/>
        </p:nvSpPr>
        <p:spPr>
          <a:xfrm>
            <a:off x="1892807" y="2212848"/>
            <a:ext cx="2340864" cy="310896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 1~5층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2212848"/>
            <a:ext cx="4718304" cy="31089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 6~15층</a:t>
            </a:r>
          </a:p>
        </p:txBody>
      </p:sp>
      <p:sp>
        <p:nvSpPr>
          <p:cNvPr id="9" name="Rectangle 8"/>
          <p:cNvSpPr/>
          <p:nvPr/>
        </p:nvSpPr>
        <p:spPr>
          <a:xfrm>
            <a:off x="9025128" y="2212848"/>
            <a:ext cx="2340864" cy="310896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 16~20층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 · 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4612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방 수 (주황 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767328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난이도 배율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069080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처음 깨는 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70832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처음 깨는 시점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846320"/>
            <a:ext cx="14173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머무는 시간 (분)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200400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8640" y="3721608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8640" y="4041648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" y="4343400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8640" y="4791456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892807" y="2606040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도입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52243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66543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80844" y="32918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52243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66543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80844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52243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66543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80844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5824728"/>
            <a:ext cx="329184" cy="2743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74519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68296" y="2606040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2773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4203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5633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27732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42032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56332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42773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4203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5633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50008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50008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50008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5824728"/>
            <a:ext cx="329184" cy="2743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50008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43784" y="2606040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0322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01752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3182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903220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017520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31820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03220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017520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131820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25496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25496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25496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98648" y="5824728"/>
            <a:ext cx="329184" cy="2743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25496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19272" y="2606040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7870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9300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0730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37870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493008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07308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378708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493008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07308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00984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00984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00984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5분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74136" y="5824728"/>
            <a:ext cx="329184" cy="2743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00984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794759" y="2606040"/>
            <a:ext cx="43891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5419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96849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08279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85419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968496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082796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854196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968496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082796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76472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×1.80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76472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3판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776472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24분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49624" y="5698510"/>
            <a:ext cx="329184" cy="153649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76472" y="5497342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70248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2968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44398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55828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32968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44398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558284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329684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443984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558284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251960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51960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4판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51960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34분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25112" y="5771248"/>
            <a:ext cx="329184" cy="80911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251960" y="557008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745736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80517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91947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03377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80517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91947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033772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80517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91947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03377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727448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27448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4판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27448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36분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800600" y="5824728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27448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221223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280659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394959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509259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280659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394959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509259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280659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394959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509259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202936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202936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5판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202936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53분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276088" y="5714855"/>
            <a:ext cx="329184" cy="13730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202936" y="5513687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96712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75614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87044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98474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75614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87044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98474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56148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70448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84748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678424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678424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5판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678424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54분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751576" y="5824728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678424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72199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23163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4593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6023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23163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34593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46023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23163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345936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460236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153912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153912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6판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153912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1시간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13분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227064" y="5697692"/>
            <a:ext cx="329184" cy="154467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153912" y="5496524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647688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70712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82142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93572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70712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82142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93572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6707124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821424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935724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629400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629400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6판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629400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1시간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15분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702552" y="5824728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629400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7123176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718261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29691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41121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18261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29691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41121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182612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296912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741121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104888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104888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7판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104888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1시간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37분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78040" y="5675625"/>
            <a:ext cx="329184" cy="17653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104888" y="5474457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7598663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13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765810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777240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88670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658100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7772400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7886700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658100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772400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886700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7580375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580375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7판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580375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1시간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38분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7653527" y="5824728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7580375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074151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813358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824788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836218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813358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824788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36218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133588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8247888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8362188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8055863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055863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8판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055863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2시간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03분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8129015" y="5650290"/>
            <a:ext cx="329184" cy="201869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8055863" y="5449122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8549640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60907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872337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883767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860907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872337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883767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860907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872337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883767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8531352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8531352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8판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8531352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2시간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05분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8604504" y="5824728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8531352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9025128" y="2606040"/>
            <a:ext cx="43891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908456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19886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31316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08456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19886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31316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084564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198864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313164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9006840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×1.75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9006840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10판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006840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2시간</a:t>
            </a:r>
          </a:p>
          <a:p>
            <a:pPr algn="ctr"/>
            <a:r>
              <a:rPr sz="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58분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9079992" y="5417363"/>
            <a:ext cx="329184" cy="43479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9006840" y="5216195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53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500616" y="2606040"/>
            <a:ext cx="438912" cy="54864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956005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67435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8865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56005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67435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8865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560052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674352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88652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9482328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×1.70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9482328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12판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9482328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3시간</a:t>
            </a:r>
          </a:p>
          <a:p>
            <a:pPr algn="ctr"/>
            <a:r>
              <a:rPr sz="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52분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9555480" y="5407555"/>
            <a:ext cx="329184" cy="444604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9482328" y="5206387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54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9976104" y="2606040"/>
            <a:ext cx="43891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18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1003554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014984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026414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0035540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0149840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0264140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0035540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0149840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0264140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9957816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×2.10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9957816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15판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9957816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5시간</a:t>
            </a:r>
          </a:p>
          <a:p>
            <a:pPr algn="ctr"/>
            <a:r>
              <a:rPr sz="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18분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0030968" y="5154196"/>
            <a:ext cx="329184" cy="697963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9957816" y="4953028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85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10451592" y="2606040"/>
            <a:ext cx="438912" cy="54864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051102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62532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73962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51102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62532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73962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511028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625328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739628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0433304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×2.20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0433304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18판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0433304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6시간</a:t>
            </a:r>
          </a:p>
          <a:p>
            <a:pPr algn="ctr"/>
            <a:r>
              <a:rPr sz="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48분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10506456" y="5114967"/>
            <a:ext cx="329184" cy="737192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10433304" y="4913799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90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0927080" y="2606040"/>
            <a:ext cx="43891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098651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110081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121511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98651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110081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121511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98651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110081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121511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10908792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×2.40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10908792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21판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10908792" y="4370832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8시간</a:t>
            </a:r>
          </a:p>
          <a:p>
            <a:pPr algn="ctr"/>
            <a:r>
              <a:rPr sz="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23분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10981944" y="5074920"/>
            <a:ext cx="329184" cy="7772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10908792" y="4873752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95</a:t>
            </a:r>
          </a:p>
        </p:txBody>
      </p:sp>
      <p:cxnSp>
        <p:nvCxnSpPr>
          <p:cNvPr id="321" name="Connector 320"/>
          <p:cNvCxnSpPr/>
          <p:nvPr/>
        </p:nvCxnSpPr>
        <p:spPr>
          <a:xfrm>
            <a:off x="1874519" y="5852160"/>
            <a:ext cx="9509761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Rectangle 321"/>
          <p:cNvSpPr/>
          <p:nvPr/>
        </p:nvSpPr>
        <p:spPr>
          <a:xfrm>
            <a:off x="1133856" y="6089903"/>
            <a:ext cx="146304" cy="14630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1298448" y="60167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1874519" y="6089903"/>
            <a:ext cx="146304" cy="14630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2039112" y="60167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2615184" y="6089903"/>
            <a:ext cx="146304" cy="146304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2779776" y="60167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3474720" y="6089903"/>
            <a:ext cx="146304" cy="14630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3639312" y="60167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4754880" y="601675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방 = 3×3 칸 중 주황 칸 수 · 시점 = 누적 플레이타임 · 굵은 글씨 = 허들 · 어려움 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진행 곡선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누적 플레이타임에 따라 최고 층이 어떻게 오르나 — 기울기가 곧 구간의 속도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0" y="2240280"/>
            <a:ext cx="1051560" cy="118872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22402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100"/>
              </a:spcAft>
            </a:pPr>
            <a:r>
              <a:rPr sz="2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5분</a:t>
            </a:r>
          </a:p>
          <a:p>
            <a:pPr algn="ctr">
              <a:spcAft>
                <a:spcPts val="1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층당 평균</a:t>
            </a:r>
          </a:p>
          <a:p>
            <a:pPr algn="ctr">
              <a:spcAft>
                <a:spcPts val="100"/>
              </a:spcAft>
            </a:pPr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24분에 5층 첫 돌파 — 짧고 빠르게 규칙을 익힘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3611880"/>
            <a:ext cx="1051560" cy="11887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8280" y="36118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100"/>
              </a:spcAft>
            </a:pPr>
            <a:r>
              <a:rPr sz="2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10분</a:t>
            </a:r>
          </a:p>
          <a:p>
            <a:pPr algn="ctr">
              <a:spcAft>
                <a:spcPts val="1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층당 평균</a:t>
            </a:r>
          </a:p>
          <a:p>
            <a:pPr algn="ctr">
              <a:spcAft>
                <a:spcPts val="100"/>
              </a:spcAft>
            </a:pPr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2시간 05분에 15층 첫 돌파 — 가장 가파른 기울기, 판마다 2층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4983480"/>
            <a:ext cx="1051560" cy="118872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49834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100"/>
              </a:spcAft>
            </a:pPr>
            <a:r>
              <a:rPr sz="2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76분</a:t>
            </a:r>
          </a:p>
          <a:p>
            <a:pPr algn="ctr">
              <a:spcAft>
                <a:spcPts val="1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층당 평균</a:t>
            </a:r>
          </a:p>
          <a:p>
            <a:pPr algn="ctr">
              <a:spcAft>
                <a:spcPts val="100"/>
              </a:spcAft>
            </a:pPr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8시간 23분에 20층 첫 돌파 — 거의 눕는 기울기, 2~3판에 1층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초반 · 순수 메카닉스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필살기 · 다양한 쥐 없이 '번식 → 벽 → 총공격 → 승급'만으로 20~30분을 붙잡는다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475488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플레이 경험 · 스타일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97480"/>
            <a:ext cx="4754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834640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핵심 재미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번식으로 불어나는 무리가 벽을 갉아 길을 여는 맛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플레이 스타일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능동 조작 — 클릭 총공격 타이밍, 어느 벽부터 뚫을지 길 선택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의사결정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언제 승급할지, 치즈를 어떤 첫 스킬에 쓸지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성장 수단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 안의 번식 · 승급 + 로비 1단계 스킬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선택의 효과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스킬 하나를 사면 다음 판 시작 마릿수 · 찍찍 수치가 바로 커지는 걸 크게 보여 줌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실패의 의미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'무엇이 부족했나'를 배우는 학습 — 막힘은 5층 허들 하나뿐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후킹 1회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허들(첫 보스전)에서 필살기를 한 번 시연 → 중반을 예고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25856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판별 진행 (표준 플레이)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2651760"/>
          <a:ext cx="4937760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6928"/>
                <a:gridCol w="1719072"/>
                <a:gridCol w="896112"/>
                <a:gridCol w="896112"/>
                <a:gridCol w="859536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막히는 곳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0분 → 10분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4층 (+4)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10분 → 18분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4층 (+0)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18분 → 29분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(+1)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72200" y="420624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재도전 2회(3판)가 표준, 잘하면 1회(2판)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1판은 튜토리얼 판 — 4층까지 보여 주고 5층 허들에서 첫 막힘 · 방 2~4개의 짧은 층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2~3판은 같은 허들 재도전 — 로비 스킬 효과를 바로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중반 · 성장이 난이도를 앞지름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판마다 고점 +2층 — 난이도는 쉽지만 방이 늘어 한 판이 길어지고, 그 시간을 빌드와 성장 체감으로 채운다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475488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플레이 경험 · 스타일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97480"/>
            <a:ext cx="4754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834640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핵심 재미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'쥐 한두 마리가 필살기를 쓰네?' — 첫 필살기 쥐의 등장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플레이 스타일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조작 반, 로비 빌드 반 — 판 시작 전 계획이 중요해짐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의사결정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어떤 쥐를 키울지, 스킬 트리의 갈래(버티기 vs 빨리 깨기)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성장 수단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허들 · 10층 · 15층 돌파 훈장 → 새 쥐 · 시작 전력, 로비 스킬 트리 확장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선택의 효과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판당 전투력 ×1.7 — 지난 판에 막힌 층을 이번 판엔 시원하게 통과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실패의 의미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'다음 판엔 어디까지?' — 실패가 곧 다음 목표 확인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리듬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 5개 → 9개 — 쉽게 밀어붙이는 판이 10분에서 20분으로 길어지고, 판 끝에서 2층 새로 뚫기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25856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판별 진행 (표준 플레이)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2651760"/>
          <a:ext cx="493776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6928"/>
                <a:gridCol w="1719072"/>
                <a:gridCol w="896112"/>
                <a:gridCol w="896112"/>
                <a:gridCol w="859536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막히는 곳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29분 → 46분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46분 → 1시간 04분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04분 → 1시간 25분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25분 → 1시간 48분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48분 → 2시간 15분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72200" y="493776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성장 ×1.74 = 층당 난이도(×1.32)의 약 2.0층분 → 고점 +2층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방 수 6층 5개 → 15층 9개 · 로비 7분(빌드 비중 ↑)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 · 15층은 보상 층(훈장) — 난이도는 보통 그대로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후반 · 깽판과 긴 목표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모아 온 쥐들이 화면을 뒤집는다 — 연출과 깽판을 보여 주고, 2~3판에 한 층이라는 긴 목표로 오래 붙잡는다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475488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플레이 경험 · 스타일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97480"/>
            <a:ext cx="4754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834640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핵심 재미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다양한 쥐의 필살기가 연쇄로 터지는 깽판, 화면 가득한 무리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플레이 스타일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보는 플레이 — 연출 감상과 굵직한 결정 위주, 손은 덜 바쁨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의사결정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조합 구성, 어느 쥐를 끝까지 키울지(종결 쥐)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성장 수단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조각 수급 콘텐츠, 종결 쥐 육성(팰월드 종결팰 참고), 높은 훈장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선택의 효과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판당 ×1.31 — 추가 콘텐츠 · 후반으로 옮긴 스킬 성장으로 성장률을 올리고, 난이도는 그보다 더 가파르게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실패의 의미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한 층 한 층이 벽 — 2~3판을 쌓아 한 층을 넘는 성취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긴 목표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 최종 허들 → 21층~ 엔드게임 → 도감 완성(20~30시간)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25856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판별 진행 (표준 플레이, 20층까지)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2651760"/>
          <a:ext cx="4937760" cy="34564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6928"/>
                <a:gridCol w="1719072"/>
                <a:gridCol w="896112"/>
                <a:gridCol w="896112"/>
                <a:gridCol w="859536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시간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막히는 곳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성장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15분 → 2시간 39분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×1.32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39분 → 3시간 06분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×1.32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3시간 06분 → 3시간 32분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3시간 32분 → 4시간 00분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4시간 00분 → 4시간 28분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×1.28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4시간 28분 → 4시간 56분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×1.28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4시간 56분 → 5시간 26분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×1.28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5시간 26분 → 5시간 55분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5시간 55분 → 6시간 25분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6시간 25분 → 6시간 56분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6시간 56분 → 7시간 27분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7시간 27분 → 7시간 58분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7시간 58분 → 8시간 31분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21층 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72200" y="6135624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16~20층 = 13판 · 한 층에 2~3판 · 방 9개 고정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 · 17층 한 층에 2판, 18 · 19 · 20층 한 층에 3판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부록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한 판의 흐름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 하나의 시간이 어디에 쓰이나 — 깬 층은 빠르게 지나가고, 막힌 층에서 180초를 다 쓰고 끝난다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· 1판</a:t>
            </a:r>
          </a:p>
          <a:p>
            <a:pPr algn="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4층까지 · 8분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2286000"/>
            <a:ext cx="348500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588780" y="2286000"/>
            <a:ext cx="423476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2256" y="2286000"/>
            <a:ext cx="517196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9453" y="2286000"/>
            <a:ext cx="634346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3800" y="2286000"/>
            <a:ext cx="1093402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시간 초과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761488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깬 층 1~4층 = 5분  ·  5층 허들에서 180초를 다 쓰고 종료  ·  방 4개까지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72968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· 6판</a:t>
            </a:r>
          </a:p>
          <a:p>
            <a:pPr algn="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11층까지 · 14분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3218688"/>
            <a:ext cx="170084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10364" y="3218688"/>
            <a:ext cx="230829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41194" y="3218688"/>
            <a:ext cx="230829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2023" y="3218688"/>
            <a:ext cx="291573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63597" y="3218688"/>
            <a:ext cx="291573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5171" y="3218688"/>
            <a:ext cx="35231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7490" y="3218688"/>
            <a:ext cx="35231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59808" y="3218688"/>
            <a:ext cx="413063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871" y="3218688"/>
            <a:ext cx="413063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5934" y="3218688"/>
            <a:ext cx="49234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78281" y="3218688"/>
            <a:ext cx="63434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2628" y="3218688"/>
            <a:ext cx="1093402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12층 시간 초과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694176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깬 층 1~11층 = 11분  ·  12층 보통에서 180초를 다 쓰고 종료  ·  방 7개까지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105656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· 8판</a:t>
            </a:r>
          </a:p>
          <a:p>
            <a:pPr algn="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15층까지 · 19분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40280" y="4151376"/>
            <a:ext cx="170084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10364" y="4151376"/>
            <a:ext cx="230829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41194" y="4151376"/>
            <a:ext cx="230829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72023" y="4151376"/>
            <a:ext cx="291573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3597" y="4151376"/>
            <a:ext cx="291573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55171" y="4151376"/>
            <a:ext cx="35231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07490" y="4151376"/>
            <a:ext cx="35231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59808" y="4151376"/>
            <a:ext cx="413063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871" y="4151376"/>
            <a:ext cx="413063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5934" y="4151376"/>
            <a:ext cx="473807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59742" y="4151376"/>
            <a:ext cx="473807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33550" y="4151376"/>
            <a:ext cx="534552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68102" y="4151376"/>
            <a:ext cx="534552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02654" y="4151376"/>
            <a:ext cx="59529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97951" y="4151376"/>
            <a:ext cx="63434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32298" y="4151376"/>
            <a:ext cx="1093402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16층 시간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40280" y="4626864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깬 층 1~15층 = 16분  ·  16층 허들에서 180초를 다 쓰고 종료  ·  방 9개까지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038344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· 16판</a:t>
            </a:r>
          </a:p>
          <a:p>
            <a:pPr algn="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18층까지 · 25분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40280" y="5084064"/>
            <a:ext cx="170084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10364" y="5084064"/>
            <a:ext cx="230829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41194" y="5084064"/>
            <a:ext cx="230829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72023" y="5084064"/>
            <a:ext cx="291573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3597" y="5084064"/>
            <a:ext cx="291573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55171" y="5084064"/>
            <a:ext cx="35231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07490" y="5084064"/>
            <a:ext cx="35231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59808" y="5084064"/>
            <a:ext cx="413063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871" y="5084064"/>
            <a:ext cx="413063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85934" y="5084064"/>
            <a:ext cx="473807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59742" y="5084064"/>
            <a:ext cx="473807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33550" y="5084064"/>
            <a:ext cx="534552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68102" y="5084064"/>
            <a:ext cx="534552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02654" y="5084064"/>
            <a:ext cx="59529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97951" y="5084064"/>
            <a:ext cx="59529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93248" y="5084064"/>
            <a:ext cx="595296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88545" y="5084064"/>
            <a:ext cx="595296" cy="457200"/>
          </a:xfrm>
          <a:prstGeom prst="rect">
            <a:avLst/>
          </a:prstGeom>
          <a:solidFill>
            <a:srgbClr val="F4B18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83842" y="5084064"/>
            <a:ext cx="724155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07997" y="5084064"/>
            <a:ext cx="1093402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19층 시간 초과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40280" y="555955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깬 층 1~18층 = 22분  ·  19층 어려움에서 180초를 다 쓰고 종료  ·  방 9개까지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240280" y="598932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965960" y="605332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0분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062617" y="598932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788297" y="605332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5분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884954" y="598932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610634" y="605332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10분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707292" y="598932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432972" y="605332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15분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529629" y="598932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255309" y="605332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20분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240280" y="5989320"/>
            <a:ext cx="8961120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1133856" y="6236208"/>
            <a:ext cx="91440" cy="34747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225296" y="6236208"/>
            <a:ext cx="9875520" cy="347472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방이 늘어난 중반 · 후반은 깬 층을 지나가는 데만 10~20분 — 판이 길어지는 이유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구간별 경험 · 스타일 변화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구간이 바뀌면 '무엇을 하는 게임인지'가 바뀐다 — 조작에서 빌드로, 빌드에서 연출로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286000"/>
          <a:ext cx="9976104" cy="4023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2807208"/>
                <a:gridCol w="2807208"/>
                <a:gridCol w="2807208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(1~5층)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(6~15층)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(16층~)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감각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 — 조작과 판단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머리 — 빌드와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눈 — 연출과 깽판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재미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불어나는 무리, 벽 뚫기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필살기 쥐, 훈장 승급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 연쇄, 화면 가득한 무리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 조작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클릭 총공격 · 길 선택 · 승급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 타이밍 · 스킬 트리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조합 구성 · 큰 결정 위주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진척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1~4층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0.3~0.5층 (2~3판에 1층)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층당 방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2~4개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5~9개 (늘어남)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 고정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판 길이 (로비 포함)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10분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21분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29분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성장 수단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 안 번식 · 승급, 1단계 스킬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훈장, 스킬 트리, 새 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수급, 종결 쥐, 높은 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정보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최소 (무리 · 벽 · 치즈 · 시간)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 훈장 · 도감 · 필살기 게이지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 조각 · 업적 전체 (도감 완성은 끝까지)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실패의 의미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학습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다음 목표 확인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쌓아서 넘는 벽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층 별 난이도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난이도 상승 곡선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적정 찍찍(층을 적정 시간에 깨는 데 필요한 전투력)을 1층 = 100 지수로 정의 — 20층까지 약 ×1,862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8720" y="635508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가로축 = 층 · 막대 색: 연회색 쉬움 · 회색 보통 · 연주황 어려움 · 주황 허들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86000"/>
            <a:ext cx="32004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· 5층 허들</a:t>
            </a:r>
          </a:p>
          <a:p>
            <a:pPr algn="l">
              <a:spcAft>
                <a:spcPts val="500"/>
              </a:spcAft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 ×1.25 세 층 뒤 5층에서 ×1.8 — 처음이자 유일한 초반 벽</a:t>
            </a:r>
          </a:p>
          <a:p>
            <a:pPr algn="l">
              <a:spcAft>
                <a:spcPts val="500"/>
              </a:spcAft>
            </a:pP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· 허들 없음</a:t>
            </a:r>
          </a:p>
          <a:p>
            <a:pPr algn="l">
              <a:spcAft>
                <a:spcPts val="500"/>
              </a:spcAft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6~15층 보통 ×1.32 일정 — 성장이 난이도를 앞지르는 구간</a:t>
            </a:r>
          </a:p>
          <a:p>
            <a:pPr algn="l">
              <a:spcAft>
                <a:spcPts val="500"/>
              </a:spcAft>
            </a:pP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· 매 층이 벽</a:t>
            </a:r>
          </a:p>
          <a:p>
            <a:pPr algn="l">
              <a:spcAft>
                <a:spcPts val="500"/>
              </a:spcAft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16층 허들은 ×1.75로 완화 · 17층 ×1.7 → 18~20층 ×2.1~2.4</a:t>
            </a:r>
          </a:p>
          <a:p>
            <a:pPr algn="l">
              <a:spcAft>
                <a:spcPts val="500"/>
              </a:spcAft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층당 상승 초반 ×1.37 · 중반 ×1.32 · 후반 ×2.01</a:t>
            </a:r>
          </a:p>
          <a:p>
            <a:pPr algn="l">
              <a:spcAft>
                <a:spcPts val="500"/>
              </a:spcAft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성장률이 올라가는 만큼 난이도는 그보다 더 가파르게 (다음 장)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층 별 난이도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허들 배치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허들은 구간의 문 — 5층은 초반 졸업, 16층은 후반 입장, 17층부터는 쉬운 층이 없다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56692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8720" y="614476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가로축 = 층 · 1층은 기준(100)이라 제외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03720" y="2286000"/>
          <a:ext cx="429768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960120"/>
                <a:gridCol w="1097280"/>
                <a:gridCol w="16002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상승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경험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1~4층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조작을 익히며 시원하게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졸업 시험 · 재도전 1~2회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6~15층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없음 · 방이 늘어 판이 길어짐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입장 · 완화 · 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 · 19층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 · ×2.2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사이의 벽 · 2판 · 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 · 20층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×2.1 · ×2.4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층에 3판 · 20층 최종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03720" y="5715000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5층마다 있던 보스 구조 대신 허들 위치로 구간을 나눔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목표 돌파 시간은 부록 「층 별 소모 시간」 참고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부록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방 수와 층 시간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방이 늘면 강해도 오래 걸린다 — 중반은 쉬운데도 플레이 시간이 늘어나는 이유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69494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183879" y="2240280"/>
            <a:ext cx="3017520" cy="384048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· 방 2~4개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79" y="2624328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최소 28~48초 — 적정 시간의 1/3 이하. 강해지면 순식간에 지나감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3611880"/>
            <a:ext cx="3017520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· 방 5 → 9개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3995928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최소 58초 → 98초 — 적정(108초)에 가까워져 쉬워도 시간이 쌓임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4983480"/>
            <a:ext cx="3017520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· 방 9개 고정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5367528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1~15층을 지나가는 데만 매 판 약 16분 — 그 뒤 매 층이 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층 별 난이도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21층 이후 적정 난이도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21~30층은 16~20층 배율을 그대로 되풀이 — 30층 적정 찍찍 약 2.0억, 30층 다음은 무한 모드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57607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8720" y="614476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검은 테두리 = 21~30층 (연장) · 색 = 층 유형 (주황 허들 · 연주황 어려움)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2240280"/>
          <a:ext cx="4443984" cy="33192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5760"/>
                <a:gridCol w="548640"/>
                <a:gridCol w="530352"/>
                <a:gridCol w="658368"/>
                <a:gridCol w="457200"/>
                <a:gridCol w="941832"/>
                <a:gridCol w="941832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건너뛰기 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9시간 31분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7시간 07분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55만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10시간 42분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7시간 48분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116만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12시간 32분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8시간 54분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256만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14시간 26분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10시간 05분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614만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16시간 26분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11시간 20분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1,075만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17시간 50분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12시간 15분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1,828만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19시간 17분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13시간 13분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3,838만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21시간 32분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14시간 43분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8,444만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23시간 51분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16시간 18분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26시간 15분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17시간 58분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03720" y="562356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성장 ×1.30 그대로일 때 — 21~30층 26판, 30층 약 26.2시간 (최대 건너뛰기 약 18.0시간)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후반 추가 성장 요소(업데이트 예정)가 판당 성장을 올리면 이 시간이 줄어듦 · 방 9개 · 제한 180초 동일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플레이어 성장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성장 대 난이도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판당 플레이어 성장 vs 층당 난이도 상승 — 이 둘의 비율이 '한 판에 몇 층 오르나'를 정한다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60350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69480" y="2286000"/>
          <a:ext cx="3840479" cy="22677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40"/>
                <a:gridCol w="960120"/>
                <a:gridCol w="1874519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1.7층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판 4층 → 5층 허들에서 재도전 1~2회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2.0층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성장이 난이도를 앞지름 → 매 판 고점 2층 갱신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0.4층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층당 난이도 ×2.0이 판당 성장을 크게 앞섬 → 2~3판에 한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69480" y="4709160"/>
            <a:ext cx="3931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층 ≈ log(판당 성장) ÷ log(층당 난이도)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성장 = 판 사이 로비 성장(스킬 · 훈장 · 훈련)으로 오르는 '그 판 최고 전투력'의 배율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후반 성장은 판당으론 중반보다 작지만, 콘텐츠 추가 · 스킬 이동으로 층당 기준 성장률은 오른다 (다음 장)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플레이어 성장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난이도 · 성장 곡선 비교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둘 다 후반으로 갈수록 가팔라지지만 — 난이도의 곡률이 더 커서 16층 허들부터 난이도가 앞지름 (격차는 줄임)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59436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8720" y="6217920"/>
            <a:ext cx="5760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가로축 = 층 · 세로축 = 1층 = 100 기준 지수 (로그 눈금 — 간격이 같으면 배율이 같음)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086600" y="2194560"/>
          <a:ext cx="4160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78040" y="4800600"/>
            <a:ext cx="4069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1~5층 · 여유 1.0 안팎</a:t>
            </a:r>
          </a:p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곡선이 거의 겹침 — 5층 허들(0.78)은 1~2회 재도전으로 넘음</a:t>
            </a:r>
          </a:p>
          <a:p>
            <a:pPr algn="l">
              <a:spcAft>
                <a:spcPts val="300"/>
              </a:spcAft>
            </a:pPr>
            <a:r>
              <a:rPr sz="10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중반 6~15층 · 최대 1.1배 (15층)</a:t>
            </a:r>
          </a:p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성장이 난이도를 앞질러 한 판에 2층</a:t>
            </a:r>
          </a:p>
          <a:p>
            <a:pPr algn="l">
              <a:spcAft>
                <a:spcPts val="300"/>
              </a:spcAft>
            </a:pPr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16층~ · 0.95 → 0.44</a:t>
            </a:r>
          </a:p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성장률도 층당 ×1.55→×1.90로 오르지만 난이도가 더 가파름 — 반복 판 · 조각 파밍으로 메워 2~3판에 한 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부록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구간별 성장 곡선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앞 장 그래프를 구간별 눈금으로 나눠 봄 — 초반은 겹치고, 중반은 성장이 위로, 후반은 난이도가 위로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2286000"/>
          <a:ext cx="333756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389120" y="2286000"/>
          <a:ext cx="333756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863840" y="2286000"/>
          <a:ext cx="3337560" cy="3246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05840" y="55778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두 선이 거의 겹침 (여유 1.02~1.05)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 허들에서 난이도가 위로 (0.78) → 재도전 1~2회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5778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 허들 뒤 첫 훈장으로 성장이 따라붙고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8층부터 성장이 위로 — 15층 여유 1.15배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판마다 2층 · 방이 늘어 판은 길어짐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55778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16층 허들(0.95)부터 난이도가 위로 — 15층 1.15에서 낙차를 줄여 진입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성장도 가팔라지지만 격차가 벌어짐 → 20층 0.44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2~3판에 한 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63550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세로축은 구간마다 다름 (1층 = 100 기준 지수) · 구간 경계 층(5 · 15층)은 양쪽 그래프에 모두 표시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부록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판별 고점 갱신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표준 플레이 21판의 고점 — 초반 3판에 5층, 중반 4판에 15층, 후반은 13판에 20층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102412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3856" y="57607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막대 아래 = 판 번호와 그 판이 끝난 누적 시간 (로비 포함)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" y="6199632"/>
            <a:ext cx="164592" cy="164592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61264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초반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48256" y="6199632"/>
            <a:ext cx="164592" cy="16459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61264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중반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2656" y="6199632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61264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후반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6053328"/>
            <a:ext cx="91440" cy="32918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6053328"/>
            <a:ext cx="6995160" cy="329184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중반은 판마다 2층씩 뛰고, 후반은 2~3판 동안 같은 높이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부록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별 소모 시간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적정 찍찍이면 쉬움 · 보통 60% · 어려움 75% · 허들 90% — 층에 머무는 시간은 허들이 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21991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 · 보통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2194560"/>
            <a:ext cx="4206240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0" y="2194560"/>
            <a:ext cx="2523744" cy="329184"/>
          </a:xfrm>
          <a:prstGeom prst="rect">
            <a:avLst/>
          </a:prstGeom>
          <a:solidFill>
            <a:srgbClr val="BFBFB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108초 (60%)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2221991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제한 180초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2624328"/>
            <a:ext cx="4206240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7400" y="2624328"/>
            <a:ext cx="3154680" cy="329184"/>
          </a:xfrm>
          <a:prstGeom prst="rect">
            <a:avLst/>
          </a:prstGeom>
          <a:solidFill>
            <a:srgbClr val="F4B183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135초 (75%)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6517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제한 180초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81527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3054096"/>
            <a:ext cx="4206240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57400" y="3054096"/>
            <a:ext cx="3785615" cy="329184"/>
          </a:xfrm>
          <a:prstGeom prst="rect">
            <a:avLst/>
          </a:prstGeom>
          <a:solidFill>
            <a:srgbClr val="E9713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162초 (90%)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081527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제한 180초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48840"/>
            <a:ext cx="3931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제한 시간: 모든 층 180초 (허들 포함)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돌파 시간 ∝ 적정 ÷ 내 전투력 — 적정의 2배면 절반 시간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단, 강해도 방 하나에 최소 10초 → 방 9개 층은 최소 약 1.6분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방 수: 1층 2개 · 5층 4개 · 15층 9개 · 16층~ 9개 고정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1005840" y="3566160"/>
          <a:ext cx="10241280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Rectangle 20"/>
          <p:cNvSpPr/>
          <p:nvPr/>
        </p:nvSpPr>
        <p:spPr>
          <a:xfrm>
            <a:off x="1133856" y="6291072"/>
            <a:ext cx="91440" cy="34747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25296" y="6291072"/>
            <a:ext cx="9875520" cy="347472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중반은 판 끝 층의 대기가 10분 → 25분으로 길어지고, 후반은 모든 층이 50분 이상의 벽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부록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허들표 1~10층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00200"/>
          <a:ext cx="9966960" cy="44256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4048"/>
                <a:gridCol w="502920"/>
                <a:gridCol w="594360"/>
                <a:gridCol w="502920"/>
                <a:gridCol w="777240"/>
                <a:gridCol w="731520"/>
                <a:gridCol w="777240"/>
                <a:gridCol w="1051560"/>
                <a:gridCol w="777240"/>
                <a:gridCol w="3867912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 깨는 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 깨는 시점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머무는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체크포인트 · 이 층의 경험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도입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벽 — 번식으로 강해지는 것을 체감 (튜토리얼)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승급 · 적정 찍찍 첫 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로비 스킬(치즈 창고) 첫 소개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판의 끝 — 여기까지 보여 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· 첫 보스전 · 필살기 시연 · 초반 졸업 → 첫 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시작 · 첫 훈장 효과로 시원하게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필살기 쥐 (한두 마리)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판에 6~8층 몰아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1,067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스킬 트리 갈래 선택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13분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 층 · 훈장 · 새 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" y="608076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행 = 허들 · 어려움 · 적정 찍찍 = 1층 100 지수 · 목표 돌파 = 적정 찍찍일 때 (제한 180초) · 시점 = 누적 플레이타임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부록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허들표 11~20층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00200"/>
          <a:ext cx="9966960" cy="44256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4048"/>
                <a:gridCol w="502920"/>
                <a:gridCol w="594360"/>
                <a:gridCol w="502920"/>
                <a:gridCol w="777240"/>
                <a:gridCol w="731520"/>
                <a:gridCol w="777240"/>
                <a:gridCol w="1051560"/>
                <a:gridCol w="777240"/>
                <a:gridCol w="3867912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 깨는 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 깨는 시점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머무는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체크포인트 · 이 층의 경험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1,860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15분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 쥐 2~3마리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2,455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37분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빌드 실험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3,240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38분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판에 11~13층 몰아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4,277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03분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콘텐츠 예고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5,646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05분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 층 · 중반 졸업 → 16층 허들 예고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9,881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58분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· 후반 입장 · 조각 수급 콘텐츠 열림 · 2판 (완화)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16,797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3시간 52분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 · 필살기 연쇄 '깽판' 본격화 · 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35,273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5시간 18분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· 조합 완성 시험 · 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77,602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6시간 48분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 · 마지막 벽 · 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186,244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8시간 23분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· 최종 목표 (약 8.5시간) · 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" y="608076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행 = 허들 · 어려움 · 적정 찍찍 = 1층 100 지수 · 목표 돌파 = 적정 찍찍일 때 (제한 180초) · 시점 = 누적 플레이타임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운영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허들 보상과 가스 빼기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허들을 먼저 정하고 보상은 체감을 잰 뒤에 — 힘든 구간 뒤에는 반드시 쉬어 가는 구간을 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240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시간 장벽과 보상 후보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33856" y="2633472"/>
          <a:ext cx="5120640" cy="2706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51560"/>
                <a:gridCol w="1097280"/>
                <a:gridCol w="2971800"/>
              </a:tblGrid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요구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 후보 (체감 측정 후 확정)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훈장 · 새 쥐 · 층 건너뛰기 등장 (3층 시작)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 · 15층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 층 — 훈장 · 필살기 쥐 · 15층은 10층 시작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 콘텐츠 해금 · 후반 입장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수급량 증가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종결 쥐 후보 공개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높은 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종결 쥐 육성 · 15층 시작 (건너뛰기 최대)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33856" y="539496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① 허들 위치와 요구 시간 확정 → ② 플레이테스트로 체감 측정 → ③ 체감이 큰 허들일수록 큰 보상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요구 시간 = 직전 층을 처음 깬 뒤 그 허들을 처음 깰 때까지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402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가스 빼기 구간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633472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12280" y="2807208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688336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허들 뒤 보통 10층</a:t>
            </a:r>
          </a:p>
          <a:p>
            <a:pPr algn="l">
              <a:spcAft>
                <a:spcPts val="1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 없는 중반 — 첫 훈장 효과로 몰아 돌파하며 '강해졌다'를 바로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547872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12280" y="3721608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602736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판의 앞 15층</a:t>
            </a:r>
          </a:p>
          <a:p>
            <a:pPr algn="l">
              <a:spcAft>
                <a:spcPts val="1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매 층이 벽인 후반에도 판 앞부분은 순식간에 쓸어 버림 — 성장 체감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4462272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12280" y="4636008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517136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로비 쉬는 자리</a:t>
            </a:r>
          </a:p>
          <a:p>
            <a:pPr algn="l">
              <a:spcAft>
                <a:spcPts val="1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낮잠 침대 · 도감 구경 — 판과 판 사이 숨 고르기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5376672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12280" y="5550408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5431536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후반의 보는 플레이</a:t>
            </a:r>
          </a:p>
          <a:p>
            <a:pPr algn="l">
              <a:spcAft>
                <a:spcPts val="1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연출 감상 위주, 손이 덜 바쁜 판 — 집중이 흐려져도 괜찮게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운영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건너뛰기 · 해금 규칙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재도전 시작 층은 플레이어가 고른다 — 5층 클리어부터 열리고, 간격이 2층 → 5층으로 늘어 최대 15층 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2402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최고 클리어 층별 고를 수 있는 가장 높은 시작 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51760"/>
            <a:ext cx="118872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최고 클리어 층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" y="3035808"/>
            <a:ext cx="11887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최대 시작 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33856" y="3493008"/>
            <a:ext cx="118872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간격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22576" y="3035808"/>
            <a:ext cx="548640" cy="457200"/>
          </a:xfrm>
          <a:prstGeom prst="rect">
            <a:avLst/>
          </a:prstGeom>
          <a:solidFill>
            <a:srgbClr val="E9713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2257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121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7121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7121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985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985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985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849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849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849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1713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713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1713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6577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6577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1441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1441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1441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305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305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305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1169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1169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1169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033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033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033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08975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08975" y="3035808"/>
            <a:ext cx="548640" cy="457200"/>
          </a:xfrm>
          <a:prstGeom prst="rect">
            <a:avLst/>
          </a:prstGeom>
          <a:solidFill>
            <a:srgbClr val="E9713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08975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5761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57616" y="3035808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5761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06255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06255" y="3035808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06255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5489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54896" y="3035808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5489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0353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03536" y="3035808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0353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5217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552176" y="3035808"/>
            <a:ext cx="548640" cy="457200"/>
          </a:xfrm>
          <a:prstGeom prst="rect">
            <a:avLst/>
          </a:prstGeom>
          <a:solidFill>
            <a:srgbClr val="E9713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5217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" y="385876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= 단계가 바뀌는 층 (5층 첫 등장 · 15층 10층 시작 · 20층 15층 시작) · 15~19층 클리어는 10층 시작 유지 · 21층 이후 · 30층 · 무한 모드에서도 최대 15층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33856" y="4251960"/>
            <a:ext cx="1691640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등장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25496" y="42519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허들을 처음 깨면 로비의 출발 버튼에 '시작 층' 선택이 열림 — 첫 단계 3층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33856" y="4709160"/>
            <a:ext cx="1691640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간격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25496" y="47091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처음엔 2층(5 · 6층 클리어) → 3층(7~9) → 4층(10~13) → 5층(14 · 15) — 16~19층 클리어는 10층 유지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33856" y="5166360"/>
            <a:ext cx="1691640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25496" y="51663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15층 클리어 = 10층 시작, 20층 클리어 = 15층 시작 (20층 허들 보상) — 그 위로는 늘지 않음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33856" y="5623560"/>
            <a:ext cx="1691640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선택형 · 보정 없음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25496" y="56235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건너뛴 층의 번식 · 치즈는 받지 않음 — 시간을 아낄지, 낮은 층부터 불려 갈지 플레이어가 고름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33856" y="6080760"/>
            <a:ext cx="1691640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안 막힘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25496" y="60807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언제든 1층 시작 가능 — 건너뛰고 막히면 다음 판에 낮은 층부터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운영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건너뛰기 · 플레이타임 영향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건너뛰기 없이 20층까지 약 8.5시간, 매 판 최대로 건너뛰면 약 6.6시간 — 기준 수치는 건너뛰기 없는 쪽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56692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03720" y="2240280"/>
          <a:ext cx="420624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83080"/>
                <a:gridCol w="1188720"/>
                <a:gridCol w="123444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건너뛰기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최대로 건너뛰기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13분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07분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05분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48분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58분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26분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8시간 23분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6시간 28분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목표 (21판 종료)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8.5시간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6.6시간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판 평균 길이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판 평균 길이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03720" y="5623560"/>
            <a:ext cx="4297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20층 이후(21~30층 · 무한 모드)는 15층 시작으로 판마다 약 7분 더 아낌 (10~14층 방 39개)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 수 · 판 전투력은 표준 플레이와 같다고 가정 — 보정이 없어 실제 단축은 이보다 작음 (건너뛰기 사용률은 플레이 로그로 확인)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운영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화면 구성과 정보 공개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정보는 필요한 순간에 하나씩 — 처음엔 무리 · 벽 · 시간만, 20~30시간 하는 사람에게만 보이는 정보도 남긴다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286000"/>
          <a:ext cx="9966960" cy="38679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1280160"/>
                <a:gridCol w="3291840"/>
                <a:gridCol w="2103120"/>
                <a:gridCol w="1828800"/>
              </a:tblGrid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새로 보여 줄 것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아직 숨길 것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여는 방법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 (0~10분)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 무리 · 벽 · 치즈 · 제한 시간 → 10마리에서 승급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나머지 HUD 전부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튜토리얼 대사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 (10~18분)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 · 인구 · 로비 스킬(치즈 창고)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 · 도감 · 필살기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실패 직후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 (18~29분)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허들(첫 보스전) 필살기 시연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 게이지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진입 (30분~)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 · 친구들 도감 · 필살기 게이지 · 훈련 · 시작 층 선택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 · 업적 전체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 격파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 · 15층 보상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 쥐 · 스킬 트리 갈래 · 업적 일부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종결 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 승급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진입 (~2시간 15분)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 콘텐츠 · 업적 전체 · 조합 정보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도감 완성 보상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 격파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이후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종결 쥐 육성 · 21층~ 엔드게임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 격파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20~30시간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도감 완성 · 숨은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수집 완료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검증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검증 지표와 남은 결정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00200"/>
          <a:ext cx="6720840" cy="37856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42316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 지표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 방법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순수 메카닉스 재미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이탈 없이 5층 격파 (20~30분)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테스터 5명 이상, 이탈 시점 · 이유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재도전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1~2회 (2~3판)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로그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판당 고점 갱신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+2층 / 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판별 최고 층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종료 시점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2~2.5시간 (15층)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로그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진척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2~3판에 한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판별 최고 층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돌파 (적정일 때)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 108초 · 어려움 135초 · 허들 162초 (제한 180초)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자동 측정, 층당 4회 이상 중앙값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체감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 층 '빠르다' · 허들 '막힌다'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후 설문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건너뛰기 사용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6.6~8.5시간 사이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판별 시작 층 · 막힌 층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38160" y="15544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어긋났을 때 조정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965960"/>
            <a:ext cx="3063240" cy="6400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① 그 층의 적정 찍찍</a:t>
            </a:r>
          </a:p>
          <a:p>
            <a:pPr algn="ctr"/>
            <a:r>
              <a:rPr sz="10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 층만 튀면 그 층만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69780" y="2606039"/>
            <a:ext cx="0" cy="22860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38160" y="2834639"/>
            <a:ext cx="3063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② 로비 성장 수치</a:t>
            </a:r>
          </a:p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성장이 구간 목표와 다를 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69780" y="3474720"/>
            <a:ext cx="0" cy="22860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138160" y="3703320"/>
            <a:ext cx="3063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③ 구간 난이도 배율</a:t>
            </a:r>
          </a:p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여러 층이 같은 방향으로 어긋날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5440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남은 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57607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메인 목표를 20층(건너뛰기 없이 약 8.5시간 · 최대 건너뛰기 약 6.6시간)으로 둘지 · 21~30층과 무한 모드 수치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 보상의 크기 · 조각 수급 콘텐츠와 종결 쥐의 상세 (별도 기획서) · 건너뛰기 사용률을 본 뒤 시작 보정 여부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목차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77240" y="162763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5179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개요</a:t>
            </a:r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59" y="19659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94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로그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59" y="21945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231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한 장 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59" y="24231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517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기획 방향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59" y="26517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8803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설계 원칙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59" y="28803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1089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 용어 정리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59" y="31089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54787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43814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 설계</a:t>
            </a:r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8P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8862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세 구간 한눈에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59" y="38862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148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층 지도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59" y="41148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3434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진행 곡선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59" y="43434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5720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초반 · 순수 메카닉스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59" y="45720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8006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중반 · 성장이 난이도를 앞지름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59" y="48006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0292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 후반 · 깽판과 긴 목표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59" y="50292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2578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7. 구간별 경험 · 스타일 변화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59" y="52578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6280" y="162763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27448" y="15179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별 난이도</a:t>
            </a:r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15P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19659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난이도 상승 곡선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19659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2194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허들 배치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21945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24231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21층 이후 적정 난이도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24231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26280" y="286207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27448" y="275234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플레이어 성장</a:t>
            </a:r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18P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32004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성장 대 난이도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32004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34290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난이도 · 성장 곡선 비교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342900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26280" y="386791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27448" y="375818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운영 · 검증</a:t>
            </a:r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20P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2040" y="420624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허들 보상과 가스 빼기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420624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92040" y="443484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층 건너뛰기 · 해금 규칙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43800" y="443484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92040" y="466344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층 건너뛰기 · 플레이타임 영향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43800" y="466344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92040" y="489204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화면 구성과 정보 공개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489204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92040" y="512064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검증 지표와 남은 결정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43800" y="512064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75320" y="1627632"/>
            <a:ext cx="109728" cy="27432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76488" y="15179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부록</a:t>
            </a:r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25P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41080" y="19659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한 판의 흐름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92840" y="19659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41080" y="2194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방 수와 층 시간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92840" y="21945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41080" y="24231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구간별 성장 곡선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92840" y="24231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41080" y="26517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판별 고점 갱신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292840" y="26517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41080" y="28803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층 별 소모 시간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92840" y="28803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41080" y="31089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 허들표 1~10층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92840" y="31089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41080" y="3337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7. 허들표 11~20층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292840" y="3337560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1434</Words>
  <Application>Microsoft Office PowerPoint</Application>
  <PresentationFormat>와이드스크린</PresentationFormat>
  <Paragraphs>290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anthropic-sans</vt:lpstr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도원 박</cp:lastModifiedBy>
  <cp:revision>22</cp:revision>
  <dcterms:created xsi:type="dcterms:W3CDTF">2026-09-29T07:46:10Z</dcterms:created>
  <dcterms:modified xsi:type="dcterms:W3CDTF">2026-10-05T12:01:17Z</dcterms:modified>
</cp:coreProperties>
</file>