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270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8.png"/><Relationship Id="rId18" Type="http://schemas.openxmlformats.org/officeDocument/2006/relationships/image" Target="../media/image22.png"/><Relationship Id="rId3" Type="http://schemas.openxmlformats.org/officeDocument/2006/relationships/image" Target="../media/image11.png"/><Relationship Id="rId21" Type="http://schemas.openxmlformats.org/officeDocument/2006/relationships/image" Target="../media/image9.png"/><Relationship Id="rId7" Type="http://schemas.openxmlformats.org/officeDocument/2006/relationships/image" Target="../media/image5.png"/><Relationship Id="rId12" Type="http://schemas.openxmlformats.org/officeDocument/2006/relationships/image" Target="../media/image17.png"/><Relationship Id="rId17" Type="http://schemas.openxmlformats.org/officeDocument/2006/relationships/image" Target="../media/image21.png"/><Relationship Id="rId2" Type="http://schemas.openxmlformats.org/officeDocument/2006/relationships/image" Target="../media/image10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6.png"/><Relationship Id="rId5" Type="http://schemas.openxmlformats.org/officeDocument/2006/relationships/image" Target="../media/image13.png"/><Relationship Id="rId15" Type="http://schemas.openxmlformats.org/officeDocument/2006/relationships/image" Target="../media/image19.png"/><Relationship Id="rId10" Type="http://schemas.openxmlformats.org/officeDocument/2006/relationships/image" Target="../media/image16.png"/><Relationship Id="rId19" Type="http://schemas.openxmlformats.org/officeDocument/2006/relationships/image" Target="../media/image23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Relationship Id="rId14" Type="http://schemas.openxmlformats.org/officeDocument/2006/relationships/image" Target="../media/image8.png"/><Relationship Id="rId22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4912504" y="2025631"/>
            <a:ext cx="6583680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보스 개편 기획서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찍!찍!!찍!!!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7924727" y="5681050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7924727" y="5908388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20261022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9746184" y="5681050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9746184" y="5908388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20261022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7924727" y="6125755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9746184" y="6125755"/>
            <a:ext cx="175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8667156" y="3269557"/>
            <a:ext cx="280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9C4F-7865-37A1-27AD-71B312452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742A394-D6B0-70C4-190D-0AE707D28723}"/>
              </a:ext>
            </a:extLst>
          </p:cNvPr>
          <p:cNvSpPr txBox="1"/>
          <p:nvPr/>
        </p:nvSpPr>
        <p:spPr>
          <a:xfrm>
            <a:off x="1029084" y="746202"/>
            <a:ext cx="18192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목차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318F2E6-55D1-41EF-9E71-C1F38FB67817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1709928" y="153619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 – 2P</a:t>
            </a:r>
          </a:p>
        </p:txBody>
      </p:sp>
      <p:sp>
        <p:nvSpPr>
          <p:cNvPr id="1002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2212848" y="2011680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목차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로그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기획 의도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4. 보스 일람</a:t>
            </a:r>
          </a:p>
        </p:txBody>
      </p:sp>
      <p:sp>
        <p:nvSpPr>
          <p:cNvPr id="1003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1490472" y="1664207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4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1709928" y="313639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공통 규칙 – 6P</a:t>
            </a:r>
          </a:p>
        </p:txBody>
      </p:sp>
      <p:sp>
        <p:nvSpPr>
          <p:cNvPr id="1005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2212848" y="3611880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전투 규칙 · 기절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표현 · 제작 규칙</a:t>
            </a:r>
          </a:p>
        </p:txBody>
      </p:sp>
      <p:sp>
        <p:nvSpPr>
          <p:cNvPr id="1006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1490472" y="3264408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7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1709928" y="473659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보스 5~50층 – 8P</a:t>
            </a:r>
          </a:p>
        </p:txBody>
      </p:sp>
      <p:sp>
        <p:nvSpPr>
          <p:cNvPr id="1008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2212848" y="5212079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5~20층 기존 보스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25 밈 고양이 ~ 50 노조 고양이</a:t>
            </a:r>
          </a:p>
        </p:txBody>
      </p:sp>
      <p:sp>
        <p:nvSpPr>
          <p:cNvPr id="1009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1490472" y="4864608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0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5916168" y="153619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보스 55~80층 – 15P</a:t>
            </a:r>
          </a:p>
        </p:txBody>
      </p:sp>
      <p:sp>
        <p:nvSpPr>
          <p:cNvPr id="1011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6419088" y="2011680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55 거미 고양이 ~ 80 차력거인</a:t>
            </a:r>
          </a:p>
        </p:txBody>
      </p:sp>
      <p:sp>
        <p:nvSpPr>
          <p:cNvPr id="1012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5696712" y="1664207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3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5916168" y="313639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보스 85~100층 – 21P</a:t>
            </a:r>
          </a:p>
        </p:txBody>
      </p:sp>
      <p:sp>
        <p:nvSpPr>
          <p:cNvPr id="1014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6419088" y="3611880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85 항공모함 고양이 ~ 100 우주 고양이 사령관</a:t>
            </a:r>
          </a:p>
        </p:txBody>
      </p:sp>
      <p:sp>
        <p:nvSpPr>
          <p:cNvPr id="1015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5696712" y="3264408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6" name="TextBox 14">
            <a:extLst>
              <a:ext uri="{FF2B5EF4-FFF2-40B4-BE49-F238E27FC236}">
                <a16:creationId xmlns:a16="http://schemas.microsoft.com/office/drawing/2014/main" id="{EDC55178-8184-FD35-C46F-81B835D405B3}"/>
              </a:ext>
            </a:extLst>
          </p:cNvPr>
          <p:cNvSpPr txBox="1"/>
          <p:nvPr/>
        </p:nvSpPr>
        <p:spPr>
          <a:xfrm>
            <a:off x="5916168" y="473659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그림 · 이름 – 26P</a:t>
            </a:r>
          </a:p>
        </p:txBody>
      </p:sp>
      <p:sp>
        <p:nvSpPr>
          <p:cNvPr id="1017" name="TextBox 28">
            <a:extLst>
              <a:ext uri="{FF2B5EF4-FFF2-40B4-BE49-F238E27FC236}">
                <a16:creationId xmlns:a16="http://schemas.microsoft.com/office/drawing/2014/main" id="{67D3ACF5-BFDD-C370-CA12-DD2BF4A53F55}"/>
              </a:ext>
            </a:extLst>
          </p:cNvPr>
          <p:cNvSpPr txBox="1"/>
          <p:nvPr/>
        </p:nvSpPr>
        <p:spPr>
          <a:xfrm>
            <a:off x="6419088" y="5212079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필요한 새 그림 목록</a:t>
            </a:r>
          </a:p>
          <a:p>
            <a:r>
              <a:rPr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이름 · 화면 글자 (한글 · 영어)</a:t>
            </a:r>
          </a:p>
        </p:txBody>
      </p:sp>
      <p:sp>
        <p:nvSpPr>
          <p:cNvPr id="1018" name="직사각형 48">
            <a:extLst>
              <a:ext uri="{FF2B5EF4-FFF2-40B4-BE49-F238E27FC236}">
                <a16:creationId xmlns:a16="http://schemas.microsoft.com/office/drawing/2014/main" id="{8A351382-A663-193F-052F-16BC8A514A69}"/>
              </a:ext>
            </a:extLst>
          </p:cNvPr>
          <p:cNvSpPr/>
          <p:nvPr/>
        </p:nvSpPr>
        <p:spPr>
          <a:xfrm rot="5400000">
            <a:off x="5696712" y="4864608"/>
            <a:ext cx="239515" cy="1115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6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B3958-C278-8D05-8336-90242A7B1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03B47D-5D66-091B-05B7-CEEED05735FB}"/>
              </a:ext>
            </a:extLst>
          </p:cNvPr>
          <p:cNvSpPr txBox="1"/>
          <p:nvPr/>
        </p:nvSpPr>
        <p:spPr>
          <a:xfrm>
            <a:off x="1029084" y="74620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 – 로그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E76892-A257-C39B-B504-47032CDAACBC}"/>
              </a:ext>
            </a:extLst>
          </p:cNvPr>
          <p:cNvCxnSpPr>
            <a:cxnSpLocks/>
          </p:cNvCxnSpPr>
          <p:nvPr/>
        </p:nvCxnSpPr>
        <p:spPr>
          <a:xfrm flipH="1">
            <a:off x="1133475" y="1320596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19" name="표 1019"/>
          <p:cNvGraphicFramePr>
            <a:graphicFrameLocks noGrp="1"/>
          </p:cNvGraphicFramePr>
          <p:nvPr/>
        </p:nvGraphicFramePr>
        <p:xfrm>
          <a:off x="1133856" y="1600200"/>
          <a:ext cx="8595360" cy="2743200"/>
        </p:xfrm>
        <a:graphic>
          <a:graphicData uri="http://schemas.openxmlformats.org/drawingml/2006/table">
            <a:tbl>
              <a:tblPr firstRow="1" bandRow="1"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순번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작성일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작성자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 내용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비고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2026-10-22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정승운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문서 최초 작성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행동 명세 원문 + 공통 규칙 정리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2026-10-22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정승운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질문 결과 반영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층별 결정 · 보스/스킬 이름 · 화면 글자 (한글 · 영어) 확정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20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70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개요 – 기획 의도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사용자 기획 의도 그대로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926080" cy="86868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반복되는 전투</a:t>
            </a:r>
          </a:p>
          <a:p>
            <a:pPr algn="ctr"/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→ 지루함을 느낄 타이밍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69080" y="2029968"/>
            <a:ext cx="54864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617720" y="1600200"/>
            <a:ext cx="2926080" cy="86868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5층마다 새 보스</a:t>
            </a:r>
          </a:p>
          <a:p>
            <a:pPr algn="ctr"/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쿨타임 스킬 + 발악 2단계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543800" y="2029968"/>
            <a:ext cx="54864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092440" y="1600200"/>
            <a:ext cx="2926080" cy="868680"/>
          </a:xfrm>
          <a:prstGeom prst="round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리프레쉬 · 도전욕구</a:t>
            </a:r>
          </a:p>
          <a:p>
            <a:pPr algn="ctr"/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+ 밈으로 웃음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743200"/>
            <a:ext cx="10058400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dirty="0" err="1">
                <a:solidFill>
                  <a:srgbClr val="000000"/>
                </a:solidFill>
                <a:latin typeface="Noto Sans KR"/>
                <a:ea typeface="Noto Sans KR"/>
              </a:rPr>
              <a:t>리프레쉬</a:t>
            </a:r>
            <a:r>
              <a:rPr sz="1500" b="1" dirty="0">
                <a:solidFill>
                  <a:srgbClr val="000000"/>
                </a:solidFill>
                <a:latin typeface="Noto Sans KR"/>
                <a:ea typeface="Noto Sans KR"/>
              </a:rPr>
              <a:t> :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반복되는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전투에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지루함을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느낄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타이밍에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리프레쉬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부여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— 층</a:t>
            </a:r>
            <a:r>
              <a:rPr lang="ko-KR" altLang="en-US" sz="1500" b="0" dirty="0">
                <a:solidFill>
                  <a:srgbClr val="000000"/>
                </a:solidFill>
                <a:latin typeface="Noto Sans KR"/>
                <a:ea typeface="Noto Sans KR"/>
              </a:rPr>
              <a:t>의 특성을 반영한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·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스킬이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전부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다른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보스</a:t>
            </a:r>
            <a:endParaRPr sz="1500" b="0" dirty="0">
              <a:solidFill>
                <a:srgbClr val="000000"/>
              </a:solidFill>
              <a:latin typeface="Noto Sans KR"/>
              <a:ea typeface="Noto Sans KR"/>
            </a:endParaRPr>
          </a:p>
          <a:p>
            <a:pPr algn="l">
              <a:spcAft>
                <a:spcPts val="800"/>
              </a:spcAft>
            </a:pPr>
            <a:r>
              <a:rPr sz="1500" b="1" dirty="0" err="1">
                <a:solidFill>
                  <a:srgbClr val="000000"/>
                </a:solidFill>
                <a:latin typeface="Noto Sans KR"/>
                <a:ea typeface="Noto Sans KR"/>
              </a:rPr>
              <a:t>도전욕구</a:t>
            </a:r>
            <a:r>
              <a:rPr sz="1500" b="1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500" b="1" dirty="0" err="1">
                <a:solidFill>
                  <a:srgbClr val="000000"/>
                </a:solidFill>
                <a:latin typeface="Noto Sans KR"/>
                <a:ea typeface="Noto Sans KR"/>
              </a:rPr>
              <a:t>자극</a:t>
            </a:r>
            <a:r>
              <a:rPr sz="1500" b="1" dirty="0">
                <a:solidFill>
                  <a:srgbClr val="000000"/>
                </a:solidFill>
                <a:latin typeface="Noto Sans KR"/>
                <a:ea typeface="Noto Sans KR"/>
              </a:rPr>
              <a:t> : 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8초마다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쿨타임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스킬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,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체력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70% · 35%에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발악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1 · 2 →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끝으로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갈수록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거세지는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패턴</a:t>
            </a:r>
            <a:endParaRPr sz="1500" b="0" dirty="0">
              <a:solidFill>
                <a:srgbClr val="000000"/>
              </a:solidFill>
              <a:latin typeface="Noto Sans KR"/>
              <a:ea typeface="Noto Sans KR"/>
            </a:endParaRPr>
          </a:p>
          <a:p>
            <a:pPr algn="l">
              <a:spcAft>
                <a:spcPts val="800"/>
              </a:spcAft>
            </a:pPr>
            <a:r>
              <a:rPr sz="1500" b="1" dirty="0" err="1">
                <a:solidFill>
                  <a:srgbClr val="000000"/>
                </a:solidFill>
                <a:latin typeface="Noto Sans KR"/>
                <a:ea typeface="Noto Sans KR"/>
              </a:rPr>
              <a:t>밈으로</a:t>
            </a:r>
            <a:r>
              <a:rPr sz="1500" b="1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500" b="1" dirty="0" err="1">
                <a:solidFill>
                  <a:srgbClr val="000000"/>
                </a:solidFill>
                <a:latin typeface="Noto Sans KR"/>
                <a:ea typeface="Noto Sans KR"/>
              </a:rPr>
              <a:t>웃음</a:t>
            </a:r>
            <a:r>
              <a:rPr sz="1500" b="1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500" b="1" dirty="0" err="1">
                <a:solidFill>
                  <a:srgbClr val="000000"/>
                </a:solidFill>
                <a:latin typeface="Noto Sans KR"/>
                <a:ea typeface="Noto Sans KR"/>
              </a:rPr>
              <a:t>유발</a:t>
            </a:r>
            <a:r>
              <a:rPr sz="1500" b="1" dirty="0">
                <a:solidFill>
                  <a:srgbClr val="000000"/>
                </a:solidFill>
                <a:latin typeface="Noto Sans KR"/>
                <a:ea typeface="Noto Sans KR"/>
              </a:rPr>
              <a:t> :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해피캣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·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맥스웰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· Huh Cat ·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괴렘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·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좋았쓰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고양이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·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트랄랄레로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·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어몽어스</a:t>
            </a:r>
            <a:r>
              <a:rPr sz="1500" b="0" dirty="0">
                <a:solidFill>
                  <a:srgbClr val="000000"/>
                </a:solidFill>
                <a:latin typeface="Noto Sans KR"/>
                <a:ea typeface="Noto Sans KR"/>
              </a:rPr>
              <a:t> 등 밈 </a:t>
            </a:r>
            <a:r>
              <a:rPr sz="1500" b="0" dirty="0" err="1">
                <a:solidFill>
                  <a:srgbClr val="000000"/>
                </a:solidFill>
                <a:latin typeface="Noto Sans KR"/>
                <a:ea typeface="Noto Sans KR"/>
              </a:rPr>
              <a:t>패러디</a:t>
            </a:r>
            <a:endParaRPr sz="1500" b="0" dirty="0">
              <a:solidFill>
                <a:srgbClr val="000000"/>
              </a:solidFill>
              <a:latin typeface="Noto Sans KR"/>
              <a:ea typeface="Noto Sans KR"/>
            </a:endParaRPr>
          </a:p>
          <a:p>
            <a:pPr algn="l">
              <a:spcAft>
                <a:spcPts val="800"/>
              </a:spcAft>
            </a:pPr>
            <a:r>
              <a:rPr sz="1500" b="1" dirty="0" err="1">
                <a:solidFill>
                  <a:srgbClr val="000000"/>
                </a:solidFill>
                <a:latin typeface="Noto Sans KR"/>
                <a:ea typeface="Noto Sans KR"/>
              </a:rPr>
              <a:t>저작권</a:t>
            </a:r>
            <a:r>
              <a:rPr sz="1500" b="1" dirty="0">
                <a:solidFill>
                  <a:srgbClr val="000000"/>
                </a:solidFill>
                <a:latin typeface="Noto Sans KR"/>
                <a:ea typeface="Noto Sans KR"/>
              </a:rPr>
              <a:t> </a:t>
            </a:r>
            <a:r>
              <a:rPr lang="ko-KR" altLang="en-US" sz="1500" b="1" dirty="0">
                <a:solidFill>
                  <a:srgbClr val="000000"/>
                </a:solidFill>
                <a:latin typeface="Noto Sans KR"/>
                <a:ea typeface="Noto Sans KR"/>
              </a:rPr>
              <a:t>문제 해결</a:t>
            </a:r>
            <a:r>
              <a:rPr lang="en-US" altLang="ko-KR" sz="1500" b="1" dirty="0">
                <a:solidFill>
                  <a:srgbClr val="000000"/>
                </a:solidFill>
                <a:latin typeface="Noto Sans KR"/>
                <a:ea typeface="Noto Sans KR"/>
              </a:rPr>
              <a:t>: </a:t>
            </a:r>
            <a:r>
              <a:rPr lang="ko-KR" altLang="en-US" sz="1500" dirty="0">
                <a:solidFill>
                  <a:srgbClr val="000000"/>
                </a:solidFill>
                <a:latin typeface="Noto Sans KR"/>
                <a:ea typeface="Noto Sans KR"/>
              </a:rPr>
              <a:t>패러디는 유사한 모습 </a:t>
            </a:r>
            <a:r>
              <a:rPr lang="en-US" altLang="ko-KR" sz="1500" dirty="0">
                <a:solidFill>
                  <a:srgbClr val="000000"/>
                </a:solidFill>
                <a:latin typeface="Noto Sans KR"/>
                <a:ea typeface="Noto Sans KR"/>
              </a:rPr>
              <a:t>/ </a:t>
            </a:r>
            <a:r>
              <a:rPr lang="ko-KR" altLang="en-US" sz="1500" dirty="0">
                <a:solidFill>
                  <a:srgbClr val="000000"/>
                </a:solidFill>
                <a:latin typeface="Noto Sans KR"/>
                <a:ea typeface="Noto Sans KR"/>
              </a:rPr>
              <a:t>표정 등으로 표현</a:t>
            </a:r>
            <a:endParaRPr sz="1500" dirty="0">
              <a:solidFill>
                <a:srgbClr val="000000"/>
              </a:solidFill>
              <a:latin typeface="Noto Sans KR"/>
              <a:ea typeface="Noto Sans KR"/>
            </a:endParaRPr>
          </a:p>
        </p:txBody>
      </p:sp>
      <p:pic>
        <p:nvPicPr>
          <p:cNvPr id="11" name="Picture 10" descr="pop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4910115"/>
            <a:ext cx="1463040" cy="969689"/>
          </a:xfrm>
          <a:prstGeom prst="rect">
            <a:avLst/>
          </a:prstGeom>
        </p:spPr>
      </p:pic>
      <p:pic>
        <p:nvPicPr>
          <p:cNvPr id="12" name="Picture 11" descr="goer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4802372"/>
            <a:ext cx="1463040" cy="1185175"/>
          </a:xfrm>
          <a:prstGeom prst="rect">
            <a:avLst/>
          </a:prstGeom>
        </p:spPr>
      </p:pic>
      <p:pic>
        <p:nvPicPr>
          <p:cNvPr id="13" name="Picture 12" descr="uni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4686755"/>
            <a:ext cx="1463040" cy="1416409"/>
          </a:xfrm>
          <a:prstGeom prst="rect">
            <a:avLst/>
          </a:prstGeom>
        </p:spPr>
      </p:pic>
      <p:pic>
        <p:nvPicPr>
          <p:cNvPr id="14" name="Picture 13" descr="joass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549" y="4663440"/>
            <a:ext cx="618341" cy="1463040"/>
          </a:xfrm>
          <a:prstGeom prst="rect">
            <a:avLst/>
          </a:prstGeom>
        </p:spPr>
      </p:pic>
      <p:pic>
        <p:nvPicPr>
          <p:cNvPr id="15" name="Picture 14" descr="sharkc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5005557"/>
            <a:ext cx="1463040" cy="778804"/>
          </a:xfrm>
          <a:prstGeom prst="rect">
            <a:avLst/>
          </a:prstGeom>
        </p:spPr>
      </p:pic>
      <p:pic>
        <p:nvPicPr>
          <p:cNvPr id="16" name="Picture 15" descr="crewm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040" y="5007199"/>
            <a:ext cx="1463040" cy="7755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개요 – 보스 일람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5층마다 보스 · 확정 인게임 이름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57276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" name="Picture 5" descr="old_chi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538" y="1645920"/>
            <a:ext cx="912803" cy="10424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2779776"/>
            <a:ext cx="1508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5층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경비 대장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87752" y="157276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9" name="Picture 8" descr="old_m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104" y="1645920"/>
            <a:ext cx="1061174" cy="10424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96312" y="2779776"/>
            <a:ext cx="1508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10층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연구원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32504" y="157276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12" name="Picture 11" descr="old_dire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5566" y="1645920"/>
            <a:ext cx="1019754" cy="10424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41064" y="2779776"/>
            <a:ext cx="1508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15층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연구소장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77256" y="157276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15" name="Picture 14" descr="old_ze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3642" y="1645920"/>
            <a:ext cx="873106" cy="104241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85816" y="2779776"/>
            <a:ext cx="1508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20층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제로 고양이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22008" y="157276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18" name="Picture 17" descr="popc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1776222"/>
            <a:ext cx="1179576" cy="78181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30568" y="2779776"/>
            <a:ext cx="1508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25층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밈 고양이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157276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21" name="Picture 20" descr="goere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9912" y="1689354"/>
            <a:ext cx="1179576" cy="95554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75320" y="2779776"/>
            <a:ext cx="1508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30층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실험체 고양이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11512" y="157276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24" name="Picture 23" descr="dino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1063" y="1645920"/>
            <a:ext cx="546776" cy="104241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720072" y="2779776"/>
            <a:ext cx="1508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35층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공룡탈 알바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326440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27" name="Picture 26" descr="vmou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8618" y="3337560"/>
            <a:ext cx="554643" cy="104241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51560" y="4471416"/>
            <a:ext cx="1508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Noto Sans KR"/>
                <a:ea typeface="Noto Sans KR"/>
              </a:rPr>
              <a:t>40층 </a:t>
            </a:r>
            <a:r>
              <a:rPr sz="900" b="0">
                <a:solidFill>
                  <a:srgbClr val="000000"/>
                </a:solidFill>
                <a:latin typeface="Noto Sans KR"/>
                <a:ea typeface="Noto Sans KR"/>
              </a:rPr>
              <a:t>원시인 버티컬 마우스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87752" y="326440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30" name="Picture 29" descr="train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109" y="3337560"/>
            <a:ext cx="405165" cy="104241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496312" y="4471416"/>
            <a:ext cx="1508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45층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랩터 사육사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32504" y="326440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33" name="Picture 32" descr="union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57076" y="3337560"/>
            <a:ext cx="1076734" cy="104241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941064" y="4471416"/>
            <a:ext cx="1508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50층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노조 고양이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77256" y="326440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36" name="Picture 35" descr="spid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8307" y="3337560"/>
            <a:ext cx="1063776" cy="104241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385816" y="4471416"/>
            <a:ext cx="1508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55층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거미 고양이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22008" y="326440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39" name="Picture 38" descr="operato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1701" y="3337560"/>
            <a:ext cx="326492" cy="104241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30568" y="4471416"/>
            <a:ext cx="1508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60층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굴착기 기사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66760" y="326440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42" name="Picture 41" descr="sharkca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39912" y="3544812"/>
            <a:ext cx="1179576" cy="627911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275320" y="4471416"/>
            <a:ext cx="1508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65층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상어 고양이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11512" y="326440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45" name="Picture 44" descr="fishca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05364" y="3337560"/>
            <a:ext cx="938174" cy="104241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720072" y="4471416"/>
            <a:ext cx="1508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70층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머라옹 고양이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" y="495604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48" name="Picture 47" descr="deepdiver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23025" y="5029200"/>
            <a:ext cx="365829" cy="104241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51560" y="6163056"/>
            <a:ext cx="1508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75층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심해 잠수부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587752" y="495604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51" name="Picture 50" descr="cartgian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60904" y="5096382"/>
            <a:ext cx="1179576" cy="90805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496312" y="6163056"/>
            <a:ext cx="1508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80층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차력거인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032504" y="495604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54" name="Picture 53" descr="carrier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05656" y="5320677"/>
            <a:ext cx="1179576" cy="45946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941064" y="6163056"/>
            <a:ext cx="1508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85층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항공모함 고양이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77256" y="495604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57" name="Picture 56" descr="dictator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550408" y="5035217"/>
            <a:ext cx="1179576" cy="103038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385816" y="6163056"/>
            <a:ext cx="1508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90층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총통 고양이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922008" y="495604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0" name="Picture 59" descr="gremlin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95160" y="5068508"/>
            <a:ext cx="1179576" cy="96379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830568" y="6163056"/>
            <a:ext cx="1508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Noto Sans KR"/>
                <a:ea typeface="Noto Sans KR"/>
              </a:rPr>
              <a:t>94층 </a:t>
            </a:r>
            <a:r>
              <a:rPr sz="1050" b="0">
                <a:solidFill>
                  <a:srgbClr val="000000"/>
                </a:solidFill>
                <a:latin typeface="Noto Sans KR"/>
                <a:ea typeface="Noto Sans KR"/>
              </a:rPr>
              <a:t>그렘린 고양이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66760" y="495604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3" name="Picture 62" descr="crewmat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39912" y="5237776"/>
            <a:ext cx="1179576" cy="625263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275320" y="6163056"/>
            <a:ext cx="1508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Noto Sans KR"/>
                <a:ea typeface="Noto Sans KR"/>
              </a:rPr>
              <a:t>97층 </a:t>
            </a:r>
            <a:r>
              <a:rPr sz="900" b="0">
                <a:solidFill>
                  <a:srgbClr val="000000"/>
                </a:solidFill>
                <a:latin typeface="Noto Sans KR"/>
                <a:ea typeface="Noto Sans KR"/>
              </a:rPr>
              <a:t>수상한 우주복 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811512" y="4956048"/>
            <a:ext cx="13258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6" name="Picture 65" descr="old_commander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36833" y="5029200"/>
            <a:ext cx="875236" cy="1042415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720072" y="6163056"/>
            <a:ext cx="1508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Noto Sans KR"/>
                <a:ea typeface="Noto Sans KR"/>
              </a:rPr>
              <a:t>100층 </a:t>
            </a:r>
            <a:r>
              <a:rPr sz="900" b="0">
                <a:solidFill>
                  <a:srgbClr val="000000"/>
                </a:solidFill>
                <a:latin typeface="Noto Sans KR"/>
                <a:ea typeface="Noto Sans KR"/>
              </a:rPr>
              <a:t>우주 고양이 사령관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공통 규칙 – 전투 규칙 · 기절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질문으로 정한 것 (2026-10-22)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011680" cy="77724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평타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리그별 기본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54680" y="1984248"/>
            <a:ext cx="50292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657600" y="1600200"/>
            <a:ext cx="2011680" cy="77724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쿨타임 스킬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8초 간격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0" y="1984248"/>
            <a:ext cx="502920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72200" y="1600200"/>
            <a:ext cx="2011680" cy="777240"/>
          </a:xfrm>
          <a:prstGeom prst="round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발악 1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체력 70%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83879" y="1984248"/>
            <a:ext cx="502921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686800" y="1600200"/>
            <a:ext cx="2011680" cy="777240"/>
          </a:xfrm>
          <a:prstGeom prst="round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Noto Sans KR"/>
                <a:ea typeface="Noto Sans KR"/>
              </a:rPr>
              <a:t>발악 2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Noto Sans KR"/>
                <a:ea typeface="Noto Sans KR"/>
              </a:rPr>
              <a:t>체력 35%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462983"/>
              </p:ext>
            </p:extLst>
          </p:nvPr>
        </p:nvGraphicFramePr>
        <p:xfrm>
          <a:off x="1143000" y="2606040"/>
          <a:ext cx="9966960" cy="343814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항목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규칙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비고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평타</a:t>
                      </a:r>
                      <a:r>
                        <a:rPr sz="1250" b="1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(</a:t>
                      </a:r>
                      <a:r>
                        <a:rPr sz="1250" b="1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일반</a:t>
                      </a:r>
                      <a:r>
                        <a:rPr sz="1250" b="1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50" b="1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공격</a:t>
                      </a:r>
                      <a:r>
                        <a:rPr sz="1250" b="1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1 · 2)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리그별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기본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유지</a:t>
                      </a:r>
                      <a:endParaRPr sz="1250" b="0" dirty="0">
                        <a:solidFill>
                          <a:srgbClr val="000000"/>
                        </a:solidFill>
                        <a:latin typeface="Noto Sans KR"/>
                        <a:ea typeface="Noto Sans KR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덮치기 · 밟기 · 휘두르기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 스킬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8초 </a:t>
                      </a:r>
                      <a:r>
                        <a:rPr sz="125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간격</a:t>
                      </a:r>
                      <a:endParaRPr sz="1250" b="0" dirty="0">
                        <a:solidFill>
                          <a:srgbClr val="000000"/>
                        </a:solidFill>
                        <a:latin typeface="Noto Sans KR"/>
                        <a:ea typeface="Noto Sans KR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층마다 1종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체력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70% → </a:t>
                      </a:r>
                      <a:r>
                        <a:rPr sz="125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1, 35% → </a:t>
                      </a:r>
                      <a:r>
                        <a:rPr sz="125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2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체력 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25% </a:t>
                      </a:r>
                      <a:r>
                        <a:rPr lang="ko-KR" altLang="en-US"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이하</a:t>
                      </a:r>
                      <a:r>
                        <a:rPr sz="125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에선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번갈아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계속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씀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  <a:r>
                        <a:rPr sz="1250" b="1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50" b="1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시간</a:t>
                      </a:r>
                      <a:endParaRPr sz="1250" b="1" dirty="0">
                        <a:solidFill>
                          <a:srgbClr val="000000"/>
                        </a:solidFill>
                        <a:latin typeface="Noto Sans KR"/>
                        <a:ea typeface="Noto Sans KR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1초 · </a:t>
                      </a:r>
                      <a:r>
                        <a:rPr sz="125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2초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예외가 존재하는 경우 </a:t>
                      </a:r>
                      <a:r>
                        <a:rPr lang="ko-KR" altLang="en-US" sz="125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스킬효과에</a:t>
                      </a:r>
                      <a:r>
                        <a:rPr lang="ko-KR" altLang="en-US"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명세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재기절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면역 없음 — 풀리면 바로 다시 걸림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예외</a:t>
                      </a:r>
                      <a:r>
                        <a:rPr lang="ko-KR" altLang="en-US"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가 존재하는 경우 </a:t>
                      </a:r>
                      <a:r>
                        <a:rPr lang="ko-KR" altLang="en-US" sz="125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스킬효과에</a:t>
                      </a:r>
                      <a:r>
                        <a:rPr lang="ko-KR" altLang="en-US"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명세</a:t>
                      </a:r>
                      <a:endParaRPr sz="1250" b="0" dirty="0">
                        <a:solidFill>
                          <a:srgbClr val="000000"/>
                        </a:solidFill>
                        <a:latin typeface="Noto Sans KR"/>
                        <a:ea typeface="Noto Sans KR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밀려남</a:t>
                      </a:r>
                      <a:r>
                        <a:rPr sz="1250" b="1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(</a:t>
                      </a:r>
                      <a:r>
                        <a:rPr sz="1250" b="1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넉백</a:t>
                      </a:r>
                      <a:r>
                        <a:rPr sz="1250" b="1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벽에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막히면</a:t>
                      </a:r>
                      <a:r>
                        <a:rPr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멈춤</a:t>
                      </a:r>
                      <a:endParaRPr sz="1250" b="0" dirty="0">
                        <a:solidFill>
                          <a:srgbClr val="000000"/>
                        </a:solidFill>
                        <a:latin typeface="Noto Sans KR"/>
                        <a:ea typeface="Noto Sans KR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50" b="0" dirty="0">
                        <a:solidFill>
                          <a:srgbClr val="000000"/>
                        </a:solidFill>
                        <a:latin typeface="Noto Sans KR"/>
                        <a:ea typeface="Noto Sans KR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최대 마릿수 (인구수)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보스의 스킬에 의해 일정 시간 사라진 쥐들도 포함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번식 제한을 위해 예외 처리</a:t>
                      </a:r>
                      <a:r>
                        <a:rPr lang="en-US" altLang="ko-KR"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 -&gt; </a:t>
                      </a:r>
                      <a:r>
                        <a:rPr lang="ko-KR" altLang="en-US" sz="1250" b="0" dirty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버그 방지</a:t>
                      </a:r>
                      <a:endParaRPr sz="1250" b="0" dirty="0">
                        <a:solidFill>
                          <a:srgbClr val="000000"/>
                        </a:solidFill>
                        <a:latin typeface="Noto Sans KR"/>
                        <a:ea typeface="Noto Sans KR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공통 규칙 – 표현 · 제작 규칙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질문으로 정한 것 + README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4846320" cy="214884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78308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Noto Sans KR"/>
                <a:ea typeface="Noto Sans KR"/>
              </a:rPr>
              <a:t>보스 · 스킬 이름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4389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Noto Sans KR"/>
                <a:ea typeface="Noto Sans KR"/>
              </a:rPr>
              <a:t>패러디 원작과 비슷하게 바꾼 이름, 한글 · 영어 확정 (2026-10-22)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Noto Sans KR"/>
                <a:ea typeface="Noto Sans KR"/>
              </a:rPr>
              <a:t>원작 이름은 '패러디 원작' 칸에만 · 예) 괴렘 → 실험체 고양이 (Subject Kitty)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4846320" cy="21488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Noto Sans KR"/>
                <a:ea typeface="Noto Sans KR"/>
              </a:rPr>
              <a:t>화면 글자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4389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Noto Sans KR"/>
                <a:ea typeface="Noto Sans KR"/>
              </a:rPr>
              <a:t>한글 · 영어 확정 (2026-10-22) → 28P 표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Noto Sans KR"/>
                <a:ea typeface="Noto Sans KR"/>
              </a:rPr>
              <a:t>HUH? · 우가!! (OOGA!!) · 좋았쓰!! (LOOKS GOOD!!) · 긴급 회의! (EMERGENCY HUDDLE!)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977639"/>
            <a:ext cx="4846320" cy="21488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416052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Noto Sans KR"/>
                <a:ea typeface="Noto Sans KR"/>
              </a:rPr>
              <a:t>그림체 · 외형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663440"/>
            <a:ext cx="4389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Noto Sans KR"/>
                <a:ea typeface="Noto Sans KR"/>
              </a:rPr>
              <a:t>지금 게임 그대로 (플랫, 외곽선 · 광택 없음, 부위별 시트 → 리그)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Noto Sans KR"/>
                <a:ea typeface="Noto Sans KR"/>
              </a:rPr>
              <a:t>패러디는 실루엣 · 의상만 (실존 얼굴 · 로고 · 상징 없음)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39"/>
            <a:ext cx="4846320" cy="214884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416052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Noto Sans KR"/>
                <a:ea typeface="Noto Sans KR"/>
              </a:rPr>
              <a:t>작업 순서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663440"/>
            <a:ext cx="4389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Noto Sans KR"/>
                <a:ea typeface="Noto Sans KR"/>
              </a:rPr>
              <a:t>동작 먼저 (임시 그림) → 그림은 나중에 한꺼번에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000000"/>
                </a:solidFill>
                <a:latin typeface="Noto Sans KR"/>
                <a:ea typeface="Noto Sans KR"/>
              </a:rPr>
              <a:t>20층 제로 고양이 = 지금 그대로 · 5~15층 그대로 가져감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5~20층 기존 보스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원문: 그대로 가져감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240280" cy="2240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" name="Picture 5" descr="old_chi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417" y="1783080"/>
            <a:ext cx="1641444" cy="18745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" y="3977639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Noto Sans KR"/>
                <a:ea typeface="Noto Sans KR"/>
              </a:rPr>
              <a:t>5층 경비 대장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3891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 err="1">
                <a:solidFill>
                  <a:srgbClr val="595959"/>
                </a:solidFill>
                <a:latin typeface="Noto Sans KR"/>
                <a:ea typeface="Noto Sans KR"/>
              </a:rPr>
              <a:t>데이터</a:t>
            </a:r>
            <a:r>
              <a:rPr sz="1200" b="0" dirty="0">
                <a:solidFill>
                  <a:srgbClr val="595959"/>
                </a:solidFill>
                <a:latin typeface="Noto Sans KR"/>
                <a:ea typeface="Noto Sans KR"/>
              </a:rPr>
              <a:t> </a:t>
            </a:r>
            <a:r>
              <a:rPr sz="1200" b="0" dirty="0" err="1">
                <a:solidFill>
                  <a:srgbClr val="595959"/>
                </a:solidFill>
                <a:latin typeface="Noto Sans KR"/>
                <a:ea typeface="Noto Sans KR"/>
              </a:rPr>
              <a:t>이름</a:t>
            </a:r>
            <a:r>
              <a:rPr sz="1200" b="0" dirty="0">
                <a:solidFill>
                  <a:srgbClr val="595959"/>
                </a:solidFill>
                <a:latin typeface="Noto Sans KR"/>
                <a:ea typeface="Noto Sans KR"/>
              </a:rPr>
              <a:t>: </a:t>
            </a:r>
            <a:r>
              <a:rPr sz="1200" b="0" dirty="0" err="1">
                <a:solidFill>
                  <a:srgbClr val="595959"/>
                </a:solidFill>
                <a:latin typeface="Noto Sans KR"/>
                <a:ea typeface="Noto Sans KR"/>
              </a:rPr>
              <a:t>경비대장</a:t>
            </a:r>
            <a:r>
              <a:rPr sz="1200" b="0" dirty="0">
                <a:solidFill>
                  <a:srgbClr val="595959"/>
                </a:solidFill>
                <a:latin typeface="Noto Sans KR"/>
                <a:ea typeface="Noto Sans KR"/>
              </a:rPr>
              <a:t> </a:t>
            </a:r>
            <a:r>
              <a:rPr sz="1200" b="0" dirty="0" err="1">
                <a:solidFill>
                  <a:srgbClr val="595959"/>
                </a:solidFill>
                <a:latin typeface="Noto Sans KR"/>
                <a:ea typeface="Noto Sans KR"/>
              </a:rPr>
              <a:t>강철수</a:t>
            </a:r>
            <a:endParaRPr sz="1200" b="0" dirty="0">
              <a:solidFill>
                <a:srgbClr val="595959"/>
              </a:solidFill>
              <a:latin typeface="Noto Sans KR"/>
              <a:ea typeface="Noto Sans KR"/>
            </a:endParaRPr>
          </a:p>
          <a:p>
            <a:pPr algn="ctr"/>
            <a:r>
              <a:rPr sz="1200" b="0" dirty="0" err="1">
                <a:solidFill>
                  <a:srgbClr val="595959"/>
                </a:solidFill>
                <a:latin typeface="Noto Sans KR"/>
                <a:ea typeface="Noto Sans KR"/>
              </a:rPr>
              <a:t>그대로</a:t>
            </a:r>
            <a:r>
              <a:rPr sz="1200" b="0" dirty="0">
                <a:solidFill>
                  <a:srgbClr val="595959"/>
                </a:solidFill>
                <a:latin typeface="Noto Sans KR"/>
                <a:ea typeface="Noto Sans KR"/>
              </a:rPr>
              <a:t> </a:t>
            </a:r>
            <a:r>
              <a:rPr sz="1200" b="0" dirty="0" err="1">
                <a:solidFill>
                  <a:srgbClr val="595959"/>
                </a:solidFill>
                <a:latin typeface="Noto Sans KR"/>
                <a:ea typeface="Noto Sans KR"/>
              </a:rPr>
              <a:t>가져감</a:t>
            </a:r>
            <a:endParaRPr sz="1200" b="0" dirty="0">
              <a:solidFill>
                <a:srgbClr val="595959"/>
              </a:solidFill>
              <a:latin typeface="Noto Sans KR"/>
              <a:ea typeface="Noto Sans KR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657600" y="1600200"/>
            <a:ext cx="2240280" cy="2240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10" name="Picture 9" descr="old_m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844559"/>
            <a:ext cx="1783080" cy="1751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0" y="3977639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Noto Sans KR"/>
                <a:ea typeface="Noto Sans KR"/>
              </a:rPr>
              <a:t>10층 연구원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3891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 err="1">
                <a:solidFill>
                  <a:srgbClr val="595959"/>
                </a:solidFill>
                <a:latin typeface="Noto Sans KR"/>
                <a:ea typeface="Noto Sans KR"/>
              </a:rPr>
              <a:t>데이터</a:t>
            </a:r>
            <a:r>
              <a:rPr sz="1200" b="0" dirty="0">
                <a:solidFill>
                  <a:srgbClr val="595959"/>
                </a:solidFill>
                <a:latin typeface="Noto Sans KR"/>
                <a:ea typeface="Noto Sans KR"/>
              </a:rPr>
              <a:t> </a:t>
            </a:r>
            <a:r>
              <a:rPr sz="1200" b="0" dirty="0" err="1">
                <a:solidFill>
                  <a:srgbClr val="595959"/>
                </a:solidFill>
                <a:latin typeface="Noto Sans KR"/>
                <a:ea typeface="Noto Sans KR"/>
              </a:rPr>
              <a:t>이름</a:t>
            </a:r>
            <a:r>
              <a:rPr sz="1200" b="0" dirty="0">
                <a:solidFill>
                  <a:srgbClr val="595959"/>
                </a:solidFill>
                <a:latin typeface="Noto Sans KR"/>
                <a:ea typeface="Noto Sans KR"/>
              </a:rPr>
              <a:t>: </a:t>
            </a:r>
            <a:r>
              <a:rPr sz="1200" b="0" dirty="0" err="1">
                <a:solidFill>
                  <a:srgbClr val="595959"/>
                </a:solidFill>
                <a:latin typeface="Noto Sans KR"/>
                <a:ea typeface="Noto Sans KR"/>
              </a:rPr>
              <a:t>광기의</a:t>
            </a:r>
            <a:r>
              <a:rPr sz="1200" b="0" dirty="0">
                <a:solidFill>
                  <a:srgbClr val="595959"/>
                </a:solidFill>
                <a:latin typeface="Noto Sans KR"/>
                <a:ea typeface="Noto Sans KR"/>
              </a:rPr>
              <a:t> </a:t>
            </a:r>
            <a:r>
              <a:rPr sz="1200" b="0" dirty="0" err="1">
                <a:solidFill>
                  <a:srgbClr val="595959"/>
                </a:solidFill>
                <a:latin typeface="Noto Sans KR"/>
                <a:ea typeface="Noto Sans KR"/>
              </a:rPr>
              <a:t>수석</a:t>
            </a:r>
            <a:r>
              <a:rPr sz="1200" b="0" dirty="0">
                <a:solidFill>
                  <a:srgbClr val="595959"/>
                </a:solidFill>
                <a:latin typeface="Noto Sans KR"/>
                <a:ea typeface="Noto Sans KR"/>
              </a:rPr>
              <a:t> </a:t>
            </a:r>
            <a:r>
              <a:rPr sz="1200" b="0" dirty="0" err="1">
                <a:solidFill>
                  <a:srgbClr val="595959"/>
                </a:solidFill>
                <a:latin typeface="Noto Sans KR"/>
                <a:ea typeface="Noto Sans KR"/>
              </a:rPr>
              <a:t>연구원</a:t>
            </a:r>
            <a:endParaRPr sz="1200" b="0" dirty="0">
              <a:solidFill>
                <a:srgbClr val="595959"/>
              </a:solidFill>
              <a:latin typeface="Noto Sans KR"/>
              <a:ea typeface="Noto Sans KR"/>
            </a:endParaRPr>
          </a:p>
          <a:p>
            <a:pPr algn="ctr"/>
            <a:r>
              <a:rPr sz="1200" b="0" dirty="0" err="1">
                <a:solidFill>
                  <a:srgbClr val="595959"/>
                </a:solidFill>
                <a:latin typeface="Noto Sans KR"/>
                <a:ea typeface="Noto Sans KR"/>
              </a:rPr>
              <a:t>그대로</a:t>
            </a:r>
            <a:r>
              <a:rPr sz="1200" b="0" dirty="0">
                <a:solidFill>
                  <a:srgbClr val="595959"/>
                </a:solidFill>
                <a:latin typeface="Noto Sans KR"/>
                <a:ea typeface="Noto Sans KR"/>
              </a:rPr>
              <a:t> </a:t>
            </a:r>
            <a:r>
              <a:rPr sz="1200" b="0" dirty="0" err="1">
                <a:solidFill>
                  <a:srgbClr val="595959"/>
                </a:solidFill>
                <a:latin typeface="Noto Sans KR"/>
                <a:ea typeface="Noto Sans KR"/>
              </a:rPr>
              <a:t>가져감</a:t>
            </a:r>
            <a:endParaRPr sz="1200" b="0" dirty="0">
              <a:solidFill>
                <a:srgbClr val="595959"/>
              </a:solidFill>
              <a:latin typeface="Noto Sans KR"/>
              <a:ea typeface="Noto Sans KR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2240280" cy="2240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14" name="Picture 13" descr="old_dire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808987"/>
            <a:ext cx="1783080" cy="1822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72200" y="3977639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Noto Sans KR"/>
                <a:ea typeface="Noto Sans KR"/>
              </a:rPr>
              <a:t>15층 연구소장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3891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데이터 이름: 연구소장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그대로 가져감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600200"/>
            <a:ext cx="2240280" cy="22402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18" name="Picture 17" descr="old_ze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1910" y="1783080"/>
            <a:ext cx="1570059" cy="18745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86800" y="3977639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Noto Sans KR"/>
                <a:ea typeface="Noto Sans KR"/>
              </a:rPr>
              <a:t>20층 제로 고양이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3891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데이터 이름: 제로 고양이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지금 그대로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25층 밈 고양이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Meme Cat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" name="Picture 5" descr="pop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137675"/>
            <a:ext cx="2103120" cy="1393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팝 캣 (기본) · 해피캣 · 맥스웰 · Huh Cat 밈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흰 고양이 + 귀 · 뒷머리 회갈색 얼룩, 계속 뻐끔거림. 옆모습에 입이 보일 만큼만 돌림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고양이 · 시트 cr3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해피캣 투하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Happy Cat Drop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HAPPY HAPPY HAPPY 고양이 8마리가 하늘에서 떨어져 지상에 약 3초간 남아 폴짝폴짝 뛰어다님. 해피 캣에 닿은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맥스웰 소환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Maxwell Summon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맥스웰 고양이 6마리가 바닥에서 포탈을 열고 올라옴 → 좌우로 몸을 흔들며 몸에 닿는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 (기본)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허 고양이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Huh Cat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밈 고양이 헤드 변경(새로 그림) → 헤드가 살짝 아래로 내려가는 모션과 함께 HUH? 텍스트 등장. 글자들이 팝콘처럼 포물선으로 튀어 나가 착탄 지점의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 (기본)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30층 실험체 고양이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Subject Kitty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" name="Picture 5" descr="goer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82794"/>
            <a:ext cx="2103120" cy="17036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이터널 리턴 '이렘' 2차 창작 '괴렘'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하얀 고양이 유지: 귀 없는 둥근 크림색 · 오드아이 · 옅은 치즈 얼룩 · 침. 기본 그림은 지금 것 유지 (동작만 참고 느낌으로)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고양이 · 시트 cr2 1행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헤어볼 뱉기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Hairball Spit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상체를 아래로 기울이고 입을 열면 헤어볼들이 전방으로 우르르 굴러나옴. 부딪힌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 (기본)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너.. 봤구나?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You... Saw That?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참고 그림 그대로: 귀가 사라지고 목이 길어진 기괴한 웃음 + 빨간 리본 + 말풍선 '너... 봤구나?', 빛나며 주변 기절. 이후 그 상태 유지, 재사용 시 빛나며 주변 기절만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 (기본)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나 우울해서 빵됐어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Sad Into Bread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보스는 우는 얼굴 식빵으로 변하고, 하늘에서 우는 고양이 얼굴 빵 총 12개가 떨어져 바닥에 퍼짐. 빵에 맞거나 바닥에 터진 빵 반죽에 닿으면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 (기본)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794760" y="5001768"/>
            <a:ext cx="7406640" cy="685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※ </a:t>
            </a: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참고 그림 (Sheets/ref_goerem_*): 기본 · 발악 1 기괴한 웃음 + 빨간 리본 · 발악 2 우는 얼굴 빵들</a:t>
            </a:r>
          </a:p>
        </p:txBody>
      </p:sp>
      <p:pic>
        <p:nvPicPr>
          <p:cNvPr id="10" name="Picture 9" descr="ref_goerem_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329" y="5779007"/>
            <a:ext cx="942221" cy="731520"/>
          </a:xfrm>
          <a:prstGeom prst="rect">
            <a:avLst/>
          </a:prstGeom>
        </p:spPr>
      </p:pic>
      <p:pic>
        <p:nvPicPr>
          <p:cNvPr id="11" name="Picture 10" descr="ref_goerem_rage1_sa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701" y="5779007"/>
            <a:ext cx="640517" cy="731520"/>
          </a:xfrm>
          <a:prstGeom prst="rect">
            <a:avLst/>
          </a:prstGeom>
        </p:spPr>
      </p:pic>
      <p:pic>
        <p:nvPicPr>
          <p:cNvPr id="12" name="Picture 11" descr="ref_goerem_rage2_br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6287" y="5779007"/>
            <a:ext cx="832385" cy="731520"/>
          </a:xfrm>
          <a:prstGeom prst="rect">
            <a:avLst/>
          </a:prstGeom>
        </p:spPr>
      </p:pic>
      <p:pic>
        <p:nvPicPr>
          <p:cNvPr id="13" name="Picture 12" descr="ref_goerem_rage2_pizz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5779007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35층 공룡탈 알바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T-Rex Suit Part-Timer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" name="Picture 5" descr="din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165" y="1737360"/>
            <a:ext cx="1151108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공룡 탈을 쓴 아르바이트생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초록 공룡 탈 · 탈 입 사이로 얼굴이 보임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사람 · 시트 hr1 2행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탈 던지기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Mask Toss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약 1~2초 끙끙대며 탈을 벗으려는 모션 → 탈을 뽑아 집어 던짐. 착탄 지점까지 일직선으로 날아가 폭발. 던져도 보스 머리엔 탈이 그대로 남음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 (기본)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티라노 흉내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T-Rex Impression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사람 리그를 앞으로 기울이고 꼬리를 붙여 공룡 형태로 거대화. 걸을 때 화면 진동 + 주변 범위 쥐 기절 (수석 연구원 거대화 패턴과 유사)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 (기본)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현타 담배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Existential Smoke Break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쭈그려 앉아 공룡탈 머리를 옆에 벗어두고 담배. 연기가 보스에게서 퍼져나오며 점점 옅어짐, 연기에 닿은 쥐 기절. 3초 후 복귀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 (기본)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40층 원시인 버티컬 마우스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Caveman Vertical Mouse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" name="Picture 5" descr="vm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077" y="1691640"/>
            <a:ext cx="1216324" cy="2286000"/>
          </a:xfrm>
          <a:prstGeom prst="rect">
            <a:avLst/>
          </a:prstGeom>
        </p:spPr>
      </p:pic>
      <p:pic>
        <p:nvPicPr>
          <p:cNvPr id="7" name="Picture 6" descr="prop_cl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762972"/>
            <a:ext cx="914400" cy="8291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버티컬 마우스 (옷은 원시인 옷)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사람 리그에 몸 · 얼굴 = 직립 쥐, 원시인 옷 + 몽둥이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사람 · 시트 hr1 1행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몽둥이 강타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Club Smash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약 2초 동안 주변에 몽둥이를 마구 휘두름. 범위 안 쥐는 일정 거리(벽이 있으면 벽까지) 튕겨 날아간 뒤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 (기본)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워크라이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War Cry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몽둥이를 스탠딩 마이크처럼 들고 몽둥이 머리에 대고 소리를 크게 지름(우가!!). 음파 파동이 퍼져나가며 닿은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 (기본)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버티컬 마우스 투하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Mouse Meteor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버티컬 마우스 약 6개가 운석처럼 떨어져 크레이터를 만들고 4초간 박혀 있음. 크레이터에 닿은 쥐는 미니 버티컬 마우스로 변해 3초간 멋대로 돌아다니고 공격 안 함 (개구리 저주와 비슷)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변신 3초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794760" y="5001768"/>
            <a:ext cx="7406640" cy="685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※ </a:t>
            </a: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정한 것: 미니 버티컬 마우스로 변한 쥐는 최대 마릿수(인구수)에서 빠지지 않음 — 그동안 새 쥐가 태어나 넘치지 않게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45층 랩터 사육사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Raptor Keeper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" name="Picture 5" descr="tra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979" y="1691640"/>
            <a:ext cx="888520" cy="2286000"/>
          </a:xfrm>
          <a:prstGeom prst="rect">
            <a:avLst/>
          </a:prstGeom>
        </p:spPr>
      </p:pic>
      <p:pic>
        <p:nvPicPr>
          <p:cNvPr id="7" name="Picture 6" descr="prop_rap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968740"/>
            <a:ext cx="914400" cy="4175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쥬라기 월드 프랫 (실루엣 · 의상만)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조끼 차림 사육사, 손바닥 펴는 팔 · 소환물 랩터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사람 · 시트 hr1 3행 · 랩터 pr1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샷건 발사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Shotgun Blast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샷건을 꺼내 장전(모션 1초)한 뒤 전방으로 발사. 보스 좁은 주변 + 전방 부채꼴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 (기본)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랩터 떼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Raptor Stampede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(카메라 연출) 화면 왼쪽 밖에서 오른쪽 밖까지 랩터들이 한 번 우르르 지나가고, 화면 안에 보이는 쥐 전부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랩터 다루기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Raptor Whisperer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랩터 3마리가 투명 → 불투명하게 등장. 보스가 쥬라기 월드 짤처럼 자세를 잡고 랩터 3마리가 보스 중심으로 회전(약 5초), 그동안 보스는 천천히 걸어다님. 닿은 쥐 기절, 계속 걸릴 수 있음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50층 노조 고양이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Union Cat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" name="Picture 5" descr="unio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170698"/>
            <a:ext cx="1371600" cy="1327883"/>
          </a:xfrm>
          <a:prstGeom prst="rect">
            <a:avLst/>
          </a:prstGeom>
        </p:spPr>
      </p:pic>
      <p:pic>
        <p:nvPicPr>
          <p:cNvPr id="7" name="Picture 6" descr="joas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672" y="2491740"/>
            <a:ext cx="579695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노조 고양이 + 현장 고양이 '좋았쓰!!' (소환: 좋았쓰 고양이 Looks-Good Cat)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기본 = 노조 고양이(옆모습), 소환되는 좋았쓰 고양이 = 흰 안전모, 두 발로 서서 가리킴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고양이 · 시트 cr4 1행 · 좋았쓰 hr3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냥냥펀치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Paw-Paw Slap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 준비 자세(고양이 사냥 준비 자세) → 쥐가 모인 곳으로 뛰어가 앞발 4연타. 두드릴 때마다 화면 흔들림 + 주변 범위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 (기본)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단결 투쟁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Solidarity Strike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두 발로 서서 확성기를 들면 화면 외곽이 붉게 깜빡이고, 붉은 조끼 · 머리띠에 '단결 투쟁'(UNITE &amp; FIGHT) 피켓을 든 시위대가 화면 왼쪽 밖 → 오른쪽 밖으로 지나감. 닿은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 (기본)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좋았쓰!! 호출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Call the Looks-Good Cats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보스가 두 발로 서서(잠깐 사람 리그) 안전모를 쓰고 전화를 걺. 진동이 점점 심해지고 발밑 먼지 구름 속에서 좋았쓰 고양이들이 사방으로 포물선을 그리며 튀어나옴. 날아가는 고양이 · 착탄 지점에 닿으면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 (기본)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55층 거미 고양이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Spider Cat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" name="Picture 5" descr="sp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162611"/>
            <a:ext cx="1371600" cy="1344057"/>
          </a:xfrm>
          <a:prstGeom prst="rect">
            <a:avLst/>
          </a:prstGeom>
        </p:spPr>
      </p:pic>
      <p:pic>
        <p:nvPicPr>
          <p:cNvPr id="7" name="Picture 6" descr="prop_re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872740"/>
            <a:ext cx="91440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토이스토리 아기 머리 거미 장난감 (공사장 철근 활용 컨셉)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아기 얼굴 대신 고양이 얼굴, 다리 = 공사장 철근, 머리 아래 용접 목 받침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전용 · 시트 cx1 1행 · cx5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철근 가시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Rebar Spikes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입을 우물거리다가 바라보는 방향 기준 60°(중앙 기준 30°) 부채꼴로 작은 철근 가시 발사. 맞은 쥐 전부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철근 거미줄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Rebar Web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공중에서 철근으로 매우 크게 거미줄을 짠 뒤 바닥으로 낙하. 낙하 범위를 그림자로 표시, 낙하까지 예고 1초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거미줄 돌진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Web Dash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시동 거는 자세로 준비 → 방 한 칸 정도 범위를 매우 빠르게 돌진 (총 3초, 방 끝에서 끝까지 0.3초 이내). 오각형 꼭짓점을 별 모양 순서(한 칸 건너뛰기)로 돌진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60층 굴착기 기사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Excavator Operator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" name="Picture 5" descr="op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243" y="1691640"/>
            <a:ext cx="715992" cy="2286000"/>
          </a:xfrm>
          <a:prstGeom prst="rect">
            <a:avLst/>
          </a:prstGeom>
        </p:spPr>
      </p:pic>
      <p:pic>
        <p:nvPicPr>
          <p:cNvPr id="7" name="Picture 6" descr="excav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879066"/>
            <a:ext cx="914400" cy="5969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굴착기 운전하는 사람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안전모 · 고글 · 형광 조끼 작업자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사람 · 시트 hr2 1행 + 굴착기 pr1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라바콘 투하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Cone Drop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범위를 그림자로 예고, 0.7초 후 특정 범위 3곳에 라바콘 낙하. 라바콘에 닿은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굴삭기 회전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Excavator Spin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굴착기 탑승 → 포크레인 팔을 길게 쭉 펼친 뒤 가렌 E처럼 3초 동안 빙글빙글 회전. 회전에 닿은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포크레인 댄스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Digger Dance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참고 GIF(원문 링크, 열어서 움직임 확인 후 구현)처럼 움직이며 360° 사방으로(각 15° 이내, 매우 좁게) 돌멩이 난사. 돌멩이와 충돌한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794760" y="4937760"/>
            <a:ext cx="7406640" cy="685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※ </a:t>
            </a: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정한 것: 사람으로 싸우다 발악 1(체력 70%)에 굴착기 탑승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65층 상어 고양이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Shark Cat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" name="Picture 5" descr="shark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274874"/>
            <a:ext cx="2103120" cy="11195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트랄랄레로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상어 몸 + 고양이 얼굴 + 운동화, 네 발로 고양이처럼 걸음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전용 · 시트 cx6 (통 cx6_full)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물방울 감옥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Bubble Jail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범위를 그림자로 예고, 0.7초 후 특정 범위 3곳에 물방울 감옥 생성. 안에 있던 쥐 전부 물방울 안에 갇힘(기절)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지느러미 돌진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Fin Rush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몸을 숨기고 붉게 물든 등지느러미만 보이며 쥐가 가장 많은 범위로 돌진. 충돌한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신발 토네이도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Sneaker Tornado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보스의 신발이 모터 달린 롤러스케이트로 변함 → 3초간 외곽에서 안쪽으로 나선 회전하며 움직임. 닿은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794760" y="4937760"/>
            <a:ext cx="7406640" cy="685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※ </a:t>
            </a: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그림 메모 (README): 트랄랄레로 스킬 그림(bm 계열)은 이미 있음 → 코드로 연결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70층 머라옹 고양이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Mer-Meow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" name="Picture 5" descr="fish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7" y="1737360"/>
            <a:ext cx="1975104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머라이언 (원문: 물고기고양이)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갈기 달린 주황 고양이 얼굴 + 똑바로 선 은빛 물고기 몸, 꼬리 말아 올림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전용 · 시트 cx4 (통 cx4_full)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거품 난사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Bubble Barrage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거품 여러 개를 정면(보고 있는 방향)으로 발사 (모티브: 포켓몬 거품광선). 맞은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꼬마 머라옹 소환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Mini Mer-Meows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작은 머라이언 고양이 3마리 소환, 2초간 돌아다님. 닿은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물대포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Water Cannon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입에서 거대 물줄기가 뿜어져 나옴 (원작 패러디: 하이드로펌프). 맞은 쥐는 타격을 받고 밀려나며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75층 심해 잠수부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Deep Sea Diver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" name="Picture 5" descr="deepd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636" y="1737360"/>
            <a:ext cx="770166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심해 잠수부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놋쇠 잠수 헬멧 · 잠수복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사람 · 시트 hr2 2행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음파 발사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Sonar Ping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얼굴에서 음파 파동 발사. 파동에 맞은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닻 투하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Anchor Drop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공중에서 포탈이 열려 거대 닻 투하. 닻에 맞은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폭뢰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Depth Charge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일직선으로 물 충격파 5개가 솟구침. 충격파에 맞은 쥐는 튀어오른 뒤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80층 차력거인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Strongman Giant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" name="Picture 5" descr="cartgi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306703"/>
            <a:ext cx="1371600" cy="1055873"/>
          </a:xfrm>
          <a:prstGeom prst="rect">
            <a:avLst/>
          </a:prstGeom>
        </p:spPr>
      </p:pic>
      <p:pic>
        <p:nvPicPr>
          <p:cNvPr id="7" name="Picture 6" descr="prop_cat_turr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879244"/>
            <a:ext cx="914400" cy="5965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차력거인 패러디 (인간 탄 고양이)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네 발로 선 거대한 사람 몸 + 팬티, 등 안장 위 고양이 포탑 2마리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전용 · 시트 tt 계열 (통 tt4_full)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기관총 사격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Machine Gun Fire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일정 범위 안 쥐들에게 3초간 기관총 사격. 맞은 쥐 기절 (다시 기절 가능)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내려찍기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Hammer Fist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팔을 들어올려 바로 앞을 내려침. 내려친 곳 근처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쿵쿵 행진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Stomp March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네 발 그대로 몸을 조금 일으키고 3초간 크게 쿵쿵 걸어다님 + 화면 진동 (새 그림 없음). 근처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85층 항공모함 고양이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Carrier Cat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" name="Picture 5" descr="carr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425043"/>
            <a:ext cx="2103120" cy="8191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항공모함 + 고양이 · 봄바르딜로 크로코딜로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관제탑 = 기계식 고양이 머리 (눈 = 함교 창문, 입 = 격납고 문), 비행기 머리 = 쥐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전용 · 시트 cx2 · cx3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전투기 출격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Rat Squadron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5초간 고양이 등(활주로)에서 쥐 전투기 6마리 생성. 쥐들 사이를 돌아다니며 부딪힌 쥐 기절 (다시 기절 가능)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눈깔 빔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Eye Beam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관제탑 창문 눈에서 빔 발사 (빔 1초 유지). 빔에 맞은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악어 폭격기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Crocodile Bomber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등(활주로)에서 악어 폭격기 1대 소환 → 근처 쥐들에게 폭탄 6번 폭격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90층 총통 고양이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Bunker General Cat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" name="Picture 5" descr="dict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16083"/>
            <a:ext cx="2103120" cy="18371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히틀러 — 콧수염 · 제복만 (상징 · 완장 · 휘장 없음)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회색 고양이 · 군모 · 제복 · 장화 (명세 그대로)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고양이 · 시트 cr2 2행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4760" y="1600200"/>
          <a:ext cx="7406639" cy="310896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그림 도구 던지기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Art Supply Toss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붓 · 팔레트 · 이젤 · 캔버스를 일직선으로 던짐. 맞은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방구가스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Fart Gas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엉덩이에서 초록색 가스 분사, 5초간 반투명 구름. 영역 안 쥐 기절. 기절한 쥐는 이후 5초간 방독면을 쓰고 방구가스 기절에 면역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수염 던지기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Mustache Toss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수염을 떼어 일직선으로 던짐. 맞은 쥐는 밀려난 뒤 정지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 (정지)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94층 그렘린 고양이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Gremlin Cat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" name="Picture 5" descr="grem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274291"/>
            <a:ext cx="1371600" cy="1120697"/>
          </a:xfrm>
          <a:prstGeom prst="rect">
            <a:avLst/>
          </a:prstGeom>
        </p:spPr>
      </p:pic>
      <p:pic>
        <p:nvPicPr>
          <p:cNvPr id="7" name="Picture 6" descr="prop_e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563457"/>
            <a:ext cx="914400" cy="12281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그렘린 — 미리 보스 층이라고 알리지 않음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알 → 기존 일반 고양이 → 그렘린 고양이(새 그림)로 변신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고양이 · 시트 cr2 3행 · 알 pr1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794760" y="1600200"/>
          <a:ext cx="7406639" cy="347472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등장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알 → 변신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예전 방식: 알 → 일반 고양이로 나옴(공격 불가, 쥐에게 애교) → 계단 벽을 부수고 쥐가 계단에 닿으면 그렘린으로 변신 후 보스전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돌진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Charge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쥐가 많은 방향으로 1회 돌진. 부딪힌 쥐를 밀어내고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새끼 그렘린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Baby Gremlins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등에서 작은 그렘린 6마리 소환, 2초간 돌아다니며 닿은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전자레인지 투하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Microwave Drop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하늘에서 보스 절반 크기 전자레인지 투하 → 폭발, 원형 범위 안 모든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97층 수상한 우주복 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Sus Spacesuit Rat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" name="Picture 5" descr="crewm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471114"/>
            <a:ext cx="1371600" cy="727051"/>
          </a:xfrm>
          <a:prstGeom prst="rect">
            <a:avLst/>
          </a:prstGeom>
        </p:spPr>
      </p:pic>
      <p:pic>
        <p:nvPicPr>
          <p:cNvPr id="7" name="Picture 6" descr="prop_tenta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854" y="2491740"/>
            <a:ext cx="797331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어몽어스 임포스터 — 미리 알리지 않음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빨간 우주복 쥐, 보스전 때 보스 크기로 커지고 머리가 열리며 촉수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쥐 · 촉수 pr1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794760" y="1600200"/>
          <a:ext cx="7406639" cy="347472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등장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동료 합류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 입장 후 '신화 우주복 쥐 획득!'(Mythic Spacesuit Rat acquired!) → 동료로 합류 → 계단 벽 부수면 보스 크기로 커지며 보스전 (등장 때 촉수 삼키기)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쿨타임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사이렌 투하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Siren Drop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사이렌 4개를 떨어뜨림. 사이렌 중심 원형 범위 안 쥐 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1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촉수 삼키기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Tentacle Gulp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근처 원형 범위 쥐를 잡아먹고 3초 뒤 다시 뱉음. 보스전 시작(등장) 때 + 체력 70% 발악에서 또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3초 뒤</a:t>
                      </a:r>
                    </a:p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뱉음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발악 2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긴급 회의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Emergency Huddle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빨간 버튼을 눌러 '긴급 회의!'(EMERGENCY HUDDLE!). 맵의 모든 쥐가 2초간 못 움직임 (기절)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794760" y="5504688"/>
            <a:ext cx="7406640" cy="685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※ </a:t>
            </a: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정한 것: 잡아먹힌 쥐는 최대 마릿수(인구수)에서 빠지지 않음 — 그동안 새 쥐가 태어나 넘치지 않게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층별 보스 – 100층 우주 고양이 사령관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n_name"/>
          <p:cNvSpPr txBox="1"/>
          <p:nvPr/>
        </p:nvSpPr>
        <p:spPr>
          <a:xfrm>
            <a:off x="704088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E97132"/>
                </a:solidFill>
                <a:latin typeface="Noto Sans KR"/>
                <a:ea typeface="Noto Sans KR"/>
              </a:rPr>
              <a:t>Space Cat Commander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2377440" cy="24688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endParaRPr/>
          </a:p>
        </p:txBody>
      </p:sp>
      <p:pic>
        <p:nvPicPr>
          <p:cNvPr id="6" name="Picture 5" descr="old_comma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418" y="1737360"/>
            <a:ext cx="1842602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4206240"/>
            <a:ext cx="2468880" cy="2377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패러디 원작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이전 우주복 고양이 재사용 (그럼피 아님)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외형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우주 헬멧을 쓴 흰 고양이 (기존 그림)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000000"/>
                </a:solidFill>
                <a:latin typeface="Noto Sans KR"/>
                <a:ea typeface="Noto Sans KR"/>
              </a:rPr>
              <a:t>리그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00000"/>
                </a:solidFill>
                <a:latin typeface="Noto Sans KR"/>
                <a:ea typeface="Noto Sans KR"/>
              </a:rPr>
              <a:t>고양이 · 기존 boss_commander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794760" y="1600200"/>
          <a:ext cx="7406639" cy="219456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동작 · 범위 · 연출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전체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기존 스킬 그대로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예전 우주 고양이 스킬을 그대로 씀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기존 값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변경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잼 식빵 고양이 회전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Noto Sans KR"/>
                          <a:ea typeface="Noto Sans KR"/>
                        </a:rPr>
                        <a:t>Jam Toast Cat Spin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'맥스웰 드롭'만 '잼 바른 식빵 + 고양이 회전'으로 바꿈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기존 값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그림 – 필요한 새 그림 목록 (1/2)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명세에 나온 소환물 · 투사체 · 효과 기준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1600200"/>
          <a:ext cx="10149840" cy="466344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스킬에 필요한 그림 (명세 기준)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지금 있는 것 (BossRework)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해피캣 8마리 · 맥스웰 고양이 6마리 + 포탈 · 허 고양이 머리(새로) · HUH? 글자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팝 캣 리그 (cr3)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헤어볼 · 발악 1 기괴한 얼굴(긴 목 · 빨간 리본) + 말풍선 · 우는 얼굴 식빵 · 우는 고양이 얼굴 빵 12개 · 빵 반죽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참고 그림만 (ref_goerem_*)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35층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던지는 공룡탈 머리 · 폭발 · 꼬리(티라노 자세) · 쭈그려 앉기 + 담배 · 연기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공룡탈 알바 리그 (hr1)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40층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음파 파동 · 버티컬 마우스 운석 · 크레이터 · 미니 버티컬 마우스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몽둥이 (Props/club)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45층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샷건 · 사격 효과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랩터 · 덮치는 랩터 (Props/raptor*)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확성기 · 시위대(붉은 조끼 · 머리띠 · 피켓) · 안전모 · 전화 · 먼지 구름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좋았쓰 고양이 리그 (hr3)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55층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철근 가시 · 철근 거미줄 · 낙하 그림자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철근 (Props/rebar)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60층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돌멩이 · 낙하 그림자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라바콘 · 굴착기 (Props/cone, excavator_*)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65층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물방울 감옥 · 붉은 등지느러미 · 모터 롤러스케이트 신발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트랄랄레로 스킬 그림 (bm 계열)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그림 – 필요한 새 그림 목록 (2/2)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명세에 나온 소환물 · 투사체 · 효과 기준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1600200"/>
          <a:ext cx="10149840" cy="4187952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스킬에 필요한 그림 (명세 기준)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지금 있는 것 (BossRework)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70층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거품 · 꼬마 머라옹 고양이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물줄기 (Parts/boss_fishcat/water)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75층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음파 · 포탈 + 거대 닻 · 물 충격파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80층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내려찍기 효과 (쿵쿵 행진은 새 그림 없음)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포탑 사격 (Parts/boss_cartgiant/gunner2)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85층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관제탑 눈 빔 · 악어 폭격기 · 폭탄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쥐 전투기 (Parts/boss_carrier/jet)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붓 · 팔레트 · 이젤 · 캔버스 · 초록 가스 구름 · 방독면 쓴 쥐 · 수염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94층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새끼 그렘린 · 거대 전자레인지 · 폭발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알 · 깨진 알 · 껍질 (Props/egg*)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97층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사이렌 · 빨간 버튼 (긴급 회의)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촉수 (Props/tentacle) · 열리는 머리 (crewmate 파츠)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100층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잼 바른 식빵 + 회전하는 고양이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우주 고양이 기존 그림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33271" y="6172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Noto Sans KR"/>
                <a:ea typeface="Noto Sans KR"/>
              </a:rPr>
              <a:t>작업 순서 : </a:t>
            </a:r>
            <a:r>
              <a:rPr sz="1300" b="0">
                <a:solidFill>
                  <a:srgbClr val="000000"/>
                </a:solidFill>
                <a:latin typeface="Noto Sans KR"/>
                <a:ea typeface="Noto Sans KR"/>
              </a:rPr>
              <a:t>동작 먼저 (임시 그림) → 그림은 나중에 한꺼번에 · 생성 = Codex · 그림체 = 지금 게임 그대로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033271" y="749808"/>
            <a:ext cx="914400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Noto Sans KR Black"/>
                <a:ea typeface="Noto Sans KR Black"/>
              </a:rPr>
              <a:t>이름 – 보스 이름 · 화면 글자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7040880" y="1005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Noto Sans KR"/>
                <a:ea typeface="Noto Sans KR"/>
              </a:rPr>
              <a:t>사용자 확정 (2026-10-22) · 스킬 이름은 층별 보스 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1508760"/>
          <a:ext cx="6355079" cy="4887468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보스 이름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English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패러디 원작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밈 고양이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Meme Cat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팝 캣 · 해피캣 · 맥스웰 · Huh Cat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실험체 고양이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Subject Kitty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괴렘 ('이렘' 2차 창작)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35층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공룡탈 알바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T-Rex Suit Part-Timer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40층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원시인 버티컬 마우스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Caveman Vertical Mouse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버티컬 마우스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45층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랩터 사육사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Raptor Keeper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쥬라기 월드 프랫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노조 고양이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Union Cat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노조 고양이 · 현장 고양이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55층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거미 고양이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Spider Cat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토이스토리 아기 머리 거미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60층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굴착기 기사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Excavator Operator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65층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상어 고양이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Shark Cat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트랄랄레로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70층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머라옹 고양이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Mer-Meow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머라이언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75층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심해 잠수부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Deep Sea Diver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80층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차력거인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Strongman Giant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차력거인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85층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항공모함 고양이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Carrier Cat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봄바르딜로 크로코딜로 (발악 2)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90층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총통 고양이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Bunker General Cat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히틀러 (콧수염 · 제복만)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94층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그렘린 고양이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Gremlin Cat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그렘린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97층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수상한 우주복 쥐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Sus Spacesuit Rat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어몽어스 임포스터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100층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우주 고양이 사령관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Space Cat Commander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이전 우주복 고양이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26679" y="1508760"/>
          <a:ext cx="3611880" cy="3959352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화면 글자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English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25층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HUH?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HUH?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너... 봤구나?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You... saw that?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30층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나 우울해서 빵됐어..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I got sad... so I became bread..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40층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우가!!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OOGA!!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단결 투쟁 (피켓)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UNITE &amp; FIGHT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50층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좋았쓰!!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LOOKS GOOD!!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97층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신화 우주복 쥐 획득!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Mythic Spacesuit Rat acquired!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97층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긴급 회의!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</a:rPr>
                        <a:t>EMERGENCY HUDDLE!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5715000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Noto Sans KR"/>
                <a:ea typeface="Noto Sans KR"/>
              </a:rPr>
              <a:t>50층 소환: 좋았쓰 고양이 (Looks-Good Cat)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95959"/>
                </a:solidFill>
                <a:latin typeface="Noto Sans KR"/>
                <a:ea typeface="Noto Sans KR"/>
              </a:rPr>
              <a:t>미정 사항 없음 (2026-10-22 질문 완료)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3936</Words>
  <Application>Microsoft Office PowerPoint</Application>
  <PresentationFormat>와이드스크린</PresentationFormat>
  <Paragraphs>781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도원 박</cp:lastModifiedBy>
  <cp:revision>18</cp:revision>
  <dcterms:created xsi:type="dcterms:W3CDTF">2026-09-29T07:46:10Z</dcterms:created>
  <dcterms:modified xsi:type="dcterms:W3CDTF">2026-10-22T07:11:38Z</dcterms:modified>
</cp:coreProperties>
</file>