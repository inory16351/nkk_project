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70" r:id="rId3"/>
    <p:sldId id="292" r:id="rId4"/>
    <p:sldId id="259" r:id="rId5"/>
    <p:sldId id="332" r:id="rId45"/>
    <p:sldId id="298" r:id="rId6"/>
    <p:sldId id="299" r:id="rId7"/>
    <p:sldId id="333" r:id="rId46"/>
    <p:sldId id="300" r:id="rId8"/>
    <p:sldId id="301" r:id="rId9"/>
    <p:sldId id="302" r:id="rId15"/>
    <p:sldId id="303" r:id="rId16"/>
    <p:sldId id="304" r:id="rId17"/>
    <p:sldId id="305" r:id="rId18"/>
    <p:sldId id="306" r:id="rId19"/>
    <p:sldId id="307" r:id="rId20"/>
    <p:sldId id="334" r:id="rId47"/>
    <p:sldId id="308" r:id="rId21"/>
    <p:sldId id="309" r:id="rId22"/>
    <p:sldId id="317" r:id="rId30"/>
    <p:sldId id="310" r:id="rId23"/>
    <p:sldId id="311" r:id="rId24"/>
    <p:sldId id="312" r:id="rId25"/>
    <p:sldId id="313" r:id="rId26"/>
    <p:sldId id="314" r:id="rId27"/>
    <p:sldId id="335" r:id="rId48"/>
    <p:sldId id="315" r:id="rId28"/>
    <p:sldId id="316" r:id="rId29"/>
    <p:sldId id="318" r:id="rId31"/>
    <p:sldId id="319" r:id="rId32"/>
    <p:sldId id="320" r:id="rId33"/>
    <p:sldId id="321" r:id="rId34"/>
    <p:sldId id="322" r:id="rId35"/>
    <p:sldId id="323" r:id="rId36"/>
    <p:sldId id="324" r:id="rId37"/>
    <p:sldId id="336" r:id="rId49"/>
    <p:sldId id="325" r:id="rId38"/>
    <p:sldId id="326" r:id="rId39"/>
    <p:sldId id="327" r:id="rId40"/>
    <p:sldId id="328" r:id="rId41"/>
    <p:sldId id="329" r:id="rId42"/>
    <p:sldId id="330" r:id="rId43"/>
    <p:sldId id="331" r:id="rId4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2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35D8-3F1B-4838-9AA9-54A21BBB9EB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8301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비주얼 가이드</a:t>
            </a:r>
            <a:endParaRPr lang="ko-KR" altLang="en-US" sz="4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20261006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20261012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9C4F-7865-37A1-27AD-71B31245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742A394-D6B0-70C4-190D-0AE707D28723}"/>
              </a:ext>
            </a:extLst>
          </p:cNvPr>
          <p:cNvSpPr txBox="1"/>
          <p:nvPr/>
        </p:nvSpPr>
        <p:spPr>
          <a:xfrm>
            <a:off x="1029084" y="746202"/>
            <a:ext cx="1819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318F2E6-55D1-41EF-9E71-C1F38FB67817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54DE944-3B00-1205-C552-A9BC82D1A301}"/>
              </a:ext>
            </a:extLst>
          </p:cNvPr>
          <p:cNvSpPr txBox="1"/>
          <p:nvPr/>
        </p:nvSpPr>
        <p:spPr>
          <a:xfrm>
            <a:off x="1133475" y="1317107"/>
            <a:ext cx="8286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화면 구성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UI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배치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UI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형태 등을 포함한 모든 </a:t>
            </a:r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비주얼적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요소에 일관성을 부여하기 위한 기준을 잡기 위한 문서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77240" y="1856231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17465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개요</a:t>
            </a:r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2194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목차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59" y="21945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24231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로그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59" y="24231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26517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용어 정리 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59" y="26517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28803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용어 정리 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59" y="28803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31089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비주얼 방향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59" y="31089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54787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" y="343814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화면 구성</a:t>
            </a:r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7P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38862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구성 요소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59" y="38862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41148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레이어와 그리는 순서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59" y="41148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43434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요소별 묘사 단계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59" y="43434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45720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묘사 단계의 의도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4759" y="45720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" y="48006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요소별 화면 배치 영역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4759" y="48006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50292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 UI 공통 원칙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4759" y="50292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52578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7. 인게임 HUD 배치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59" y="52578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" y="54864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8. 로비 배치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4759" y="54864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" y="57150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9. 강화 화면 · 판 결과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4759" y="57150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26280" y="1856231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27448" y="17465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비주얼 스타일</a:t>
            </a:r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16P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92040" y="2194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전체 비주얼 스타일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43800" y="21945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92040" y="24231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하지 않는 것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43800" y="24231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92040" y="26517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빛과 그림자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43800" y="26517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92040" y="28803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파괴 표현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43800" y="28803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92040" y="31089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리소스 규격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43800" y="31089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26280" y="354787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27448" y="343814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색</a:t>
            </a:r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21P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92040" y="38862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요소별 색 범위 ① 바닥 · 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43800" y="38862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92040" y="41148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요소별 색 범위 ② 쥐 · 오브젝트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43800" y="41148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92040" y="43434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요소별 색 범위 ③ 위험 · UI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43800" y="43434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92040" y="45720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채도 × 명도 지도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43800" y="45720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92040" y="48006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층 구간별 색 변화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43800" y="48006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92040" y="50292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 20층 이후 · 무한 모드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43800" y="50292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92040" y="52578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7. 등급별 색 변화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43800" y="52578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92040" y="54864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8. 로비(아지트) 색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43800" y="54864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75320" y="1856231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76488" y="17465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연출</a:t>
            </a:r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29P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41080" y="2194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폰트와 텍스트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292840" y="21945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41080" y="24231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텍스트별 폰트와 색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24231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41080" y="26517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이펙트 원칙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292840" y="26517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41080" y="28803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이펙트 강도 단계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292840" y="28803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41080" y="31089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단계별 멈춤과 의도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292840" y="31089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641080" y="3337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 상황별 · 보상과 성장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292840" y="33375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41080" y="35661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7. 상황별 · 큰 사건과 위협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292840" y="35661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41080" y="37947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8. 상황별 · 보스 · 고양이 · 밈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292840" y="37947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641080" y="40233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9. 필터 원칙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292840" y="40233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641080" y="42519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10. 필터 화면별 지정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292840" y="42519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641080" y="4480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11. 카메라 시점과 배율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292840" y="44805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39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41080" y="47091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12. 카메라 움직임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292840" y="47091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41080" y="49377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13. 카메라 흔들림과 멈춤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292840" y="49377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275320" y="5376672"/>
            <a:ext cx="109728" cy="27432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476488" y="526694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부록</a:t>
            </a:r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42P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641080" y="57150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아트 제작 순서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292840" y="57150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641080" y="59436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레퍼런스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292840" y="59436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25676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3958-C278-8D05-8336-90242A7B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로그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635958"/>
              </p:ext>
            </p:extLst>
          </p:nvPr>
        </p:nvGraphicFramePr>
        <p:xfrm>
          <a:off x="1353312" y="1645920"/>
          <a:ext cx="9482328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96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순번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작성일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 내용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비고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2026-10-06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박도원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최초 작성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생성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초안 작성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목차 제작</a:t>
                      </a:r>
                      <a:endParaRPr lang="en-US" altLang="ko-KR" sz="1600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Noto Sans KR"/>
                          <a:ea typeface="Noto Sans KR"/>
                          <a:cs typeface="Noto Sans KR"/>
                        </a:rPr>
                        <a:t>문서 내용 작성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Noto Sans KR"/>
                          <a:ea typeface="Noto Sans KR"/>
                          <a:cs typeface="Noto Sans KR"/>
                        </a:rPr>
                        <a:t>목차 전 항목 작성 (화면 구성·스타일·색·연출·부록)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sz="16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6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2026-10-12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6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6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개정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PC 기준 정리, 현재 게임 HUD · 로비 반영, 판 결과 기록 중심, 레이어와 그리는 순서, 하지 않는 것, 20층 이후 · 무한 모드 색, 보스 · 고양이 · 밈 이펙트, 글자용 상태색, 폰트 금지 기호, 용어 정리 ②, 목차 쪽 번호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70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색공간">
            <a:extLst>
              <a:ext uri="{FF2B5EF4-FFF2-40B4-BE49-F238E27FC236}">
                <a16:creationId xmlns:a16="http://schemas.microsoft.com/office/drawing/2014/main" id="{6727E1E9-5353-C4C8-A36F-762B58B97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200" y="1447326"/>
            <a:ext cx="4162314" cy="522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A664A37-D5DF-1BC2-E2E7-0C16B6CD9968}"/>
              </a:ext>
            </a:extLst>
          </p:cNvPr>
          <p:cNvSpPr/>
          <p:nvPr/>
        </p:nvSpPr>
        <p:spPr>
          <a:xfrm>
            <a:off x="1516090" y="1594855"/>
            <a:ext cx="5019110" cy="4777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10D5BD-BAF0-0D2C-5E58-14DE9F379C3C}"/>
              </a:ext>
            </a:extLst>
          </p:cNvPr>
          <p:cNvSpPr txBox="1"/>
          <p:nvPr/>
        </p:nvSpPr>
        <p:spPr>
          <a:xfrm>
            <a:off x="1029084" y="746202"/>
            <a:ext cx="3104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 – 용어 정리 ①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DEE0F46-28D1-67B9-0369-6D49EE76C93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4">
            <a:extLst>
              <a:ext uri="{FF2B5EF4-FFF2-40B4-BE49-F238E27FC236}">
                <a16:creationId xmlns:a16="http://schemas.microsoft.com/office/drawing/2014/main" id="{720A7A62-DFD3-C536-CC33-2C67A8E905E1}"/>
              </a:ext>
            </a:extLst>
          </p:cNvPr>
          <p:cNvSpPr txBox="1"/>
          <p:nvPr/>
        </p:nvSpPr>
        <p:spPr>
          <a:xfrm>
            <a:off x="2105405" y="190537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HSV (</a:t>
            </a:r>
            <a:r>
              <a:rPr lang="ko-KR" altLang="en-US" sz="2000" b="1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색상·채도·명도</a:t>
            </a:r>
            <a:r>
              <a:rPr lang="ko-KR" altLang="en-US" sz="20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  <a:endParaRPr lang="en-US" sz="2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028" name="Picture 4" descr="Canvas Based HTML5 HSV Color Picker Component | CSS Script">
            <a:extLst>
              <a:ext uri="{FF2B5EF4-FFF2-40B4-BE49-F238E27FC236}">
                <a16:creationId xmlns:a16="http://schemas.microsoft.com/office/drawing/2014/main" id="{490372FB-05F2-1525-CD90-9959F4D1B8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9" r="17824" b="4198"/>
          <a:stretch/>
        </p:blipFill>
        <p:spPr bwMode="auto">
          <a:xfrm>
            <a:off x="5124450" y="5086350"/>
            <a:ext cx="1162050" cy="123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4A33E2E-BB87-6930-1449-DF1A2255BEF8}"/>
              </a:ext>
            </a:extLst>
          </p:cNvPr>
          <p:cNvSpPr txBox="1"/>
          <p:nvPr/>
        </p:nvSpPr>
        <p:spPr>
          <a:xfrm>
            <a:off x="1702236" y="2632530"/>
            <a:ext cx="501911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색을 표현하는 여러 방법들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(CMYK, RGB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등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중 하나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</a:p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직관적이라 시각적으로 설명하기 제일 쉬움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색상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각도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0~360°,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빨→주→노→초→파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→남 →보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채도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(x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축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0~100, 낮을수록 탁하고 높을수록 선명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명도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(y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축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0~100, 낮을수록 어둡고 높을수록 밝음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색의 범위 지정이 주요 목적이기에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</a:p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 문서의 색 범위는 모두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HSV로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표시.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D4278-2405-CA10-5C33-CC8605591F33}"/>
              </a:ext>
            </a:extLst>
          </p:cNvPr>
          <p:cNvSpPr txBox="1"/>
          <p:nvPr/>
        </p:nvSpPr>
        <p:spPr>
          <a:xfrm>
            <a:off x="4337959" y="5804896"/>
            <a:ext cx="1075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바로 이거 →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9889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비주얼 방향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D84A59C-7BD5-0A99-CF8F-751199A5AB69}"/>
              </a:ext>
            </a:extLst>
          </p:cNvPr>
          <p:cNvSpPr txBox="1"/>
          <p:nvPr/>
        </p:nvSpPr>
        <p:spPr>
          <a:xfrm>
            <a:off x="1203960" y="1492250"/>
            <a:ext cx="978408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비주얼적으로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보여 줘야 할 것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5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5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1.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물건을 파괴하는 게임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파괴 전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후의 차이가 확실히 보여져야 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오브젝트 뿐만 아니라 파괴 라는 행동이 시각적으로 표현되어야 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en-US" altLang="ko-KR" sz="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2.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수치가 늘어나는 것을 시각적으로 보여줘야 하는 게임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이펙트 및 연출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파괴 관련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UI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단계적으로 제작해야 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그러나 이펙트 및 연출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UI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화면 전체를 덮어 게임 화면이 보이지 않거나 프레임 드랍을 유발하는 상황을 방지해야 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en-US" altLang="ko-KR" sz="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3.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방치해도 되지만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유저가 직접 클릭할 시 더 높은 </a:t>
            </a:r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리턴값을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주는 게임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파괴 가능한 물건을 시각적으로 확실히 구별 가능해야 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(AI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는 코드에 따라 작동하기에 시각적으로 난잡해도 작동하지만 유저는 그렇지 않음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).</a:t>
            </a: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유저의 행동이 미치는 범위 및 영향과 그 결과가 시각적으로 방치와는 구별되게 표현되어야 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07008" y="4069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그래서 화면이 지켜야 할 4가지 기준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" y="4526280"/>
            <a:ext cx="23317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돈과 길의 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7008" y="4983480"/>
            <a:ext cx="2331720" cy="10972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부서지는 것 중 돈(물건·가구)과</a:t>
            </a:r>
          </a:p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길(벽)을 한눈에 구분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21608" y="4526280"/>
            <a:ext cx="23317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난장판에서도 읽힘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21608" y="4983480"/>
            <a:ext cx="2331720" cy="10972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30~70마리와 깨지는 것이</a:t>
            </a:r>
          </a:p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동시에 있어도 읽혀야 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4526280"/>
            <a:ext cx="23317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귀엽고 깔끔하게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4983480"/>
            <a:ext cx="2331720" cy="10972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파스텔 · 외곽선 없음 · 필터 최소</a:t>
            </a:r>
          </a:p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오래 켜둬도 피곤하지 않게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0808" y="4526280"/>
            <a:ext cx="23317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디오라마처럼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50808" y="4983480"/>
            <a:ext cx="2331720" cy="10972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위에서 내려다보는 작은 세계</a:t>
            </a:r>
          </a:p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3/4 탑다운 · 둥근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구성 요소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2CB5AB7-F18B-A129-636D-C4E1F3FE715F}"/>
              </a:ext>
            </a:extLst>
          </p:cNvPr>
          <p:cNvSpPr txBox="1"/>
          <p:nvPr/>
        </p:nvSpPr>
        <p:spPr>
          <a:xfrm>
            <a:off x="1203960" y="5049992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바닥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92FCD-3685-8BB6-FC84-0978F77DA8B9}"/>
              </a:ext>
            </a:extLst>
          </p:cNvPr>
          <p:cNvSpPr txBox="1"/>
          <p:nvPr/>
        </p:nvSpPr>
        <p:spPr>
          <a:xfrm>
            <a:off x="1203960" y="4308574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벽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6E212-4167-AC80-D71E-9D2FBF0C2E37}"/>
              </a:ext>
            </a:extLst>
          </p:cNvPr>
          <p:cNvSpPr txBox="1"/>
          <p:nvPr/>
        </p:nvSpPr>
        <p:spPr>
          <a:xfrm>
            <a:off x="1203960" y="3567157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쥐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EBDF1-4A60-07C8-7A19-F93FC279759E}"/>
              </a:ext>
            </a:extLst>
          </p:cNvPr>
          <p:cNvSpPr txBox="1"/>
          <p:nvPr/>
        </p:nvSpPr>
        <p:spPr>
          <a:xfrm>
            <a:off x="1203960" y="2825740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부술 수 있는 오브젝트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0B025-DD32-5BF9-D7E1-8426B083C3BB}"/>
              </a:ext>
            </a:extLst>
          </p:cNvPr>
          <p:cNvSpPr txBox="1"/>
          <p:nvPr/>
        </p:nvSpPr>
        <p:spPr>
          <a:xfrm>
            <a:off x="1203960" y="2084323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UI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900" name="그룹 899">
            <a:extLst>
              <a:ext uri="{FF2B5EF4-FFF2-40B4-BE49-F238E27FC236}">
                <a16:creationId xmlns:a16="http://schemas.microsoft.com/office/drawing/2014/main" id="{72D6BCDA-6488-95A2-E649-6FF01265F826}"/>
              </a:ext>
            </a:extLst>
          </p:cNvPr>
          <p:cNvGrpSpPr/>
          <p:nvPr/>
        </p:nvGrpSpPr>
        <p:grpSpPr>
          <a:xfrm>
            <a:off x="3746501" y="2593943"/>
            <a:ext cx="6437248" cy="3643339"/>
            <a:chOff x="4686300" y="1527448"/>
            <a:chExt cx="8168243" cy="4623043"/>
          </a:xfrm>
        </p:grpSpPr>
        <p:sp>
          <p:nvSpPr>
            <p:cNvPr id="12" name="평행 사변형 11">
              <a:extLst>
                <a:ext uri="{FF2B5EF4-FFF2-40B4-BE49-F238E27FC236}">
                  <a16:creationId xmlns:a16="http://schemas.microsoft.com/office/drawing/2014/main" id="{BE2A04A2-844C-7156-F857-E196F2DD6CCE}"/>
                </a:ext>
              </a:extLst>
            </p:cNvPr>
            <p:cNvSpPr/>
            <p:nvPr/>
          </p:nvSpPr>
          <p:spPr>
            <a:xfrm>
              <a:off x="4686300" y="3070741"/>
              <a:ext cx="6555740" cy="3079750"/>
            </a:xfrm>
            <a:prstGeom prst="parallelogram">
              <a:avLst>
                <a:gd name="adj" fmla="val 45000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평행 사변형 12">
              <a:extLst>
                <a:ext uri="{FF2B5EF4-FFF2-40B4-BE49-F238E27FC236}">
                  <a16:creationId xmlns:a16="http://schemas.microsoft.com/office/drawing/2014/main" id="{1D0ACFE5-311A-4477-8EE2-3C7737039D5A}"/>
                </a:ext>
              </a:extLst>
            </p:cNvPr>
            <p:cNvSpPr/>
            <p:nvPr/>
          </p:nvSpPr>
          <p:spPr>
            <a:xfrm>
              <a:off x="5408508" y="2527287"/>
              <a:ext cx="6357750" cy="2986738"/>
            </a:xfrm>
            <a:prstGeom prst="parallelogram">
              <a:avLst>
                <a:gd name="adj" fmla="val 45000"/>
              </a:avLst>
            </a:prstGeom>
            <a:noFill/>
            <a:ln w="1905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8" name="평행 사변형 897">
              <a:extLst>
                <a:ext uri="{FF2B5EF4-FFF2-40B4-BE49-F238E27FC236}">
                  <a16:creationId xmlns:a16="http://schemas.microsoft.com/office/drawing/2014/main" id="{F8ADFC22-E5A4-6628-67A1-0901954979E2}"/>
                </a:ext>
              </a:extLst>
            </p:cNvPr>
            <p:cNvSpPr/>
            <p:nvPr/>
          </p:nvSpPr>
          <p:spPr>
            <a:xfrm>
              <a:off x="5980822" y="1965893"/>
              <a:ext cx="6555740" cy="3079750"/>
            </a:xfrm>
            <a:prstGeom prst="parallelogram">
              <a:avLst>
                <a:gd name="adj" fmla="val 4500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97" name="그룹 896">
              <a:extLst>
                <a:ext uri="{FF2B5EF4-FFF2-40B4-BE49-F238E27FC236}">
                  <a16:creationId xmlns:a16="http://schemas.microsoft.com/office/drawing/2014/main" id="{F21C2CE2-583E-8894-897F-062FC9DA1938}"/>
                </a:ext>
              </a:extLst>
            </p:cNvPr>
            <p:cNvGrpSpPr/>
            <p:nvPr/>
          </p:nvGrpSpPr>
          <p:grpSpPr>
            <a:xfrm>
              <a:off x="7964170" y="3840632"/>
              <a:ext cx="1761432" cy="1089547"/>
              <a:chOff x="1289304" y="2395728"/>
              <a:chExt cx="532180" cy="329184"/>
            </a:xfrm>
          </p:grpSpPr>
          <p:sp>
            <p:nvSpPr>
              <p:cNvPr id="54" name="Oval 32">
                <a:extLst>
                  <a:ext uri="{FF2B5EF4-FFF2-40B4-BE49-F238E27FC236}">
                    <a16:creationId xmlns:a16="http://schemas.microsoft.com/office/drawing/2014/main" id="{54B5ADF9-DF0C-059D-2F0A-E50BEF63CE78}"/>
                  </a:ext>
                </a:extLst>
              </p:cNvPr>
              <p:cNvSpPr/>
              <p:nvPr/>
            </p:nvSpPr>
            <p:spPr>
              <a:xfrm>
                <a:off x="1355140" y="2670048"/>
                <a:ext cx="395020" cy="54864"/>
              </a:xfrm>
              <a:prstGeom prst="ellipse">
                <a:avLst/>
              </a:prstGeom>
              <a:solidFill>
                <a:srgbClr val="4B4540">
                  <a:alpha val="1800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Rounded Rectangle 33">
                <a:extLst>
                  <a:ext uri="{FF2B5EF4-FFF2-40B4-BE49-F238E27FC236}">
                    <a16:creationId xmlns:a16="http://schemas.microsoft.com/office/drawing/2014/main" id="{FD1C8ABD-81EA-2D3B-6256-21CDFFD4C500}"/>
                  </a:ext>
                </a:extLst>
              </p:cNvPr>
              <p:cNvSpPr/>
              <p:nvPr/>
            </p:nvSpPr>
            <p:spPr>
              <a:xfrm rot="20100000">
                <a:off x="1289304" y="2593238"/>
                <a:ext cx="186537" cy="21945"/>
              </a:xfrm>
              <a:prstGeom prst="roundRect">
                <a:avLst>
                  <a:gd name="adj" fmla="val 50000"/>
                </a:avLst>
              </a:prstGeom>
              <a:solidFill>
                <a:srgbClr val="E8A3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Oval 34">
                <a:extLst>
                  <a:ext uri="{FF2B5EF4-FFF2-40B4-BE49-F238E27FC236}">
                    <a16:creationId xmlns:a16="http://schemas.microsoft.com/office/drawing/2014/main" id="{7B4CCA11-39C3-4066-A526-8FF295AC992C}"/>
                  </a:ext>
                </a:extLst>
              </p:cNvPr>
              <p:cNvSpPr/>
              <p:nvPr/>
            </p:nvSpPr>
            <p:spPr>
              <a:xfrm>
                <a:off x="1388059" y="2483510"/>
                <a:ext cx="340156" cy="186537"/>
              </a:xfrm>
              <a:prstGeom prst="ellipse">
                <a:avLst/>
              </a:prstGeom>
              <a:solidFill>
                <a:srgbClr val="8C7A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Oval 35">
                <a:extLst>
                  <a:ext uri="{FF2B5EF4-FFF2-40B4-BE49-F238E27FC236}">
                    <a16:creationId xmlns:a16="http://schemas.microsoft.com/office/drawing/2014/main" id="{5464304E-DB77-2359-1B16-218BCC03D01D}"/>
                  </a:ext>
                </a:extLst>
              </p:cNvPr>
              <p:cNvSpPr/>
              <p:nvPr/>
            </p:nvSpPr>
            <p:spPr>
              <a:xfrm>
                <a:off x="1431950" y="2593238"/>
                <a:ext cx="263347" cy="71323"/>
              </a:xfrm>
              <a:prstGeom prst="ellipse">
                <a:avLst/>
              </a:prstGeom>
              <a:solidFill>
                <a:srgbClr val="6E5E5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Oval 36">
                <a:extLst>
                  <a:ext uri="{FF2B5EF4-FFF2-40B4-BE49-F238E27FC236}">
                    <a16:creationId xmlns:a16="http://schemas.microsoft.com/office/drawing/2014/main" id="{8291D1BF-C425-01FF-48CE-CA6AF9C74941}"/>
                  </a:ext>
                </a:extLst>
              </p:cNvPr>
              <p:cNvSpPr/>
              <p:nvPr/>
            </p:nvSpPr>
            <p:spPr>
              <a:xfrm>
                <a:off x="1453895" y="2653588"/>
                <a:ext cx="60350" cy="27432"/>
              </a:xfrm>
              <a:prstGeom prst="ellipse">
                <a:avLst/>
              </a:prstGeom>
              <a:solidFill>
                <a:srgbClr val="E8A3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Oval 37">
                <a:extLst>
                  <a:ext uri="{FF2B5EF4-FFF2-40B4-BE49-F238E27FC236}">
                    <a16:creationId xmlns:a16="http://schemas.microsoft.com/office/drawing/2014/main" id="{A81DF28C-E88A-080F-4A1B-77ED967E13DD}"/>
                  </a:ext>
                </a:extLst>
              </p:cNvPr>
              <p:cNvSpPr/>
              <p:nvPr/>
            </p:nvSpPr>
            <p:spPr>
              <a:xfrm>
                <a:off x="1596542" y="2653588"/>
                <a:ext cx="60350" cy="27432"/>
              </a:xfrm>
              <a:prstGeom prst="ellipse">
                <a:avLst/>
              </a:prstGeom>
              <a:solidFill>
                <a:srgbClr val="E8A3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Oval 38">
                <a:extLst>
                  <a:ext uri="{FF2B5EF4-FFF2-40B4-BE49-F238E27FC236}">
                    <a16:creationId xmlns:a16="http://schemas.microsoft.com/office/drawing/2014/main" id="{FEEAA6F0-82EE-7524-78BB-E24266CC5D7C}"/>
                  </a:ext>
                </a:extLst>
              </p:cNvPr>
              <p:cNvSpPr/>
              <p:nvPr/>
            </p:nvSpPr>
            <p:spPr>
              <a:xfrm>
                <a:off x="1618488" y="2450592"/>
                <a:ext cx="181051" cy="148132"/>
              </a:xfrm>
              <a:prstGeom prst="ellipse">
                <a:avLst/>
              </a:prstGeom>
              <a:solidFill>
                <a:srgbClr val="8C7A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Oval 39">
                <a:extLst>
                  <a:ext uri="{FF2B5EF4-FFF2-40B4-BE49-F238E27FC236}">
                    <a16:creationId xmlns:a16="http://schemas.microsoft.com/office/drawing/2014/main" id="{5F97020E-C42C-4B73-BB03-E90951BAC09D}"/>
                  </a:ext>
                </a:extLst>
              </p:cNvPr>
              <p:cNvSpPr/>
              <p:nvPr/>
            </p:nvSpPr>
            <p:spPr>
              <a:xfrm>
                <a:off x="1618488" y="2395728"/>
                <a:ext cx="87782" cy="87782"/>
              </a:xfrm>
              <a:prstGeom prst="ellipse">
                <a:avLst/>
              </a:prstGeom>
              <a:solidFill>
                <a:srgbClr val="8C7A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Oval 40">
                <a:extLst>
                  <a:ext uri="{FF2B5EF4-FFF2-40B4-BE49-F238E27FC236}">
                    <a16:creationId xmlns:a16="http://schemas.microsoft.com/office/drawing/2014/main" id="{E53BFCEC-135C-88A8-6D0F-6BA621A148DB}"/>
                  </a:ext>
                </a:extLst>
              </p:cNvPr>
              <p:cNvSpPr/>
              <p:nvPr/>
            </p:nvSpPr>
            <p:spPr>
              <a:xfrm>
                <a:off x="1640433" y="2417673"/>
                <a:ext cx="43891" cy="43891"/>
              </a:xfrm>
              <a:prstGeom prst="ellipse">
                <a:avLst/>
              </a:prstGeom>
              <a:solidFill>
                <a:srgbClr val="E8A3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Oval 41">
                <a:extLst>
                  <a:ext uri="{FF2B5EF4-FFF2-40B4-BE49-F238E27FC236}">
                    <a16:creationId xmlns:a16="http://schemas.microsoft.com/office/drawing/2014/main" id="{3FD4E853-5CB9-81CE-988F-3615F1C89D41}"/>
                  </a:ext>
                </a:extLst>
              </p:cNvPr>
              <p:cNvSpPr/>
              <p:nvPr/>
            </p:nvSpPr>
            <p:spPr>
              <a:xfrm>
                <a:off x="1783080" y="2516428"/>
                <a:ext cx="38404" cy="38404"/>
              </a:xfrm>
              <a:prstGeom prst="ellipse">
                <a:avLst/>
              </a:prstGeom>
              <a:solidFill>
                <a:srgbClr val="E8A3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6" name="Oval 42">
                <a:extLst>
                  <a:ext uri="{FF2B5EF4-FFF2-40B4-BE49-F238E27FC236}">
                    <a16:creationId xmlns:a16="http://schemas.microsoft.com/office/drawing/2014/main" id="{2DA8E726-CFC8-8C62-6CD8-B4BC393677BA}"/>
                  </a:ext>
                </a:extLst>
              </p:cNvPr>
              <p:cNvSpPr/>
              <p:nvPr/>
            </p:nvSpPr>
            <p:spPr>
              <a:xfrm>
                <a:off x="1728216" y="2483510"/>
                <a:ext cx="24688" cy="24688"/>
              </a:xfrm>
              <a:prstGeom prst="ellipse">
                <a:avLst/>
              </a:prstGeom>
              <a:solidFill>
                <a:srgbClr val="3C322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899" name="평행 사변형 898">
              <a:extLst>
                <a:ext uri="{FF2B5EF4-FFF2-40B4-BE49-F238E27FC236}">
                  <a16:creationId xmlns:a16="http://schemas.microsoft.com/office/drawing/2014/main" id="{742F3AAB-978A-F94B-8B6D-A21977C9A6FB}"/>
                </a:ext>
              </a:extLst>
            </p:cNvPr>
            <p:cNvSpPr/>
            <p:nvPr/>
          </p:nvSpPr>
          <p:spPr>
            <a:xfrm>
              <a:off x="7284153" y="1527448"/>
              <a:ext cx="5570390" cy="2616853"/>
            </a:xfrm>
            <a:prstGeom prst="parallelogram">
              <a:avLst>
                <a:gd name="adj" fmla="val 35779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EF0DB70-9706-D7A7-ED8A-E7A0DD657593}"/>
              </a:ext>
            </a:extLst>
          </p:cNvPr>
          <p:cNvGrpSpPr/>
          <p:nvPr/>
        </p:nvGrpSpPr>
        <p:grpSpPr>
          <a:xfrm>
            <a:off x="6759056" y="2288087"/>
            <a:ext cx="2834640" cy="1881927"/>
            <a:chOff x="3302812" y="2304288"/>
            <a:chExt cx="1497787" cy="1133856"/>
          </a:xfrm>
        </p:grpSpPr>
        <p:sp>
          <p:nvSpPr>
            <p:cNvPr id="14" name="Oval 68">
              <a:extLst>
                <a:ext uri="{FF2B5EF4-FFF2-40B4-BE49-F238E27FC236}">
                  <a16:creationId xmlns:a16="http://schemas.microsoft.com/office/drawing/2014/main" id="{8A245DE0-DAC3-6D5E-0150-EC5E313FB66C}"/>
                </a:ext>
              </a:extLst>
            </p:cNvPr>
            <p:cNvSpPr/>
            <p:nvPr/>
          </p:nvSpPr>
          <p:spPr>
            <a:xfrm>
              <a:off x="3339388" y="3381451"/>
              <a:ext cx="307238" cy="38404"/>
            </a:xfrm>
            <a:prstGeom prst="ellipse">
              <a:avLst/>
            </a:prstGeom>
            <a:solidFill>
              <a:srgbClr val="4B4540">
                <a:alpha val="1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69">
              <a:extLst>
                <a:ext uri="{FF2B5EF4-FFF2-40B4-BE49-F238E27FC236}">
                  <a16:creationId xmlns:a16="http://schemas.microsoft.com/office/drawing/2014/main" id="{5EB00097-4843-1FE5-A51C-690CC592A6D0}"/>
                </a:ext>
              </a:extLst>
            </p:cNvPr>
            <p:cNvSpPr/>
            <p:nvPr/>
          </p:nvSpPr>
          <p:spPr>
            <a:xfrm>
              <a:off x="3454603" y="3058850"/>
              <a:ext cx="76809" cy="138257"/>
            </a:xfrm>
            <a:prstGeom prst="roundRect">
              <a:avLst>
                <a:gd name="adj" fmla="val 20000"/>
              </a:avLst>
            </a:prstGeom>
            <a:solidFill>
              <a:srgbClr val="D6EE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70">
              <a:extLst>
                <a:ext uri="{FF2B5EF4-FFF2-40B4-BE49-F238E27FC236}">
                  <a16:creationId xmlns:a16="http://schemas.microsoft.com/office/drawing/2014/main" id="{B20B6876-6CF1-8728-121C-C0AA9DF9617E}"/>
                </a:ext>
              </a:extLst>
            </p:cNvPr>
            <p:cNvSpPr/>
            <p:nvPr/>
          </p:nvSpPr>
          <p:spPr>
            <a:xfrm>
              <a:off x="3443081" y="3035808"/>
              <a:ext cx="99852" cy="38404"/>
            </a:xfrm>
            <a:prstGeom prst="roundRect">
              <a:avLst>
                <a:gd name="adj" fmla="val 29999"/>
              </a:avLst>
            </a:prstGeom>
            <a:solidFill>
              <a:srgbClr val="C8A2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Oval 71">
              <a:extLst>
                <a:ext uri="{FF2B5EF4-FFF2-40B4-BE49-F238E27FC236}">
                  <a16:creationId xmlns:a16="http://schemas.microsoft.com/office/drawing/2014/main" id="{F55D5605-6E08-11E0-FF77-9F63B4C29943}"/>
                </a:ext>
              </a:extLst>
            </p:cNvPr>
            <p:cNvSpPr/>
            <p:nvPr/>
          </p:nvSpPr>
          <p:spPr>
            <a:xfrm>
              <a:off x="3370112" y="3151022"/>
              <a:ext cx="245790" cy="230428"/>
            </a:xfrm>
            <a:prstGeom prst="ellipse">
              <a:avLst/>
            </a:prstGeom>
            <a:solidFill>
              <a:srgbClr val="BFE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Oval 72">
              <a:extLst>
                <a:ext uri="{FF2B5EF4-FFF2-40B4-BE49-F238E27FC236}">
                  <a16:creationId xmlns:a16="http://schemas.microsoft.com/office/drawing/2014/main" id="{7E3C86BD-9D2E-D7B5-5B07-030CD4433471}"/>
                </a:ext>
              </a:extLst>
            </p:cNvPr>
            <p:cNvSpPr/>
            <p:nvPr/>
          </p:nvSpPr>
          <p:spPr>
            <a:xfrm>
              <a:off x="3393155" y="3250874"/>
              <a:ext cx="199704" cy="115214"/>
            </a:xfrm>
            <a:prstGeom prst="ellipse">
              <a:avLst/>
            </a:prstGeom>
            <a:solidFill>
              <a:srgbClr val="9DD5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Oval 73">
              <a:extLst>
                <a:ext uri="{FF2B5EF4-FFF2-40B4-BE49-F238E27FC236}">
                  <a16:creationId xmlns:a16="http://schemas.microsoft.com/office/drawing/2014/main" id="{1115CD6C-45EA-72A6-CD7D-2B6D442F000C}"/>
                </a:ext>
              </a:extLst>
            </p:cNvPr>
            <p:cNvSpPr/>
            <p:nvPr/>
          </p:nvSpPr>
          <p:spPr>
            <a:xfrm>
              <a:off x="3416198" y="3181746"/>
              <a:ext cx="38404" cy="38404"/>
            </a:xfrm>
            <a:prstGeom prst="ellipse">
              <a:avLst/>
            </a:prstGeom>
            <a:solidFill>
              <a:srgbClr val="E6F5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Oval 74">
              <a:extLst>
                <a:ext uri="{FF2B5EF4-FFF2-40B4-BE49-F238E27FC236}">
                  <a16:creationId xmlns:a16="http://schemas.microsoft.com/office/drawing/2014/main" id="{CA4240EA-0B04-B931-5417-2E10C9ADB08C}"/>
                </a:ext>
              </a:extLst>
            </p:cNvPr>
            <p:cNvSpPr/>
            <p:nvPr/>
          </p:nvSpPr>
          <p:spPr>
            <a:xfrm>
              <a:off x="3755898" y="3387852"/>
              <a:ext cx="452628" cy="50292"/>
            </a:xfrm>
            <a:prstGeom prst="ellipse">
              <a:avLst/>
            </a:prstGeom>
            <a:solidFill>
              <a:srgbClr val="4B4540">
                <a:alpha val="1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75">
              <a:extLst>
                <a:ext uri="{FF2B5EF4-FFF2-40B4-BE49-F238E27FC236}">
                  <a16:creationId xmlns:a16="http://schemas.microsoft.com/office/drawing/2014/main" id="{8A8E4BFA-0192-0598-DA70-4610B7DE28D8}"/>
                </a:ext>
              </a:extLst>
            </p:cNvPr>
            <p:cNvSpPr/>
            <p:nvPr/>
          </p:nvSpPr>
          <p:spPr>
            <a:xfrm>
              <a:off x="3770985" y="3196742"/>
              <a:ext cx="422452" cy="221284"/>
            </a:xfrm>
            <a:prstGeom prst="roundRect">
              <a:avLst>
                <a:gd name="adj" fmla="val 22727"/>
              </a:avLst>
            </a:prstGeom>
            <a:solidFill>
              <a:srgbClr val="ECE7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Oval 76">
              <a:extLst>
                <a:ext uri="{FF2B5EF4-FFF2-40B4-BE49-F238E27FC236}">
                  <a16:creationId xmlns:a16="http://schemas.microsoft.com/office/drawing/2014/main" id="{4FD6C9D5-E53E-7164-150B-ED4A4FD67640}"/>
                </a:ext>
              </a:extLst>
            </p:cNvPr>
            <p:cNvSpPr/>
            <p:nvPr/>
          </p:nvSpPr>
          <p:spPr>
            <a:xfrm>
              <a:off x="3760927" y="3106216"/>
              <a:ext cx="442569" cy="181051"/>
            </a:xfrm>
            <a:prstGeom prst="ellipse">
              <a:avLst/>
            </a:prstGeom>
            <a:solidFill>
              <a:srgbClr val="C9D2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Oval 77">
              <a:extLst>
                <a:ext uri="{FF2B5EF4-FFF2-40B4-BE49-F238E27FC236}">
                  <a16:creationId xmlns:a16="http://schemas.microsoft.com/office/drawing/2014/main" id="{37C7B776-BFED-883E-AD19-83C54E71FEEF}"/>
                </a:ext>
              </a:extLst>
            </p:cNvPr>
            <p:cNvSpPr/>
            <p:nvPr/>
          </p:nvSpPr>
          <p:spPr>
            <a:xfrm>
              <a:off x="3831336" y="3126333"/>
              <a:ext cx="301752" cy="110642"/>
            </a:xfrm>
            <a:prstGeom prst="ellipse">
              <a:avLst/>
            </a:prstGeom>
            <a:solidFill>
              <a:srgbClr val="DFE6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Oval 78">
              <a:extLst>
                <a:ext uri="{FF2B5EF4-FFF2-40B4-BE49-F238E27FC236}">
                  <a16:creationId xmlns:a16="http://schemas.microsoft.com/office/drawing/2014/main" id="{3EF91F6A-67F0-E972-3C9B-5212C5374B7F}"/>
                </a:ext>
              </a:extLst>
            </p:cNvPr>
            <p:cNvSpPr/>
            <p:nvPr/>
          </p:nvSpPr>
          <p:spPr>
            <a:xfrm>
              <a:off x="3831336" y="3307384"/>
              <a:ext cx="40233" cy="40233"/>
            </a:xfrm>
            <a:prstGeom prst="ellipse">
              <a:avLst/>
            </a:prstGeom>
            <a:solidFill>
              <a:srgbClr val="C974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79">
              <a:extLst>
                <a:ext uri="{FF2B5EF4-FFF2-40B4-BE49-F238E27FC236}">
                  <a16:creationId xmlns:a16="http://schemas.microsoft.com/office/drawing/2014/main" id="{4FB4FEB3-C5EE-0A71-076B-9061F32D898D}"/>
                </a:ext>
              </a:extLst>
            </p:cNvPr>
            <p:cNvSpPr/>
            <p:nvPr/>
          </p:nvSpPr>
          <p:spPr>
            <a:xfrm>
              <a:off x="3921861" y="3307384"/>
              <a:ext cx="160934" cy="45262"/>
            </a:xfrm>
            <a:prstGeom prst="roundRect">
              <a:avLst>
                <a:gd name="adj" fmla="val 33333"/>
              </a:avLst>
            </a:prstGeom>
            <a:solidFill>
              <a:srgbClr val="8F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Oval 80">
              <a:extLst>
                <a:ext uri="{FF2B5EF4-FFF2-40B4-BE49-F238E27FC236}">
                  <a16:creationId xmlns:a16="http://schemas.microsoft.com/office/drawing/2014/main" id="{42086A66-692E-66B8-AD2C-31C1096DCE23}"/>
                </a:ext>
              </a:extLst>
            </p:cNvPr>
            <p:cNvSpPr/>
            <p:nvPr/>
          </p:nvSpPr>
          <p:spPr>
            <a:xfrm>
              <a:off x="4251959" y="2809036"/>
              <a:ext cx="548640" cy="65836"/>
            </a:xfrm>
            <a:prstGeom prst="ellipse">
              <a:avLst/>
            </a:prstGeom>
            <a:solidFill>
              <a:srgbClr val="4B4540">
                <a:alpha val="1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81">
              <a:extLst>
                <a:ext uri="{FF2B5EF4-FFF2-40B4-BE49-F238E27FC236}">
                  <a16:creationId xmlns:a16="http://schemas.microsoft.com/office/drawing/2014/main" id="{63533291-C910-29B6-8557-029C80C2F78B}"/>
                </a:ext>
              </a:extLst>
            </p:cNvPr>
            <p:cNvSpPr/>
            <p:nvPr/>
          </p:nvSpPr>
          <p:spPr>
            <a:xfrm>
              <a:off x="4279392" y="2304288"/>
              <a:ext cx="493776" cy="548640"/>
            </a:xfrm>
            <a:prstGeom prst="rect">
              <a:avLst/>
            </a:prstGeom>
            <a:solidFill>
              <a:srgbClr val="C8A2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82">
              <a:extLst>
                <a:ext uri="{FF2B5EF4-FFF2-40B4-BE49-F238E27FC236}">
                  <a16:creationId xmlns:a16="http://schemas.microsoft.com/office/drawing/2014/main" id="{38515F45-7337-8835-0DD5-FBB214D2C2E5}"/>
                </a:ext>
              </a:extLst>
            </p:cNvPr>
            <p:cNvSpPr/>
            <p:nvPr/>
          </p:nvSpPr>
          <p:spPr>
            <a:xfrm>
              <a:off x="4306824" y="2342692"/>
              <a:ext cx="438912" cy="137160"/>
            </a:xfrm>
            <a:prstGeom prst="rect">
              <a:avLst/>
            </a:prstGeom>
            <a:solidFill>
              <a:srgbClr val="DCC3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83">
              <a:extLst>
                <a:ext uri="{FF2B5EF4-FFF2-40B4-BE49-F238E27FC236}">
                  <a16:creationId xmlns:a16="http://schemas.microsoft.com/office/drawing/2014/main" id="{4C7D9263-83DB-2723-43CA-E2CF1B57EFAA}"/>
                </a:ext>
              </a:extLst>
            </p:cNvPr>
            <p:cNvSpPr/>
            <p:nvPr/>
          </p:nvSpPr>
          <p:spPr>
            <a:xfrm>
              <a:off x="4334255" y="2375611"/>
              <a:ext cx="109728" cy="104241"/>
            </a:xfrm>
            <a:prstGeom prst="rect">
              <a:avLst/>
            </a:prstGeom>
            <a:solidFill>
              <a:srgbClr val="BFE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84">
              <a:extLst>
                <a:ext uri="{FF2B5EF4-FFF2-40B4-BE49-F238E27FC236}">
                  <a16:creationId xmlns:a16="http://schemas.microsoft.com/office/drawing/2014/main" id="{5BE7C497-FB51-5725-D494-730B686FBB83}"/>
                </a:ext>
              </a:extLst>
            </p:cNvPr>
            <p:cNvSpPr/>
            <p:nvPr/>
          </p:nvSpPr>
          <p:spPr>
            <a:xfrm>
              <a:off x="4498848" y="2397556"/>
              <a:ext cx="76809" cy="82296"/>
            </a:xfrm>
            <a:prstGeom prst="rect">
              <a:avLst/>
            </a:prstGeom>
            <a:solidFill>
              <a:srgbClr val="CDB4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85">
              <a:extLst>
                <a:ext uri="{FF2B5EF4-FFF2-40B4-BE49-F238E27FC236}">
                  <a16:creationId xmlns:a16="http://schemas.microsoft.com/office/drawing/2014/main" id="{92CD5588-E637-A2C9-FC4E-3B04BD1B2835}"/>
                </a:ext>
              </a:extLst>
            </p:cNvPr>
            <p:cNvSpPr/>
            <p:nvPr/>
          </p:nvSpPr>
          <p:spPr>
            <a:xfrm>
              <a:off x="4306824" y="2512771"/>
              <a:ext cx="438912" cy="137160"/>
            </a:xfrm>
            <a:prstGeom prst="rect">
              <a:avLst/>
            </a:prstGeom>
            <a:solidFill>
              <a:srgbClr val="DCC3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86">
              <a:extLst>
                <a:ext uri="{FF2B5EF4-FFF2-40B4-BE49-F238E27FC236}">
                  <a16:creationId xmlns:a16="http://schemas.microsoft.com/office/drawing/2014/main" id="{6E90C182-7B71-C92B-7ABE-2C2EE3D9C825}"/>
                </a:ext>
              </a:extLst>
            </p:cNvPr>
            <p:cNvSpPr/>
            <p:nvPr/>
          </p:nvSpPr>
          <p:spPr>
            <a:xfrm>
              <a:off x="4334255" y="2545689"/>
              <a:ext cx="109728" cy="104241"/>
            </a:xfrm>
            <a:prstGeom prst="rect">
              <a:avLst/>
            </a:prstGeom>
            <a:solidFill>
              <a:srgbClr val="9DD5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87">
              <a:extLst>
                <a:ext uri="{FF2B5EF4-FFF2-40B4-BE49-F238E27FC236}">
                  <a16:creationId xmlns:a16="http://schemas.microsoft.com/office/drawing/2014/main" id="{1CBDD759-7914-03BE-3FEF-FC56A189FCB1}"/>
                </a:ext>
              </a:extLst>
            </p:cNvPr>
            <p:cNvSpPr/>
            <p:nvPr/>
          </p:nvSpPr>
          <p:spPr>
            <a:xfrm>
              <a:off x="4498848" y="2567635"/>
              <a:ext cx="76809" cy="82296"/>
            </a:xfrm>
            <a:prstGeom prst="rect">
              <a:avLst/>
            </a:prstGeom>
            <a:solidFill>
              <a:srgbClr val="BFE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88">
              <a:extLst>
                <a:ext uri="{FF2B5EF4-FFF2-40B4-BE49-F238E27FC236}">
                  <a16:creationId xmlns:a16="http://schemas.microsoft.com/office/drawing/2014/main" id="{81DFAF28-21ED-C716-9452-8CE0853AC97F}"/>
                </a:ext>
              </a:extLst>
            </p:cNvPr>
            <p:cNvSpPr/>
            <p:nvPr/>
          </p:nvSpPr>
          <p:spPr>
            <a:xfrm>
              <a:off x="4306824" y="2682849"/>
              <a:ext cx="438912" cy="137160"/>
            </a:xfrm>
            <a:prstGeom prst="rect">
              <a:avLst/>
            </a:prstGeom>
            <a:solidFill>
              <a:srgbClr val="DCC3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89">
              <a:extLst>
                <a:ext uri="{FF2B5EF4-FFF2-40B4-BE49-F238E27FC236}">
                  <a16:creationId xmlns:a16="http://schemas.microsoft.com/office/drawing/2014/main" id="{9FEE9533-A2B9-8C46-0E1F-3FAA6D9857BC}"/>
                </a:ext>
              </a:extLst>
            </p:cNvPr>
            <p:cNvSpPr/>
            <p:nvPr/>
          </p:nvSpPr>
          <p:spPr>
            <a:xfrm>
              <a:off x="4334255" y="2715768"/>
              <a:ext cx="109728" cy="104241"/>
            </a:xfrm>
            <a:prstGeom prst="rect">
              <a:avLst/>
            </a:prstGeom>
            <a:solidFill>
              <a:srgbClr val="CDB4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90">
              <a:extLst>
                <a:ext uri="{FF2B5EF4-FFF2-40B4-BE49-F238E27FC236}">
                  <a16:creationId xmlns:a16="http://schemas.microsoft.com/office/drawing/2014/main" id="{82CE6962-0CE1-FE72-29CC-F47CCA977BF1}"/>
                </a:ext>
              </a:extLst>
            </p:cNvPr>
            <p:cNvSpPr/>
            <p:nvPr/>
          </p:nvSpPr>
          <p:spPr>
            <a:xfrm>
              <a:off x="4498848" y="2737713"/>
              <a:ext cx="76809" cy="82296"/>
            </a:xfrm>
            <a:prstGeom prst="rect">
              <a:avLst/>
            </a:prstGeom>
            <a:solidFill>
              <a:srgbClr val="9DD5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Oval 91">
              <a:extLst>
                <a:ext uri="{FF2B5EF4-FFF2-40B4-BE49-F238E27FC236}">
                  <a16:creationId xmlns:a16="http://schemas.microsoft.com/office/drawing/2014/main" id="{71C2F8A2-27C1-160C-9392-547A28C3AED7}"/>
                </a:ext>
              </a:extLst>
            </p:cNvPr>
            <p:cNvSpPr/>
            <p:nvPr/>
          </p:nvSpPr>
          <p:spPr>
            <a:xfrm>
              <a:off x="3302812" y="2790748"/>
              <a:ext cx="855878" cy="65836"/>
            </a:xfrm>
            <a:prstGeom prst="ellipse">
              <a:avLst/>
            </a:prstGeom>
            <a:solidFill>
              <a:srgbClr val="4B4540">
                <a:alpha val="1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ectangle 92">
              <a:extLst>
                <a:ext uri="{FF2B5EF4-FFF2-40B4-BE49-F238E27FC236}">
                  <a16:creationId xmlns:a16="http://schemas.microsoft.com/office/drawing/2014/main" id="{12E9F0AB-74CF-097D-80B9-1960C8C7B1BC}"/>
                </a:ext>
              </a:extLst>
            </p:cNvPr>
            <p:cNvSpPr/>
            <p:nvPr/>
          </p:nvSpPr>
          <p:spPr>
            <a:xfrm>
              <a:off x="3368649" y="2560320"/>
              <a:ext cx="49377" cy="246888"/>
            </a:xfrm>
            <a:prstGeom prst="rect">
              <a:avLst/>
            </a:prstGeom>
            <a:solidFill>
              <a:srgbClr val="A886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93">
              <a:extLst>
                <a:ext uri="{FF2B5EF4-FFF2-40B4-BE49-F238E27FC236}">
                  <a16:creationId xmlns:a16="http://schemas.microsoft.com/office/drawing/2014/main" id="{9040A820-DA25-3C7C-1552-24DD8916CA10}"/>
                </a:ext>
              </a:extLst>
            </p:cNvPr>
            <p:cNvSpPr/>
            <p:nvPr/>
          </p:nvSpPr>
          <p:spPr>
            <a:xfrm>
              <a:off x="4043476" y="2560320"/>
              <a:ext cx="49377" cy="246888"/>
            </a:xfrm>
            <a:prstGeom prst="rect">
              <a:avLst/>
            </a:prstGeom>
            <a:solidFill>
              <a:srgbClr val="A886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94">
              <a:extLst>
                <a:ext uri="{FF2B5EF4-FFF2-40B4-BE49-F238E27FC236}">
                  <a16:creationId xmlns:a16="http://schemas.microsoft.com/office/drawing/2014/main" id="{63E6C0D3-5C6C-C246-D58F-01C86EF5F738}"/>
                </a:ext>
              </a:extLst>
            </p:cNvPr>
            <p:cNvSpPr/>
            <p:nvPr/>
          </p:nvSpPr>
          <p:spPr>
            <a:xfrm>
              <a:off x="3319272" y="2494483"/>
              <a:ext cx="822960" cy="82296"/>
            </a:xfrm>
            <a:prstGeom prst="rect">
              <a:avLst/>
            </a:prstGeom>
            <a:solidFill>
              <a:srgbClr val="A886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95">
              <a:extLst>
                <a:ext uri="{FF2B5EF4-FFF2-40B4-BE49-F238E27FC236}">
                  <a16:creationId xmlns:a16="http://schemas.microsoft.com/office/drawing/2014/main" id="{E12761C9-2398-638F-1C11-15289258DDD0}"/>
                </a:ext>
              </a:extLst>
            </p:cNvPr>
            <p:cNvSpPr/>
            <p:nvPr/>
          </p:nvSpPr>
          <p:spPr>
            <a:xfrm>
              <a:off x="3319272" y="2395728"/>
              <a:ext cx="822960" cy="115214"/>
            </a:xfrm>
            <a:prstGeom prst="rect">
              <a:avLst/>
            </a:prstGeom>
            <a:solidFill>
              <a:srgbClr val="C8A2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01" name="평행 사변형 900">
            <a:extLst>
              <a:ext uri="{FF2B5EF4-FFF2-40B4-BE49-F238E27FC236}">
                <a16:creationId xmlns:a16="http://schemas.microsoft.com/office/drawing/2014/main" id="{E17253AB-98A0-F2AC-7239-6B808D25D276}"/>
              </a:ext>
            </a:extLst>
          </p:cNvPr>
          <p:cNvSpPr/>
          <p:nvPr/>
        </p:nvSpPr>
        <p:spPr>
          <a:xfrm>
            <a:off x="6820875" y="1723623"/>
            <a:ext cx="4040790" cy="1898279"/>
          </a:xfrm>
          <a:prstGeom prst="parallelogram">
            <a:avLst>
              <a:gd name="adj" fmla="val 27751"/>
            </a:avLst>
          </a:prstGeom>
          <a:solidFill>
            <a:schemeClr val="bg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04" name="직선 연결선 903">
            <a:extLst>
              <a:ext uri="{FF2B5EF4-FFF2-40B4-BE49-F238E27FC236}">
                <a16:creationId xmlns:a16="http://schemas.microsoft.com/office/drawing/2014/main" id="{F45EAB55-23D4-1540-EC7F-A5C4CC34C83C}"/>
              </a:ext>
            </a:extLst>
          </p:cNvPr>
          <p:cNvCxnSpPr>
            <a:cxnSpLocks/>
          </p:cNvCxnSpPr>
          <p:nvPr/>
        </p:nvCxnSpPr>
        <p:spPr>
          <a:xfrm>
            <a:off x="1320801" y="2438216"/>
            <a:ext cx="70484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직선 연결선 905">
            <a:extLst>
              <a:ext uri="{FF2B5EF4-FFF2-40B4-BE49-F238E27FC236}">
                <a16:creationId xmlns:a16="http://schemas.microsoft.com/office/drawing/2014/main" id="{3A17D01E-15A8-1BDA-E81B-541DF064BD90}"/>
              </a:ext>
            </a:extLst>
          </p:cNvPr>
          <p:cNvCxnSpPr>
            <a:cxnSpLocks/>
          </p:cNvCxnSpPr>
          <p:nvPr/>
        </p:nvCxnSpPr>
        <p:spPr>
          <a:xfrm flipV="1">
            <a:off x="2025650" y="1828800"/>
            <a:ext cx="5282335" cy="60941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직선 연결선 907">
            <a:extLst>
              <a:ext uri="{FF2B5EF4-FFF2-40B4-BE49-F238E27FC236}">
                <a16:creationId xmlns:a16="http://schemas.microsoft.com/office/drawing/2014/main" id="{93A85C7C-5816-9150-BE47-41B293FEBE0F}"/>
              </a:ext>
            </a:extLst>
          </p:cNvPr>
          <p:cNvCxnSpPr>
            <a:cxnSpLocks/>
          </p:cNvCxnSpPr>
          <p:nvPr/>
        </p:nvCxnSpPr>
        <p:spPr>
          <a:xfrm>
            <a:off x="1300837" y="3176037"/>
            <a:ext cx="236534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직선 연결선 908">
            <a:extLst>
              <a:ext uri="{FF2B5EF4-FFF2-40B4-BE49-F238E27FC236}">
                <a16:creationId xmlns:a16="http://schemas.microsoft.com/office/drawing/2014/main" id="{98A58786-9965-ADBA-1E83-28165B4A49E0}"/>
              </a:ext>
            </a:extLst>
          </p:cNvPr>
          <p:cNvCxnSpPr>
            <a:cxnSpLocks/>
          </p:cNvCxnSpPr>
          <p:nvPr/>
        </p:nvCxnSpPr>
        <p:spPr>
          <a:xfrm flipV="1">
            <a:off x="3666182" y="2746783"/>
            <a:ext cx="2818054" cy="42921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직선 연결선 913">
            <a:extLst>
              <a:ext uri="{FF2B5EF4-FFF2-40B4-BE49-F238E27FC236}">
                <a16:creationId xmlns:a16="http://schemas.microsoft.com/office/drawing/2014/main" id="{0516219A-BF41-0624-EE67-77FB3E835470}"/>
              </a:ext>
            </a:extLst>
          </p:cNvPr>
          <p:cNvCxnSpPr>
            <a:cxnSpLocks/>
          </p:cNvCxnSpPr>
          <p:nvPr/>
        </p:nvCxnSpPr>
        <p:spPr>
          <a:xfrm>
            <a:off x="1301375" y="3919519"/>
            <a:ext cx="70484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직선 연결선 914">
            <a:extLst>
              <a:ext uri="{FF2B5EF4-FFF2-40B4-BE49-F238E27FC236}">
                <a16:creationId xmlns:a16="http://schemas.microsoft.com/office/drawing/2014/main" id="{F0D9068D-AB03-7FC4-DB92-45D4907327C1}"/>
              </a:ext>
            </a:extLst>
          </p:cNvPr>
          <p:cNvCxnSpPr>
            <a:cxnSpLocks/>
          </p:cNvCxnSpPr>
          <p:nvPr/>
        </p:nvCxnSpPr>
        <p:spPr>
          <a:xfrm flipV="1">
            <a:off x="2006224" y="3108253"/>
            <a:ext cx="3806738" cy="81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직선 연결선 916">
            <a:extLst>
              <a:ext uri="{FF2B5EF4-FFF2-40B4-BE49-F238E27FC236}">
                <a16:creationId xmlns:a16="http://schemas.microsoft.com/office/drawing/2014/main" id="{08892431-178D-E5E7-60AF-6DEED6213E09}"/>
              </a:ext>
            </a:extLst>
          </p:cNvPr>
          <p:cNvCxnSpPr>
            <a:cxnSpLocks/>
          </p:cNvCxnSpPr>
          <p:nvPr/>
        </p:nvCxnSpPr>
        <p:spPr>
          <a:xfrm>
            <a:off x="1293641" y="4654253"/>
            <a:ext cx="70484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직선 연결선 917">
            <a:extLst>
              <a:ext uri="{FF2B5EF4-FFF2-40B4-BE49-F238E27FC236}">
                <a16:creationId xmlns:a16="http://schemas.microsoft.com/office/drawing/2014/main" id="{3A7663A0-9958-F402-7392-A536047BBBA0}"/>
              </a:ext>
            </a:extLst>
          </p:cNvPr>
          <p:cNvCxnSpPr>
            <a:cxnSpLocks/>
          </p:cNvCxnSpPr>
          <p:nvPr/>
        </p:nvCxnSpPr>
        <p:spPr>
          <a:xfrm flipV="1">
            <a:off x="1998490" y="3493297"/>
            <a:ext cx="3238300" cy="116095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직선 연결선 919">
            <a:extLst>
              <a:ext uri="{FF2B5EF4-FFF2-40B4-BE49-F238E27FC236}">
                <a16:creationId xmlns:a16="http://schemas.microsoft.com/office/drawing/2014/main" id="{F51E8BB7-D451-0808-132D-16A4813BEE83}"/>
              </a:ext>
            </a:extLst>
          </p:cNvPr>
          <p:cNvCxnSpPr>
            <a:cxnSpLocks/>
          </p:cNvCxnSpPr>
          <p:nvPr/>
        </p:nvCxnSpPr>
        <p:spPr>
          <a:xfrm>
            <a:off x="1290123" y="5378699"/>
            <a:ext cx="70484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직선 연결선 920">
            <a:extLst>
              <a:ext uri="{FF2B5EF4-FFF2-40B4-BE49-F238E27FC236}">
                <a16:creationId xmlns:a16="http://schemas.microsoft.com/office/drawing/2014/main" id="{7DAFE014-A09E-BA13-1D3C-403DE3D566E4}"/>
              </a:ext>
            </a:extLst>
          </p:cNvPr>
          <p:cNvCxnSpPr>
            <a:cxnSpLocks/>
          </p:cNvCxnSpPr>
          <p:nvPr/>
        </p:nvCxnSpPr>
        <p:spPr>
          <a:xfrm flipV="1">
            <a:off x="1994972" y="4069281"/>
            <a:ext cx="2752598" cy="13094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4" name="TextBox 923">
            <a:extLst>
              <a:ext uri="{FF2B5EF4-FFF2-40B4-BE49-F238E27FC236}">
                <a16:creationId xmlns:a16="http://schemas.microsoft.com/office/drawing/2014/main" id="{0523D016-CEF9-F0CC-9276-DC0AD2857D48}"/>
              </a:ext>
            </a:extLst>
          </p:cNvPr>
          <p:cNvSpPr txBox="1"/>
          <p:nvPr/>
        </p:nvSpPr>
        <p:spPr>
          <a:xfrm>
            <a:off x="1133475" y="1362372"/>
            <a:ext cx="2834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 구성 요소 (그리는 순서는 다음 장)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8924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요소별 묘사 단계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2CB5AB7-F18B-A129-636D-C4E1F3FE715F}"/>
              </a:ext>
            </a:extLst>
          </p:cNvPr>
          <p:cNvSpPr txBox="1"/>
          <p:nvPr/>
        </p:nvSpPr>
        <p:spPr>
          <a:xfrm>
            <a:off x="1203960" y="5049992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바닥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92FCD-3685-8BB6-FC84-0978F77DA8B9}"/>
              </a:ext>
            </a:extLst>
          </p:cNvPr>
          <p:cNvSpPr txBox="1"/>
          <p:nvPr/>
        </p:nvSpPr>
        <p:spPr>
          <a:xfrm>
            <a:off x="1203960" y="4308574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벽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6E212-4167-AC80-D71E-9D2FBF0C2E37}"/>
              </a:ext>
            </a:extLst>
          </p:cNvPr>
          <p:cNvSpPr txBox="1"/>
          <p:nvPr/>
        </p:nvSpPr>
        <p:spPr>
          <a:xfrm>
            <a:off x="1203960" y="3567157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쥐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EBDF1-4A60-07C8-7A19-F93FC279759E}"/>
              </a:ext>
            </a:extLst>
          </p:cNvPr>
          <p:cNvSpPr txBox="1"/>
          <p:nvPr/>
        </p:nvSpPr>
        <p:spPr>
          <a:xfrm>
            <a:off x="1203960" y="2825740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부술 수 있는 오브젝트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0B025-DD32-5BF9-D7E1-8426B083C3BB}"/>
              </a:ext>
            </a:extLst>
          </p:cNvPr>
          <p:cNvSpPr txBox="1"/>
          <p:nvPr/>
        </p:nvSpPr>
        <p:spPr>
          <a:xfrm>
            <a:off x="1203960" y="2084323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UI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33856" y="1444752"/>
            <a:ext cx="14173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51176" y="1673352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779776" y="1444752"/>
            <a:ext cx="8321040" cy="4572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플레이어에게 주는 의미로 5단계(D1~D5)를 나누고, 단계마다 색 수·명암·디테일 허용치를 정한다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77639" y="2286000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206240" y="2057400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D5</a:t>
            </a:r>
          </a:p>
          <a:p>
            <a:pPr algn="ctr"/>
            <a:r>
              <a:rPr sz="11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057400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면 1색 + 포인트 1색 · 명암 없음 · 64px 원본 · 이모지 금지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77639" y="3026664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06240" y="2798064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D2</a:t>
            </a:r>
          </a:p>
          <a:p>
            <a:pPr algn="ctr"/>
            <a:r>
              <a:rPr sz="11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부수면 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798064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색 3~6 · 명암 3단 · 크기 = 가치 = 내구도 · 가구는 파손 3단계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77639" y="3767328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206240" y="3538728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D1</a:t>
            </a:r>
          </a:p>
          <a:p>
            <a:pPr algn="ctr"/>
            <a:r>
              <a:rPr sz="11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 군대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538728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색 3~5 · 명암 2단 · 실루엣 + 소품 1개로 종 구분 · 48px에서도 읽힘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77639" y="4507992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206240" y="4279392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D3 · D4</a:t>
            </a:r>
          </a:p>
          <a:p>
            <a:pPr algn="ctr"/>
            <a:r>
              <a:rPr sz="11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길 / 막힘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279392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길이 되는 벽: 밝은 벽 + 금 1줄(맞을수록 증가)</a:t>
            </a:r>
          </a:p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부서지지 않는 벽: 가장 어둡고 금·무늬 없음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77639" y="5248655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206240" y="5020055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D4</a:t>
            </a:r>
          </a:p>
          <a:p>
            <a:pPr algn="ctr"/>
            <a:r>
              <a:rPr sz="11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여기는 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020055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색 1~2 · 명암 거의 없음 · 격자 1종, 디테일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" y="5760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사람·고양이(위협)</a:t>
            </a:r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는 쥐(D1)와 같은 묘사로 그리고, 쥐의 2~3배 크기 + 추격 중에만 위험색 표시로 구분</a:t>
            </a:r>
          </a:p>
        </p:txBody>
      </p:sp>
    </p:spTree>
    <p:extLst>
      <p:ext uri="{BB962C8B-B14F-4D97-AF65-F5344CB8AC3E}">
        <p14:creationId xmlns:p14="http://schemas.microsoft.com/office/powerpoint/2010/main" val="2574756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묘사 단계의 의도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2CB5AB7-F18B-A129-636D-C4E1F3FE715F}"/>
              </a:ext>
            </a:extLst>
          </p:cNvPr>
          <p:cNvSpPr txBox="1"/>
          <p:nvPr/>
        </p:nvSpPr>
        <p:spPr>
          <a:xfrm>
            <a:off x="1203960" y="5049992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바닥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92FCD-3685-8BB6-FC84-0978F77DA8B9}"/>
              </a:ext>
            </a:extLst>
          </p:cNvPr>
          <p:cNvSpPr txBox="1"/>
          <p:nvPr/>
        </p:nvSpPr>
        <p:spPr>
          <a:xfrm>
            <a:off x="1203960" y="4308574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벽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6E212-4167-AC80-D71E-9D2FBF0C2E37}"/>
              </a:ext>
            </a:extLst>
          </p:cNvPr>
          <p:cNvSpPr txBox="1"/>
          <p:nvPr/>
        </p:nvSpPr>
        <p:spPr>
          <a:xfrm>
            <a:off x="1203960" y="3567157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쥐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EBDF1-4A60-07C8-7A19-F93FC279759E}"/>
              </a:ext>
            </a:extLst>
          </p:cNvPr>
          <p:cNvSpPr txBox="1"/>
          <p:nvPr/>
        </p:nvSpPr>
        <p:spPr>
          <a:xfrm>
            <a:off x="1203960" y="2825740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부술 수 있는 오브젝트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0B025-DD32-5BF9-D7E1-8426B083C3BB}"/>
              </a:ext>
            </a:extLst>
          </p:cNvPr>
          <p:cNvSpPr txBox="1"/>
          <p:nvPr/>
        </p:nvSpPr>
        <p:spPr>
          <a:xfrm>
            <a:off x="1203960" y="2084323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UI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33856" y="1444752"/>
            <a:ext cx="14173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51176" y="1673352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779776" y="1444752"/>
            <a:ext cx="8321040" cy="4572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디테일은 '플레이어가 고르는 대상'에 몰아준다 — 부서지는 것 &gt; 쥐 &gt; 길이 되는 벽 &gt; 무대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77639" y="2286000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51960" y="2057400"/>
            <a:ext cx="6949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이모지는 기기마다 모양이 달라 팔레트를 지킬 수 없음 · 2색이면 작은 크기에서도 뭉개지지 않음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77639" y="3026664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51960" y="2798064"/>
            <a:ext cx="6949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돈이 되는 대상이라 화면에서 가장 입체적으로 · 크기만 보고 무엇을 노릴지 고르게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77639" y="3767328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51960" y="3538728"/>
            <a:ext cx="6949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30~70마리가 겹치면 디테일은 노이즈 → 실루엣만 읽힘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77639" y="4507992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51960" y="4279392"/>
            <a:ext cx="6949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금 = '부술 수 있다'는 가장 보편적인 신호 · 어둡고 무거운 벽은 '막힘'으로 읽혀 방 경계가 또렷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77639" y="5248655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51960" y="5020055"/>
            <a:ext cx="6949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위에 올라가는 모든 것이 바로 보이게 가장 밝고 탁하게, 디테일 없이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57607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디테일 순서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5715000"/>
            <a:ext cx="173736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D2 부서지는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71500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5715000"/>
            <a:ext cx="1737360" cy="4114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D1 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71500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5715000"/>
            <a:ext cx="1737360" cy="4114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D3 길이 되는 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571500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5715000"/>
            <a:ext cx="1737360" cy="4114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D4 무대</a:t>
            </a:r>
          </a:p>
        </p:txBody>
      </p:sp>
    </p:spTree>
    <p:extLst>
      <p:ext uri="{BB962C8B-B14F-4D97-AF65-F5344CB8AC3E}">
        <p14:creationId xmlns:p14="http://schemas.microsoft.com/office/powerpoint/2010/main" val="392012674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화면 구성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요소별 화면 배치 영역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444752"/>
            <a:ext cx="14173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673352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444752"/>
            <a:ext cx="8321040" cy="4572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가운데는 플레이, 가장자리는 정보 — 요소마다 화면에서 '사는 자리'를 정해 겹치지 않게 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084831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UI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77639" y="2286000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206240" y="2057400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화면 가장자리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057400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가장자리 여백(상하 36 · 좌우 64px) 안에만 · 가운데는 비움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825496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부술 수 있는 오브젝트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77639" y="3026664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206240" y="2798064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 바닥 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798064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가구는 방 테마 배치표대로 벽 쪽, 소품은 빈 바닥에 보충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5661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77639" y="3767328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06240" y="3538728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화면 가운데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538728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기본 배율 1.0 = 방 1개가 화면을 채움 · 클릭이 가장 자주 닿는 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306824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77639" y="4507992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206240" y="4279392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방과 방 사이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279392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격자 1칸 모듈 · 층 바깥 테두리는 부서지지 않는 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504748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바닥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77639" y="5248655"/>
            <a:ext cx="228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206240" y="5020055"/>
            <a:ext cx="160020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화면 전체 배경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020055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아직 안 간 구역은 먹색 55%로 가림 → 벽이 무너지면 걷힘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5760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가장자리 UI · 가운데 플레이 · 그 아래 쥐와 오브젝트(Y 정렬) · 맨 아래 벽과 바닥 — '레이어와 그리는 순서'와 같은 구조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화면 구성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UI 공통 원칙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UI는 '게임을 가리지 않는 종이' — 누르는 것과 읽는 것을 모양만으로 구분한다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1271016" y="24231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495" y="23774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가로 16:9 · 1920×1080 (PC)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" y="283464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방이 가로로 넓음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떼 퍼짐·필살기 연출이 가로에서 가장 잘 보임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2376" y="228600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4669536" y="24231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1016" y="23774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가장자리 여백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9536" y="283464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상하 36px · 좌우 64px 안에만 UI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창 테두리 · 작업 표시줄에 붙지 않게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0896" y="228600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8068056" y="24231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9536" y="23774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패널 = 둥근 종이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8056" y="283464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모서리 22px · 종이색 96% · 부드러운 그림자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뒤에서 게임이 계속 돌아가는 것이 느껴짐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3856" y="429768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1271016" y="443484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495" y="438912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버튼 = 알약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" y="484632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누르는 것은 알약, 정보는 사각형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읽기 전에 '눌러도 되는지' 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2376" y="429768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4669536" y="443484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1016" y="438912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가장자리 우선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9536" y="484632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정보는 테두리, 가운데는 비움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가운데를 가리는 UI는 곧 헛클릭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30896" y="429768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8" name="Oval 27"/>
          <p:cNvSpPr/>
          <p:nvPr/>
        </p:nvSpPr>
        <p:spPr>
          <a:xfrm>
            <a:off x="8068056" y="443484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9536" y="438912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상태색 4개 고정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8056" y="484632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긍정 · 진행 · 경고 · 정보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같은 의미에는 늘 같은 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5779008"/>
            <a:ext cx="640080" cy="292608"/>
          </a:xfrm>
          <a:prstGeom prst="rect">
            <a:avLst/>
          </a:prstGeom>
          <a:solidFill>
            <a:srgbClr val="8FA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긍정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5779008"/>
            <a:ext cx="640080" cy="292608"/>
          </a:xfrm>
          <a:prstGeom prst="rect">
            <a:avLst/>
          </a:prstGeom>
          <a:solidFill>
            <a:srgbClr val="E6B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진행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5779008"/>
            <a:ext cx="640080" cy="292608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경고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24160" y="5779008"/>
            <a:ext cx="640080" cy="292608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화면 구성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인게임 HUD 배치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정보는 네 모서리, 가운데는 플레이 — 왼쪽은 돈과 힘, 오른쪽은 시간과 길, 아래는 필살기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6035040" cy="3392424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14907" y="2387772"/>
            <a:ext cx="5672937" cy="3188878"/>
          </a:xfrm>
          <a:prstGeom prst="rect">
            <a:avLst/>
          </a:prstGeom>
          <a:noFill/>
          <a:ln w="12700">
            <a:solidFill>
              <a:srgbClr val="6F8A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1505711" y="2492883"/>
            <a:ext cx="5291328" cy="2976372"/>
          </a:xfrm>
          <a:prstGeom prst="rect">
            <a:avLst/>
          </a:prstGeom>
          <a:noFill/>
          <a:ln w="9525">
            <a:solidFill>
              <a:srgbClr val="6F8A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0275" y="3656266"/>
            <a:ext cx="2362200" cy="1181100"/>
          </a:xfrm>
          <a:prstGeom prst="rect">
            <a:avLst/>
          </a:prstGeom>
          <a:solidFill>
            <a:srgbClr val="E2E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플레이 영역 (UI 금지)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5711" y="2504694"/>
            <a:ext cx="1122045" cy="2066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치즈</a:t>
            </a:r>
          </a:p>
        </p:txBody>
      </p:sp>
      <p:sp>
        <p:nvSpPr>
          <p:cNvPr id="12" name="Oval 11"/>
          <p:cNvSpPr/>
          <p:nvPr/>
        </p:nvSpPr>
        <p:spPr>
          <a:xfrm>
            <a:off x="1395983" y="2394966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5711" y="2770441"/>
            <a:ext cx="1122045" cy="17716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찍찍!!</a:t>
            </a:r>
          </a:p>
        </p:txBody>
      </p:sp>
      <p:sp>
        <p:nvSpPr>
          <p:cNvPr id="14" name="Oval 13"/>
          <p:cNvSpPr/>
          <p:nvPr/>
        </p:nvSpPr>
        <p:spPr>
          <a:xfrm>
            <a:off x="1395983" y="2660713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74995" y="2504694"/>
            <a:ext cx="1122045" cy="4429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· 방 · 시간</a:t>
            </a:r>
          </a:p>
        </p:txBody>
      </p:sp>
      <p:sp>
        <p:nvSpPr>
          <p:cNvPr id="16" name="Oval 15"/>
          <p:cNvSpPr/>
          <p:nvPr/>
        </p:nvSpPr>
        <p:spPr>
          <a:xfrm>
            <a:off x="5565267" y="2394966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74995" y="2991897"/>
            <a:ext cx="1122045" cy="3248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수 · 알림</a:t>
            </a:r>
          </a:p>
        </p:txBody>
      </p:sp>
      <p:sp>
        <p:nvSpPr>
          <p:cNvPr id="18" name="Oval 17"/>
          <p:cNvSpPr/>
          <p:nvPr/>
        </p:nvSpPr>
        <p:spPr>
          <a:xfrm>
            <a:off x="5565267" y="2882169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17913" y="2504694"/>
            <a:ext cx="2066924" cy="47243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콤보 / 보스 체력바</a:t>
            </a:r>
          </a:p>
        </p:txBody>
      </p:sp>
      <p:sp>
        <p:nvSpPr>
          <p:cNvPr id="20" name="Oval 19"/>
          <p:cNvSpPr/>
          <p:nvPr/>
        </p:nvSpPr>
        <p:spPr>
          <a:xfrm>
            <a:off x="3008185" y="2394966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0275" y="3242881"/>
            <a:ext cx="2362200" cy="23621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이벤트 배너</a:t>
            </a:r>
          </a:p>
        </p:txBody>
      </p:sp>
      <p:sp>
        <p:nvSpPr>
          <p:cNvPr id="22" name="Oval 21"/>
          <p:cNvSpPr/>
          <p:nvPr/>
        </p:nvSpPr>
        <p:spPr>
          <a:xfrm>
            <a:off x="2860547" y="3133153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9726" y="5044058"/>
            <a:ext cx="3366135" cy="413385"/>
          </a:xfrm>
          <a:prstGeom prst="rect">
            <a:avLst/>
          </a:prstGeom>
          <a:solidFill>
            <a:srgbClr val="E9713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필살기 바</a:t>
            </a:r>
          </a:p>
        </p:txBody>
      </p:sp>
      <p:sp>
        <p:nvSpPr>
          <p:cNvPr id="24" name="Oval 23"/>
          <p:cNvSpPr/>
          <p:nvPr/>
        </p:nvSpPr>
        <p:spPr>
          <a:xfrm>
            <a:off x="2269998" y="4934330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5711" y="5044058"/>
            <a:ext cx="767715" cy="41338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승급</a:t>
            </a:r>
          </a:p>
        </p:txBody>
      </p:sp>
      <p:sp>
        <p:nvSpPr>
          <p:cNvPr id="26" name="Oval 25"/>
          <p:cNvSpPr/>
          <p:nvPr/>
        </p:nvSpPr>
        <p:spPr>
          <a:xfrm>
            <a:off x="1395983" y="4934330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0742" y="4748784"/>
            <a:ext cx="856297" cy="7086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미니맵</a:t>
            </a:r>
          </a:p>
        </p:txBody>
      </p:sp>
      <p:sp>
        <p:nvSpPr>
          <p:cNvPr id="28" name="Oval 27"/>
          <p:cNvSpPr/>
          <p:nvPr/>
        </p:nvSpPr>
        <p:spPr>
          <a:xfrm>
            <a:off x="5831014" y="4639056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9" name="Oval 28"/>
          <p:cNvSpPr/>
          <p:nvPr/>
        </p:nvSpPr>
        <p:spPr>
          <a:xfrm>
            <a:off x="7452360" y="2267712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212848"/>
            <a:ext cx="374903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치즈 · 왼쪽 위</a:t>
            </a:r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  가장 자주 보는 '얼마 벌었나'</a:t>
            </a:r>
          </a:p>
        </p:txBody>
      </p:sp>
      <p:sp>
        <p:nvSpPr>
          <p:cNvPr id="31" name="Oval 30"/>
          <p:cNvSpPr/>
          <p:nvPr/>
        </p:nvSpPr>
        <p:spPr>
          <a:xfrm>
            <a:off x="7452360" y="2642616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2587752"/>
            <a:ext cx="374903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찍찍!! · 치즈 아래</a:t>
            </a:r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  전투력 / 적정 — '넘을 수 있나'를 숫자 두 개로</a:t>
            </a:r>
          </a:p>
        </p:txBody>
      </p:sp>
      <p:sp>
        <p:nvSpPr>
          <p:cNvPr id="33" name="Oval 32"/>
          <p:cNvSpPr/>
          <p:nvPr/>
        </p:nvSpPr>
        <p:spPr>
          <a:xfrm>
            <a:off x="7452360" y="3017520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2962656"/>
            <a:ext cx="374903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· 방 · 남은 시간 · 오른쪽 위</a:t>
            </a:r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  숫자 + 나무 게이지, 30초 이하 테라</a:t>
            </a:r>
          </a:p>
        </p:txBody>
      </p:sp>
      <p:sp>
        <p:nvSpPr>
          <p:cNvPr id="35" name="Oval 34"/>
          <p:cNvSpPr/>
          <p:nvPr/>
        </p:nvSpPr>
        <p:spPr>
          <a:xfrm>
            <a:off x="7452360" y="3392424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337560"/>
            <a:ext cx="374903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마릿수 · 알림 · 오른쪽 위</a:t>
            </a:r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  업적 · 필살기 달성 알림은 그 아래에 잠깐</a:t>
            </a:r>
          </a:p>
        </p:txBody>
      </p:sp>
      <p:sp>
        <p:nvSpPr>
          <p:cNvPr id="37" name="Oval 36"/>
          <p:cNvSpPr/>
          <p:nvPr/>
        </p:nvSpPr>
        <p:spPr>
          <a:xfrm>
            <a:off x="7452360" y="3767327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3712463"/>
            <a:ext cx="374903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콤보 · 보스 체력바 · 위 가운데</a:t>
            </a:r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  체력바는 보스전에만, 콤보 바로 아래</a:t>
            </a:r>
          </a:p>
        </p:txBody>
      </p:sp>
      <p:sp>
        <p:nvSpPr>
          <p:cNvPr id="39" name="Oval 38"/>
          <p:cNvSpPr/>
          <p:nvPr/>
        </p:nvSpPr>
        <p:spPr>
          <a:xfrm>
            <a:off x="7452360" y="4142231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087368"/>
            <a:ext cx="374903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이벤트 배너 · 가운데 위쪽</a:t>
            </a:r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  보이지만 쥐 떼는 가리지 않는 자리</a:t>
            </a:r>
          </a:p>
        </p:txBody>
      </p:sp>
      <p:sp>
        <p:nvSpPr>
          <p:cNvPr id="41" name="Oval 40"/>
          <p:cNvSpPr/>
          <p:nvPr/>
        </p:nvSpPr>
        <p:spPr>
          <a:xfrm>
            <a:off x="7452360" y="4517136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462272"/>
            <a:ext cx="374903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 영역</a:t>
            </a:r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  UI를 두지 않음</a:t>
            </a:r>
          </a:p>
        </p:txBody>
      </p:sp>
      <p:sp>
        <p:nvSpPr>
          <p:cNvPr id="43" name="Oval 42"/>
          <p:cNvSpPr/>
          <p:nvPr/>
        </p:nvSpPr>
        <p:spPr>
          <a:xfrm>
            <a:off x="7452360" y="4892039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837175"/>
            <a:ext cx="374903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필살기 바 · 아래 가운데</a:t>
            </a:r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  준비 = 고유색 꽉 참 · 쿨타임 = 아래에서 차오름 + 남은 초</a:t>
            </a:r>
          </a:p>
        </p:txBody>
      </p:sp>
      <p:sp>
        <p:nvSpPr>
          <p:cNvPr id="45" name="Oval 44"/>
          <p:cNvSpPr/>
          <p:nvPr/>
        </p:nvSpPr>
        <p:spPr>
          <a:xfrm>
            <a:off x="7452360" y="5266943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5212079"/>
            <a:ext cx="374903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승급 · 왼쪽 아래</a:t>
            </a:r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  판 안에서 가장 자주 누르는 버튼</a:t>
            </a:r>
          </a:p>
        </p:txBody>
      </p:sp>
      <p:sp>
        <p:nvSpPr>
          <p:cNvPr id="47" name="Oval 46"/>
          <p:cNvSpPr/>
          <p:nvPr/>
        </p:nvSpPr>
        <p:spPr>
          <a:xfrm>
            <a:off x="7452360" y="5641847"/>
            <a:ext cx="256032" cy="2560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586983"/>
            <a:ext cx="3749039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미니맵 · 오른쪽 아래</a:t>
            </a:r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  열린 방 · 옆방 · 계단 · 보스 · 쥐 점</a:t>
            </a:r>
          </a:p>
        </p:txBody>
      </p:sp>
      <p:sp>
        <p:nvSpPr>
          <p:cNvPr id="49" name="Oval 48"/>
          <p:cNvSpPr/>
          <p:nvPr/>
        </p:nvSpPr>
        <p:spPr>
          <a:xfrm>
            <a:off x="2988564" y="3674554"/>
            <a:ext cx="237744" cy="23774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" y="5742432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초록 점선 = 가장자리 여백 (상하 36 / 좌우 64px) · 위치는 현재 Game 씬 HUD 기준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화면 구성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로비 배치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왼쪽에서 오른쪽으로 '어디로 → 누구와 → 출발' — 가장 큰 버튼이 로비의 최종 목적지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6035040" cy="3392424"/>
          </a:xfrm>
          <a:prstGeom prst="rect">
            <a:avLst/>
          </a:prstGeom>
          <a:solidFill>
            <a:srgbClr val="EFE3C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14907" y="2455621"/>
            <a:ext cx="724204" cy="33924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◀ 아지트</a:t>
            </a:r>
          </a:p>
        </p:txBody>
      </p:sp>
      <p:sp>
        <p:nvSpPr>
          <p:cNvPr id="9" name="Oval 8"/>
          <p:cNvSpPr/>
          <p:nvPr/>
        </p:nvSpPr>
        <p:spPr>
          <a:xfrm>
            <a:off x="1205179" y="2345893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40864" y="2455621"/>
            <a:ext cx="3138220" cy="33924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회의 · 훈장 · 훈련 · 창고 · 친구 · 낮잠</a:t>
            </a:r>
          </a:p>
        </p:txBody>
      </p:sp>
      <p:sp>
        <p:nvSpPr>
          <p:cNvPr id="11" name="Oval 10"/>
          <p:cNvSpPr/>
          <p:nvPr/>
        </p:nvSpPr>
        <p:spPr>
          <a:xfrm>
            <a:off x="2231136" y="2345893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80836" y="2455621"/>
            <a:ext cx="1207008" cy="339242"/>
          </a:xfrm>
          <a:prstGeom prst="rect">
            <a:avLst/>
          </a:prstGeom>
          <a:solidFill>
            <a:srgbClr val="3C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치즈 · 자료 · 조각</a:t>
            </a:r>
          </a:p>
        </p:txBody>
      </p:sp>
      <p:sp>
        <p:nvSpPr>
          <p:cNvPr id="13" name="Oval 12"/>
          <p:cNvSpPr/>
          <p:nvPr/>
        </p:nvSpPr>
        <p:spPr>
          <a:xfrm>
            <a:off x="5671108" y="2345893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5257" y="3100181"/>
            <a:ext cx="3017520" cy="230684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정보 패널</a:t>
            </a:r>
          </a:p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길 (가로 스크롤) · 시작 층</a:t>
            </a:r>
          </a:p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구역 · 시간 · 방 · 목표</a:t>
            </a:r>
          </a:p>
        </p:txBody>
      </p:sp>
      <p:sp>
        <p:nvSpPr>
          <p:cNvPr id="15" name="Oval 14"/>
          <p:cNvSpPr/>
          <p:nvPr/>
        </p:nvSpPr>
        <p:spPr>
          <a:xfrm>
            <a:off x="1265529" y="2990453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34179" y="3100181"/>
            <a:ext cx="2293315" cy="142481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결정 패널</a:t>
            </a:r>
          </a:p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출동 멤버 · 등급 확률</a:t>
            </a:r>
          </a:p>
        </p:txBody>
      </p:sp>
      <p:sp>
        <p:nvSpPr>
          <p:cNvPr id="17" name="Oval 16"/>
          <p:cNvSpPr/>
          <p:nvPr/>
        </p:nvSpPr>
        <p:spPr>
          <a:xfrm>
            <a:off x="4524451" y="2990453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34179" y="4728545"/>
            <a:ext cx="2293315" cy="678484"/>
          </a:xfrm>
          <a:prstGeom prst="rect">
            <a:avLst/>
          </a:prstGeom>
          <a:solidFill>
            <a:srgbClr val="B07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출발!</a:t>
            </a:r>
          </a:p>
        </p:txBody>
      </p:sp>
      <p:sp>
        <p:nvSpPr>
          <p:cNvPr id="19" name="Oval 18"/>
          <p:cNvSpPr/>
          <p:nvPr/>
        </p:nvSpPr>
        <p:spPr>
          <a:xfrm>
            <a:off x="4524451" y="4618817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0" name="Oval 19"/>
          <p:cNvSpPr/>
          <p:nvPr/>
        </p:nvSpPr>
        <p:spPr>
          <a:xfrm>
            <a:off x="7452360" y="2313432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2" y="2249424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아지트로 · 왼쪽 위  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뒤로 가기는 모든 앱의 관습 자리</a:t>
            </a:r>
          </a:p>
        </p:txBody>
      </p:sp>
      <p:sp>
        <p:nvSpPr>
          <p:cNvPr id="22" name="Oval 21"/>
          <p:cNvSpPr/>
          <p:nvPr/>
        </p:nvSpPr>
        <p:spPr>
          <a:xfrm>
            <a:off x="7452360" y="2862072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832" y="2798064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로비 탭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  빨간 점 = 살 수 있는 강화 · 잠긴 탭은 자물쇠</a:t>
            </a:r>
          </a:p>
        </p:txBody>
      </p:sp>
      <p:sp>
        <p:nvSpPr>
          <p:cNvPr id="24" name="Oval 23"/>
          <p:cNvSpPr/>
          <p:nvPr/>
        </p:nvSpPr>
        <p:spPr>
          <a:xfrm>
            <a:off x="7452360" y="3410712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9832" y="3346704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보유 재화 · 오른쪽 위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  치즈 · 연구자료 · 조각</a:t>
            </a:r>
          </a:p>
        </p:txBody>
      </p:sp>
      <p:sp>
        <p:nvSpPr>
          <p:cNvPr id="26" name="Oval 25"/>
          <p:cNvSpPr/>
          <p:nvPr/>
        </p:nvSpPr>
        <p:spPr>
          <a:xfrm>
            <a:off x="7452360" y="3959352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9832" y="3895344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정보 패널 · 왼쪽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  층 길에서 시작 층을 고르고 '어디로 가나'를 봄</a:t>
            </a:r>
          </a:p>
        </p:txBody>
      </p:sp>
      <p:sp>
        <p:nvSpPr>
          <p:cNvPr id="28" name="Oval 27"/>
          <p:cNvSpPr/>
          <p:nvPr/>
        </p:nvSpPr>
        <p:spPr>
          <a:xfrm>
            <a:off x="7452360" y="4507992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2" y="4443984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결정 패널 · 오른쪽  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본 다음에 '누가 가나'를 정함</a:t>
            </a:r>
          </a:p>
        </p:txBody>
      </p:sp>
      <p:sp>
        <p:nvSpPr>
          <p:cNvPr id="30" name="Oval 29"/>
          <p:cNvSpPr/>
          <p:nvPr/>
        </p:nvSpPr>
        <p:spPr>
          <a:xfrm>
            <a:off x="7452360" y="5056632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9832" y="4992624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출발 버튼  </a:t>
            </a: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가장 크고 진한 버튼, 오른쪽 아래 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화면 구성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강화 화면 · 판 결과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강화는 '무엇이 얼마나 좋아지나'만, 결과는 '얼마나 왔나'만 — 판 사이 흐름을 끊지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48463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강화 화면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743200"/>
            <a:ext cx="4846320" cy="35204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1016" y="2926080"/>
            <a:ext cx="45720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10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트리는 아래 → 위로 자람 (아래층에서 위층으로 탈출하는 이야기와 같은 방향)</a:t>
            </a:r>
          </a:p>
          <a:p>
            <a:pPr algn="l" marL="285750" indent="-285750">
              <a:spcAft>
                <a:spcPts val="10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상세는 공식 대신 '지금 → 다음' 수치, 좋아지는 값은 세이지색</a:t>
            </a:r>
          </a:p>
          <a:p>
            <a:pPr algn="l" marL="285750" indent="-285750">
              <a:spcAft>
                <a:spcPts val="10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구매 버튼 위치 고정 → 마우스 이동 없이 연타</a:t>
            </a:r>
          </a:p>
          <a:p>
            <a:pPr algn="l" marL="285750" indent="-285750">
              <a:spcAft>
                <a:spcPts val="10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선택한 노드는 테라 테두리만 — 상태색과 섞이지 않게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16736" y="5669280"/>
            <a:ext cx="1417320" cy="411480"/>
          </a:xfrm>
          <a:prstGeom prst="rect">
            <a:avLst/>
          </a:prstGeom>
          <a:solidFill>
            <a:srgbClr val="8FA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이미 찍음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43784" y="5669280"/>
            <a:ext cx="1417320" cy="411480"/>
          </a:xfrm>
          <a:prstGeom prst="rect">
            <a:avLst/>
          </a:prstGeom>
          <a:solidFill>
            <a:srgbClr val="FBF7E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살 수 있음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1" y="5669280"/>
            <a:ext cx="1417320" cy="411480"/>
          </a:xfrm>
          <a:prstGeom prst="rect">
            <a:avLst/>
          </a:prstGeom>
          <a:solidFill>
            <a:srgbClr val="A8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잠김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2286000"/>
            <a:ext cx="484632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판 결과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2743200"/>
            <a:ext cx="4846320" cy="35204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926080"/>
            <a:ext cx="45720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10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모든 판은 시간 초과로 끝남 → 성공 / 실패 대신 기록으로 보여 줌</a:t>
            </a:r>
          </a:p>
          <a:p>
            <a:pPr algn="l" marL="285750" indent="-285750">
              <a:spcAft>
                <a:spcPts val="10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최고 층 갱신 = 세이지, 갱신 못 함 = 먹색 — 실패색(테라)은 쓰지 않음</a:t>
            </a:r>
          </a:p>
          <a:p>
            <a:pPr algn="l" marL="285750" indent="-285750">
              <a:spcAft>
                <a:spcPts val="10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얻은 것 3칸은 항상 같은 순서 (치즈 → 연구자료 → 조각)</a:t>
            </a:r>
          </a:p>
          <a:p>
            <a:pPr algn="l" marL="285750" indent="-285750">
              <a:spcAft>
                <a:spcPts val="10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버튼은 '아지트로' 하나 · 갱신 못 하면 '몇 층 몇 번째 방까지' + 추천 강화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91656" y="5669280"/>
            <a:ext cx="1417320" cy="411480"/>
          </a:xfrm>
          <a:prstGeom prst="rect">
            <a:avLst/>
          </a:prstGeom>
          <a:solidFill>
            <a:srgbClr val="6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최고 기록 갱신!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18704" y="5669280"/>
            <a:ext cx="1417320" cy="411480"/>
          </a:xfrm>
          <a:prstGeom prst="rect">
            <a:avLst/>
          </a:prstGeom>
          <a:solidFill>
            <a:srgbClr val="4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여기까지!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비주얼 스타일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전체 비주얼 스타일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외곽선 없는 단색 면 + 접지 그림자 하나 — 쥐 수십 마리가 겹쳐도 화면이 깨끗하게</a:t>
            </a:r>
          </a:p>
        </p:txBody>
      </p:sp>
      <p:sp>
        <p:nvSpPr>
          <p:cNvPr id="7" name="Oval 6"/>
          <p:cNvSpPr/>
          <p:nvPr/>
        </p:nvSpPr>
        <p:spPr>
          <a:xfrm>
            <a:off x="1600200" y="3154680"/>
            <a:ext cx="1188720" cy="201168"/>
          </a:xfrm>
          <a:prstGeom prst="ellipse">
            <a:avLst/>
          </a:prstGeom>
          <a:solidFill>
            <a:srgbClr val="4B454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468880"/>
            <a:ext cx="1097280" cy="731520"/>
          </a:xfrm>
          <a:prstGeom prst="ellipse">
            <a:avLst/>
          </a:prstGeom>
          <a:solidFill>
            <a:srgbClr val="8C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42900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6F8A6B"/>
                </a:solidFill>
                <a:latin typeface="Noto Sans KR"/>
                <a:ea typeface="Noto Sans KR"/>
                <a:cs typeface="Noto Sans KR"/>
              </a:rPr>
              <a:t>O  </a:t>
            </a: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외곽선 없음 · 그림자 1개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3154680"/>
            <a:ext cx="1188720" cy="201168"/>
          </a:xfrm>
          <a:prstGeom prst="ellipse">
            <a:avLst/>
          </a:prstGeom>
          <a:solidFill>
            <a:srgbClr val="4B454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03320" y="2468880"/>
            <a:ext cx="1097280" cy="731520"/>
          </a:xfrm>
          <a:prstGeom prst="ellipse">
            <a:avLst/>
          </a:prstGeom>
          <a:solidFill>
            <a:srgbClr val="8C7A6B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342900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AD5C45"/>
                </a:solidFill>
                <a:latin typeface="Noto Sans KR"/>
                <a:ea typeface="Noto Sans KR"/>
                <a:cs typeface="Noto Sans KR"/>
              </a:rPr>
              <a:t>X  </a:t>
            </a: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검은 외곽선</a:t>
            </a:r>
          </a:p>
        </p:txBody>
      </p:sp>
      <p:sp>
        <p:nvSpPr>
          <p:cNvPr id="13" name="Oval 12"/>
          <p:cNvSpPr/>
          <p:nvPr/>
        </p:nvSpPr>
        <p:spPr>
          <a:xfrm>
            <a:off x="5715000" y="3154680"/>
            <a:ext cx="1188720" cy="201168"/>
          </a:xfrm>
          <a:prstGeom prst="ellipse">
            <a:avLst/>
          </a:prstGeom>
          <a:solidFill>
            <a:srgbClr val="4B454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60720" y="2468880"/>
            <a:ext cx="1097280" cy="731520"/>
          </a:xfrm>
          <a:prstGeom prst="ellipse">
            <a:avLst/>
          </a:prstGeom>
          <a:solidFill>
            <a:srgbClr val="8C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0" y="2560320"/>
            <a:ext cx="411480" cy="18288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0" y="2880360"/>
            <a:ext cx="54864" cy="54864"/>
          </a:xfrm>
          <a:prstGeom prst="ellipse">
            <a:avLst/>
          </a:prstGeom>
          <a:solidFill>
            <a:srgbClr val="4F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90488" y="2880360"/>
            <a:ext cx="54864" cy="54864"/>
          </a:xfrm>
          <a:prstGeom prst="ellipse">
            <a:avLst/>
          </a:prstGeom>
          <a:solidFill>
            <a:srgbClr val="4F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45936" y="2880360"/>
            <a:ext cx="54864" cy="54864"/>
          </a:xfrm>
          <a:prstGeom prst="ellipse">
            <a:avLst/>
          </a:prstGeom>
          <a:solidFill>
            <a:srgbClr val="4F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01383" y="2880360"/>
            <a:ext cx="54864" cy="54864"/>
          </a:xfrm>
          <a:prstGeom prst="ellipse">
            <a:avLst/>
          </a:prstGeom>
          <a:solidFill>
            <a:srgbClr val="4F4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342900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AD5C45"/>
                </a:solidFill>
                <a:latin typeface="Noto Sans KR"/>
                <a:ea typeface="Noto Sans KR"/>
                <a:cs typeface="Noto Sans KR"/>
              </a:rPr>
              <a:t>X  </a:t>
            </a: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반사광 · 질감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133856" y="3931920"/>
          <a:ext cx="9966960" cy="23591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3291840"/>
                <a:gridCol w="5577840"/>
              </a:tblGrid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규칙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외곽선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쓰지 않음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수십 마리가 겹치면 선이 화면을 뒤덮음 → 면의 명도 차로 구분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단색 면 (그라데이션·질감·반사광 금지)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대상이 위치마다 다른 색이면 색 역할이 무너짐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금(크랙)과 파손에만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선이 귀해야 금 하나로 '부술 수 있는 벽'이 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모서리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모든 형태를 둥글게 (UI 22px)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위험은 색으로만 알리므로 형태는 모두 순하게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3/4 탑다운, 세로 압축 0.85 (약 58°)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바닥이 넓게 보여 쥐 떼와 벽 너머 길이 함께 보임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680960" y="2377440"/>
            <a:ext cx="3474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O 하나만 허용: 단색 면 + 발밑 타원 그림자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참고: Untitled Goose Game 식 플랫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Oval 9"/>
          <p:cNvSpPr/>
          <p:nvPr/>
        </p:nvSpPr>
        <p:spPr>
          <a:xfrm>
            <a:off x="1600200" y="4297680"/>
            <a:ext cx="2834640" cy="457200"/>
          </a:xfrm>
          <a:prstGeom prst="ellipse">
            <a:avLst/>
          </a:prstGeom>
          <a:solidFill>
            <a:srgbClr val="4B4540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비주얼 스타일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빛과 그림자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광원은 화면 위쪽 하나로 고정 — 그림자는 '바닥에 붙었나, 떴나'를 알려주는 유일한 단서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423160"/>
            <a:ext cx="2377440" cy="502920"/>
          </a:xfrm>
          <a:prstGeom prst="rect">
            <a:avLst/>
          </a:prstGeom>
          <a:solidFill>
            <a:srgbClr val="F7E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926080"/>
            <a:ext cx="2377440" cy="1188720"/>
          </a:xfrm>
          <a:prstGeom prst="rect">
            <a:avLst/>
          </a:prstGeom>
          <a:solidFill>
            <a:srgbClr val="D9C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114800"/>
            <a:ext cx="2377440" cy="320040"/>
          </a:xfrm>
          <a:prstGeom prst="rect">
            <a:avLst/>
          </a:prstGeom>
          <a:solidFill>
            <a:srgbClr val="B2A0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0" y="2651760"/>
            <a:ext cx="365760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09160" y="25146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윗면 : 명도 +12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97680" y="3474720"/>
            <a:ext cx="365760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09160" y="33375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기본 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97680" y="4251960"/>
            <a:ext cx="365760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09160" y="41148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아랫면 : 명도 −15, 채도 +5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97680" y="4754880"/>
            <a:ext cx="365760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09160" y="46177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그림자 : 먹색 18%, 높이 = 폭의 22%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1488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☀ 광원 : 화면 위쪽 고정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2402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단계별 명암 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974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D1 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2743200"/>
            <a:ext cx="292608" cy="274320"/>
          </a:xfrm>
          <a:prstGeom prst="rect">
            <a:avLst/>
          </a:prstGeom>
          <a:solidFill>
            <a:srgbClr val="EBD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9921240" y="2743200"/>
            <a:ext cx="292608" cy="274320"/>
          </a:xfrm>
          <a:prstGeom prst="rect">
            <a:avLst/>
          </a:prstGeom>
          <a:solidFill>
            <a:srgbClr val="C7B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26974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1546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D2 부서지는 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3200400"/>
            <a:ext cx="292608" cy="274320"/>
          </a:xfrm>
          <a:prstGeom prst="rect">
            <a:avLst/>
          </a:prstGeom>
          <a:solidFill>
            <a:srgbClr val="EBD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921240" y="3200400"/>
            <a:ext cx="292608" cy="274320"/>
          </a:xfrm>
          <a:prstGeom prst="rect">
            <a:avLst/>
          </a:prstGeom>
          <a:solidFill>
            <a:srgbClr val="C7B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10241280" y="3200400"/>
            <a:ext cx="292608" cy="274320"/>
          </a:xfrm>
          <a:prstGeom prst="rect">
            <a:avLst/>
          </a:prstGeom>
          <a:solidFill>
            <a:srgbClr val="A39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31546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6118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D3 길이 되는 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3657600"/>
            <a:ext cx="292608" cy="274320"/>
          </a:xfrm>
          <a:prstGeom prst="rect">
            <a:avLst/>
          </a:prstGeom>
          <a:solidFill>
            <a:srgbClr val="EBD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9921240" y="3657600"/>
            <a:ext cx="292608" cy="274320"/>
          </a:xfrm>
          <a:prstGeom prst="rect">
            <a:avLst/>
          </a:prstGeom>
          <a:solidFill>
            <a:srgbClr val="C7B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36118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2단 + 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0690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D4 무대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4114800"/>
            <a:ext cx="292608" cy="274320"/>
          </a:xfrm>
          <a:prstGeom prst="rect">
            <a:avLst/>
          </a:prstGeom>
          <a:solidFill>
            <a:srgbClr val="EBD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4069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0~1단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5262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D5 아이콘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4572000"/>
            <a:ext cx="292608" cy="274320"/>
          </a:xfrm>
          <a:prstGeom prst="rect">
            <a:avLst/>
          </a:prstGeom>
          <a:solidFill>
            <a:srgbClr val="EBD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45262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" y="525780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광원을 고정하면 아티스트마다 그림자 방향이 달라지는 일이 없고, 내려다보는 시점과도 맞음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발밑 타원 그림자는 쥐·물건·가구에 모두 넣음 (슈퍼점프·튕겨나감 때 떠 있는 높이가 보임) · 벽은 바닥에 붙어 있어 그림자 없음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비주얼 스타일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파괴 표현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'금이 늘어난다 = 곧 깨진다' 하나의 문법으로 가구와 벽을 모두 읽게 — 체력바 숫자는 띄우지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320040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작은 소품 (D2)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1016" y="2834640"/>
            <a:ext cx="594360" cy="594360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멀쩡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093975" y="3246120"/>
            <a:ext cx="182880" cy="182880"/>
          </a:xfrm>
          <a:prstGeom prst="rtTriangle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1" name="Right Triangle 10"/>
          <p:cNvSpPr/>
          <p:nvPr/>
        </p:nvSpPr>
        <p:spPr>
          <a:xfrm>
            <a:off x="2322575" y="3355848"/>
            <a:ext cx="182880" cy="182880"/>
          </a:xfrm>
          <a:prstGeom prst="rtTriangle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2" name="Right Triangle 11"/>
          <p:cNvSpPr/>
          <p:nvPr/>
        </p:nvSpPr>
        <p:spPr>
          <a:xfrm>
            <a:off x="2551175" y="3246120"/>
            <a:ext cx="182880" cy="182880"/>
          </a:xfrm>
          <a:prstGeom prst="rtTriangle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1095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+8.9 깨짐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84048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한 번에 깨짐, 조각은 원래 물건 색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가장 자주 깨지는 것이라 빠르고 가볍게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조각 색으로 무엇을 깼는지 흔적이 남음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7136" y="2286000"/>
            <a:ext cx="320040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가구 (D2)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54296" y="2834640"/>
            <a:ext cx="594360" cy="594360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멀쩡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31536" y="2834640"/>
            <a:ext cx="594360" cy="594360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68696" y="2926080"/>
            <a:ext cx="137160" cy="41148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24144" y="3063240"/>
            <a:ext cx="137160" cy="18288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94376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2834640"/>
            <a:ext cx="594360" cy="594360"/>
          </a:xfrm>
          <a:prstGeom prst="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45936" y="2926080"/>
            <a:ext cx="137160" cy="41148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01384" y="3063240"/>
            <a:ext cx="137160" cy="18288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656832" y="2926080"/>
            <a:ext cx="137160" cy="22860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12280" y="3063240"/>
            <a:ext cx="137160" cy="27432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67728" y="2926080"/>
            <a:ext cx="137160" cy="32004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71616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반파</a:t>
            </a:r>
          </a:p>
        </p:txBody>
      </p:sp>
      <p:sp>
        <p:nvSpPr>
          <p:cNvPr id="29" name="Right Triangle 28"/>
          <p:cNvSpPr/>
          <p:nvPr/>
        </p:nvSpPr>
        <p:spPr>
          <a:xfrm>
            <a:off x="7031736" y="3246120"/>
            <a:ext cx="182880" cy="182880"/>
          </a:xfrm>
          <a:prstGeom prst="rtTriangle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0" name="Right Triangle 29"/>
          <p:cNvSpPr/>
          <p:nvPr/>
        </p:nvSpPr>
        <p:spPr>
          <a:xfrm>
            <a:off x="7260336" y="3355848"/>
            <a:ext cx="182880" cy="182880"/>
          </a:xfrm>
          <a:prstGeom prst="rtTriangle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1" name="Right Triangle 30"/>
          <p:cNvSpPr/>
          <p:nvPr/>
        </p:nvSpPr>
        <p:spPr>
          <a:xfrm>
            <a:off x="7488936" y="3246120"/>
            <a:ext cx="182880" cy="182880"/>
          </a:xfrm>
          <a:prstGeom prst="rtTriangle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8856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부서짐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7136" y="384048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멀쩡 → 금 → 반파 → 부서짐 (3단계)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금이 늘어나는 것으로 '곧 깨진다' → 계속 때리게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부서지면 안에 든 물건이 쏟아짐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0416" y="2286000"/>
            <a:ext cx="320040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길이 되는 벽 (D3)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37576" y="2834640"/>
            <a:ext cx="594360" cy="594360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74736" y="2926080"/>
            <a:ext cx="137160" cy="41148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900416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처음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14816" y="2834640"/>
            <a:ext cx="594360" cy="594360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951976" y="2926080"/>
            <a:ext cx="137160" cy="41148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107424" y="3063240"/>
            <a:ext cx="137160" cy="18288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262872" y="2926080"/>
            <a:ext cx="137160" cy="22860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677656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맞는 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92056" y="2834640"/>
            <a:ext cx="594360" cy="594360"/>
          </a:xfrm>
          <a:prstGeom prst="rect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729216" y="2926080"/>
            <a:ext cx="137160" cy="41148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884664" y="3063240"/>
            <a:ext cx="137160" cy="18288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040112" y="2926080"/>
            <a:ext cx="137160" cy="22860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195560" y="3063240"/>
            <a:ext cx="137160" cy="27432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351008" y="2926080"/>
            <a:ext cx="137160" cy="32004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506456" y="3063240"/>
            <a:ext cx="137160" cy="91440"/>
          </a:xfrm>
          <a:prstGeom prst="line">
            <a:avLst/>
          </a:prstGeom>
          <a:ln w="19050">
            <a:solidFill>
              <a:srgbClr val="B8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454896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직전</a:t>
            </a:r>
          </a:p>
        </p:txBody>
      </p:sp>
      <p:sp>
        <p:nvSpPr>
          <p:cNvPr id="51" name="Right Triangle 50"/>
          <p:cNvSpPr/>
          <p:nvPr/>
        </p:nvSpPr>
        <p:spPr>
          <a:xfrm>
            <a:off x="10415016" y="3246120"/>
            <a:ext cx="182880" cy="182880"/>
          </a:xfrm>
          <a:prstGeom prst="rtTriangle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2" name="Right Triangle 51"/>
          <p:cNvSpPr/>
          <p:nvPr/>
        </p:nvSpPr>
        <p:spPr>
          <a:xfrm>
            <a:off x="10643616" y="3355848"/>
            <a:ext cx="182880" cy="182880"/>
          </a:xfrm>
          <a:prstGeom prst="rtTriangle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3" name="Right Triangle 52"/>
          <p:cNvSpPr/>
          <p:nvPr/>
        </p:nvSpPr>
        <p:spPr>
          <a:xfrm>
            <a:off x="10872216" y="3246120"/>
            <a:ext cx="182880" cy="182880"/>
          </a:xfrm>
          <a:prstGeom prst="rtTriangle">
            <a:avLst/>
          </a:prstGeom>
          <a:solidFill>
            <a:srgbClr val="D9C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32136" y="344728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열림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0416" y="384048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처음부터 금 1줄 → 시작 전에 '부술 수 있음'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가구와 같은 금 문법이라 따로 배울 필요 없음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무너지면 너머 구역의 가림이 걷힘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33856" y="5669280"/>
            <a:ext cx="9966960" cy="50292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공통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체력바 숫자 없음 · 금 선은 #B89F7E 한 색 → '금 = 부서짐'만 기억하면 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색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요소별 색 범위 ① 바닥 · 벽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무대는 가장 밝거나 가장 어둡게, 길이 되는 벽만 따뜻하게 — 색만으로 '막힘'과 '길'을 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2860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바닥 (D4)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6700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가장 밝고 가장 탁하게 — 위에 올라가는 모든 것이 바로 보임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331720"/>
            <a:ext cx="932688" cy="914400"/>
          </a:xfrm>
          <a:prstGeom prst="rect">
            <a:avLst/>
          </a:prstGeom>
          <a:solidFill>
            <a:srgbClr val="EEF0E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#EEF0EC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90·2·94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67528" y="2331720"/>
            <a:ext cx="932688" cy="914400"/>
          </a:xfrm>
          <a:prstGeom prst="rect">
            <a:avLst/>
          </a:prstGeom>
          <a:solidFill>
            <a:srgbClr val="F6EFE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#F6EFE2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39·8·96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91656" y="2331720"/>
            <a:ext cx="932688" cy="914400"/>
          </a:xfrm>
          <a:prstGeom prst="rect">
            <a:avLst/>
          </a:prstGeom>
          <a:solidFill>
            <a:srgbClr val="E2E6D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#E2E6DF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94·3·90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15783" y="2331720"/>
            <a:ext cx="932688" cy="914400"/>
          </a:xfrm>
          <a:prstGeom prst="rect">
            <a:avLst/>
          </a:prstGeom>
          <a:solidFill>
            <a:srgbClr val="E9E4D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#E9E4DA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40·6·91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233172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23042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30~100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20" y="265176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262432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2~12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297180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9443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82~97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33856" y="3547872"/>
            <a:ext cx="997610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33856" y="36576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부서지지 않는 벽 (D4)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40416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장면에서 가장 어둡고 무거움 — '막힘·끝'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703320"/>
            <a:ext cx="932688" cy="914400"/>
          </a:xfrm>
          <a:prstGeom prst="rect">
            <a:avLst/>
          </a:prstGeom>
          <a:solidFill>
            <a:srgbClr val="7F7A7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#7F7A73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35·9·50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67528" y="3703320"/>
            <a:ext cx="932688" cy="914400"/>
          </a:xfrm>
          <a:prstGeom prst="rect">
            <a:avLst/>
          </a:prstGeom>
          <a:solidFill>
            <a:srgbClr val="9C968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#9C968E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34·9·61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91656" y="3703320"/>
            <a:ext cx="932688" cy="914400"/>
          </a:xfrm>
          <a:prstGeom prst="rect">
            <a:avLst/>
          </a:prstGeom>
          <a:solidFill>
            <a:srgbClr val="8A847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#8A847C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34·10·54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6920" y="370332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675887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25~40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4023359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3995927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5~12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434340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43159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45~65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33856" y="4919472"/>
            <a:ext cx="997610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33856" y="50292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길이 되는 벽 (D3)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" y="54132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어두운 벽 사이에서 밝고 따뜻하게 튐 — '열 수 있음' (금 선 #B89F7E만 예외)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5074920"/>
            <a:ext cx="932688" cy="914400"/>
          </a:xfrm>
          <a:prstGeom prst="rect">
            <a:avLst/>
          </a:prstGeom>
          <a:solidFill>
            <a:srgbClr val="D9C7A8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#D9C7A8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38·23·85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67528" y="5074920"/>
            <a:ext cx="932688" cy="914400"/>
          </a:xfrm>
          <a:prstGeom prst="rect">
            <a:avLst/>
          </a:prstGeom>
          <a:solidFill>
            <a:srgbClr val="E8DCC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#E8DCC4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40·16·91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91656" y="5074920"/>
            <a:ext cx="932688" cy="914400"/>
          </a:xfrm>
          <a:prstGeom prst="rect">
            <a:avLst/>
          </a:prstGeom>
          <a:solidFill>
            <a:srgbClr val="DDD0B8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#DDD0B8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39·17·87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15783" y="5074920"/>
            <a:ext cx="932688" cy="914400"/>
          </a:xfrm>
          <a:prstGeom prst="rect">
            <a:avLst/>
          </a:prstGeom>
          <a:solidFill>
            <a:srgbClr val="B89F7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#B89F7E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34·32·72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46920" y="507492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50474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30~45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46920" y="5394959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5367527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10~23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46920" y="571500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12680" y="56875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84~94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색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요소별 색 범위 ② 쥐 · 오브젝트 · 보상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쥐는 자연색, 돈이 되는 것은 파스텔, 돈 그 자체는 가장 진한 노랑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2860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(D1)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6700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실제 쥐 털색 — 등급은 몸이 아니라 발밑 고리로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331720"/>
            <a:ext cx="932688" cy="914400"/>
          </a:xfrm>
          <a:prstGeom prst="rect">
            <a:avLst/>
          </a:prstGeom>
          <a:solidFill>
            <a:srgbClr val="F3EEE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#F3EEE6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37·5·95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67528" y="2331720"/>
            <a:ext cx="932688" cy="914400"/>
          </a:xfrm>
          <a:prstGeom prst="rect">
            <a:avLst/>
          </a:prstGeom>
          <a:solidFill>
            <a:srgbClr val="C9B8A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#C9B8A6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31·17·79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91656" y="2331720"/>
            <a:ext cx="932688" cy="914400"/>
          </a:xfrm>
          <a:prstGeom prst="rect">
            <a:avLst/>
          </a:prstGeom>
          <a:solidFill>
            <a:srgbClr val="8C7A6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#8C7A6B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27·24·55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15783" y="2331720"/>
            <a:ext cx="932688" cy="914400"/>
          </a:xfrm>
          <a:prstGeom prst="rect">
            <a:avLst/>
          </a:prstGeom>
          <a:solidFill>
            <a:srgbClr val="4F484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#4F4842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28·16·31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233172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23042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20~40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20" y="265176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262432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5~35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297180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9443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30~96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33856" y="3547872"/>
            <a:ext cx="997610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33856" y="36576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부서지는 것 (D2)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40416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배경보다 진하고 보상보다 연한 파스텔 — 가구는 면적이 커서 채도 40 이하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703320"/>
            <a:ext cx="932688" cy="914400"/>
          </a:xfrm>
          <a:prstGeom prst="rect">
            <a:avLst/>
          </a:prstGeom>
          <a:solidFill>
            <a:srgbClr val="BFE3E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#BFE3EA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190·18·92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67528" y="3703320"/>
            <a:ext cx="932688" cy="914400"/>
          </a:xfrm>
          <a:prstGeom prst="rect">
            <a:avLst/>
          </a:prstGeom>
          <a:solidFill>
            <a:srgbClr val="9DD5A8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#9DD5A8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132·26·84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91656" y="3703320"/>
            <a:ext cx="932688" cy="914400"/>
          </a:xfrm>
          <a:prstGeom prst="rect">
            <a:avLst/>
          </a:prstGeom>
          <a:solidFill>
            <a:srgbClr val="C8A27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#C8A27A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31·39·78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15783" y="3703320"/>
            <a:ext cx="932688" cy="914400"/>
          </a:xfrm>
          <a:prstGeom prst="rect">
            <a:avLst/>
          </a:prstGeom>
          <a:solidFill>
            <a:srgbClr val="8FB3C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#8FB3C7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201·28·78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9912" y="3703320"/>
            <a:ext cx="932688" cy="914400"/>
          </a:xfrm>
          <a:prstGeom prst="rect">
            <a:avLst/>
          </a:prstGeom>
          <a:solidFill>
            <a:srgbClr val="CDB4D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#CDB4DB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278·18·86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370332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3675887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자유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4023359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3995927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20~45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434340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43159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60~93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33856" y="4919472"/>
            <a:ext cx="997610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133856" y="50292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보상 (치즈·재화)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" y="54132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화면에서 가장 진한 노랑 — 돈이 생길 때만 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5074920"/>
            <a:ext cx="932688" cy="914400"/>
          </a:xfrm>
          <a:prstGeom prst="rect">
            <a:avLst/>
          </a:prstGeom>
          <a:solidFill>
            <a:srgbClr val="F2C14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#F2C14E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42·68·95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67528" y="5074920"/>
            <a:ext cx="932688" cy="914400"/>
          </a:xfrm>
          <a:prstGeom prst="rect">
            <a:avLst/>
          </a:prstGeom>
          <a:solidFill>
            <a:srgbClr val="E6B35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#E6B35A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38·61·90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91656" y="5074920"/>
            <a:ext cx="932688" cy="914400"/>
          </a:xfrm>
          <a:prstGeom prst="rect">
            <a:avLst/>
          </a:prstGeom>
          <a:solidFill>
            <a:srgbClr val="FFF3B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#FFF3BF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49·25·100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46920" y="507492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50474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38~48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394959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5367527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55~75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46920" y="571500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80" y="56875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88~98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색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요소별 색 범위 ③ 위험 · UI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빨강 계열은 위험에만, UI는 종이와 먹 — 같은 의미에는 늘 같은 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2860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위험 (고양이·경비·덫)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6700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유일한 빨강 계열 — 장식에 쓰지 않아야 '피해라'로 읽힘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331720"/>
            <a:ext cx="932688" cy="914400"/>
          </a:xfrm>
          <a:prstGeom prst="rect">
            <a:avLst/>
          </a:prstGeom>
          <a:solidFill>
            <a:srgbClr val="C9745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#C9745B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14·55·79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67528" y="2331720"/>
            <a:ext cx="932688" cy="914400"/>
          </a:xfrm>
          <a:prstGeom prst="rect">
            <a:avLst/>
          </a:prstGeom>
          <a:solidFill>
            <a:srgbClr val="E8786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#E8786A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7·54·91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91656" y="2331720"/>
            <a:ext cx="932688" cy="914400"/>
          </a:xfrm>
          <a:prstGeom prst="rect">
            <a:avLst/>
          </a:prstGeom>
          <a:solidFill>
            <a:srgbClr val="D9786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#D9786A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8·51·85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46920" y="233172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23042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0~15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46920" y="265176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262432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45~65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20" y="297180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9443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72~92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33856" y="3547872"/>
            <a:ext cx="997610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33856" y="36576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UI 패널·글자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40416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종이와 먹 — 순흑·순백 대신 따뜻한 갈색 기운, 오래 켜둬도 덜 피곤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703320"/>
            <a:ext cx="932688" cy="914400"/>
          </a:xfrm>
          <a:prstGeom prst="rect">
            <a:avLst/>
          </a:prstGeom>
          <a:solidFill>
            <a:srgbClr val="FBF7E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#FBF7EF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40·5·98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67528" y="3703320"/>
            <a:ext cx="932688" cy="914400"/>
          </a:xfrm>
          <a:prstGeom prst="rect">
            <a:avLst/>
          </a:prstGeom>
          <a:solidFill>
            <a:srgbClr val="F6EFE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#F6EFE2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39·8·96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91656" y="3703320"/>
            <a:ext cx="932688" cy="914400"/>
          </a:xfrm>
          <a:prstGeom prst="rect">
            <a:avLst/>
          </a:prstGeom>
          <a:solidFill>
            <a:srgbClr val="7D746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#7D746B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30·14·49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15783" y="3703320"/>
            <a:ext cx="932688" cy="914400"/>
          </a:xfrm>
          <a:prstGeom prst="rect">
            <a:avLst/>
          </a:prstGeom>
          <a:solidFill>
            <a:srgbClr val="4B454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#4B4540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27·15·29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39912" y="3703320"/>
            <a:ext cx="932688" cy="914400"/>
          </a:xfrm>
          <a:prstGeom prst="rect">
            <a:avLst/>
          </a:prstGeom>
          <a:solidFill>
            <a:srgbClr val="3C322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#3C322D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20·25·24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46920" y="370332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675887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25~40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4023359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3995927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4~18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46920" y="434340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43159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23~98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33856" y="4919472"/>
            <a:ext cx="997610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33856" y="50292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UI 상태색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" y="5413248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긍정 · 진행 · 경고 · 정보 — 같은 의미에는 항상 같은 색 4개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5074920"/>
            <a:ext cx="932688" cy="914400"/>
          </a:xfrm>
          <a:prstGeom prst="rect">
            <a:avLst/>
          </a:prstGeom>
          <a:solidFill>
            <a:srgbClr val="8FA98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#8FA98B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112·18·66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67528" y="5074920"/>
            <a:ext cx="932688" cy="914400"/>
          </a:xfrm>
          <a:prstGeom prst="rect">
            <a:avLst/>
          </a:prstGeom>
          <a:solidFill>
            <a:srgbClr val="E6B35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#E6B35A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38·61·90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91656" y="5074920"/>
            <a:ext cx="932688" cy="914400"/>
          </a:xfrm>
          <a:prstGeom prst="rect">
            <a:avLst/>
          </a:prstGeom>
          <a:solidFill>
            <a:srgbClr val="C9745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#C9745B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14·55·79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15783" y="5074920"/>
            <a:ext cx="932688" cy="914400"/>
          </a:xfrm>
          <a:prstGeom prst="rect">
            <a:avLst/>
          </a:prstGeom>
          <a:solidFill>
            <a:srgbClr val="8FB3C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#8FB3C7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201·28·78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46920" y="507492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50474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4색 고정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394959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5367527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18~61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46920" y="5715000"/>
            <a:ext cx="320040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80" y="56875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66~90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" y="6089904"/>
            <a:ext cx="3017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글자용 진한 상태색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43400" y="6089904"/>
            <a:ext cx="274320" cy="256032"/>
          </a:xfrm>
          <a:prstGeom prst="rect">
            <a:avLst/>
          </a:prstGeom>
          <a:solidFill>
            <a:srgbClr val="6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0" y="6071616"/>
            <a:ext cx="17373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긍정 글자 #6F8A6B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6089904"/>
            <a:ext cx="274320" cy="256032"/>
          </a:xfrm>
          <a:prstGeom prst="rect">
            <a:avLst/>
          </a:prstGeom>
          <a:solidFill>
            <a:srgbClr val="AD5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6071616"/>
            <a:ext cx="17373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경고 글자 #AD5C45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6071616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종이 바탕 위 글자만 한 단계 진하게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색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채도 × 명도 지도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오른쪽 위(진하고 밝은 칸)는 보상과 위험만 쓴다 — 화면에서 가장 먼저 봐야 할 두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2560320"/>
            <a:ext cx="54864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91640" y="6080760"/>
            <a:ext cx="0" cy="54864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463040" y="61264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9710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88920" y="6080760"/>
            <a:ext cx="0" cy="54864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60320" y="61264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26694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86200" y="6080760"/>
            <a:ext cx="0" cy="54864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57600" y="61264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562855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6080760"/>
            <a:ext cx="0" cy="54864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54880" y="61264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587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6080760"/>
            <a:ext cx="0" cy="54864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52160" y="61264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154679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78040" y="6080760"/>
            <a:ext cx="0" cy="54864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49440" y="61264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450591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63367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채도 S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2240279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명도 V 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2701137"/>
            <a:ext cx="1645920" cy="2323490"/>
          </a:xfrm>
          <a:prstGeom prst="rect">
            <a:avLst/>
          </a:prstGeom>
          <a:solidFill>
            <a:srgbClr val="8C7A6B">
              <a:alpha val="12000"/>
            </a:srgbClr>
          </a:solidFill>
          <a:ln w="12700">
            <a:solidFill>
              <a:srgbClr val="8C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93392" y="4727448"/>
            <a:ext cx="41148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01368" y="2665933"/>
            <a:ext cx="548640" cy="528066"/>
          </a:xfrm>
          <a:prstGeom prst="rect">
            <a:avLst/>
          </a:prstGeom>
          <a:solidFill>
            <a:srgbClr val="C9CFC6">
              <a:alpha val="60000"/>
            </a:srgbClr>
          </a:solidFill>
          <a:ln w="12700">
            <a:solidFill>
              <a:srgbClr val="C9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10512" y="2679192"/>
            <a:ext cx="429768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바닥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5960" y="3792474"/>
            <a:ext cx="384048" cy="704088"/>
          </a:xfrm>
          <a:prstGeom prst="rect">
            <a:avLst/>
          </a:prstGeom>
          <a:solidFill>
            <a:srgbClr val="7F7A73">
              <a:alpha val="60000"/>
            </a:srgbClr>
          </a:solidFill>
          <a:ln w="12700">
            <a:solidFill>
              <a:srgbClr val="7F7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47672" y="3985412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불가 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59736" y="4355744"/>
            <a:ext cx="603504" cy="915314"/>
          </a:xfrm>
          <a:prstGeom prst="rect">
            <a:avLst/>
          </a:prstGeom>
          <a:solidFill>
            <a:srgbClr val="4B4540">
              <a:alpha val="55000"/>
            </a:srgbClr>
          </a:solidFill>
          <a:ln w="12700">
            <a:solidFill>
              <a:srgbClr val="4B4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41448" y="461205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글자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40280" y="2771546"/>
            <a:ext cx="713232" cy="352044"/>
          </a:xfrm>
          <a:prstGeom prst="rect">
            <a:avLst/>
          </a:prstGeom>
          <a:solidFill>
            <a:srgbClr val="D9C7A8">
              <a:alpha val="85000"/>
            </a:srgbClr>
          </a:solidFill>
          <a:ln w="12700">
            <a:solidFill>
              <a:srgbClr val="D9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58568" y="2807208"/>
            <a:ext cx="54864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길 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2806750"/>
            <a:ext cx="1371600" cy="1161745"/>
          </a:xfrm>
          <a:prstGeom prst="rect">
            <a:avLst/>
          </a:prstGeom>
          <a:solidFill>
            <a:srgbClr val="9DD5A8">
              <a:alpha val="55000"/>
            </a:srgbClr>
          </a:solidFill>
          <a:ln w="12700">
            <a:solidFill>
              <a:srgbClr val="9D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07791" y="331124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부서지는 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2841955"/>
            <a:ext cx="1097280" cy="704088"/>
          </a:xfrm>
          <a:prstGeom prst="rect">
            <a:avLst/>
          </a:prstGeom>
          <a:solidFill>
            <a:srgbClr val="D9786A">
              <a:alpha val="70000"/>
            </a:srgbClr>
          </a:solidFill>
          <a:ln w="12700">
            <a:solidFill>
              <a:srgbClr val="D97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60" y="3105302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위험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630728"/>
            <a:ext cx="1097280" cy="352044"/>
          </a:xfrm>
          <a:prstGeom prst="rect">
            <a:avLst/>
          </a:prstGeom>
          <a:solidFill>
            <a:srgbClr val="F2C14E">
              <a:alpha val="85000"/>
            </a:srgbClr>
          </a:solidFill>
          <a:ln w="127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261244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86200" y="2560320"/>
            <a:ext cx="2468880" cy="528066"/>
          </a:xfrm>
          <a:prstGeom prst="rect">
            <a:avLst/>
          </a:prstGeom>
          <a:noFill/>
          <a:ln w="15875">
            <a:solidFill>
              <a:srgbClr val="E971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2240279"/>
            <a:ext cx="3291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점선 = 이펙트 (0.5초 안에 사라짐)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22402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읽는 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2606040"/>
            <a:ext cx="3520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오른쪽 위일수록 눈에 먼저 들어옴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바닥은 왼쪽 위(밝고 탁함), 불가 벽·글자는 왼쪽 아래(어둡고 탁함)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길 벽은 바닥 바로 옆 — 밝게 튀지만 '부서지는 것' 칸에는 안 들어감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4348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색을 추가할 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4800600"/>
            <a:ext cx="3520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먼저 이 지도에 찍어 칸 안인지 확인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칸 밖이면 칸을 넓히지 말고 색을 고침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보상·위험 칸에는 새 색을 추가하지 않음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색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층 구간별 색 변화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바닥은 다시 그리지 않고 '덧칠'만 바꾼다 — 구간마다 분위기를 바꾸되 정한 색 칸은 지킨다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1874519" cy="1371600"/>
          </a:xfrm>
          <a:prstGeom prst="rect">
            <a:avLst/>
          </a:prstGeom>
          <a:solidFill>
            <a:srgbClr val="EEF0EC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59736" y="3108960"/>
            <a:ext cx="411480" cy="411480"/>
          </a:xfrm>
          <a:prstGeom prst="roundRect">
            <a:avLst/>
          </a:prstGeom>
          <a:solidFill>
            <a:srgbClr val="B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2331720"/>
            <a:ext cx="1691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1~4층</a:t>
            </a:r>
          </a:p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지하 비밀 실험실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3200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덧칠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749039"/>
            <a:ext cx="187451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첫인상은 가장 차분하고 깨끗하게 — 쥐 떼가 망가뜨리는 대비가 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45536" y="2286000"/>
            <a:ext cx="1874519" cy="1371600"/>
          </a:xfrm>
          <a:prstGeom prst="rect">
            <a:avLst/>
          </a:prstGeom>
          <a:solidFill>
            <a:srgbClr val="EEF0EC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1416" y="3108960"/>
            <a:ext cx="411480" cy="411480"/>
          </a:xfrm>
          <a:prstGeom prst="roundRect">
            <a:avLst/>
          </a:prstGeom>
          <a:solidFill>
            <a:srgbClr val="C8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2331720"/>
            <a:ext cx="1691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5~9층</a:t>
            </a:r>
          </a:p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실험동물 사육동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6976" y="3200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덧칠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3749039"/>
            <a:ext cx="187451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바닥만 복도로 바꿔 '다른 건물'의 첫 변화, 덧칠은 아낌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57216" y="2286000"/>
            <a:ext cx="1874519" cy="1371600"/>
          </a:xfrm>
          <a:prstGeom prst="rect">
            <a:avLst/>
          </a:prstGeom>
          <a:solidFill>
            <a:srgbClr val="EEF0EC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157216" y="2286000"/>
            <a:ext cx="1874519" cy="1371600"/>
          </a:xfrm>
          <a:prstGeom prst="rect">
            <a:avLst/>
          </a:prstGeom>
          <a:solidFill>
            <a:srgbClr val="9DD5A8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3096" y="3108960"/>
            <a:ext cx="411480" cy="411480"/>
          </a:xfrm>
          <a:prstGeom prst="roundRect">
            <a:avLst/>
          </a:prstGeom>
          <a:solidFill>
            <a:srgbClr val="9DD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6" y="2331720"/>
            <a:ext cx="1691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10~14층</a:t>
            </a:r>
          </a:p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약품 연구동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656" y="3200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덧칠 #9DD5A8 16%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3749039"/>
            <a:ext cx="187451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늘어지기 쉬운 중반부에 처음으로 분위기 환기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68896" y="2286000"/>
            <a:ext cx="1874519" cy="1371600"/>
          </a:xfrm>
          <a:prstGeom prst="rect">
            <a:avLst/>
          </a:prstGeom>
          <a:solidFill>
            <a:srgbClr val="EEF0EC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7168896" y="2286000"/>
            <a:ext cx="1874519" cy="1371600"/>
          </a:xfrm>
          <a:prstGeom prst="rect">
            <a:avLst/>
          </a:prstGeom>
          <a:solidFill>
            <a:srgbClr val="8FB3C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94776" y="3108960"/>
            <a:ext cx="411480" cy="411480"/>
          </a:xfrm>
          <a:prstGeom prst="round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0336" y="2331720"/>
            <a:ext cx="1691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15~19층</a:t>
            </a:r>
          </a:p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전산·관리동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0336" y="3200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덧칠 #8FB3C7 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896" y="3749039"/>
            <a:ext cx="187451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막히는 층이 몰린 구간 — 차갑고 단단한 긴장감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0576" y="2286000"/>
            <a:ext cx="1874519" cy="1371600"/>
          </a:xfrm>
          <a:prstGeom prst="rect">
            <a:avLst/>
          </a:prstGeom>
          <a:solidFill>
            <a:srgbClr val="EEF0EC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9180576" y="2286000"/>
            <a:ext cx="1874519" cy="1371600"/>
          </a:xfrm>
          <a:prstGeom prst="rect">
            <a:avLst/>
          </a:prstGeom>
          <a:solidFill>
            <a:srgbClr val="E3C46A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06456" y="3108960"/>
            <a:ext cx="411480" cy="411480"/>
          </a:xfrm>
          <a:prstGeom prst="roundRect">
            <a:avLst/>
          </a:prstGeom>
          <a:solidFill>
            <a:srgbClr val="E3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2016" y="2331720"/>
            <a:ext cx="1691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20층~ </a:t>
            </a:r>
          </a:p>
          <a:p>
            <a:pPr algn="l"/>
            <a:r>
              <a:rPr sz="1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최상층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2016" y="3200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덧칠 #E3C46A 18%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0576" y="3749039"/>
            <a:ext cx="187451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보상색에 가까운 금빛 — 치즈 노랑과 헷갈리지 않게 18%까지 · 25 · 30층과 무한 모드는 다음 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" y="530352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카드 오른쪽 아래 = 그 구간 대표 물건색 · 견본의 덧칠은 보기 쉽게 실제의 2배 진하기로 표시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33856" y="5669280"/>
            <a:ext cx="9966960" cy="50292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덧칠 방식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일반 블렌딩 16~20% · 곱하기(Multiply)는 화면 전체를 어둡게 해 명도 칸이 무너지므로 쓰지 않음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색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등급별 색 변화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등급이 오를수록 채도가 오른다 — 색약 플레이어도 '진할수록 귀함'으로 순서를 읽는다</a:t>
            </a:r>
          </a:p>
        </p:txBody>
      </p:sp>
      <p:sp>
        <p:nvSpPr>
          <p:cNvPr id="7" name="Donut 6"/>
          <p:cNvSpPr/>
          <p:nvPr/>
        </p:nvSpPr>
        <p:spPr>
          <a:xfrm>
            <a:off x="1371600" y="2377440"/>
            <a:ext cx="1188720" cy="1188720"/>
          </a:xfrm>
          <a:prstGeom prst="donut">
            <a:avLst/>
          </a:prstGeom>
          <a:solidFill>
            <a:srgbClr val="A8A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4208" y="2670048"/>
            <a:ext cx="603504" cy="603504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6576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05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#A8A29A · S8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4343400"/>
            <a:ext cx="120249" cy="164592"/>
          </a:xfrm>
          <a:prstGeom prst="rect">
            <a:avLst/>
          </a:prstGeom>
          <a:solidFill>
            <a:srgbClr val="A8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2" name="Donut 11"/>
          <p:cNvSpPr/>
          <p:nvPr/>
        </p:nvSpPr>
        <p:spPr>
          <a:xfrm>
            <a:off x="3035808" y="2377440"/>
            <a:ext cx="1188720" cy="1188720"/>
          </a:xfrm>
          <a:prstGeom prst="donut">
            <a:avLst/>
          </a:prstGeom>
          <a:solidFill>
            <a:srgbClr val="7FA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28415" y="2670048"/>
            <a:ext cx="603504" cy="603504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36576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레어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4005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#7FA8BF · S34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81528" y="4343400"/>
            <a:ext cx="511061" cy="164592"/>
          </a:xfrm>
          <a:prstGeom prst="rect">
            <a:avLst/>
          </a:prstGeom>
          <a:solidFill>
            <a:srgbClr val="7F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" name="Donut 16"/>
          <p:cNvSpPr/>
          <p:nvPr/>
        </p:nvSpPr>
        <p:spPr>
          <a:xfrm>
            <a:off x="4700016" y="2377440"/>
            <a:ext cx="1188720" cy="1188720"/>
          </a:xfrm>
          <a:prstGeom prst="donut">
            <a:avLst/>
          </a:prstGeom>
          <a:solidFill>
            <a:srgbClr val="98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92624" y="2670048"/>
            <a:ext cx="603504" cy="603504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36576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에픽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4005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#9878C2 · S38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45736" y="4343400"/>
            <a:ext cx="571186" cy="164592"/>
          </a:xfrm>
          <a:prstGeom prst="rect">
            <a:avLst/>
          </a:prstGeom>
          <a:solidFill>
            <a:srgbClr val="987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2" name="Donut 21"/>
          <p:cNvSpPr/>
          <p:nvPr/>
        </p:nvSpPr>
        <p:spPr>
          <a:xfrm>
            <a:off x="6364224" y="2377440"/>
            <a:ext cx="1188720" cy="1188720"/>
          </a:xfrm>
          <a:prstGeom prst="donut">
            <a:avLst/>
          </a:prstGeom>
          <a:solidFill>
            <a:srgbClr val="C98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56832" y="2670048"/>
            <a:ext cx="603504" cy="603504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36576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유니크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7064" y="4005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#C9846E · S45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9944" y="4343400"/>
            <a:ext cx="676405" cy="164592"/>
          </a:xfrm>
          <a:prstGeom prst="rect">
            <a:avLst/>
          </a:prstGeom>
          <a:solidFill>
            <a:srgbClr val="C98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7" name="Donut 26"/>
          <p:cNvSpPr/>
          <p:nvPr/>
        </p:nvSpPr>
        <p:spPr>
          <a:xfrm>
            <a:off x="8028432" y="2377440"/>
            <a:ext cx="1188720" cy="1188720"/>
          </a:xfrm>
          <a:prstGeom prst="donut">
            <a:avLst/>
          </a:prstGeom>
          <a:solidFill>
            <a:srgbClr val="DDA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21040" y="2670048"/>
            <a:ext cx="603504" cy="603504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1272" y="36576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전설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2" y="4005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#DDA43C · S73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4343400"/>
            <a:ext cx="1097280" cy="164592"/>
          </a:xfrm>
          <a:prstGeom prst="rect">
            <a:avLst/>
          </a:prstGeom>
          <a:solidFill>
            <a:srgbClr val="DD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2" name="Donut 31"/>
          <p:cNvSpPr/>
          <p:nvPr/>
        </p:nvSpPr>
        <p:spPr>
          <a:xfrm>
            <a:off x="9692640" y="2377440"/>
            <a:ext cx="1188720" cy="1188720"/>
          </a:xfrm>
          <a:prstGeom prst="donut">
            <a:avLst/>
          </a:prstGeom>
          <a:solidFill>
            <a:srgbClr val="E0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85248" y="2670048"/>
            <a:ext cx="603504" cy="603504"/>
          </a:xfrm>
          <a:prstGeom prst="ellipse">
            <a:avLst/>
          </a:prstGeom>
          <a:solidFill>
            <a:srgbClr val="8C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36576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신화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4005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#E0705E · S58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38359" y="4343400"/>
            <a:ext cx="871811" cy="164592"/>
          </a:xfrm>
          <a:prstGeom prst="rect">
            <a:avLst/>
          </a:prstGeom>
          <a:solidFill>
            <a:srgbClr val="E07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455371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막대 = 채도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33856" y="4892040"/>
            <a:ext cx="3169920" cy="13716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1271016" y="502920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82495" y="4983479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몸이 아니라 발밑 고리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71016" y="5440679"/>
            <a:ext cx="289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몸을 등급색으로 칠하면 사탕처럼 보여 세계관이 깨짐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몸은 늘 실제 쥐 털색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32376" y="4892040"/>
            <a:ext cx="3169920" cy="13716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4669536" y="502920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81016" y="4983479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채도로 순서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9536" y="5440679"/>
            <a:ext cx="289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일반 S8 → 전설 S73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색상이 아니라 진하기로 귀함을 읽게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30896" y="4892040"/>
            <a:ext cx="3169920" cy="13716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47" name="Oval 46"/>
          <p:cNvSpPr/>
          <p:nvPr/>
        </p:nvSpPr>
        <p:spPr>
          <a:xfrm>
            <a:off x="8068056" y="502920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79536" y="4983479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신화는 반짝임 추가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68056" y="5440679"/>
            <a:ext cx="289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신화 색은 위험 빨강과 가까움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무지개 반짝임 이펙트를 더해 위험과 구분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색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로비(아지트) 색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차가운 연구소와 반대로 따뜻한 나무 — 판이 끝나고 돌아오면 '집에 왔다'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423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나무 판자 (상단 바·버튼)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2286000"/>
            <a:ext cx="841248" cy="777240"/>
          </a:xfrm>
          <a:prstGeom prst="rect">
            <a:avLst/>
          </a:prstGeom>
          <a:solidFill>
            <a:srgbClr val="8A6A5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#8A6A52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2286000"/>
            <a:ext cx="841248" cy="777240"/>
          </a:xfrm>
          <a:prstGeom prst="rect">
            <a:avLst/>
          </a:prstGeom>
          <a:solidFill>
            <a:srgbClr val="6F544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#6F5442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286000"/>
            <a:ext cx="841248" cy="777240"/>
          </a:xfrm>
          <a:prstGeom prst="rect">
            <a:avLst/>
          </a:prstGeom>
          <a:solidFill>
            <a:srgbClr val="C69A7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#C69A72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286000"/>
            <a:ext cx="841248" cy="777240"/>
          </a:xfrm>
          <a:prstGeom prst="rect">
            <a:avLst/>
          </a:prstGeom>
          <a:solidFill>
            <a:srgbClr val="B07E5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#B07E57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331720"/>
            <a:ext cx="3520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쥐구멍 아지트 = 나무. 나무결·베벨 없이 두 톤 면으로만 칠해 플랫 스타일 유지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33856" y="3182112"/>
            <a:ext cx="997610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33856" y="34290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바탕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3291840"/>
            <a:ext cx="841248" cy="777240"/>
          </a:xfrm>
          <a:prstGeom prst="rect">
            <a:avLst/>
          </a:prstGeom>
          <a:solidFill>
            <a:srgbClr val="EFE3C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#EFE3CF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337560"/>
            <a:ext cx="3520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가장자리 갈색 비네트 — 차가운 연구소와 대비되는 따뜻함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33856" y="4187952"/>
            <a:ext cx="997610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33856" y="44348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재화 표시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4297680"/>
            <a:ext cx="841248" cy="777240"/>
          </a:xfrm>
          <a:prstGeom prst="rect">
            <a:avLst/>
          </a:prstGeom>
          <a:solidFill>
            <a:srgbClr val="3C322D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#3C322D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343400"/>
            <a:ext cx="3520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어두운 알약 위 흰 숫자 → 밝은 나무 배경 위에서 재화가 가장 먼저 보임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33856" y="5193792"/>
            <a:ext cx="997610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33856" y="5440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출발 버튼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5303520"/>
            <a:ext cx="841248" cy="777240"/>
          </a:xfrm>
          <a:prstGeom prst="rect">
            <a:avLst/>
          </a:prstGeom>
          <a:solidFill>
            <a:srgbClr val="B07E5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#B07E57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5303520"/>
            <a:ext cx="841248" cy="777240"/>
          </a:xfrm>
          <a:prstGeom prst="rect">
            <a:avLst/>
          </a:prstGeom>
          <a:solidFill>
            <a:srgbClr val="8A604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#8A6040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349240"/>
            <a:ext cx="3520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로비에서 가장 크고 진한 나무 + 아래 그림자 띠 — 최종 목적지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비주얼 스타일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리소스 규격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크기가 곧 정보 — 숫자를 보지 않아도 크기로 가치와 위험을 읽게 규격을 나눈다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286000"/>
          <a:ext cx="9966960" cy="38679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4023360"/>
                <a:gridCol w="4480560"/>
              </a:tblGrid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규격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원본 128px · 화면 48~72px · 종마다 소품 1개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30~70마리가 동시에 보이는 크기에서 실루엣이 읽혀야 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사람·고양이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쥐의 2~3배 · 무채색 옷 + 추격 시 위험색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평소엔 장애물, 추격 중일 때만 위험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작은 소품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소·중 2단계 (96 / 160px) · 조각 스프라이트 1장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크기가 곧 가치 — 노릴 대상을 바로 고름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 (256px 이상) · 파손 3단계 스프라이트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소품보다 크고 비싸고 단단함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길이 되는 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격자 1칸 모듈 · 파손 3단계 + 잔해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맵 생성 때 어느 벽이든 교체 가능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바닥·불가 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256px 격자 타일 1종 + 구간별 덧칠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구간마다 새로 그리지 않고 색만 바꿔 절약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UI 아이콘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64px · 면 1색 + 포인트 1색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작은 크기에서도 형태가 뭉개지지 않음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이펙트 도형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 · 고리 · 삼각 조각 · 별 4종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색만 바꿔 재사용 — 색은 상황 색을 따름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폰트와 텍스트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외침은 주아, 설명은 고운돋움, 숫자는 IBM Plex — 폰트만 봐도 글의 역할을 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320040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주아 (Jua)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97480"/>
            <a:ext cx="3200400" cy="1005840"/>
          </a:xfrm>
          <a:prstGeom prst="rect">
            <a:avLst/>
          </a:prstGeom>
          <a:solidFill>
            <a:srgbClr val="FBF7E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와장창!!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7673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제목 · 배너 · 버튼 · 등급 이름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4114800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둥글고 굵음 — 외침에 감정이 실림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둥근 UI와 같은 모양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길면 읽기 어려워 2~8자 짧은 말에만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2286000"/>
            <a:ext cx="320040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고운돋움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7136" y="2697480"/>
            <a:ext cx="3200400" cy="1005840"/>
          </a:xfrm>
          <a:prstGeom prst="rect">
            <a:avLst/>
          </a:prstGeom>
          <a:solidFill>
            <a:srgbClr val="FBF7E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레어 쥐가 태어났다!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37673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본문 · 설명 · 알림 · 말풍선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4114800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부드럽고 가벼워 따뜻한 톤과 맞음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굵기가 하나라 강조는 색(테라)으로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최소 13px (1080 기준)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0416" y="2286000"/>
            <a:ext cx="320040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IBM Plex Sans KR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0416" y="2697480"/>
            <a:ext cx="3200400" cy="1005840"/>
          </a:xfrm>
          <a:prstGeom prst="rect">
            <a:avLst/>
          </a:prstGeom>
          <a:solidFill>
            <a:srgbClr val="FBF7E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1,234.5K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0416" y="37673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모든 숫자 (600 / 700)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4114800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숫자 폭이 일정 — 치즈가 초당 수십 번 바뀌어도 안 흔들림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TMP &lt;mspace&gt;로 폭 고정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5669280"/>
            <a:ext cx="9966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세 폰트 모두 SIL OFL (무료 상업 사용) · 견본은 폰트가 설치된 환경에서 정확히 보임 · 고운돋움은 KS X 1001 2,350자 + 게임 사용 글자로 정적 아틀라스, 나머지는 동적 폴백</a:t>
            </a:r>
          </a:p>
          <a:p>
            <a:pPr algn="l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주아에 없는 기호(① ♪ ▶ — 「」 등)는 쓰지 않음 — 구운 글꼴에 없어 글자가 깨짐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텍스트별 폰트와 색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00200"/>
          <a:ext cx="9966960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1463040"/>
                <a:gridCol w="914400"/>
                <a:gridCol w="1051560"/>
                <a:gridCol w="47091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텍스트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폰트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크기 px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색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의도와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층·화면 제목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Jua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36~48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#4B4540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4B4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종이 패널 위 짧은 제목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콤보·이벤트 배너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Jua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64~96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단계색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콤보 단계마다 차가운 색 → 따뜻한 색 (이펙트 강도 단계 장) · 굵은 테두리 필수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결과 제목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Jua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40~56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#6F8A6B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6F8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갱신 세이지 / 미갱신 먹색 — 색으로 먼저 알림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버튼 글자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Jua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20~30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#FFFFFF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채도 있는 버튼 면 위라 흰 글자 대비 충분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등급 이름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Jua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16~20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#9878C2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878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등급 6색과 같은 색 — 이름과 색을 함께 외움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본문·설명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Gowun Dodum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16~20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#4B4540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4B4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순흑 대신 먹색으로 눈의 피로를 줄임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보조 설명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Gowun Dodum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13~15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#7D746B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7D74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덜 중요한 정보는 연하게 → 정보 순서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알림·말풍선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Gowun Dodum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15~18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#4B4540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4B4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패널·말풍선 배경 위라 테두리 불필요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재화 숫자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IBM Plex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26~34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#4B4540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4B4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HUD에서 가장 크고 가장 자주 보는 숫자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증감 숫자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IBM Plex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14~16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#6F8A6B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6F8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 초록 #6F8A6B / − 테라 #AD5C45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떠오르는 수입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IBM Plex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18~26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#F2C14E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C1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보상색 그대로 + 테두리, 큰 물건일수록 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" y="626364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배너·떠오르는 수입처럼 게임 화면 위에 바로 뜨는 글자만 테두리를 씀 (바닥색이 계속 바뀌기 때문)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이펙트 원칙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이펙트의 크기 = 일의 중요도 — 작은 일에 큰 이펙트를 쓰면 정작 큰일이 묻힌다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1271016" y="24231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495" y="23774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보상·중요도에 비례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" y="283464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크면 '중요한 일'로 읽힘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강도 단계 L0~L5로 통일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2376" y="228600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4669536" y="24231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1016" y="23774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플랫 도형만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9536" y="283464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원 · 고리 · 삼각 조각 · 별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글로우 대신 흰색 덧칠 0.08초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0896" y="228600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8068056" y="24231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9536" y="23774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색은 팔레트에서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8056" y="283464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돈 = 치즈 노랑, 위험 = 테라, 등급 = 등급색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색만 봐도 무슨 일인지 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3856" y="429768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1271016" y="443484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495" y="438912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L4 이상은 한 번에 1개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" y="484632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필살기와 보스가 겹치면 둘 다 안 보임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큐에 넣고 차례로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2376" y="429768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4669536" y="443484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1016" y="438912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0.3초 안 같은 단계는 합침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9536" y="484632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30마리가 동시에 깨면 이펙트도 30개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합쳐서 한 번 크게 (성능 + 가독성)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30896" y="4297680"/>
            <a:ext cx="3169920" cy="17830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8" name="Oval 27"/>
          <p:cNvSpPr/>
          <p:nvPr/>
        </p:nvSpPr>
        <p:spPr>
          <a:xfrm>
            <a:off x="8068056" y="443484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9536" y="438912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흔들림·번쩍임 옵션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8056" y="4846320"/>
            <a:ext cx="28956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흔들림 끄기 · 번쩍임 줄이기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오래 켜두는 게임의 기본 접근성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이펙트 강도 단계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6단계로 나눠 '얼마나 자주 나오나'와 '얼마나 큰가'를 반비례시킨다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길이 (0~3초)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468880"/>
            <a:ext cx="640080" cy="411480"/>
          </a:xfrm>
          <a:prstGeom prst="rect">
            <a:avLst/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L0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46888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클릭 · 쥐가 물건 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468880"/>
            <a:ext cx="3566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흙먼지 3~5개 · 흰 반짝 0.08초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560320"/>
            <a:ext cx="79248" cy="228600"/>
          </a:xfrm>
          <a:prstGeom prst="rect">
            <a:avLst/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91727" y="249631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0.1s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3856" y="2971800"/>
            <a:ext cx="640080" cy="411480"/>
          </a:xfrm>
          <a:prstGeom prst="rect">
            <a:avLst/>
          </a:prstGeom>
          <a:solidFill>
            <a:srgbClr val="F3D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7180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작은 물건 부숨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971800"/>
            <a:ext cx="3566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조각 6~10개 · +수입 숫자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3063240"/>
            <a:ext cx="277367" cy="228600"/>
          </a:xfrm>
          <a:prstGeom prst="rect">
            <a:avLst/>
          </a:prstGeom>
          <a:solidFill>
            <a:srgbClr val="F3D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9847" y="299923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0.35s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33856" y="3474720"/>
            <a:ext cx="640080" cy="411480"/>
          </a:xfrm>
          <a:prstGeom prst="rect">
            <a:avLst/>
          </a:prstGeom>
          <a:solidFill>
            <a:srgbClr val="EFC2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47472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큰 물건 부숨 · 레어 탄생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474720"/>
            <a:ext cx="3566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조각 14개 · 고리 1개 · 큰 숫자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3566160"/>
            <a:ext cx="475488" cy="228600"/>
          </a:xfrm>
          <a:prstGeom prst="rect">
            <a:avLst/>
          </a:prstGeom>
          <a:solidFill>
            <a:srgbClr val="EFC2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35021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0.6s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33856" y="3977640"/>
            <a:ext cx="640080" cy="411480"/>
          </a:xfrm>
          <a:prstGeom prst="rect">
            <a:avLst/>
          </a:prstGeom>
          <a:solidFill>
            <a:srgbClr val="EB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L3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97764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콤보 · 승급 · 벽 뚫기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977640"/>
            <a:ext cx="3566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배너 · 화면 번쩍 15% · 고리 2개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4069080"/>
            <a:ext cx="950976" cy="228600"/>
          </a:xfrm>
          <a:prstGeom prst="rect">
            <a:avLst/>
          </a:prstGeom>
          <a:solidFill>
            <a:srgbClr val="EBA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5" y="400507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1.2s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33856" y="4480560"/>
            <a:ext cx="64008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L4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48056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필살기 · 보스 · 전설 탄생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480560"/>
            <a:ext cx="3566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배경 어둡게 40% · 컷 연출 · 줌인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66760" y="4572000"/>
            <a:ext cx="1584960" cy="2286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7440" y="450799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2.0s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33856" y="4983480"/>
            <a:ext cx="640080" cy="411480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L5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498348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슈퍼점프 · 경보 · 붙잡힘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983480"/>
            <a:ext cx="3566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만화 컷인 · 사이렌 비네트 · 화면 전체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5074920"/>
            <a:ext cx="2377440" cy="228600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19" y="501091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3.0s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" y="55778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콤보 배너 — 차가운 색 → 따뜻한 색, 글자 +6px씩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33856" y="5897880"/>
            <a:ext cx="1874519" cy="411480"/>
          </a:xfrm>
          <a:prstGeom prst="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NICE!  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45536" y="5897880"/>
            <a:ext cx="1874519" cy="411480"/>
          </a:xfrm>
          <a:prstGeom prst="rect">
            <a:avLst/>
          </a:prstGeom>
          <a:solidFill>
            <a:srgbClr val="8FA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GREAT!  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57216" y="5897880"/>
            <a:ext cx="1874519" cy="411480"/>
          </a:xfrm>
          <a:prstGeom prst="rect">
            <a:avLst/>
          </a:prstGeom>
          <a:solidFill>
            <a:srgbClr val="E6B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AWESOME!!  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68896" y="5897880"/>
            <a:ext cx="1874519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CHAOS!!  100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80576" y="5897880"/>
            <a:ext cx="1874519" cy="411480"/>
          </a:xfrm>
          <a:prstGeom prst="rect">
            <a:avLst/>
          </a:prstGeom>
          <a:solidFill>
            <a:srgbClr val="C97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쥐아포칼립스!!!  200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이펙트 단계별 멈춤과 의도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45920"/>
          <a:ext cx="9966960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2377440"/>
                <a:gridCol w="667512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멈춤 · 흔들림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의도와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6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0.02초 · 없음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초당 수십 번 — '눌렀다'는 손맛만 주고 0.1초 만에 사라짐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D9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0.03초 · 0.05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가장 흔한 보상 — 떠오르는 숫자가 핵심, 조각은 거들 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FC2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0.07초 · 0.15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'오, 크다' — 짧은 멈춤으로 무게감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BA2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0.07초 · 0.25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진행이 한 단계 올랐다는 표시 — 벽이 무너지는 순간은 '맵이 넓어졌다'는 핵심 보상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0.12초 · 0.4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게임이 잠깐 멈추고 '이 순간을 봐' — 몇 분에 한 번이어야 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974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0.12초 + 슬로모 · 0.5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 하나에 한두 번 — 만화 컷인·사이렌으로 평소 화면과 가장 크게 대비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" y="576072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흔들림 값은 세기 0~0.5 (카메라 – 흔들림과 멈춤 참고)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이펙트 상황별 (보상과 성장)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45920"/>
          <a:ext cx="9966960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4251960"/>
                <a:gridCol w="425196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이펙트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의도와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부숨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색 삼각 조각 → 0.3초 뒤 흐려짐, 바닥 최대 40개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색 조각은 디오라마의 흔적, 원색은 쌓여 보상·위험색을 묻음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수입 숫자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깬 자리에서 40px 떠오름, 같은 자리는 합산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숫자가 터지는 게 방치형의 쾌감, 겹치면 안 읽혀 합산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 탄생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레어 이상: 등급색 고리 + 발밑 고리 3초 · 신화: 무지개 반짝임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등급은 고리로 표시하므로 태어날 때 크게 인식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콤보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10·25·50·100·200 콤보 배너, 차가운 → 따뜻한 색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색이 따뜻해질수록 '뜨거워진다'가 쌓임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 부숨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 → 반파 → 부서짐, 마지막에 L2 + 물건이 쏟아짐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여러 번 때린 보람을 크게 돌려줌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벽 뚫기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 증가 + 먼지 → 먼지 구름 + 벽 조각 + 가림이 0.5초에 걷힘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맵이 넓어지는 순간이 핵심 보상 — 새 방이 드러나는 것 자체가 연출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이펙트 상황별 (큰 사건과 위협)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45920"/>
          <a:ext cx="9966960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4251960"/>
                <a:gridCol w="425196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이펙트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의도와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배경 40% 어둡게 → 쥐 컷인 → 줌 펀치 → 충격 고리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주인공 쥐가 보이는 순간, 배경을 죽여 시선을 모음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슈퍼점프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만화 컷인(집중선·망점) → 줌아웃 → 착지 고리 + 흙먼지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망점·집중선은 플랫 스타일과 잘 맞는 만화 기법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사이렌 + 빨간 비네트 맥박 + '빨리 도망가!!!'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위험색을 화면 전체에 쓰는 유일한 경우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위협 등장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가장자리 테라 화살표 → 짧은 흔들림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방치 중에도 '뭔가 온다'를 놓치지 않게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붙잡힘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경비원이 덮침 → 회색조 → 결과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충격보다 '아이고' 정도의 코믹한 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UI 반응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버튼 0.95배 눌림, 재화 숫자 1.1배 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둥근 UI가 말랑하게 반응 — 손으로 만지는 느낌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필터 원칙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평소 화면엔 필터를 쓰지 않는다 — 정한 색이 그대로 보여야 색 역할 구분이 작동한다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286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쓰는 필터 3가지 (평소와 다른 일에만)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97480"/>
            <a:ext cx="150876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색 보정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200400"/>
            <a:ext cx="1508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로비 따뜻하게 · 붙잡힘 회색조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9776" y="2697480"/>
            <a:ext cx="150876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9776" y="3200400"/>
            <a:ext cx="1508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남은 시간 30초 · 경보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5696" y="2697480"/>
            <a:ext cx="150876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덧칠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3200400"/>
            <a:ext cx="1508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구간 분위기 (16~20%)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쓰지 않는 필터 4가지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697480"/>
            <a:ext cx="86868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블룸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697480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면 경계가 번짐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2697480"/>
            <a:ext cx="86868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피사계 심도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697480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디오라마는 전부 같은 거리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429000"/>
            <a:ext cx="86868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색수차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429000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깨끗한 파스텔과 반대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3429000"/>
            <a:ext cx="86868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그레인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429000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깨끗한 파스텔과 반대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42062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미개척 구역 가림 — 유일하게 늘 쓰는 효과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" y="4572000"/>
            <a:ext cx="9966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아직 안 간 곳은 먹색 55%로 가려 '모름'으로 남김 → 벽을 부술 이유가 생김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윤곽은 흐릿하게 보여 궁금하게 만들고, 벽이 무너지면 0.5초에 걷힘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필터 화면별 지정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45920"/>
          <a:ext cx="9966960" cy="457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3291840"/>
                <a:gridCol w="484632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/ 상황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의도와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색온도 +10 · 갈색 비네트 25%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차가운 연구소와 대비되는 '집', 가운데 패널로 시선을 모음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인게임 기본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 (미개척 구역만 가림)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정한 색이 그대로 보여야 역할 구분이 작동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구간 덧칠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초록 16% · 하늘 20% · 금 18%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바닥을 다시 그리지 않고 구간 변화를 알림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남은 시간 30초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채도 −20 · 테라 비네트 35% 맥박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숫자를 안 봐도 가장자리로 '급하다'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빨간 비네트 42% · 0.8초 맥박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위험색을 화면 전체에 쓰는 유일한 상황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팝업·일시정지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어둡게 35% + 흐림 2px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'게임은 뒤에, 지금은 이것' (흐림은 1/4 축소로 가볍게)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슈퍼점프 컷인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회색조 40% + 어둡게 + 집중선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컷인만 컬러로 남겨 만화 한 컷처럼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붙잡힘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회색조 75%를 2초에 걸쳐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색이 빠지며 '끝났다' — 서서히 바꿔 충격보다 아쉬움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결과 화면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흐림 3px + 어둡게 35% (실패 45%)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실패가 조금 더 어둡지만 패널은 같은 종이색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카메라 시점과 배율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기본은 방 하나가 화면을 채우는 1.0 — 다가가고 물러나는 것은 특별한 순간에만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320040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직교 카메라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7432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원근이 있으면 가장자리가 일그러져 플랫 스타일이 깨짐</a:t>
            </a:r>
          </a:p>
        </p:txBody>
      </p:sp>
      <p:sp>
        <p:nvSpPr>
          <p:cNvPr id="9" name="Rectangle 8"/>
          <p:cNvSpPr/>
          <p:nvPr/>
        </p:nvSpPr>
        <p:spPr>
          <a:xfrm>
            <a:off x="4517136" y="2286000"/>
            <a:ext cx="320040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3/4 탑다운 · 0.85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7432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세로 압축 0.85 (약 58°) — 아트를 이 각도로 그림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0416" y="2286000"/>
            <a:ext cx="320040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회전하지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416" y="27432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회전하면 모든 스프라이트를 여러 각도로 그려야 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9393" y="3823334"/>
            <a:ext cx="549325" cy="30861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5262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0.45 · 전체 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493776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 시작 1.5초 · 방 지도 · 슈퍼점프 비행 — 이보다 멀면 쥐가 점이 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06974" y="3634739"/>
            <a:ext cx="1220724" cy="685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45262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1.0 · 기본 (방 1개)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93776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평소 플레이 · 클릭과 방치 모두 — 배율이 자주 바뀌면 멀미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07145" y="3531870"/>
            <a:ext cx="1586941" cy="89154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45262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1.3 · 가까이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1856" y="493776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보스 · 필살기 · 전설 탄생 (L4와 짝) — 이보다 가까우면 스프라이트가 깨짐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594360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범위 0.45 ~ 1.3 (마우스 휠) · 사각형 크기 = 화면에 보이는 방의 크기 비율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카메라 움직임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45920"/>
          <a:ext cx="9966960" cy="46268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4297680"/>
                <a:gridCol w="429768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동작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의도와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중심 고정, 무리를 따라다니지 않음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따라가면 계속 흔들려 오래 보기 힘듦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이동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무리 60% 이상이 넘어가면 0.6초 감속 이동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'대부분' 기준이라 왔다 갔다 안 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수동 이동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마우스 드래그, 놓고 3초 후 복귀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구경은 자유, 방치 중엔 제자리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벽 뚫림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열린 쪽으로 10% · 0.4초 끌림 후 복귀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'저쪽이 열렸다'를 시선으로 알림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방치 모드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10초마다 가장 바쁜 방으로 1초 이동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켜두고 볼 때 볼거리를 자동으로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 → 1.15 (0.12초) → 1.0 (0.6초)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화면이 숨을 쉬듯 타격의 무게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보스 등장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보스 쪽 이동 + 1.3 줌 + 먹색 레터박스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레터박스 = '컷신, 입력 안 받음'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슈퍼점프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컷인 → 0.45 줌아웃 포물선 → 착지 1.0 + 흔들림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높이 뛰는 느낌을 멀어지는 카메라로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클리어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계단 1.3 줌인 → 위로 미끄러지며 다음 층 0.45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층 올라간 것을 '위' 방향으로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붙잡힘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 → 1.15로 2초 천천히 줌인 + 회색조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천천히 다가가 '아이고…' 하는 여운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카메라 흔들림과 멈춤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작은 충격은 거의 안 흔들리고 큰 충격만 확 — 수십 번의 L0·L1에도 화면이 떨리지 않게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3169920" cy="18288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1271016" y="24231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495" y="23774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흔들림 = 세기²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" y="2834640"/>
            <a:ext cx="2895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세기 0~0.5를 쌓고, 흔들림 = 세기² × 최대 14px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초당 0.9 감소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제곱이라 작은 충격은 거의 무시됨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2376" y="2286000"/>
            <a:ext cx="3169920" cy="18288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4669536" y="24231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1016" y="23774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위치만 흔듦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9536" y="2834640"/>
            <a:ext cx="2895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회전 없음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회전하면 3/4 시점의 수평이 무너져 디오라마가 기울어 보임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0896" y="2286000"/>
            <a:ext cx="3169920" cy="18288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8068056" y="24231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9536" y="23774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멈춤 (히트스톱)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8056" y="2834640"/>
            <a:ext cx="2895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0.02~0.12초, 멈춘 동안 카메라도 멈춤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타격의 무게를 주는 가장 싼 방법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3856" y="4343400"/>
            <a:ext cx="3169920" cy="18288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1271016" y="44805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495" y="44348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겹칠 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" y="4892040"/>
            <a:ext cx="2895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흔들림은 더하되 0.5에서 멈춤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멈춤은 큰 값 하나만 — 쌓이면 게임이 끊겨 보임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2376" y="4343400"/>
            <a:ext cx="3169920" cy="18288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4669536" y="4480560"/>
            <a:ext cx="329184" cy="3291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1016" y="4434840"/>
            <a:ext cx="252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접근성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9536" y="4892040"/>
            <a:ext cx="2895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흔들림 끄기 / 50% 선택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광과민성과 멀미 대응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부록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아트 제작 순서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가장 많이 보이고 가장 바꾸기 어려운 것부터 — 기준을 검증한 뒤에 늘린다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286000"/>
            <a:ext cx="384048" cy="3840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80744" y="2670048"/>
            <a:ext cx="0" cy="192024"/>
          </a:xfrm>
          <a:prstGeom prst="line">
            <a:avLst/>
          </a:prstGeom>
          <a:ln w="19050">
            <a:solidFill>
              <a:srgbClr val="E97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37360" y="224028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팔레트와 HSV 칸 확정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40280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모든 에셋의 기준 — 나중에 바꾸면 전부 다시 칠해야 함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2862072"/>
            <a:ext cx="384048" cy="3840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80744" y="3246120"/>
            <a:ext cx="0" cy="192024"/>
          </a:xfrm>
          <a:prstGeom prst="line">
            <a:avLst/>
          </a:prstGeom>
          <a:ln w="19050">
            <a:solidFill>
              <a:srgbClr val="E97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37360" y="2816352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바닥 + 불가 벽 + 길 벽 (파손 3단계)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816352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핵심인 길 찾기가 읽히는지 가장 먼저 검증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0" y="3438144"/>
            <a:ext cx="384048" cy="3840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80744" y="3822191"/>
            <a:ext cx="0" cy="192024"/>
          </a:xfrm>
          <a:prstGeom prst="line">
            <a:avLst/>
          </a:prstGeom>
          <a:ln w="19050">
            <a:solidFill>
              <a:srgbClr val="E97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37360" y="3392424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기본형·그림자·등급 고리 / 소품·가구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392424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돈(D2)과 길(D3)이 한 화면에서 헷갈리지 않는지 확인</a:t>
            </a:r>
          </a:p>
        </p:txBody>
      </p:sp>
      <p:sp>
        <p:nvSpPr>
          <p:cNvPr id="19" name="Oval 18"/>
          <p:cNvSpPr/>
          <p:nvPr/>
        </p:nvSpPr>
        <p:spPr>
          <a:xfrm>
            <a:off x="1188720" y="4014215"/>
            <a:ext cx="384048" cy="3840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80744" y="4398264"/>
            <a:ext cx="0" cy="192024"/>
          </a:xfrm>
          <a:prstGeom prst="line">
            <a:avLst/>
          </a:prstGeom>
          <a:ln w="19050">
            <a:solidFill>
              <a:srgbClr val="E97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37360" y="3968496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HUD 패널·버튼·아이콘 · 폰트 아틀라스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968496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플레이 테스트를 시작할 수 있는 최소 화면</a:t>
            </a:r>
          </a:p>
        </p:txBody>
      </p:sp>
      <p:sp>
        <p:nvSpPr>
          <p:cNvPr id="23" name="Oval 22"/>
          <p:cNvSpPr/>
          <p:nvPr/>
        </p:nvSpPr>
        <p:spPr>
          <a:xfrm>
            <a:off x="1188720" y="4590288"/>
            <a:ext cx="384048" cy="3840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80744" y="4974336"/>
            <a:ext cx="0" cy="192024"/>
          </a:xfrm>
          <a:prstGeom prst="line">
            <a:avLst/>
          </a:prstGeom>
          <a:ln w="19050">
            <a:solidFill>
              <a:srgbClr val="E97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737360" y="454456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이펙트 L0~L2 · 떠오르는 수입 숫자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544568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가장 자주 보이는 손맛과 보상 쾌감부터</a:t>
            </a:r>
          </a:p>
        </p:txBody>
      </p:sp>
      <p:sp>
        <p:nvSpPr>
          <p:cNvPr id="27" name="Oval 26"/>
          <p:cNvSpPr/>
          <p:nvPr/>
        </p:nvSpPr>
        <p:spPr>
          <a:xfrm>
            <a:off x="1188720" y="5166359"/>
            <a:ext cx="384048" cy="3840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80744" y="5550407"/>
            <a:ext cx="0" cy="192024"/>
          </a:xfrm>
          <a:prstGeom prst="line">
            <a:avLst/>
          </a:prstGeom>
          <a:ln w="19050">
            <a:solidFill>
              <a:srgbClr val="E97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737360" y="512064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사람·고양이 · 나머지 구간 색 · 쥐 종류 확장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120640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기준이 검증된 뒤 늘리는 것들</a:t>
            </a:r>
          </a:p>
        </p:txBody>
      </p:sp>
      <p:sp>
        <p:nvSpPr>
          <p:cNvPr id="31" name="Oval 30"/>
          <p:cNvSpPr/>
          <p:nvPr/>
        </p:nvSpPr>
        <p:spPr>
          <a:xfrm>
            <a:off x="1188720" y="5742432"/>
            <a:ext cx="384048" cy="3840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696712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이펙트 L3~L5 · 컷인 · 필터 · 카메라 연출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696712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큰 연출은 기본 화면이 완성된 뒤 대비를 보며 조정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부록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레퍼런스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45920"/>
          <a:ext cx="9966960" cy="43525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3931920"/>
                <a:gridCol w="365760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레퍼런스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참고할 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참고하지 않을 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Untitled Goose Game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외곽선 없는 평면 파스텔, 탑다운 장난 게임의 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초록 일색 배경 (이 게임은 구간마다 색이 바뀜)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Mini Motorways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단색 면과 그림자로 정보 정리, 오래 봐도 편한 화면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지나친 미니멀리즘 (캐릭터 매력이 필요)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Townscaper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장난감 디오라마 느낌, 따뜻한 파스텔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3D 원근 카메라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Overcooked 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혼란한 화면에서 위험과 목표를 색으로 구분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외곽선과 강한 셰이딩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Vampire Survivors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개체가 수백 개여도 보상이 눈에 띄는 색 독점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픽셀아트, 화면을 덮는 이펙트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젤다의 전설 시리즈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 간 벽 = 부술 수 있다는 시각 언어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사실적인 재질 표현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용어 정리 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00200"/>
          <a:ext cx="9966960" cy="4206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5120640"/>
                <a:gridCol w="292608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용어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뜻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 문서의 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묘사 단계 (D1~D5)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요소를 플레이어에게 주는 의미로 나눈 5단계 — 색 수 · 명암 · 디테일 허용치가 다름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D1 쥐 · D2 부서지는 것 · D3 길이 되는 벽 · D4 무대 · D5 UI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이펙트 강도 (L0~L5)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일의 중요도에 따라 이펙트의 크기 · 길이 · 멈춤을 정한 6단계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L0 클릭 0.1초 · L5 컷씬 3초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덧칠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전체에 한 색을 일반 블렌딩으로 얇게 까는 것 — 바닥을 다시 그리지 않고 분위기만 바꿈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10~14층 초록 16%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비네트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가장자리만 어둡게, 또는 한 색으로 물들이는 효과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남은 시간 30초 테라 35%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히트스톱 (멈춤)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타격 순간 게임 시간을 아주 짧게 멈춰 무게를 주는 것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0.02~0.12초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가장자리 여백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UI를 두는 테두리 안쪽 경계 — 창 가장자리에 붙지 않게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상하 36 · 좌우 64px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미개척 가림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아직 열지 않은 구역을 먹색으로 덮어 '모름'으로 남기는 것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먹색 55%, 벽이 무너지면 0.5초에 걷힘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긍정 · 진행 · 경고 · 정보 네 의미에만 쓰는 고정 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세이지 · 선 · 테라 · 스카이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 정렬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아래쪽(앞)에 있는 것을 나중에 그려 앞에 보이게 하는 정렬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쥐가 가구 앞뒤로 자연스럽게 지나감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화면 구성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레이어와 그리는 순서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쥐와 물건은 한 층에서 발밑으로 정렬한다 — 층을 나누면 쥐가 가구를 뚫고 지나가 보인다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5120640" cy="530352"/>
          </a:xfrm>
          <a:prstGeom prst="rect">
            <a:avLst/>
          </a:prstGeom>
          <a:solidFill>
            <a:srgbClr val="E9713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  UI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HUD · 팝업 · 대사창 — 항상 맨 위, 화면에 고정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43584" y="2907792"/>
            <a:ext cx="4901183" cy="530352"/>
          </a:xfrm>
          <a:prstGeom prst="rect">
            <a:avLst/>
          </a:prstGeom>
          <a:solidFill>
            <a:srgbClr val="F4B183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  이펙트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떠오르는 숫자 · 배너 · 고리 · 조각 — 0.5초 안에 사라짐</a:t>
            </a:r>
          </a:p>
        </p:txBody>
      </p:sp>
      <p:sp>
        <p:nvSpPr>
          <p:cNvPr id="9" name="Rectangle 8"/>
          <p:cNvSpPr/>
          <p:nvPr/>
        </p:nvSpPr>
        <p:spPr>
          <a:xfrm>
            <a:off x="1353312" y="3529584"/>
            <a:ext cx="4681727" cy="530352"/>
          </a:xfrm>
          <a:prstGeom prst="rect">
            <a:avLst/>
          </a:prstGeom>
          <a:solidFill>
            <a:srgbClr val="7D746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  미개척 가림</a:t>
            </a:r>
          </a:p>
          <a:p>
            <a:pPr algn="ctr"/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먹색 55% — 열지 않은 구역을 덮음, 벽이 무너지면 걷힘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4151376"/>
            <a:ext cx="4462272" cy="530352"/>
          </a:xfrm>
          <a:prstGeom prst="rect">
            <a:avLst/>
          </a:prstGeom>
          <a:solidFill>
            <a:srgbClr val="FBE5D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  월드 (Y 정렬)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· 물건 · 가구 · 사람 · 고양이 · 보스 · 그림자 — 한 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72768" y="4773168"/>
            <a:ext cx="4242816" cy="530352"/>
          </a:xfrm>
          <a:prstGeom prst="rect">
            <a:avLst/>
          </a:prstGeom>
          <a:solidFill>
            <a:srgbClr val="BFBFB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  벽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길이 되는 벽 · 부서지지 않는 벽 — 방 경계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82495" y="5394960"/>
            <a:ext cx="4023359" cy="530352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  바닥</a:t>
            </a:r>
          </a:p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격자 타일 1종 + 구간 덧칠 — 맨 아래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402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정렬 규칙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51760"/>
            <a:ext cx="44805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월드는 한 층 — 쥐와 물건을 층으로 나누지 않고 발밑 Y 값으로 정렬, 아래쪽일수록 앞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그림자는 주인 바로 뒤에 그림 (같은 정렬값에서 한 칸 뒤)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공중에 뜬 것(슈퍼점프 · 튕겨남)은 그림자의 Y로 정렬하고 몸만 위로 올림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쥐는 벽을 넘지 않으므로 벽은 늘 월드 뒤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화면 필터(덧칠 · 비네트 · 회색조)는 UI 바로 아래에 얹음 — UI 글자는 물들지 않음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보스 컷씬(L5)은 월드 · 이펙트를 덮고 UI보다 위 — 컷씬 동안 HUD를 가림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비주얼 스타일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하지 않는 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금지 목록이 곧 스타일 — 하지 않는 것을 먼저 정해 아티스트마다 그림이 흩어지지 않게 한다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286000"/>
          <a:ext cx="9966960" cy="38039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2743200"/>
                <a:gridCol w="47548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하지 않는 것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검은 외곽선 (셀 셰이딩 · 만화풍)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면의 명도 차로 구분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군집이 겹치면 선이 뭉쳐 화면이 어두워짐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그라데이션 · 금속 반사 · 질감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단색 면 + 정해진 명암 단계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물건이 여러 색으로 읽혀 색 역할이 무너짐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실사풍 쥐 (털 표현 · 붉은 눈)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털 없는 면 · 눈은 점 하나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쥐는 혐오감을 주기 쉬움 — 귀여움을 지키려면 단순화가 필수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피 · 시체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연기와 함께 사라짐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 연령 방치형 게임의 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원색 색종이 조각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원래 물건 색 조각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위험색 · 보상색이 바닥에 깔려 진짜 위험이 묻힘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이모지 아이콘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직접 그린 64px 아이콘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기기마다 모양과 색이 달라 팔레트를 지킬 수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블룸 · 피사계 심도 · 색수차 · 그레인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색 보정 · 비네트 · 덧칠만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플랫 면 경계가 번지고 파스텔이 탁해짐 (필터 원칙 장)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색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20층 이후 · 무한 모드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20층부터는 금빛 한 구간 — 보스 층만 색을 바꾸고, 무한 모드는 새 색 없이 앞 구간을 되풀이한다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187451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3856" y="2286000"/>
            <a:ext cx="1874519" cy="1371600"/>
          </a:xfrm>
          <a:prstGeom prst="rect">
            <a:avLst/>
          </a:prstGeom>
          <a:solidFill>
            <a:srgbClr val="E3C46A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59736" y="3108960"/>
            <a:ext cx="411480" cy="411480"/>
          </a:xfrm>
          <a:prstGeom prst="roundRect">
            <a:avLst/>
          </a:prstGeom>
          <a:solidFill>
            <a:srgbClr val="E3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6" y="2331720"/>
            <a:ext cx="1691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20~24층</a:t>
            </a:r>
          </a:p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최상층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3200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덧칠 #E3C46A 18%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749039"/>
            <a:ext cx="187451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보상색에 가까운 금빛 — 마지막 구간에 왔다는 신호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45536" y="2286000"/>
            <a:ext cx="187451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45536" y="2286000"/>
            <a:ext cx="1874519" cy="1371600"/>
          </a:xfrm>
          <a:prstGeom prst="rect">
            <a:avLst/>
          </a:prstGeom>
          <a:solidFill>
            <a:srgbClr val="CDB4DB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71416" y="3108960"/>
            <a:ext cx="411480" cy="411480"/>
          </a:xfrm>
          <a:prstGeom prst="roundRect">
            <a:avLst/>
          </a:prstGeom>
          <a:solidFill>
            <a:srgbClr val="CD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36976" y="2331720"/>
            <a:ext cx="1691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25층</a:t>
            </a:r>
          </a:p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마녀 고양이 보스 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3200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덧칠 #CDB4DB 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5536" y="3749039"/>
            <a:ext cx="187451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보스 층만 연한 라벤더 — 에픽 등급색(진한 보라)과 겹치지 않게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7216" y="2286000"/>
            <a:ext cx="187451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2286000"/>
            <a:ext cx="1874519" cy="1371600"/>
          </a:xfrm>
          <a:prstGeom prst="rect">
            <a:avLst/>
          </a:prstGeom>
          <a:solidFill>
            <a:srgbClr val="E3C46A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83096" y="3108960"/>
            <a:ext cx="411480" cy="411480"/>
          </a:xfrm>
          <a:prstGeom prst="roundRect">
            <a:avLst/>
          </a:prstGeom>
          <a:solidFill>
            <a:srgbClr val="E3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48656" y="2331720"/>
            <a:ext cx="1691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26~29층</a:t>
            </a:r>
          </a:p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최상층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3200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덧칠 #E3C46A 18%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749039"/>
            <a:ext cx="187451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금빛으로 복귀 — 보스 층이 더 튀어 보임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68896" y="2286000"/>
            <a:ext cx="187451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68896" y="2286000"/>
            <a:ext cx="1874519" cy="1371600"/>
          </a:xfrm>
          <a:prstGeom prst="rect">
            <a:avLst/>
          </a:prstGeom>
          <a:solidFill>
            <a:srgbClr val="8FB3C7">
              <a:alpha val="5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94776" y="3108960"/>
            <a:ext cx="411480" cy="411480"/>
          </a:xfrm>
          <a:prstGeom prst="roundRect">
            <a:avLst/>
          </a:prstGeom>
          <a:solidFill>
            <a:srgbClr val="8F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0336" y="2331720"/>
            <a:ext cx="1691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30층</a:t>
            </a:r>
          </a:p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우주 고양이 사령관 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0336" y="3200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덧칠 #8FB3C7 22%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8896" y="3749039"/>
            <a:ext cx="187451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15~19층과 같은 하늘색을 더 진하게 — 차갑고 넓은 우주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0576" y="2286000"/>
            <a:ext cx="187451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72016" y="2331720"/>
            <a:ext cx="1691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31층~</a:t>
            </a:r>
          </a:p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무한 모드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2016" y="32004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구간색 순환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0576" y="3749039"/>
            <a:ext cx="187451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1~30층 구간색을 5층 단위로 되풀이 (31~35층 = 1~5층 색 …)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" y="530352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견본의 덧칠은 보기 쉽게 실제의 2배 진하기로 표시 · 보스가 기다리는 계단 방은 덧칠과 별개로 어둡게 (보스 대기 연출)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33856" y="5669280"/>
            <a:ext cx="9966960" cy="50292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 wrap="square"/>
          <a:lstStyle/>
          <a:p>
            <a:pPr algn="l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덧칠 한도  </a:t>
            </a: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22%까지 · 보상 칸(치즈 노랑)과 위험 칸(빨강)에는 덧칠 색을 고르지 않음 · 새 구간을 만들 때도 정한 색 칸 안에서 고름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연출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이펙트 상황별 (보스 · 고양이 · 밈)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00200"/>
          <a:ext cx="9966959" cy="33649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548640"/>
                <a:gridCol w="3749039"/>
                <a:gridCol w="384048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이펙트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의도와 이유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번식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하트 1개가 떠올라 0.5초 안에 사라짐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초당 여러 번 — 무리가 불어나는 것을 '보이게만'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기절한 쥐 머리 위 작은 '기절!!' (0.5초 이상일 때만, 한 번에 12개까지)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범위 공격마다 큰 팝업 대신 쥐마다 작게 — 누가 멈췄는지만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고양이 무리 스킬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바닥에 위험색 경고 원 + 고양이 머리 위 '!' → 범위 기절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경고 원이 먼저 '피해라'를 알림 — 원은 위험색만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보스 쿨타임 스킬 (밈)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멘트 배너 + 밈 소품 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12초마다 나옴 — 자주 나오므로 L3까지만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탈취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계단에서 연구자료를 훔쳐 다음 층으로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층을 넘었다는 진행 표시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보스 발악 패턴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배경 어둡게 + 멘트 배너 + 큰 소품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70% · 35%에 한 번씩 — '이 순간을 봐'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보스 컷씬 (STAY · 긴급 회의)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세계 정지 + 플래시 인 · 아웃 + 전체 화면 컷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 하나에 한두 번 — 평소 화면과 가장 크게 대비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133856" y="5120640"/>
            <a:ext cx="91440" cy="1143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25296" y="5120640"/>
            <a:ext cx="9875520" cy="11430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 wrap="square"/>
          <a:lstStyle/>
          <a:p>
            <a:pPr algn="l">
              <a:spcAft>
                <a:spcPts val="2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밈 소품 규칙</a:t>
            </a:r>
          </a:p>
          <a:p>
            <a:pPr algn="l">
              <a:spcAft>
                <a:spcPts val="2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밈 소품도 플랫 규칙 — 외곽선 · 그라데이션 없음  /  실루엣과 대표 포즈는 원본 밈처럼 알아보게</a:t>
            </a:r>
          </a:p>
          <a:p>
            <a:pPr algn="l">
              <a:spcAft>
                <a:spcPts val="2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색은 정한 칸 안, 위험(빨강) · 보상(노랑) 칸은 쓰지 않음  /  쥐 머리를 바꾸는 연출(상어 · 커피잔)은 옆모습, 기절이 풀리면 원래대로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491</Words>
  <Application>Microsoft Office PowerPoint</Application>
  <PresentationFormat>와이드스크린</PresentationFormat>
  <Paragraphs>102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도원 박</cp:lastModifiedBy>
  <cp:revision>24</cp:revision>
  <dcterms:created xsi:type="dcterms:W3CDTF">2026-09-29T07:46:10Z</dcterms:created>
  <dcterms:modified xsi:type="dcterms:W3CDTF">2026-10-08T01:24:41Z</dcterms:modified>
</cp:coreProperties>
</file>