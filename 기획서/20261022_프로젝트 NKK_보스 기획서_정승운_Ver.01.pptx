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270" r:id="rId3"/>
    <p:sldId id="288" r:id="rId4"/>
    <p:sldId id="289" r:id="rId5"/>
    <p:sldId id="290" r:id="rId6"/>
    <p:sldId id="291" r:id="rId7"/>
    <p:sldId id="292" r:id="rId8"/>
    <p:sldId id="293" r:id="rId9"/>
    <p:sldId id="294" r:id="rId10"/>
    <p:sldId id="298" r:id="rId11"/>
    <p:sldId id="299" r:id="rId12"/>
    <p:sldId id="300" r:id="rId13"/>
    <p:sldId id="301" r:id="rId14"/>
    <p:sldId id="302" r:id="rId15"/>
    <p:sldId id="303" r:id="rId16"/>
    <p:sldId id="304" r:id="rId17"/>
    <p:sldId id="305" r:id="rId18"/>
    <p:sldId id="306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316" r:id="rId29"/>
    <p:sldId id="319" r:id="rId32"/>
    <p:sldId id="320" r:id="rId33"/>
    <p:sldId id="321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9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36E70-5542-433F-8775-3EDF9C5AE0B0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F35D8-3F1B-4838-9AA9-54A21BBB9E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940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C393A6-6064-E56E-3CC7-DFBD99E8E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8DB02AB-3255-D2EB-3CFF-F102727D98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7D8953-EF9A-5446-14B9-15328A6E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3AA2A7-4921-285E-8E7C-8F46E43D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DBC7F2-F5F0-0533-A0E9-1B81D3A9B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549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389E6-DF22-238B-C563-2F9F1D4DA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56C26A-24FF-87FC-F30A-C4B2B44E2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0326C4-B6D9-516F-67FD-397EE1D8C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1C34A6-6FFC-F7CC-4C01-9B3EB433D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C5DB05-D59B-FA33-685A-4E6B9F111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283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6B36A-C7CE-199F-43D9-2B4BD3817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F597C3-AEA1-FAE0-E407-28DD8D0B0A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5A1085-83E7-EA12-ED4F-9DE404B27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DF431C-56E1-C642-4F67-B774DC4EF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19AA2B-B326-9397-B8E6-A23FFA9A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993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EE9383-0E57-A2DC-C415-C968ED12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07665B-5634-5B29-6387-A79BACE386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E78F0F-8B84-D5C6-443E-195286C943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FBCED5-13EF-C045-55FF-7B7E62DA1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2224E5-9AB0-9CCB-347D-5DC6659B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6D396-8184-B7FA-3619-E06FD5F1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257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275A90-C233-E1CC-278F-0339C2136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876DDC-4A19-7B00-BACD-AA81B0856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FEF097-737A-0CD1-D299-9114083AFF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AE4C179-65B8-6728-2552-130364EFDE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7BB22C-4B3D-AF9C-1028-950CED609C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6C7DECF-95C8-40D9-0D89-C27075B2E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F6ECB51-558B-8B21-D5FD-5AED61341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6E4D88C-F660-2995-B619-47CD65C0F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135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BB4D96-C3DA-2EBA-CB1C-AB54F16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09EAE9-77E5-46A5-B514-9E5D47EF1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C17411C-7C73-5F5A-00C9-1A131247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72D3380-30B8-3382-A9A4-CFBDE599B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081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6804CBD-D934-1482-365B-560A4B03B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4024F1F-E81A-267F-CE72-25342AEA5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F5C455-C943-9FC6-7BF1-FB6201BE4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871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6AB16-80DA-CCE6-B425-8B4AE097C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78E645-7AD7-F6FC-7D7E-9549A150C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57FF677-F054-9F55-94B5-2BF069F3F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106BFD-CE99-ED8F-5D6B-A65CDD45A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587713-F9FD-636F-55C4-2FA2033DF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7E4910-C6BD-2158-0C16-22A0BBC53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206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D67044-6CC1-91E9-DDB0-9D3FBC932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C4DC73-3ADB-99EB-751B-01367CF6853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FB4AC7-7954-61AE-183D-B2CC3318ED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F5F8AB9-7B0A-12F0-71E7-D16264D0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5EE15A-84DA-885B-B293-B7046B47B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0D53620-ECC2-9101-F7EF-007C0E8EA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0853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DD6A17-418D-C7A1-DE15-4F0A9319B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A62781E-84EB-82D6-C048-21C97092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63C778-F0BC-515F-0F74-C8C383129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21A88D-A3E4-2FA7-B89C-BE6C991FB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A72E89-E2A1-72B0-5006-37D4764B3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9978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ED17CC4-D318-E38A-C0DF-FAC64DD71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5AEC1E-287E-7B66-3CF6-3A62418910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602AFE-8DCD-99D6-AA91-3E1D48DAF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3EEFAC-A9E9-0F03-DA76-0934407F1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D13154-3A71-08B5-C8BC-5A2DE42D0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64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6BEAC52-5ACF-3D3B-572A-8A580134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37A941-5FFE-60C2-6BEE-9AC32BCAFC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AFB020-A6E6-720E-DBE2-5500BFFD0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507BC3-FE8E-43D9-9669-1305ABD709F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D48124-2D2C-AC0D-095E-64ECF7C5C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2BBDD3-DA8B-B4C2-2786-B51A86623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E515EA-DF8E-4FB8-A334-EEBD49752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1036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9.png"/><Relationship Id="rId22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BEA6AB8-3459-4522-53F5-7C14230533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999548" y="0"/>
            <a:ext cx="13031738" cy="733425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0FEDD4-FC25-2665-EB00-EC6FC31A26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4500" y="-584200"/>
            <a:ext cx="10476690" cy="114998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0887F5-26E7-4DBC-8B40-F32358FB68A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8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-13000"/>
                    </a14:imgEffect>
                    <a14:imgEffect>
                      <a14:saturation sat="68000"/>
                    </a14:imgEffect>
                    <a14:imgEffect>
                      <a14:brightnessContrast contrast="-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1193" y="1299919"/>
            <a:ext cx="3447438" cy="288669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C7A06AEE-6D79-F7C1-BC5F-55B52EC8956B}"/>
              </a:ext>
            </a:extLst>
          </p:cNvPr>
          <p:cNvSpPr/>
          <p:nvPr/>
        </p:nvSpPr>
        <p:spPr>
          <a:xfrm>
            <a:off x="12644430" y="2647178"/>
            <a:ext cx="6553200" cy="23145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67F283C6-905D-F7E0-356B-57BB926D0C48}"/>
              </a:ext>
            </a:extLst>
          </p:cNvPr>
          <p:cNvSpPr txBox="1">
            <a:spLocks/>
          </p:cNvSpPr>
          <p:nvPr/>
        </p:nvSpPr>
        <p:spPr>
          <a:xfrm>
            <a:off x="4912504" y="2025631"/>
            <a:ext cx="6583680" cy="10906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ko-KR" altLang="en-US" sz="40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보스 기획서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473B0AB-7702-7F91-B4AE-1F49DBB7A08A}"/>
              </a:ext>
            </a:extLst>
          </p:cNvPr>
          <p:cNvSpPr/>
          <p:nvPr/>
        </p:nvSpPr>
        <p:spPr>
          <a:xfrm>
            <a:off x="6430871" y="3043673"/>
            <a:ext cx="4950241" cy="1285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1">
            <a:extLst>
              <a:ext uri="{FF2B5EF4-FFF2-40B4-BE49-F238E27FC236}">
                <a16:creationId xmlns:a16="http://schemas.microsoft.com/office/drawing/2014/main" id="{6D4083D5-045D-076C-58E9-A0AD0661291A}"/>
              </a:ext>
            </a:extLst>
          </p:cNvPr>
          <p:cNvSpPr txBox="1">
            <a:spLocks/>
          </p:cNvSpPr>
          <p:nvPr/>
        </p:nvSpPr>
        <p:spPr>
          <a:xfrm>
            <a:off x="5933131" y="1030384"/>
            <a:ext cx="5534025" cy="109061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j-cs"/>
              </a:defRPr>
            </a:lvl1pPr>
          </a:lstStyle>
          <a:p>
            <a:pPr algn="r"/>
            <a:r>
              <a:rPr lang="ko-KR" altLang="en-US" sz="3600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찍!찍!!찍!!!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87E28EF-886F-0CFD-BEC4-8433CD23A18D}"/>
              </a:ext>
            </a:extLst>
          </p:cNvPr>
          <p:cNvCxnSpPr>
            <a:cxnSpLocks/>
          </p:cNvCxnSpPr>
          <p:nvPr/>
        </p:nvCxnSpPr>
        <p:spPr>
          <a:xfrm flipH="1">
            <a:off x="8069943" y="5602514"/>
            <a:ext cx="331116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234270-9A17-D048-55ED-0940FB5181CB}"/>
              </a:ext>
            </a:extLst>
          </p:cNvPr>
          <p:cNvSpPr txBox="1"/>
          <p:nvPr/>
        </p:nvSpPr>
        <p:spPr>
          <a:xfrm>
            <a:off x="7924727" y="5681050"/>
            <a:ext cx="175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문서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최초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작성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46DB5F-99B5-2DF5-20D0-7D648CF23BBA}"/>
              </a:ext>
            </a:extLst>
          </p:cNvPr>
          <p:cNvSpPr txBox="1"/>
          <p:nvPr/>
        </p:nvSpPr>
        <p:spPr>
          <a:xfrm>
            <a:off x="7924727" y="5908388"/>
            <a:ext cx="175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20261022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B9862D-8354-2B26-3755-E5875B6F5F99}"/>
              </a:ext>
            </a:extLst>
          </p:cNvPr>
          <p:cNvSpPr txBox="1"/>
          <p:nvPr/>
        </p:nvSpPr>
        <p:spPr>
          <a:xfrm>
            <a:off x="9746184" y="5681050"/>
            <a:ext cx="175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문서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최종 수정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762AE9-8E80-5211-7A5B-F60FD5C0C8F2}"/>
              </a:ext>
            </a:extLst>
          </p:cNvPr>
          <p:cNvSpPr txBox="1"/>
          <p:nvPr/>
        </p:nvSpPr>
        <p:spPr>
          <a:xfrm>
            <a:off x="9746184" y="5908388"/>
            <a:ext cx="175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20261022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D466C-90B9-B6E4-29C9-B8988710CC87}"/>
              </a:ext>
            </a:extLst>
          </p:cNvPr>
          <p:cNvSpPr txBox="1"/>
          <p:nvPr/>
        </p:nvSpPr>
        <p:spPr>
          <a:xfrm>
            <a:off x="7924727" y="6125755"/>
            <a:ext cx="175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정승운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8EC428-0738-7268-75BF-5B2C8ADB4509}"/>
              </a:ext>
            </a:extLst>
          </p:cNvPr>
          <p:cNvSpPr txBox="1"/>
          <p:nvPr/>
        </p:nvSpPr>
        <p:spPr>
          <a:xfrm>
            <a:off x="9746184" y="6125755"/>
            <a:ext cx="175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정승운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CE1F9B-BC50-79D3-2842-5337CC455BE8}"/>
              </a:ext>
            </a:extLst>
          </p:cNvPr>
          <p:cNvSpPr txBox="1"/>
          <p:nvPr/>
        </p:nvSpPr>
        <p:spPr>
          <a:xfrm>
            <a:off x="8667156" y="3269557"/>
            <a:ext cx="28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NKK </a:t>
            </a:r>
            <a:r>
              <a:rPr lang="ko-KR" altLang="en-US" sz="2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스튜디오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980111-F950-876F-8A3C-CF017C1D0629}"/>
              </a:ext>
            </a:extLst>
          </p:cNvPr>
          <p:cNvSpPr txBox="1"/>
          <p:nvPr/>
        </p:nvSpPr>
        <p:spPr>
          <a:xfrm>
            <a:off x="9907458" y="3607535"/>
            <a:ext cx="155969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팀장 </a:t>
            </a:r>
            <a:r>
              <a:rPr lang="ko-KR" altLang="en-US" sz="16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박송호</a:t>
            </a:r>
            <a:endParaRPr lang="en-US" altLang="ko-KR" sz="1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r"/>
            <a:r>
              <a:rPr lang="ko-KR" altLang="en-US" sz="16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부팀장</a:t>
            </a:r>
            <a:r>
              <a:rPr lang="ko-KR" altLang="en-US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정승운</a:t>
            </a:r>
            <a:endParaRPr lang="en-US" altLang="ko-KR" sz="1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r"/>
            <a:r>
              <a:rPr lang="ko-KR" altLang="en-US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팀원 </a:t>
            </a:r>
            <a:r>
              <a:rPr lang="ko-KR" altLang="en-US" sz="16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김규장</a:t>
            </a:r>
            <a:endParaRPr lang="en-US" altLang="ko-KR" sz="1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r"/>
            <a:r>
              <a:rPr lang="ko-KR" altLang="en-US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박도원</a:t>
            </a:r>
            <a:endParaRPr lang="en-US" altLang="ko-KR" sz="1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r"/>
            <a:r>
              <a:rPr lang="ko-KR" altLang="en-US" sz="16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이예성</a:t>
            </a:r>
            <a:endParaRPr lang="ko-KR" altLang="en-US" sz="1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295DFC10-0916-1978-C9EA-2D391273CF26}"/>
              </a:ext>
            </a:extLst>
          </p:cNvPr>
          <p:cNvCxnSpPr>
            <a:cxnSpLocks/>
          </p:cNvCxnSpPr>
          <p:nvPr/>
        </p:nvCxnSpPr>
        <p:spPr>
          <a:xfrm flipH="1">
            <a:off x="5524500" y="1075469"/>
            <a:ext cx="585661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E522AC8-AA6F-A240-B228-D3E8956DFD76}"/>
              </a:ext>
            </a:extLst>
          </p:cNvPr>
          <p:cNvSpPr txBox="1"/>
          <p:nvPr/>
        </p:nvSpPr>
        <p:spPr>
          <a:xfrm>
            <a:off x="5452970" y="728373"/>
            <a:ext cx="6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기맞기획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11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 기업 협약 프로젝트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‘NKK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스튜디오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’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제작</a:t>
            </a:r>
          </a:p>
        </p:txBody>
      </p:sp>
    </p:spTree>
    <p:extLst>
      <p:ext uri="{BB962C8B-B14F-4D97-AF65-F5344CB8AC3E}">
        <p14:creationId xmlns:p14="http://schemas.microsoft.com/office/powerpoint/2010/main" val="2692206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69C4F-7865-37A1-27AD-71B312452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742A394-D6B0-70C4-190D-0AE707D28723}"/>
              </a:ext>
            </a:extLst>
          </p:cNvPr>
          <p:cNvSpPr txBox="1"/>
          <p:nvPr/>
        </p:nvSpPr>
        <p:spPr>
          <a:xfrm>
            <a:off x="1029084" y="746202"/>
            <a:ext cx="1819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목차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318F2E6-55D1-41EF-9E71-C1F38FB67817}"/>
              </a:ext>
            </a:extLst>
          </p:cNvPr>
          <p:cNvCxnSpPr>
            <a:cxnSpLocks/>
          </p:cNvCxnSpPr>
          <p:nvPr/>
        </p:nvCxnSpPr>
        <p:spPr>
          <a:xfrm flipH="1">
            <a:off x="1133475" y="1320596"/>
            <a:ext cx="585661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1" name="TextBox 14">
            <a:extLst>
              <a:ext uri="{FF2B5EF4-FFF2-40B4-BE49-F238E27FC236}">
                <a16:creationId xmlns:a16="http://schemas.microsoft.com/office/drawing/2014/main" id="{EDC55178-8184-FD35-C46F-81B835D405B3}"/>
              </a:ext>
            </a:extLst>
          </p:cNvPr>
          <p:cNvSpPr txBox="1"/>
          <p:nvPr/>
        </p:nvSpPr>
        <p:spPr>
          <a:xfrm>
            <a:off x="1709928" y="1536192"/>
            <a:ext cx="365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개요 – 2P</a:t>
            </a:r>
          </a:p>
        </p:txBody>
      </p:sp>
      <p:sp>
        <p:nvSpPr>
          <p:cNvPr id="1002" name="TextBox 28">
            <a:extLst>
              <a:ext uri="{FF2B5EF4-FFF2-40B4-BE49-F238E27FC236}">
                <a16:creationId xmlns:a16="http://schemas.microsoft.com/office/drawing/2014/main" id="{67D3ACF5-BFDD-C370-CA12-DD2BF4A53F55}"/>
              </a:ext>
            </a:extLst>
          </p:cNvPr>
          <p:cNvSpPr txBox="1"/>
          <p:nvPr/>
        </p:nvSpPr>
        <p:spPr>
          <a:xfrm>
            <a:off x="2212848" y="2011680"/>
            <a:ext cx="365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목차 · 로그</a:t>
            </a:r>
          </a:p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기획 의도</a:t>
            </a:r>
          </a:p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3. 보스 일람</a:t>
            </a:r>
          </a:p>
        </p:txBody>
      </p:sp>
      <p:sp>
        <p:nvSpPr>
          <p:cNvPr id="1003" name="직사각형 48">
            <a:extLst>
              <a:ext uri="{FF2B5EF4-FFF2-40B4-BE49-F238E27FC236}">
                <a16:creationId xmlns:a16="http://schemas.microsoft.com/office/drawing/2014/main" id="{8A351382-A663-193F-052F-16BC8A514A69}"/>
              </a:ext>
            </a:extLst>
          </p:cNvPr>
          <p:cNvSpPr/>
          <p:nvPr/>
        </p:nvSpPr>
        <p:spPr>
          <a:xfrm rot="5400000">
            <a:off x="1490472" y="1664207"/>
            <a:ext cx="239515" cy="11151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4" name="TextBox 14">
            <a:extLst>
              <a:ext uri="{FF2B5EF4-FFF2-40B4-BE49-F238E27FC236}">
                <a16:creationId xmlns:a16="http://schemas.microsoft.com/office/drawing/2014/main" id="{EDC55178-8184-FD35-C46F-81B835D405B3}"/>
              </a:ext>
            </a:extLst>
          </p:cNvPr>
          <p:cNvSpPr txBox="1"/>
          <p:nvPr/>
        </p:nvSpPr>
        <p:spPr>
          <a:xfrm>
            <a:off x="1709928" y="3136392"/>
            <a:ext cx="365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보스 시스템 – 6P</a:t>
            </a:r>
          </a:p>
        </p:txBody>
      </p:sp>
      <p:sp>
        <p:nvSpPr>
          <p:cNvPr id="1005" name="TextBox 28">
            <a:extLst>
              <a:ext uri="{FF2B5EF4-FFF2-40B4-BE49-F238E27FC236}">
                <a16:creationId xmlns:a16="http://schemas.microsoft.com/office/drawing/2014/main" id="{67D3ACF5-BFDD-C370-CA12-DD2BF4A53F55}"/>
              </a:ext>
            </a:extLst>
          </p:cNvPr>
          <p:cNvSpPr txBox="1"/>
          <p:nvPr/>
        </p:nvSpPr>
        <p:spPr>
          <a:xfrm>
            <a:off x="2212848" y="3611880"/>
            <a:ext cx="365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보스 층 진행 · 상태 변화</a:t>
            </a:r>
          </a:p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공격 선택 · 발동 조건</a:t>
            </a:r>
          </a:p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3. 공격 흐름 · 평타</a:t>
            </a:r>
          </a:p>
        </p:txBody>
      </p:sp>
      <p:sp>
        <p:nvSpPr>
          <p:cNvPr id="1006" name="직사각형 48">
            <a:extLst>
              <a:ext uri="{FF2B5EF4-FFF2-40B4-BE49-F238E27FC236}">
                <a16:creationId xmlns:a16="http://schemas.microsoft.com/office/drawing/2014/main" id="{8A351382-A663-193F-052F-16BC8A514A69}"/>
              </a:ext>
            </a:extLst>
          </p:cNvPr>
          <p:cNvSpPr/>
          <p:nvPr/>
        </p:nvSpPr>
        <p:spPr>
          <a:xfrm rot="5400000">
            <a:off x="1490472" y="3264408"/>
            <a:ext cx="239515" cy="11151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7" name="TextBox 14">
            <a:extLst>
              <a:ext uri="{FF2B5EF4-FFF2-40B4-BE49-F238E27FC236}">
                <a16:creationId xmlns:a16="http://schemas.microsoft.com/office/drawing/2014/main" id="{EDC55178-8184-FD35-C46F-81B835D405B3}"/>
              </a:ext>
            </a:extLst>
          </p:cNvPr>
          <p:cNvSpPr txBox="1"/>
          <p:nvPr/>
        </p:nvSpPr>
        <p:spPr>
          <a:xfrm>
            <a:off x="1709928" y="4736592"/>
            <a:ext cx="365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공통 규칙 – 1</a:t>
            </a:r>
            <a:r>
              <a:rPr lang="en-US" altLang="ko-KR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0</a:t>
            </a:r>
            <a:r>
              <a:rPr lang="ko-KR" altLang="en-US" sz="2400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P</a:t>
            </a:r>
            <a:endParaRPr lang="ko-KR" altLang="en-US" sz="2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08" name="TextBox 28">
            <a:extLst>
              <a:ext uri="{FF2B5EF4-FFF2-40B4-BE49-F238E27FC236}">
                <a16:creationId xmlns:a16="http://schemas.microsoft.com/office/drawing/2014/main" id="{67D3ACF5-BFDD-C370-CA12-DD2BF4A53F55}"/>
              </a:ext>
            </a:extLst>
          </p:cNvPr>
          <p:cNvSpPr txBox="1"/>
          <p:nvPr/>
        </p:nvSpPr>
        <p:spPr>
          <a:xfrm>
            <a:off x="2212848" y="5212079"/>
            <a:ext cx="365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표현 · 제작 규칙</a:t>
            </a:r>
          </a:p>
        </p:txBody>
      </p:sp>
      <p:sp>
        <p:nvSpPr>
          <p:cNvPr id="1009" name="직사각형 48">
            <a:extLst>
              <a:ext uri="{FF2B5EF4-FFF2-40B4-BE49-F238E27FC236}">
                <a16:creationId xmlns:a16="http://schemas.microsoft.com/office/drawing/2014/main" id="{8A351382-A663-193F-052F-16BC8A514A69}"/>
              </a:ext>
            </a:extLst>
          </p:cNvPr>
          <p:cNvSpPr/>
          <p:nvPr/>
        </p:nvSpPr>
        <p:spPr>
          <a:xfrm rot="5400000">
            <a:off x="1490472" y="4864608"/>
            <a:ext cx="239515" cy="11151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0" name="TextBox 14">
            <a:extLst>
              <a:ext uri="{FF2B5EF4-FFF2-40B4-BE49-F238E27FC236}">
                <a16:creationId xmlns:a16="http://schemas.microsoft.com/office/drawing/2014/main" id="{EDC55178-8184-FD35-C46F-81B835D405B3}"/>
              </a:ext>
            </a:extLst>
          </p:cNvPr>
          <p:cNvSpPr txBox="1"/>
          <p:nvPr/>
        </p:nvSpPr>
        <p:spPr>
          <a:xfrm>
            <a:off x="5916168" y="1536192"/>
            <a:ext cx="365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보스 5~50층 – 1</a:t>
            </a:r>
            <a:r>
              <a:rPr lang="en-US" altLang="ko-KR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r>
              <a:rPr lang="ko-KR" altLang="en-US" sz="2400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P</a:t>
            </a:r>
            <a:endParaRPr lang="ko-KR" altLang="en-US" sz="2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11" name="TextBox 28">
            <a:extLst>
              <a:ext uri="{FF2B5EF4-FFF2-40B4-BE49-F238E27FC236}">
                <a16:creationId xmlns:a16="http://schemas.microsoft.com/office/drawing/2014/main" id="{67D3ACF5-BFDD-C370-CA12-DD2BF4A53F55}"/>
              </a:ext>
            </a:extLst>
          </p:cNvPr>
          <p:cNvSpPr txBox="1"/>
          <p:nvPr/>
        </p:nvSpPr>
        <p:spPr>
          <a:xfrm>
            <a:off x="6419088" y="2011680"/>
            <a:ext cx="365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5~20층 기존 보스</a:t>
            </a:r>
          </a:p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25 밈 고양이 ~ 50 노조 고양이</a:t>
            </a:r>
          </a:p>
        </p:txBody>
      </p:sp>
      <p:sp>
        <p:nvSpPr>
          <p:cNvPr id="1012" name="직사각형 48">
            <a:extLst>
              <a:ext uri="{FF2B5EF4-FFF2-40B4-BE49-F238E27FC236}">
                <a16:creationId xmlns:a16="http://schemas.microsoft.com/office/drawing/2014/main" id="{8A351382-A663-193F-052F-16BC8A514A69}"/>
              </a:ext>
            </a:extLst>
          </p:cNvPr>
          <p:cNvSpPr/>
          <p:nvPr/>
        </p:nvSpPr>
        <p:spPr>
          <a:xfrm rot="5400000">
            <a:off x="5696712" y="1664207"/>
            <a:ext cx="239515" cy="11151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3" name="TextBox 14">
            <a:extLst>
              <a:ext uri="{FF2B5EF4-FFF2-40B4-BE49-F238E27FC236}">
                <a16:creationId xmlns:a16="http://schemas.microsoft.com/office/drawing/2014/main" id="{EDC55178-8184-FD35-C46F-81B835D405B3}"/>
              </a:ext>
            </a:extLst>
          </p:cNvPr>
          <p:cNvSpPr txBox="1"/>
          <p:nvPr/>
        </p:nvSpPr>
        <p:spPr>
          <a:xfrm>
            <a:off x="5916168" y="3136392"/>
            <a:ext cx="365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보스 55~100층 – </a:t>
            </a:r>
            <a:r>
              <a:rPr lang="en-US" altLang="ko-KR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18</a:t>
            </a:r>
            <a:r>
              <a:rPr lang="ko-KR" altLang="en-US" sz="2400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P</a:t>
            </a:r>
            <a:endParaRPr lang="ko-KR" altLang="en-US" sz="2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14" name="TextBox 28">
            <a:extLst>
              <a:ext uri="{FF2B5EF4-FFF2-40B4-BE49-F238E27FC236}">
                <a16:creationId xmlns:a16="http://schemas.microsoft.com/office/drawing/2014/main" id="{67D3ACF5-BFDD-C370-CA12-DD2BF4A53F55}"/>
              </a:ext>
            </a:extLst>
          </p:cNvPr>
          <p:cNvSpPr txBox="1"/>
          <p:nvPr/>
        </p:nvSpPr>
        <p:spPr>
          <a:xfrm>
            <a:off x="6419088" y="3611880"/>
            <a:ext cx="365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55 거미 고양이 ~ 80 차력거인</a:t>
            </a:r>
          </a:p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85 항공모함 ~ 100 우주 고양이 사령관</a:t>
            </a:r>
          </a:p>
        </p:txBody>
      </p:sp>
      <p:sp>
        <p:nvSpPr>
          <p:cNvPr id="1015" name="직사각형 48">
            <a:extLst>
              <a:ext uri="{FF2B5EF4-FFF2-40B4-BE49-F238E27FC236}">
                <a16:creationId xmlns:a16="http://schemas.microsoft.com/office/drawing/2014/main" id="{8A351382-A663-193F-052F-16BC8A514A69}"/>
              </a:ext>
            </a:extLst>
          </p:cNvPr>
          <p:cNvSpPr/>
          <p:nvPr/>
        </p:nvSpPr>
        <p:spPr>
          <a:xfrm rot="5400000">
            <a:off x="5696712" y="3264408"/>
            <a:ext cx="239515" cy="11151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6" name="TextBox 14">
            <a:extLst>
              <a:ext uri="{FF2B5EF4-FFF2-40B4-BE49-F238E27FC236}">
                <a16:creationId xmlns:a16="http://schemas.microsoft.com/office/drawing/2014/main" id="{EDC55178-8184-FD35-C46F-81B835D405B3}"/>
              </a:ext>
            </a:extLst>
          </p:cNvPr>
          <p:cNvSpPr txBox="1"/>
          <p:nvPr/>
        </p:nvSpPr>
        <p:spPr>
          <a:xfrm>
            <a:off x="5916168" y="4736592"/>
            <a:ext cx="365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부록 – </a:t>
            </a:r>
            <a:r>
              <a:rPr lang="en-US" altLang="ko-KR" sz="2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29</a:t>
            </a:r>
            <a:r>
              <a:rPr lang="ko-KR" altLang="en-US" sz="2400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P</a:t>
            </a:r>
            <a:endParaRPr lang="ko-KR" altLang="en-US" sz="24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17" name="TextBox 28">
            <a:extLst>
              <a:ext uri="{FF2B5EF4-FFF2-40B4-BE49-F238E27FC236}">
                <a16:creationId xmlns:a16="http://schemas.microsoft.com/office/drawing/2014/main" id="{67D3ACF5-BFDD-C370-CA12-DD2BF4A53F55}"/>
              </a:ext>
            </a:extLst>
          </p:cNvPr>
          <p:cNvSpPr txBox="1"/>
          <p:nvPr/>
        </p:nvSpPr>
        <p:spPr>
          <a:xfrm>
            <a:off x="6419088" y="5212079"/>
            <a:ext cx="365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이름 · 화면 글자</a:t>
            </a:r>
          </a:p>
          <a:p>
            <a:r>
              <a:rPr lang="en-US" altLang="ko-KR" sz="16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보스 · 공격 테이블</a:t>
            </a:r>
          </a:p>
        </p:txBody>
      </p:sp>
      <p:sp>
        <p:nvSpPr>
          <p:cNvPr id="1018" name="직사각형 48">
            <a:extLst>
              <a:ext uri="{FF2B5EF4-FFF2-40B4-BE49-F238E27FC236}">
                <a16:creationId xmlns:a16="http://schemas.microsoft.com/office/drawing/2014/main" id="{8A351382-A663-193F-052F-16BC8A514A69}"/>
              </a:ext>
            </a:extLst>
          </p:cNvPr>
          <p:cNvSpPr/>
          <p:nvPr/>
        </p:nvSpPr>
        <p:spPr>
          <a:xfrm rot="5400000">
            <a:off x="5696712" y="4864608"/>
            <a:ext cx="239515" cy="11151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699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B3958-C278-8D05-8336-90242A7B1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03B47D-5D66-091B-05B7-CEEED05735FB}"/>
              </a:ext>
            </a:extLst>
          </p:cNvPr>
          <p:cNvSpPr txBox="1"/>
          <p:nvPr/>
        </p:nvSpPr>
        <p:spPr>
          <a:xfrm>
            <a:off x="1029084" y="746202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개요 – 로그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E76892-A257-C39B-B504-47032CDAACBC}"/>
              </a:ext>
            </a:extLst>
          </p:cNvPr>
          <p:cNvCxnSpPr>
            <a:cxnSpLocks/>
          </p:cNvCxnSpPr>
          <p:nvPr/>
        </p:nvCxnSpPr>
        <p:spPr>
          <a:xfrm flipH="1">
            <a:off x="1133475" y="1320596"/>
            <a:ext cx="585661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19" name="표 1019"/>
          <p:cNvGraphicFramePr>
            <a:graphicFrameLocks noGrp="1"/>
          </p:cNvGraphicFramePr>
          <p:nvPr/>
        </p:nvGraphicFramePr>
        <p:xfrm>
          <a:off x="1133856" y="1600200"/>
          <a:ext cx="8595360" cy="2743200"/>
        </p:xfrm>
        <a:graphic>
          <a:graphicData uri="http://schemas.openxmlformats.org/drawingml/2006/table">
            <a:tbl>
              <a:tblPr firstRow="1" bandRow="1"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순번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작성일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작성자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작성 내용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비고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2026-10-22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정승운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문서 최초 작성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보스 행동 명세 원문 + 공통 규칙 정리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2026-10-22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정승운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질문 결과 반영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층별 결정 · 보스/스킬 이름 · 화면 글자 (한글 · 영어) 확정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2026-10-22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정승운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보스 기획서로 확장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보스 층 진행 · 상태 변화 · 공격 발동 조건 · 체력/보상 · 테이블 구조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2026-10-22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정승운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구현 내용 반영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그림 목록 삭제 · 55~100층 페이지 정리 · 스킬 설명 수정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sz="12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1700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개요 – 기획 의도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143000" y="1600200"/>
            <a:ext cx="2926080" cy="86868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000000"/>
                </a:solidFill>
                <a:latin typeface="Noto Sans KR"/>
                <a:ea typeface="Noto Sans KR"/>
              </a:rPr>
              <a:t>반복되는 전투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Noto Sans KR"/>
                <a:ea typeface="Noto Sans KR"/>
              </a:rPr>
              <a:t>→ 지루함을 느낄 타이밍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069080" y="2029968"/>
            <a:ext cx="54864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617720" y="1600200"/>
            <a:ext cx="2926080" cy="86868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000000"/>
                </a:solidFill>
                <a:latin typeface="Noto Sans KR"/>
                <a:ea typeface="Noto Sans KR"/>
              </a:rPr>
              <a:t>5층마다 새 보스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Noto Sans KR"/>
                <a:ea typeface="Noto Sans KR"/>
              </a:rPr>
              <a:t>쿨타임 스킬 + 발악 2단계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543800" y="2029968"/>
            <a:ext cx="54864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092440" y="1600200"/>
            <a:ext cx="2926080" cy="868680"/>
          </a:xfrm>
          <a:prstGeom prst="roundRect">
            <a:avLst/>
          </a:prstGeom>
          <a:solidFill>
            <a:srgbClr val="FBE5D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000000"/>
                </a:solidFill>
                <a:latin typeface="Noto Sans KR"/>
                <a:ea typeface="Noto Sans KR"/>
              </a:rPr>
              <a:t>리프레쉬 · 도전욕구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Noto Sans KR"/>
                <a:ea typeface="Noto Sans KR"/>
              </a:rPr>
              <a:t>+ 밈으로 웃음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743200"/>
            <a:ext cx="10058400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리프레쉬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: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반복되는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전투에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지루함을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느낄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타이밍에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리프레쉬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부여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—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층마다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스킬이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전부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다른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보스</a:t>
            </a:r>
            <a:endParaRPr sz="1500" b="0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800"/>
              </a:spcAft>
            </a:pP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도전욕구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자극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: 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8초마다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쿨타임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스킬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,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체력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70% · 35%에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발악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1 · 2 →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끝으로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갈수록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거세지는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패턴</a:t>
            </a:r>
            <a:endParaRPr sz="1500" b="0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800"/>
              </a:spcAft>
            </a:pP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밈으로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웃음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유발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: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해피캣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맥스웰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· Huh Cat ·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괴렘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좋았쓰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트랄랄레로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어몽어스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등 밈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패러디</a:t>
            </a:r>
            <a:endParaRPr sz="1500" b="0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800"/>
              </a:spcAft>
            </a:pP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저작권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: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패러디는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실루엣</a:t>
            </a:r>
            <a:r>
              <a:rPr lang="en-US" sz="1500" dirty="0">
                <a:solidFill>
                  <a:srgbClr val="000000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 dirty="0">
                <a:solidFill>
                  <a:srgbClr val="000000"/>
                </a:solidFill>
                <a:latin typeface="Noto Sans KR"/>
                <a:ea typeface="Noto Sans KR"/>
              </a:rPr>
              <a:t>의상</a:t>
            </a:r>
            <a:r>
              <a:rPr lang="en-US" altLang="ko-KR" sz="1500" dirty="0">
                <a:solidFill>
                  <a:srgbClr val="000000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 dirty="0">
                <a:solidFill>
                  <a:srgbClr val="000000"/>
                </a:solidFill>
                <a:latin typeface="Noto Sans KR"/>
                <a:ea typeface="Noto Sans KR"/>
              </a:rPr>
              <a:t>행동등으로 비슷하게 표현하여 저작권 회피</a:t>
            </a:r>
            <a:endParaRPr sz="150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pic>
        <p:nvPicPr>
          <p:cNvPr id="11" name="Picture 10" descr="pop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4910115"/>
            <a:ext cx="1463040" cy="969689"/>
          </a:xfrm>
          <a:prstGeom prst="rect">
            <a:avLst/>
          </a:prstGeom>
        </p:spPr>
      </p:pic>
      <p:pic>
        <p:nvPicPr>
          <p:cNvPr id="12" name="Picture 11" descr="goer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4802372"/>
            <a:ext cx="1463040" cy="1185175"/>
          </a:xfrm>
          <a:prstGeom prst="rect">
            <a:avLst/>
          </a:prstGeom>
        </p:spPr>
      </p:pic>
      <p:pic>
        <p:nvPicPr>
          <p:cNvPr id="13" name="Picture 12" descr="uni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686755"/>
            <a:ext cx="1463040" cy="1416409"/>
          </a:xfrm>
          <a:prstGeom prst="rect">
            <a:avLst/>
          </a:prstGeom>
        </p:spPr>
      </p:pic>
      <p:pic>
        <p:nvPicPr>
          <p:cNvPr id="14" name="Picture 13" descr="joas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549" y="4663440"/>
            <a:ext cx="618341" cy="1463040"/>
          </a:xfrm>
          <a:prstGeom prst="rect">
            <a:avLst/>
          </a:prstGeom>
        </p:spPr>
      </p:pic>
      <p:pic>
        <p:nvPicPr>
          <p:cNvPr id="15" name="Picture 14" descr="sharkc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5005557"/>
            <a:ext cx="1463040" cy="778804"/>
          </a:xfrm>
          <a:prstGeom prst="rect">
            <a:avLst/>
          </a:prstGeom>
        </p:spPr>
      </p:pic>
      <p:pic>
        <p:nvPicPr>
          <p:cNvPr id="16" name="Picture 15" descr="crewm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4040" y="5007199"/>
            <a:ext cx="1463040" cy="7755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개요 – 보스 일람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143000" y="157276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old_ch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538" y="1645920"/>
            <a:ext cx="912803" cy="1042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277977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경비 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7752" y="157276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9" name="Picture 8" descr="old_m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104" y="1645920"/>
            <a:ext cx="1061174" cy="104241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96312" y="277977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10층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연구원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32504" y="157276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12" name="Picture 11" descr="old_dir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566" y="1645920"/>
            <a:ext cx="1019754" cy="10424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1064" y="277977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15층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연구소장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77256" y="157276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15" name="Picture 14" descr="old_z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642" y="1645920"/>
            <a:ext cx="873106" cy="104241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85816" y="277977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20층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제로 고양이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22008" y="157276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18" name="Picture 17" descr="popc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0" y="1776222"/>
            <a:ext cx="1179576" cy="7818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30568" y="277977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25층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밈 고양이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57276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21" name="Picture 20" descr="goere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9912" y="1689354"/>
            <a:ext cx="1179576" cy="9555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75320" y="277977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30층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실험체 고양이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11512" y="1601343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24" name="Picture 23" descr="dino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1063" y="1645920"/>
            <a:ext cx="546776" cy="104241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720072" y="277977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35층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공룡탈 알바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326440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27" name="Picture 26" descr="vmous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8618" y="3337560"/>
            <a:ext cx="554643" cy="104241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51560" y="447141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Noto Sans KR"/>
                <a:ea typeface="Noto Sans KR"/>
              </a:rPr>
              <a:t>40층 </a:t>
            </a:r>
            <a:r>
              <a:rPr sz="900" b="0">
                <a:solidFill>
                  <a:srgbClr val="000000"/>
                </a:solidFill>
                <a:latin typeface="Noto Sans KR"/>
                <a:ea typeface="Noto Sans KR"/>
              </a:rPr>
              <a:t>원시인 버티컬 마우스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87752" y="326440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30" name="Picture 29" descr="train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8109" y="3337560"/>
            <a:ext cx="405165" cy="104241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496312" y="447141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45층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랩터 사육사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32504" y="326440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33" name="Picture 32" descr="union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7076" y="3337560"/>
            <a:ext cx="1076734" cy="104241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41064" y="447141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50층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노조 고양이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77256" y="326440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36" name="Picture 35" descr="spid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8307" y="3337560"/>
            <a:ext cx="1063776" cy="104241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385816" y="447141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55층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거미 고양이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2008" y="326440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39" name="Picture 38" descr="operato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1701" y="3337560"/>
            <a:ext cx="326492" cy="104241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30568" y="447141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60층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굴착기 기사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326440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42" name="Picture 41" descr="sharkca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39912" y="3544812"/>
            <a:ext cx="1179576" cy="627911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275320" y="447141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65층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상어 고양이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1512" y="326440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45" name="Picture 44" descr="fishca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05364" y="3337560"/>
            <a:ext cx="938174" cy="1042415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720072" y="447141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70층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머라옹 고양이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" y="495604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48" name="Picture 47" descr="deepdive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23025" y="5029200"/>
            <a:ext cx="365829" cy="104241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51560" y="616305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75층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심해 잠수부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87752" y="495604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51" name="Picture 50" descr="cartgian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60904" y="5096382"/>
            <a:ext cx="1179576" cy="9080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2496312" y="6163056"/>
            <a:ext cx="150876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 dirty="0">
                <a:solidFill>
                  <a:srgbClr val="000000"/>
                </a:solidFill>
                <a:latin typeface="Noto Sans KR"/>
                <a:ea typeface="Noto Sans KR"/>
              </a:rPr>
              <a:t>80층 </a:t>
            </a:r>
            <a:r>
              <a:rPr lang="ko-KR" altLang="en-US" sz="1050" dirty="0">
                <a:solidFill>
                  <a:srgbClr val="000000"/>
                </a:solidFill>
                <a:latin typeface="Noto Sans KR"/>
                <a:ea typeface="Noto Sans KR"/>
              </a:rPr>
              <a:t>인간 전차</a:t>
            </a:r>
            <a:endParaRPr sz="105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032504" y="495604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54" name="Picture 53" descr="carrier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05656" y="5320677"/>
            <a:ext cx="1179576" cy="45946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941064" y="616305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85층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항공모함 고양이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77256" y="495604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57" name="Picture 56" descr="dictator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50408" y="5035217"/>
            <a:ext cx="1179576" cy="10303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385816" y="616305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90층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총통 고양이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22008" y="495604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0" name="Picture 59" descr="gremlin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95160" y="5068508"/>
            <a:ext cx="1179576" cy="96379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830568" y="616305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Noto Sans KR"/>
                <a:ea typeface="Noto Sans KR"/>
              </a:rPr>
              <a:t>94층 </a:t>
            </a: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그렘린 고양이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66760" y="495604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3" name="Picture 62" descr="crewm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39912" y="5237776"/>
            <a:ext cx="1179576" cy="625263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8275320" y="616305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Noto Sans KR"/>
                <a:ea typeface="Noto Sans KR"/>
              </a:rPr>
              <a:t>97층 </a:t>
            </a:r>
            <a:r>
              <a:rPr sz="900" b="0">
                <a:solidFill>
                  <a:srgbClr val="000000"/>
                </a:solidFill>
                <a:latin typeface="Noto Sans KR"/>
                <a:ea typeface="Noto Sans KR"/>
              </a:rPr>
              <a:t>수상한 우주복 쥐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11512" y="4956048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6" name="Picture 65" descr="old_commande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36833" y="5029200"/>
            <a:ext cx="875236" cy="104241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720072" y="6163056"/>
            <a:ext cx="15087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Noto Sans KR"/>
                <a:ea typeface="Noto Sans KR"/>
              </a:rPr>
              <a:t>100층 </a:t>
            </a:r>
            <a:r>
              <a:rPr sz="900" b="0">
                <a:solidFill>
                  <a:srgbClr val="000000"/>
                </a:solidFill>
                <a:latin typeface="Noto Sans KR"/>
                <a:ea typeface="Noto Sans KR"/>
              </a:rPr>
              <a:t>우주 고양이 사령관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보스 시스템 – 보스 층 진행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143000" y="1600200"/>
            <a:ext cx="1691640" cy="77724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보스 층 입장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Noto Sans KR"/>
                <a:ea typeface="Noto Sans KR"/>
              </a:rPr>
              <a:t>5층마다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1988819"/>
            <a:ext cx="36576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1600200"/>
            <a:ext cx="1691640" cy="77724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계단 방 대기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Noto Sans KR"/>
                <a:ea typeface="Noto Sans KR"/>
              </a:rPr>
              <a:t>카메라가 잠깐 비춤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92040" y="1988819"/>
            <a:ext cx="36576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57800" y="1600200"/>
            <a:ext cx="1691640" cy="777240"/>
          </a:xfrm>
          <a:prstGeom prst="roundRect">
            <a:avLst/>
          </a:prstGeom>
          <a:solidFill>
            <a:srgbClr val="FBE5D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계단 방 벽 격파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Noto Sans KR"/>
                <a:ea typeface="Noto Sans KR"/>
              </a:rPr>
              <a:t>보스전 시작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0" y="1988819"/>
            <a:ext cx="36576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15200" y="1600200"/>
            <a:ext cx="1691640" cy="77724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보스 격파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Noto Sans KR"/>
                <a:ea typeface="Noto Sans KR"/>
              </a:rPr>
              <a:t>체력 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06840" y="1988819"/>
            <a:ext cx="36576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372600" y="1600200"/>
            <a:ext cx="1691640" cy="77724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계단 열림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Noto Sans KR"/>
                <a:ea typeface="Noto Sans KR"/>
              </a:rPr>
              <a:t>다음 층으로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0263894"/>
              </p:ext>
            </p:extLst>
          </p:nvPr>
        </p:nvGraphicFramePr>
        <p:xfrm>
          <a:off x="1143000" y="2697480"/>
          <a:ext cx="10149840" cy="3097415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단계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50" b="1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준수 사항</a:t>
                      </a:r>
                      <a:endParaRPr sz="1250" b="1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입장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층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배너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+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카메라가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계단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방을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0.7초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비춤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('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보스가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있다'를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보여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줌)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 층 = 보스 테이블 floor (5 ~ 100층, 94 · 97층 포함)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대기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계단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방 안,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계단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아래쪽에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실루엣 상태로 대기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피해 안 받음 · 계단 막음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보스전 시작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 이름과 </a:t>
                      </a:r>
                      <a:r>
                        <a:rPr lang="ko-KR" altLang="en-US"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체력바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배너</a:t>
                      </a:r>
                      <a:r>
                        <a:rPr lang="en-US" altLang="ko-KR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,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화면 흔들림 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계단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방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벽이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부서지는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순간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시작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첫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사용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4초 뒤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5383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격파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격파 액션과 대사 등장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치즈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보상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· 이 층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격파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기록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끝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위로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사라짐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→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체력바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격파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전엔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계단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사용 불가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033271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특수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등장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: 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94층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그렘린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· 97층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수상한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우주복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쥐는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미리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보스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층이라고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알리지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않음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(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층별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보스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슬라이드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보스 시스템 – 상태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143000" y="1600200"/>
            <a:ext cx="1554480" cy="7315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Noto Sans KR"/>
                <a:ea typeface="Noto Sans KR"/>
              </a:rPr>
              <a:t>Off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Noto Sans KR"/>
                <a:ea typeface="Noto Sans KR"/>
              </a:rPr>
              <a:t>없음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97480" y="1965960"/>
            <a:ext cx="54864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46120" y="1600200"/>
            <a:ext cx="1554480" cy="7315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Noto Sans KR"/>
                <a:ea typeface="Noto Sans KR"/>
              </a:rPr>
              <a:t>Wait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Noto Sans KR"/>
                <a:ea typeface="Noto Sans KR"/>
              </a:rPr>
              <a:t>대기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00600" y="1965960"/>
            <a:ext cx="54864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49240" y="1600200"/>
            <a:ext cx="1554480" cy="731520"/>
          </a:xfrm>
          <a:prstGeom prst="roundRect">
            <a:avLst/>
          </a:prstGeom>
          <a:solidFill>
            <a:srgbClr val="FBE5D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Noto Sans KR"/>
                <a:ea typeface="Noto Sans KR"/>
              </a:rPr>
              <a:t>Fight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Noto Sans KR"/>
                <a:ea typeface="Noto Sans KR"/>
              </a:rPr>
              <a:t>전투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03720" y="1965960"/>
            <a:ext cx="54864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52359" y="1600200"/>
            <a:ext cx="1554480" cy="7315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Noto Sans KR"/>
                <a:ea typeface="Noto Sans KR"/>
              </a:rPr>
              <a:t>Dying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Noto Sans KR"/>
                <a:ea typeface="Noto Sans KR"/>
              </a:rPr>
              <a:t>쓰러짐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06839" y="1965960"/>
            <a:ext cx="54864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555480" y="1600200"/>
            <a:ext cx="1554480" cy="7315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Noto Sans KR"/>
                <a:ea typeface="Noto Sans KR"/>
              </a:rPr>
              <a:t>Dead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Noto Sans KR"/>
                <a:ea typeface="Noto Sans KR"/>
              </a:rPr>
              <a:t>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395728"/>
            <a:ext cx="8229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Noto Sans KR"/>
                <a:ea typeface="Noto Sans KR"/>
              </a:rPr>
              <a:t>층 입장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395728"/>
            <a:ext cx="8229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Noto Sans KR"/>
                <a:ea typeface="Noto Sans KR"/>
              </a:rPr>
              <a:t>벽 격파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2395728"/>
            <a:ext cx="8229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Noto Sans KR"/>
                <a:ea typeface="Noto Sans KR"/>
              </a:rPr>
              <a:t>체력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79" y="2395728"/>
            <a:ext cx="8229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Noto Sans KR"/>
                <a:ea typeface="Noto Sans KR"/>
              </a:rPr>
              <a:t>사라짐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143000" y="2788920"/>
          <a:ext cx="8229600" cy="226771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상태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들어가는 조건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움직임 · 공격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피해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계단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Off 없음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 층이 아님 · 층을 옮김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열림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Wait 대기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 층 입장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멈춤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안 받음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막음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Fight 전투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계단 방 벽 격파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가장 가까운 쥐를 쫓음 · 공격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받음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막음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Dying 쓰러짐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체력 0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위로 날아가며 회전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안 받음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막음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Dead 끝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높이 2400 넘게 날아감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안 보임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열림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9646920" y="2788920"/>
            <a:ext cx="160020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10928" y="2852928"/>
            <a:ext cx="14813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전투 중 세부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928" y="3200400"/>
            <a:ext cx="1481328" cy="2286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걷기 ↔ 공격 중 (공격 중엔 멈춤)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발악 대기 (체력 문턱)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숨기 · 상자: 피해 안 받음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빙결: 느려짐 · 꽁꽁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00000"/>
                </a:solidFill>
                <a:latin typeface="Noto Sans KR"/>
                <a:ea typeface="Noto Sans KR"/>
              </a:rPr>
              <a:t>필살기 연출 · 화면 정지 · 게임 오버 중엔 멈춤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보스 시스템 – 공격 선택 · 발동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43000" y="1691640"/>
            <a:ext cx="3017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체력 100 ~ 70%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0520" y="1691640"/>
            <a:ext cx="3520439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체력 70 ~ 35%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691640"/>
            <a:ext cx="3520439" cy="457200"/>
          </a:xfrm>
          <a:prstGeom prst="rect">
            <a:avLst/>
          </a:prstGeom>
          <a:solidFill>
            <a:srgbClr val="F6C3A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체력 35% ~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60520" y="1508760"/>
            <a:ext cx="0" cy="822960"/>
          </a:xfrm>
          <a:prstGeom prst="line">
            <a:avLst/>
          </a:prstGeom>
          <a:ln w="31750">
            <a:solidFill>
              <a:srgbClr val="E971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37560" y="2350008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E97132"/>
                </a:solidFill>
                <a:latin typeface="Noto Sans KR"/>
                <a:ea typeface="Noto Sans KR"/>
              </a:rPr>
              <a:t>▲ 70% = 발악 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1508760"/>
            <a:ext cx="0" cy="822960"/>
          </a:xfrm>
          <a:prstGeom prst="line">
            <a:avLst/>
          </a:prstGeom>
          <a:ln w="31750">
            <a:solidFill>
              <a:srgbClr val="E971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0" y="2350008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E97132"/>
                </a:solidFill>
                <a:latin typeface="Noto Sans KR"/>
                <a:ea typeface="Noto Sans KR"/>
              </a:rPr>
              <a:t>▲ 35% = 발악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788920"/>
            <a:ext cx="2926080" cy="22402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8986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E97132"/>
                </a:solidFill>
                <a:latin typeface="Noto Sans KR"/>
                <a:ea typeface="Noto Sans KR"/>
              </a:rPr>
              <a:t>전투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37560"/>
            <a:ext cx="2651760" cy="9592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평타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3 ~ 4.5초마다</a:t>
            </a:r>
          </a:p>
          <a:p>
            <a:pPr algn="l">
              <a:spcAft>
                <a:spcPts val="500"/>
              </a:spcAft>
            </a:pP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 </a:t>
            </a:r>
            <a:r>
              <a:rPr sz="1200" b="0" dirty="0" err="1">
                <a:solidFill>
                  <a:srgbClr val="000000"/>
                </a:solidFill>
                <a:latin typeface="Noto Sans KR"/>
                <a:ea typeface="Noto Sans KR"/>
              </a:rPr>
              <a:t>일반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Noto Sans KR"/>
                <a:ea typeface="Noto Sans KR"/>
              </a:rPr>
              <a:t>공격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2 (40%) · 1 (60%)</a:t>
            </a:r>
          </a:p>
          <a:p>
            <a:pPr algn="l">
              <a:spcAft>
                <a:spcPts val="500"/>
              </a:spcAft>
            </a:pP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쿨타임</a:t>
            </a:r>
            <a:r>
              <a:rPr sz="120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스킬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4초 뒤 첫 </a:t>
            </a:r>
            <a:r>
              <a:rPr sz="1200" b="0" dirty="0" err="1">
                <a:solidFill>
                  <a:srgbClr val="000000"/>
                </a:solidFill>
                <a:latin typeface="Noto Sans KR"/>
                <a:ea typeface="Noto Sans KR"/>
              </a:rPr>
              <a:t>사용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→ 8초마다</a:t>
            </a:r>
            <a:r>
              <a:rPr 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lang="ko-KR" alt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사용</a:t>
            </a:r>
            <a:endParaRPr sz="120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251960" y="2788920"/>
            <a:ext cx="3428999" cy="22402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2898648"/>
            <a:ext cx="31546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E97132"/>
                </a:solidFill>
                <a:latin typeface="Noto Sans KR"/>
                <a:ea typeface="Noto Sans KR"/>
              </a:rPr>
              <a:t>70% 아래로 처음 내려간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37560"/>
            <a:ext cx="31546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발악</a:t>
            </a:r>
            <a:r>
              <a:rPr sz="1200" b="1" dirty="0">
                <a:solidFill>
                  <a:srgbClr val="000000"/>
                </a:solidFill>
                <a:latin typeface="Noto Sans KR"/>
                <a:ea typeface="Noto Sans KR"/>
              </a:rPr>
              <a:t> 1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lang="ko-KR" alt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즉시 발동</a:t>
            </a:r>
            <a:br>
              <a:rPr lang="en-US" altLang="ko-KR" sz="1200" b="0" dirty="0">
                <a:solidFill>
                  <a:srgbClr val="000000"/>
                </a:solidFill>
                <a:latin typeface="Noto Sans KR"/>
                <a:ea typeface="Noto Sans KR"/>
              </a:rPr>
            </a:b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평타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+ </a:t>
            </a: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쿨타임</a:t>
            </a:r>
            <a:r>
              <a:rPr sz="120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스킬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8초마다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88920"/>
            <a:ext cx="3428999" cy="22402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898648"/>
            <a:ext cx="31546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E97132"/>
                </a:solidFill>
                <a:latin typeface="Noto Sans KR"/>
                <a:ea typeface="Noto Sans KR"/>
              </a:rPr>
              <a:t>35% 아래로 처음 내려간 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337560"/>
            <a:ext cx="3154679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발악</a:t>
            </a:r>
            <a:r>
              <a:rPr sz="1200" b="1" dirty="0">
                <a:solidFill>
                  <a:srgbClr val="000000"/>
                </a:solidFill>
                <a:latin typeface="Noto Sans KR"/>
                <a:ea typeface="Noto Sans KR"/>
              </a:rPr>
              <a:t> 2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lang="ko-KR" alt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즉시 발동</a:t>
            </a:r>
            <a:br>
              <a:rPr lang="en-US" altLang="ko-KR" sz="1200" b="0" dirty="0">
                <a:solidFill>
                  <a:srgbClr val="000000"/>
                </a:solidFill>
                <a:latin typeface="Noto Sans KR"/>
                <a:ea typeface="Noto Sans KR"/>
              </a:rPr>
            </a:b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평타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+ </a:t>
            </a: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쿨타임</a:t>
            </a:r>
            <a:r>
              <a:rPr sz="120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00" b="1" dirty="0" err="1">
                <a:solidFill>
                  <a:srgbClr val="000000"/>
                </a:solidFill>
                <a:latin typeface="Noto Sans KR"/>
                <a:ea typeface="Noto Sans KR"/>
              </a:rPr>
              <a:t>스킬</a:t>
            </a:r>
            <a:r>
              <a:rPr sz="1200" b="0" dirty="0">
                <a:solidFill>
                  <a:srgbClr val="000000"/>
                </a:solidFill>
                <a:latin typeface="Noto Sans KR"/>
                <a:ea typeface="Noto Sans KR"/>
              </a:rPr>
              <a:t> 8초마다</a:t>
            </a:r>
            <a:br>
              <a:rPr lang="en-US" sz="1200" b="0" dirty="0">
                <a:solidFill>
                  <a:srgbClr val="000000"/>
                </a:solidFill>
                <a:latin typeface="Noto Sans KR"/>
                <a:ea typeface="Noto Sans KR"/>
              </a:rPr>
            </a:br>
            <a:br>
              <a:rPr lang="en-US" sz="1200" b="0" dirty="0">
                <a:solidFill>
                  <a:srgbClr val="000000"/>
                </a:solidFill>
                <a:latin typeface="Noto Sans KR"/>
                <a:ea typeface="Noto Sans KR"/>
              </a:rPr>
            </a:br>
            <a:r>
              <a:rPr lang="ko-KR" alt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체력 </a:t>
            </a:r>
            <a:r>
              <a:rPr lang="en-US" altLang="ko-KR" sz="1200" b="0" dirty="0">
                <a:solidFill>
                  <a:srgbClr val="000000"/>
                </a:solidFill>
                <a:latin typeface="Noto Sans KR"/>
                <a:ea typeface="Noto Sans KR"/>
              </a:rPr>
              <a:t>25% </a:t>
            </a:r>
            <a:r>
              <a:rPr lang="ko-KR" alt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이하에선 </a:t>
            </a:r>
            <a:br>
              <a:rPr lang="en-US" altLang="ko-KR" sz="1200" b="0" dirty="0">
                <a:solidFill>
                  <a:srgbClr val="000000"/>
                </a:solidFill>
                <a:latin typeface="Noto Sans KR"/>
                <a:ea typeface="Noto Sans KR"/>
              </a:rPr>
            </a:br>
            <a:r>
              <a:rPr lang="ko-KR" alt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발악 </a:t>
            </a:r>
            <a:r>
              <a:rPr lang="en-US" altLang="ko-KR" sz="1200" b="0" dirty="0">
                <a:solidFill>
                  <a:srgbClr val="000000"/>
                </a:solidFill>
                <a:latin typeface="Noto Sans KR"/>
                <a:ea typeface="Noto Sans KR"/>
              </a:rPr>
              <a:t>1, 2 </a:t>
            </a:r>
            <a:r>
              <a:rPr lang="ko-KR" altLang="en-US" sz="1200" b="0" dirty="0">
                <a:solidFill>
                  <a:srgbClr val="000000"/>
                </a:solidFill>
                <a:latin typeface="Noto Sans KR"/>
                <a:ea typeface="Noto Sans KR"/>
              </a:rPr>
              <a:t>번갈아 가면서 사용</a:t>
            </a:r>
            <a:endParaRPr sz="120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33271" y="5257800"/>
            <a:ext cx="100584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1300" b="1" dirty="0">
                <a:solidFill>
                  <a:srgbClr val="000000"/>
                </a:solidFill>
                <a:latin typeface="Noto Sans KR"/>
                <a:ea typeface="Noto Sans KR"/>
              </a:rPr>
              <a:t>우선 발동 순위</a:t>
            </a:r>
            <a:r>
              <a:rPr sz="1300" b="1" dirty="0">
                <a:solidFill>
                  <a:srgbClr val="000000"/>
                </a:solidFill>
                <a:latin typeface="Noto Sans KR"/>
                <a:ea typeface="Noto Sans KR"/>
              </a:rPr>
              <a:t>: </a:t>
            </a:r>
            <a:r>
              <a:rPr sz="1300" b="0" dirty="0" err="1">
                <a:solidFill>
                  <a:srgbClr val="000000"/>
                </a:solidFill>
                <a:latin typeface="Noto Sans KR"/>
                <a:ea typeface="Noto Sans KR"/>
              </a:rPr>
              <a:t>발악</a:t>
            </a:r>
            <a:r>
              <a:rPr sz="1300" b="0" dirty="0">
                <a:solidFill>
                  <a:srgbClr val="000000"/>
                </a:solidFill>
                <a:latin typeface="Noto Sans KR"/>
                <a:ea typeface="Noto Sans KR"/>
              </a:rPr>
              <a:t>  &gt;  </a:t>
            </a:r>
            <a:r>
              <a:rPr sz="1300" b="0" dirty="0" err="1">
                <a:solidFill>
                  <a:srgbClr val="000000"/>
                </a:solidFill>
                <a:latin typeface="Noto Sans KR"/>
                <a:ea typeface="Noto Sans KR"/>
              </a:rPr>
              <a:t>쿨타임</a:t>
            </a:r>
            <a:r>
              <a:rPr sz="13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300" b="0" dirty="0" err="1">
                <a:solidFill>
                  <a:srgbClr val="000000"/>
                </a:solidFill>
                <a:latin typeface="Noto Sans KR"/>
                <a:ea typeface="Noto Sans KR"/>
              </a:rPr>
              <a:t>스킬</a:t>
            </a:r>
            <a:r>
              <a:rPr sz="1300" b="0" dirty="0">
                <a:solidFill>
                  <a:srgbClr val="000000"/>
                </a:solidFill>
                <a:latin typeface="Noto Sans KR"/>
                <a:ea typeface="Noto Sans KR"/>
              </a:rPr>
              <a:t>  &gt;  </a:t>
            </a:r>
            <a:r>
              <a:rPr sz="1300" b="0" dirty="0" err="1">
                <a:solidFill>
                  <a:srgbClr val="000000"/>
                </a:solidFill>
                <a:latin typeface="Noto Sans KR"/>
                <a:ea typeface="Noto Sans KR"/>
              </a:rPr>
              <a:t>발악</a:t>
            </a:r>
            <a:r>
              <a:rPr sz="13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300" b="0" dirty="0" err="1">
                <a:solidFill>
                  <a:srgbClr val="000000"/>
                </a:solidFill>
                <a:latin typeface="Noto Sans KR"/>
                <a:ea typeface="Noto Sans KR"/>
              </a:rPr>
              <a:t>번갈아</a:t>
            </a:r>
            <a:r>
              <a:rPr lang="en-US" sz="13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lang="ko-KR" altLang="en-US" sz="1300" b="0" dirty="0">
                <a:solidFill>
                  <a:srgbClr val="000000"/>
                </a:solidFill>
                <a:latin typeface="Noto Sans KR"/>
                <a:ea typeface="Noto Sans KR"/>
              </a:rPr>
              <a:t>사용</a:t>
            </a:r>
            <a:r>
              <a:rPr sz="1300" b="0" dirty="0">
                <a:solidFill>
                  <a:srgbClr val="000000"/>
                </a:solidFill>
                <a:latin typeface="Noto Sans KR"/>
                <a:ea typeface="Noto Sans KR"/>
              </a:rPr>
              <a:t>  &gt;  </a:t>
            </a:r>
            <a:r>
              <a:rPr sz="1300" b="0" dirty="0" err="1">
                <a:solidFill>
                  <a:srgbClr val="000000"/>
                </a:solidFill>
                <a:latin typeface="Noto Sans KR"/>
                <a:ea typeface="Noto Sans KR"/>
              </a:rPr>
              <a:t>평타</a:t>
            </a:r>
            <a:endParaRPr sz="130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33271" y="56692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Noto Sans KR"/>
                <a:ea typeface="Noto Sans KR"/>
              </a:rPr>
              <a:t>공격 중엔 다음 공격을 고르지 않음 · 필살기 연출 중엔 새 공격 시작 안 함 · 발악이 기다리는 동안 쿨타임 스킬은 미룸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Noto Sans KR"/>
                <a:ea typeface="Noto Sans KR"/>
              </a:rPr>
              <a:t>수치 = 보스 테이블 (개편 보스 25 ~ 97층). 5 ~ 20층 기존 보스는 쿨타임 스킬 12초 · 첫 사용 6초 (현재 테이블 값)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보스 시스템 – 공격 흐름 · 평타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143000" y="1600200"/>
            <a:ext cx="2240280" cy="77724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000000"/>
                </a:solidFill>
                <a:latin typeface="Noto Sans KR"/>
                <a:ea typeface="Noto Sans KR"/>
              </a:rPr>
              <a:t>준비 (windup)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Noto Sans KR"/>
                <a:ea typeface="Noto Sans KR"/>
              </a:rPr>
              <a:t>몸 떨림 · 예고 원 · 그림자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988819"/>
            <a:ext cx="41148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794760" y="1600200"/>
            <a:ext cx="2240280" cy="777240"/>
          </a:xfrm>
          <a:prstGeom prst="roundRect">
            <a:avLst/>
          </a:prstGeom>
          <a:solidFill>
            <a:srgbClr val="FBE5D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 dirty="0" err="1">
                <a:solidFill>
                  <a:srgbClr val="000000"/>
                </a:solidFill>
                <a:latin typeface="Noto Sans KR"/>
                <a:ea typeface="Noto Sans KR"/>
              </a:rPr>
              <a:t>발동</a:t>
            </a:r>
            <a:endParaRPr sz="130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ctr"/>
            <a:r>
              <a:rPr sz="1100" b="0" dirty="0" err="1">
                <a:solidFill>
                  <a:srgbClr val="000000"/>
                </a:solidFill>
                <a:latin typeface="Noto Sans KR"/>
                <a:ea typeface="Noto Sans KR"/>
              </a:rPr>
              <a:t>반경</a:t>
            </a:r>
            <a:r>
              <a:rPr sz="1100" b="0" dirty="0">
                <a:solidFill>
                  <a:srgbClr val="000000"/>
                </a:solidFill>
                <a:latin typeface="Noto Sans KR"/>
                <a:ea typeface="Noto Sans KR"/>
              </a:rPr>
              <a:t> 안 쥐 </a:t>
            </a:r>
            <a:r>
              <a:rPr sz="1100" b="0" dirty="0" err="1">
                <a:solidFill>
                  <a:srgbClr val="000000"/>
                </a:solidFill>
                <a:latin typeface="Noto Sans KR"/>
                <a:ea typeface="Noto Sans KR"/>
              </a:rPr>
              <a:t>기절</a:t>
            </a:r>
            <a:r>
              <a:rPr sz="110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100" b="0" dirty="0" err="1">
                <a:solidFill>
                  <a:srgbClr val="000000"/>
                </a:solidFill>
                <a:latin typeface="Noto Sans KR"/>
                <a:ea typeface="Noto Sans KR"/>
              </a:rPr>
              <a:t>밀려남</a:t>
            </a:r>
            <a:endParaRPr sz="110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035040" y="1988819"/>
            <a:ext cx="41148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46520" y="1600200"/>
            <a:ext cx="2240280" cy="77724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 dirty="0" err="1">
                <a:solidFill>
                  <a:srgbClr val="000000"/>
                </a:solidFill>
                <a:latin typeface="Noto Sans KR"/>
                <a:ea typeface="Noto Sans KR"/>
              </a:rPr>
              <a:t>지속</a:t>
            </a:r>
            <a:r>
              <a:rPr sz="1300" b="1" dirty="0">
                <a:solidFill>
                  <a:srgbClr val="000000"/>
                </a:solidFill>
                <a:latin typeface="Noto Sans KR"/>
                <a:ea typeface="Noto Sans KR"/>
              </a:rPr>
              <a:t> (dur)</a:t>
            </a:r>
          </a:p>
          <a:p>
            <a:pPr algn="ctr"/>
            <a:r>
              <a:rPr sz="1100" b="0" dirty="0" err="1">
                <a:solidFill>
                  <a:srgbClr val="000000"/>
                </a:solidFill>
                <a:latin typeface="Noto Sans KR"/>
                <a:ea typeface="Noto Sans KR"/>
              </a:rPr>
              <a:t>소환물</a:t>
            </a:r>
            <a:r>
              <a:rPr sz="110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100" b="0" dirty="0" err="1">
                <a:solidFill>
                  <a:srgbClr val="000000"/>
                </a:solidFill>
                <a:latin typeface="Noto Sans KR"/>
                <a:ea typeface="Noto Sans KR"/>
              </a:rPr>
              <a:t>장판이</a:t>
            </a:r>
            <a:r>
              <a:rPr sz="11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Noto Sans KR"/>
                <a:ea typeface="Noto Sans KR"/>
              </a:rPr>
              <a:t>남음</a:t>
            </a:r>
            <a:endParaRPr sz="110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8686800" y="1988819"/>
            <a:ext cx="41148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098280" y="1600200"/>
            <a:ext cx="2240280" cy="777240"/>
          </a:xfrm>
          <a:prstGeom prst="round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Noto Sans KR"/>
                <a:ea typeface="Noto Sans KR"/>
              </a:rPr>
              <a:t>끝</a:t>
            </a:r>
          </a:p>
          <a:p>
            <a:pPr algn="ctr"/>
            <a:r>
              <a:rPr sz="1100" b="0" dirty="0" err="1">
                <a:solidFill>
                  <a:srgbClr val="000000"/>
                </a:solidFill>
                <a:latin typeface="Noto Sans KR"/>
                <a:ea typeface="Noto Sans KR"/>
              </a:rPr>
              <a:t>공격</a:t>
            </a:r>
            <a:r>
              <a:rPr sz="1100" b="0" dirty="0">
                <a:solidFill>
                  <a:srgbClr val="000000"/>
                </a:solidFill>
                <a:latin typeface="Noto Sans KR"/>
                <a:ea typeface="Noto Sans KR"/>
              </a:rPr>
              <a:t> 쿨 3 ~ 4.5초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5146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발악 준비 : </a:t>
            </a: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스킬 이름 배너 + 보스 색으로 화면 번쩍 + 흔들림 + 발악 대사 · 공격 중엔 보스가 멈추듯 느려짐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17520"/>
              </p:ext>
            </p:extLst>
          </p:nvPr>
        </p:nvGraphicFramePr>
        <p:xfrm>
          <a:off x="1143000" y="3108960"/>
          <a:ext cx="10149840" cy="156362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리그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일반 공격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일반 공격 2 (40%)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사람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휘두르기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— 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부채꼴 범위의 쥐들에게 </a:t>
                      </a:r>
                      <a:r>
                        <a:rPr lang="ko-KR" altLang="en-US"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넉백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공격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내려찍기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—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웅크렸다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가까운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쥐로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점프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범위 공격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덮치기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—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낮고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빠른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점프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범위 공격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헤어볼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—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속 </a:t>
                      </a:r>
                      <a:r>
                        <a:rPr lang="ko-KR" altLang="en-US"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가장 가까운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쥐에게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3개 </a:t>
                      </a:r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던짐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전용 파츠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내려찍기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덮치기</a:t>
                      </a:r>
                      <a:endParaRPr sz="12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143000" y="5120640"/>
          <a:ext cx="6217920" cy="138988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평타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반경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준비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지속</a:t>
                      </a:r>
                      <a:endParaRPr sz="1150" b="1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내려찍기 Stomp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300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2.6초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0.5초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2.0초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덮치기 Pounce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280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2.6초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0.6초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2.0초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휘두르기 Swing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280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2.1초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0.45초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1.2초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헤어볼 Hairball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110 × 3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3.2초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0.4초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1.6초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공통 규칙 – 표현 · 제작 규칙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143000" y="1600200"/>
            <a:ext cx="4846320" cy="214884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Noto Sans KR"/>
                <a:ea typeface="Noto Sans KR"/>
              </a:rPr>
              <a:t>보스 · 스킬 이름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4389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패러디 원작과 비슷하게 바꾼 이름, 한글 · 영어 확정 (2026-10-22)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원작 이름은 '패러디 원작' 칸에만 · 예) 괴렘 → 실험체 고양이 (Subject Kitty)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484632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Noto Sans KR"/>
                <a:ea typeface="Noto Sans KR"/>
              </a:rPr>
              <a:t>화면 글자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4389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한글 · 영어 확정 (2026-10-22) → 부록 이름 · 화면 글자 표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HUH? · 우가!! (OOGA!!) · 좋았쓰!! (LOOKS GOOD!!) · 긴급 회의! (EMERGENCY HUDDLE!)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977639"/>
            <a:ext cx="484632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71600" y="416052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Noto Sans KR"/>
                <a:ea typeface="Noto Sans KR"/>
              </a:rPr>
              <a:t>그림체 · 외형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4389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지금 게임 그대로 (플랫, 외곽선 · 광택 없음, 부위별 시트 → 리그)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패러디는 실루엣 · 의상만 (실존 얼굴 · 로고 · 상징 없음)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77639"/>
            <a:ext cx="4846320" cy="214884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Noto Sans KR"/>
                <a:ea typeface="Noto Sans KR"/>
              </a:rPr>
              <a:t>작업 순서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63440"/>
            <a:ext cx="4389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동작 먼저 (임시 그림) → 그림은 나중에 한꺼번에 (적용 끝)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000000"/>
                </a:solidFill>
                <a:latin typeface="Noto Sans KR"/>
                <a:ea typeface="Noto Sans KR"/>
              </a:rPr>
              <a:t>20층 제로 고양이 = 지금 그대로 · 5~15층 그대로 가져감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5~20층 기존 보스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143000" y="1600200"/>
            <a:ext cx="2240280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old_ch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417" y="1783080"/>
            <a:ext cx="1641444" cy="1874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977639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Noto Sans KR"/>
                <a:ea typeface="Noto Sans KR"/>
              </a:rPr>
              <a:t>5층 경비 대장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600200"/>
            <a:ext cx="2240280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10" name="Picture 9" descr="old_m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844559"/>
            <a:ext cx="1783080" cy="17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0" y="3977639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Noto Sans KR"/>
                <a:ea typeface="Noto Sans KR"/>
              </a:rPr>
              <a:t>10층 연구원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00200"/>
            <a:ext cx="2240280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14" name="Picture 13" descr="old_dir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808987"/>
            <a:ext cx="1783080" cy="18227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72200" y="3977639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Noto Sans KR"/>
                <a:ea typeface="Noto Sans KR"/>
              </a:rPr>
              <a:t>15층 연구소장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600200"/>
            <a:ext cx="2240280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18" name="Picture 17" descr="old_z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1910" y="1783080"/>
            <a:ext cx="1570059" cy="18745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86800" y="3977639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Noto Sans KR"/>
                <a:ea typeface="Noto Sans KR"/>
              </a:rPr>
              <a:t>20층 제로 고양이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1" y="5349240"/>
            <a:ext cx="100584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 err="1">
                <a:solidFill>
                  <a:srgbClr val="000000"/>
                </a:solidFill>
                <a:latin typeface="Noto Sans KR"/>
                <a:ea typeface="Noto Sans KR"/>
              </a:rPr>
              <a:t>유지</a:t>
            </a:r>
            <a:r>
              <a:rPr sz="1500" b="1" dirty="0">
                <a:solidFill>
                  <a:srgbClr val="000000"/>
                </a:solidFill>
                <a:latin typeface="Noto Sans KR"/>
                <a:ea typeface="Noto Sans KR"/>
              </a:rPr>
              <a:t> : </a:t>
            </a:r>
            <a:r>
              <a:rPr sz="1500" b="0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r>
              <a:rPr lang="en-US" sz="1500" b="0" dirty="0">
                <a:solidFill>
                  <a:srgbClr val="000000"/>
                </a:solidFill>
                <a:latin typeface="Noto Sans KR"/>
                <a:ea typeface="Noto Sans KR"/>
              </a:rPr>
              <a:t>,</a:t>
            </a:r>
            <a:r>
              <a:rPr sz="150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lang="ko-KR" altLang="en-US" sz="1500" b="0" dirty="0">
                <a:solidFill>
                  <a:srgbClr val="000000"/>
                </a:solidFill>
                <a:latin typeface="Noto Sans KR"/>
                <a:ea typeface="Noto Sans KR"/>
              </a:rPr>
              <a:t>행동 유지</a:t>
            </a:r>
            <a:endParaRPr sz="150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25층 밈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Meme Cat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pop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137675"/>
            <a:ext cx="2103120" cy="1393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79" y="4206240"/>
            <a:ext cx="2550795" cy="15542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패러디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원작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팝 캣 (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기본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)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해피캣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맥스웰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· Huh Cat 밈</a:t>
            </a:r>
          </a:p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흰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+ 귀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뒷머리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회갈색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얼룩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,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계속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뻐끔거림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.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옆모습에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입이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보일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만큼만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돌림</a:t>
            </a:r>
            <a:endParaRPr sz="125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083523"/>
              </p:ext>
            </p:extLst>
          </p:nvPr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해피캣 투하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Happy Cat Drop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HAPPY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HAPPY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HAPPY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고양이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8마리가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하늘에서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떨어져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지상에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약 3초간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남아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폴짝폴짝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뛰어다님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.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해피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캣에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닿은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쥐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맥스웰 소환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Maxwell Summon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맥스웰 고양이 6마리가 바닥에서 포탈을 열고 올라옴 → 좌우로 몸을 흔들며 몸에 닿는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허 고양이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Huh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밈 고양이 헤드 변경(새로 그림) → HUH? 텍스트 등장. 글자들이 팝콘처럼 포물선으로 튀어 나가 착탄 지점의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30층 실험체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Subject Kitty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goe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82794"/>
            <a:ext cx="2103120" cy="17036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5542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패러디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원작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이터널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리턴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'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이렘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' 2차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창작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'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괴렘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'</a:t>
            </a:r>
          </a:p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하얀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유지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: 귀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없는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둥근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크림색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오드아이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옅은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치즈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얼룩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· 침.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기본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그림은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지금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것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유지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(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동작만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br>
              <a:rPr lang="en-US" sz="1250" b="0" dirty="0">
                <a:solidFill>
                  <a:srgbClr val="000000"/>
                </a:solidFill>
                <a:latin typeface="Noto Sans KR"/>
                <a:ea typeface="Noto Sans KR"/>
              </a:rPr>
            </a:b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참고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느낌으로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174147"/>
              </p:ext>
            </p:extLst>
          </p:nvPr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헤어볼 뱉기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Hairball Spit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입을 열면 헤어볼들이 전방으로 우르르 굴러나옴. 부딪힌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너.. 봤구나?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You... Saw That?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참고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그림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그대로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: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귀가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사라지고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목이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길어진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기괴한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웃음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빨간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리본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말풍선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'너...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봤구나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?',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빛나며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주변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.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이후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그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상태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유지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,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재사용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시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빛나며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주변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기절만</a:t>
                      </a: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나 우울해서 빵됐어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Sad Into Bread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보스는 우는 얼굴 식빵으로 변하고, 하늘에서 우는 고양이 얼굴 빵 총 12개가 떨어져 바닥에 퍼짐. 빵에 맞거나 바닥에 터진 빵 반죽에 닿으면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35층 공룡탈 알바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T-Rex Suit Part-Timer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din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165" y="1737360"/>
            <a:ext cx="1151108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16955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패러디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원작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공룡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탈을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쓴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아르바이트생</a:t>
            </a:r>
            <a:endParaRPr sz="1250" b="0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초록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공룡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탈 · 탈 입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사이로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얼굴이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보임</a:t>
            </a:r>
            <a:endParaRPr sz="125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775822"/>
              </p:ext>
            </p:extLst>
          </p:nvPr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탈 던지기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Mask Toss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약 1~2초 끙끙대며 몸을 떪 → 탈을 뽑아 집어 던짐. 착탄 지점까지 일직선으로 날아가 폭발. 던져도 보스 머리엔 탈이 그대로 남음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티라노 흉내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T-Rex Impression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거대화해서 걸어다님. 걸을 때 화면 진동 + 주변 범위 쥐 기절 (수석 연구원 거대화 패턴과 유사)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현타</a:t>
                      </a:r>
                      <a:r>
                        <a:rPr sz="1300" b="1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담배</a:t>
                      </a:r>
                      <a:endParaRPr sz="1300" b="1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  <a:p>
                      <a:pPr algn="l"/>
                      <a:r>
                        <a:rPr sz="1100" b="0" dirty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Existential Smoke </a:t>
                      </a:r>
                      <a:br>
                        <a:rPr lang="en-US" sz="1100" b="0" dirty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</a:br>
                      <a:r>
                        <a:rPr sz="1100" b="0" dirty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Break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쭈그려 앉아 담배. 연기가 보스에게서 퍼져나오며 점점 옅어짐, 연기에 닿은 쥐 기절. 약 5초 후 복귀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40층 원시인 버티컬 마우스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Caveman Vertical Mouse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vm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077" y="1691640"/>
            <a:ext cx="1216324" cy="2286000"/>
          </a:xfrm>
          <a:prstGeom prst="rect">
            <a:avLst/>
          </a:prstGeom>
        </p:spPr>
      </p:pic>
      <p:pic>
        <p:nvPicPr>
          <p:cNvPr id="7" name="Picture 6" descr="prop_cl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762972"/>
            <a:ext cx="914400" cy="8291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16955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패러디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원작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버티컬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마우스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(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옷은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원시인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옷)</a:t>
            </a:r>
          </a:p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사람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리그에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몸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얼굴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=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직립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쥐,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원시인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옷 +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몽둥</a:t>
            </a:r>
            <a:r>
              <a:rPr lang="ko-KR" altLang="en-US" sz="1250" b="0" dirty="0">
                <a:solidFill>
                  <a:srgbClr val="000000"/>
                </a:solidFill>
                <a:latin typeface="Noto Sans KR"/>
                <a:ea typeface="Noto Sans KR"/>
              </a:rPr>
              <a:t>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몽둥이 강타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Club Smash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약 2초 동안 주변에 몽둥이를 마구 휘두름. 범위 안 쥐는 일정 거리(벽이 있으면 벽까지) 튕겨 날아간 뒤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 (기본)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워크라이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War Cry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몽둥이를 들고 소리를 크게 지름(우가!!). 음파 파동이 퍼져나가며 닿은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 (기본)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버티컬 마우스 투하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Mouse Meteor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버티컬 마우스 약 6개가 운석처럼 떨어져 크레이터를 만들고 4초간 박혀 있음. 크레이터에 닿은 쥐는 미니 버티컬 마우스로 변해 3초간 멋대로 돌아다니고 공격 안 함 (개구리 저주와 비슷)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변신 3초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45층 랩터 사육사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Raptor Keeper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tr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979" y="1691640"/>
            <a:ext cx="888520" cy="2286000"/>
          </a:xfrm>
          <a:prstGeom prst="rect">
            <a:avLst/>
          </a:prstGeom>
        </p:spPr>
      </p:pic>
      <p:pic>
        <p:nvPicPr>
          <p:cNvPr id="7" name="Picture 6" descr="prop_rap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968740"/>
            <a:ext cx="914400" cy="4175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16955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패러디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원작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쥬라기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월드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프랫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(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실루엣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의상만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조끼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차림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사육사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,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손바닥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펴는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팔 ·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소환물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랩터</a:t>
            </a:r>
            <a:endParaRPr sz="125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233362"/>
              </p:ext>
            </p:extLst>
          </p:nvPr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샷건 발사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Shotgun Blast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장전(모션 1초)한 뒤 전방으로 샷건 발사. 보스 주변 + 전방 부채꼴 기절</a:t>
                      </a:r>
                      <a:br>
                        <a:rPr 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</a:b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랩터 떼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Raptor Stampede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 왼쪽 밖에서 오른쪽 밖까지 랩터들이 한 번 우르르 지나가고, 화면 안에 보이는 쥐 전부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  <a:r>
                        <a:rPr lang="ko-KR" alt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초</a:t>
                      </a: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랩터 다루기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Raptor Whisperer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랩터 3마리가 투명 → 불투명하게 등장. 랩터 3마리가 보스 중심으로 회전(약 5초), 그동안 보스는 천천히 걸어다님. 닿은 쥐 기절, 계속 걸릴 수 있음</a:t>
                      </a:r>
                      <a:br>
                        <a:rPr 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</a:br>
                      <a:br>
                        <a:rPr 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</a:b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50층 노조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Union Cat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uni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170698"/>
            <a:ext cx="1371600" cy="1327883"/>
          </a:xfrm>
          <a:prstGeom prst="rect">
            <a:avLst/>
          </a:prstGeom>
        </p:spPr>
      </p:pic>
      <p:pic>
        <p:nvPicPr>
          <p:cNvPr id="7" name="Picture 6" descr="joas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672" y="2491740"/>
            <a:ext cx="579695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785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패러디</a:t>
            </a:r>
            <a:r>
              <a:rPr sz="1250" b="1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원작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노조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+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현장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'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좋았쓰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!!' (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소환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: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좋았쓰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Looks-Good Cat)</a:t>
            </a:r>
          </a:p>
          <a:p>
            <a:pPr algn="l">
              <a:spcAft>
                <a:spcPts val="300"/>
              </a:spcAft>
            </a:pPr>
            <a:r>
              <a:rPr sz="1250" b="1" dirty="0" err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  <a:endParaRPr sz="1250" b="1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기본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=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노조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(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옆모습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),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소환되는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좋았쓰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고양이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= 흰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안전모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, </a:t>
            </a:r>
            <a:endParaRPr lang="en-US" sz="1250" b="0" dirty="0">
              <a:solidFill>
                <a:srgbClr val="000000"/>
              </a:solidFill>
              <a:latin typeface="Noto Sans KR"/>
              <a:ea typeface="Noto Sans KR"/>
            </a:endParaRPr>
          </a:p>
          <a:p>
            <a:pPr algn="l">
              <a:spcAft>
                <a:spcPts val="300"/>
              </a:spcAft>
            </a:pP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두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발로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서서</a:t>
            </a:r>
            <a:r>
              <a:rPr sz="1250" b="0" dirty="0">
                <a:solidFill>
                  <a:srgbClr val="000000"/>
                </a:solidFill>
                <a:latin typeface="Noto Sans KR"/>
                <a:ea typeface="Noto Sans KR"/>
              </a:rPr>
              <a:t> </a:t>
            </a:r>
            <a:r>
              <a:rPr sz="1250" b="0" dirty="0" err="1">
                <a:solidFill>
                  <a:srgbClr val="000000"/>
                </a:solidFill>
                <a:latin typeface="Noto Sans KR"/>
                <a:ea typeface="Noto Sans KR"/>
              </a:rPr>
              <a:t>가리킴</a:t>
            </a:r>
            <a:endParaRPr sz="1250" b="0" dirty="0">
              <a:solidFill>
                <a:srgbClr val="000000"/>
              </a:solidFill>
              <a:latin typeface="Noto Sans KR"/>
              <a:ea typeface="Noto Sans KR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8048117"/>
              </p:ext>
            </p:extLst>
          </p:nvPr>
        </p:nvGraphicFramePr>
        <p:xfrm>
          <a:off x="3794760" y="1600200"/>
          <a:ext cx="7406639" cy="32571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냥냥펀치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Paw-Paw Slap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준비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자세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고양이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사냥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준비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자세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) →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쥐가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모인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br>
                        <a:rPr 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</a:b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곳으로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뛰어가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앞발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4연타.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두드릴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때마다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흔들림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주변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범위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 쥐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  <a:r>
                        <a:rPr lang="ko-KR" alt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초</a:t>
                      </a: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단결 투쟁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Solidarity Strike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두 발로 서서 확성기를 들면 화면이 붉게 깜빡이고, '단결 투쟁'(UNITE &amp; FIGHT) 피켓들이 화면 왼쪽 밖 → 오른쪽 밖으로 지나감. 닿은 쥐 기절</a:t>
                      </a:r>
                      <a:br>
                        <a:rPr 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</a:br>
                      <a:endParaRPr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좋았쓰!! 호출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Call the Looks-Good Cats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보스가 두 발로 서서 안전모를 쓰고 전화를 걺. 진동이 점점 심해지고 좋았쓰 안전모들이 사방으로 포물선을 그리며 튀어나옴. 착탄 지점에 닿으면 기절</a:t>
                      </a:r>
                      <a:br>
                        <a:rPr 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</a:br>
                      <a:br>
                        <a:rPr lang="en-US"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</a:br>
                      <a:endParaRPr lang="en-US" sz="1300" b="0" dirty="0">
                        <a:solidFill>
                          <a:srgbClr val="000000"/>
                        </a:solidFill>
                        <a:latin typeface="Noto Sans KR"/>
                        <a:ea typeface="Noto Sans KR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55층 거미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Spider Cat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sp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162611"/>
            <a:ext cx="1371600" cy="1344057"/>
          </a:xfrm>
          <a:prstGeom prst="rect">
            <a:avLst/>
          </a:prstGeom>
        </p:spPr>
      </p:pic>
      <p:pic>
        <p:nvPicPr>
          <p:cNvPr id="7" name="Picture 6" descr="prop_re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872740"/>
            <a:ext cx="914400" cy="609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토이스토리 아기 머리 거미 장난감 (공사장 철근 활용 컨셉)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아기 얼굴 대신 고양이 얼굴, 다리 = 공사장 철근, 머리 아래 용접 목 받침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철근 가시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Rebar Spikes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잠깐 몸을 떨다가 바라보는 방향 기준 60°(중앙 기준 30°) 부채꼴로 작은 철근 가시 발사. 맞은 쥐 전부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철근 거미줄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Rebar Web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공중에서 큰 철근 거미줄이 바닥으로 낙하. 낙하 범위를 빨간 원으로 표시, 낙하까지 예고 1초. 떨어진 뒤 잠깐 바닥에 남음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거미줄 돌진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Web Dash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시동 거는 자세로 준비 → 방 한 칸 정도 범위를 매우 빠르게 돌진 (총 3초, 방 끝에서 끝까지 0.3초 이내). 오각형 꼭짓점을 별 모양 순서(한 칸 건너뛰기)로 돌진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60층 굴착기 기사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Excavator Operator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op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243" y="1691640"/>
            <a:ext cx="715992" cy="2286000"/>
          </a:xfrm>
          <a:prstGeom prst="rect">
            <a:avLst/>
          </a:prstGeom>
        </p:spPr>
      </p:pic>
      <p:pic>
        <p:nvPicPr>
          <p:cNvPr id="7" name="Picture 6" descr="excav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879066"/>
            <a:ext cx="914400" cy="5969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굴착기 운전하는 사람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안전모 · 고글 · 형광 조끼 작업자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라바콘 투하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Cone Drop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범위를 빨간 원으로 예고, 0.7초 후 특정 범위 3곳에 라바콘 낙하. 라바콘에 닿은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굴삭기 회전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Excavator Spin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굴착기 탑승(이후 계속 굴착기) → 가렌 E처럼 3초 동안 빙글빙글 회전. 회전에 닿은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포크레인 댄스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Digger Dance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360° 사방으로 돌멩이 난사. 돌멩이와 충돌한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65층 상어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Shark Cat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shark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274874"/>
            <a:ext cx="2103120" cy="11195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트랄랄레로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상어 몸 + 고양이 얼굴 + 운동화, 네 발로 고양이처럼 걸음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물방울 감옥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Bubble Jail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범위를 빨간 원으로 예고, 0.7초 후 특정 범위 3곳에 물방울 감옥 생성. 안에 있던 쥐 전부 물방울 안에 갇힘(기절)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지느러미 돌진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Fin Rush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몸을 숨기고 붉게 물든 등지느러미만 보이며 쥐가 가장 많은 범위로 돌진. 충돌한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신발 토네이도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Sneaker Tornado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3초간 외곽에서 안쪽으로 나선 회전하며 움직임. 닿은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70층 머라옹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Mer-Meow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fish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7" y="1737360"/>
            <a:ext cx="1975104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머라이언 (원문: 물고기고양이)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갈기 달린 주황 고양이 얼굴 + 똑바로 선 은빛 물고기 몸, 꼬리 말아 올림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거품 난사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Bubble Barrage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거품 여러 개를 정면(보고 있는 방향)으로 발사 (모티브: 포켓몬 거품광선). 맞은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꼬마 머라옹 소환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Mini Mer-Meows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작은 머라이언 고양이 3마리 소환, 2초간 돌아다님. 닿은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물대포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Water Cannon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입에서 거대 물줄기가 뿜어져 나옴 (원작 패러디: 하이드로펌프). 맞은 쥐는 타격을 받고 밀려나며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75층 심해 잠수부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Deep Sea Diver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deepdi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636" y="1737360"/>
            <a:ext cx="770166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심해 잠수부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놋쇠 잠수 헬멧 · 잠수복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음파 발사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Sonar Ping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얼굴에서 음파 파동 발사. 파동에 맞은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닻 투하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Anchor Drop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공중에서 거대 닻 투하. 닻에 맞은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폭뢰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Depth Charge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일직선으로 물 충격파 5개가 차례로 내리꽂힘. 충격파에 맞은 쥐는 튀어오른 뒤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80층 차력거인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Strongman Giant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cartg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306703"/>
            <a:ext cx="1371600" cy="1055873"/>
          </a:xfrm>
          <a:prstGeom prst="rect">
            <a:avLst/>
          </a:prstGeom>
        </p:spPr>
      </p:pic>
      <p:pic>
        <p:nvPicPr>
          <p:cNvPr id="7" name="Picture 6" descr="prop_cat_tur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879244"/>
            <a:ext cx="914400" cy="5965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차력거인 패러디 (인간 탄 고양이)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네 발로 선 거대한 사람 몸 + 팬티, 등 안장 위 고양이 포탑 2마리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기관총 사격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Machine Gun Fire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일정 범위 안 쥐들에게 3초간 기관총 사격. 맞은 쥐 기절 (다시 기절 가능)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내려찍기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Hammer Fist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팔을 들어올려 바로 앞을 내려침. 내려친 곳 근처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쿵쿵 행진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Stomp March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몸이 커져 3초간 크게 쿵쿵 걸어다님 + 화면 진동 (새 그림 없음). 근처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85층 항공모함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Carrier Cat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car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425043"/>
            <a:ext cx="2103120" cy="819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항공모함 + 고양이 · 봄바르딜로 크로코딜로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관제탑 = 기계식 고양이 머리 (눈 = 함교 창문, 입 = 격납고 문), 비행기 머리 = 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쥐 전투기 출격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Rat Squadron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5초간 고양이 등(활주로)에서 쥐 전투기 6마리 생성. 쥐들 사이를 돌아다니며 부딪힌 쥐 기절 (다시 기절 가능)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눈깔 빔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Eye Beam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관제탑 창문 눈에서 쥐들에게 차례로 빔 발사. 빔에 맞은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악어 폭격기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Crocodile Bomber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근처 쥐들에게 폭탄 6번 폭격 (악어 폭격기는 안 나옴)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90층 총통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Bunker General Cat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dict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16083"/>
            <a:ext cx="2103120" cy="18371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히틀러 — 콧수염 · 제복만 (상징 · 완장 · 휘장 없음)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회색 고양이 · 군모 · 제복 · 장화 (명세 그대로)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94760" y="1600200"/>
          <a:ext cx="7406639" cy="31089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그림 도구 던지기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Art Supply Toss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붓 · 팔레트 · 이젤 · 캔버스를 일직선으로 던짐. 맞은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방구가스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Fart Gas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엉덩이에서 초록색 가스 분사, 5초간 반투명 구름. 영역 안 쥐 기절. 기절한 쥐는 이후 5초간 방독면을 쓰고 방구가스 기절에 면역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수염 던지기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Mustache Toss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수염을 떼어 일직선으로 던짐. 맞은 쥐는 밀려난 뒤 정지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 (정지)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94층 그렘린 고양이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Gremlin Cat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grem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74291"/>
            <a:ext cx="1371600" cy="1120697"/>
          </a:xfrm>
          <a:prstGeom prst="rect">
            <a:avLst/>
          </a:prstGeom>
        </p:spPr>
      </p:pic>
      <p:pic>
        <p:nvPicPr>
          <p:cNvPr id="7" name="Picture 6" descr="prop_e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563457"/>
            <a:ext cx="914400" cy="1228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그렘린 — 미리 보스 층이라고 알리지 않음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알 → 기존 일반 고양이 → 그렘린 고양이(새 그림)로 변신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94760" y="1600200"/>
          <a:ext cx="7406639" cy="347472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등장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알 → 변신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(미구현, 지금은 다른 보스처럼 등장) 예전 방식: 알 → 일반 고양이로 나옴(공격 불가, 쥐에게 애교) → 계단 벽을 부수고 쥐가 계단에 닿으면 그렘린으로 변신 후 보스전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돌진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Charge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쥐가 많은 방향으로 1회 돌진. 부딪힌 쥐를 밀어내고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새끼 그렘린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Baby Gremlins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등에서 작은 그렘린 6마리 소환, 2초간 돌아다니며 닿은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전자레인지 투하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Microwave Drop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하늘에서 보스 절반 크기 전자레인지 투하 → 폭발, 원형 범위 안 모든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97층 수상한 우주복 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Sus Spacesuit Rat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crew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471114"/>
            <a:ext cx="1371600" cy="727051"/>
          </a:xfrm>
          <a:prstGeom prst="rect">
            <a:avLst/>
          </a:prstGeom>
        </p:spPr>
      </p:pic>
      <p:pic>
        <p:nvPicPr>
          <p:cNvPr id="7" name="Picture 6" descr="prop_tent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8854" y="2491740"/>
            <a:ext cx="797331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어몽어스 임포스터 — 미리 알리지 않음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빨간 우주복 쥐, 보스전 때 보스 크기로 커지고 머리가 열리며 촉수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94760" y="1600200"/>
          <a:ext cx="7406639" cy="347472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등장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동료 합류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(미구현, 지금은 다른 보스처럼 등장 + 촉수 삼키기) 층 입장 후 '신화 우주복 쥐 획득!'(Mythic Spacesuit Rat acquired!) → 동료로 합류 → 계단 벽 부수면 보스 크기로 커지며 보스전 (등장 때 촉수 삼키기)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사이렌 투하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Siren Drop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사이렌 4개를 떨어뜨림. 사이렌 중심 원형 범위 안 쥐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촉수 삼키기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Tentacle Gulp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근처 원형 범위 쥐를 잡아먹고 3초 뒤 다시 뱉음 (인구수 그대로). 보스전 시작(등장) 때 + 체력 70% 발악에서 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3초 뒤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뱉음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2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긴급 회의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Emergency Huddle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빨간 버튼을 눌러 '긴급 회의!'(EMERGENCY HUDDLE!). 맵의 모든 쥐가 2초간 못 움직임 (기절)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층별 보스 – 100층 우주 고양이 사령관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n_name"/>
          <p:cNvSpPr txBox="1"/>
          <p:nvPr/>
        </p:nvSpPr>
        <p:spPr>
          <a:xfrm>
            <a:off x="7040880" y="868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>
                <a:solidFill>
                  <a:srgbClr val="E97132"/>
                </a:solidFill>
                <a:latin typeface="Noto Sans KR"/>
                <a:ea typeface="Noto Sans KR"/>
              </a:rPr>
              <a:t>Space Cat Commander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00200"/>
            <a:ext cx="237744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pic>
        <p:nvPicPr>
          <p:cNvPr id="6" name="Picture 5" descr="old_comma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418" y="1737360"/>
            <a:ext cx="1842602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206240"/>
            <a:ext cx="2468880" cy="16078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패러디 원작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이전 우주복 고양이 재사용 (그럼피 아님)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Noto Sans KR"/>
                <a:ea typeface="Noto Sans KR"/>
              </a:rPr>
              <a:t>외형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Noto Sans KR"/>
                <a:ea typeface="Noto Sans KR"/>
              </a:rPr>
              <a:t>우주 헬멧을 쓴 흰 고양이 (기존 그림)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94760" y="1600200"/>
          <a:ext cx="7406639" cy="219456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구분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스킬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동작 · 범위 · 연출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전체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기존 스킬 그대로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예전 우주 고양이 스킬을 그대로 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기존 값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변경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잼 식빵 고양이 회전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</a:rPr>
                        <a:t>Jam Toast Cat Spin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'맥스웰 드롭'만 '잼 바른 식빵 + 고양이 회전'으로 바꿈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기존 값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이름 – 보스 이름 · 화면 글자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label"/>
          <p:cNvSpPr txBox="1"/>
          <p:nvPr/>
        </p:nvSpPr>
        <p:spPr>
          <a:xfrm>
            <a:off x="7040880" y="100584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Noto Sans KR"/>
                <a:ea typeface="Noto Sans KR"/>
              </a:rPr>
              <a:t>사용자 확정 (2026-10-22) · 스킬 이름은 층별 보스 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43000" y="1508760"/>
          <a:ext cx="6355079" cy="4887468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 이름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English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패러디 원작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밈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Meme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팝 캣 · 해피캣 · 맥스웰 · Huh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실험체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Subject Kitty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괴렘 ('이렘' 2차 창작)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공룡탈 알바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T-Rex Suit Part-Timer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40층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원시인 버티컬 마우스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Caveman Vertical Mouse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버티컬 마우스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45층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랩터 사육사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Raptor Keeper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쥬라기 월드 프랫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50층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노조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Union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노조 고양이 · 현장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55층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거미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Spider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토이스토리 아기 머리 거미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60층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굴착기 기사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Excavator Operator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65층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상어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Shark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트랄랄레로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70층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머라옹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Mer-Meow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머라이언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75층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심해 잠수부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Deep Sea Diver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80층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차력거인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Strongman Giant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차력거인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85층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항공모함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Carrier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봄바르딜로 크로코딜로 (발악 2)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90층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총통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Bunker General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히틀러 (콧수염 · 제복만)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94층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그렘린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Gremlin Cat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그렘린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97층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수상한 우주복 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Sus Spacesuit Rat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어몽어스 임포스터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100층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우주 고양이 사령관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Space Cat Commander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이전 우주복 고양이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26679" y="1508760"/>
          <a:ext cx="3611880" cy="395935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 글자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English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25층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HUH?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HUH?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너... 봤구나?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You... saw that?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나 우울해서 빵됐어..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I got sad... so I became bread..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40층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우가!!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OOGA!!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50층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단결 투쟁 (피켓)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UNITE &amp; FIGHT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50층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좋았쓰!!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LOOKS GOOD!!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97층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신화 우주복 쥐 획득!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Mythic Spacesuit Rat acquired!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97층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긴급 회의!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EMERGENCY HUDDLE!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571500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Noto Sans KR"/>
                <a:ea typeface="Noto Sans KR"/>
              </a:rPr>
              <a:t>50층 소환: 좋았쓰 고양이 (Looks-Good Cat)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Noto Sans KR"/>
                <a:ea typeface="Noto Sans KR"/>
              </a:rPr>
              <a:t>미정 사항 없음 (2026-10-22 질문 완료)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데이터 – 보스 테이블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label"/>
          <p:cNvSpPr txBox="1"/>
          <p:nvPr/>
        </p:nvSpPr>
        <p:spPr>
          <a:xfrm>
            <a:off x="7040880" y="100584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Noto Sans KR"/>
                <a:ea typeface="Noto Sans KR"/>
              </a:rPr>
              <a:t>Boss 시트 · 보스 한 줄 = 한 마리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43000" y="1572768"/>
          <a:ext cx="10149840" cy="444398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뜻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개편 보스 값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boss_id · boss_name · code_id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번호 · 이름 · 그림 코드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95xxx · 확정 이름 · boss_*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floor · rig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나오는 층 · 리그 (Human 사람 · Cat 고양이 · Part 전용 파츠)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25 ~ 100 · 리그별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atk_type · atk2_type · atk2_chance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일반 공격 1 · 2 · 2를 쓸 확률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리그별 평타 · 0.4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atk_cd_min · atk_cd_max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공격 간격 (무작위)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 ~ 4.5초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skill_type · skill_cd · skill_first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쿨타임 스킬 · 간격 · 첫 사용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R_* · 8초 · 4초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special1_type · special2_type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 (체력 70%) · 발악 2 (체력 35%)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R_*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special_chance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발악 1 · 2 다 쓴 뒤 공격마다 다시 쓸 확률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0.25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hp_pow_sec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체력 = 층 적정 찍찍 × 이 값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25 ~ 48.6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move_speed · scale · radius_mul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걷는 속도 · 그림 크기 · 몸 반경 배율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95 · 1 ~ 4 · 보스별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cheese_mul · color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보상 치즈 배율 · 배너 · 화면 번쩍 색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300 · 보스별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33271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Noto Sans KR"/>
                <a:ea typeface="Noto Sans KR"/>
              </a:rPr>
              <a:t>보스 대사 = Boss_Line 시트 (Intro 등장 · Hit 맞음 · Special 발악 · Down 격파)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33271" y="749808"/>
            <a:ext cx="914400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000000"/>
                </a:solidFill>
                <a:latin typeface="Noto Sans KR Black"/>
                <a:ea typeface="Noto Sans KR Black"/>
              </a:rPr>
              <a:t>데이터 – 공격 테이블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33856" y="1316736"/>
            <a:ext cx="585216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label"/>
          <p:cNvSpPr txBox="1"/>
          <p:nvPr/>
        </p:nvSpPr>
        <p:spPr>
          <a:xfrm>
            <a:off x="7040880" y="100584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Noto Sans KR"/>
                <a:ea typeface="Noto Sans KR"/>
              </a:rPr>
              <a:t>Atk_Type 시트 · 기술 한 줄 = 패턴 + 수치 + 그림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43000" y="1572768"/>
          <a:ext cx="5257800" cy="384962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뜻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atk_type · atk_name · line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기술 코드 (R_*) · 화면 이름 · 전용 대사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pattern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움직임 종류 (오른쪽 표)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radius · stun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판정 반경 · 기절 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count · windup · dur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개수 · 준비(예고) 초 · 지속 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sprite · size · color · popup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그림 · 크기 · 색 · 팝업 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p1 · p2 · p3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패턴별 값 (각도 · 속도 · 넉백 등)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opt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head · head_keep · body · hide · ride · intro · morph · sticky · mask · red · shake · around · near · explode · all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29400" y="1572768"/>
          <a:ext cx="4663440" cy="413308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패턴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움직임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패턴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움직임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Drop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하늘에서 떨어짐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Grow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거대화 걷기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Rise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바닥 포탈에서 솟음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Pulse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둘레 충격파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Fan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부채꼴로 쏨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Shout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큰 외침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Throw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포물선으로 던짐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Zone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바닥 장판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Parade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화면을 가로지름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Summon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소환물이 돌아다님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Orbit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보스 둘레를 돎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Sweep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가로줄 폭격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Path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별 · 나선 돌진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Rush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가로질러 날아다님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Dash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쥐 무리로 돌진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Beam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빔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Spin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돌며 쫓아감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Swallow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삼켰다 뱉음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Slam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뛰어가 연타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Global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화면 전체 기절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Smash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</a:rPr>
                        <a:t>바로 앞 내려침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33271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Noto Sans KR"/>
                <a:ea typeface="Noto Sans KR"/>
              </a:rPr>
              <a:t>기술 그림 = BossMeme 폴더 · 패턴 설명 = Boss.Meme.cs · Boss.Rework.cs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713</TotalTime>
  <Words>5129</Words>
  <Application>Microsoft Office PowerPoint</Application>
  <PresentationFormat>와이드스크린</PresentationFormat>
  <Paragraphs>990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8" baseType="lpstr">
      <vt:lpstr>Noto Sans KR</vt:lpstr>
      <vt:lpstr>Noto Sans KR Black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도원 박</dc:creator>
  <cp:lastModifiedBy>영웅 김</cp:lastModifiedBy>
  <cp:revision>20</cp:revision>
  <dcterms:created xsi:type="dcterms:W3CDTF">2026-09-29T07:46:10Z</dcterms:created>
  <dcterms:modified xsi:type="dcterms:W3CDTF">2026-10-22T08:16:24Z</dcterms:modified>
</cp:coreProperties>
</file>