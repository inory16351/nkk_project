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7" r:id="rId2"/>
    <p:sldId id="270" r:id="rId3"/>
    <p:sldId id="288" r:id="rId6"/>
    <p:sldId id="289" r:id="rId7"/>
    <p:sldId id="290" r:id="rId5"/>
    <p:sldId id="291" r:id="rId4"/>
    <p:sldId id="292" r:id="rId13"/>
    <p:sldId id="293" r:id="rId14"/>
    <p:sldId id="294" r:id="rId15"/>
    <p:sldId id="295" r:id="rId16"/>
    <p:sldId id="296" r:id="rId17"/>
    <p:sldId id="297" r:id="rId18"/>
    <p:sldId id="298" r:id="rId19"/>
    <p:sldId id="299" r:id="rId20"/>
    <p:sldId id="300" r:id="rId21"/>
    <p:sldId id="301" r:id="rId22"/>
    <p:sldId id="302" r:id="rId23"/>
    <p:sldId id="303" r:id="rId24"/>
    <p:sldId id="304" r:id="rId25"/>
    <p:sldId id="305" r:id="rId26"/>
    <p:sldId id="306" r:id="rId27"/>
    <p:sldId id="307" r:id="rId28"/>
    <p:sldId id="308" r:id="rId29"/>
    <p:sldId id="309" r:id="rId30"/>
    <p:sldId id="310" r:id="rId31"/>
    <p:sldId id="311" r:id="rId32"/>
    <p:sldId id="312" r:id="rId33"/>
    <p:sldId id="313" r:id="rId34"/>
    <p:sldId id="314" r:id="rId35"/>
    <p:sldId id="315" r:id="rId36"/>
    <p:sldId id="316" r:id="rId37"/>
    <p:sldId id="317" r:id="rId38"/>
    <p:sldId id="318" r:id="rId39"/>
    <p:sldId id="319" r:id="rId40"/>
    <p:sldId id="320" r:id="rId41"/>
    <p:sldId id="321" r:id="rId4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6.xml"/><Relationship Id="rId5" Type="http://schemas.openxmlformats.org/officeDocument/2006/relationships/slide" Target="slides/slide5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3A36E70-5542-433F-8775-3EDF9C5AE0B0}" type="datetimeFigureOut">
              <a:rPr lang="ko-KR" altLang="en-US" smtClean="0"/>
              <a:t>2026-10-05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6DF35D8-3F1B-4838-9AA9-54A21BBB9EB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199406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DC393A6-6064-E56E-3CC7-DFBD99E8E6E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28DB02AB-3255-D2EB-3CFF-F102727D98E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77D8953-EF9A-5446-14B9-15328A6E5E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07BC3-FE8E-43D9-9669-1305ABD709FE}" type="datetimeFigureOut">
              <a:rPr lang="ko-KR" altLang="en-US" smtClean="0"/>
              <a:t>2026-10-05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03AA2A7-4921-285E-8E7C-8F46E43D9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DDBC7F2-F5F0-0533-A0E9-1B81D3A9B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515EA-DF8E-4FB8-A334-EEBD4975209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085495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B9389E6-DF22-238B-C563-2F9F1D4DAA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956C26A-24FF-87FC-F30A-C4B2B44E2F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C0326C4-B6D9-516F-67FD-397EE1D8C0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07BC3-FE8E-43D9-9669-1305ABD709FE}" type="datetimeFigureOut">
              <a:rPr lang="ko-KR" altLang="en-US" smtClean="0"/>
              <a:t>2026-10-05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51C34A6-6FFC-F7CC-4C01-9B3EB433DE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7C5DB05-D59B-FA33-685A-4E6B9F111E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515EA-DF8E-4FB8-A334-EEBD4975209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972830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156B36A-C7CE-199F-43D9-2B4BD3817A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CF597C3-AEA1-FAE0-E407-28DD8D0B0A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45A1085-83E7-EA12-ED4F-9DE404B27B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07BC3-FE8E-43D9-9669-1305ABD709FE}" type="datetimeFigureOut">
              <a:rPr lang="ko-KR" altLang="en-US" smtClean="0"/>
              <a:t>2026-10-05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3DF431C-56E1-C642-4F67-B774DC4EF9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819AA2B-B326-9397-B8E6-A23FFA9ADC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515EA-DF8E-4FB8-A334-EEBD4975209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89932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2EE9383-0E57-A2DC-C415-C968ED12F1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B07665B-5634-5B29-6387-A79BACE3866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0E78F0F-8B84-D5C6-443E-195286C943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BFBCED5-13EF-C045-55FF-7B7E62DA18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07BC3-FE8E-43D9-9669-1305ABD709FE}" type="datetimeFigureOut">
              <a:rPr lang="ko-KR" altLang="en-US" smtClean="0"/>
              <a:t>2026-10-05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42224E5-9AB0-9CCB-347D-5DC6659BB3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AB6D396-8184-B7FA-3619-E06FD5F17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515EA-DF8E-4FB8-A334-EEBD4975209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262570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A275A90-C233-E1CC-278F-0339C21367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B876DDC-4A19-7B00-BACD-AA81B08562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BFEF097-737A-0CD1-D299-9114083AFF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AE4C179-65B8-6728-2552-130364EFDE9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BD7BB22C-4B3D-AF9C-1028-950CED609CA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76C7DECF-95C8-40D9-0D89-C27075B2EA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07BC3-FE8E-43D9-9669-1305ABD709FE}" type="datetimeFigureOut">
              <a:rPr lang="ko-KR" altLang="en-US" smtClean="0"/>
              <a:t>2026-10-05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9F6ECB51-558B-8B21-D5FD-5AED613416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76E4D88C-F660-2995-B619-47CD65C0FE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515EA-DF8E-4FB8-A334-EEBD4975209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331353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7BB4D96-C3DA-2EBA-CB1C-AB54F16D8F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F709EAE9-77E5-46A5-B514-9E5D47EF1A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07BC3-FE8E-43D9-9669-1305ABD709FE}" type="datetimeFigureOut">
              <a:rPr lang="ko-KR" altLang="en-US" smtClean="0"/>
              <a:t>2026-10-05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9C17411C-7C73-5F5A-00C9-1A131247DF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72D3380-30B8-3382-A9A4-CFBDE599BF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515EA-DF8E-4FB8-A334-EEBD4975209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140813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16804CBD-D934-1482-365B-560A4B03BE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07BC3-FE8E-43D9-9669-1305ABD709FE}" type="datetimeFigureOut">
              <a:rPr lang="ko-KR" altLang="en-US" smtClean="0"/>
              <a:t>2026-10-05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A4024F1F-E81A-267F-CE72-25342AEA5F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2F5C455-C943-9FC6-7BF1-FB6201BE45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515EA-DF8E-4FB8-A334-EEBD4975209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008711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3B6AB16-80DA-CCE6-B425-8B4AE097CD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C78E645-7AD7-F6FC-7D7E-9549A150C4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57FF677-F054-9F55-94B5-2BF069F3FA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7106BFD-CE99-ED8F-5D6B-A65CDD45A0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07BC3-FE8E-43D9-9669-1305ABD709FE}" type="datetimeFigureOut">
              <a:rPr lang="ko-KR" altLang="en-US" smtClean="0"/>
              <a:t>2026-10-05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9587713-F9FD-636F-55C4-2FA2033DF3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37E4910-C6BD-2158-0C16-22A0BBC53A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515EA-DF8E-4FB8-A334-EEBD4975209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922061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6D67044-6CC1-91E9-DDB0-9D3FBC9325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93C4DC73-3ADB-99EB-751B-01367CF6853F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7FB4AC7-7954-61AE-183D-B2CC3318ED2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F5F8AB9-7B0A-12F0-71E7-D16264D07A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07BC3-FE8E-43D9-9669-1305ABD709FE}" type="datetimeFigureOut">
              <a:rPr lang="ko-KR" altLang="en-US" smtClean="0"/>
              <a:t>2026-10-05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45EE15A-84DA-885B-B293-B7046B47B2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0D53620-ECC2-9101-F7EF-007C0E8EAD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515EA-DF8E-4FB8-A334-EEBD4975209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908537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4DD6A17-418D-C7A1-DE15-4F0A9319BD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A62781E-84EB-82D6-C048-21C9709266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163C778-F0BC-515F-0F74-C8C3831292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07BC3-FE8E-43D9-9669-1305ABD709FE}" type="datetimeFigureOut">
              <a:rPr lang="ko-KR" altLang="en-US" smtClean="0"/>
              <a:t>2026-10-05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321A88D-A3E4-2FA7-B89C-BE6C991FB3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BA72E89-E2A1-72B0-5006-37D4764B3D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515EA-DF8E-4FB8-A334-EEBD4975209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999789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BED17CC4-D318-E38A-C0DF-FAC64DD718F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45AEC1E-287E-7B66-3CF6-3A624189107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9602AFE-8DCD-99D6-AA91-3E1D48DAF2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07BC3-FE8E-43D9-9669-1305ABD709FE}" type="datetimeFigureOut">
              <a:rPr lang="ko-KR" altLang="en-US" smtClean="0"/>
              <a:t>2026-10-05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43EEFAC-A9E9-0F03-DA76-0934407F1A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9D13154-3A71-08B5-C8BC-5A2DE42D04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515EA-DF8E-4FB8-A334-EEBD4975209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5643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F6BEAC52-5ACF-3D3B-572A-8A580134E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537A941-5FFE-60C2-6BEE-9AC32BCAFC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8AFB020-A6E6-720E-DBE2-5500BFFD00A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A507BC3-FE8E-43D9-9669-1305ABD709FE}" type="datetimeFigureOut">
              <a:rPr lang="ko-KR" altLang="en-US" smtClean="0"/>
              <a:t>2026-10-05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9D48124-2D2C-AC0D-095E-64ECF7C5CC4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42BBDD3-DA8B-B4C2-2786-B51A866236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7E515EA-DF8E-4FB8-A334-EEBD4975209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010367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microsoft.com/office/2007/relationships/hdphoto" Target="../media/hdphoto1.wdp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Relationship Id="rId7" Type="http://schemas.openxmlformats.org/officeDocument/2006/relationships/image" Target="../media/image9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14.png"/><Relationship Id="rId9" Type="http://schemas.openxmlformats.org/officeDocument/2006/relationships/image" Target="../media/image15.png"/><Relationship Id="rId10" Type="http://schemas.openxmlformats.org/officeDocument/2006/relationships/image" Target="../media/image16.png"/><Relationship Id="rId11" Type="http://schemas.openxmlformats.org/officeDocument/2006/relationships/image" Target="../media/image6.png"/><Relationship Id="rId12" Type="http://schemas.openxmlformats.org/officeDocument/2006/relationships/image" Target="../media/image17.png"/><Relationship Id="rId13" Type="http://schemas.openxmlformats.org/officeDocument/2006/relationships/image" Target="../media/image18.png"/><Relationship Id="rId14" Type="http://schemas.openxmlformats.org/officeDocument/2006/relationships/image" Target="../media/image8.png"/><Relationship Id="rId15" Type="http://schemas.openxmlformats.org/officeDocument/2006/relationships/image" Target="../media/image19.png"/><Relationship Id="rId16" Type="http://schemas.openxmlformats.org/officeDocument/2006/relationships/image" Target="../media/image20.png"/><Relationship Id="rId17" Type="http://schemas.openxmlformats.org/officeDocument/2006/relationships/image" Target="../media/image21.png"/><Relationship Id="rId18" Type="http://schemas.openxmlformats.org/officeDocument/2006/relationships/image" Target="../media/image22.png"/><Relationship Id="rId19" Type="http://schemas.openxmlformats.org/officeDocument/2006/relationships/image" Target="../media/image23.png"/><Relationship Id="rId20" Type="http://schemas.openxmlformats.org/officeDocument/2006/relationships/image" Target="../media/image24.png"/><Relationship Id="rId21" Type="http://schemas.openxmlformats.org/officeDocument/2006/relationships/image" Target="../media/image9.png"/><Relationship Id="rId22" Type="http://schemas.openxmlformats.org/officeDocument/2006/relationships/image" Target="../media/image2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26.png"/><Relationship Id="rId4" Type="http://schemas.openxmlformats.org/officeDocument/2006/relationships/image" Target="../media/image27.png"/><Relationship Id="rId5" Type="http://schemas.openxmlformats.org/officeDocument/2006/relationships/image" Target="../media/image28.png"/><Relationship Id="rId6" Type="http://schemas.openxmlformats.org/officeDocument/2006/relationships/image" Target="../media/image29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30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image" Target="../media/image3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image" Target="../media/image32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image" Target="../media/image33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image" Target="../media/image34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Relationship Id="rId3" Type="http://schemas.openxmlformats.org/officeDocument/2006/relationships/image" Target="../media/image35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36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FBEA6AB8-3459-4522-53F5-7C14230533A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2999548" y="0"/>
            <a:ext cx="13031738" cy="7334250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CF0FEDD4-FC25-2665-EB00-EC6FC31A263C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44500" y="-584200"/>
            <a:ext cx="10476690" cy="11499850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6C0887F5-26E7-4DBC-8B40-F32358FB68A9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98000"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-13000"/>
                    </a14:imgEffect>
                    <a14:imgEffect>
                      <a14:saturation sat="68000"/>
                    </a14:imgEffect>
                    <a14:imgEffect>
                      <a14:brightnessContrast contrast="-2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71193" y="1299919"/>
            <a:ext cx="3447438" cy="2886696"/>
          </a:xfrm>
          <a:prstGeom prst="rect">
            <a:avLst/>
          </a:prstGeom>
        </p:spPr>
      </p:pic>
      <p:sp>
        <p:nvSpPr>
          <p:cNvPr id="19" name="직사각형 18">
            <a:extLst>
              <a:ext uri="{FF2B5EF4-FFF2-40B4-BE49-F238E27FC236}">
                <a16:creationId xmlns:a16="http://schemas.microsoft.com/office/drawing/2014/main" id="{C7A06AEE-6D79-F7C1-BC5F-55B52EC8956B}"/>
              </a:ext>
            </a:extLst>
          </p:cNvPr>
          <p:cNvSpPr/>
          <p:nvPr/>
        </p:nvSpPr>
        <p:spPr>
          <a:xfrm>
            <a:off x="12644430" y="2647178"/>
            <a:ext cx="6553200" cy="231457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제목 1">
            <a:extLst>
              <a:ext uri="{FF2B5EF4-FFF2-40B4-BE49-F238E27FC236}">
                <a16:creationId xmlns:a16="http://schemas.microsoft.com/office/drawing/2014/main" id="{67F283C6-905D-F7E0-356B-57BB926D0C48}"/>
              </a:ext>
            </a:extLst>
          </p:cNvPr>
          <p:cNvSpPr txBox="1">
            <a:spLocks/>
          </p:cNvSpPr>
          <p:nvPr/>
        </p:nvSpPr>
        <p:spPr>
          <a:xfrm>
            <a:off x="4912504" y="2025631"/>
            <a:ext cx="6583680" cy="10906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ko-KR" altLang="en-US" sz="40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보스 기획서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D473B0AB-7702-7F91-B4AE-1F49DBB7A08A}"/>
              </a:ext>
            </a:extLst>
          </p:cNvPr>
          <p:cNvSpPr/>
          <p:nvPr/>
        </p:nvSpPr>
        <p:spPr>
          <a:xfrm>
            <a:off x="6430871" y="3043673"/>
            <a:ext cx="4950241" cy="1285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제목 1">
            <a:extLst>
              <a:ext uri="{FF2B5EF4-FFF2-40B4-BE49-F238E27FC236}">
                <a16:creationId xmlns:a16="http://schemas.microsoft.com/office/drawing/2014/main" id="{6D4083D5-045D-076C-58E9-A0AD0661291A}"/>
              </a:ext>
            </a:extLst>
          </p:cNvPr>
          <p:cNvSpPr txBox="1">
            <a:spLocks/>
          </p:cNvSpPr>
          <p:nvPr/>
        </p:nvSpPr>
        <p:spPr>
          <a:xfrm>
            <a:off x="5933131" y="1030384"/>
            <a:ext cx="5534025" cy="109061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j-cs"/>
              </a:defRPr>
            </a:lvl1pPr>
          </a:lstStyle>
          <a:p>
            <a:pPr algn="r"/>
            <a:r>
              <a:rPr lang="ko-KR" altLang="en-US" sz="3600" dirty="0" err="1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찍!찍!!찍!!!</a:t>
            </a:r>
            <a:r>
              <a:rPr lang="ko-KR" altLang="en-US" sz="36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/>
            </a:r>
          </a:p>
        </p:txBody>
      </p: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587E28EF-886F-0CFD-BEC4-8433CD23A18D}"/>
              </a:ext>
            </a:extLst>
          </p:cNvPr>
          <p:cNvCxnSpPr>
            <a:cxnSpLocks/>
          </p:cNvCxnSpPr>
          <p:nvPr/>
        </p:nvCxnSpPr>
        <p:spPr>
          <a:xfrm flipH="1">
            <a:off x="8069943" y="5602514"/>
            <a:ext cx="3311169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7B234270-9A17-D048-55ED-0940FB5181CB}"/>
              </a:ext>
            </a:extLst>
          </p:cNvPr>
          <p:cNvSpPr txBox="1"/>
          <p:nvPr/>
        </p:nvSpPr>
        <p:spPr>
          <a:xfrm>
            <a:off x="7924727" y="5681050"/>
            <a:ext cx="1750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문서</a:t>
            </a:r>
            <a:r>
              <a:rPr lang="ko-KR" altLang="en-US" sz="11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ko-KR" altLang="en-US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최초</a:t>
            </a:r>
            <a:r>
              <a:rPr lang="ko-KR" altLang="en-US" sz="11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ko-KR" altLang="en-US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작성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D46DB5F-99B5-2DF5-20D0-7D648CF23BBA}"/>
              </a:ext>
            </a:extLst>
          </p:cNvPr>
          <p:cNvSpPr txBox="1"/>
          <p:nvPr/>
        </p:nvSpPr>
        <p:spPr>
          <a:xfrm>
            <a:off x="7924727" y="5908388"/>
            <a:ext cx="1750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20261022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DB9862D-8354-2B26-3755-E5875B6F5F99}"/>
              </a:ext>
            </a:extLst>
          </p:cNvPr>
          <p:cNvSpPr txBox="1"/>
          <p:nvPr/>
        </p:nvSpPr>
        <p:spPr>
          <a:xfrm>
            <a:off x="9746184" y="5681050"/>
            <a:ext cx="1750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문서</a:t>
            </a:r>
            <a:r>
              <a:rPr lang="ko-KR" altLang="en-US" sz="11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ko-KR" altLang="en-US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최종 수정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1762AE9-8E80-5211-7A5B-F60FD5C0C8F2}"/>
              </a:ext>
            </a:extLst>
          </p:cNvPr>
          <p:cNvSpPr txBox="1"/>
          <p:nvPr/>
        </p:nvSpPr>
        <p:spPr>
          <a:xfrm>
            <a:off x="9746184" y="5908388"/>
            <a:ext cx="1750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20261022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F5D466C-90B9-B6E4-29C9-B8988710CC87}"/>
              </a:ext>
            </a:extLst>
          </p:cNvPr>
          <p:cNvSpPr txBox="1"/>
          <p:nvPr/>
        </p:nvSpPr>
        <p:spPr>
          <a:xfrm>
            <a:off x="7924727" y="6125755"/>
            <a:ext cx="1750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정승운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58EC428-0738-7268-75BF-5B2C8ADB4509}"/>
              </a:ext>
            </a:extLst>
          </p:cNvPr>
          <p:cNvSpPr txBox="1"/>
          <p:nvPr/>
        </p:nvSpPr>
        <p:spPr>
          <a:xfrm>
            <a:off x="9746184" y="6125755"/>
            <a:ext cx="1750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정승운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7CE1F9B-BC50-79D3-2842-5337CC455BE8}"/>
              </a:ext>
            </a:extLst>
          </p:cNvPr>
          <p:cNvSpPr txBox="1"/>
          <p:nvPr/>
        </p:nvSpPr>
        <p:spPr>
          <a:xfrm>
            <a:off x="8667156" y="3269557"/>
            <a:ext cx="2800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2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NKK </a:t>
            </a:r>
            <a:r>
              <a:rPr lang="ko-KR" altLang="en-US" sz="2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스튜디오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1980111-F950-876F-8A3C-CF017C1D0629}"/>
              </a:ext>
            </a:extLst>
          </p:cNvPr>
          <p:cNvSpPr txBox="1"/>
          <p:nvPr/>
        </p:nvSpPr>
        <p:spPr>
          <a:xfrm>
            <a:off x="9907458" y="3607535"/>
            <a:ext cx="1559698" cy="1354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6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 팀장 </a:t>
            </a:r>
            <a:r>
              <a:rPr lang="ko-KR" altLang="en-US" sz="1600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박송호</a:t>
            </a:r>
            <a:endParaRPr lang="en-US" altLang="ko-KR" sz="16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r"/>
            <a:r>
              <a:rPr lang="ko-KR" altLang="en-US" sz="1600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부팀장</a:t>
            </a:r>
            <a:r>
              <a:rPr lang="ko-KR" altLang="en-US" sz="16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ko-KR" altLang="en-US" sz="1600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정승운</a:t>
            </a:r>
            <a:endParaRPr lang="en-US" altLang="ko-KR" sz="16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r"/>
            <a:r>
              <a:rPr lang="ko-KR" altLang="en-US" sz="16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팀원 </a:t>
            </a:r>
            <a:r>
              <a:rPr lang="ko-KR" altLang="en-US" sz="1600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김규장</a:t>
            </a:r>
            <a:endParaRPr lang="en-US" altLang="ko-KR" sz="16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r"/>
            <a:r>
              <a:rPr lang="ko-KR" altLang="en-US" sz="16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박도원</a:t>
            </a:r>
            <a:endParaRPr lang="en-US" altLang="ko-KR" sz="16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r"/>
            <a:r>
              <a:rPr lang="ko-KR" altLang="en-US" sz="1600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이예성</a:t>
            </a:r>
            <a:endParaRPr lang="ko-KR" altLang="en-US" sz="16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cxnSp>
        <p:nvCxnSpPr>
          <p:cNvPr id="44" name="직선 연결선 43">
            <a:extLst>
              <a:ext uri="{FF2B5EF4-FFF2-40B4-BE49-F238E27FC236}">
                <a16:creationId xmlns:a16="http://schemas.microsoft.com/office/drawing/2014/main" id="{295DFC10-0916-1978-C9EA-2D391273CF26}"/>
              </a:ext>
            </a:extLst>
          </p:cNvPr>
          <p:cNvCxnSpPr>
            <a:cxnSpLocks/>
          </p:cNvCxnSpPr>
          <p:nvPr/>
        </p:nvCxnSpPr>
        <p:spPr>
          <a:xfrm flipH="1">
            <a:off x="5524500" y="1075469"/>
            <a:ext cx="5856612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8E522AC8-AA6F-A240-B228-D3E8956DFD76}"/>
              </a:ext>
            </a:extLst>
          </p:cNvPr>
          <p:cNvSpPr txBox="1"/>
          <p:nvPr/>
        </p:nvSpPr>
        <p:spPr>
          <a:xfrm>
            <a:off x="5452970" y="728373"/>
            <a:ext cx="60287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400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기맞기획</a:t>
            </a:r>
            <a:r>
              <a:rPr lang="ko-KR" altLang="en-US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en-US" altLang="ko-KR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11</a:t>
            </a:r>
            <a:r>
              <a:rPr lang="ko-KR" altLang="en-US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기 기업 협약 프로젝트 </a:t>
            </a:r>
            <a:r>
              <a:rPr lang="en-US" altLang="ko-KR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2</a:t>
            </a:r>
            <a:r>
              <a:rPr lang="ko-KR" altLang="en-US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팀 </a:t>
            </a:r>
            <a:r>
              <a:rPr lang="en-US" altLang="ko-KR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‘NKK </a:t>
            </a:r>
            <a:r>
              <a:rPr lang="ko-KR" altLang="en-US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스튜디오</a:t>
            </a:r>
            <a:r>
              <a:rPr lang="en-US" altLang="ko-KR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’ </a:t>
            </a:r>
            <a:r>
              <a:rPr lang="ko-KR" altLang="en-US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제작</a:t>
            </a:r>
          </a:p>
        </p:txBody>
      </p:sp>
    </p:spTree>
    <p:extLst>
      <p:ext uri="{BB962C8B-B14F-4D97-AF65-F5344CB8AC3E}">
        <p14:creationId xmlns:p14="http://schemas.microsoft.com/office/powerpoint/2010/main" val="26922069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B69C4F-7865-37A1-27AD-71B3124525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0742A394-D6B0-70C4-190D-0AE707D28723}"/>
              </a:ext>
            </a:extLst>
          </p:cNvPr>
          <p:cNvSpPr txBox="1"/>
          <p:nvPr/>
        </p:nvSpPr>
        <p:spPr>
          <a:xfrm>
            <a:off x="1029084" y="746202"/>
            <a:ext cx="18192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목차</a:t>
            </a:r>
          </a:p>
        </p:txBody>
      </p: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3318F2E6-55D1-41EF-9E71-C1F38FB67817}"/>
              </a:ext>
            </a:extLst>
          </p:cNvPr>
          <p:cNvCxnSpPr>
            <a:cxnSpLocks/>
          </p:cNvCxnSpPr>
          <p:nvPr/>
        </p:nvCxnSpPr>
        <p:spPr>
          <a:xfrm flipH="1">
            <a:off x="1133475" y="1320596"/>
            <a:ext cx="5856612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1" name="TextBox 14">
            <a:extLst>
              <a:ext uri="{FF2B5EF4-FFF2-40B4-BE49-F238E27FC236}">
                <a16:creationId xmlns:a16="http://schemas.microsoft.com/office/drawing/2014/main" id="{EDC55178-8184-FD35-C46F-81B835D405B3}"/>
              </a:ext>
            </a:extLst>
          </p:cNvPr>
          <p:cNvSpPr txBox="1"/>
          <p:nvPr/>
        </p:nvSpPr>
        <p:spPr>
          <a:xfrm>
            <a:off x="1709928" y="1536192"/>
            <a:ext cx="3657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개요 – 2P</a:t>
            </a:r>
          </a:p>
        </p:txBody>
      </p:sp>
      <p:sp>
        <p:nvSpPr>
          <p:cNvPr id="1002" name="TextBox 28">
            <a:extLst>
              <a:ext uri="{FF2B5EF4-FFF2-40B4-BE49-F238E27FC236}">
                <a16:creationId xmlns:a16="http://schemas.microsoft.com/office/drawing/2014/main" id="{67D3ACF5-BFDD-C370-CA12-DD2BF4A53F55}"/>
              </a:ext>
            </a:extLst>
          </p:cNvPr>
          <p:cNvSpPr txBox="1"/>
          <p:nvPr/>
        </p:nvSpPr>
        <p:spPr>
          <a:xfrm>
            <a:off x="2212848" y="2011680"/>
            <a:ext cx="36576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1. 목차 · 로그</a:t>
            </a:r>
          </a:p>
          <a:p>
            <a:r>
              <a:rPr lang="en-US" altLang="ko-KR" sz="16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2. 기획 의도</a:t>
            </a:r>
          </a:p>
          <a:p>
            <a:r>
              <a:rPr lang="en-US" altLang="ko-KR" sz="16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3. 보스 일람</a:t>
            </a:r>
          </a:p>
        </p:txBody>
      </p:sp>
      <p:sp>
        <p:nvSpPr>
          <p:cNvPr id="1003" name="직사각형 48">
            <a:extLst>
              <a:ext uri="{FF2B5EF4-FFF2-40B4-BE49-F238E27FC236}">
                <a16:creationId xmlns:a16="http://schemas.microsoft.com/office/drawing/2014/main" id="{8A351382-A663-193F-052F-16BC8A514A69}"/>
              </a:ext>
            </a:extLst>
          </p:cNvPr>
          <p:cNvSpPr/>
          <p:nvPr/>
        </p:nvSpPr>
        <p:spPr>
          <a:xfrm rot="5400000">
            <a:off x="1490472" y="1664207"/>
            <a:ext cx="239515" cy="11151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04" name="TextBox 14">
            <a:extLst>
              <a:ext uri="{FF2B5EF4-FFF2-40B4-BE49-F238E27FC236}">
                <a16:creationId xmlns:a16="http://schemas.microsoft.com/office/drawing/2014/main" id="{EDC55178-8184-FD35-C46F-81B835D405B3}"/>
              </a:ext>
            </a:extLst>
          </p:cNvPr>
          <p:cNvSpPr txBox="1"/>
          <p:nvPr/>
        </p:nvSpPr>
        <p:spPr>
          <a:xfrm>
            <a:off x="1709928" y="3136392"/>
            <a:ext cx="3657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보스 시스템 – 6P</a:t>
            </a:r>
          </a:p>
        </p:txBody>
      </p:sp>
      <p:sp>
        <p:nvSpPr>
          <p:cNvPr id="1005" name="TextBox 28">
            <a:extLst>
              <a:ext uri="{FF2B5EF4-FFF2-40B4-BE49-F238E27FC236}">
                <a16:creationId xmlns:a16="http://schemas.microsoft.com/office/drawing/2014/main" id="{67D3ACF5-BFDD-C370-CA12-DD2BF4A53F55}"/>
              </a:ext>
            </a:extLst>
          </p:cNvPr>
          <p:cNvSpPr txBox="1"/>
          <p:nvPr/>
        </p:nvSpPr>
        <p:spPr>
          <a:xfrm>
            <a:off x="2212848" y="3611880"/>
            <a:ext cx="36576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1. 보스 층 진행 · 상태 변화</a:t>
            </a:r>
          </a:p>
          <a:p>
            <a:r>
              <a:rPr lang="en-US" altLang="ko-KR" sz="16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2. 공격 선택 · 발동 조건</a:t>
            </a:r>
          </a:p>
          <a:p>
            <a:r>
              <a:rPr lang="en-US" altLang="ko-KR" sz="16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3. 공격 흐름 · 평타</a:t>
            </a:r>
          </a:p>
          <a:p>
            <a:r>
              <a:rPr lang="en-US" altLang="ko-KR" sz="16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4. 체력 · 보상 · 형태 변화</a:t>
            </a:r>
          </a:p>
        </p:txBody>
      </p:sp>
      <p:sp>
        <p:nvSpPr>
          <p:cNvPr id="1006" name="직사각형 48">
            <a:extLst>
              <a:ext uri="{FF2B5EF4-FFF2-40B4-BE49-F238E27FC236}">
                <a16:creationId xmlns:a16="http://schemas.microsoft.com/office/drawing/2014/main" id="{8A351382-A663-193F-052F-16BC8A514A69}"/>
              </a:ext>
            </a:extLst>
          </p:cNvPr>
          <p:cNvSpPr/>
          <p:nvPr/>
        </p:nvSpPr>
        <p:spPr>
          <a:xfrm rot="5400000">
            <a:off x="1490472" y="3264408"/>
            <a:ext cx="239515" cy="11151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07" name="TextBox 14">
            <a:extLst>
              <a:ext uri="{FF2B5EF4-FFF2-40B4-BE49-F238E27FC236}">
                <a16:creationId xmlns:a16="http://schemas.microsoft.com/office/drawing/2014/main" id="{EDC55178-8184-FD35-C46F-81B835D405B3}"/>
              </a:ext>
            </a:extLst>
          </p:cNvPr>
          <p:cNvSpPr txBox="1"/>
          <p:nvPr/>
        </p:nvSpPr>
        <p:spPr>
          <a:xfrm>
            <a:off x="1709928" y="4736592"/>
            <a:ext cx="3657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공통 규칙 – 12P</a:t>
            </a:r>
          </a:p>
        </p:txBody>
      </p:sp>
      <p:sp>
        <p:nvSpPr>
          <p:cNvPr id="1008" name="TextBox 28">
            <a:extLst>
              <a:ext uri="{FF2B5EF4-FFF2-40B4-BE49-F238E27FC236}">
                <a16:creationId xmlns:a16="http://schemas.microsoft.com/office/drawing/2014/main" id="{67D3ACF5-BFDD-C370-CA12-DD2BF4A53F55}"/>
              </a:ext>
            </a:extLst>
          </p:cNvPr>
          <p:cNvSpPr txBox="1"/>
          <p:nvPr/>
        </p:nvSpPr>
        <p:spPr>
          <a:xfrm>
            <a:off x="2212848" y="5212079"/>
            <a:ext cx="36576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1. 기절 · 넉백 · 인구수</a:t>
            </a:r>
          </a:p>
          <a:p>
            <a:r>
              <a:rPr lang="en-US" altLang="ko-KR" sz="16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2. 표현 · 제작 규칙</a:t>
            </a:r>
          </a:p>
        </p:txBody>
      </p:sp>
      <p:sp>
        <p:nvSpPr>
          <p:cNvPr id="1009" name="직사각형 48">
            <a:extLst>
              <a:ext uri="{FF2B5EF4-FFF2-40B4-BE49-F238E27FC236}">
                <a16:creationId xmlns:a16="http://schemas.microsoft.com/office/drawing/2014/main" id="{8A351382-A663-193F-052F-16BC8A514A69}"/>
              </a:ext>
            </a:extLst>
          </p:cNvPr>
          <p:cNvSpPr/>
          <p:nvPr/>
        </p:nvSpPr>
        <p:spPr>
          <a:xfrm rot="5400000">
            <a:off x="1490472" y="4864608"/>
            <a:ext cx="239515" cy="11151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10" name="TextBox 14">
            <a:extLst>
              <a:ext uri="{FF2B5EF4-FFF2-40B4-BE49-F238E27FC236}">
                <a16:creationId xmlns:a16="http://schemas.microsoft.com/office/drawing/2014/main" id="{EDC55178-8184-FD35-C46F-81B835D405B3}"/>
              </a:ext>
            </a:extLst>
          </p:cNvPr>
          <p:cNvSpPr txBox="1"/>
          <p:nvPr/>
        </p:nvSpPr>
        <p:spPr>
          <a:xfrm>
            <a:off x="5916168" y="1536192"/>
            <a:ext cx="3657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보스 5~50층 – 14P</a:t>
            </a:r>
          </a:p>
        </p:txBody>
      </p:sp>
      <p:sp>
        <p:nvSpPr>
          <p:cNvPr id="1011" name="TextBox 28">
            <a:extLst>
              <a:ext uri="{FF2B5EF4-FFF2-40B4-BE49-F238E27FC236}">
                <a16:creationId xmlns:a16="http://schemas.microsoft.com/office/drawing/2014/main" id="{67D3ACF5-BFDD-C370-CA12-DD2BF4A53F55}"/>
              </a:ext>
            </a:extLst>
          </p:cNvPr>
          <p:cNvSpPr txBox="1"/>
          <p:nvPr/>
        </p:nvSpPr>
        <p:spPr>
          <a:xfrm>
            <a:off x="6419088" y="2011680"/>
            <a:ext cx="36576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1. 5~20층 기존 보스</a:t>
            </a:r>
          </a:p>
          <a:p>
            <a:r>
              <a:rPr lang="en-US" altLang="ko-KR" sz="16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2. 25 밈 고양이 ~ 50 노조 고양이</a:t>
            </a:r>
          </a:p>
        </p:txBody>
      </p:sp>
      <p:sp>
        <p:nvSpPr>
          <p:cNvPr id="1012" name="직사각형 48">
            <a:extLst>
              <a:ext uri="{FF2B5EF4-FFF2-40B4-BE49-F238E27FC236}">
                <a16:creationId xmlns:a16="http://schemas.microsoft.com/office/drawing/2014/main" id="{8A351382-A663-193F-052F-16BC8A514A69}"/>
              </a:ext>
            </a:extLst>
          </p:cNvPr>
          <p:cNvSpPr/>
          <p:nvPr/>
        </p:nvSpPr>
        <p:spPr>
          <a:xfrm rot="5400000">
            <a:off x="5696712" y="1664207"/>
            <a:ext cx="239515" cy="11151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13" name="TextBox 14">
            <a:extLst>
              <a:ext uri="{FF2B5EF4-FFF2-40B4-BE49-F238E27FC236}">
                <a16:creationId xmlns:a16="http://schemas.microsoft.com/office/drawing/2014/main" id="{EDC55178-8184-FD35-C46F-81B835D405B3}"/>
              </a:ext>
            </a:extLst>
          </p:cNvPr>
          <p:cNvSpPr txBox="1"/>
          <p:nvPr/>
        </p:nvSpPr>
        <p:spPr>
          <a:xfrm>
            <a:off x="5916168" y="3136392"/>
            <a:ext cx="3657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보스 55~100층 – 21P</a:t>
            </a:r>
          </a:p>
        </p:txBody>
      </p:sp>
      <p:sp>
        <p:nvSpPr>
          <p:cNvPr id="1014" name="TextBox 28">
            <a:extLst>
              <a:ext uri="{FF2B5EF4-FFF2-40B4-BE49-F238E27FC236}">
                <a16:creationId xmlns:a16="http://schemas.microsoft.com/office/drawing/2014/main" id="{67D3ACF5-BFDD-C370-CA12-DD2BF4A53F55}"/>
              </a:ext>
            </a:extLst>
          </p:cNvPr>
          <p:cNvSpPr txBox="1"/>
          <p:nvPr/>
        </p:nvSpPr>
        <p:spPr>
          <a:xfrm>
            <a:off x="6419088" y="3611880"/>
            <a:ext cx="36576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1. 55 거미 고양이 ~ 80 차력거인</a:t>
            </a:r>
          </a:p>
          <a:p>
            <a:r>
              <a:rPr lang="en-US" altLang="ko-KR" sz="16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2. 85 항공모함 ~ 100 우주 고양이 사령관</a:t>
            </a:r>
          </a:p>
        </p:txBody>
      </p:sp>
      <p:sp>
        <p:nvSpPr>
          <p:cNvPr id="1015" name="직사각형 48">
            <a:extLst>
              <a:ext uri="{FF2B5EF4-FFF2-40B4-BE49-F238E27FC236}">
                <a16:creationId xmlns:a16="http://schemas.microsoft.com/office/drawing/2014/main" id="{8A351382-A663-193F-052F-16BC8A514A69}"/>
              </a:ext>
            </a:extLst>
          </p:cNvPr>
          <p:cNvSpPr/>
          <p:nvPr/>
        </p:nvSpPr>
        <p:spPr>
          <a:xfrm rot="5400000">
            <a:off x="5696712" y="3264408"/>
            <a:ext cx="239515" cy="11151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16" name="TextBox 14">
            <a:extLst>
              <a:ext uri="{FF2B5EF4-FFF2-40B4-BE49-F238E27FC236}">
                <a16:creationId xmlns:a16="http://schemas.microsoft.com/office/drawing/2014/main" id="{EDC55178-8184-FD35-C46F-81B835D405B3}"/>
              </a:ext>
            </a:extLst>
          </p:cNvPr>
          <p:cNvSpPr txBox="1"/>
          <p:nvPr/>
        </p:nvSpPr>
        <p:spPr>
          <a:xfrm>
            <a:off x="5916168" y="4736592"/>
            <a:ext cx="3657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부록 – 32P</a:t>
            </a:r>
          </a:p>
        </p:txBody>
      </p:sp>
      <p:sp>
        <p:nvSpPr>
          <p:cNvPr id="1017" name="TextBox 28">
            <a:extLst>
              <a:ext uri="{FF2B5EF4-FFF2-40B4-BE49-F238E27FC236}">
                <a16:creationId xmlns:a16="http://schemas.microsoft.com/office/drawing/2014/main" id="{67D3ACF5-BFDD-C370-CA12-DD2BF4A53F55}"/>
              </a:ext>
            </a:extLst>
          </p:cNvPr>
          <p:cNvSpPr txBox="1"/>
          <p:nvPr/>
        </p:nvSpPr>
        <p:spPr>
          <a:xfrm>
            <a:off x="6419088" y="5212079"/>
            <a:ext cx="36576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1. 필요한 새 그림 목록</a:t>
            </a:r>
          </a:p>
          <a:p>
            <a:r>
              <a:rPr lang="en-US" altLang="ko-KR" sz="16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2. 이름 · 화면 글자</a:t>
            </a:r>
          </a:p>
          <a:p>
            <a:r>
              <a:rPr lang="en-US" altLang="ko-KR" sz="16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3. 보스 · 공격 테이블</a:t>
            </a:r>
          </a:p>
        </p:txBody>
      </p:sp>
      <p:sp>
        <p:nvSpPr>
          <p:cNvPr id="1018" name="직사각형 48">
            <a:extLst>
              <a:ext uri="{FF2B5EF4-FFF2-40B4-BE49-F238E27FC236}">
                <a16:creationId xmlns:a16="http://schemas.microsoft.com/office/drawing/2014/main" id="{8A351382-A663-193F-052F-16BC8A514A69}"/>
              </a:ext>
            </a:extLst>
          </p:cNvPr>
          <p:cNvSpPr/>
          <p:nvPr/>
        </p:nvSpPr>
        <p:spPr>
          <a:xfrm rot="5400000">
            <a:off x="5696712" y="4864608"/>
            <a:ext cx="239515" cy="11151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676991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1B3958-C278-8D05-8336-90242A7B1C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603B47D-5D66-091B-05B7-CEEED05735FB}"/>
              </a:ext>
            </a:extLst>
          </p:cNvPr>
          <p:cNvSpPr txBox="1"/>
          <p:nvPr/>
        </p:nvSpPr>
        <p:spPr>
          <a:xfrm>
            <a:off x="1029084" y="746202"/>
            <a:ext cx="9144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32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개요 – 로그</a:t>
            </a:r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65E76892-A257-C39B-B504-47032CDAACBC}"/>
              </a:ext>
            </a:extLst>
          </p:cNvPr>
          <p:cNvCxnSpPr>
            <a:cxnSpLocks/>
          </p:cNvCxnSpPr>
          <p:nvPr/>
        </p:nvCxnSpPr>
        <p:spPr>
          <a:xfrm flipH="1">
            <a:off x="1133475" y="1320596"/>
            <a:ext cx="5856612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019" name="표 1019"/>
          <p:cNvGraphicFramePr>
            <a:graphicFrameLocks noGrp="1"/>
          </p:cNvGraphicFramePr>
          <p:nvPr/>
        </p:nvGraphicFramePr>
        <p:xfrm>
          <a:off x="1133856" y="1600200"/>
          <a:ext cx="8595360" cy="2743200"/>
        </p:xfrm>
        <a:graphic>
          <a:graphicData uri="http://schemas.openxmlformats.org/drawingml/2006/table">
            <a:tbl>
              <a:tblPr firstRow="1" bandRow="1"/>
              <a:tblGrid>
                <a:gridCol w="548640"/>
                <a:gridCol w="1188720"/>
                <a:gridCol w="1005840"/>
                <a:gridCol w="1645920"/>
                <a:gridCol w="4206240"/>
              </a:tblGrid>
              <a:tr h="4572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순번</a:t>
                      </a:r>
                      <a:endParaRPr lang="ko-KR" sz="12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작성일</a:t>
                      </a:r>
                      <a:endParaRPr lang="ko-KR" sz="12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작성자</a:t>
                      </a:r>
                      <a:endParaRPr lang="ko-KR" sz="12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작성 내용</a:t>
                      </a:r>
                      <a:endParaRPr lang="ko-KR" sz="12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비고</a:t>
                      </a:r>
                      <a:endParaRPr lang="ko-KR" sz="12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1</a:t>
                      </a:r>
                      <a:endParaRPr lang="ko-KR" sz="12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2026-10-22</a:t>
                      </a:r>
                      <a:endParaRPr lang="ko-KR" sz="12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정승운</a:t>
                      </a:r>
                      <a:endParaRPr lang="ko-KR" sz="12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문서 최초 작성</a:t>
                      </a:r>
                      <a:endParaRPr lang="ko-KR" sz="12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보스 행동 명세 원문 + 공통 규칙 정리</a:t>
                      </a:r>
                      <a:endParaRPr lang="ko-KR" sz="12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2</a:t>
                      </a:r>
                      <a:endParaRPr lang="ko-KR" sz="12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2026-10-22</a:t>
                      </a:r>
                      <a:endParaRPr lang="ko-KR" sz="12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정승운</a:t>
                      </a:r>
                      <a:endParaRPr lang="ko-KR" sz="12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질문 결과 반영</a:t>
                      </a:r>
                      <a:endParaRPr lang="ko-KR" sz="12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층별 결정 · 보스/스킬 이름 · 화면 글자 (한글 · 영어) 확정</a:t>
                      </a:r>
                      <a:endParaRPr lang="ko-KR" sz="12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/>
                      </a:r>
                      <a:endParaRPr lang="ko-KR" sz="12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3</a:t>
                      </a:r>
                      <a:endParaRPr lang="ko-KR" sz="12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2026-10-22</a:t>
                      </a:r>
                      <a:endParaRPr lang="ko-KR" sz="12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정승운</a:t>
                      </a:r>
                      <a:endParaRPr lang="ko-KR" sz="12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보스 기획서로 확장</a:t>
                      </a:r>
                      <a:endParaRPr lang="ko-KR" sz="12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보스 층 진행 · 상태 변화 · 공격 발동 조건 · 체력/보상 · 테이블 구조</a:t>
                      </a:r>
                      <a:endParaRPr lang="ko-KR" sz="12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4</a:t>
                      </a:r>
                      <a:endParaRPr lang="ko-KR" sz="12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sz="12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sz="12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sz="12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sz="12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5</a:t>
                      </a:r>
                      <a:endParaRPr lang="ko-KR" sz="12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sz="12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sz="12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sz="12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sz="12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41700123"/>
      </p:ext>
    </p:extLst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1033271" y="749808"/>
            <a:ext cx="9144000" cy="5852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0">
                <a:solidFill>
                  <a:srgbClr val="000000"/>
                </a:solidFill>
                <a:latin typeface="Noto Sans KR Black"/>
                <a:ea typeface="Noto Sans KR Black"/>
              </a:rPr>
              <a:t>개요 – 기획 의도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133856" y="1316736"/>
            <a:ext cx="5852160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label"/>
          <p:cNvSpPr txBox="1"/>
          <p:nvPr/>
        </p:nvSpPr>
        <p:spPr>
          <a:xfrm>
            <a:off x="7040880" y="1005840"/>
            <a:ext cx="4114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95959"/>
                </a:solidFill>
                <a:latin typeface="Noto Sans KR"/>
                <a:ea typeface="Noto Sans KR"/>
              </a:rPr>
              <a:t>사용자 기획 의도 그대로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43000" y="1600200"/>
            <a:ext cx="2926080" cy="868680"/>
          </a:xfrm>
          <a:prstGeom prst="roundRect">
            <a:avLst/>
          </a:prstGeom>
          <a:noFill/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400" b="1">
                <a:solidFill>
                  <a:srgbClr val="000000"/>
                </a:solidFill>
                <a:latin typeface="Noto Sans KR"/>
                <a:ea typeface="Noto Sans KR"/>
              </a:rPr>
              <a:t>반복되는 전투</a:t>
            </a:r>
          </a:p>
          <a:p>
            <a:pPr algn="ctr"/>
            <a:r>
              <a:rPr sz="1400" b="1">
                <a:solidFill>
                  <a:srgbClr val="000000"/>
                </a:solidFill>
                <a:latin typeface="Noto Sans KR"/>
                <a:ea typeface="Noto Sans KR"/>
              </a:rPr>
              <a:t>→ 지루함을 느낄 타이밍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069080" y="2029968"/>
            <a:ext cx="548640" cy="0"/>
          </a:xfrm>
          <a:prstGeom prst="line">
            <a:avLst/>
          </a:prstGeom>
          <a:ln w="25400"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4617720" y="1600200"/>
            <a:ext cx="2926080" cy="868680"/>
          </a:xfrm>
          <a:prstGeom prst="roundRect">
            <a:avLst/>
          </a:prstGeom>
          <a:noFill/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400" b="1">
                <a:solidFill>
                  <a:srgbClr val="000000"/>
                </a:solidFill>
                <a:latin typeface="Noto Sans KR"/>
                <a:ea typeface="Noto Sans KR"/>
              </a:rPr>
              <a:t>5층마다 새 보스</a:t>
            </a:r>
          </a:p>
          <a:p>
            <a:pPr algn="ctr"/>
            <a:r>
              <a:rPr sz="1400" b="1">
                <a:solidFill>
                  <a:srgbClr val="000000"/>
                </a:solidFill>
                <a:latin typeface="Noto Sans KR"/>
                <a:ea typeface="Noto Sans KR"/>
              </a:rPr>
              <a:t>쿨타임 스킬 + 발악 2단계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7543800" y="2029968"/>
            <a:ext cx="548640" cy="0"/>
          </a:xfrm>
          <a:prstGeom prst="line">
            <a:avLst/>
          </a:prstGeom>
          <a:ln w="25400"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8092440" y="1600200"/>
            <a:ext cx="2926080" cy="868680"/>
          </a:xfrm>
          <a:prstGeom prst="roundRect">
            <a:avLst/>
          </a:prstGeom>
          <a:solidFill>
            <a:srgbClr val="FBE5D6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400" b="1">
                <a:solidFill>
                  <a:srgbClr val="000000"/>
                </a:solidFill>
                <a:latin typeface="Noto Sans KR"/>
                <a:ea typeface="Noto Sans KR"/>
              </a:rPr>
              <a:t>리프레쉬 · 도전욕구</a:t>
            </a:r>
          </a:p>
          <a:p>
            <a:pPr algn="ctr"/>
            <a:r>
              <a:rPr sz="1400" b="1">
                <a:solidFill>
                  <a:srgbClr val="000000"/>
                </a:solidFill>
                <a:latin typeface="Noto Sans KR"/>
                <a:ea typeface="Noto Sans KR"/>
              </a:rPr>
              <a:t>+ 밈으로 웃음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1" y="2743200"/>
            <a:ext cx="1005840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1">
                <a:solidFill>
                  <a:srgbClr val="000000"/>
                </a:solidFill>
                <a:latin typeface="Noto Sans KR"/>
                <a:ea typeface="Noto Sans KR"/>
              </a:rPr>
              <a:t>리프레쉬 : </a:t>
            </a:r>
            <a:r>
              <a:rPr sz="1500" b="0">
                <a:solidFill>
                  <a:srgbClr val="000000"/>
                </a:solidFill>
                <a:latin typeface="Noto Sans KR"/>
                <a:ea typeface="Noto Sans KR"/>
              </a:rPr>
              <a:t>반복되는 전투에 지루함을 느낄 타이밍에 리프레쉬 부여 — 층마다 외형 · 스킬이 전부 다른 보스</a:t>
            </a:r>
          </a:p>
          <a:p>
            <a:pPr algn="l">
              <a:spcAft>
                <a:spcPts val="800"/>
              </a:spcAft>
            </a:pPr>
            <a:r>
              <a:rPr sz="1500" b="1">
                <a:solidFill>
                  <a:srgbClr val="000000"/>
                </a:solidFill>
                <a:latin typeface="Noto Sans KR"/>
                <a:ea typeface="Noto Sans KR"/>
              </a:rPr>
              <a:t>도전욕구 자극 : </a:t>
            </a:r>
            <a:r>
              <a:rPr sz="1500" b="0">
                <a:solidFill>
                  <a:srgbClr val="000000"/>
                </a:solidFill>
                <a:latin typeface="Noto Sans KR"/>
                <a:ea typeface="Noto Sans KR"/>
              </a:rPr>
              <a:t>8초마다 쿨타임 스킬, 체력 70% · 35%에 발악 1 · 2 → 끝으로 갈수록 거세지는 패턴</a:t>
            </a:r>
          </a:p>
          <a:p>
            <a:pPr algn="l">
              <a:spcAft>
                <a:spcPts val="800"/>
              </a:spcAft>
            </a:pPr>
            <a:r>
              <a:rPr sz="1500" b="1">
                <a:solidFill>
                  <a:srgbClr val="000000"/>
                </a:solidFill>
                <a:latin typeface="Noto Sans KR"/>
                <a:ea typeface="Noto Sans KR"/>
              </a:rPr>
              <a:t>밈으로 웃음 유발 : </a:t>
            </a:r>
            <a:r>
              <a:rPr sz="1500" b="0">
                <a:solidFill>
                  <a:srgbClr val="000000"/>
                </a:solidFill>
                <a:latin typeface="Noto Sans KR"/>
                <a:ea typeface="Noto Sans KR"/>
              </a:rPr>
              <a:t>해피캣 · 맥스웰 · Huh Cat · 괴렘 · 좋았쓰 고양이 · 트랄랄레로 · 어몽어스 등 밈 패러디</a:t>
            </a:r>
          </a:p>
          <a:p>
            <a:pPr algn="l">
              <a:spcAft>
                <a:spcPts val="800"/>
              </a:spcAft>
            </a:pPr>
            <a:r>
              <a:rPr sz="1500" b="1">
                <a:solidFill>
                  <a:srgbClr val="000000"/>
                </a:solidFill>
                <a:latin typeface="Noto Sans KR"/>
                <a:ea typeface="Noto Sans KR"/>
              </a:rPr>
              <a:t>저작권 : </a:t>
            </a:r>
            <a:r>
              <a:rPr sz="1500" b="0">
                <a:solidFill>
                  <a:srgbClr val="000000"/>
                </a:solidFill>
                <a:latin typeface="Noto Sans KR"/>
                <a:ea typeface="Noto Sans KR"/>
              </a:rPr>
              <a:t>패러디는 실루엣 · 의상만, 패러디 이름은 비슷하게 바꿈 (예: 괴렘 → 실험체 고양이 Subject Kitty)</a:t>
            </a:r>
          </a:p>
        </p:txBody>
      </p:sp>
      <p:pic>
        <p:nvPicPr>
          <p:cNvPr id="11" name="Picture 10" descr="popca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440" y="4910115"/>
            <a:ext cx="1463040" cy="969689"/>
          </a:xfrm>
          <a:prstGeom prst="rect">
            <a:avLst/>
          </a:prstGeom>
        </p:spPr>
      </p:pic>
      <p:pic>
        <p:nvPicPr>
          <p:cNvPr id="12" name="Picture 11" descr="goere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80360" y="4802372"/>
            <a:ext cx="1463040" cy="1185175"/>
          </a:xfrm>
          <a:prstGeom prst="rect">
            <a:avLst/>
          </a:prstGeom>
        </p:spPr>
      </p:pic>
      <p:pic>
        <p:nvPicPr>
          <p:cNvPr id="13" name="Picture 12" descr="union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26280" y="4686755"/>
            <a:ext cx="1463040" cy="1416409"/>
          </a:xfrm>
          <a:prstGeom prst="rect">
            <a:avLst/>
          </a:prstGeom>
        </p:spPr>
      </p:pic>
      <p:pic>
        <p:nvPicPr>
          <p:cNvPr id="14" name="Picture 13" descr="joassu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94549" y="4663440"/>
            <a:ext cx="618341" cy="1463040"/>
          </a:xfrm>
          <a:prstGeom prst="rect">
            <a:avLst/>
          </a:prstGeom>
        </p:spPr>
      </p:pic>
      <p:pic>
        <p:nvPicPr>
          <p:cNvPr id="15" name="Picture 14" descr="sharkca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18120" y="5005557"/>
            <a:ext cx="1463040" cy="778804"/>
          </a:xfrm>
          <a:prstGeom prst="rect">
            <a:avLst/>
          </a:prstGeom>
        </p:spPr>
      </p:pic>
      <p:pic>
        <p:nvPicPr>
          <p:cNvPr id="16" name="Picture 15" descr="crewma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464040" y="5007199"/>
            <a:ext cx="1463040" cy="77552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1033271" y="749808"/>
            <a:ext cx="9144000" cy="5852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0">
                <a:solidFill>
                  <a:srgbClr val="000000"/>
                </a:solidFill>
                <a:latin typeface="Noto Sans KR Black"/>
                <a:ea typeface="Noto Sans KR Black"/>
              </a:rPr>
              <a:t>개요 – 보스 일람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133856" y="1316736"/>
            <a:ext cx="5852160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label"/>
          <p:cNvSpPr txBox="1"/>
          <p:nvPr/>
        </p:nvSpPr>
        <p:spPr>
          <a:xfrm>
            <a:off x="7040880" y="1005840"/>
            <a:ext cx="4114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95959"/>
                </a:solidFill>
                <a:latin typeface="Noto Sans KR"/>
                <a:ea typeface="Noto Sans KR"/>
              </a:rPr>
              <a:t>5층마다 보스 · 확정 인게임 이름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43000" y="1572768"/>
            <a:ext cx="1325880" cy="1188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</a:p>
        </p:txBody>
      </p:sp>
      <p:pic>
        <p:nvPicPr>
          <p:cNvPr id="6" name="Picture 5" descr="old_chie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9538" y="1645920"/>
            <a:ext cx="912803" cy="104241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51560" y="2779776"/>
            <a:ext cx="1508760" cy="4114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/>
            <a:r>
              <a:rPr sz="1050" b="1">
                <a:solidFill>
                  <a:srgbClr val="000000"/>
                </a:solidFill>
                <a:latin typeface="Noto Sans KR"/>
                <a:ea typeface="Noto Sans KR"/>
              </a:rPr>
              <a:t>5층 </a:t>
            </a:r>
            <a:r>
              <a:rPr sz="1050" b="0">
                <a:solidFill>
                  <a:srgbClr val="000000"/>
                </a:solidFill>
                <a:latin typeface="Noto Sans KR"/>
                <a:ea typeface="Noto Sans KR"/>
              </a:rPr>
              <a:t>경비 대장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587752" y="1572768"/>
            <a:ext cx="1325880" cy="1188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</a:p>
        </p:txBody>
      </p:sp>
      <p:pic>
        <p:nvPicPr>
          <p:cNvPr id="9" name="Picture 8" descr="old_ma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20104" y="1645920"/>
            <a:ext cx="1061174" cy="104241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2496312" y="2779776"/>
            <a:ext cx="1508760" cy="4114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/>
            <a:r>
              <a:rPr sz="1050" b="1">
                <a:solidFill>
                  <a:srgbClr val="000000"/>
                </a:solidFill>
                <a:latin typeface="Noto Sans KR"/>
                <a:ea typeface="Noto Sans KR"/>
              </a:rPr>
              <a:t>10층 </a:t>
            </a:r>
            <a:r>
              <a:rPr sz="1050" b="0">
                <a:solidFill>
                  <a:srgbClr val="000000"/>
                </a:solidFill>
                <a:latin typeface="Noto Sans KR"/>
                <a:ea typeface="Noto Sans KR"/>
              </a:rPr>
              <a:t>연구원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032504" y="1572768"/>
            <a:ext cx="1325880" cy="1188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</a:p>
        </p:txBody>
      </p:sp>
      <p:pic>
        <p:nvPicPr>
          <p:cNvPr id="12" name="Picture 11" descr="old_directo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85566" y="1645920"/>
            <a:ext cx="1019754" cy="104241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3941064" y="2779776"/>
            <a:ext cx="1508760" cy="4114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/>
            <a:r>
              <a:rPr sz="1050" b="1">
                <a:solidFill>
                  <a:srgbClr val="000000"/>
                </a:solidFill>
                <a:latin typeface="Noto Sans KR"/>
                <a:ea typeface="Noto Sans KR"/>
              </a:rPr>
              <a:t>15층 </a:t>
            </a:r>
            <a:r>
              <a:rPr sz="1050" b="0">
                <a:solidFill>
                  <a:srgbClr val="000000"/>
                </a:solidFill>
                <a:latin typeface="Noto Sans KR"/>
                <a:ea typeface="Noto Sans KR"/>
              </a:rPr>
              <a:t>연구소장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77256" y="1572768"/>
            <a:ext cx="1325880" cy="1188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</a:p>
        </p:txBody>
      </p:sp>
      <p:pic>
        <p:nvPicPr>
          <p:cNvPr id="15" name="Picture 14" descr="old_zer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03642" y="1645920"/>
            <a:ext cx="873106" cy="1042415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385816" y="2779776"/>
            <a:ext cx="1508760" cy="4114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/>
            <a:r>
              <a:rPr sz="1050" b="1">
                <a:solidFill>
                  <a:srgbClr val="000000"/>
                </a:solidFill>
                <a:latin typeface="Noto Sans KR"/>
                <a:ea typeface="Noto Sans KR"/>
              </a:rPr>
              <a:t>20층 </a:t>
            </a:r>
            <a:r>
              <a:rPr sz="1050" b="0">
                <a:solidFill>
                  <a:srgbClr val="000000"/>
                </a:solidFill>
                <a:latin typeface="Noto Sans KR"/>
                <a:ea typeface="Noto Sans KR"/>
              </a:rPr>
              <a:t>제로 고양이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922008" y="1572768"/>
            <a:ext cx="1325880" cy="118872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</a:p>
        </p:txBody>
      </p:sp>
      <p:pic>
        <p:nvPicPr>
          <p:cNvPr id="18" name="Picture 17" descr="popca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95160" y="1776222"/>
            <a:ext cx="1179576" cy="781812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830568" y="2779776"/>
            <a:ext cx="1508760" cy="4114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/>
            <a:r>
              <a:rPr sz="1050" b="1">
                <a:solidFill>
                  <a:srgbClr val="000000"/>
                </a:solidFill>
                <a:latin typeface="Noto Sans KR"/>
                <a:ea typeface="Noto Sans KR"/>
              </a:rPr>
              <a:t>25층 </a:t>
            </a:r>
            <a:r>
              <a:rPr sz="1050" b="0">
                <a:solidFill>
                  <a:srgbClr val="000000"/>
                </a:solidFill>
                <a:latin typeface="Noto Sans KR"/>
                <a:ea typeface="Noto Sans KR"/>
              </a:rPr>
              <a:t>밈 고양이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366760" y="1572768"/>
            <a:ext cx="1325880" cy="118872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</a:p>
        </p:txBody>
      </p:sp>
      <p:pic>
        <p:nvPicPr>
          <p:cNvPr id="21" name="Picture 20" descr="goerem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39912" y="1689354"/>
            <a:ext cx="1179576" cy="955547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8275320" y="2779776"/>
            <a:ext cx="1508760" cy="4114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/>
            <a:r>
              <a:rPr sz="1050" b="1">
                <a:solidFill>
                  <a:srgbClr val="000000"/>
                </a:solidFill>
                <a:latin typeface="Noto Sans KR"/>
                <a:ea typeface="Noto Sans KR"/>
              </a:rPr>
              <a:t>30층 </a:t>
            </a:r>
            <a:r>
              <a:rPr sz="1050" b="0">
                <a:solidFill>
                  <a:srgbClr val="000000"/>
                </a:solidFill>
                <a:latin typeface="Noto Sans KR"/>
                <a:ea typeface="Noto Sans KR"/>
              </a:rPr>
              <a:t>실험체 고양이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811512" y="1572768"/>
            <a:ext cx="1325880" cy="118872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</a:p>
        </p:txBody>
      </p:sp>
      <p:pic>
        <p:nvPicPr>
          <p:cNvPr id="24" name="Picture 23" descr="dino2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201063" y="1645920"/>
            <a:ext cx="546776" cy="1042415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9720072" y="2779776"/>
            <a:ext cx="1508760" cy="4114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/>
            <a:r>
              <a:rPr sz="1050" b="1">
                <a:solidFill>
                  <a:srgbClr val="000000"/>
                </a:solidFill>
                <a:latin typeface="Noto Sans KR"/>
                <a:ea typeface="Noto Sans KR"/>
              </a:rPr>
              <a:t>35층 </a:t>
            </a:r>
            <a:r>
              <a:rPr sz="1050" b="0">
                <a:solidFill>
                  <a:srgbClr val="000000"/>
                </a:solidFill>
                <a:latin typeface="Noto Sans KR"/>
                <a:ea typeface="Noto Sans KR"/>
              </a:rPr>
              <a:t>공룡탈 알바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3264408"/>
            <a:ext cx="1325880" cy="118872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</a:p>
        </p:txBody>
      </p:sp>
      <p:pic>
        <p:nvPicPr>
          <p:cNvPr id="27" name="Picture 26" descr="vmous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528618" y="3337560"/>
            <a:ext cx="554643" cy="1042415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1051560" y="4471416"/>
            <a:ext cx="1508760" cy="4114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/>
            <a:r>
              <a:rPr sz="900" b="1">
                <a:solidFill>
                  <a:srgbClr val="000000"/>
                </a:solidFill>
                <a:latin typeface="Noto Sans KR"/>
                <a:ea typeface="Noto Sans KR"/>
              </a:rPr>
              <a:t>40층 </a:t>
            </a:r>
            <a:r>
              <a:rPr sz="900" b="0">
                <a:solidFill>
                  <a:srgbClr val="000000"/>
                </a:solidFill>
                <a:latin typeface="Noto Sans KR"/>
                <a:ea typeface="Noto Sans KR"/>
              </a:rPr>
              <a:t>원시인 버티컬 마우스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587752" y="3264408"/>
            <a:ext cx="1325880" cy="118872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</a:p>
        </p:txBody>
      </p:sp>
      <p:pic>
        <p:nvPicPr>
          <p:cNvPr id="30" name="Picture 29" descr="trainer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048109" y="3337560"/>
            <a:ext cx="405165" cy="1042415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2496312" y="4471416"/>
            <a:ext cx="1508760" cy="4114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/>
            <a:r>
              <a:rPr sz="1050" b="1">
                <a:solidFill>
                  <a:srgbClr val="000000"/>
                </a:solidFill>
                <a:latin typeface="Noto Sans KR"/>
                <a:ea typeface="Noto Sans KR"/>
              </a:rPr>
              <a:t>45층 </a:t>
            </a:r>
            <a:r>
              <a:rPr sz="1050" b="0">
                <a:solidFill>
                  <a:srgbClr val="000000"/>
                </a:solidFill>
                <a:latin typeface="Noto Sans KR"/>
                <a:ea typeface="Noto Sans KR"/>
              </a:rPr>
              <a:t>랩터 사육사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032504" y="3264408"/>
            <a:ext cx="1325880" cy="118872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</a:p>
        </p:txBody>
      </p:sp>
      <p:pic>
        <p:nvPicPr>
          <p:cNvPr id="33" name="Picture 32" descr="union2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157076" y="3337560"/>
            <a:ext cx="1076734" cy="1042415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3941064" y="4471416"/>
            <a:ext cx="1508760" cy="4114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/>
            <a:r>
              <a:rPr sz="1050" b="1">
                <a:solidFill>
                  <a:srgbClr val="000000"/>
                </a:solidFill>
                <a:latin typeface="Noto Sans KR"/>
                <a:ea typeface="Noto Sans KR"/>
              </a:rPr>
              <a:t>50층 </a:t>
            </a:r>
            <a:r>
              <a:rPr sz="1050" b="0">
                <a:solidFill>
                  <a:srgbClr val="000000"/>
                </a:solidFill>
                <a:latin typeface="Noto Sans KR"/>
                <a:ea typeface="Noto Sans KR"/>
              </a:rPr>
              <a:t>노조 고양이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477256" y="3264408"/>
            <a:ext cx="1325880" cy="118872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</a:p>
        </p:txBody>
      </p:sp>
      <p:pic>
        <p:nvPicPr>
          <p:cNvPr id="36" name="Picture 35" descr="spider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608307" y="3337560"/>
            <a:ext cx="1063776" cy="1042415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5385816" y="4471416"/>
            <a:ext cx="1508760" cy="4114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/>
            <a:r>
              <a:rPr sz="1050" b="1">
                <a:solidFill>
                  <a:srgbClr val="000000"/>
                </a:solidFill>
                <a:latin typeface="Noto Sans KR"/>
                <a:ea typeface="Noto Sans KR"/>
              </a:rPr>
              <a:t>55층 </a:t>
            </a:r>
            <a:r>
              <a:rPr sz="1050" b="0">
                <a:solidFill>
                  <a:srgbClr val="000000"/>
                </a:solidFill>
                <a:latin typeface="Noto Sans KR"/>
                <a:ea typeface="Noto Sans KR"/>
              </a:rPr>
              <a:t>거미 고양이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922008" y="3264408"/>
            <a:ext cx="1325880" cy="118872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</a:p>
        </p:txBody>
      </p:sp>
      <p:pic>
        <p:nvPicPr>
          <p:cNvPr id="39" name="Picture 38" descr="operator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421701" y="3337560"/>
            <a:ext cx="326492" cy="1042415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6830568" y="4471416"/>
            <a:ext cx="1508760" cy="4114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/>
            <a:r>
              <a:rPr sz="1050" b="1">
                <a:solidFill>
                  <a:srgbClr val="000000"/>
                </a:solidFill>
                <a:latin typeface="Noto Sans KR"/>
                <a:ea typeface="Noto Sans KR"/>
              </a:rPr>
              <a:t>60층 </a:t>
            </a:r>
            <a:r>
              <a:rPr sz="1050" b="0">
                <a:solidFill>
                  <a:srgbClr val="000000"/>
                </a:solidFill>
                <a:latin typeface="Noto Sans KR"/>
                <a:ea typeface="Noto Sans KR"/>
              </a:rPr>
              <a:t>굴착기 기사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366760" y="3264408"/>
            <a:ext cx="1325880" cy="118872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</a:p>
        </p:txBody>
      </p:sp>
      <p:pic>
        <p:nvPicPr>
          <p:cNvPr id="42" name="Picture 41" descr="sharkcat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439912" y="3544812"/>
            <a:ext cx="1179576" cy="627911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8275320" y="4471416"/>
            <a:ext cx="1508760" cy="4114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/>
            <a:r>
              <a:rPr sz="1050" b="1">
                <a:solidFill>
                  <a:srgbClr val="000000"/>
                </a:solidFill>
                <a:latin typeface="Noto Sans KR"/>
                <a:ea typeface="Noto Sans KR"/>
              </a:rPr>
              <a:t>65층 </a:t>
            </a:r>
            <a:r>
              <a:rPr sz="1050" b="0">
                <a:solidFill>
                  <a:srgbClr val="000000"/>
                </a:solidFill>
                <a:latin typeface="Noto Sans KR"/>
                <a:ea typeface="Noto Sans KR"/>
              </a:rPr>
              <a:t>상어 고양이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811512" y="3264408"/>
            <a:ext cx="1325880" cy="118872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</a:p>
        </p:txBody>
      </p:sp>
      <p:pic>
        <p:nvPicPr>
          <p:cNvPr id="45" name="Picture 44" descr="fishcat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0005364" y="3337560"/>
            <a:ext cx="938174" cy="1042415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9720072" y="4471416"/>
            <a:ext cx="1508760" cy="4114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/>
            <a:r>
              <a:rPr sz="1050" b="1">
                <a:solidFill>
                  <a:srgbClr val="000000"/>
                </a:solidFill>
                <a:latin typeface="Noto Sans KR"/>
                <a:ea typeface="Noto Sans KR"/>
              </a:rPr>
              <a:t>70층 </a:t>
            </a:r>
            <a:r>
              <a:rPr sz="1050" b="0">
                <a:solidFill>
                  <a:srgbClr val="000000"/>
                </a:solidFill>
                <a:latin typeface="Noto Sans KR"/>
                <a:ea typeface="Noto Sans KR"/>
              </a:rPr>
              <a:t>머라옹 고양이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1143000" y="4956048"/>
            <a:ext cx="1325880" cy="118872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</a:p>
        </p:txBody>
      </p:sp>
      <p:pic>
        <p:nvPicPr>
          <p:cNvPr id="48" name="Picture 47" descr="deepdiver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623025" y="5029200"/>
            <a:ext cx="365829" cy="1042415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1051560" y="6163056"/>
            <a:ext cx="1508760" cy="4114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/>
            <a:r>
              <a:rPr sz="1050" b="1">
                <a:solidFill>
                  <a:srgbClr val="000000"/>
                </a:solidFill>
                <a:latin typeface="Noto Sans KR"/>
                <a:ea typeface="Noto Sans KR"/>
              </a:rPr>
              <a:t>75층 </a:t>
            </a:r>
            <a:r>
              <a:rPr sz="1050" b="0">
                <a:solidFill>
                  <a:srgbClr val="000000"/>
                </a:solidFill>
                <a:latin typeface="Noto Sans KR"/>
                <a:ea typeface="Noto Sans KR"/>
              </a:rPr>
              <a:t>심해 잠수부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2587752" y="4956048"/>
            <a:ext cx="1325880" cy="118872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</a:p>
        </p:txBody>
      </p:sp>
      <p:pic>
        <p:nvPicPr>
          <p:cNvPr id="51" name="Picture 50" descr="cartgiant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2660904" y="5096382"/>
            <a:ext cx="1179576" cy="908050"/>
          </a:xfrm>
          <a:prstGeom prst="rect">
            <a:avLst/>
          </a:prstGeom>
        </p:spPr>
      </p:pic>
      <p:sp>
        <p:nvSpPr>
          <p:cNvPr id="52" name="TextBox 51"/>
          <p:cNvSpPr txBox="1"/>
          <p:nvPr/>
        </p:nvSpPr>
        <p:spPr>
          <a:xfrm>
            <a:off x="2496312" y="6163056"/>
            <a:ext cx="1508760" cy="4114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/>
            <a:r>
              <a:rPr sz="1050" b="1">
                <a:solidFill>
                  <a:srgbClr val="000000"/>
                </a:solidFill>
                <a:latin typeface="Noto Sans KR"/>
                <a:ea typeface="Noto Sans KR"/>
              </a:rPr>
              <a:t>80층 </a:t>
            </a:r>
            <a:r>
              <a:rPr sz="1050" b="0">
                <a:solidFill>
                  <a:srgbClr val="000000"/>
                </a:solidFill>
                <a:latin typeface="Noto Sans KR"/>
                <a:ea typeface="Noto Sans KR"/>
              </a:rPr>
              <a:t>차력거인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4032504" y="4956048"/>
            <a:ext cx="1325880" cy="118872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</a:p>
        </p:txBody>
      </p:sp>
      <p:pic>
        <p:nvPicPr>
          <p:cNvPr id="54" name="Picture 53" descr="carrier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105656" y="5320677"/>
            <a:ext cx="1179576" cy="459460"/>
          </a:xfrm>
          <a:prstGeom prst="rect">
            <a:avLst/>
          </a:prstGeom>
        </p:spPr>
      </p:pic>
      <p:sp>
        <p:nvSpPr>
          <p:cNvPr id="55" name="TextBox 54"/>
          <p:cNvSpPr txBox="1"/>
          <p:nvPr/>
        </p:nvSpPr>
        <p:spPr>
          <a:xfrm>
            <a:off x="3941064" y="6163056"/>
            <a:ext cx="1508760" cy="4114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/>
            <a:r>
              <a:rPr sz="1050" b="1">
                <a:solidFill>
                  <a:srgbClr val="000000"/>
                </a:solidFill>
                <a:latin typeface="Noto Sans KR"/>
                <a:ea typeface="Noto Sans KR"/>
              </a:rPr>
              <a:t>85층 </a:t>
            </a:r>
            <a:r>
              <a:rPr sz="1050" b="0">
                <a:solidFill>
                  <a:srgbClr val="000000"/>
                </a:solidFill>
                <a:latin typeface="Noto Sans KR"/>
                <a:ea typeface="Noto Sans KR"/>
              </a:rPr>
              <a:t>항공모함 고양이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5477256" y="4956048"/>
            <a:ext cx="1325880" cy="118872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</a:p>
        </p:txBody>
      </p:sp>
      <p:pic>
        <p:nvPicPr>
          <p:cNvPr id="57" name="Picture 56" descr="dictator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5550408" y="5035217"/>
            <a:ext cx="1179576" cy="1030380"/>
          </a:xfrm>
          <a:prstGeom prst="rect">
            <a:avLst/>
          </a:prstGeom>
        </p:spPr>
      </p:pic>
      <p:sp>
        <p:nvSpPr>
          <p:cNvPr id="58" name="TextBox 57"/>
          <p:cNvSpPr txBox="1"/>
          <p:nvPr/>
        </p:nvSpPr>
        <p:spPr>
          <a:xfrm>
            <a:off x="5385816" y="6163056"/>
            <a:ext cx="1508760" cy="4114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/>
            <a:r>
              <a:rPr sz="1050" b="1">
                <a:solidFill>
                  <a:srgbClr val="000000"/>
                </a:solidFill>
                <a:latin typeface="Noto Sans KR"/>
                <a:ea typeface="Noto Sans KR"/>
              </a:rPr>
              <a:t>90층 </a:t>
            </a:r>
            <a:r>
              <a:rPr sz="1050" b="0">
                <a:solidFill>
                  <a:srgbClr val="000000"/>
                </a:solidFill>
                <a:latin typeface="Noto Sans KR"/>
                <a:ea typeface="Noto Sans KR"/>
              </a:rPr>
              <a:t>총통 고양이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6922008" y="4956048"/>
            <a:ext cx="1325880" cy="118872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</a:p>
        </p:txBody>
      </p:sp>
      <p:pic>
        <p:nvPicPr>
          <p:cNvPr id="60" name="Picture 59" descr="gremlin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995160" y="5068508"/>
            <a:ext cx="1179576" cy="963799"/>
          </a:xfrm>
          <a:prstGeom prst="rect">
            <a:avLst/>
          </a:prstGeom>
        </p:spPr>
      </p:pic>
      <p:sp>
        <p:nvSpPr>
          <p:cNvPr id="61" name="TextBox 60"/>
          <p:cNvSpPr txBox="1"/>
          <p:nvPr/>
        </p:nvSpPr>
        <p:spPr>
          <a:xfrm>
            <a:off x="6830568" y="6163056"/>
            <a:ext cx="1508760" cy="4114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/>
            <a:r>
              <a:rPr sz="1050" b="1">
                <a:solidFill>
                  <a:srgbClr val="000000"/>
                </a:solidFill>
                <a:latin typeface="Noto Sans KR"/>
                <a:ea typeface="Noto Sans KR"/>
              </a:rPr>
              <a:t>94층 </a:t>
            </a:r>
            <a:r>
              <a:rPr sz="1050" b="0">
                <a:solidFill>
                  <a:srgbClr val="000000"/>
                </a:solidFill>
                <a:latin typeface="Noto Sans KR"/>
                <a:ea typeface="Noto Sans KR"/>
              </a:rPr>
              <a:t>그렘린 고양이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8366760" y="4956048"/>
            <a:ext cx="1325880" cy="118872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</a:p>
        </p:txBody>
      </p:sp>
      <p:pic>
        <p:nvPicPr>
          <p:cNvPr id="63" name="Picture 62" descr="crewmate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8439912" y="5237776"/>
            <a:ext cx="1179576" cy="625263"/>
          </a:xfrm>
          <a:prstGeom prst="rect">
            <a:avLst/>
          </a:prstGeom>
        </p:spPr>
      </p:pic>
      <p:sp>
        <p:nvSpPr>
          <p:cNvPr id="64" name="TextBox 63"/>
          <p:cNvSpPr txBox="1"/>
          <p:nvPr/>
        </p:nvSpPr>
        <p:spPr>
          <a:xfrm>
            <a:off x="8275320" y="6163056"/>
            <a:ext cx="1508760" cy="4114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/>
            <a:r>
              <a:rPr sz="900" b="1">
                <a:solidFill>
                  <a:srgbClr val="000000"/>
                </a:solidFill>
                <a:latin typeface="Noto Sans KR"/>
                <a:ea typeface="Noto Sans KR"/>
              </a:rPr>
              <a:t>97층 </a:t>
            </a:r>
            <a:r>
              <a:rPr sz="900" b="0">
                <a:solidFill>
                  <a:srgbClr val="000000"/>
                </a:solidFill>
                <a:latin typeface="Noto Sans KR"/>
                <a:ea typeface="Noto Sans KR"/>
              </a:rPr>
              <a:t>수상한 우주복 쥐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9811512" y="4956048"/>
            <a:ext cx="1325880" cy="1188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</a:p>
        </p:txBody>
      </p:sp>
      <p:pic>
        <p:nvPicPr>
          <p:cNvPr id="66" name="Picture 65" descr="old_commander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0036833" y="5029200"/>
            <a:ext cx="875236" cy="1042415"/>
          </a:xfrm>
          <a:prstGeom prst="rect">
            <a:avLst/>
          </a:prstGeom>
        </p:spPr>
      </p:pic>
      <p:sp>
        <p:nvSpPr>
          <p:cNvPr id="67" name="TextBox 66"/>
          <p:cNvSpPr txBox="1"/>
          <p:nvPr/>
        </p:nvSpPr>
        <p:spPr>
          <a:xfrm>
            <a:off x="9720072" y="6163056"/>
            <a:ext cx="1508760" cy="4114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/>
            <a:r>
              <a:rPr sz="900" b="1">
                <a:solidFill>
                  <a:srgbClr val="000000"/>
                </a:solidFill>
                <a:latin typeface="Noto Sans KR"/>
                <a:ea typeface="Noto Sans KR"/>
              </a:rPr>
              <a:t>100층 </a:t>
            </a:r>
            <a:r>
              <a:rPr sz="900" b="0">
                <a:solidFill>
                  <a:srgbClr val="000000"/>
                </a:solidFill>
                <a:latin typeface="Noto Sans KR"/>
                <a:ea typeface="Noto Sans KR"/>
              </a:rPr>
              <a:t>우주 고양이 사령관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033271" y="6446520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Noto Sans KR"/>
                <a:ea typeface="Noto Sans KR"/>
              </a:rPr>
              <a:t>흰 칸 = 기존 그림 재사용 (5 · 10 · 15 · 20 · 100층) · 회색 칸 = 새 그림 (리그 미리보기 _rig_preview.png)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1033271" y="749808"/>
            <a:ext cx="9144000" cy="5852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0">
                <a:solidFill>
                  <a:srgbClr val="000000"/>
                </a:solidFill>
                <a:latin typeface="Noto Sans KR Black"/>
                <a:ea typeface="Noto Sans KR Black"/>
              </a:rPr>
              <a:t>보스 시스템 – 보스 층 진행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133856" y="1316736"/>
            <a:ext cx="5852160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label"/>
          <p:cNvSpPr txBox="1"/>
          <p:nvPr/>
        </p:nvSpPr>
        <p:spPr>
          <a:xfrm>
            <a:off x="7040880" y="1005840"/>
            <a:ext cx="4114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95959"/>
                </a:solidFill>
                <a:latin typeface="Noto Sans KR"/>
                <a:ea typeface="Noto Sans KR"/>
              </a:rPr>
              <a:t>5층마다 보스 층 · 계단 방에서 보스전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43000" y="1600200"/>
            <a:ext cx="1691640" cy="777240"/>
          </a:xfrm>
          <a:prstGeom prst="roundRect">
            <a:avLst/>
          </a:prstGeom>
          <a:noFill/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300" b="1">
                <a:solidFill>
                  <a:srgbClr val="000000"/>
                </a:solidFill>
                <a:latin typeface="Noto Sans KR"/>
                <a:ea typeface="Noto Sans KR"/>
              </a:rPr>
              <a:t>보스 층 입장</a:t>
            </a:r>
          </a:p>
          <a:p>
            <a:pPr algn="ctr"/>
            <a:r>
              <a:rPr sz="1100" b="0">
                <a:solidFill>
                  <a:srgbClr val="000000"/>
                </a:solidFill>
                <a:latin typeface="Noto Sans KR"/>
                <a:ea typeface="Noto Sans KR"/>
              </a:rPr>
              <a:t>5층마다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834640" y="1988819"/>
            <a:ext cx="365760" cy="0"/>
          </a:xfrm>
          <a:prstGeom prst="line">
            <a:avLst/>
          </a:prstGeom>
          <a:ln w="25400"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3200400" y="1600200"/>
            <a:ext cx="1691640" cy="777240"/>
          </a:xfrm>
          <a:prstGeom prst="roundRect">
            <a:avLst/>
          </a:prstGeom>
          <a:noFill/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300" b="1">
                <a:solidFill>
                  <a:srgbClr val="000000"/>
                </a:solidFill>
                <a:latin typeface="Noto Sans KR"/>
                <a:ea typeface="Noto Sans KR"/>
              </a:rPr>
              <a:t>계단 방 대기</a:t>
            </a:r>
          </a:p>
          <a:p>
            <a:pPr algn="ctr"/>
            <a:r>
              <a:rPr sz="1100" b="0">
                <a:solidFill>
                  <a:srgbClr val="000000"/>
                </a:solidFill>
                <a:latin typeface="Noto Sans KR"/>
                <a:ea typeface="Noto Sans KR"/>
              </a:rPr>
              <a:t>카메라가 잠깐 비춤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892040" y="1988819"/>
            <a:ext cx="365760" cy="0"/>
          </a:xfrm>
          <a:prstGeom prst="line">
            <a:avLst/>
          </a:prstGeom>
          <a:ln w="25400"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5257800" y="1600200"/>
            <a:ext cx="1691640" cy="777240"/>
          </a:xfrm>
          <a:prstGeom prst="roundRect">
            <a:avLst/>
          </a:prstGeom>
          <a:solidFill>
            <a:srgbClr val="FBE5D6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300" b="1">
                <a:solidFill>
                  <a:srgbClr val="000000"/>
                </a:solidFill>
                <a:latin typeface="Noto Sans KR"/>
                <a:ea typeface="Noto Sans KR"/>
              </a:rPr>
              <a:t>계단 방 벽 격파</a:t>
            </a:r>
          </a:p>
          <a:p>
            <a:pPr algn="ctr"/>
            <a:r>
              <a:rPr sz="1100" b="0">
                <a:solidFill>
                  <a:srgbClr val="000000"/>
                </a:solidFill>
                <a:latin typeface="Noto Sans KR"/>
                <a:ea typeface="Noto Sans KR"/>
              </a:rPr>
              <a:t>보스전 시작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949440" y="1988819"/>
            <a:ext cx="365760" cy="0"/>
          </a:xfrm>
          <a:prstGeom prst="line">
            <a:avLst/>
          </a:prstGeom>
          <a:ln w="25400"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7315200" y="1600200"/>
            <a:ext cx="1691640" cy="777240"/>
          </a:xfrm>
          <a:prstGeom prst="roundRect">
            <a:avLst/>
          </a:prstGeom>
          <a:noFill/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300" b="1">
                <a:solidFill>
                  <a:srgbClr val="000000"/>
                </a:solidFill>
                <a:latin typeface="Noto Sans KR"/>
                <a:ea typeface="Noto Sans KR"/>
              </a:rPr>
              <a:t>보스 격파</a:t>
            </a:r>
          </a:p>
          <a:p>
            <a:pPr algn="ctr"/>
            <a:r>
              <a:rPr sz="1100" b="0">
                <a:solidFill>
                  <a:srgbClr val="000000"/>
                </a:solidFill>
                <a:latin typeface="Noto Sans KR"/>
                <a:ea typeface="Noto Sans KR"/>
              </a:rPr>
              <a:t>체력 0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9006840" y="1988819"/>
            <a:ext cx="365760" cy="0"/>
          </a:xfrm>
          <a:prstGeom prst="line">
            <a:avLst/>
          </a:prstGeom>
          <a:ln w="25400"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9372600" y="1600200"/>
            <a:ext cx="1691640" cy="777240"/>
          </a:xfrm>
          <a:prstGeom prst="roundRect">
            <a:avLst/>
          </a:prstGeom>
          <a:noFill/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300" b="1">
                <a:solidFill>
                  <a:srgbClr val="000000"/>
                </a:solidFill>
                <a:latin typeface="Noto Sans KR"/>
                <a:ea typeface="Noto Sans KR"/>
              </a:rPr>
              <a:t>계단 열림</a:t>
            </a:r>
          </a:p>
          <a:p>
            <a:pPr algn="ctr"/>
            <a:r>
              <a:rPr sz="1100" b="0">
                <a:solidFill>
                  <a:srgbClr val="000000"/>
                </a:solidFill>
                <a:latin typeface="Noto Sans KR"/>
                <a:ea typeface="Noto Sans KR"/>
              </a:rPr>
              <a:t>다음 층으로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1143000" y="2697480"/>
          <a:ext cx="10149840" cy="3090672"/>
        </p:xfrm>
        <a:graphic>
          <a:graphicData uri="http://schemas.openxmlformats.org/drawingml/2006/table">
            <a:tbl>
              <a:tblPr firstRow="0" bandRow="0"/>
              <a:tblGrid>
                <a:gridCol w="1325880"/>
                <a:gridCol w="4572000"/>
                <a:gridCol w="4251960"/>
              </a:tblGrid>
              <a:tr h="347472">
                <a:tc>
                  <a:txBody>
                    <a:bodyPr wrap="square"/>
                    <a:lstStyle/>
                    <a:p>
                      <a:pPr algn="ctr"/>
                      <a:r>
                        <a:rPr sz="125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단계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화면 · 연출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규칙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입장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층 배너 + 카메라가 계단 방을 0.7초 비춤 ('보스가 있다'를 보여 줌)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보스 층 = 보스 테이블 floor (5 ~ 100층, 94 · 97층 포함)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대기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계단 방 안, 계단 아래쪽에 가만히 서 있음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피해 안 받음 · 계단 막음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보스전 시작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보스 이름 배너 · 경고음 · 화면 흔들림 · 카메라가 보스로 · 체력바 · 등장 대사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계단 방 벽이 부서지는 순간 시작 · 쿨타임 스킬 첫 사용 4초 뒤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격파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위로 날아가며 회전 · 치즈 팝업 · 코인 · 히트스톱 0.35초 · 흰 화면 번쩍 · 격파 대사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치즈 보상 · 이 층 보스 격파 기록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끝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화면 위로 사라짐 → 체력바 끔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격파 전엔 계단 못 씀 · 계단 방이 열렸는데 보스가 없으면 다시 불러옴 (안전장치)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1033271" y="61722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000000"/>
                </a:solidFill>
                <a:latin typeface="Noto Sans KR"/>
                <a:ea typeface="Noto Sans KR"/>
              </a:rPr>
              <a:t>특수 등장 : </a:t>
            </a:r>
            <a:r>
              <a:rPr sz="1250" b="0">
                <a:solidFill>
                  <a:srgbClr val="000000"/>
                </a:solidFill>
                <a:latin typeface="Noto Sans KR"/>
                <a:ea typeface="Noto Sans KR"/>
              </a:rPr>
              <a:t>94층 그렘린 고양이 · 97층 수상한 우주복 쥐는 미리 보스 층이라고 알리지 않음 (층별 보스 슬라이드)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1033271" y="749808"/>
            <a:ext cx="9144000" cy="5852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0">
                <a:solidFill>
                  <a:srgbClr val="000000"/>
                </a:solidFill>
                <a:latin typeface="Noto Sans KR Black"/>
                <a:ea typeface="Noto Sans KR Black"/>
              </a:rPr>
              <a:t>보스 시스템 – 상태 변화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133856" y="1316736"/>
            <a:ext cx="5852160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label"/>
          <p:cNvSpPr txBox="1"/>
          <p:nvPr/>
        </p:nvSpPr>
        <p:spPr>
          <a:xfrm>
            <a:off x="7040880" y="1005840"/>
            <a:ext cx="4114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95959"/>
                </a:solidFill>
                <a:latin typeface="Noto Sans KR"/>
                <a:ea typeface="Noto Sans KR"/>
              </a:rPr>
              <a:t>보스 상태 5단계 (BState)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43000" y="1600200"/>
            <a:ext cx="1554480" cy="731520"/>
          </a:xfrm>
          <a:prstGeom prst="roundRect">
            <a:avLst/>
          </a:prstGeom>
          <a:solidFill>
            <a:srgbClr val="F2F2F2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500" b="1">
                <a:solidFill>
                  <a:srgbClr val="000000"/>
                </a:solidFill>
                <a:latin typeface="Noto Sans KR"/>
                <a:ea typeface="Noto Sans KR"/>
              </a:rPr>
              <a:t>Off</a:t>
            </a:r>
          </a:p>
          <a:p>
            <a:pPr algn="ctr"/>
            <a:r>
              <a:rPr sz="1200" b="0">
                <a:solidFill>
                  <a:srgbClr val="000000"/>
                </a:solidFill>
                <a:latin typeface="Noto Sans KR"/>
                <a:ea typeface="Noto Sans KR"/>
              </a:rPr>
              <a:t>없음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697480" y="1965960"/>
            <a:ext cx="548640" cy="0"/>
          </a:xfrm>
          <a:prstGeom prst="line">
            <a:avLst/>
          </a:prstGeom>
          <a:ln w="25400"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3246120" y="1600200"/>
            <a:ext cx="1554480" cy="731520"/>
          </a:xfrm>
          <a:prstGeom prst="roundRect">
            <a:avLst/>
          </a:prstGeom>
          <a:solidFill>
            <a:srgbClr val="F2F2F2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500" b="1">
                <a:solidFill>
                  <a:srgbClr val="000000"/>
                </a:solidFill>
                <a:latin typeface="Noto Sans KR"/>
                <a:ea typeface="Noto Sans KR"/>
              </a:rPr>
              <a:t>Wait</a:t>
            </a:r>
          </a:p>
          <a:p>
            <a:pPr algn="ctr"/>
            <a:r>
              <a:rPr sz="1200" b="0">
                <a:solidFill>
                  <a:srgbClr val="000000"/>
                </a:solidFill>
                <a:latin typeface="Noto Sans KR"/>
                <a:ea typeface="Noto Sans KR"/>
              </a:rPr>
              <a:t>대기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800600" y="1965960"/>
            <a:ext cx="548640" cy="0"/>
          </a:xfrm>
          <a:prstGeom prst="line">
            <a:avLst/>
          </a:prstGeom>
          <a:ln w="25400"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5349240" y="1600200"/>
            <a:ext cx="1554480" cy="731520"/>
          </a:xfrm>
          <a:prstGeom prst="roundRect">
            <a:avLst/>
          </a:prstGeom>
          <a:solidFill>
            <a:srgbClr val="FBE5D6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500" b="1">
                <a:solidFill>
                  <a:srgbClr val="000000"/>
                </a:solidFill>
                <a:latin typeface="Noto Sans KR"/>
                <a:ea typeface="Noto Sans KR"/>
              </a:rPr>
              <a:t>Fight</a:t>
            </a:r>
          </a:p>
          <a:p>
            <a:pPr algn="ctr"/>
            <a:r>
              <a:rPr sz="1200" b="0">
                <a:solidFill>
                  <a:srgbClr val="000000"/>
                </a:solidFill>
                <a:latin typeface="Noto Sans KR"/>
                <a:ea typeface="Noto Sans KR"/>
              </a:rPr>
              <a:t>전투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903720" y="1965960"/>
            <a:ext cx="548640" cy="0"/>
          </a:xfrm>
          <a:prstGeom prst="line">
            <a:avLst/>
          </a:prstGeom>
          <a:ln w="25400"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7452359" y="1600200"/>
            <a:ext cx="1554480" cy="731520"/>
          </a:xfrm>
          <a:prstGeom prst="roundRect">
            <a:avLst/>
          </a:prstGeom>
          <a:solidFill>
            <a:srgbClr val="F2F2F2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500" b="1">
                <a:solidFill>
                  <a:srgbClr val="000000"/>
                </a:solidFill>
                <a:latin typeface="Noto Sans KR"/>
                <a:ea typeface="Noto Sans KR"/>
              </a:rPr>
              <a:t>Dying</a:t>
            </a:r>
          </a:p>
          <a:p>
            <a:pPr algn="ctr"/>
            <a:r>
              <a:rPr sz="1200" b="0">
                <a:solidFill>
                  <a:srgbClr val="000000"/>
                </a:solidFill>
                <a:latin typeface="Noto Sans KR"/>
                <a:ea typeface="Noto Sans KR"/>
              </a:rPr>
              <a:t>쓰러짐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9006839" y="1965960"/>
            <a:ext cx="548640" cy="0"/>
          </a:xfrm>
          <a:prstGeom prst="line">
            <a:avLst/>
          </a:prstGeom>
          <a:ln w="25400"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9555480" y="1600200"/>
            <a:ext cx="1554480" cy="731520"/>
          </a:xfrm>
          <a:prstGeom prst="roundRect">
            <a:avLst/>
          </a:prstGeom>
          <a:solidFill>
            <a:srgbClr val="F2F2F2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500" b="1">
                <a:solidFill>
                  <a:srgbClr val="000000"/>
                </a:solidFill>
                <a:latin typeface="Noto Sans KR"/>
                <a:ea typeface="Noto Sans KR"/>
              </a:rPr>
              <a:t>Dead</a:t>
            </a:r>
          </a:p>
          <a:p>
            <a:pPr algn="ctr"/>
            <a:r>
              <a:rPr sz="1200" b="0">
                <a:solidFill>
                  <a:srgbClr val="000000"/>
                </a:solidFill>
                <a:latin typeface="Noto Sans KR"/>
                <a:ea typeface="Noto Sans KR"/>
              </a:rPr>
              <a:t>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60320" y="2395728"/>
            <a:ext cx="8229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595959"/>
                </a:solidFill>
                <a:latin typeface="Noto Sans KR"/>
                <a:ea typeface="Noto Sans KR"/>
              </a:rPr>
              <a:t>층 입장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0" y="2395728"/>
            <a:ext cx="8229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595959"/>
                </a:solidFill>
                <a:latin typeface="Noto Sans KR"/>
                <a:ea typeface="Noto Sans KR"/>
              </a:rPr>
              <a:t>벽 격파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59" y="2395728"/>
            <a:ext cx="8229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595959"/>
                </a:solidFill>
                <a:latin typeface="Noto Sans KR"/>
                <a:ea typeface="Noto Sans KR"/>
              </a:rPr>
              <a:t>체력 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69679" y="2395728"/>
            <a:ext cx="8229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595959"/>
                </a:solidFill>
                <a:latin typeface="Noto Sans KR"/>
                <a:ea typeface="Noto Sans KR"/>
              </a:rPr>
              <a:t>사라짐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1143000" y="2788920"/>
          <a:ext cx="8229600" cy="2267712"/>
        </p:xfrm>
        <a:graphic>
          <a:graphicData uri="http://schemas.openxmlformats.org/drawingml/2006/table">
            <a:tbl>
              <a:tblPr firstRow="0" bandRow="0"/>
              <a:tblGrid>
                <a:gridCol w="1463040"/>
                <a:gridCol w="2377440"/>
                <a:gridCol w="2743200"/>
                <a:gridCol w="822960"/>
                <a:gridCol w="822960"/>
              </a:tblGrid>
              <a:tr h="347472">
                <a:tc>
                  <a:txBody>
                    <a:bodyPr wrap="square"/>
                    <a:lstStyle/>
                    <a:p>
                      <a:pPr algn="ctr"/>
                      <a:r>
                        <a:rPr sz="125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상태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들어가는 조건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움직임 · 공격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피해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계단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Off 없음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보스 층이 아님 · 층을 옮김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—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—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열림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Wait 대기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보스 층 입장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멈춤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안 받음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막음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Fight 전투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계단 방 벽 격파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가장 가까운 쥐를 쫓음 · 공격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받음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막음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Dying 쓰러짐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체력 0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위로 날아가며 회전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안 받음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막음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Dead 끝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높이 2400 넘게 날아감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안 보임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—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열림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9" name="Rounded Rectangle 18"/>
          <p:cNvSpPr/>
          <p:nvPr/>
        </p:nvSpPr>
        <p:spPr>
          <a:xfrm>
            <a:off x="9646920" y="2788920"/>
            <a:ext cx="1600200" cy="274320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710928" y="2852928"/>
            <a:ext cx="148132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000000"/>
                </a:solidFill>
                <a:latin typeface="Noto Sans KR"/>
                <a:ea typeface="Noto Sans KR"/>
              </a:rPr>
              <a:t>전투 중 세부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10928" y="3200400"/>
            <a:ext cx="1481328" cy="22860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000000"/>
                </a:solidFill>
                <a:latin typeface="Noto Sans KR"/>
                <a:ea typeface="Noto Sans KR"/>
              </a:rPr>
              <a:t>걷기 ↔ 공격 중 (공격 중엔 멈춤)</a:t>
            </a:r>
          </a:p>
          <a:p>
            <a:pPr algn="l">
              <a:spcAft>
                <a:spcPts val="400"/>
              </a:spcAft>
            </a:pPr>
            <a:r>
              <a:rPr sz="1050" b="0">
                <a:solidFill>
                  <a:srgbClr val="000000"/>
                </a:solidFill>
                <a:latin typeface="Noto Sans KR"/>
                <a:ea typeface="Noto Sans KR"/>
              </a:rPr>
              <a:t>발악 대기 (체력 문턱)</a:t>
            </a:r>
          </a:p>
          <a:p>
            <a:pPr algn="l">
              <a:spcAft>
                <a:spcPts val="400"/>
              </a:spcAft>
            </a:pPr>
            <a:r>
              <a:rPr sz="1050" b="0">
                <a:solidFill>
                  <a:srgbClr val="000000"/>
                </a:solidFill>
                <a:latin typeface="Noto Sans KR"/>
                <a:ea typeface="Noto Sans KR"/>
              </a:rPr>
              <a:t>숨기 · 상자: 피해 안 받음</a:t>
            </a:r>
          </a:p>
          <a:p>
            <a:pPr algn="l">
              <a:spcAft>
                <a:spcPts val="400"/>
              </a:spcAft>
            </a:pPr>
            <a:r>
              <a:rPr sz="1050" b="0">
                <a:solidFill>
                  <a:srgbClr val="000000"/>
                </a:solidFill>
                <a:latin typeface="Noto Sans KR"/>
                <a:ea typeface="Noto Sans KR"/>
              </a:rPr>
              <a:t>빙결: 느려짐 · 꽁꽁</a:t>
            </a:r>
          </a:p>
          <a:p>
            <a:pPr algn="l">
              <a:spcAft>
                <a:spcPts val="400"/>
              </a:spcAft>
            </a:pPr>
            <a:r>
              <a:rPr sz="1050" b="0">
                <a:solidFill>
                  <a:srgbClr val="000000"/>
                </a:solidFill>
                <a:latin typeface="Noto Sans KR"/>
                <a:ea typeface="Noto Sans KR"/>
              </a:rPr>
              <a:t>필살기 연출 · 화면 정지 · 게임 오버 중엔 멈춤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1033271" y="749808"/>
            <a:ext cx="9144000" cy="5852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0">
                <a:solidFill>
                  <a:srgbClr val="000000"/>
                </a:solidFill>
                <a:latin typeface="Noto Sans KR Black"/>
                <a:ea typeface="Noto Sans KR Black"/>
              </a:rPr>
              <a:t>보스 시스템 – 공격 선택 · 발동 조건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133856" y="1316736"/>
            <a:ext cx="5852160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label"/>
          <p:cNvSpPr txBox="1"/>
          <p:nvPr/>
        </p:nvSpPr>
        <p:spPr>
          <a:xfrm>
            <a:off x="7040880" y="1005840"/>
            <a:ext cx="4114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95959"/>
                </a:solidFill>
                <a:latin typeface="Noto Sans KR"/>
                <a:ea typeface="Noto Sans KR"/>
              </a:rPr>
              <a:t>공격 쿨이 끝날 때마다 위에서부터 고름</a:t>
            </a:r>
          </a:p>
        </p:txBody>
      </p:sp>
      <p:sp>
        <p:nvSpPr>
          <p:cNvPr id="5" name="Oval 4"/>
          <p:cNvSpPr/>
          <p:nvPr/>
        </p:nvSpPr>
        <p:spPr>
          <a:xfrm>
            <a:off x="1143000" y="1600200"/>
            <a:ext cx="548640" cy="685800"/>
          </a:xfrm>
          <a:prstGeom prst="ellipse">
            <a:avLst/>
          </a:prstGeom>
          <a:solidFill>
            <a:srgbClr val="FBE5D6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800" b="1">
                <a:solidFill>
                  <a:srgbClr val="000000"/>
                </a:solidFill>
                <a:latin typeface="Noto Sans KR"/>
                <a:ea typeface="Noto Sans KR"/>
              </a:rPr>
              <a:t>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828800" y="1600200"/>
            <a:ext cx="3566160" cy="685800"/>
          </a:xfrm>
          <a:prstGeom prst="roundRect">
            <a:avLst>
              <a:gd name="adj" fmla="val 12000"/>
            </a:avLst>
          </a:prstGeom>
          <a:noFill/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/>
            <a:r>
              <a:rPr sz="1300" b="1">
                <a:solidFill>
                  <a:srgbClr val="000000"/>
                </a:solidFill>
                <a:latin typeface="Noto Sans KR"/>
                <a:ea typeface="Noto Sans KR"/>
              </a:rPr>
              <a:t>발악 (대기 중이면)</a:t>
            </a:r>
          </a:p>
          <a:p>
            <a:pPr algn="l"/>
            <a:r>
              <a:rPr sz="1100" b="0">
                <a:solidFill>
                  <a:srgbClr val="000000"/>
                </a:solidFill>
                <a:latin typeface="Noto Sans KR"/>
                <a:ea typeface="Noto Sans KR"/>
              </a:rPr>
              <a:t>체력이 처음 70% · 35% 아래로</a:t>
            </a:r>
          </a:p>
        </p:txBody>
      </p:sp>
      <p:sp>
        <p:nvSpPr>
          <p:cNvPr id="7" name="Oval 6"/>
          <p:cNvSpPr/>
          <p:nvPr/>
        </p:nvSpPr>
        <p:spPr>
          <a:xfrm>
            <a:off x="1143000" y="2468880"/>
            <a:ext cx="548640" cy="685800"/>
          </a:xfrm>
          <a:prstGeom prst="ellipse">
            <a:avLst/>
          </a:prstGeom>
          <a:solidFill>
            <a:srgbClr val="FBE5D6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800" b="1">
                <a:solidFill>
                  <a:srgbClr val="000000"/>
                </a:solidFill>
                <a:latin typeface="Noto Sans KR"/>
                <a:ea typeface="Noto Sans KR"/>
              </a:rPr>
              <a:t>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828800" y="2468880"/>
            <a:ext cx="3566160" cy="685800"/>
          </a:xfrm>
          <a:prstGeom prst="roundRect">
            <a:avLst>
              <a:gd name="adj" fmla="val 12000"/>
            </a:avLst>
          </a:prstGeom>
          <a:noFill/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/>
            <a:r>
              <a:rPr sz="1300" b="1">
                <a:solidFill>
                  <a:srgbClr val="000000"/>
                </a:solidFill>
                <a:latin typeface="Noto Sans KR"/>
                <a:ea typeface="Noto Sans KR"/>
              </a:rPr>
              <a:t>쿨타임 스킬</a:t>
            </a:r>
          </a:p>
          <a:p>
            <a:pPr algn="l"/>
            <a:r>
              <a:rPr sz="1100" b="0">
                <a:solidFill>
                  <a:srgbClr val="000000"/>
                </a:solidFill>
                <a:latin typeface="Noto Sans KR"/>
                <a:ea typeface="Noto Sans KR"/>
              </a:rPr>
              <a:t>첫 사용 4초 뒤, 이후 8초마다</a:t>
            </a:r>
          </a:p>
        </p:txBody>
      </p:sp>
      <p:sp>
        <p:nvSpPr>
          <p:cNvPr id="9" name="Oval 8"/>
          <p:cNvSpPr/>
          <p:nvPr/>
        </p:nvSpPr>
        <p:spPr>
          <a:xfrm>
            <a:off x="1143000" y="3337560"/>
            <a:ext cx="548640" cy="685800"/>
          </a:xfrm>
          <a:prstGeom prst="ellipse">
            <a:avLst/>
          </a:prstGeom>
          <a:solidFill>
            <a:srgbClr val="FBE5D6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800" b="1">
                <a:solidFill>
                  <a:srgbClr val="000000"/>
                </a:solidFill>
                <a:latin typeface="Noto Sans KR"/>
                <a:ea typeface="Noto Sans KR"/>
              </a:rPr>
              <a:t>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828800" y="3337560"/>
            <a:ext cx="3566160" cy="685800"/>
          </a:xfrm>
          <a:prstGeom prst="roundRect">
            <a:avLst>
              <a:gd name="adj" fmla="val 12000"/>
            </a:avLst>
          </a:prstGeom>
          <a:noFill/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/>
            <a:r>
              <a:rPr sz="1300" b="1">
                <a:solidFill>
                  <a:srgbClr val="000000"/>
                </a:solidFill>
                <a:latin typeface="Noto Sans KR"/>
                <a:ea typeface="Noto Sans KR"/>
              </a:rPr>
              <a:t>발악 반복</a:t>
            </a:r>
          </a:p>
          <a:p>
            <a:pPr algn="l"/>
            <a:r>
              <a:rPr sz="1100" b="0">
                <a:solidFill>
                  <a:srgbClr val="000000"/>
                </a:solidFill>
                <a:latin typeface="Noto Sans KR"/>
                <a:ea typeface="Noto Sans KR"/>
              </a:rPr>
              <a:t>발악 1 · 2 다 쓴 뒤 25% 확률, 1 ↔ 2 번갈아</a:t>
            </a:r>
          </a:p>
        </p:txBody>
      </p:sp>
      <p:sp>
        <p:nvSpPr>
          <p:cNvPr id="11" name="Oval 10"/>
          <p:cNvSpPr/>
          <p:nvPr/>
        </p:nvSpPr>
        <p:spPr>
          <a:xfrm>
            <a:off x="1143000" y="4206240"/>
            <a:ext cx="548640" cy="685800"/>
          </a:xfrm>
          <a:prstGeom prst="ellipse">
            <a:avLst/>
          </a:prstGeom>
          <a:solidFill>
            <a:srgbClr val="F2F2F2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800" b="1">
                <a:solidFill>
                  <a:srgbClr val="000000"/>
                </a:solidFill>
                <a:latin typeface="Noto Sans KR"/>
                <a:ea typeface="Noto Sans KR"/>
              </a:rPr>
              <a:t>4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828800" y="4206240"/>
            <a:ext cx="3566160" cy="685800"/>
          </a:xfrm>
          <a:prstGeom prst="roundRect">
            <a:avLst>
              <a:gd name="adj" fmla="val 12000"/>
            </a:avLst>
          </a:prstGeom>
          <a:noFill/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/>
            <a:r>
              <a:rPr sz="1300" b="1">
                <a:solidFill>
                  <a:srgbClr val="000000"/>
                </a:solidFill>
                <a:latin typeface="Noto Sans KR"/>
                <a:ea typeface="Noto Sans KR"/>
              </a:rPr>
              <a:t>일반 공격 2</a:t>
            </a:r>
          </a:p>
          <a:p>
            <a:pPr algn="l"/>
            <a:r>
              <a:rPr sz="1100" b="0">
                <a:solidFill>
                  <a:srgbClr val="000000"/>
                </a:solidFill>
                <a:latin typeface="Noto Sans KR"/>
                <a:ea typeface="Noto Sans KR"/>
              </a:rPr>
              <a:t>40% 확률</a:t>
            </a:r>
          </a:p>
        </p:txBody>
      </p:sp>
      <p:sp>
        <p:nvSpPr>
          <p:cNvPr id="13" name="Oval 12"/>
          <p:cNvSpPr/>
          <p:nvPr/>
        </p:nvSpPr>
        <p:spPr>
          <a:xfrm>
            <a:off x="1143000" y="5074920"/>
            <a:ext cx="548640" cy="685800"/>
          </a:xfrm>
          <a:prstGeom prst="ellipse">
            <a:avLst/>
          </a:prstGeom>
          <a:solidFill>
            <a:srgbClr val="F2F2F2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800" b="1">
                <a:solidFill>
                  <a:srgbClr val="000000"/>
                </a:solidFill>
                <a:latin typeface="Noto Sans KR"/>
                <a:ea typeface="Noto Sans KR"/>
              </a:rPr>
              <a:t>5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828800" y="5074920"/>
            <a:ext cx="3566160" cy="685800"/>
          </a:xfrm>
          <a:prstGeom prst="roundRect">
            <a:avLst>
              <a:gd name="adj" fmla="val 12000"/>
            </a:avLst>
          </a:prstGeom>
          <a:noFill/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/>
            <a:r>
              <a:rPr sz="1300" b="1">
                <a:solidFill>
                  <a:srgbClr val="000000"/>
                </a:solidFill>
                <a:latin typeface="Noto Sans KR"/>
                <a:ea typeface="Noto Sans KR"/>
              </a:rPr>
              <a:t>일반 공격 1</a:t>
            </a:r>
          </a:p>
          <a:p>
            <a:pPr algn="l"/>
            <a:r>
              <a:rPr sz="1100" b="0">
                <a:solidFill>
                  <a:srgbClr val="000000"/>
                </a:solidFill>
                <a:latin typeface="Noto Sans KR"/>
                <a:ea typeface="Noto Sans KR"/>
              </a:rPr>
              <a:t>나머지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5715000" y="1600200"/>
          <a:ext cx="5486400" cy="3749040"/>
        </p:xfrm>
        <a:graphic>
          <a:graphicData uri="http://schemas.openxmlformats.org/drawingml/2006/table">
            <a:tbl>
              <a:tblPr firstRow="0" bandRow="0"/>
              <a:tblGrid>
                <a:gridCol w="1234440"/>
                <a:gridCol w="4251960"/>
              </a:tblGrid>
              <a:tr h="347472">
                <a:tc>
                  <a:txBody>
                    <a:bodyPr wrap="square"/>
                    <a:lstStyle/>
                    <a:p>
                      <a:pPr algn="ctr"/>
                      <a:r>
                        <a:rPr sz="125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시점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조건 · 처리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공격 시작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공격 쿨(3 ~ 4.5초 무작위)이 끝났거나 쿨타임 스킬이 준비됨 · 필살기 연출 중이 아님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발악 1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체력이 처음 70% 아래 → 다음 공격으로 대기, 공격 쿨을 0.3초 이하로 줄임 + 경고음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발악 2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체력이 처음 35% 아래 (한 번 맞을 때 하나씩 → 한 번에 넘어도 1 다음 2)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쿨타임 스킬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발악이 대기 중이면 미룸 · 쓰면 8초 다시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공격 끝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공격 쿨 3 ~ 4.5초 다시 · 공격 중엔 다음 공격 안 고름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등장 스킬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97층: 보스전 시작 0.8초 뒤 발악 1(촉수 삼키기) · 체력 70%에서 또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1033271" y="61722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Noto Sans KR"/>
                <a:ea typeface="Noto Sans KR"/>
              </a:rPr>
              <a:t>수치 = 보스 테이블 (개편 보스 25 ~ 97층). 5 ~ 20층 기존 보스는 쿨타임 스킬 12초 · 첫 사용 6초 (현재 테이블 값)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1033271" y="749808"/>
            <a:ext cx="9144000" cy="5852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0">
                <a:solidFill>
                  <a:srgbClr val="000000"/>
                </a:solidFill>
                <a:latin typeface="Noto Sans KR Black"/>
                <a:ea typeface="Noto Sans KR Black"/>
              </a:rPr>
              <a:t>보스 시스템 – 공격 흐름 · 평타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133856" y="1316736"/>
            <a:ext cx="5852160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label"/>
          <p:cNvSpPr txBox="1"/>
          <p:nvPr/>
        </p:nvSpPr>
        <p:spPr>
          <a:xfrm>
            <a:off x="7040880" y="1005840"/>
            <a:ext cx="4114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95959"/>
                </a:solidFill>
                <a:latin typeface="Noto Sans KR"/>
                <a:ea typeface="Noto Sans KR"/>
              </a:rPr>
              <a:t>공격 하나 = 준비 → 발동 → 지속 → 끝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43000" y="1600200"/>
            <a:ext cx="2240280" cy="777240"/>
          </a:xfrm>
          <a:prstGeom prst="roundRect">
            <a:avLst/>
          </a:prstGeom>
          <a:noFill/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300" b="1">
                <a:solidFill>
                  <a:srgbClr val="000000"/>
                </a:solidFill>
                <a:latin typeface="Noto Sans KR"/>
                <a:ea typeface="Noto Sans KR"/>
              </a:rPr>
              <a:t>준비 (windup)</a:t>
            </a:r>
          </a:p>
          <a:p>
            <a:pPr algn="ctr"/>
            <a:r>
              <a:rPr sz="1100" b="0">
                <a:solidFill>
                  <a:srgbClr val="000000"/>
                </a:solidFill>
                <a:latin typeface="Noto Sans KR"/>
                <a:ea typeface="Noto Sans KR"/>
              </a:rPr>
              <a:t>몸 떨림 · 예고 원 · 그림자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383280" y="1988819"/>
            <a:ext cx="411480" cy="0"/>
          </a:xfrm>
          <a:prstGeom prst="line">
            <a:avLst/>
          </a:prstGeom>
          <a:ln w="25400"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3794760" y="1600200"/>
            <a:ext cx="2240280" cy="777240"/>
          </a:xfrm>
          <a:prstGeom prst="roundRect">
            <a:avLst/>
          </a:prstGeom>
          <a:solidFill>
            <a:srgbClr val="FBE5D6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300" b="1">
                <a:solidFill>
                  <a:srgbClr val="000000"/>
                </a:solidFill>
                <a:latin typeface="Noto Sans KR"/>
                <a:ea typeface="Noto Sans KR"/>
              </a:rPr>
              <a:t>발동</a:t>
            </a:r>
          </a:p>
          <a:p>
            <a:pPr algn="ctr"/>
            <a:r>
              <a:rPr sz="1100" b="0">
                <a:solidFill>
                  <a:srgbClr val="000000"/>
                </a:solidFill>
                <a:latin typeface="Noto Sans KR"/>
                <a:ea typeface="Noto Sans KR"/>
              </a:rPr>
              <a:t>반경 안 쥐 기절 · 밀려남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035040" y="1988819"/>
            <a:ext cx="411480" cy="0"/>
          </a:xfrm>
          <a:prstGeom prst="line">
            <a:avLst/>
          </a:prstGeom>
          <a:ln w="25400"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6446520" y="1600200"/>
            <a:ext cx="2240280" cy="777240"/>
          </a:xfrm>
          <a:prstGeom prst="roundRect">
            <a:avLst/>
          </a:prstGeom>
          <a:noFill/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300" b="1">
                <a:solidFill>
                  <a:srgbClr val="000000"/>
                </a:solidFill>
                <a:latin typeface="Noto Sans KR"/>
                <a:ea typeface="Noto Sans KR"/>
              </a:rPr>
              <a:t>지속 (dur)</a:t>
            </a:r>
          </a:p>
          <a:p>
            <a:pPr algn="ctr"/>
            <a:r>
              <a:rPr sz="1100" b="0">
                <a:solidFill>
                  <a:srgbClr val="000000"/>
                </a:solidFill>
                <a:latin typeface="Noto Sans KR"/>
                <a:ea typeface="Noto Sans KR"/>
              </a:rPr>
              <a:t>소환물 · 장판이 남음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8686800" y="1988819"/>
            <a:ext cx="411480" cy="0"/>
          </a:xfrm>
          <a:prstGeom prst="line">
            <a:avLst/>
          </a:prstGeom>
          <a:ln w="25400"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9098280" y="1600200"/>
            <a:ext cx="2240280" cy="777240"/>
          </a:xfrm>
          <a:prstGeom prst="roundRect">
            <a:avLst/>
          </a:prstGeom>
          <a:noFill/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300" b="1">
                <a:solidFill>
                  <a:srgbClr val="000000"/>
                </a:solidFill>
                <a:latin typeface="Noto Sans KR"/>
                <a:ea typeface="Noto Sans KR"/>
              </a:rPr>
              <a:t>끝</a:t>
            </a:r>
          </a:p>
          <a:p>
            <a:pPr algn="ctr"/>
            <a:r>
              <a:rPr sz="1100" b="0">
                <a:solidFill>
                  <a:srgbClr val="000000"/>
                </a:solidFill>
                <a:latin typeface="Noto Sans KR"/>
                <a:ea typeface="Noto Sans KR"/>
              </a:rPr>
              <a:t>공격 쿨 3 ~ 4.5초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1" y="251460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000000"/>
                </a:solidFill>
                <a:latin typeface="Noto Sans KR"/>
                <a:ea typeface="Noto Sans KR"/>
              </a:rPr>
              <a:t>발악 준비 : </a:t>
            </a:r>
            <a:r>
              <a:rPr sz="1250" b="0">
                <a:solidFill>
                  <a:srgbClr val="000000"/>
                </a:solidFill>
                <a:latin typeface="Noto Sans KR"/>
                <a:ea typeface="Noto Sans KR"/>
              </a:rPr>
              <a:t>스킬 이름 배너 + 보스 색으로 화면 번쩍 + 흔들림 + 발악 대사 · 공격 중엔 보스가 멈추듯 느려짐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1143000" y="3108960"/>
          <a:ext cx="10149840" cy="1563624"/>
        </p:xfrm>
        <a:graphic>
          <a:graphicData uri="http://schemas.openxmlformats.org/drawingml/2006/table">
            <a:tbl>
              <a:tblPr firstRow="0" bandRow="0"/>
              <a:tblGrid>
                <a:gridCol w="1188720"/>
                <a:gridCol w="3931920"/>
                <a:gridCol w="5029200"/>
              </a:tblGrid>
              <a:tr h="329184">
                <a:tc>
                  <a:txBody>
                    <a:bodyPr wrap="square"/>
                    <a:lstStyle/>
                    <a:p>
                      <a:pPr algn="ctr"/>
                      <a:r>
                        <a:rPr sz="125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리그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일반 공격 1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일반 공격 2 (40%)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사람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휘두르기 — 앞쪽 쥐를 날림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내려찍기 — 웅크렸다 가까운 쥐로 점프, 착지 둘레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고양이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덮치기 — 낮고 빠른 점프, 착지 둘레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헤어볼 — 화면 속 쥐에게 3개 던짐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전용 파츠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내려찍기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덮치기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1143000" y="5120640"/>
          <a:ext cx="6217920" cy="1389888"/>
        </p:xfrm>
        <a:graphic>
          <a:graphicData uri="http://schemas.openxmlformats.org/drawingml/2006/table">
            <a:tbl>
              <a:tblPr firstRow="0" bandRow="0"/>
              <a:tblGrid>
                <a:gridCol w="2103120"/>
                <a:gridCol w="1097280"/>
                <a:gridCol w="1005840"/>
                <a:gridCol w="1005840"/>
                <a:gridCol w="1005840"/>
              </a:tblGrid>
              <a:tr h="292608"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평타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반경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기절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준비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지속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내려찍기 Stomp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300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2.6초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0.5초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2.0초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덮치기 Pounce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280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2.6초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0.6초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2.0초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휘두르기 Swing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280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2.1초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0.45초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1.2초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헤어볼 Hairball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110 × 3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3.2초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0.4초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1.6초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7680960" y="5120640"/>
            <a:ext cx="356616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595959"/>
                </a:solidFill>
                <a:latin typeface="Noto Sans KR"/>
                <a:ea typeface="Noto Sans KR"/>
              </a:rPr>
              <a:t>평타 수치 = 보스 테이블 Atk_Type (리그 공통)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595959"/>
                </a:solidFill>
                <a:latin typeface="Noto Sans KR"/>
                <a:ea typeface="Noto Sans KR"/>
              </a:rPr>
              <a:t>평타 기절은 테이블 값 그대로 · 쿨타임 1초 / 발악 2초 기본은 스킬에만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1033271" y="749808"/>
            <a:ext cx="9144000" cy="5852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0">
                <a:solidFill>
                  <a:srgbClr val="000000"/>
                </a:solidFill>
                <a:latin typeface="Noto Sans KR Black"/>
                <a:ea typeface="Noto Sans KR Black"/>
              </a:rPr>
              <a:t>보스 시스템 – 체력 · 피해 · 보상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133856" y="1316736"/>
            <a:ext cx="5852160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label"/>
          <p:cNvSpPr txBox="1"/>
          <p:nvPr/>
        </p:nvSpPr>
        <p:spPr>
          <a:xfrm>
            <a:off x="7040880" y="1005840"/>
            <a:ext cx="4114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95959"/>
                </a:solidFill>
                <a:latin typeface="Noto Sans KR"/>
                <a:ea typeface="Noto Sans KR"/>
              </a:rPr>
              <a:t>보스 테이블 · Boss.cs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43000" y="1600200"/>
            <a:ext cx="2286000" cy="118872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1691640"/>
            <a:ext cx="2286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800" b="0">
                <a:solidFill>
                  <a:srgbClr val="E97132"/>
                </a:solidFill>
                <a:latin typeface="Noto Sans KR Black"/>
                <a:ea typeface="Noto Sans KR Black"/>
              </a:rPr>
              <a:t>25 ~ 48.6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2331720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595959"/>
                </a:solidFill>
                <a:latin typeface="Noto Sans KR"/>
                <a:ea typeface="Noto Sans KR"/>
              </a:rPr>
              <a:t>체력 배율 hp_pow_sec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703320" y="1600200"/>
            <a:ext cx="2286000" cy="118872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03320" y="1691640"/>
            <a:ext cx="2286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800" b="0">
                <a:solidFill>
                  <a:srgbClr val="E97132"/>
                </a:solidFill>
                <a:latin typeface="Noto Sans KR Black"/>
                <a:ea typeface="Noto Sans KR Black"/>
              </a:rPr>
              <a:t>3 ~ 4.5초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03320" y="2331720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595959"/>
                </a:solidFill>
                <a:latin typeface="Noto Sans KR"/>
                <a:ea typeface="Noto Sans KR"/>
              </a:rPr>
              <a:t>평타 간격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600200"/>
            <a:ext cx="2286000" cy="118872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63640" y="1691640"/>
            <a:ext cx="2286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800" b="0">
                <a:solidFill>
                  <a:srgbClr val="E97132"/>
                </a:solidFill>
                <a:latin typeface="Noto Sans KR Black"/>
                <a:ea typeface="Noto Sans KR Black"/>
              </a:rPr>
              <a:t>8초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63640" y="2331720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595959"/>
                </a:solidFill>
                <a:latin typeface="Noto Sans KR"/>
                <a:ea typeface="Noto Sans KR"/>
              </a:rPr>
              <a:t>쿨타임 스킬 간격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823959" y="1600200"/>
            <a:ext cx="2286000" cy="118872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823959" y="1691640"/>
            <a:ext cx="2286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800" b="0">
                <a:solidFill>
                  <a:srgbClr val="E97132"/>
                </a:solidFill>
                <a:latin typeface="Noto Sans KR Black"/>
                <a:ea typeface="Noto Sans KR Black"/>
              </a:rPr>
              <a:t>70 · 35%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23959" y="2331720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595959"/>
                </a:solidFill>
                <a:latin typeface="Noto Sans KR"/>
                <a:ea typeface="Noto Sans KR"/>
              </a:rPr>
              <a:t>발악 1 · 2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1143000" y="3063240"/>
          <a:ext cx="10149840" cy="2862072"/>
        </p:xfrm>
        <a:graphic>
          <a:graphicData uri="http://schemas.openxmlformats.org/drawingml/2006/table">
            <a:tbl>
              <a:tblPr firstRow="0" bandRow="0"/>
              <a:tblGrid>
                <a:gridCol w="1645920"/>
                <a:gridCol w="8503920"/>
              </a:tblGrid>
              <a:tr h="347472">
                <a:tc>
                  <a:txBody>
                    <a:bodyPr wrap="square"/>
                    <a:lstStyle/>
                    <a:p>
                      <a:pPr algn="ctr"/>
                      <a:r>
                        <a:rPr sz="125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항목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규칙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ctr"/>
                      <a:r>
                        <a:rPr sz="125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체력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층 적정 찍찍 × hp_pow_sec — 적정 전투력으로 쳤을 때 대략 그 초만큼 걸리는 양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ctr"/>
                      <a:r>
                        <a:rPr sz="125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피해 받는 때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전투(Fight) 중 · 숨기(지느러미 돌진 등) · 상자 상태가 아닐 때 · 쥐 들이받기 · 폭발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ctr"/>
                      <a:r>
                        <a:rPr sz="125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피해 배율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공통 스킬 보스 피해 배율 × 밈 버프 × (15층 중꺾마 중 0.4배)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ctr"/>
                      <a:r>
                        <a:rPr sz="125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맞을 때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살짝 밀림 · 피해 숫자 25% · 맞는 대사 8% · 때린 쥐 필살기 게이지 충전 (보스 타격)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ctr"/>
                      <a:r>
                        <a:rPr sz="125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보상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치즈 = 3 × 층 치즈 × cheese_mul(300) × 생물 치즈 배율, 격파 시 콤보 배율 적용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1033271" y="749808"/>
            <a:ext cx="9144000" cy="5852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0">
                <a:solidFill>
                  <a:srgbClr val="000000"/>
                </a:solidFill>
                <a:latin typeface="Noto Sans KR Black"/>
                <a:ea typeface="Noto Sans KR Black"/>
              </a:rPr>
              <a:t>보스 시스템 – 형태 · 상태 변화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133856" y="1316736"/>
            <a:ext cx="5852160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label"/>
          <p:cNvSpPr txBox="1"/>
          <p:nvPr/>
        </p:nvSpPr>
        <p:spPr>
          <a:xfrm>
            <a:off x="7040880" y="1005840"/>
            <a:ext cx="4114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95959"/>
                </a:solidFill>
                <a:latin typeface="Noto Sans KR"/>
                <a:ea typeface="Noto Sans KR"/>
              </a:rPr>
              <a:t>보스 테이블 Atk_Type opt · pattern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143000" y="1572768"/>
          <a:ext cx="7040880" cy="4334256"/>
        </p:xfrm>
        <a:graphic>
          <a:graphicData uri="http://schemas.openxmlformats.org/drawingml/2006/table">
            <a:tbl>
              <a:tblPr firstRow="0" bandRow="0"/>
              <a:tblGrid>
                <a:gridCol w="502920"/>
                <a:gridCol w="3063240"/>
                <a:gridCol w="1188720"/>
                <a:gridCol w="1234440"/>
                <a:gridCol w="1051560"/>
              </a:tblGrid>
              <a:tr h="310896"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층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보스 변화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언제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얼마나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테이블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25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머리 → 허 고양이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발악 2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공격 동안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head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30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귀 없는 기괴한 얼굴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발악 1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이후 계속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head_keep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30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우는 얼굴 식빵 (그림 한 장)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발악 2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공격 + 1.5초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body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35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티라노 거대화 · 걸을 때 둘레 기절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발악 1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6초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Grow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35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쭈그려 앉아 담배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발악 2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3초 후 복귀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body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50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두 발로 서서 확성기 · 전화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발악 1 · 2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공격 + 1.5초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body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60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굴착기 탑승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발악 1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이후 계속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ride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65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숨고 등지느러미만 (피해 안 받음)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발악 1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돌진 동안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hide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80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몸 일으켜 쿵쿵 걸음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발악 2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3초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Grow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94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알 → 일반 고양이 → 그렘린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보스전 전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—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특수 등장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97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동료 쥐 → 보스 크기 · 머리 열림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보스전 시작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계속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특수 등장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8503920" y="1572768"/>
            <a:ext cx="2743200" cy="4389120"/>
          </a:xfrm>
          <a:prstGeom prst="roundRect">
            <a:avLst>
              <a:gd name="adj" fmla="val 5000"/>
            </a:avLst>
          </a:prstGeom>
          <a:solidFill>
            <a:srgbClr val="FBE5D6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41080" y="1664208"/>
            <a:ext cx="2514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00000"/>
                </a:solidFill>
                <a:latin typeface="Noto Sans KR"/>
                <a:ea typeface="Noto Sans KR"/>
              </a:rPr>
              <a:t>쥐 쪽 상태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41080" y="2103120"/>
            <a:ext cx="2514600" cy="37490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1">
                <a:solidFill>
                  <a:srgbClr val="000000"/>
                </a:solidFill>
                <a:latin typeface="Noto Sans KR"/>
                <a:ea typeface="Noto Sans KR"/>
              </a:rPr>
              <a:t>기절 : </a:t>
            </a:r>
            <a:r>
              <a:rPr sz="1150" b="0">
                <a:solidFill>
                  <a:srgbClr val="000000"/>
                </a:solidFill>
                <a:latin typeface="Noto Sans KR"/>
                <a:ea typeface="Noto Sans KR"/>
              </a:rPr>
              <a:t>못 움직임 · 면역 없음 (풀리면 바로 다시)</a:t>
            </a:r>
          </a:p>
          <a:p>
            <a:pPr algn="l">
              <a:spcAft>
                <a:spcPts val="600"/>
              </a:spcAft>
            </a:pPr>
            <a:r>
              <a:rPr sz="1150" b="1">
                <a:solidFill>
                  <a:srgbClr val="000000"/>
                </a:solidFill>
                <a:latin typeface="Noto Sans KR"/>
                <a:ea typeface="Noto Sans KR"/>
              </a:rPr>
              <a:t>밀려남 : </a:t>
            </a:r>
            <a:r>
              <a:rPr sz="1150" b="0">
                <a:solidFill>
                  <a:srgbClr val="000000"/>
                </a:solidFill>
                <a:latin typeface="Noto Sans KR"/>
                <a:ea typeface="Noto Sans KR"/>
              </a:rPr>
              <a:t>벽에 막히면 멈춤</a:t>
            </a:r>
          </a:p>
          <a:p>
            <a:pPr algn="l">
              <a:spcAft>
                <a:spcPts val="600"/>
              </a:spcAft>
            </a:pPr>
            <a:r>
              <a:rPr sz="1150" b="1">
                <a:solidFill>
                  <a:srgbClr val="000000"/>
                </a:solidFill>
                <a:latin typeface="Noto Sans KR"/>
                <a:ea typeface="Noto Sans KR"/>
              </a:rPr>
              <a:t>변신 (40층) : </a:t>
            </a:r>
            <a:r>
              <a:rPr sz="1150" b="0">
                <a:solidFill>
                  <a:srgbClr val="000000"/>
                </a:solidFill>
                <a:latin typeface="Noto Sans KR"/>
                <a:ea typeface="Noto Sans KR"/>
              </a:rPr>
              <a:t>미니 버티컬 마우스, 3초 멋대로 걷기 · 공격 안 함</a:t>
            </a:r>
          </a:p>
          <a:p>
            <a:pPr algn="l">
              <a:spcAft>
                <a:spcPts val="600"/>
              </a:spcAft>
            </a:pPr>
            <a:r>
              <a:rPr sz="1150" b="1">
                <a:solidFill>
                  <a:srgbClr val="000000"/>
                </a:solidFill>
                <a:latin typeface="Noto Sans KR"/>
                <a:ea typeface="Noto Sans KR"/>
              </a:rPr>
              <a:t>삼켜짐 (97층) : </a:t>
            </a:r>
            <a:r>
              <a:rPr sz="1150" b="0">
                <a:solidFill>
                  <a:srgbClr val="000000"/>
                </a:solidFill>
                <a:latin typeface="Noto Sans KR"/>
                <a:ea typeface="Noto Sans KR"/>
              </a:rPr>
              <a:t>3초 뒤 뱉음</a:t>
            </a:r>
          </a:p>
          <a:p>
            <a:pPr algn="l">
              <a:spcAft>
                <a:spcPts val="600"/>
              </a:spcAft>
            </a:pPr>
            <a:r>
              <a:rPr sz="1150" b="1">
                <a:solidFill>
                  <a:srgbClr val="000000"/>
                </a:solidFill>
                <a:latin typeface="Noto Sans KR"/>
                <a:ea typeface="Noto Sans KR"/>
              </a:rPr>
              <a:t>방독면 (90층) : </a:t>
            </a:r>
            <a:r>
              <a:rPr sz="1150" b="0">
                <a:solidFill>
                  <a:srgbClr val="000000"/>
                </a:solidFill>
                <a:latin typeface="Noto Sans KR"/>
                <a:ea typeface="Noto Sans KR"/>
              </a:rPr>
              <a:t>방구가스 기절 뒤 5초 면역</a:t>
            </a:r>
          </a:p>
          <a:p>
            <a:pPr algn="l">
              <a:spcAft>
                <a:spcPts val="600"/>
              </a:spcAft>
            </a:pPr>
            <a:r>
              <a:rPr sz="1150" b="1">
                <a:solidFill>
                  <a:srgbClr val="000000"/>
                </a:solidFill>
                <a:latin typeface="Noto Sans KR"/>
                <a:ea typeface="Noto Sans KR"/>
              </a:rPr>
              <a:t>인구수 : </a:t>
            </a:r>
            <a:r>
              <a:rPr sz="1150" b="0">
                <a:solidFill>
                  <a:srgbClr val="000000"/>
                </a:solidFill>
                <a:latin typeface="Noto Sans KR"/>
                <a:ea typeface="Noto Sans KR"/>
              </a:rPr>
              <a:t>변신 · 삼켜진 쥐도 최대 마릿수에 그대로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1033271" y="749808"/>
            <a:ext cx="9144000" cy="5852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0">
                <a:solidFill>
                  <a:srgbClr val="000000"/>
                </a:solidFill>
                <a:latin typeface="Noto Sans KR Black"/>
                <a:ea typeface="Noto Sans KR Black"/>
              </a:rPr>
              <a:t>공통 규칙 – 기절 · 넉백 · 인구수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133856" y="1316736"/>
            <a:ext cx="5852160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label"/>
          <p:cNvSpPr txBox="1"/>
          <p:nvPr/>
        </p:nvSpPr>
        <p:spPr>
          <a:xfrm>
            <a:off x="7040880" y="1005840"/>
            <a:ext cx="4114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95959"/>
                </a:solidFill>
                <a:latin typeface="Noto Sans KR"/>
                <a:ea typeface="Noto Sans KR"/>
              </a:rPr>
              <a:t>질문으로 정한 것 (2026-10-22)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143000" y="1600200"/>
          <a:ext cx="9966960" cy="4389120"/>
        </p:xfrm>
        <a:graphic>
          <a:graphicData uri="http://schemas.openxmlformats.org/drawingml/2006/table">
            <a:tbl>
              <a:tblPr firstRow="0" bandRow="0"/>
              <a:tblGrid>
                <a:gridCol w="2377440"/>
                <a:gridCol w="3566160"/>
                <a:gridCol w="4023360"/>
              </a:tblGrid>
              <a:tr h="548640">
                <a:tc>
                  <a:txBody>
                    <a:bodyPr wrap="square"/>
                    <a:lstStyle/>
                    <a:p>
                      <a:pPr algn="ctr"/>
                      <a:r>
                        <a:rPr sz="125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항목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규칙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비고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평타 (일반 공격 1 · 2)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리그별 기본 유지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덮치기 · 밟기 · 휘두르기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쿨타임 스킬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8초 간격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층마다 1종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발악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체력 70% → 발악 1, 35% → 발악 2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둘 다 쓴 뒤엔 번갈아 계속 씀 (공격마다 25%)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기절 시간 (안 적힌 것)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쿨타임 스킬 1초 · 발악 2초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명세에 숫자가 있으면 그 값 · 층별 표의 '(기본)'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재기절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면역 없음 — 풀리면 바로 다시 걸림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예외: 90층 방구가스 방독면 5초 면역 (원문)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밀려남 (넉백)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벽에 막히면 멈춤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몽둥이 · 물대포 · 수염 · 폭뢰 · 돌진 공통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최대 마릿수 (인구수)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40층 변신 쥐 · 97층 잡아먹힌 쥐는 빠지지 않음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그동안 새 쥐가 태어나 넘치지 않게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1033271" y="749808"/>
            <a:ext cx="9144000" cy="5852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0">
                <a:solidFill>
                  <a:srgbClr val="000000"/>
                </a:solidFill>
                <a:latin typeface="Noto Sans KR Black"/>
                <a:ea typeface="Noto Sans KR Black"/>
              </a:rPr>
              <a:t>공통 규칙 – 표현 · 제작 규칙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133856" y="1316736"/>
            <a:ext cx="5852160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label"/>
          <p:cNvSpPr txBox="1"/>
          <p:nvPr/>
        </p:nvSpPr>
        <p:spPr>
          <a:xfrm>
            <a:off x="7040880" y="1005840"/>
            <a:ext cx="4114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95959"/>
                </a:solidFill>
                <a:latin typeface="Noto Sans KR"/>
                <a:ea typeface="Noto Sans KR"/>
              </a:rPr>
              <a:t>질문으로 정한 것 + README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43000" y="1600200"/>
            <a:ext cx="4846320" cy="2148840"/>
          </a:xfrm>
          <a:prstGeom prst="roundRect">
            <a:avLst>
              <a:gd name="adj" fmla="val 6000"/>
            </a:avLst>
          </a:prstGeom>
          <a:solidFill>
            <a:srgbClr val="FBE5D6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783080"/>
            <a:ext cx="43891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00000"/>
                </a:solidFill>
                <a:latin typeface="Noto Sans KR"/>
                <a:ea typeface="Noto Sans KR"/>
              </a:rPr>
              <a:t>보스 · 스킬 이름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286000"/>
            <a:ext cx="438912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>
                <a:solidFill>
                  <a:srgbClr val="000000"/>
                </a:solidFill>
                <a:latin typeface="Noto Sans KR"/>
                <a:ea typeface="Noto Sans KR"/>
              </a:rPr>
              <a:t>패러디 원작과 비슷하게 바꾼 이름, 한글 · 영어 확정 (2026-10-22)</a:t>
            </a:r>
          </a:p>
          <a:p>
            <a:pPr algn="l">
              <a:spcAft>
                <a:spcPts val="600"/>
              </a:spcAft>
            </a:pPr>
            <a:r>
              <a:rPr sz="1350" b="0">
                <a:solidFill>
                  <a:srgbClr val="000000"/>
                </a:solidFill>
                <a:latin typeface="Noto Sans KR"/>
                <a:ea typeface="Noto Sans KR"/>
              </a:rPr>
              <a:t>원작 이름은 '패러디 원작' 칸에만 · 예) 괴렘 → 실험체 고양이 (Subject Kitty)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00200"/>
            <a:ext cx="4846320" cy="214884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783080"/>
            <a:ext cx="43891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00000"/>
                </a:solidFill>
                <a:latin typeface="Noto Sans KR"/>
                <a:ea typeface="Noto Sans KR"/>
              </a:rPr>
              <a:t>화면 글자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2286000"/>
            <a:ext cx="438912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>
                <a:solidFill>
                  <a:srgbClr val="000000"/>
                </a:solidFill>
                <a:latin typeface="Noto Sans KR"/>
                <a:ea typeface="Noto Sans KR"/>
              </a:rPr>
              <a:t>한글 · 영어 확정 (2026-10-22) → 부록 이름 · 화면 글자 표</a:t>
            </a:r>
          </a:p>
          <a:p>
            <a:pPr algn="l">
              <a:spcAft>
                <a:spcPts val="600"/>
              </a:spcAft>
            </a:pPr>
            <a:r>
              <a:rPr sz="1350" b="0">
                <a:solidFill>
                  <a:srgbClr val="000000"/>
                </a:solidFill>
                <a:latin typeface="Noto Sans KR"/>
                <a:ea typeface="Noto Sans KR"/>
              </a:rPr>
              <a:t>HUH? · 우가!! (OOGA!!) · 좋았쓰!! (LOOKS GOOD!!) · 긴급 회의! (EMERGENCY HUDDLE!)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143000" y="3977639"/>
            <a:ext cx="4846320" cy="214884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160520"/>
            <a:ext cx="43891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00000"/>
                </a:solidFill>
                <a:latin typeface="Noto Sans KR"/>
                <a:ea typeface="Noto Sans KR"/>
              </a:rPr>
              <a:t>그림체 · 외형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663440"/>
            <a:ext cx="438912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>
                <a:solidFill>
                  <a:srgbClr val="000000"/>
                </a:solidFill>
                <a:latin typeface="Noto Sans KR"/>
                <a:ea typeface="Noto Sans KR"/>
              </a:rPr>
              <a:t>지금 게임 그대로 (플랫, 외곽선 · 광택 없음, 부위별 시트 → 리그)</a:t>
            </a:r>
          </a:p>
          <a:p>
            <a:pPr algn="l">
              <a:spcAft>
                <a:spcPts val="600"/>
              </a:spcAft>
            </a:pPr>
            <a:r>
              <a:rPr sz="1350" b="0">
                <a:solidFill>
                  <a:srgbClr val="000000"/>
                </a:solidFill>
                <a:latin typeface="Noto Sans KR"/>
                <a:ea typeface="Noto Sans KR"/>
              </a:rPr>
              <a:t>패러디는 실루엣 · 의상만 (실존 얼굴 · 로고 · 상징 없음)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3977639"/>
            <a:ext cx="4846320" cy="2148840"/>
          </a:xfrm>
          <a:prstGeom prst="roundRect">
            <a:avLst>
              <a:gd name="adj" fmla="val 6000"/>
            </a:avLst>
          </a:prstGeom>
          <a:solidFill>
            <a:srgbClr val="FBE5D6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4160520"/>
            <a:ext cx="43891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00000"/>
                </a:solidFill>
                <a:latin typeface="Noto Sans KR"/>
                <a:ea typeface="Noto Sans KR"/>
              </a:rPr>
              <a:t>작업 순서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4663440"/>
            <a:ext cx="438912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>
                <a:solidFill>
                  <a:srgbClr val="000000"/>
                </a:solidFill>
                <a:latin typeface="Noto Sans KR"/>
                <a:ea typeface="Noto Sans KR"/>
              </a:rPr>
              <a:t>동작 먼저 (임시 그림) → 그림은 나중에 한꺼번에</a:t>
            </a:r>
          </a:p>
          <a:p>
            <a:pPr algn="l">
              <a:spcAft>
                <a:spcPts val="600"/>
              </a:spcAft>
            </a:pPr>
            <a:r>
              <a:rPr sz="1350" b="0">
                <a:solidFill>
                  <a:srgbClr val="000000"/>
                </a:solidFill>
                <a:latin typeface="Noto Sans KR"/>
                <a:ea typeface="Noto Sans KR"/>
              </a:rPr>
              <a:t>20층 제로 고양이 = 지금 그대로 · 5~15층 그대로 가져감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1033271" y="749808"/>
            <a:ext cx="9144000" cy="5852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0">
                <a:solidFill>
                  <a:srgbClr val="000000"/>
                </a:solidFill>
                <a:latin typeface="Noto Sans KR Black"/>
                <a:ea typeface="Noto Sans KR Black"/>
              </a:rPr>
              <a:t>층별 보스 – 5~20층 기존 보스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133856" y="1316736"/>
            <a:ext cx="5852160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label"/>
          <p:cNvSpPr txBox="1"/>
          <p:nvPr/>
        </p:nvSpPr>
        <p:spPr>
          <a:xfrm>
            <a:off x="7040880" y="1005840"/>
            <a:ext cx="4114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95959"/>
                </a:solidFill>
                <a:latin typeface="Noto Sans KR"/>
                <a:ea typeface="Noto Sans KR"/>
              </a:rPr>
              <a:t>원문: 그대로 가져감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43000" y="1600200"/>
            <a:ext cx="2240280" cy="224028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</a:p>
        </p:txBody>
      </p:sp>
      <p:pic>
        <p:nvPicPr>
          <p:cNvPr id="6" name="Picture 5" descr="old_chie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2417" y="1783080"/>
            <a:ext cx="1641444" cy="187451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43000" y="3977639"/>
            <a:ext cx="22402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000000"/>
                </a:solidFill>
                <a:latin typeface="Noto Sans KR"/>
                <a:ea typeface="Noto Sans KR"/>
              </a:rPr>
              <a:t>5층 </a:t>
            </a:r>
            <a:r>
              <a:rPr sz="1600" b="1">
                <a:solidFill>
                  <a:srgbClr val="000000"/>
                </a:solidFill>
                <a:latin typeface="Noto Sans KR"/>
                <a:ea typeface="Noto Sans KR"/>
              </a:rPr>
              <a:t>경비 대장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4389120"/>
            <a:ext cx="2240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595959"/>
                </a:solidFill>
                <a:latin typeface="Noto Sans KR"/>
                <a:ea typeface="Noto Sans KR"/>
              </a:rPr>
              <a:t>데이터 이름: 경비대장 강철수</a:t>
            </a:r>
          </a:p>
          <a:p>
            <a:pPr algn="ctr"/>
            <a:r>
              <a:rPr sz="1200" b="0">
                <a:solidFill>
                  <a:srgbClr val="595959"/>
                </a:solidFill>
                <a:latin typeface="Noto Sans KR"/>
                <a:ea typeface="Noto Sans KR"/>
              </a:rPr>
              <a:t>그대로 가져감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0" y="1600200"/>
            <a:ext cx="2240280" cy="224028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</a:p>
        </p:txBody>
      </p:sp>
      <p:pic>
        <p:nvPicPr>
          <p:cNvPr id="10" name="Picture 9" descr="old_ma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6200" y="1844559"/>
            <a:ext cx="1783080" cy="175156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657600" y="3977639"/>
            <a:ext cx="22402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000000"/>
                </a:solidFill>
                <a:latin typeface="Noto Sans KR"/>
                <a:ea typeface="Noto Sans KR"/>
              </a:rPr>
              <a:t>10층 </a:t>
            </a:r>
            <a:r>
              <a:rPr sz="1600" b="1">
                <a:solidFill>
                  <a:srgbClr val="000000"/>
                </a:solidFill>
                <a:latin typeface="Noto Sans KR"/>
                <a:ea typeface="Noto Sans KR"/>
              </a:rPr>
              <a:t>연구원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4389120"/>
            <a:ext cx="2240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595959"/>
                </a:solidFill>
                <a:latin typeface="Noto Sans KR"/>
                <a:ea typeface="Noto Sans KR"/>
              </a:rPr>
              <a:t>데이터 이름: 광기의 수석 연구원</a:t>
            </a:r>
          </a:p>
          <a:p>
            <a:pPr algn="ctr"/>
            <a:r>
              <a:rPr sz="1200" b="0">
                <a:solidFill>
                  <a:srgbClr val="595959"/>
                </a:solidFill>
                <a:latin typeface="Noto Sans KR"/>
                <a:ea typeface="Noto Sans KR"/>
              </a:rPr>
              <a:t>그대로 가져감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600200"/>
            <a:ext cx="2240280" cy="224028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</a:p>
        </p:txBody>
      </p:sp>
      <p:pic>
        <p:nvPicPr>
          <p:cNvPr id="14" name="Picture 13" descr="old_directo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0" y="1808987"/>
            <a:ext cx="1783080" cy="182270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172200" y="3977639"/>
            <a:ext cx="22402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000000"/>
                </a:solidFill>
                <a:latin typeface="Noto Sans KR"/>
                <a:ea typeface="Noto Sans KR"/>
              </a:rPr>
              <a:t>15층 </a:t>
            </a:r>
            <a:r>
              <a:rPr sz="1600" b="1">
                <a:solidFill>
                  <a:srgbClr val="000000"/>
                </a:solidFill>
                <a:latin typeface="Noto Sans KR"/>
                <a:ea typeface="Noto Sans KR"/>
              </a:rPr>
              <a:t>연구소장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72200" y="4389120"/>
            <a:ext cx="2240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595959"/>
                </a:solidFill>
                <a:latin typeface="Noto Sans KR"/>
                <a:ea typeface="Noto Sans KR"/>
              </a:rPr>
              <a:t>데이터 이름: 연구소장</a:t>
            </a:r>
          </a:p>
          <a:p>
            <a:pPr algn="ctr"/>
            <a:r>
              <a:rPr sz="1200" b="0">
                <a:solidFill>
                  <a:srgbClr val="595959"/>
                </a:solidFill>
                <a:latin typeface="Noto Sans KR"/>
                <a:ea typeface="Noto Sans KR"/>
              </a:rPr>
              <a:t>그대로 가져감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86800" y="1600200"/>
            <a:ext cx="2240280" cy="224028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</a:p>
        </p:txBody>
      </p:sp>
      <p:pic>
        <p:nvPicPr>
          <p:cNvPr id="18" name="Picture 17" descr="old_zer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21910" y="1783080"/>
            <a:ext cx="1570059" cy="1874519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8686800" y="3977639"/>
            <a:ext cx="22402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000000"/>
                </a:solidFill>
                <a:latin typeface="Noto Sans KR"/>
                <a:ea typeface="Noto Sans KR"/>
              </a:rPr>
              <a:t>20층 </a:t>
            </a:r>
            <a:r>
              <a:rPr sz="1600" b="1">
                <a:solidFill>
                  <a:srgbClr val="000000"/>
                </a:solidFill>
                <a:latin typeface="Noto Sans KR"/>
                <a:ea typeface="Noto Sans KR"/>
              </a:rPr>
              <a:t>제로 고양이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0" y="4389120"/>
            <a:ext cx="2240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595959"/>
                </a:solidFill>
                <a:latin typeface="Noto Sans KR"/>
                <a:ea typeface="Noto Sans KR"/>
              </a:rPr>
              <a:t>데이터 이름: 제로 고양이</a:t>
            </a:r>
          </a:p>
          <a:p>
            <a:pPr algn="ctr"/>
            <a:r>
              <a:rPr sz="1200" b="0">
                <a:solidFill>
                  <a:srgbClr val="595959"/>
                </a:solidFill>
                <a:latin typeface="Noto Sans KR"/>
                <a:ea typeface="Noto Sans KR"/>
              </a:rPr>
              <a:t>지금 그대로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3271" y="5349240"/>
            <a:ext cx="10058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000000"/>
                </a:solidFill>
                <a:latin typeface="Noto Sans KR"/>
                <a:ea typeface="Noto Sans KR"/>
              </a:rPr>
              <a:t>유지 : </a:t>
            </a:r>
            <a:r>
              <a:rPr sz="1500" b="0">
                <a:solidFill>
                  <a:srgbClr val="000000"/>
                </a:solidFill>
                <a:latin typeface="Noto Sans KR"/>
                <a:ea typeface="Noto Sans KR"/>
              </a:rPr>
              <a:t>외형 · 행동 모두 지금 그대로 (원문 · 질문 결과)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000000"/>
                </a:solidFill>
                <a:latin typeface="Noto Sans KR"/>
                <a:ea typeface="Noto Sans KR"/>
              </a:rPr>
              <a:t>그림 : </a:t>
            </a:r>
            <a:r>
              <a:rPr sz="1500" b="0">
                <a:solidFill>
                  <a:srgbClr val="000000"/>
                </a:solidFill>
                <a:latin typeface="Noto Sans KR"/>
                <a:ea typeface="Noto Sans KR"/>
              </a:rPr>
              <a:t>기존 사람 · 고양이 리그 파츠 재사용 → 새로 그릴 것 없음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1033271" y="749808"/>
            <a:ext cx="9144000" cy="5852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0">
                <a:solidFill>
                  <a:srgbClr val="000000"/>
                </a:solidFill>
                <a:latin typeface="Noto Sans KR Black"/>
                <a:ea typeface="Noto Sans KR Black"/>
              </a:rPr>
              <a:t>층별 보스 – 25층 밈 고양이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133856" y="1316736"/>
            <a:ext cx="5852160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en_name"/>
          <p:cNvSpPr txBox="1"/>
          <p:nvPr/>
        </p:nvSpPr>
        <p:spPr>
          <a:xfrm>
            <a:off x="7040880" y="868680"/>
            <a:ext cx="4114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500" b="1">
                <a:solidFill>
                  <a:srgbClr val="E97132"/>
                </a:solidFill>
                <a:latin typeface="Noto Sans KR"/>
                <a:ea typeface="Noto Sans KR"/>
              </a:rPr>
              <a:t>Meme Cat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43000" y="1600200"/>
            <a:ext cx="2377440" cy="246888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</a:p>
        </p:txBody>
      </p:sp>
      <p:pic>
        <p:nvPicPr>
          <p:cNvPr id="6" name="Picture 5" descr="popca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160" y="2137675"/>
            <a:ext cx="2103120" cy="139392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97280" y="4206240"/>
            <a:ext cx="2468880" cy="2377439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>
                <a:solidFill>
                  <a:srgbClr val="000000"/>
                </a:solidFill>
                <a:latin typeface="Noto Sans KR"/>
                <a:ea typeface="Noto Sans KR"/>
              </a:rPr>
              <a:t>패러디 원작</a:t>
            </a:r>
          </a:p>
          <a:p>
            <a:pPr algn="l">
              <a:spcAft>
                <a:spcPts val="300"/>
              </a:spcAft>
            </a:pPr>
            <a:r>
              <a:rPr sz="1250" b="0">
                <a:solidFill>
                  <a:srgbClr val="000000"/>
                </a:solidFill>
                <a:latin typeface="Noto Sans KR"/>
                <a:ea typeface="Noto Sans KR"/>
              </a:rPr>
              <a:t>팝 캣 (기본) · 해피캣 · 맥스웰 · Huh Cat 밈</a:t>
            </a:r>
          </a:p>
          <a:p>
            <a:pPr algn="l">
              <a:spcAft>
                <a:spcPts val="300"/>
              </a:spcAft>
            </a:pPr>
            <a:r>
              <a:rPr sz="1250" b="1">
                <a:solidFill>
                  <a:srgbClr val="000000"/>
                </a:solidFill>
                <a:latin typeface="Noto Sans KR"/>
                <a:ea typeface="Noto Sans KR"/>
              </a:rPr>
              <a:t>외형</a:t>
            </a:r>
          </a:p>
          <a:p>
            <a:pPr algn="l">
              <a:spcAft>
                <a:spcPts val="300"/>
              </a:spcAft>
            </a:pPr>
            <a:r>
              <a:rPr sz="1250" b="0">
                <a:solidFill>
                  <a:srgbClr val="000000"/>
                </a:solidFill>
                <a:latin typeface="Noto Sans KR"/>
                <a:ea typeface="Noto Sans KR"/>
              </a:rPr>
              <a:t>흰 고양이 + 귀 · 뒷머리 회갈색 얼룩, 계속 뻐끔거림. 옆모습에 입이 보일 만큼만 돌림</a:t>
            </a:r>
          </a:p>
          <a:p>
            <a:pPr algn="l">
              <a:spcAft>
                <a:spcPts val="300"/>
              </a:spcAft>
            </a:pPr>
            <a:r>
              <a:rPr sz="1250" b="1">
                <a:solidFill>
                  <a:srgbClr val="000000"/>
                </a:solidFill>
                <a:latin typeface="Noto Sans KR"/>
                <a:ea typeface="Noto Sans KR"/>
              </a:rPr>
              <a:t>리그</a:t>
            </a:r>
          </a:p>
          <a:p>
            <a:pPr algn="l">
              <a:spcAft>
                <a:spcPts val="300"/>
              </a:spcAft>
            </a:pPr>
            <a:r>
              <a:rPr sz="1250" b="0">
                <a:solidFill>
                  <a:srgbClr val="000000"/>
                </a:solidFill>
                <a:latin typeface="Noto Sans KR"/>
                <a:ea typeface="Noto Sans KR"/>
              </a:rPr>
              <a:t>고양이 · 시트 cr3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794760" y="1600200"/>
          <a:ext cx="7406639" cy="3108960"/>
        </p:xfrm>
        <a:graphic>
          <a:graphicData uri="http://schemas.openxmlformats.org/drawingml/2006/table">
            <a:tbl>
              <a:tblPr firstRow="0" bandRow="0"/>
              <a:tblGrid>
                <a:gridCol w="868680"/>
                <a:gridCol w="1508760"/>
                <a:gridCol w="3977639"/>
                <a:gridCol w="1051560"/>
              </a:tblGrid>
              <a:tr h="365760">
                <a:tc>
                  <a:txBody>
                    <a:bodyPr wrap="square"/>
                    <a:lstStyle/>
                    <a:p>
                      <a:pPr algn="ctr"/>
                      <a:r>
                        <a:rPr sz="125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구분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스킬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동작 · 범위 · 연출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기절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914400"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쿨타임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해피캣 투하</a:t>
                      </a:r>
                    </a:p>
                    <a:p>
                      <a:pPr algn="l"/>
                      <a:r>
                        <a:rPr sz="1100" b="0">
                          <a:solidFill>
                            <a:srgbClr val="595959"/>
                          </a:solidFill>
                          <a:latin typeface="Noto Sans KR"/>
                          <a:ea typeface="Noto Sans KR"/>
                        </a:rPr>
                        <a:t>Happy Cat Drop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HAPPY HAPPY HAPPY 고양이 8마리가 하늘에서 떨어져 지상에 약 3초간 남아 폴짝폴짝 뛰어다님. 해피 캣에 닿은 쥐 기절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1초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914400"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발악 1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맥스웰 소환</a:t>
                      </a:r>
                    </a:p>
                    <a:p>
                      <a:pPr algn="l"/>
                      <a:r>
                        <a:rPr sz="1100" b="0">
                          <a:solidFill>
                            <a:srgbClr val="595959"/>
                          </a:solidFill>
                          <a:latin typeface="Noto Sans KR"/>
                          <a:ea typeface="Noto Sans KR"/>
                        </a:rPr>
                        <a:t>Maxwell Summon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맥스웰 고양이 6마리가 바닥에서 포탈을 열고 올라옴 → 좌우로 몸을 흔들며 몸에 닿는 쥐 기절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2초 (기본)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914400"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발악 2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허 고양이</a:t>
                      </a:r>
                    </a:p>
                    <a:p>
                      <a:pPr algn="l"/>
                      <a:r>
                        <a:rPr sz="1100" b="0">
                          <a:solidFill>
                            <a:srgbClr val="595959"/>
                          </a:solidFill>
                          <a:latin typeface="Noto Sans KR"/>
                          <a:ea typeface="Noto Sans KR"/>
                        </a:rPr>
                        <a:t>Huh Cat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밈 고양이 헤드 변경(새로 그림) → 헤드가 살짝 아래로 내려가는 모션과 함께 HUH? 텍스트 등장. 글자들이 팝콘처럼 포물선으로 튀어 나가 착탄 지점의 쥐 기절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2초 (기본)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749039" y="4754880"/>
            <a:ext cx="7498079" cy="27432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Noto Sans KR"/>
                <a:ea typeface="Noto Sans KR"/>
              </a:rPr>
              <a:t>테이블: boss_popcat · 쿨타임 R_HappyDrop (Drop) · 발악 1 R_Maxwell (Rise) · 발악 2 R_HuhCat (Throw)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1033271" y="749808"/>
            <a:ext cx="9144000" cy="5852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0">
                <a:solidFill>
                  <a:srgbClr val="000000"/>
                </a:solidFill>
                <a:latin typeface="Noto Sans KR Black"/>
                <a:ea typeface="Noto Sans KR Black"/>
              </a:rPr>
              <a:t>층별 보스 – 30층 실험체 고양이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133856" y="1316736"/>
            <a:ext cx="5852160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en_name"/>
          <p:cNvSpPr txBox="1"/>
          <p:nvPr/>
        </p:nvSpPr>
        <p:spPr>
          <a:xfrm>
            <a:off x="7040880" y="868680"/>
            <a:ext cx="4114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500" b="1">
                <a:solidFill>
                  <a:srgbClr val="E97132"/>
                </a:solidFill>
                <a:latin typeface="Noto Sans KR"/>
                <a:ea typeface="Noto Sans KR"/>
              </a:rPr>
              <a:t>Subject Kitty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43000" y="1600200"/>
            <a:ext cx="2377440" cy="246888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</a:p>
        </p:txBody>
      </p:sp>
      <p:pic>
        <p:nvPicPr>
          <p:cNvPr id="6" name="Picture 5" descr="goere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160" y="1982794"/>
            <a:ext cx="2103120" cy="170369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97280" y="4206240"/>
            <a:ext cx="2468880" cy="2377439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>
                <a:solidFill>
                  <a:srgbClr val="000000"/>
                </a:solidFill>
                <a:latin typeface="Noto Sans KR"/>
                <a:ea typeface="Noto Sans KR"/>
              </a:rPr>
              <a:t>패러디 원작</a:t>
            </a:r>
          </a:p>
          <a:p>
            <a:pPr algn="l">
              <a:spcAft>
                <a:spcPts val="300"/>
              </a:spcAft>
            </a:pPr>
            <a:r>
              <a:rPr sz="1250" b="0">
                <a:solidFill>
                  <a:srgbClr val="000000"/>
                </a:solidFill>
                <a:latin typeface="Noto Sans KR"/>
                <a:ea typeface="Noto Sans KR"/>
              </a:rPr>
              <a:t>이터널 리턴 '이렘' 2차 창작 '괴렘'</a:t>
            </a:r>
          </a:p>
          <a:p>
            <a:pPr algn="l">
              <a:spcAft>
                <a:spcPts val="300"/>
              </a:spcAft>
            </a:pPr>
            <a:r>
              <a:rPr sz="1250" b="1">
                <a:solidFill>
                  <a:srgbClr val="000000"/>
                </a:solidFill>
                <a:latin typeface="Noto Sans KR"/>
                <a:ea typeface="Noto Sans KR"/>
              </a:rPr>
              <a:t>외형</a:t>
            </a:r>
          </a:p>
          <a:p>
            <a:pPr algn="l">
              <a:spcAft>
                <a:spcPts val="300"/>
              </a:spcAft>
            </a:pPr>
            <a:r>
              <a:rPr sz="1250" b="0">
                <a:solidFill>
                  <a:srgbClr val="000000"/>
                </a:solidFill>
                <a:latin typeface="Noto Sans KR"/>
                <a:ea typeface="Noto Sans KR"/>
              </a:rPr>
              <a:t>하얀 고양이 유지: 귀 없는 둥근 크림색 · 오드아이 · 옅은 치즈 얼룩 · 침. 기본 그림은 지금 것 유지 (동작만 참고 느낌으로)</a:t>
            </a:r>
          </a:p>
          <a:p>
            <a:pPr algn="l">
              <a:spcAft>
                <a:spcPts val="300"/>
              </a:spcAft>
            </a:pPr>
            <a:r>
              <a:rPr sz="1250" b="1">
                <a:solidFill>
                  <a:srgbClr val="000000"/>
                </a:solidFill>
                <a:latin typeface="Noto Sans KR"/>
                <a:ea typeface="Noto Sans KR"/>
              </a:rPr>
              <a:t>리그</a:t>
            </a:r>
          </a:p>
          <a:p>
            <a:pPr algn="l">
              <a:spcAft>
                <a:spcPts val="300"/>
              </a:spcAft>
            </a:pPr>
            <a:r>
              <a:rPr sz="1250" b="0">
                <a:solidFill>
                  <a:srgbClr val="000000"/>
                </a:solidFill>
                <a:latin typeface="Noto Sans KR"/>
                <a:ea typeface="Noto Sans KR"/>
              </a:rPr>
              <a:t>고양이 · 시트 cr2 1행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794760" y="1600200"/>
          <a:ext cx="7406639" cy="3108960"/>
        </p:xfrm>
        <a:graphic>
          <a:graphicData uri="http://schemas.openxmlformats.org/drawingml/2006/table">
            <a:tbl>
              <a:tblPr firstRow="0" bandRow="0"/>
              <a:tblGrid>
                <a:gridCol w="868680"/>
                <a:gridCol w="1508760"/>
                <a:gridCol w="3977639"/>
                <a:gridCol w="1051560"/>
              </a:tblGrid>
              <a:tr h="365760">
                <a:tc>
                  <a:txBody>
                    <a:bodyPr wrap="square"/>
                    <a:lstStyle/>
                    <a:p>
                      <a:pPr algn="ctr"/>
                      <a:r>
                        <a:rPr sz="125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구분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스킬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동작 · 범위 · 연출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기절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914400"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쿨타임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헤어볼 뱉기</a:t>
                      </a:r>
                    </a:p>
                    <a:p>
                      <a:pPr algn="l"/>
                      <a:r>
                        <a:rPr sz="1100" b="0">
                          <a:solidFill>
                            <a:srgbClr val="595959"/>
                          </a:solidFill>
                          <a:latin typeface="Noto Sans KR"/>
                          <a:ea typeface="Noto Sans KR"/>
                        </a:rPr>
                        <a:t>Hairball Spit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상체를 아래로 기울이고 입을 열면 헤어볼들이 전방으로 우르르 굴러나옴. 부딪힌 쥐 기절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1초 (기본)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914400"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발악 1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너.. 봤구나?</a:t>
                      </a:r>
                    </a:p>
                    <a:p>
                      <a:pPr algn="l"/>
                      <a:r>
                        <a:rPr sz="1100" b="0">
                          <a:solidFill>
                            <a:srgbClr val="595959"/>
                          </a:solidFill>
                          <a:latin typeface="Noto Sans KR"/>
                          <a:ea typeface="Noto Sans KR"/>
                        </a:rPr>
                        <a:t>You... Saw That?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참고 그림 그대로: 귀가 사라지고 목이 길어진 기괴한 웃음 + 빨간 리본 + 말풍선 '너... 봤구나?', 빛나며 주변 기절. 이후 그 상태 유지, 재사용 시 빛나며 주변 기절만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2초 (기본)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914400"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발악 2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나 우울해서 빵됐어</a:t>
                      </a:r>
                    </a:p>
                    <a:p>
                      <a:pPr algn="l"/>
                      <a:r>
                        <a:rPr sz="1100" b="0">
                          <a:solidFill>
                            <a:srgbClr val="595959"/>
                          </a:solidFill>
                          <a:latin typeface="Noto Sans KR"/>
                          <a:ea typeface="Noto Sans KR"/>
                        </a:rPr>
                        <a:t>Sad Into Bread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보스는 우는 얼굴 식빵으로 변하고, 하늘에서 우는 고양이 얼굴 빵 총 12개가 떨어져 바닥에 퍼짐. 빵에 맞거나 바닥에 터진 빵 반죽에 닿으면 기절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2초 (기본)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749039" y="4818888"/>
            <a:ext cx="7498079" cy="27432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Noto Sans KR"/>
                <a:ea typeface="Noto Sans KR"/>
              </a:rPr>
              <a:t>테이블: boss_goerem · 쿨타임 R_HairSpit (Fan) · 발악 1 R_SawIt (Pulse) · 발악 2 R_SadBread (Drop)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794760" y="5276088"/>
            <a:ext cx="7406640" cy="685800"/>
          </a:xfrm>
          <a:prstGeom prst="roundRect">
            <a:avLst>
              <a:gd name="adj" fmla="val 15000"/>
            </a:avLst>
          </a:prstGeom>
          <a:noFill/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/>
            <a:r>
              <a:rPr sz="1250" b="1">
                <a:solidFill>
                  <a:srgbClr val="000000"/>
                </a:solidFill>
                <a:latin typeface="Noto Sans KR"/>
                <a:ea typeface="Noto Sans KR"/>
              </a:rPr>
              <a:t>※ </a:t>
            </a:r>
            <a:r>
              <a:rPr sz="1250" b="0">
                <a:solidFill>
                  <a:srgbClr val="000000"/>
                </a:solidFill>
                <a:latin typeface="Noto Sans KR"/>
                <a:ea typeface="Noto Sans KR"/>
              </a:rPr>
              <a:t>참고 그림 (Sheets/ref_goerem_*): 기본 · 발악 1 기괴한 웃음 + 빨간 리본 · 발악 2 우는 얼굴 빵들</a:t>
            </a:r>
          </a:p>
        </p:txBody>
      </p:sp>
      <p:pic>
        <p:nvPicPr>
          <p:cNvPr id="11" name="Picture 10" descr="ref_goerem_ba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2329" y="6053327"/>
            <a:ext cx="942221" cy="731520"/>
          </a:xfrm>
          <a:prstGeom prst="rect">
            <a:avLst/>
          </a:prstGeom>
        </p:spPr>
      </p:pic>
      <p:pic>
        <p:nvPicPr>
          <p:cNvPr id="12" name="Picture 11" descr="ref_goerem_rage1_sa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701" y="6053327"/>
            <a:ext cx="640517" cy="731520"/>
          </a:xfrm>
          <a:prstGeom prst="rect">
            <a:avLst/>
          </a:prstGeom>
        </p:spPr>
      </p:pic>
      <p:pic>
        <p:nvPicPr>
          <p:cNvPr id="13" name="Picture 12" descr="ref_goerem_rage2_brea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96287" y="6053327"/>
            <a:ext cx="832385" cy="731520"/>
          </a:xfrm>
          <a:prstGeom prst="rect">
            <a:avLst/>
          </a:prstGeom>
        </p:spPr>
      </p:pic>
      <p:pic>
        <p:nvPicPr>
          <p:cNvPr id="14" name="Picture 13" descr="ref_goerem_rage2_pizza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21240" y="6053327"/>
            <a:ext cx="731520" cy="73152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1033271" y="749808"/>
            <a:ext cx="9144000" cy="5852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0">
                <a:solidFill>
                  <a:srgbClr val="000000"/>
                </a:solidFill>
                <a:latin typeface="Noto Sans KR Black"/>
                <a:ea typeface="Noto Sans KR Black"/>
              </a:rPr>
              <a:t>층별 보스 – 35층 공룡탈 알바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133856" y="1316736"/>
            <a:ext cx="5852160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en_name"/>
          <p:cNvSpPr txBox="1"/>
          <p:nvPr/>
        </p:nvSpPr>
        <p:spPr>
          <a:xfrm>
            <a:off x="7040880" y="868680"/>
            <a:ext cx="4114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500" b="1">
                <a:solidFill>
                  <a:srgbClr val="E97132"/>
                </a:solidFill>
                <a:latin typeface="Noto Sans KR"/>
                <a:ea typeface="Noto Sans KR"/>
              </a:rPr>
              <a:t>T-Rex Suit Part-Timer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43000" y="1600200"/>
            <a:ext cx="2377440" cy="246888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</a:p>
        </p:txBody>
      </p:sp>
      <p:pic>
        <p:nvPicPr>
          <p:cNvPr id="6" name="Picture 5" descr="dino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6165" y="1737360"/>
            <a:ext cx="1151108" cy="21945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97280" y="4206240"/>
            <a:ext cx="2468880" cy="2377439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>
                <a:solidFill>
                  <a:srgbClr val="000000"/>
                </a:solidFill>
                <a:latin typeface="Noto Sans KR"/>
                <a:ea typeface="Noto Sans KR"/>
              </a:rPr>
              <a:t>패러디 원작</a:t>
            </a:r>
          </a:p>
          <a:p>
            <a:pPr algn="l">
              <a:spcAft>
                <a:spcPts val="300"/>
              </a:spcAft>
            </a:pPr>
            <a:r>
              <a:rPr sz="1250" b="0">
                <a:solidFill>
                  <a:srgbClr val="000000"/>
                </a:solidFill>
                <a:latin typeface="Noto Sans KR"/>
                <a:ea typeface="Noto Sans KR"/>
              </a:rPr>
              <a:t>공룡 탈을 쓴 아르바이트생</a:t>
            </a:r>
          </a:p>
          <a:p>
            <a:pPr algn="l">
              <a:spcAft>
                <a:spcPts val="300"/>
              </a:spcAft>
            </a:pPr>
            <a:r>
              <a:rPr sz="1250" b="1">
                <a:solidFill>
                  <a:srgbClr val="000000"/>
                </a:solidFill>
                <a:latin typeface="Noto Sans KR"/>
                <a:ea typeface="Noto Sans KR"/>
              </a:rPr>
              <a:t>외형</a:t>
            </a:r>
          </a:p>
          <a:p>
            <a:pPr algn="l">
              <a:spcAft>
                <a:spcPts val="300"/>
              </a:spcAft>
            </a:pPr>
            <a:r>
              <a:rPr sz="1250" b="0">
                <a:solidFill>
                  <a:srgbClr val="000000"/>
                </a:solidFill>
                <a:latin typeface="Noto Sans KR"/>
                <a:ea typeface="Noto Sans KR"/>
              </a:rPr>
              <a:t>초록 공룡 탈 · 탈 입 사이로 얼굴이 보임</a:t>
            </a:r>
          </a:p>
          <a:p>
            <a:pPr algn="l">
              <a:spcAft>
                <a:spcPts val="300"/>
              </a:spcAft>
            </a:pPr>
            <a:r>
              <a:rPr sz="1250" b="1">
                <a:solidFill>
                  <a:srgbClr val="000000"/>
                </a:solidFill>
                <a:latin typeface="Noto Sans KR"/>
                <a:ea typeface="Noto Sans KR"/>
              </a:rPr>
              <a:t>리그</a:t>
            </a:r>
          </a:p>
          <a:p>
            <a:pPr algn="l">
              <a:spcAft>
                <a:spcPts val="300"/>
              </a:spcAft>
            </a:pPr>
            <a:r>
              <a:rPr sz="1250" b="0">
                <a:solidFill>
                  <a:srgbClr val="000000"/>
                </a:solidFill>
                <a:latin typeface="Noto Sans KR"/>
                <a:ea typeface="Noto Sans KR"/>
              </a:rPr>
              <a:t>사람 · 시트 hr1 2행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794760" y="1600200"/>
          <a:ext cx="7406639" cy="3108960"/>
        </p:xfrm>
        <a:graphic>
          <a:graphicData uri="http://schemas.openxmlformats.org/drawingml/2006/table">
            <a:tbl>
              <a:tblPr firstRow="0" bandRow="0"/>
              <a:tblGrid>
                <a:gridCol w="868680"/>
                <a:gridCol w="1508760"/>
                <a:gridCol w="3977639"/>
                <a:gridCol w="1051560"/>
              </a:tblGrid>
              <a:tr h="365760">
                <a:tc>
                  <a:txBody>
                    <a:bodyPr wrap="square"/>
                    <a:lstStyle/>
                    <a:p>
                      <a:pPr algn="ctr"/>
                      <a:r>
                        <a:rPr sz="125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구분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스킬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동작 · 범위 · 연출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기절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914400"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쿨타임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탈 던지기</a:t>
                      </a:r>
                    </a:p>
                    <a:p>
                      <a:pPr algn="l"/>
                      <a:r>
                        <a:rPr sz="1100" b="0">
                          <a:solidFill>
                            <a:srgbClr val="595959"/>
                          </a:solidFill>
                          <a:latin typeface="Noto Sans KR"/>
                          <a:ea typeface="Noto Sans KR"/>
                        </a:rPr>
                        <a:t>Mask Toss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약 1~2초 끙끙대며 탈을 벗으려는 모션 → 탈을 뽑아 집어 던짐. 착탄 지점까지 일직선으로 날아가 폭발. 던져도 보스 머리엔 탈이 그대로 남음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1초 (기본)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914400"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발악 1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티라노 흉내</a:t>
                      </a:r>
                    </a:p>
                    <a:p>
                      <a:pPr algn="l"/>
                      <a:r>
                        <a:rPr sz="1100" b="0">
                          <a:solidFill>
                            <a:srgbClr val="595959"/>
                          </a:solidFill>
                          <a:latin typeface="Noto Sans KR"/>
                          <a:ea typeface="Noto Sans KR"/>
                        </a:rPr>
                        <a:t>T-Rex Impression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사람 리그를 앞으로 기울이고 꼬리를 붙여 공룡 형태로 거대화. 걸을 때 화면 진동 + 주변 범위 쥐 기절 (수석 연구원 거대화 패턴과 유사)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2초 (기본)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914400"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발악 2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현타 담배</a:t>
                      </a:r>
                    </a:p>
                    <a:p>
                      <a:pPr algn="l"/>
                      <a:r>
                        <a:rPr sz="1100" b="0">
                          <a:solidFill>
                            <a:srgbClr val="595959"/>
                          </a:solidFill>
                          <a:latin typeface="Noto Sans KR"/>
                          <a:ea typeface="Noto Sans KR"/>
                        </a:rPr>
                        <a:t>Existential Smoke Break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쭈그려 앉아 공룡탈 머리를 옆에 벗어두고 담배. 연기가 보스에게서 퍼져나오며 점점 옅어짐, 연기에 닿은 쥐 기절. 3초 후 복귀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2초 (기본)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749039" y="4818888"/>
            <a:ext cx="7498079" cy="27432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Noto Sans KR"/>
                <a:ea typeface="Noto Sans KR"/>
              </a:rPr>
              <a:t>테이블: boss_dino2 · 쿨타임 R_MaskToss (Fan) · 발악 1 R_TRex (Grow) · 발악 2 R_Smoke (Zone)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1033271" y="749808"/>
            <a:ext cx="9144000" cy="5852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0">
                <a:solidFill>
                  <a:srgbClr val="000000"/>
                </a:solidFill>
                <a:latin typeface="Noto Sans KR Black"/>
                <a:ea typeface="Noto Sans KR Black"/>
              </a:rPr>
              <a:t>층별 보스 – 40층 원시인 버티컬 마우스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133856" y="1316736"/>
            <a:ext cx="5852160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en_name"/>
          <p:cNvSpPr txBox="1"/>
          <p:nvPr/>
        </p:nvSpPr>
        <p:spPr>
          <a:xfrm>
            <a:off x="7040880" y="868680"/>
            <a:ext cx="4114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500" b="1">
                <a:solidFill>
                  <a:srgbClr val="E97132"/>
                </a:solidFill>
                <a:latin typeface="Noto Sans KR"/>
                <a:ea typeface="Noto Sans KR"/>
              </a:rPr>
              <a:t>Caveman Vertical Mouse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43000" y="1600200"/>
            <a:ext cx="2377440" cy="246888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</a:p>
        </p:txBody>
      </p:sp>
      <p:pic>
        <p:nvPicPr>
          <p:cNvPr id="6" name="Picture 5" descr="vmou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2077" y="1691640"/>
            <a:ext cx="1216324" cy="2286000"/>
          </a:xfrm>
          <a:prstGeom prst="rect">
            <a:avLst/>
          </a:prstGeom>
        </p:spPr>
      </p:pic>
      <p:pic>
        <p:nvPicPr>
          <p:cNvPr id="7" name="Picture 6" descr="prop_clu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0320" y="2762972"/>
            <a:ext cx="914400" cy="82913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097280" y="4206240"/>
            <a:ext cx="2468880" cy="2377439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>
                <a:solidFill>
                  <a:srgbClr val="000000"/>
                </a:solidFill>
                <a:latin typeface="Noto Sans KR"/>
                <a:ea typeface="Noto Sans KR"/>
              </a:rPr>
              <a:t>패러디 원작</a:t>
            </a:r>
          </a:p>
          <a:p>
            <a:pPr algn="l">
              <a:spcAft>
                <a:spcPts val="300"/>
              </a:spcAft>
            </a:pPr>
            <a:r>
              <a:rPr sz="1250" b="0">
                <a:solidFill>
                  <a:srgbClr val="000000"/>
                </a:solidFill>
                <a:latin typeface="Noto Sans KR"/>
                <a:ea typeface="Noto Sans KR"/>
              </a:rPr>
              <a:t>버티컬 마우스 (옷은 원시인 옷)</a:t>
            </a:r>
          </a:p>
          <a:p>
            <a:pPr algn="l">
              <a:spcAft>
                <a:spcPts val="300"/>
              </a:spcAft>
            </a:pPr>
            <a:r>
              <a:rPr sz="1250" b="1">
                <a:solidFill>
                  <a:srgbClr val="000000"/>
                </a:solidFill>
                <a:latin typeface="Noto Sans KR"/>
                <a:ea typeface="Noto Sans KR"/>
              </a:rPr>
              <a:t>외형</a:t>
            </a:r>
          </a:p>
          <a:p>
            <a:pPr algn="l">
              <a:spcAft>
                <a:spcPts val="300"/>
              </a:spcAft>
            </a:pPr>
            <a:r>
              <a:rPr sz="1250" b="0">
                <a:solidFill>
                  <a:srgbClr val="000000"/>
                </a:solidFill>
                <a:latin typeface="Noto Sans KR"/>
                <a:ea typeface="Noto Sans KR"/>
              </a:rPr>
              <a:t>사람 리그에 몸 · 얼굴 = 직립 쥐, 원시인 옷 + 몽둥이</a:t>
            </a:r>
          </a:p>
          <a:p>
            <a:pPr algn="l">
              <a:spcAft>
                <a:spcPts val="300"/>
              </a:spcAft>
            </a:pPr>
            <a:r>
              <a:rPr sz="1250" b="1">
                <a:solidFill>
                  <a:srgbClr val="000000"/>
                </a:solidFill>
                <a:latin typeface="Noto Sans KR"/>
                <a:ea typeface="Noto Sans KR"/>
              </a:rPr>
              <a:t>리그</a:t>
            </a:r>
          </a:p>
          <a:p>
            <a:pPr algn="l">
              <a:spcAft>
                <a:spcPts val="300"/>
              </a:spcAft>
            </a:pPr>
            <a:r>
              <a:rPr sz="1250" b="0">
                <a:solidFill>
                  <a:srgbClr val="000000"/>
                </a:solidFill>
                <a:latin typeface="Noto Sans KR"/>
                <a:ea typeface="Noto Sans KR"/>
              </a:rPr>
              <a:t>사람 · 시트 hr1 1행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794760" y="1600200"/>
          <a:ext cx="7406639" cy="3108960"/>
        </p:xfrm>
        <a:graphic>
          <a:graphicData uri="http://schemas.openxmlformats.org/drawingml/2006/table">
            <a:tbl>
              <a:tblPr firstRow="0" bandRow="0"/>
              <a:tblGrid>
                <a:gridCol w="868680"/>
                <a:gridCol w="1508760"/>
                <a:gridCol w="3977639"/>
                <a:gridCol w="1051560"/>
              </a:tblGrid>
              <a:tr h="365760">
                <a:tc>
                  <a:txBody>
                    <a:bodyPr wrap="square"/>
                    <a:lstStyle/>
                    <a:p>
                      <a:pPr algn="ctr"/>
                      <a:r>
                        <a:rPr sz="125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구분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스킬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동작 · 범위 · 연출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기절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914400"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쿨타임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몽둥이 강타</a:t>
                      </a:r>
                    </a:p>
                    <a:p>
                      <a:pPr algn="l"/>
                      <a:r>
                        <a:rPr sz="1100" b="0">
                          <a:solidFill>
                            <a:srgbClr val="595959"/>
                          </a:solidFill>
                          <a:latin typeface="Noto Sans KR"/>
                          <a:ea typeface="Noto Sans KR"/>
                        </a:rPr>
                        <a:t>Club Smash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약 2초 동안 주변에 몽둥이를 마구 휘두름. 범위 안 쥐는 일정 거리(벽이 있으면 벽까지) 튕겨 날아간 뒤 기절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1초 (기본)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914400"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발악 1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워크라이</a:t>
                      </a:r>
                    </a:p>
                    <a:p>
                      <a:pPr algn="l"/>
                      <a:r>
                        <a:rPr sz="1100" b="0">
                          <a:solidFill>
                            <a:srgbClr val="595959"/>
                          </a:solidFill>
                          <a:latin typeface="Noto Sans KR"/>
                          <a:ea typeface="Noto Sans KR"/>
                        </a:rPr>
                        <a:t>War Cry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몽둥이를 스탠딩 마이크처럼 들고 몽둥이 머리에 대고 소리를 크게 지름(우가!!). 음파 파동이 퍼져나가며 닿은 쥐 기절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2초 (기본)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914400"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발악 2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버티컬 마우스 투하</a:t>
                      </a:r>
                    </a:p>
                    <a:p>
                      <a:pPr algn="l"/>
                      <a:r>
                        <a:rPr sz="1100" b="0">
                          <a:solidFill>
                            <a:srgbClr val="595959"/>
                          </a:solidFill>
                          <a:latin typeface="Noto Sans KR"/>
                          <a:ea typeface="Noto Sans KR"/>
                        </a:rPr>
                        <a:t>Mouse Meteor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버티컬 마우스 약 6개가 운석처럼 떨어져 크레이터를 만들고 4초간 박혀 있음. 크레이터에 닿은 쥐는 미니 버티컬 마우스로 변해 3초간 멋대로 돌아다니고 공격 안 함 (개구리 저주와 비슷)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변신 3초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749039" y="4818888"/>
            <a:ext cx="7498079" cy="27432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Noto Sans KR"/>
                <a:ea typeface="Noto Sans KR"/>
              </a:rPr>
              <a:t>테이블: boss_vmouse · 쿨타임 R_ClubSmash (Spin) · 발악 1 R_WarCry (Shout) · 발악 2 R_MouseMeteor (Drop)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794760" y="5276088"/>
            <a:ext cx="7406640" cy="685800"/>
          </a:xfrm>
          <a:prstGeom prst="roundRect">
            <a:avLst>
              <a:gd name="adj" fmla="val 15000"/>
            </a:avLst>
          </a:prstGeom>
          <a:noFill/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/>
            <a:r>
              <a:rPr sz="1250" b="1">
                <a:solidFill>
                  <a:srgbClr val="000000"/>
                </a:solidFill>
                <a:latin typeface="Noto Sans KR"/>
                <a:ea typeface="Noto Sans KR"/>
              </a:rPr>
              <a:t>※ </a:t>
            </a:r>
            <a:r>
              <a:rPr sz="1250" b="0">
                <a:solidFill>
                  <a:srgbClr val="000000"/>
                </a:solidFill>
                <a:latin typeface="Noto Sans KR"/>
                <a:ea typeface="Noto Sans KR"/>
              </a:rPr>
              <a:t>정한 것: 미니 버티컬 마우스로 변한 쥐는 최대 마릿수(인구수)에서 빠지지 않음 — 그동안 새 쥐가 태어나 넘치지 않게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1033271" y="749808"/>
            <a:ext cx="9144000" cy="5852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0">
                <a:solidFill>
                  <a:srgbClr val="000000"/>
                </a:solidFill>
                <a:latin typeface="Noto Sans KR Black"/>
                <a:ea typeface="Noto Sans KR Black"/>
              </a:rPr>
              <a:t>층별 보스 – 45층 랩터 사육사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133856" y="1316736"/>
            <a:ext cx="5852160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en_name"/>
          <p:cNvSpPr txBox="1"/>
          <p:nvPr/>
        </p:nvSpPr>
        <p:spPr>
          <a:xfrm>
            <a:off x="7040880" y="868680"/>
            <a:ext cx="4114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500" b="1">
                <a:solidFill>
                  <a:srgbClr val="E97132"/>
                </a:solidFill>
                <a:latin typeface="Noto Sans KR"/>
                <a:ea typeface="Noto Sans KR"/>
              </a:rPr>
              <a:t>Raptor Keeper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43000" y="1600200"/>
            <a:ext cx="2377440" cy="246888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</a:p>
        </p:txBody>
      </p:sp>
      <p:pic>
        <p:nvPicPr>
          <p:cNvPr id="6" name="Picture 5" descr="train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5979" y="1691640"/>
            <a:ext cx="888520" cy="2286000"/>
          </a:xfrm>
          <a:prstGeom prst="rect">
            <a:avLst/>
          </a:prstGeom>
        </p:spPr>
      </p:pic>
      <p:pic>
        <p:nvPicPr>
          <p:cNvPr id="7" name="Picture 6" descr="prop_rapt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0320" y="2968740"/>
            <a:ext cx="914400" cy="41759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097280" y="4206240"/>
            <a:ext cx="2468880" cy="2377439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>
                <a:solidFill>
                  <a:srgbClr val="000000"/>
                </a:solidFill>
                <a:latin typeface="Noto Sans KR"/>
                <a:ea typeface="Noto Sans KR"/>
              </a:rPr>
              <a:t>패러디 원작</a:t>
            </a:r>
          </a:p>
          <a:p>
            <a:pPr algn="l">
              <a:spcAft>
                <a:spcPts val="300"/>
              </a:spcAft>
            </a:pPr>
            <a:r>
              <a:rPr sz="1250" b="0">
                <a:solidFill>
                  <a:srgbClr val="000000"/>
                </a:solidFill>
                <a:latin typeface="Noto Sans KR"/>
                <a:ea typeface="Noto Sans KR"/>
              </a:rPr>
              <a:t>쥬라기 월드 프랫 (실루엣 · 의상만)</a:t>
            </a:r>
          </a:p>
          <a:p>
            <a:pPr algn="l">
              <a:spcAft>
                <a:spcPts val="300"/>
              </a:spcAft>
            </a:pPr>
            <a:r>
              <a:rPr sz="1250" b="1">
                <a:solidFill>
                  <a:srgbClr val="000000"/>
                </a:solidFill>
                <a:latin typeface="Noto Sans KR"/>
                <a:ea typeface="Noto Sans KR"/>
              </a:rPr>
              <a:t>외형</a:t>
            </a:r>
          </a:p>
          <a:p>
            <a:pPr algn="l">
              <a:spcAft>
                <a:spcPts val="300"/>
              </a:spcAft>
            </a:pPr>
            <a:r>
              <a:rPr sz="1250" b="0">
                <a:solidFill>
                  <a:srgbClr val="000000"/>
                </a:solidFill>
                <a:latin typeface="Noto Sans KR"/>
                <a:ea typeface="Noto Sans KR"/>
              </a:rPr>
              <a:t>조끼 차림 사육사, 손바닥 펴는 팔 · 소환물 랩터</a:t>
            </a:r>
          </a:p>
          <a:p>
            <a:pPr algn="l">
              <a:spcAft>
                <a:spcPts val="300"/>
              </a:spcAft>
            </a:pPr>
            <a:r>
              <a:rPr sz="1250" b="1">
                <a:solidFill>
                  <a:srgbClr val="000000"/>
                </a:solidFill>
                <a:latin typeface="Noto Sans KR"/>
                <a:ea typeface="Noto Sans KR"/>
              </a:rPr>
              <a:t>리그</a:t>
            </a:r>
          </a:p>
          <a:p>
            <a:pPr algn="l">
              <a:spcAft>
                <a:spcPts val="300"/>
              </a:spcAft>
            </a:pPr>
            <a:r>
              <a:rPr sz="1250" b="0">
                <a:solidFill>
                  <a:srgbClr val="000000"/>
                </a:solidFill>
                <a:latin typeface="Noto Sans KR"/>
                <a:ea typeface="Noto Sans KR"/>
              </a:rPr>
              <a:t>사람 · 시트 hr1 3행 · 랩터 pr1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794760" y="1600200"/>
          <a:ext cx="7406639" cy="3108960"/>
        </p:xfrm>
        <a:graphic>
          <a:graphicData uri="http://schemas.openxmlformats.org/drawingml/2006/table">
            <a:tbl>
              <a:tblPr firstRow="0" bandRow="0"/>
              <a:tblGrid>
                <a:gridCol w="868680"/>
                <a:gridCol w="1508760"/>
                <a:gridCol w="3977639"/>
                <a:gridCol w="1051560"/>
              </a:tblGrid>
              <a:tr h="365760">
                <a:tc>
                  <a:txBody>
                    <a:bodyPr wrap="square"/>
                    <a:lstStyle/>
                    <a:p>
                      <a:pPr algn="ctr"/>
                      <a:r>
                        <a:rPr sz="125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구분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스킬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동작 · 범위 · 연출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기절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914400"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쿨타임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샷건 발사</a:t>
                      </a:r>
                    </a:p>
                    <a:p>
                      <a:pPr algn="l"/>
                      <a:r>
                        <a:rPr sz="1100" b="0">
                          <a:solidFill>
                            <a:srgbClr val="595959"/>
                          </a:solidFill>
                          <a:latin typeface="Noto Sans KR"/>
                          <a:ea typeface="Noto Sans KR"/>
                        </a:rPr>
                        <a:t>Shotgun Blast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샷건을 꺼내 장전(모션 1초)한 뒤 전방으로 발사. 보스 좁은 주변 + 전방 부채꼴 기절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1초 (기본)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914400"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발악 1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랩터 떼</a:t>
                      </a:r>
                    </a:p>
                    <a:p>
                      <a:pPr algn="l"/>
                      <a:r>
                        <a:rPr sz="1100" b="0">
                          <a:solidFill>
                            <a:srgbClr val="595959"/>
                          </a:solidFill>
                          <a:latin typeface="Noto Sans KR"/>
                          <a:ea typeface="Noto Sans KR"/>
                        </a:rPr>
                        <a:t>Raptor Stampede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(카메라 연출) 화면 왼쪽 밖에서 오른쪽 밖까지 랩터들이 한 번 우르르 지나가고, 화면 안에 보이는 쥐 전부 기절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2초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914400"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발악 2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랩터 다루기</a:t>
                      </a:r>
                    </a:p>
                    <a:p>
                      <a:pPr algn="l"/>
                      <a:r>
                        <a:rPr sz="1100" b="0">
                          <a:solidFill>
                            <a:srgbClr val="595959"/>
                          </a:solidFill>
                          <a:latin typeface="Noto Sans KR"/>
                          <a:ea typeface="Noto Sans KR"/>
                        </a:rPr>
                        <a:t>Raptor Whisperer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랩터 3마리가 투명 → 불투명하게 등장. 보스가 쥬라기 월드 짤처럼 자세를 잡고 랩터 3마리가 보스 중심으로 회전(약 5초), 그동안 보스는 천천히 걸어다님. 닿은 쥐 기절, 계속 걸릴 수 있음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1초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749039" y="4818888"/>
            <a:ext cx="7498079" cy="27432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Noto Sans KR"/>
                <a:ea typeface="Noto Sans KR"/>
              </a:rPr>
              <a:t>테이블: boss_trainer · 쿨타임 R_Shotgun (Fan) · 발악 1 R_Stampede (Parade) · 발악 2 R_Whisperer (Orbit)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1033271" y="749808"/>
            <a:ext cx="9144000" cy="5852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0">
                <a:solidFill>
                  <a:srgbClr val="000000"/>
                </a:solidFill>
                <a:latin typeface="Noto Sans KR Black"/>
                <a:ea typeface="Noto Sans KR Black"/>
              </a:rPr>
              <a:t>층별 보스 – 50층 노조 고양이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133856" y="1316736"/>
            <a:ext cx="5852160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en_name"/>
          <p:cNvSpPr txBox="1"/>
          <p:nvPr/>
        </p:nvSpPr>
        <p:spPr>
          <a:xfrm>
            <a:off x="7040880" y="868680"/>
            <a:ext cx="4114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500" b="1">
                <a:solidFill>
                  <a:srgbClr val="E97132"/>
                </a:solidFill>
                <a:latin typeface="Noto Sans KR"/>
                <a:ea typeface="Noto Sans KR"/>
              </a:rPr>
              <a:t>Union Cat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43000" y="1600200"/>
            <a:ext cx="2377440" cy="246888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</a:p>
        </p:txBody>
      </p:sp>
      <p:pic>
        <p:nvPicPr>
          <p:cNvPr id="6" name="Picture 5" descr="union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440" y="2170698"/>
            <a:ext cx="1371600" cy="1327883"/>
          </a:xfrm>
          <a:prstGeom prst="rect">
            <a:avLst/>
          </a:prstGeom>
        </p:spPr>
      </p:pic>
      <p:pic>
        <p:nvPicPr>
          <p:cNvPr id="7" name="Picture 6" descr="joassu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27672" y="2491740"/>
            <a:ext cx="579695" cy="13716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097280" y="4206240"/>
            <a:ext cx="2468880" cy="2377439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>
                <a:solidFill>
                  <a:srgbClr val="000000"/>
                </a:solidFill>
                <a:latin typeface="Noto Sans KR"/>
                <a:ea typeface="Noto Sans KR"/>
              </a:rPr>
              <a:t>패러디 원작</a:t>
            </a:r>
          </a:p>
          <a:p>
            <a:pPr algn="l">
              <a:spcAft>
                <a:spcPts val="300"/>
              </a:spcAft>
            </a:pPr>
            <a:r>
              <a:rPr sz="1250" b="0">
                <a:solidFill>
                  <a:srgbClr val="000000"/>
                </a:solidFill>
                <a:latin typeface="Noto Sans KR"/>
                <a:ea typeface="Noto Sans KR"/>
              </a:rPr>
              <a:t>노조 고양이 + 현장 고양이 '좋았쓰!!' (소환: 좋았쓰 고양이 Looks-Good Cat)</a:t>
            </a:r>
          </a:p>
          <a:p>
            <a:pPr algn="l">
              <a:spcAft>
                <a:spcPts val="300"/>
              </a:spcAft>
            </a:pPr>
            <a:r>
              <a:rPr sz="1250" b="1">
                <a:solidFill>
                  <a:srgbClr val="000000"/>
                </a:solidFill>
                <a:latin typeface="Noto Sans KR"/>
                <a:ea typeface="Noto Sans KR"/>
              </a:rPr>
              <a:t>외형</a:t>
            </a:r>
          </a:p>
          <a:p>
            <a:pPr algn="l">
              <a:spcAft>
                <a:spcPts val="300"/>
              </a:spcAft>
            </a:pPr>
            <a:r>
              <a:rPr sz="1250" b="0">
                <a:solidFill>
                  <a:srgbClr val="000000"/>
                </a:solidFill>
                <a:latin typeface="Noto Sans KR"/>
                <a:ea typeface="Noto Sans KR"/>
              </a:rPr>
              <a:t>기본 = 노조 고양이(옆모습), 소환되는 좋았쓰 고양이 = 흰 안전모, 두 발로 서서 가리킴</a:t>
            </a:r>
          </a:p>
          <a:p>
            <a:pPr algn="l">
              <a:spcAft>
                <a:spcPts val="300"/>
              </a:spcAft>
            </a:pPr>
            <a:r>
              <a:rPr sz="1250" b="1">
                <a:solidFill>
                  <a:srgbClr val="000000"/>
                </a:solidFill>
                <a:latin typeface="Noto Sans KR"/>
                <a:ea typeface="Noto Sans KR"/>
              </a:rPr>
              <a:t>리그</a:t>
            </a:r>
          </a:p>
          <a:p>
            <a:pPr algn="l">
              <a:spcAft>
                <a:spcPts val="300"/>
              </a:spcAft>
            </a:pPr>
            <a:r>
              <a:rPr sz="1250" b="0">
                <a:solidFill>
                  <a:srgbClr val="000000"/>
                </a:solidFill>
                <a:latin typeface="Noto Sans KR"/>
                <a:ea typeface="Noto Sans KR"/>
              </a:rPr>
              <a:t>고양이 · 시트 cr4 1행 · 좋았쓰 hr3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794760" y="1600200"/>
          <a:ext cx="7406639" cy="3108960"/>
        </p:xfrm>
        <a:graphic>
          <a:graphicData uri="http://schemas.openxmlformats.org/drawingml/2006/table">
            <a:tbl>
              <a:tblPr firstRow="0" bandRow="0"/>
              <a:tblGrid>
                <a:gridCol w="868680"/>
                <a:gridCol w="1508760"/>
                <a:gridCol w="3977639"/>
                <a:gridCol w="1051560"/>
              </a:tblGrid>
              <a:tr h="365760">
                <a:tc>
                  <a:txBody>
                    <a:bodyPr wrap="square"/>
                    <a:lstStyle/>
                    <a:p>
                      <a:pPr algn="ctr"/>
                      <a:r>
                        <a:rPr sz="125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구분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스킬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동작 · 범위 · 연출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기절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914400"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쿨타임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냥냥펀치</a:t>
                      </a:r>
                    </a:p>
                    <a:p>
                      <a:pPr algn="l"/>
                      <a:r>
                        <a:rPr sz="1100" b="0">
                          <a:solidFill>
                            <a:srgbClr val="595959"/>
                          </a:solidFill>
                          <a:latin typeface="Noto Sans KR"/>
                          <a:ea typeface="Noto Sans KR"/>
                        </a:rPr>
                        <a:t>Paw-Paw Slap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1초 준비 자세(고양이 사냥 준비 자세) → 쥐가 모인 곳으로 뛰어가 앞발 4연타. 두드릴 때마다 화면 흔들림 + 주변 범위 쥐 기절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1초 (기본)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914400"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발악 1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단결 투쟁</a:t>
                      </a:r>
                    </a:p>
                    <a:p>
                      <a:pPr algn="l"/>
                      <a:r>
                        <a:rPr sz="1100" b="0">
                          <a:solidFill>
                            <a:srgbClr val="595959"/>
                          </a:solidFill>
                          <a:latin typeface="Noto Sans KR"/>
                          <a:ea typeface="Noto Sans KR"/>
                        </a:rPr>
                        <a:t>Solidarity Strike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두 발로 서서 확성기를 들면 화면 외곽이 붉게 깜빡이고, 붉은 조끼 · 머리띠에 '단결 투쟁'(UNITE &amp; FIGHT) 피켓을 든 시위대가 화면 왼쪽 밖 → 오른쪽 밖으로 지나감. 닿은 쥐 기절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2초 (기본)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914400"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발악 2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좋았쓰!! 호출</a:t>
                      </a:r>
                    </a:p>
                    <a:p>
                      <a:pPr algn="l"/>
                      <a:r>
                        <a:rPr sz="1100" b="0">
                          <a:solidFill>
                            <a:srgbClr val="595959"/>
                          </a:solidFill>
                          <a:latin typeface="Noto Sans KR"/>
                          <a:ea typeface="Noto Sans KR"/>
                        </a:rPr>
                        <a:t>Call the Looks-Good Cats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보스가 두 발로 서서(잠깐 사람 리그) 안전모를 쓰고 전화를 걺. 진동이 점점 심해지고 발밑 먼지 구름 속에서 좋았쓰 고양이들이 사방으로 포물선을 그리며 튀어나옴. 날아가는 고양이 · 착탄 지점에 닿으면 기절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2초 (기본)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749039" y="4882896"/>
            <a:ext cx="7498079" cy="27432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Noto Sans KR"/>
                <a:ea typeface="Noto Sans KR"/>
              </a:rPr>
              <a:t>테이블: boss_union2 · 쿨타임 R_PawSlap (Slam) · 발악 1 R_Solidarity (Parade) · 발악 2 R_LooksGood (Throw)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1033271" y="749808"/>
            <a:ext cx="9144000" cy="5852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0">
                <a:solidFill>
                  <a:srgbClr val="000000"/>
                </a:solidFill>
                <a:latin typeface="Noto Sans KR Black"/>
                <a:ea typeface="Noto Sans KR Black"/>
              </a:rPr>
              <a:t>층별 보스 – 55층 거미 고양이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133856" y="1316736"/>
            <a:ext cx="5852160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en_name"/>
          <p:cNvSpPr txBox="1"/>
          <p:nvPr/>
        </p:nvSpPr>
        <p:spPr>
          <a:xfrm>
            <a:off x="7040880" y="868680"/>
            <a:ext cx="4114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500" b="1">
                <a:solidFill>
                  <a:srgbClr val="E97132"/>
                </a:solidFill>
                <a:latin typeface="Noto Sans KR"/>
                <a:ea typeface="Noto Sans KR"/>
              </a:rPr>
              <a:t>Spider Cat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43000" y="1600200"/>
            <a:ext cx="2377440" cy="246888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</a:p>
        </p:txBody>
      </p:sp>
      <p:pic>
        <p:nvPicPr>
          <p:cNvPr id="6" name="Picture 5" descr="spi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440" y="2162611"/>
            <a:ext cx="1371600" cy="1344057"/>
          </a:xfrm>
          <a:prstGeom prst="rect">
            <a:avLst/>
          </a:prstGeom>
        </p:spPr>
      </p:pic>
      <p:pic>
        <p:nvPicPr>
          <p:cNvPr id="7" name="Picture 6" descr="prop_re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0320" y="2872740"/>
            <a:ext cx="914400" cy="6096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097280" y="4206240"/>
            <a:ext cx="2468880" cy="2377439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>
                <a:solidFill>
                  <a:srgbClr val="000000"/>
                </a:solidFill>
                <a:latin typeface="Noto Sans KR"/>
                <a:ea typeface="Noto Sans KR"/>
              </a:rPr>
              <a:t>패러디 원작</a:t>
            </a:r>
          </a:p>
          <a:p>
            <a:pPr algn="l">
              <a:spcAft>
                <a:spcPts val="300"/>
              </a:spcAft>
            </a:pPr>
            <a:r>
              <a:rPr sz="1250" b="0">
                <a:solidFill>
                  <a:srgbClr val="000000"/>
                </a:solidFill>
                <a:latin typeface="Noto Sans KR"/>
                <a:ea typeface="Noto Sans KR"/>
              </a:rPr>
              <a:t>토이스토리 아기 머리 거미 장난감 (공사장 철근 활용 컨셉)</a:t>
            </a:r>
          </a:p>
          <a:p>
            <a:pPr algn="l">
              <a:spcAft>
                <a:spcPts val="300"/>
              </a:spcAft>
            </a:pPr>
            <a:r>
              <a:rPr sz="1250" b="1">
                <a:solidFill>
                  <a:srgbClr val="000000"/>
                </a:solidFill>
                <a:latin typeface="Noto Sans KR"/>
                <a:ea typeface="Noto Sans KR"/>
              </a:rPr>
              <a:t>외형</a:t>
            </a:r>
          </a:p>
          <a:p>
            <a:pPr algn="l">
              <a:spcAft>
                <a:spcPts val="300"/>
              </a:spcAft>
            </a:pPr>
            <a:r>
              <a:rPr sz="1250" b="0">
                <a:solidFill>
                  <a:srgbClr val="000000"/>
                </a:solidFill>
                <a:latin typeface="Noto Sans KR"/>
                <a:ea typeface="Noto Sans KR"/>
              </a:rPr>
              <a:t>아기 얼굴 대신 고양이 얼굴, 다리 = 공사장 철근, 머리 아래 용접 목 받침</a:t>
            </a:r>
          </a:p>
          <a:p>
            <a:pPr algn="l">
              <a:spcAft>
                <a:spcPts val="300"/>
              </a:spcAft>
            </a:pPr>
            <a:r>
              <a:rPr sz="1250" b="1">
                <a:solidFill>
                  <a:srgbClr val="000000"/>
                </a:solidFill>
                <a:latin typeface="Noto Sans KR"/>
                <a:ea typeface="Noto Sans KR"/>
              </a:rPr>
              <a:t>리그</a:t>
            </a:r>
          </a:p>
          <a:p>
            <a:pPr algn="l">
              <a:spcAft>
                <a:spcPts val="300"/>
              </a:spcAft>
            </a:pPr>
            <a:r>
              <a:rPr sz="1250" b="0">
                <a:solidFill>
                  <a:srgbClr val="000000"/>
                </a:solidFill>
                <a:latin typeface="Noto Sans KR"/>
                <a:ea typeface="Noto Sans KR"/>
              </a:rPr>
              <a:t>전용 · 시트 cx1 1행 · cx5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794760" y="1600200"/>
          <a:ext cx="7406639" cy="3108960"/>
        </p:xfrm>
        <a:graphic>
          <a:graphicData uri="http://schemas.openxmlformats.org/drawingml/2006/table">
            <a:tbl>
              <a:tblPr firstRow="0" bandRow="0"/>
              <a:tblGrid>
                <a:gridCol w="868680"/>
                <a:gridCol w="1508760"/>
                <a:gridCol w="3977639"/>
                <a:gridCol w="1051560"/>
              </a:tblGrid>
              <a:tr h="365760">
                <a:tc>
                  <a:txBody>
                    <a:bodyPr wrap="square"/>
                    <a:lstStyle/>
                    <a:p>
                      <a:pPr algn="ctr"/>
                      <a:r>
                        <a:rPr sz="125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구분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스킬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동작 · 범위 · 연출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기절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914400"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쿨타임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철근 가시</a:t>
                      </a:r>
                    </a:p>
                    <a:p>
                      <a:pPr algn="l"/>
                      <a:r>
                        <a:rPr sz="1100" b="0">
                          <a:solidFill>
                            <a:srgbClr val="595959"/>
                          </a:solidFill>
                          <a:latin typeface="Noto Sans KR"/>
                          <a:ea typeface="Noto Sans KR"/>
                        </a:rPr>
                        <a:t>Rebar Spikes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입을 우물거리다가 바라보는 방향 기준 60°(중앙 기준 30°) 부채꼴로 작은 철근 가시 발사. 맞은 쥐 전부 기절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1초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914400"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발악 1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철근 거미줄</a:t>
                      </a:r>
                    </a:p>
                    <a:p>
                      <a:pPr algn="l"/>
                      <a:r>
                        <a:rPr sz="1100" b="0">
                          <a:solidFill>
                            <a:srgbClr val="595959"/>
                          </a:solidFill>
                          <a:latin typeface="Noto Sans KR"/>
                          <a:ea typeface="Noto Sans KR"/>
                        </a:rPr>
                        <a:t>Rebar Web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공중에서 철근으로 매우 크게 거미줄을 짠 뒤 바닥으로 낙하. 낙하 범위를 그림자로 표시, 낙하까지 예고 1초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2초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914400"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발악 2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거미줄 돌진</a:t>
                      </a:r>
                    </a:p>
                    <a:p>
                      <a:pPr algn="l"/>
                      <a:r>
                        <a:rPr sz="1100" b="0">
                          <a:solidFill>
                            <a:srgbClr val="595959"/>
                          </a:solidFill>
                          <a:latin typeface="Noto Sans KR"/>
                          <a:ea typeface="Noto Sans KR"/>
                        </a:rPr>
                        <a:t>Web Dash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시동 거는 자세로 준비 → 방 한 칸 정도 범위를 매우 빠르게 돌진 (총 3초, 방 끝에서 끝까지 0.3초 이내). 오각형 꼭짓점을 별 모양 순서(한 칸 건너뛰기)로 돌진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2초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749039" y="4754880"/>
            <a:ext cx="7498079" cy="27432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Noto Sans KR"/>
                <a:ea typeface="Noto Sans KR"/>
              </a:rPr>
              <a:t>테이블: boss_spider · 쿨타임 R_RebarSpikes (Fan) · 발악 1 R_RebarWeb (Drop) · 발악 2 R_WebDash (Path)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1033271" y="749808"/>
            <a:ext cx="9144000" cy="5852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0">
                <a:solidFill>
                  <a:srgbClr val="000000"/>
                </a:solidFill>
                <a:latin typeface="Noto Sans KR Black"/>
                <a:ea typeface="Noto Sans KR Black"/>
              </a:rPr>
              <a:t>층별 보스 – 60층 굴착기 기사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133856" y="1316736"/>
            <a:ext cx="5852160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en_name"/>
          <p:cNvSpPr txBox="1"/>
          <p:nvPr/>
        </p:nvSpPr>
        <p:spPr>
          <a:xfrm>
            <a:off x="7040880" y="868680"/>
            <a:ext cx="4114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500" b="1">
                <a:solidFill>
                  <a:srgbClr val="E97132"/>
                </a:solidFill>
                <a:latin typeface="Noto Sans KR"/>
                <a:ea typeface="Noto Sans KR"/>
              </a:rPr>
              <a:t>Excavator Operator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43000" y="1600200"/>
            <a:ext cx="2377440" cy="246888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</a:p>
        </p:txBody>
      </p:sp>
      <p:pic>
        <p:nvPicPr>
          <p:cNvPr id="6" name="Picture 5" descr="operat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2243" y="1691640"/>
            <a:ext cx="715992" cy="2286000"/>
          </a:xfrm>
          <a:prstGeom prst="rect">
            <a:avLst/>
          </a:prstGeom>
        </p:spPr>
      </p:pic>
      <p:pic>
        <p:nvPicPr>
          <p:cNvPr id="7" name="Picture 6" descr="excavat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0320" y="2879066"/>
            <a:ext cx="914400" cy="59694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097280" y="4206240"/>
            <a:ext cx="2468880" cy="2377439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>
                <a:solidFill>
                  <a:srgbClr val="000000"/>
                </a:solidFill>
                <a:latin typeface="Noto Sans KR"/>
                <a:ea typeface="Noto Sans KR"/>
              </a:rPr>
              <a:t>패러디 원작</a:t>
            </a:r>
          </a:p>
          <a:p>
            <a:pPr algn="l">
              <a:spcAft>
                <a:spcPts val="300"/>
              </a:spcAft>
            </a:pPr>
            <a:r>
              <a:rPr sz="1250" b="0">
                <a:solidFill>
                  <a:srgbClr val="000000"/>
                </a:solidFill>
                <a:latin typeface="Noto Sans KR"/>
                <a:ea typeface="Noto Sans KR"/>
              </a:rPr>
              <a:t>굴착기 운전하는 사람</a:t>
            </a:r>
          </a:p>
          <a:p>
            <a:pPr algn="l">
              <a:spcAft>
                <a:spcPts val="300"/>
              </a:spcAft>
            </a:pPr>
            <a:r>
              <a:rPr sz="1250" b="1">
                <a:solidFill>
                  <a:srgbClr val="000000"/>
                </a:solidFill>
                <a:latin typeface="Noto Sans KR"/>
                <a:ea typeface="Noto Sans KR"/>
              </a:rPr>
              <a:t>외형</a:t>
            </a:r>
          </a:p>
          <a:p>
            <a:pPr algn="l">
              <a:spcAft>
                <a:spcPts val="300"/>
              </a:spcAft>
            </a:pPr>
            <a:r>
              <a:rPr sz="1250" b="0">
                <a:solidFill>
                  <a:srgbClr val="000000"/>
                </a:solidFill>
                <a:latin typeface="Noto Sans KR"/>
                <a:ea typeface="Noto Sans KR"/>
              </a:rPr>
              <a:t>안전모 · 고글 · 형광 조끼 작업자</a:t>
            </a:r>
          </a:p>
          <a:p>
            <a:pPr algn="l">
              <a:spcAft>
                <a:spcPts val="300"/>
              </a:spcAft>
            </a:pPr>
            <a:r>
              <a:rPr sz="1250" b="1">
                <a:solidFill>
                  <a:srgbClr val="000000"/>
                </a:solidFill>
                <a:latin typeface="Noto Sans KR"/>
                <a:ea typeface="Noto Sans KR"/>
              </a:rPr>
              <a:t>리그</a:t>
            </a:r>
          </a:p>
          <a:p>
            <a:pPr algn="l">
              <a:spcAft>
                <a:spcPts val="300"/>
              </a:spcAft>
            </a:pPr>
            <a:r>
              <a:rPr sz="1250" b="0">
                <a:solidFill>
                  <a:srgbClr val="000000"/>
                </a:solidFill>
                <a:latin typeface="Noto Sans KR"/>
                <a:ea typeface="Noto Sans KR"/>
              </a:rPr>
              <a:t>사람 · 시트 hr2 1행 + 굴착기 pr1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794760" y="1600200"/>
          <a:ext cx="7406639" cy="3108960"/>
        </p:xfrm>
        <a:graphic>
          <a:graphicData uri="http://schemas.openxmlformats.org/drawingml/2006/table">
            <a:tbl>
              <a:tblPr firstRow="0" bandRow="0"/>
              <a:tblGrid>
                <a:gridCol w="868680"/>
                <a:gridCol w="1508760"/>
                <a:gridCol w="3977639"/>
                <a:gridCol w="1051560"/>
              </a:tblGrid>
              <a:tr h="365760">
                <a:tc>
                  <a:txBody>
                    <a:bodyPr wrap="square"/>
                    <a:lstStyle/>
                    <a:p>
                      <a:pPr algn="ctr"/>
                      <a:r>
                        <a:rPr sz="125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구분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스킬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동작 · 범위 · 연출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기절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914400"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쿨타임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라바콘 투하</a:t>
                      </a:r>
                    </a:p>
                    <a:p>
                      <a:pPr algn="l"/>
                      <a:r>
                        <a:rPr sz="1100" b="0">
                          <a:solidFill>
                            <a:srgbClr val="595959"/>
                          </a:solidFill>
                          <a:latin typeface="Noto Sans KR"/>
                          <a:ea typeface="Noto Sans KR"/>
                        </a:rPr>
                        <a:t>Cone Drop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범위를 그림자로 예고, 0.7초 후 특정 범위 3곳에 라바콘 낙하. 라바콘에 닿은 쥐 기절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1초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914400"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발악 1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굴삭기 회전</a:t>
                      </a:r>
                    </a:p>
                    <a:p>
                      <a:pPr algn="l"/>
                      <a:r>
                        <a:rPr sz="1100" b="0">
                          <a:solidFill>
                            <a:srgbClr val="595959"/>
                          </a:solidFill>
                          <a:latin typeface="Noto Sans KR"/>
                          <a:ea typeface="Noto Sans KR"/>
                        </a:rPr>
                        <a:t>Excavator Spin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굴착기 탑승 → 포크레인 팔을 길게 쭉 펼친 뒤 가렌 E처럼 3초 동안 빙글빙글 회전. 회전에 닿은 쥐 기절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2초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914400"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발악 2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포크레인 댄스</a:t>
                      </a:r>
                    </a:p>
                    <a:p>
                      <a:pPr algn="l"/>
                      <a:r>
                        <a:rPr sz="1100" b="0">
                          <a:solidFill>
                            <a:srgbClr val="595959"/>
                          </a:solidFill>
                          <a:latin typeface="Noto Sans KR"/>
                          <a:ea typeface="Noto Sans KR"/>
                        </a:rPr>
                        <a:t>Digger Dance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참고 GIF(원문 링크, 열어서 움직임 확인 후 구현)처럼 움직이며 360° 사방으로(각 15° 이내, 매우 좁게) 돌멩이 난사. 돌멩이와 충돌한 쥐 기절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2초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749039" y="4754880"/>
            <a:ext cx="7498079" cy="27432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Noto Sans KR"/>
                <a:ea typeface="Noto Sans KR"/>
              </a:rPr>
              <a:t>테이블: boss_operator · 쿨타임 R_ConeDrop (Drop) · 발악 1 R_ExcSpin (Spin) · 발악 2 R_DiggerDance (Fan)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794760" y="5212079"/>
            <a:ext cx="7406640" cy="685800"/>
          </a:xfrm>
          <a:prstGeom prst="roundRect">
            <a:avLst>
              <a:gd name="adj" fmla="val 15000"/>
            </a:avLst>
          </a:prstGeom>
          <a:noFill/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/>
            <a:r>
              <a:rPr sz="1250" b="1">
                <a:solidFill>
                  <a:srgbClr val="000000"/>
                </a:solidFill>
                <a:latin typeface="Noto Sans KR"/>
                <a:ea typeface="Noto Sans KR"/>
              </a:rPr>
              <a:t>※ </a:t>
            </a:r>
            <a:r>
              <a:rPr sz="1250" b="0">
                <a:solidFill>
                  <a:srgbClr val="000000"/>
                </a:solidFill>
                <a:latin typeface="Noto Sans KR"/>
                <a:ea typeface="Noto Sans KR"/>
              </a:rPr>
              <a:t>정한 것: 사람으로 싸우다 발악 1(체력 70%)에 굴착기 탑승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1033271" y="749808"/>
            <a:ext cx="9144000" cy="5852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0">
                <a:solidFill>
                  <a:srgbClr val="000000"/>
                </a:solidFill>
                <a:latin typeface="Noto Sans KR Black"/>
                <a:ea typeface="Noto Sans KR Black"/>
              </a:rPr>
              <a:t>층별 보스 – 65층 상어 고양이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133856" y="1316736"/>
            <a:ext cx="5852160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en_name"/>
          <p:cNvSpPr txBox="1"/>
          <p:nvPr/>
        </p:nvSpPr>
        <p:spPr>
          <a:xfrm>
            <a:off x="7040880" y="868680"/>
            <a:ext cx="4114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500" b="1">
                <a:solidFill>
                  <a:srgbClr val="E97132"/>
                </a:solidFill>
                <a:latin typeface="Noto Sans KR"/>
                <a:ea typeface="Noto Sans KR"/>
              </a:rPr>
              <a:t>Shark Cat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43000" y="1600200"/>
            <a:ext cx="2377440" cy="246888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</a:p>
        </p:txBody>
      </p:sp>
      <p:pic>
        <p:nvPicPr>
          <p:cNvPr id="6" name="Picture 5" descr="sharkca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160" y="2274874"/>
            <a:ext cx="2103120" cy="111953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97280" y="4206240"/>
            <a:ext cx="2468880" cy="2377439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>
                <a:solidFill>
                  <a:srgbClr val="000000"/>
                </a:solidFill>
                <a:latin typeface="Noto Sans KR"/>
                <a:ea typeface="Noto Sans KR"/>
              </a:rPr>
              <a:t>패러디 원작</a:t>
            </a:r>
          </a:p>
          <a:p>
            <a:pPr algn="l">
              <a:spcAft>
                <a:spcPts val="300"/>
              </a:spcAft>
            </a:pPr>
            <a:r>
              <a:rPr sz="1250" b="0">
                <a:solidFill>
                  <a:srgbClr val="000000"/>
                </a:solidFill>
                <a:latin typeface="Noto Sans KR"/>
                <a:ea typeface="Noto Sans KR"/>
              </a:rPr>
              <a:t>트랄랄레로</a:t>
            </a:r>
          </a:p>
          <a:p>
            <a:pPr algn="l">
              <a:spcAft>
                <a:spcPts val="300"/>
              </a:spcAft>
            </a:pPr>
            <a:r>
              <a:rPr sz="1250" b="1">
                <a:solidFill>
                  <a:srgbClr val="000000"/>
                </a:solidFill>
                <a:latin typeface="Noto Sans KR"/>
                <a:ea typeface="Noto Sans KR"/>
              </a:rPr>
              <a:t>외형</a:t>
            </a:r>
          </a:p>
          <a:p>
            <a:pPr algn="l">
              <a:spcAft>
                <a:spcPts val="300"/>
              </a:spcAft>
            </a:pPr>
            <a:r>
              <a:rPr sz="1250" b="0">
                <a:solidFill>
                  <a:srgbClr val="000000"/>
                </a:solidFill>
                <a:latin typeface="Noto Sans KR"/>
                <a:ea typeface="Noto Sans KR"/>
              </a:rPr>
              <a:t>상어 몸 + 고양이 얼굴 + 운동화, 네 발로 고양이처럼 걸음</a:t>
            </a:r>
          </a:p>
          <a:p>
            <a:pPr algn="l">
              <a:spcAft>
                <a:spcPts val="300"/>
              </a:spcAft>
            </a:pPr>
            <a:r>
              <a:rPr sz="1250" b="1">
                <a:solidFill>
                  <a:srgbClr val="000000"/>
                </a:solidFill>
                <a:latin typeface="Noto Sans KR"/>
                <a:ea typeface="Noto Sans KR"/>
              </a:rPr>
              <a:t>리그</a:t>
            </a:r>
          </a:p>
          <a:p>
            <a:pPr algn="l">
              <a:spcAft>
                <a:spcPts val="300"/>
              </a:spcAft>
            </a:pPr>
            <a:r>
              <a:rPr sz="1250" b="0">
                <a:solidFill>
                  <a:srgbClr val="000000"/>
                </a:solidFill>
                <a:latin typeface="Noto Sans KR"/>
                <a:ea typeface="Noto Sans KR"/>
              </a:rPr>
              <a:t>전용 · 시트 cx6 (통 cx6_full)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794760" y="1600200"/>
          <a:ext cx="7406639" cy="3108960"/>
        </p:xfrm>
        <a:graphic>
          <a:graphicData uri="http://schemas.openxmlformats.org/drawingml/2006/table">
            <a:tbl>
              <a:tblPr firstRow="0" bandRow="0"/>
              <a:tblGrid>
                <a:gridCol w="868680"/>
                <a:gridCol w="1508760"/>
                <a:gridCol w="3977639"/>
                <a:gridCol w="1051560"/>
              </a:tblGrid>
              <a:tr h="365760">
                <a:tc>
                  <a:txBody>
                    <a:bodyPr wrap="square"/>
                    <a:lstStyle/>
                    <a:p>
                      <a:pPr algn="ctr"/>
                      <a:r>
                        <a:rPr sz="125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구분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스킬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동작 · 범위 · 연출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기절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914400"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쿨타임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물방울 감옥</a:t>
                      </a:r>
                    </a:p>
                    <a:p>
                      <a:pPr algn="l"/>
                      <a:r>
                        <a:rPr sz="1100" b="0">
                          <a:solidFill>
                            <a:srgbClr val="595959"/>
                          </a:solidFill>
                          <a:latin typeface="Noto Sans KR"/>
                          <a:ea typeface="Noto Sans KR"/>
                        </a:rPr>
                        <a:t>Bubble Jail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범위를 그림자로 예고, 0.7초 후 특정 범위 3곳에 물방울 감옥 생성. 안에 있던 쥐 전부 물방울 안에 갇힘(기절)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1초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914400"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발악 1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지느러미 돌진</a:t>
                      </a:r>
                    </a:p>
                    <a:p>
                      <a:pPr algn="l"/>
                      <a:r>
                        <a:rPr sz="1100" b="0">
                          <a:solidFill>
                            <a:srgbClr val="595959"/>
                          </a:solidFill>
                          <a:latin typeface="Noto Sans KR"/>
                          <a:ea typeface="Noto Sans KR"/>
                        </a:rPr>
                        <a:t>Fin Rush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몸을 숨기고 붉게 물든 등지느러미만 보이며 쥐가 가장 많은 범위로 돌진. 충돌한 쥐 기절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2초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914400"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발악 2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신발 토네이도</a:t>
                      </a:r>
                    </a:p>
                    <a:p>
                      <a:pPr algn="l"/>
                      <a:r>
                        <a:rPr sz="1100" b="0">
                          <a:solidFill>
                            <a:srgbClr val="595959"/>
                          </a:solidFill>
                          <a:latin typeface="Noto Sans KR"/>
                          <a:ea typeface="Noto Sans KR"/>
                        </a:rPr>
                        <a:t>Sneaker Tornado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보스의 신발이 모터 달린 롤러스케이트로 변함 → 3초간 외곽에서 안쪽으로 나선 회전하며 움직임. 닿은 쥐 기절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2초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749039" y="4754880"/>
            <a:ext cx="7498079" cy="27432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Noto Sans KR"/>
                <a:ea typeface="Noto Sans KR"/>
              </a:rPr>
              <a:t>테이블: boss_sharkcat · 쿨타임 R_BubbleJail (Drop) · 발악 1 R_FinRush (Dash) · 발악 2 R_SneakerTornado (Path)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794760" y="5212079"/>
            <a:ext cx="7406640" cy="685800"/>
          </a:xfrm>
          <a:prstGeom prst="roundRect">
            <a:avLst>
              <a:gd name="adj" fmla="val 15000"/>
            </a:avLst>
          </a:prstGeom>
          <a:noFill/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/>
            <a:r>
              <a:rPr sz="1250" b="1">
                <a:solidFill>
                  <a:srgbClr val="000000"/>
                </a:solidFill>
                <a:latin typeface="Noto Sans KR"/>
                <a:ea typeface="Noto Sans KR"/>
              </a:rPr>
              <a:t>※ </a:t>
            </a:r>
            <a:r>
              <a:rPr sz="1250" b="0">
                <a:solidFill>
                  <a:srgbClr val="000000"/>
                </a:solidFill>
                <a:latin typeface="Noto Sans KR"/>
                <a:ea typeface="Noto Sans KR"/>
              </a:rPr>
              <a:t>그림 메모 (README): 트랄랄레로 스킬 그림(bm 계열)은 이미 있음 → 코드로 연결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1033271" y="749808"/>
            <a:ext cx="9144000" cy="5852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0">
                <a:solidFill>
                  <a:srgbClr val="000000"/>
                </a:solidFill>
                <a:latin typeface="Noto Sans KR Black"/>
                <a:ea typeface="Noto Sans KR Black"/>
              </a:rPr>
              <a:t>층별 보스 – 70층 머라옹 고양이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133856" y="1316736"/>
            <a:ext cx="5852160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en_name"/>
          <p:cNvSpPr txBox="1"/>
          <p:nvPr/>
        </p:nvSpPr>
        <p:spPr>
          <a:xfrm>
            <a:off x="7040880" y="868680"/>
            <a:ext cx="4114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500" b="1">
                <a:solidFill>
                  <a:srgbClr val="E97132"/>
                </a:solidFill>
                <a:latin typeface="Noto Sans KR"/>
                <a:ea typeface="Noto Sans KR"/>
              </a:rPr>
              <a:t>Mer-Meow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43000" y="1600200"/>
            <a:ext cx="2377440" cy="246888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</a:p>
        </p:txBody>
      </p:sp>
      <p:pic>
        <p:nvPicPr>
          <p:cNvPr id="6" name="Picture 5" descr="fishca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4167" y="1737360"/>
            <a:ext cx="1975104" cy="21945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97280" y="4206240"/>
            <a:ext cx="2468880" cy="2377439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>
                <a:solidFill>
                  <a:srgbClr val="000000"/>
                </a:solidFill>
                <a:latin typeface="Noto Sans KR"/>
                <a:ea typeface="Noto Sans KR"/>
              </a:rPr>
              <a:t>패러디 원작</a:t>
            </a:r>
          </a:p>
          <a:p>
            <a:pPr algn="l">
              <a:spcAft>
                <a:spcPts val="300"/>
              </a:spcAft>
            </a:pPr>
            <a:r>
              <a:rPr sz="1250" b="0">
                <a:solidFill>
                  <a:srgbClr val="000000"/>
                </a:solidFill>
                <a:latin typeface="Noto Sans KR"/>
                <a:ea typeface="Noto Sans KR"/>
              </a:rPr>
              <a:t>머라이언 (원문: 물고기고양이)</a:t>
            </a:r>
          </a:p>
          <a:p>
            <a:pPr algn="l">
              <a:spcAft>
                <a:spcPts val="300"/>
              </a:spcAft>
            </a:pPr>
            <a:r>
              <a:rPr sz="1250" b="1">
                <a:solidFill>
                  <a:srgbClr val="000000"/>
                </a:solidFill>
                <a:latin typeface="Noto Sans KR"/>
                <a:ea typeface="Noto Sans KR"/>
              </a:rPr>
              <a:t>외형</a:t>
            </a:r>
          </a:p>
          <a:p>
            <a:pPr algn="l">
              <a:spcAft>
                <a:spcPts val="300"/>
              </a:spcAft>
            </a:pPr>
            <a:r>
              <a:rPr sz="1250" b="0">
                <a:solidFill>
                  <a:srgbClr val="000000"/>
                </a:solidFill>
                <a:latin typeface="Noto Sans KR"/>
                <a:ea typeface="Noto Sans KR"/>
              </a:rPr>
              <a:t>갈기 달린 주황 고양이 얼굴 + 똑바로 선 은빛 물고기 몸, 꼬리 말아 올림</a:t>
            </a:r>
          </a:p>
          <a:p>
            <a:pPr algn="l">
              <a:spcAft>
                <a:spcPts val="300"/>
              </a:spcAft>
            </a:pPr>
            <a:r>
              <a:rPr sz="1250" b="1">
                <a:solidFill>
                  <a:srgbClr val="000000"/>
                </a:solidFill>
                <a:latin typeface="Noto Sans KR"/>
                <a:ea typeface="Noto Sans KR"/>
              </a:rPr>
              <a:t>리그</a:t>
            </a:r>
          </a:p>
          <a:p>
            <a:pPr algn="l">
              <a:spcAft>
                <a:spcPts val="300"/>
              </a:spcAft>
            </a:pPr>
            <a:r>
              <a:rPr sz="1250" b="0">
                <a:solidFill>
                  <a:srgbClr val="000000"/>
                </a:solidFill>
                <a:latin typeface="Noto Sans KR"/>
                <a:ea typeface="Noto Sans KR"/>
              </a:rPr>
              <a:t>전용 · 시트 cx4 (통 cx4_full)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794760" y="1600200"/>
          <a:ext cx="7406639" cy="3108960"/>
        </p:xfrm>
        <a:graphic>
          <a:graphicData uri="http://schemas.openxmlformats.org/drawingml/2006/table">
            <a:tbl>
              <a:tblPr firstRow="0" bandRow="0"/>
              <a:tblGrid>
                <a:gridCol w="868680"/>
                <a:gridCol w="1508760"/>
                <a:gridCol w="3977639"/>
                <a:gridCol w="1051560"/>
              </a:tblGrid>
              <a:tr h="365760">
                <a:tc>
                  <a:txBody>
                    <a:bodyPr wrap="square"/>
                    <a:lstStyle/>
                    <a:p>
                      <a:pPr algn="ctr"/>
                      <a:r>
                        <a:rPr sz="125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구분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스킬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동작 · 범위 · 연출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기절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914400"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쿨타임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거품 난사</a:t>
                      </a:r>
                    </a:p>
                    <a:p>
                      <a:pPr algn="l"/>
                      <a:r>
                        <a:rPr sz="1100" b="0">
                          <a:solidFill>
                            <a:srgbClr val="595959"/>
                          </a:solidFill>
                          <a:latin typeface="Noto Sans KR"/>
                          <a:ea typeface="Noto Sans KR"/>
                        </a:rPr>
                        <a:t>Bubble Barrage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거품 여러 개를 정면(보고 있는 방향)으로 발사 (모티브: 포켓몬 거품광선). 맞은 쥐 기절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1초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914400"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발악 1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꼬마 머라옹 소환</a:t>
                      </a:r>
                    </a:p>
                    <a:p>
                      <a:pPr algn="l"/>
                      <a:r>
                        <a:rPr sz="1100" b="0">
                          <a:solidFill>
                            <a:srgbClr val="595959"/>
                          </a:solidFill>
                          <a:latin typeface="Noto Sans KR"/>
                          <a:ea typeface="Noto Sans KR"/>
                        </a:rPr>
                        <a:t>Mini Mer-Meows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작은 머라이언 고양이 3마리 소환, 2초간 돌아다님. 닿은 쥐 기절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2초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914400"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발악 2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물대포</a:t>
                      </a:r>
                    </a:p>
                    <a:p>
                      <a:pPr algn="l"/>
                      <a:r>
                        <a:rPr sz="1100" b="0">
                          <a:solidFill>
                            <a:srgbClr val="595959"/>
                          </a:solidFill>
                          <a:latin typeface="Noto Sans KR"/>
                          <a:ea typeface="Noto Sans KR"/>
                        </a:rPr>
                        <a:t>Water Cannon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입에서 거대 물줄기가 뿜어져 나옴 (원작 패러디: 하이드로펌프). 맞은 쥐는 타격을 받고 밀려나며 기절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2초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749039" y="4754880"/>
            <a:ext cx="7498079" cy="27432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Noto Sans KR"/>
                <a:ea typeface="Noto Sans KR"/>
              </a:rPr>
              <a:t>테이블: boss_fishcat · 쿨타임 R_BubbleBarrage (Fan) · 발악 1 R_MiniMerlion (Summon) · 발악 2 R_WaterCannon (Fan)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1033271" y="749808"/>
            <a:ext cx="9144000" cy="5852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0">
                <a:solidFill>
                  <a:srgbClr val="000000"/>
                </a:solidFill>
                <a:latin typeface="Noto Sans KR Black"/>
                <a:ea typeface="Noto Sans KR Black"/>
              </a:rPr>
              <a:t>층별 보스 – 75층 심해 잠수부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133856" y="1316736"/>
            <a:ext cx="5852160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en_name"/>
          <p:cNvSpPr txBox="1"/>
          <p:nvPr/>
        </p:nvSpPr>
        <p:spPr>
          <a:xfrm>
            <a:off x="7040880" y="868680"/>
            <a:ext cx="4114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500" b="1">
                <a:solidFill>
                  <a:srgbClr val="E97132"/>
                </a:solidFill>
                <a:latin typeface="Noto Sans KR"/>
                <a:ea typeface="Noto Sans KR"/>
              </a:rPr>
              <a:t>Deep Sea Diver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43000" y="1600200"/>
            <a:ext cx="2377440" cy="246888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</a:p>
        </p:txBody>
      </p:sp>
      <p:pic>
        <p:nvPicPr>
          <p:cNvPr id="6" name="Picture 5" descr="deepdi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6636" y="1737360"/>
            <a:ext cx="770166" cy="21945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97280" y="4206240"/>
            <a:ext cx="2468880" cy="2377439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>
                <a:solidFill>
                  <a:srgbClr val="000000"/>
                </a:solidFill>
                <a:latin typeface="Noto Sans KR"/>
                <a:ea typeface="Noto Sans KR"/>
              </a:rPr>
              <a:t>패러디 원작</a:t>
            </a:r>
          </a:p>
          <a:p>
            <a:pPr algn="l">
              <a:spcAft>
                <a:spcPts val="300"/>
              </a:spcAft>
            </a:pPr>
            <a:r>
              <a:rPr sz="1250" b="0">
                <a:solidFill>
                  <a:srgbClr val="000000"/>
                </a:solidFill>
                <a:latin typeface="Noto Sans KR"/>
                <a:ea typeface="Noto Sans KR"/>
              </a:rPr>
              <a:t>심해 잠수부</a:t>
            </a:r>
          </a:p>
          <a:p>
            <a:pPr algn="l">
              <a:spcAft>
                <a:spcPts val="300"/>
              </a:spcAft>
            </a:pPr>
            <a:r>
              <a:rPr sz="1250" b="1">
                <a:solidFill>
                  <a:srgbClr val="000000"/>
                </a:solidFill>
                <a:latin typeface="Noto Sans KR"/>
                <a:ea typeface="Noto Sans KR"/>
              </a:rPr>
              <a:t>외형</a:t>
            </a:r>
          </a:p>
          <a:p>
            <a:pPr algn="l">
              <a:spcAft>
                <a:spcPts val="300"/>
              </a:spcAft>
            </a:pPr>
            <a:r>
              <a:rPr sz="1250" b="0">
                <a:solidFill>
                  <a:srgbClr val="000000"/>
                </a:solidFill>
                <a:latin typeface="Noto Sans KR"/>
                <a:ea typeface="Noto Sans KR"/>
              </a:rPr>
              <a:t>놋쇠 잠수 헬멧 · 잠수복</a:t>
            </a:r>
          </a:p>
          <a:p>
            <a:pPr algn="l">
              <a:spcAft>
                <a:spcPts val="300"/>
              </a:spcAft>
            </a:pPr>
            <a:r>
              <a:rPr sz="1250" b="1">
                <a:solidFill>
                  <a:srgbClr val="000000"/>
                </a:solidFill>
                <a:latin typeface="Noto Sans KR"/>
                <a:ea typeface="Noto Sans KR"/>
              </a:rPr>
              <a:t>리그</a:t>
            </a:r>
          </a:p>
          <a:p>
            <a:pPr algn="l">
              <a:spcAft>
                <a:spcPts val="300"/>
              </a:spcAft>
            </a:pPr>
            <a:r>
              <a:rPr sz="1250" b="0">
                <a:solidFill>
                  <a:srgbClr val="000000"/>
                </a:solidFill>
                <a:latin typeface="Noto Sans KR"/>
                <a:ea typeface="Noto Sans KR"/>
              </a:rPr>
              <a:t>사람 · 시트 hr2 2행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794760" y="1600200"/>
          <a:ext cx="7406639" cy="3108960"/>
        </p:xfrm>
        <a:graphic>
          <a:graphicData uri="http://schemas.openxmlformats.org/drawingml/2006/table">
            <a:tbl>
              <a:tblPr firstRow="0" bandRow="0"/>
              <a:tblGrid>
                <a:gridCol w="868680"/>
                <a:gridCol w="1508760"/>
                <a:gridCol w="3977639"/>
                <a:gridCol w="1051560"/>
              </a:tblGrid>
              <a:tr h="365760">
                <a:tc>
                  <a:txBody>
                    <a:bodyPr wrap="square"/>
                    <a:lstStyle/>
                    <a:p>
                      <a:pPr algn="ctr"/>
                      <a:r>
                        <a:rPr sz="125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구분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스킬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동작 · 범위 · 연출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기절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914400"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쿨타임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음파 발사</a:t>
                      </a:r>
                    </a:p>
                    <a:p>
                      <a:pPr algn="l"/>
                      <a:r>
                        <a:rPr sz="1100" b="0">
                          <a:solidFill>
                            <a:srgbClr val="595959"/>
                          </a:solidFill>
                          <a:latin typeface="Noto Sans KR"/>
                          <a:ea typeface="Noto Sans KR"/>
                        </a:rPr>
                        <a:t>Sonar Ping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얼굴에서 음파 파동 발사. 파동에 맞은 쥐 기절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1초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914400"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발악 1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닻 투하</a:t>
                      </a:r>
                    </a:p>
                    <a:p>
                      <a:pPr algn="l"/>
                      <a:r>
                        <a:rPr sz="1100" b="0">
                          <a:solidFill>
                            <a:srgbClr val="595959"/>
                          </a:solidFill>
                          <a:latin typeface="Noto Sans KR"/>
                          <a:ea typeface="Noto Sans KR"/>
                        </a:rPr>
                        <a:t>Anchor Drop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공중에서 포탈이 열려 거대 닻 투하. 닻에 맞은 쥐 기절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2초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914400"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발악 2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폭뢰</a:t>
                      </a:r>
                    </a:p>
                    <a:p>
                      <a:pPr algn="l"/>
                      <a:r>
                        <a:rPr sz="1100" b="0">
                          <a:solidFill>
                            <a:srgbClr val="595959"/>
                          </a:solidFill>
                          <a:latin typeface="Noto Sans KR"/>
                          <a:ea typeface="Noto Sans KR"/>
                        </a:rPr>
                        <a:t>Depth Charge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일직선으로 물 충격파 5개가 솟구침. 충격파에 맞은 쥐는 튀어오른 뒤 기절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2초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749039" y="4754880"/>
            <a:ext cx="7498079" cy="27432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Noto Sans KR"/>
                <a:ea typeface="Noto Sans KR"/>
              </a:rPr>
              <a:t>테이블: boss_deepdiver · 쿨타임 R_Sonar (Pulse) · 발악 1 R_AnchorDrop (Drop) · 발악 2 R_DepthCharge (Sweep)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1033271" y="749808"/>
            <a:ext cx="9144000" cy="5852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0">
                <a:solidFill>
                  <a:srgbClr val="000000"/>
                </a:solidFill>
                <a:latin typeface="Noto Sans KR Black"/>
                <a:ea typeface="Noto Sans KR Black"/>
              </a:rPr>
              <a:t>층별 보스 – 80층 차력거인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133856" y="1316736"/>
            <a:ext cx="5852160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en_name"/>
          <p:cNvSpPr txBox="1"/>
          <p:nvPr/>
        </p:nvSpPr>
        <p:spPr>
          <a:xfrm>
            <a:off x="7040880" y="868680"/>
            <a:ext cx="4114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500" b="1">
                <a:solidFill>
                  <a:srgbClr val="E97132"/>
                </a:solidFill>
                <a:latin typeface="Noto Sans KR"/>
                <a:ea typeface="Noto Sans KR"/>
              </a:rPr>
              <a:t>Strongman Giant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43000" y="1600200"/>
            <a:ext cx="2377440" cy="246888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</a:p>
        </p:txBody>
      </p:sp>
      <p:pic>
        <p:nvPicPr>
          <p:cNvPr id="6" name="Picture 5" descr="cartgia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440" y="2306703"/>
            <a:ext cx="1371600" cy="1055873"/>
          </a:xfrm>
          <a:prstGeom prst="rect">
            <a:avLst/>
          </a:prstGeom>
        </p:spPr>
      </p:pic>
      <p:pic>
        <p:nvPicPr>
          <p:cNvPr id="7" name="Picture 6" descr="prop_cat_turr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0320" y="2879244"/>
            <a:ext cx="914400" cy="59659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097280" y="4206240"/>
            <a:ext cx="2468880" cy="2377439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>
                <a:solidFill>
                  <a:srgbClr val="000000"/>
                </a:solidFill>
                <a:latin typeface="Noto Sans KR"/>
                <a:ea typeface="Noto Sans KR"/>
              </a:rPr>
              <a:t>패러디 원작</a:t>
            </a:r>
          </a:p>
          <a:p>
            <a:pPr algn="l">
              <a:spcAft>
                <a:spcPts val="300"/>
              </a:spcAft>
            </a:pPr>
            <a:r>
              <a:rPr sz="1250" b="0">
                <a:solidFill>
                  <a:srgbClr val="000000"/>
                </a:solidFill>
                <a:latin typeface="Noto Sans KR"/>
                <a:ea typeface="Noto Sans KR"/>
              </a:rPr>
              <a:t>차력거인 패러디 (인간 탄 고양이)</a:t>
            </a:r>
          </a:p>
          <a:p>
            <a:pPr algn="l">
              <a:spcAft>
                <a:spcPts val="300"/>
              </a:spcAft>
            </a:pPr>
            <a:r>
              <a:rPr sz="1250" b="1">
                <a:solidFill>
                  <a:srgbClr val="000000"/>
                </a:solidFill>
                <a:latin typeface="Noto Sans KR"/>
                <a:ea typeface="Noto Sans KR"/>
              </a:rPr>
              <a:t>외형</a:t>
            </a:r>
          </a:p>
          <a:p>
            <a:pPr algn="l">
              <a:spcAft>
                <a:spcPts val="300"/>
              </a:spcAft>
            </a:pPr>
            <a:r>
              <a:rPr sz="1250" b="0">
                <a:solidFill>
                  <a:srgbClr val="000000"/>
                </a:solidFill>
                <a:latin typeface="Noto Sans KR"/>
                <a:ea typeface="Noto Sans KR"/>
              </a:rPr>
              <a:t>네 발로 선 거대한 사람 몸 + 팬티, 등 안장 위 고양이 포탑 2마리</a:t>
            </a:r>
          </a:p>
          <a:p>
            <a:pPr algn="l">
              <a:spcAft>
                <a:spcPts val="300"/>
              </a:spcAft>
            </a:pPr>
            <a:r>
              <a:rPr sz="1250" b="1">
                <a:solidFill>
                  <a:srgbClr val="000000"/>
                </a:solidFill>
                <a:latin typeface="Noto Sans KR"/>
                <a:ea typeface="Noto Sans KR"/>
              </a:rPr>
              <a:t>리그</a:t>
            </a:r>
          </a:p>
          <a:p>
            <a:pPr algn="l">
              <a:spcAft>
                <a:spcPts val="300"/>
              </a:spcAft>
            </a:pPr>
            <a:r>
              <a:rPr sz="1250" b="0">
                <a:solidFill>
                  <a:srgbClr val="000000"/>
                </a:solidFill>
                <a:latin typeface="Noto Sans KR"/>
                <a:ea typeface="Noto Sans KR"/>
              </a:rPr>
              <a:t>전용 · 시트 tt 계열 (통 tt4_full)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794760" y="1600200"/>
          <a:ext cx="7406639" cy="3108960"/>
        </p:xfrm>
        <a:graphic>
          <a:graphicData uri="http://schemas.openxmlformats.org/drawingml/2006/table">
            <a:tbl>
              <a:tblPr firstRow="0" bandRow="0"/>
              <a:tblGrid>
                <a:gridCol w="868680"/>
                <a:gridCol w="1508760"/>
                <a:gridCol w="3977639"/>
                <a:gridCol w="1051560"/>
              </a:tblGrid>
              <a:tr h="365760">
                <a:tc>
                  <a:txBody>
                    <a:bodyPr wrap="square"/>
                    <a:lstStyle/>
                    <a:p>
                      <a:pPr algn="ctr"/>
                      <a:r>
                        <a:rPr sz="125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구분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스킬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동작 · 범위 · 연출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기절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914400"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쿨타임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기관총 사격</a:t>
                      </a:r>
                    </a:p>
                    <a:p>
                      <a:pPr algn="l"/>
                      <a:r>
                        <a:rPr sz="1100" b="0">
                          <a:solidFill>
                            <a:srgbClr val="595959"/>
                          </a:solidFill>
                          <a:latin typeface="Noto Sans KR"/>
                          <a:ea typeface="Noto Sans KR"/>
                        </a:rPr>
                        <a:t>Machine Gun Fire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일정 범위 안 쥐들에게 3초간 기관총 사격. 맞은 쥐 기절 (다시 기절 가능)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1초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914400"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발악 1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내려찍기</a:t>
                      </a:r>
                    </a:p>
                    <a:p>
                      <a:pPr algn="l"/>
                      <a:r>
                        <a:rPr sz="1100" b="0">
                          <a:solidFill>
                            <a:srgbClr val="595959"/>
                          </a:solidFill>
                          <a:latin typeface="Noto Sans KR"/>
                          <a:ea typeface="Noto Sans KR"/>
                        </a:rPr>
                        <a:t>Hammer Fist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팔을 들어올려 바로 앞을 내려침. 내려친 곳 근처 쥐 기절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2초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914400"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발악 2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쿵쿵 행진</a:t>
                      </a:r>
                    </a:p>
                    <a:p>
                      <a:pPr algn="l"/>
                      <a:r>
                        <a:rPr sz="1100" b="0">
                          <a:solidFill>
                            <a:srgbClr val="595959"/>
                          </a:solidFill>
                          <a:latin typeface="Noto Sans KR"/>
                          <a:ea typeface="Noto Sans KR"/>
                        </a:rPr>
                        <a:t>Stomp March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네 발 그대로 몸을 조금 일으키고 3초간 크게 쿵쿵 걸어다님 + 화면 진동 (새 그림 없음). 근처 쥐 기절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2초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749039" y="4754880"/>
            <a:ext cx="7498079" cy="27432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Noto Sans KR"/>
                <a:ea typeface="Noto Sans KR"/>
              </a:rPr>
              <a:t>테이블: boss_cartgiant · 쿨타임 R_MachineGun (Fan) · 발악 1 R_HammerFist (Smash) · 발악 2 R_StompMarch (Grow)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1033271" y="749808"/>
            <a:ext cx="9144000" cy="5852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0">
                <a:solidFill>
                  <a:srgbClr val="000000"/>
                </a:solidFill>
                <a:latin typeface="Noto Sans KR Black"/>
                <a:ea typeface="Noto Sans KR Black"/>
              </a:rPr>
              <a:t>층별 보스 – 85층 항공모함 고양이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133856" y="1316736"/>
            <a:ext cx="5852160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en_name"/>
          <p:cNvSpPr txBox="1"/>
          <p:nvPr/>
        </p:nvSpPr>
        <p:spPr>
          <a:xfrm>
            <a:off x="7040880" y="868680"/>
            <a:ext cx="4114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500" b="1">
                <a:solidFill>
                  <a:srgbClr val="E97132"/>
                </a:solidFill>
                <a:latin typeface="Noto Sans KR"/>
                <a:ea typeface="Noto Sans KR"/>
              </a:rPr>
              <a:t>Carrier Cat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43000" y="1600200"/>
            <a:ext cx="2377440" cy="246888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</a:p>
        </p:txBody>
      </p:sp>
      <p:pic>
        <p:nvPicPr>
          <p:cNvPr id="6" name="Picture 5" descr="carri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160" y="2425043"/>
            <a:ext cx="2103120" cy="81919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97280" y="4206240"/>
            <a:ext cx="2468880" cy="2377439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>
                <a:solidFill>
                  <a:srgbClr val="000000"/>
                </a:solidFill>
                <a:latin typeface="Noto Sans KR"/>
                <a:ea typeface="Noto Sans KR"/>
              </a:rPr>
              <a:t>패러디 원작</a:t>
            </a:r>
          </a:p>
          <a:p>
            <a:pPr algn="l">
              <a:spcAft>
                <a:spcPts val="300"/>
              </a:spcAft>
            </a:pPr>
            <a:r>
              <a:rPr sz="1250" b="0">
                <a:solidFill>
                  <a:srgbClr val="000000"/>
                </a:solidFill>
                <a:latin typeface="Noto Sans KR"/>
                <a:ea typeface="Noto Sans KR"/>
              </a:rPr>
              <a:t>항공모함 + 고양이 · 봄바르딜로 크로코딜로</a:t>
            </a:r>
          </a:p>
          <a:p>
            <a:pPr algn="l">
              <a:spcAft>
                <a:spcPts val="300"/>
              </a:spcAft>
            </a:pPr>
            <a:r>
              <a:rPr sz="1250" b="1">
                <a:solidFill>
                  <a:srgbClr val="000000"/>
                </a:solidFill>
                <a:latin typeface="Noto Sans KR"/>
                <a:ea typeface="Noto Sans KR"/>
              </a:rPr>
              <a:t>외형</a:t>
            </a:r>
          </a:p>
          <a:p>
            <a:pPr algn="l">
              <a:spcAft>
                <a:spcPts val="300"/>
              </a:spcAft>
            </a:pPr>
            <a:r>
              <a:rPr sz="1250" b="0">
                <a:solidFill>
                  <a:srgbClr val="000000"/>
                </a:solidFill>
                <a:latin typeface="Noto Sans KR"/>
                <a:ea typeface="Noto Sans KR"/>
              </a:rPr>
              <a:t>관제탑 = 기계식 고양이 머리 (눈 = 함교 창문, 입 = 격납고 문), 비행기 머리 = 쥐</a:t>
            </a:r>
          </a:p>
          <a:p>
            <a:pPr algn="l">
              <a:spcAft>
                <a:spcPts val="300"/>
              </a:spcAft>
            </a:pPr>
            <a:r>
              <a:rPr sz="1250" b="1">
                <a:solidFill>
                  <a:srgbClr val="000000"/>
                </a:solidFill>
                <a:latin typeface="Noto Sans KR"/>
                <a:ea typeface="Noto Sans KR"/>
              </a:rPr>
              <a:t>리그</a:t>
            </a:r>
          </a:p>
          <a:p>
            <a:pPr algn="l">
              <a:spcAft>
                <a:spcPts val="300"/>
              </a:spcAft>
            </a:pPr>
            <a:r>
              <a:rPr sz="1250" b="0">
                <a:solidFill>
                  <a:srgbClr val="000000"/>
                </a:solidFill>
                <a:latin typeface="Noto Sans KR"/>
                <a:ea typeface="Noto Sans KR"/>
              </a:rPr>
              <a:t>전용 · 시트 cx2 · cx3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794760" y="1600200"/>
          <a:ext cx="7406639" cy="3108960"/>
        </p:xfrm>
        <a:graphic>
          <a:graphicData uri="http://schemas.openxmlformats.org/drawingml/2006/table">
            <a:tbl>
              <a:tblPr firstRow="0" bandRow="0"/>
              <a:tblGrid>
                <a:gridCol w="868680"/>
                <a:gridCol w="1508760"/>
                <a:gridCol w="3977639"/>
                <a:gridCol w="1051560"/>
              </a:tblGrid>
              <a:tr h="365760">
                <a:tc>
                  <a:txBody>
                    <a:bodyPr wrap="square"/>
                    <a:lstStyle/>
                    <a:p>
                      <a:pPr algn="ctr"/>
                      <a:r>
                        <a:rPr sz="125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구분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스킬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동작 · 범위 · 연출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기절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914400"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쿨타임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쥐 전투기 출격</a:t>
                      </a:r>
                    </a:p>
                    <a:p>
                      <a:pPr algn="l"/>
                      <a:r>
                        <a:rPr sz="1100" b="0">
                          <a:solidFill>
                            <a:srgbClr val="595959"/>
                          </a:solidFill>
                          <a:latin typeface="Noto Sans KR"/>
                          <a:ea typeface="Noto Sans KR"/>
                        </a:rPr>
                        <a:t>Rat Squadron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5초간 고양이 등(활주로)에서 쥐 전투기 6마리 생성. 쥐들 사이를 돌아다니며 부딪힌 쥐 기절 (다시 기절 가능)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1초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914400"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발악 1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눈깔 빔</a:t>
                      </a:r>
                    </a:p>
                    <a:p>
                      <a:pPr algn="l"/>
                      <a:r>
                        <a:rPr sz="1100" b="0">
                          <a:solidFill>
                            <a:srgbClr val="595959"/>
                          </a:solidFill>
                          <a:latin typeface="Noto Sans KR"/>
                          <a:ea typeface="Noto Sans KR"/>
                        </a:rPr>
                        <a:t>Eye Beam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관제탑 창문 눈에서 빔 발사 (빔 1초 유지). 빔에 맞은 쥐 기절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2초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914400"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발악 2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악어 폭격기</a:t>
                      </a:r>
                    </a:p>
                    <a:p>
                      <a:pPr algn="l"/>
                      <a:r>
                        <a:rPr sz="1100" b="0">
                          <a:solidFill>
                            <a:srgbClr val="595959"/>
                          </a:solidFill>
                          <a:latin typeface="Noto Sans KR"/>
                          <a:ea typeface="Noto Sans KR"/>
                        </a:rPr>
                        <a:t>Crocodile Bomber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등(활주로)에서 악어 폭격기 1대 소환 → 근처 쥐들에게 폭탄 6번 폭격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3초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749039" y="4754880"/>
            <a:ext cx="7498079" cy="27432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Noto Sans KR"/>
                <a:ea typeface="Noto Sans KR"/>
              </a:rPr>
              <a:t>테이블: boss_carrier · 쿨타임 R_RatSquadron (Rush) · 발악 1 R_EyeBeam (Beam) · 발악 2 R_CrocBomber (Sweep)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1033271" y="749808"/>
            <a:ext cx="9144000" cy="5852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0">
                <a:solidFill>
                  <a:srgbClr val="000000"/>
                </a:solidFill>
                <a:latin typeface="Noto Sans KR Black"/>
                <a:ea typeface="Noto Sans KR Black"/>
              </a:rPr>
              <a:t>층별 보스 – 90층 총통 고양이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133856" y="1316736"/>
            <a:ext cx="5852160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en_name"/>
          <p:cNvSpPr txBox="1"/>
          <p:nvPr/>
        </p:nvSpPr>
        <p:spPr>
          <a:xfrm>
            <a:off x="7040880" y="868680"/>
            <a:ext cx="4114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500" b="1">
                <a:solidFill>
                  <a:srgbClr val="E97132"/>
                </a:solidFill>
                <a:latin typeface="Noto Sans KR"/>
                <a:ea typeface="Noto Sans KR"/>
              </a:rPr>
              <a:t>Bunker General Cat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43000" y="1600200"/>
            <a:ext cx="2377440" cy="246888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</a:p>
        </p:txBody>
      </p:sp>
      <p:pic>
        <p:nvPicPr>
          <p:cNvPr id="6" name="Picture 5" descr="dictat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160" y="1916083"/>
            <a:ext cx="2103120" cy="183711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97280" y="4206240"/>
            <a:ext cx="2468880" cy="2377439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>
                <a:solidFill>
                  <a:srgbClr val="000000"/>
                </a:solidFill>
                <a:latin typeface="Noto Sans KR"/>
                <a:ea typeface="Noto Sans KR"/>
              </a:rPr>
              <a:t>패러디 원작</a:t>
            </a:r>
          </a:p>
          <a:p>
            <a:pPr algn="l">
              <a:spcAft>
                <a:spcPts val="300"/>
              </a:spcAft>
            </a:pPr>
            <a:r>
              <a:rPr sz="1250" b="0">
                <a:solidFill>
                  <a:srgbClr val="000000"/>
                </a:solidFill>
                <a:latin typeface="Noto Sans KR"/>
                <a:ea typeface="Noto Sans KR"/>
              </a:rPr>
              <a:t>히틀러 — 콧수염 · 제복만 (상징 · 완장 · 휘장 없음)</a:t>
            </a:r>
          </a:p>
          <a:p>
            <a:pPr algn="l">
              <a:spcAft>
                <a:spcPts val="300"/>
              </a:spcAft>
            </a:pPr>
            <a:r>
              <a:rPr sz="1250" b="1">
                <a:solidFill>
                  <a:srgbClr val="000000"/>
                </a:solidFill>
                <a:latin typeface="Noto Sans KR"/>
                <a:ea typeface="Noto Sans KR"/>
              </a:rPr>
              <a:t>외형</a:t>
            </a:r>
          </a:p>
          <a:p>
            <a:pPr algn="l">
              <a:spcAft>
                <a:spcPts val="300"/>
              </a:spcAft>
            </a:pPr>
            <a:r>
              <a:rPr sz="1250" b="0">
                <a:solidFill>
                  <a:srgbClr val="000000"/>
                </a:solidFill>
                <a:latin typeface="Noto Sans KR"/>
                <a:ea typeface="Noto Sans KR"/>
              </a:rPr>
              <a:t>회색 고양이 · 군모 · 제복 · 장화 (명세 그대로)</a:t>
            </a:r>
          </a:p>
          <a:p>
            <a:pPr algn="l">
              <a:spcAft>
                <a:spcPts val="300"/>
              </a:spcAft>
            </a:pPr>
            <a:r>
              <a:rPr sz="1250" b="1">
                <a:solidFill>
                  <a:srgbClr val="000000"/>
                </a:solidFill>
                <a:latin typeface="Noto Sans KR"/>
                <a:ea typeface="Noto Sans KR"/>
              </a:rPr>
              <a:t>리그</a:t>
            </a:r>
          </a:p>
          <a:p>
            <a:pPr algn="l">
              <a:spcAft>
                <a:spcPts val="300"/>
              </a:spcAft>
            </a:pPr>
            <a:r>
              <a:rPr sz="1250" b="0">
                <a:solidFill>
                  <a:srgbClr val="000000"/>
                </a:solidFill>
                <a:latin typeface="Noto Sans KR"/>
                <a:ea typeface="Noto Sans KR"/>
              </a:rPr>
              <a:t>고양이 · 시트 cr2 2행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794760" y="1600200"/>
          <a:ext cx="7406639" cy="3108960"/>
        </p:xfrm>
        <a:graphic>
          <a:graphicData uri="http://schemas.openxmlformats.org/drawingml/2006/table">
            <a:tbl>
              <a:tblPr firstRow="0" bandRow="0"/>
              <a:tblGrid>
                <a:gridCol w="868680"/>
                <a:gridCol w="1508760"/>
                <a:gridCol w="3977639"/>
                <a:gridCol w="1051560"/>
              </a:tblGrid>
              <a:tr h="365760">
                <a:tc>
                  <a:txBody>
                    <a:bodyPr wrap="square"/>
                    <a:lstStyle/>
                    <a:p>
                      <a:pPr algn="ctr"/>
                      <a:r>
                        <a:rPr sz="125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구분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스킬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동작 · 범위 · 연출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기절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914400"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쿨타임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그림 도구 던지기</a:t>
                      </a:r>
                    </a:p>
                    <a:p>
                      <a:pPr algn="l"/>
                      <a:r>
                        <a:rPr sz="1100" b="0">
                          <a:solidFill>
                            <a:srgbClr val="595959"/>
                          </a:solidFill>
                          <a:latin typeface="Noto Sans KR"/>
                          <a:ea typeface="Noto Sans KR"/>
                        </a:rPr>
                        <a:t>Art Supply Toss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붓 · 팔레트 · 이젤 · 캔버스를 일직선으로 던짐. 맞은 쥐 기절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2초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914400"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발악 1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방구가스</a:t>
                      </a:r>
                    </a:p>
                    <a:p>
                      <a:pPr algn="l"/>
                      <a:r>
                        <a:rPr sz="1100" b="0">
                          <a:solidFill>
                            <a:srgbClr val="595959"/>
                          </a:solidFill>
                          <a:latin typeface="Noto Sans KR"/>
                          <a:ea typeface="Noto Sans KR"/>
                        </a:rPr>
                        <a:t>Fart Gas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엉덩이에서 초록색 가스 분사, 5초간 반투명 구름. 영역 안 쥐 기절. 기절한 쥐는 이후 5초간 방독면을 쓰고 방구가스 기절에 면역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3초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914400"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발악 2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수염 던지기</a:t>
                      </a:r>
                    </a:p>
                    <a:p>
                      <a:pPr algn="l"/>
                      <a:r>
                        <a:rPr sz="1100" b="0">
                          <a:solidFill>
                            <a:srgbClr val="595959"/>
                          </a:solidFill>
                          <a:latin typeface="Noto Sans KR"/>
                          <a:ea typeface="Noto Sans KR"/>
                        </a:rPr>
                        <a:t>Mustache Toss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수염을 떼어 일직선으로 던짐. 맞은 쥐는 밀려난 뒤 정지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2초 (정지)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749039" y="4754880"/>
            <a:ext cx="7498079" cy="27432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Noto Sans KR"/>
                <a:ea typeface="Noto Sans KR"/>
              </a:rPr>
              <a:t>테이블: boss_dictator · 쿨타임 R_ArtToss (Fan) · 발악 1 R_FartGas (Zone) · 발악 2 R_MustacheToss (Fan)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1033271" y="749808"/>
            <a:ext cx="9144000" cy="5852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0">
                <a:solidFill>
                  <a:srgbClr val="000000"/>
                </a:solidFill>
                <a:latin typeface="Noto Sans KR Black"/>
                <a:ea typeface="Noto Sans KR Black"/>
              </a:rPr>
              <a:t>층별 보스 – 94층 그렘린 고양이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133856" y="1316736"/>
            <a:ext cx="5852160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en_name"/>
          <p:cNvSpPr txBox="1"/>
          <p:nvPr/>
        </p:nvSpPr>
        <p:spPr>
          <a:xfrm>
            <a:off x="7040880" y="868680"/>
            <a:ext cx="4114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500" b="1">
                <a:solidFill>
                  <a:srgbClr val="E97132"/>
                </a:solidFill>
                <a:latin typeface="Noto Sans KR"/>
                <a:ea typeface="Noto Sans KR"/>
              </a:rPr>
              <a:t>Gremlin Cat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43000" y="1600200"/>
            <a:ext cx="2377440" cy="246888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</a:p>
        </p:txBody>
      </p:sp>
      <p:pic>
        <p:nvPicPr>
          <p:cNvPr id="6" name="Picture 5" descr="greml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440" y="2274291"/>
            <a:ext cx="1371600" cy="1120697"/>
          </a:xfrm>
          <a:prstGeom prst="rect">
            <a:avLst/>
          </a:prstGeom>
        </p:spPr>
      </p:pic>
      <p:pic>
        <p:nvPicPr>
          <p:cNvPr id="7" name="Picture 6" descr="prop_eg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0320" y="2563457"/>
            <a:ext cx="914400" cy="122816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097280" y="4206240"/>
            <a:ext cx="2468880" cy="2377439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>
                <a:solidFill>
                  <a:srgbClr val="000000"/>
                </a:solidFill>
                <a:latin typeface="Noto Sans KR"/>
                <a:ea typeface="Noto Sans KR"/>
              </a:rPr>
              <a:t>패러디 원작</a:t>
            </a:r>
          </a:p>
          <a:p>
            <a:pPr algn="l">
              <a:spcAft>
                <a:spcPts val="300"/>
              </a:spcAft>
            </a:pPr>
            <a:r>
              <a:rPr sz="1250" b="0">
                <a:solidFill>
                  <a:srgbClr val="000000"/>
                </a:solidFill>
                <a:latin typeface="Noto Sans KR"/>
                <a:ea typeface="Noto Sans KR"/>
              </a:rPr>
              <a:t>그렘린 — 미리 보스 층이라고 알리지 않음</a:t>
            </a:r>
          </a:p>
          <a:p>
            <a:pPr algn="l">
              <a:spcAft>
                <a:spcPts val="300"/>
              </a:spcAft>
            </a:pPr>
            <a:r>
              <a:rPr sz="1250" b="1">
                <a:solidFill>
                  <a:srgbClr val="000000"/>
                </a:solidFill>
                <a:latin typeface="Noto Sans KR"/>
                <a:ea typeface="Noto Sans KR"/>
              </a:rPr>
              <a:t>외형</a:t>
            </a:r>
          </a:p>
          <a:p>
            <a:pPr algn="l">
              <a:spcAft>
                <a:spcPts val="300"/>
              </a:spcAft>
            </a:pPr>
            <a:r>
              <a:rPr sz="1250" b="0">
                <a:solidFill>
                  <a:srgbClr val="000000"/>
                </a:solidFill>
                <a:latin typeface="Noto Sans KR"/>
                <a:ea typeface="Noto Sans KR"/>
              </a:rPr>
              <a:t>알 → 기존 일반 고양이 → 그렘린 고양이(새 그림)로 변신</a:t>
            </a:r>
          </a:p>
          <a:p>
            <a:pPr algn="l">
              <a:spcAft>
                <a:spcPts val="300"/>
              </a:spcAft>
            </a:pPr>
            <a:r>
              <a:rPr sz="1250" b="1">
                <a:solidFill>
                  <a:srgbClr val="000000"/>
                </a:solidFill>
                <a:latin typeface="Noto Sans KR"/>
                <a:ea typeface="Noto Sans KR"/>
              </a:rPr>
              <a:t>리그</a:t>
            </a:r>
          </a:p>
          <a:p>
            <a:pPr algn="l">
              <a:spcAft>
                <a:spcPts val="300"/>
              </a:spcAft>
            </a:pPr>
            <a:r>
              <a:rPr sz="1250" b="0">
                <a:solidFill>
                  <a:srgbClr val="000000"/>
                </a:solidFill>
                <a:latin typeface="Noto Sans KR"/>
                <a:ea typeface="Noto Sans KR"/>
              </a:rPr>
              <a:t>고양이 · 시트 cr2 3행 · 알 pr1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794760" y="1600200"/>
          <a:ext cx="7406639" cy="3474720"/>
        </p:xfrm>
        <a:graphic>
          <a:graphicData uri="http://schemas.openxmlformats.org/drawingml/2006/table">
            <a:tbl>
              <a:tblPr firstRow="0" bandRow="0"/>
              <a:tblGrid>
                <a:gridCol w="868680"/>
                <a:gridCol w="1508760"/>
                <a:gridCol w="3977639"/>
                <a:gridCol w="1051560"/>
              </a:tblGrid>
              <a:tr h="365760">
                <a:tc>
                  <a:txBody>
                    <a:bodyPr wrap="square"/>
                    <a:lstStyle/>
                    <a:p>
                      <a:pPr algn="ctr"/>
                      <a:r>
                        <a:rPr sz="125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구분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스킬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동작 · 범위 · 연출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기절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777240"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등장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알 → 변신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예전 방식: 알 → 일반 고양이로 나옴(공격 불가, 쥐에게 애교) → 계단 벽을 부수고 쥐가 계단에 닿으면 그렘린으로 변신 후 보스전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—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777240"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쿨타임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돌진</a:t>
                      </a:r>
                    </a:p>
                    <a:p>
                      <a:pPr algn="l"/>
                      <a:r>
                        <a:rPr sz="1100" b="0">
                          <a:solidFill>
                            <a:srgbClr val="595959"/>
                          </a:solidFill>
                          <a:latin typeface="Noto Sans KR"/>
                          <a:ea typeface="Noto Sans KR"/>
                        </a:rPr>
                        <a:t>Charge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쥐가 많은 방향으로 1회 돌진. 부딪힌 쥐를 밀어내고 기절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1초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777240"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발악 1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새끼 그렘린</a:t>
                      </a:r>
                    </a:p>
                    <a:p>
                      <a:pPr algn="l"/>
                      <a:r>
                        <a:rPr sz="1100" b="0">
                          <a:solidFill>
                            <a:srgbClr val="595959"/>
                          </a:solidFill>
                          <a:latin typeface="Noto Sans KR"/>
                          <a:ea typeface="Noto Sans KR"/>
                        </a:rPr>
                        <a:t>Baby Gremlins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등에서 작은 그렘린 6마리 소환, 2초간 돌아다니며 닿은 쥐 기절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2초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777240"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발악 2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전자레인지 투하</a:t>
                      </a:r>
                    </a:p>
                    <a:p>
                      <a:pPr algn="l"/>
                      <a:r>
                        <a:rPr sz="1100" b="0">
                          <a:solidFill>
                            <a:srgbClr val="595959"/>
                          </a:solidFill>
                          <a:latin typeface="Noto Sans KR"/>
                          <a:ea typeface="Noto Sans KR"/>
                        </a:rPr>
                        <a:t>Microwave Drop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하늘에서 보스 절반 크기 전자레인지 투하 → 폭발, 원형 범위 안 모든 쥐 기절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3초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749039" y="5120640"/>
            <a:ext cx="7498079" cy="27432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Noto Sans KR"/>
                <a:ea typeface="Noto Sans KR"/>
              </a:rPr>
              <a:t>테이블: boss_gremlin · 쿨타임 R_Charge (Dash) · 발악 1 R_BabyGremlins (Summon) · 발악 2 R_Microwave (Drop)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1033271" y="749808"/>
            <a:ext cx="9144000" cy="5852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0">
                <a:solidFill>
                  <a:srgbClr val="000000"/>
                </a:solidFill>
                <a:latin typeface="Noto Sans KR Black"/>
                <a:ea typeface="Noto Sans KR Black"/>
              </a:rPr>
              <a:t>층별 보스 – 97층 수상한 우주복 쥐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133856" y="1316736"/>
            <a:ext cx="5852160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en_name"/>
          <p:cNvSpPr txBox="1"/>
          <p:nvPr/>
        </p:nvSpPr>
        <p:spPr>
          <a:xfrm>
            <a:off x="7040880" y="868680"/>
            <a:ext cx="4114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500" b="1">
                <a:solidFill>
                  <a:srgbClr val="E97132"/>
                </a:solidFill>
                <a:latin typeface="Noto Sans KR"/>
                <a:ea typeface="Noto Sans KR"/>
              </a:rPr>
              <a:t>Sus Spacesuit Rat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43000" y="1600200"/>
            <a:ext cx="2377440" cy="246888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</a:p>
        </p:txBody>
      </p:sp>
      <p:pic>
        <p:nvPicPr>
          <p:cNvPr id="6" name="Picture 5" descr="crewm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440" y="2471114"/>
            <a:ext cx="1371600" cy="727051"/>
          </a:xfrm>
          <a:prstGeom prst="rect">
            <a:avLst/>
          </a:prstGeom>
        </p:spPr>
      </p:pic>
      <p:pic>
        <p:nvPicPr>
          <p:cNvPr id="7" name="Picture 6" descr="prop_tentac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18854" y="2491740"/>
            <a:ext cx="797331" cy="13716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097280" y="4206240"/>
            <a:ext cx="2468880" cy="2377439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>
                <a:solidFill>
                  <a:srgbClr val="000000"/>
                </a:solidFill>
                <a:latin typeface="Noto Sans KR"/>
                <a:ea typeface="Noto Sans KR"/>
              </a:rPr>
              <a:t>패러디 원작</a:t>
            </a:r>
          </a:p>
          <a:p>
            <a:pPr algn="l">
              <a:spcAft>
                <a:spcPts val="300"/>
              </a:spcAft>
            </a:pPr>
            <a:r>
              <a:rPr sz="1250" b="0">
                <a:solidFill>
                  <a:srgbClr val="000000"/>
                </a:solidFill>
                <a:latin typeface="Noto Sans KR"/>
                <a:ea typeface="Noto Sans KR"/>
              </a:rPr>
              <a:t>어몽어스 임포스터 — 미리 알리지 않음</a:t>
            </a:r>
          </a:p>
          <a:p>
            <a:pPr algn="l">
              <a:spcAft>
                <a:spcPts val="300"/>
              </a:spcAft>
            </a:pPr>
            <a:r>
              <a:rPr sz="1250" b="1">
                <a:solidFill>
                  <a:srgbClr val="000000"/>
                </a:solidFill>
                <a:latin typeface="Noto Sans KR"/>
                <a:ea typeface="Noto Sans KR"/>
              </a:rPr>
              <a:t>외형</a:t>
            </a:r>
          </a:p>
          <a:p>
            <a:pPr algn="l">
              <a:spcAft>
                <a:spcPts val="300"/>
              </a:spcAft>
            </a:pPr>
            <a:r>
              <a:rPr sz="1250" b="0">
                <a:solidFill>
                  <a:srgbClr val="000000"/>
                </a:solidFill>
                <a:latin typeface="Noto Sans KR"/>
                <a:ea typeface="Noto Sans KR"/>
              </a:rPr>
              <a:t>빨간 우주복 쥐, 보스전 때 보스 크기로 커지고 머리가 열리며 촉수</a:t>
            </a:r>
          </a:p>
          <a:p>
            <a:pPr algn="l">
              <a:spcAft>
                <a:spcPts val="300"/>
              </a:spcAft>
            </a:pPr>
            <a:r>
              <a:rPr sz="1250" b="1">
                <a:solidFill>
                  <a:srgbClr val="000000"/>
                </a:solidFill>
                <a:latin typeface="Noto Sans KR"/>
                <a:ea typeface="Noto Sans KR"/>
              </a:rPr>
              <a:t>리그</a:t>
            </a:r>
          </a:p>
          <a:p>
            <a:pPr algn="l">
              <a:spcAft>
                <a:spcPts val="300"/>
              </a:spcAft>
            </a:pPr>
            <a:r>
              <a:rPr sz="1250" b="0">
                <a:solidFill>
                  <a:srgbClr val="000000"/>
                </a:solidFill>
                <a:latin typeface="Noto Sans KR"/>
                <a:ea typeface="Noto Sans KR"/>
              </a:rPr>
              <a:t>쥐 · 촉수 pr1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794760" y="1600200"/>
          <a:ext cx="7406639" cy="3474720"/>
        </p:xfrm>
        <a:graphic>
          <a:graphicData uri="http://schemas.openxmlformats.org/drawingml/2006/table">
            <a:tbl>
              <a:tblPr firstRow="0" bandRow="0"/>
              <a:tblGrid>
                <a:gridCol w="868680"/>
                <a:gridCol w="1508760"/>
                <a:gridCol w="3977639"/>
                <a:gridCol w="1051560"/>
              </a:tblGrid>
              <a:tr h="365760">
                <a:tc>
                  <a:txBody>
                    <a:bodyPr wrap="square"/>
                    <a:lstStyle/>
                    <a:p>
                      <a:pPr algn="ctr"/>
                      <a:r>
                        <a:rPr sz="125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구분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스킬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동작 · 범위 · 연출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기절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777240"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등장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동료 합류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층 입장 후 '신화 우주복 쥐 획득!'(Mythic Spacesuit Rat acquired!) → 동료로 합류 → 계단 벽 부수면 보스 크기로 커지며 보스전 (등장 때 촉수 삼키기)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—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777240"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쿨타임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사이렌 투하</a:t>
                      </a:r>
                    </a:p>
                    <a:p>
                      <a:pPr algn="l"/>
                      <a:r>
                        <a:rPr sz="1100" b="0">
                          <a:solidFill>
                            <a:srgbClr val="595959"/>
                          </a:solidFill>
                          <a:latin typeface="Noto Sans KR"/>
                          <a:ea typeface="Noto Sans KR"/>
                        </a:rPr>
                        <a:t>Siren Drop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사이렌 4개를 떨어뜨림. 사이렌 중심 원형 범위 안 쥐 기절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1초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777240"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발악 1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촉수 삼키기</a:t>
                      </a:r>
                    </a:p>
                    <a:p>
                      <a:pPr algn="l"/>
                      <a:r>
                        <a:rPr sz="1100" b="0">
                          <a:solidFill>
                            <a:srgbClr val="595959"/>
                          </a:solidFill>
                          <a:latin typeface="Noto Sans KR"/>
                          <a:ea typeface="Noto Sans KR"/>
                        </a:rPr>
                        <a:t>Tentacle Gulp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근처 원형 범위 쥐를 잡아먹고 3초 뒤 다시 뱉음. 보스전 시작(등장) 때 + 체력 70% 발악에서 또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3초 뒤</a:t>
                      </a:r>
                    </a:p>
                    <a:p>
                      <a:pPr algn="ctr"/>
                      <a:r>
                        <a:rPr sz="13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뱉음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777240"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발악 2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긴급 회의</a:t>
                      </a:r>
                    </a:p>
                    <a:p>
                      <a:pPr algn="l"/>
                      <a:r>
                        <a:rPr sz="1100" b="0">
                          <a:solidFill>
                            <a:srgbClr val="595959"/>
                          </a:solidFill>
                          <a:latin typeface="Noto Sans KR"/>
                          <a:ea typeface="Noto Sans KR"/>
                        </a:rPr>
                        <a:t>Emergency Huddle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빨간 버튼을 눌러 '긴급 회의!'(EMERGENCY HUDDLE!). 맵의 모든 쥐가 2초간 못 움직임 (기절)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2초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749039" y="5321808"/>
            <a:ext cx="7498079" cy="27432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Noto Sans KR"/>
                <a:ea typeface="Noto Sans KR"/>
              </a:rPr>
              <a:t>테이블: boss_crewmate · 쿨타임 R_SirenDrop (Drop) · 발악 1 R_TentacleGulp (Swallow) · 발악 2 R_Huddle (Global)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794760" y="5779008"/>
            <a:ext cx="7406640" cy="685800"/>
          </a:xfrm>
          <a:prstGeom prst="roundRect">
            <a:avLst>
              <a:gd name="adj" fmla="val 15000"/>
            </a:avLst>
          </a:prstGeom>
          <a:noFill/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/>
            <a:r>
              <a:rPr sz="1250" b="1">
                <a:solidFill>
                  <a:srgbClr val="000000"/>
                </a:solidFill>
                <a:latin typeface="Noto Sans KR"/>
                <a:ea typeface="Noto Sans KR"/>
              </a:rPr>
              <a:t>※ </a:t>
            </a:r>
            <a:r>
              <a:rPr sz="1250" b="0">
                <a:solidFill>
                  <a:srgbClr val="000000"/>
                </a:solidFill>
                <a:latin typeface="Noto Sans KR"/>
                <a:ea typeface="Noto Sans KR"/>
              </a:rPr>
              <a:t>정한 것: 잡아먹힌 쥐는 최대 마릿수(인구수)에서 빠지지 않음 — 그동안 새 쥐가 태어나 넘치지 않게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1033271" y="749808"/>
            <a:ext cx="9144000" cy="5852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0">
                <a:solidFill>
                  <a:srgbClr val="000000"/>
                </a:solidFill>
                <a:latin typeface="Noto Sans KR Black"/>
                <a:ea typeface="Noto Sans KR Black"/>
              </a:rPr>
              <a:t>층별 보스 – 100층 우주 고양이 사령관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133856" y="1316736"/>
            <a:ext cx="5852160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en_name"/>
          <p:cNvSpPr txBox="1"/>
          <p:nvPr/>
        </p:nvSpPr>
        <p:spPr>
          <a:xfrm>
            <a:off x="7040880" y="868680"/>
            <a:ext cx="4114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500" b="1">
                <a:solidFill>
                  <a:srgbClr val="E97132"/>
                </a:solidFill>
                <a:latin typeface="Noto Sans KR"/>
                <a:ea typeface="Noto Sans KR"/>
              </a:rPr>
              <a:t>Space Cat Commander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43000" y="1600200"/>
            <a:ext cx="2377440" cy="246888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</a:p>
        </p:txBody>
      </p:sp>
      <p:pic>
        <p:nvPicPr>
          <p:cNvPr id="6" name="Picture 5" descr="old_comman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0418" y="1737360"/>
            <a:ext cx="1842602" cy="21945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97280" y="4206240"/>
            <a:ext cx="2468880" cy="2377439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>
                <a:solidFill>
                  <a:srgbClr val="000000"/>
                </a:solidFill>
                <a:latin typeface="Noto Sans KR"/>
                <a:ea typeface="Noto Sans KR"/>
              </a:rPr>
              <a:t>패러디 원작</a:t>
            </a:r>
          </a:p>
          <a:p>
            <a:pPr algn="l">
              <a:spcAft>
                <a:spcPts val="300"/>
              </a:spcAft>
            </a:pPr>
            <a:r>
              <a:rPr sz="1250" b="0">
                <a:solidFill>
                  <a:srgbClr val="000000"/>
                </a:solidFill>
                <a:latin typeface="Noto Sans KR"/>
                <a:ea typeface="Noto Sans KR"/>
              </a:rPr>
              <a:t>이전 우주복 고양이 재사용 (그럼피 아님)</a:t>
            </a:r>
          </a:p>
          <a:p>
            <a:pPr algn="l">
              <a:spcAft>
                <a:spcPts val="300"/>
              </a:spcAft>
            </a:pPr>
            <a:r>
              <a:rPr sz="1250" b="1">
                <a:solidFill>
                  <a:srgbClr val="000000"/>
                </a:solidFill>
                <a:latin typeface="Noto Sans KR"/>
                <a:ea typeface="Noto Sans KR"/>
              </a:rPr>
              <a:t>외형</a:t>
            </a:r>
          </a:p>
          <a:p>
            <a:pPr algn="l">
              <a:spcAft>
                <a:spcPts val="300"/>
              </a:spcAft>
            </a:pPr>
            <a:r>
              <a:rPr sz="1250" b="0">
                <a:solidFill>
                  <a:srgbClr val="000000"/>
                </a:solidFill>
                <a:latin typeface="Noto Sans KR"/>
                <a:ea typeface="Noto Sans KR"/>
              </a:rPr>
              <a:t>우주 헬멧을 쓴 흰 고양이 (기존 그림)</a:t>
            </a:r>
          </a:p>
          <a:p>
            <a:pPr algn="l">
              <a:spcAft>
                <a:spcPts val="300"/>
              </a:spcAft>
            </a:pPr>
            <a:r>
              <a:rPr sz="1250" b="1">
                <a:solidFill>
                  <a:srgbClr val="000000"/>
                </a:solidFill>
                <a:latin typeface="Noto Sans KR"/>
                <a:ea typeface="Noto Sans KR"/>
              </a:rPr>
              <a:t>리그</a:t>
            </a:r>
          </a:p>
          <a:p>
            <a:pPr algn="l">
              <a:spcAft>
                <a:spcPts val="300"/>
              </a:spcAft>
            </a:pPr>
            <a:r>
              <a:rPr sz="1250" b="0">
                <a:solidFill>
                  <a:srgbClr val="000000"/>
                </a:solidFill>
                <a:latin typeface="Noto Sans KR"/>
                <a:ea typeface="Noto Sans KR"/>
              </a:rPr>
              <a:t>고양이 · 기존 boss_commander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794760" y="1600200"/>
          <a:ext cx="7406639" cy="2194560"/>
        </p:xfrm>
        <a:graphic>
          <a:graphicData uri="http://schemas.openxmlformats.org/drawingml/2006/table">
            <a:tbl>
              <a:tblPr firstRow="0" bandRow="0"/>
              <a:tblGrid>
                <a:gridCol w="868680"/>
                <a:gridCol w="1508760"/>
                <a:gridCol w="3977639"/>
                <a:gridCol w="1051560"/>
              </a:tblGrid>
              <a:tr h="365760">
                <a:tc>
                  <a:txBody>
                    <a:bodyPr wrap="square"/>
                    <a:lstStyle/>
                    <a:p>
                      <a:pPr algn="ctr"/>
                      <a:r>
                        <a:rPr sz="125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구분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스킬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동작 · 범위 · 연출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기절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914400"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전체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기존 스킬 그대로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예전 우주 고양이 스킬을 그대로 씀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기존 값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914400"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변경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잼 식빵 고양이 회전</a:t>
                      </a:r>
                    </a:p>
                    <a:p>
                      <a:pPr algn="l"/>
                      <a:r>
                        <a:rPr sz="1100" b="0">
                          <a:solidFill>
                            <a:srgbClr val="595959"/>
                          </a:solidFill>
                          <a:latin typeface="Noto Sans KR"/>
                          <a:ea typeface="Noto Sans KR"/>
                        </a:rPr>
                        <a:t>Jam Toast Cat Spin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'맥스웰 드롭'만 '잼 바른 식빵 + 고양이 회전'으로 바꿈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기존 값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749039" y="3840480"/>
            <a:ext cx="7498079" cy="27432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Noto Sans KR"/>
                <a:ea typeface="Noto Sans KR"/>
              </a:rPr>
              <a:t>테이블: boss_commander · 쿨타임 Buttered_Cat · 발악 1 Orbital_Laser · 발악 2 Black_Hole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1033271" y="749808"/>
            <a:ext cx="9144000" cy="5852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0">
                <a:solidFill>
                  <a:srgbClr val="000000"/>
                </a:solidFill>
                <a:latin typeface="Noto Sans KR Black"/>
                <a:ea typeface="Noto Sans KR Black"/>
              </a:rPr>
              <a:t>그림 – 필요한 새 그림 목록 (1/2)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133856" y="1316736"/>
            <a:ext cx="5852160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label"/>
          <p:cNvSpPr txBox="1"/>
          <p:nvPr/>
        </p:nvSpPr>
        <p:spPr>
          <a:xfrm>
            <a:off x="7040880" y="1005840"/>
            <a:ext cx="4114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95959"/>
                </a:solidFill>
                <a:latin typeface="Noto Sans KR"/>
                <a:ea typeface="Noto Sans KR"/>
              </a:rPr>
              <a:t>명세에 나온 소환물 · 투사체 · 효과 기준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143000" y="1600200"/>
          <a:ext cx="10149840" cy="4663440"/>
        </p:xfrm>
        <a:graphic>
          <a:graphicData uri="http://schemas.openxmlformats.org/drawingml/2006/table">
            <a:tbl>
              <a:tblPr firstRow="0" bandRow="0"/>
              <a:tblGrid>
                <a:gridCol w="777240"/>
                <a:gridCol w="5852160"/>
                <a:gridCol w="3520440"/>
              </a:tblGrid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25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층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스킬에 필요한 그림 (명세 기준)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지금 있는 것 (BossRework)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25층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해피캣 8마리 · 맥스웰 고양이 6마리 + 포탈 · 허 고양이 머리(새로) · HUH? 글자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팝 캣 리그 (cr3)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30층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헤어볼 · 발악 1 기괴한 얼굴(긴 목 · 빨간 리본) + 말풍선 · 우는 얼굴 식빵 · 우는 고양이 얼굴 빵 12개 · 빵 반죽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참고 그림만 (ref_goerem_*)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35층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던지는 공룡탈 머리 · 폭발 · 꼬리(티라노 자세) · 쭈그려 앉기 + 담배 · 연기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공룡탈 알바 리그 (hr1)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40층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음파 파동 · 버티컬 마우스 운석 · 크레이터 · 미니 버티컬 마우스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몽둥이 (Props/club)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45층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샷건 · 사격 효과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랩터 · 덮치는 랩터 (Props/raptor*)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50층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확성기 · 시위대(붉은 조끼 · 머리띠 · 피켓) · 안전모 · 전화 · 먼지 구름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좋았쓰 고양이 리그 (hr3)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55층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철근 가시 · 철근 거미줄 · 낙하 그림자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철근 (Props/rebar)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60층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돌멩이 · 낙하 그림자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라바콘 · 굴착기 (Props/cone, excavator_*)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65층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물방울 감옥 · 붉은 등지느러미 · 모터 롤러스케이트 신발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트랄랄레로 스킬 그림 (bm 계열)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1033271" y="749808"/>
            <a:ext cx="9144000" cy="5852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0">
                <a:solidFill>
                  <a:srgbClr val="000000"/>
                </a:solidFill>
                <a:latin typeface="Noto Sans KR Black"/>
                <a:ea typeface="Noto Sans KR Black"/>
              </a:rPr>
              <a:t>그림 – 필요한 새 그림 목록 (2/2)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133856" y="1316736"/>
            <a:ext cx="5852160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label"/>
          <p:cNvSpPr txBox="1"/>
          <p:nvPr/>
        </p:nvSpPr>
        <p:spPr>
          <a:xfrm>
            <a:off x="7040880" y="1005840"/>
            <a:ext cx="4114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95959"/>
                </a:solidFill>
                <a:latin typeface="Noto Sans KR"/>
                <a:ea typeface="Noto Sans KR"/>
              </a:rPr>
              <a:t>명세에 나온 소환물 · 투사체 · 효과 기준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143000" y="1600200"/>
          <a:ext cx="10149840" cy="4187952"/>
        </p:xfrm>
        <a:graphic>
          <a:graphicData uri="http://schemas.openxmlformats.org/drawingml/2006/table">
            <a:tbl>
              <a:tblPr firstRow="0" bandRow="0"/>
              <a:tblGrid>
                <a:gridCol w="777240"/>
                <a:gridCol w="5852160"/>
                <a:gridCol w="3520440"/>
              </a:tblGrid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25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층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스킬에 필요한 그림 (명세 기준)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지금 있는 것 (BossRework)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70층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거품 · 꼬마 머라옹 고양이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물줄기 (Parts/boss_fishcat/water)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75층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음파 · 포탈 + 거대 닻 · 물 충격파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—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80층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내려찍기 효과 (쿵쿵 행진은 새 그림 없음)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포탑 사격 (Parts/boss_cartgiant/gunner2)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85층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관제탑 눈 빔 · 악어 폭격기 · 폭탄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쥐 전투기 (Parts/boss_carrier/jet)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90층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붓 · 팔레트 · 이젤 · 캔버스 · 초록 가스 구름 · 방독면 쓴 쥐 · 수염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—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94층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새끼 그렘린 · 거대 전자레인지 · 폭발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알 · 깨진 알 · 껍질 (Props/egg*)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97층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사이렌 · 빨간 버튼 (긴급 회의)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촉수 (Props/tentacle) · 열리는 머리 (crewmate 파츠)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100층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잼 바른 식빵 + 회전하는 고양이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우주 고양이 기존 그림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033271" y="61722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00000"/>
                </a:solidFill>
                <a:latin typeface="Noto Sans KR"/>
                <a:ea typeface="Noto Sans KR"/>
              </a:rPr>
              <a:t>작업 순서 : </a:t>
            </a:r>
            <a:r>
              <a:rPr sz="1300" b="0">
                <a:solidFill>
                  <a:srgbClr val="000000"/>
                </a:solidFill>
                <a:latin typeface="Noto Sans KR"/>
                <a:ea typeface="Noto Sans KR"/>
              </a:rPr>
              <a:t>동작 먼저 (임시 그림) → 그림은 나중에 한꺼번에 · 생성 = Codex · 그림체 = 지금 게임 그대로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1033271" y="749808"/>
            <a:ext cx="9144000" cy="5852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0">
                <a:solidFill>
                  <a:srgbClr val="000000"/>
                </a:solidFill>
                <a:latin typeface="Noto Sans KR Black"/>
                <a:ea typeface="Noto Sans KR Black"/>
              </a:rPr>
              <a:t>이름 – 보스 이름 · 화면 글자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133856" y="1316736"/>
            <a:ext cx="5852160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label"/>
          <p:cNvSpPr txBox="1"/>
          <p:nvPr/>
        </p:nvSpPr>
        <p:spPr>
          <a:xfrm>
            <a:off x="7040880" y="1005840"/>
            <a:ext cx="4114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95959"/>
                </a:solidFill>
                <a:latin typeface="Noto Sans KR"/>
                <a:ea typeface="Noto Sans KR"/>
              </a:rPr>
              <a:t>사용자 확정 (2026-10-22) · 스킬 이름은 층별 보스 표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143000" y="1508760"/>
          <a:ext cx="6355079" cy="4887468"/>
        </p:xfrm>
        <a:graphic>
          <a:graphicData uri="http://schemas.openxmlformats.org/drawingml/2006/table">
            <a:tbl>
              <a:tblPr firstRow="0" bandRow="0"/>
              <a:tblGrid>
                <a:gridCol w="548640"/>
                <a:gridCol w="1600200"/>
                <a:gridCol w="1874519"/>
                <a:gridCol w="2331720"/>
              </a:tblGrid>
              <a:tr h="301752"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층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보스 이름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English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패러디 원작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269748"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25층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밈 고양이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Meme Cat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팝 캣 · 해피캣 · 맥스웰 · Huh Cat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69748"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30층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실험체 고양이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Subject Kitty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괴렘 ('이렘' 2차 창작)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69748"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35층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공룡탈 알바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T-Rex Suit Part-Timer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—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69748"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40층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원시인 버티컬 마우스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Caveman Vertical Mouse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버티컬 마우스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69748"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45층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랩터 사육사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Raptor Keeper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쥬라기 월드 프랫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69748"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50층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노조 고양이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Union Cat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노조 고양이 · 현장 고양이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69748"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55층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거미 고양이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Spider Cat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토이스토리 아기 머리 거미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69748"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60층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굴착기 기사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Excavator Operator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—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69748"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65층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상어 고양이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Shark Cat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트랄랄레로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69748"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70층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머라옹 고양이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Mer-Meow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머라이언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69748"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75층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심해 잠수부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Deep Sea Diver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—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69748"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80층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차력거인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Strongman Giant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차력거인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69748"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85층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항공모함 고양이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Carrier Cat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봄바르딜로 크로코딜로 (발악 2)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69748"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90층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총통 고양이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Bunker General Cat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히틀러 (콧수염 · 제복만)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69748"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94층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그렘린 고양이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Gremlin Cat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그렘린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69748"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97층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수상한 우주복 쥐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Sus Spacesuit Rat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어몽어스 임포스터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69748"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100층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우주 고양이 사령관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Space Cat Commander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이전 우주복 고양이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726679" y="1508760"/>
          <a:ext cx="3611880" cy="3959352"/>
        </p:xfrm>
        <a:graphic>
          <a:graphicData uri="http://schemas.openxmlformats.org/drawingml/2006/table">
            <a:tbl>
              <a:tblPr firstRow="0" bandRow="0"/>
              <a:tblGrid>
                <a:gridCol w="548640"/>
                <a:gridCol w="1371600"/>
                <a:gridCol w="1691640"/>
              </a:tblGrid>
              <a:tr h="301752"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층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화면 글자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English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25층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HUH?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HUH?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30층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너... 봤구나?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You... saw that?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30층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나 우울해서 빵됐어..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I got sad... so I became bread..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40층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우가!!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OOGA!!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50층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단결 투쟁 (피켓)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UNITE &amp; FIGHT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50층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좋았쓰!!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LOOKS GOOD!!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97층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신화 우주복 쥐 획득!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Mythic Spacesuit Rat acquired!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97층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긴급 회의!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EMERGENCY HUDDLE!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680960" y="5715000"/>
            <a:ext cx="35661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595959"/>
                </a:solidFill>
                <a:latin typeface="Noto Sans KR"/>
                <a:ea typeface="Noto Sans KR"/>
              </a:rPr>
              <a:t>50층 소환: 좋았쓰 고양이 (Looks-Good Cat)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595959"/>
                </a:solidFill>
                <a:latin typeface="Noto Sans KR"/>
                <a:ea typeface="Noto Sans KR"/>
              </a:rPr>
              <a:t>미정 사항 없음 (2026-10-22 질문 완료)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1033271" y="749808"/>
            <a:ext cx="9144000" cy="5852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0">
                <a:solidFill>
                  <a:srgbClr val="000000"/>
                </a:solidFill>
                <a:latin typeface="Noto Sans KR Black"/>
                <a:ea typeface="Noto Sans KR Black"/>
              </a:rPr>
              <a:t>데이터 – 보스 테이블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133856" y="1316736"/>
            <a:ext cx="5852160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label"/>
          <p:cNvSpPr txBox="1"/>
          <p:nvPr/>
        </p:nvSpPr>
        <p:spPr>
          <a:xfrm>
            <a:off x="7040880" y="1005840"/>
            <a:ext cx="4114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95959"/>
                </a:solidFill>
                <a:latin typeface="Noto Sans KR"/>
                <a:ea typeface="Noto Sans KR"/>
              </a:rPr>
              <a:t>Boss 시트 · 보스 한 줄 = 한 마리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143000" y="1572768"/>
          <a:ext cx="10149840" cy="4443984"/>
        </p:xfrm>
        <a:graphic>
          <a:graphicData uri="http://schemas.openxmlformats.org/drawingml/2006/table">
            <a:tbl>
              <a:tblPr firstRow="0" bandRow="0"/>
              <a:tblGrid>
                <a:gridCol w="3108960"/>
                <a:gridCol w="4572000"/>
                <a:gridCol w="2468880"/>
              </a:tblGrid>
              <a:tr h="329184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열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뜻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개편 보스 값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boss_id · boss_name · code_id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번호 · 이름 · 그림 코드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95xxx · 확정 이름 · boss_*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floor · rig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나오는 층 · 리그 (Human 사람 · Cat 고양이 · Part 전용 파츠)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25 ~ 100 · 리그별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atk_type · atk2_type · atk2_chance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일반 공격 1 · 2 · 2를 쓸 확률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리그별 평타 · 0.4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atk_cd_min · atk_cd_max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공격 간격 (무작위)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3 ~ 4.5초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skill_type · skill_cd · skill_first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쿨타임 스킬 · 간격 · 첫 사용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R_* · 8초 · 4초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special1_type · special2_type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발악 1 (체력 70%) · 발악 2 (체력 35%)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R_*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special_chance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발악 1 · 2 다 쓴 뒤 공격마다 다시 쓸 확률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0.25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hp_pow_sec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체력 = 층 적정 찍찍 × 이 값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25 ~ 48.6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move_speed · scale · radius_mul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걷는 속도 · 그림 크기 · 몸 반경 배율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95 · 1 ~ 4 · 보스별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cheese_mul · color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보상 치즈 배율 · 배너 · 화면 번쩍 색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300 · 보스별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033271" y="6217920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Noto Sans KR"/>
                <a:ea typeface="Noto Sans KR"/>
              </a:rPr>
              <a:t>보스 대사 = Boss_Line 시트 (Intro 등장 · Hit 맞음 · Special 발악 · Down 격파)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1033271" y="749808"/>
            <a:ext cx="9144000" cy="5852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0">
                <a:solidFill>
                  <a:srgbClr val="000000"/>
                </a:solidFill>
                <a:latin typeface="Noto Sans KR Black"/>
                <a:ea typeface="Noto Sans KR Black"/>
              </a:rPr>
              <a:t>데이터 – 공격 테이블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133856" y="1316736"/>
            <a:ext cx="5852160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label"/>
          <p:cNvSpPr txBox="1"/>
          <p:nvPr/>
        </p:nvSpPr>
        <p:spPr>
          <a:xfrm>
            <a:off x="7040880" y="1005840"/>
            <a:ext cx="4114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95959"/>
                </a:solidFill>
                <a:latin typeface="Noto Sans KR"/>
                <a:ea typeface="Noto Sans KR"/>
              </a:rPr>
              <a:t>Atk_Type 시트 · 기술 한 줄 = 패턴 + 수치 + 그림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143000" y="1572768"/>
          <a:ext cx="5257800" cy="3849624"/>
        </p:xfrm>
        <a:graphic>
          <a:graphicData uri="http://schemas.openxmlformats.org/drawingml/2006/table">
            <a:tbl>
              <a:tblPr firstRow="0" bandRow="0"/>
              <a:tblGrid>
                <a:gridCol w="2103120"/>
                <a:gridCol w="3154680"/>
              </a:tblGrid>
              <a:tr h="329184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열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뜻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atk_type · atk_name · line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기술 코드 (R_*) · 화면 이름 · 전용 대사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pattern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움직임 종류 (오른쪽 표)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radius · stun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판정 반경 · 기절 초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count · windup · dur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개수 · 준비(예고) 초 · 지속 초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sprite · size · color · popup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그림 · 크기 · 색 · 팝업 글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p1 · p2 · p3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패턴별 값 (각도 · 속도 · 넉백 등)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opt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head · head_keep · body · hide · ride · intro · morph · sticky · mask · red · shake · around · near · explode · all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629400" y="1572768"/>
          <a:ext cx="4663440" cy="4133088"/>
        </p:xfrm>
        <a:graphic>
          <a:graphicData uri="http://schemas.openxmlformats.org/drawingml/2006/table">
            <a:tbl>
              <a:tblPr firstRow="0" bandRow="0"/>
              <a:tblGrid>
                <a:gridCol w="777240"/>
                <a:gridCol w="1554480"/>
                <a:gridCol w="777240"/>
                <a:gridCol w="1554480"/>
              </a:tblGrid>
              <a:tr h="310896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패턴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움직임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패턴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움직임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Drop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하늘에서 떨어짐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Grow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거대화 걷기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Rise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바닥 포탈에서 솟음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Pulse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둘레 충격파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Fan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부채꼴로 쏨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Shout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큰 외침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Throw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포물선으로 던짐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Zone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바닥 장판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Parade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화면을 가로지름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Summon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소환물이 돌아다님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Orbit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보스 둘레를 돎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Sweep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가로줄 폭격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Path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별 · 나선 돌진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Rush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가로질러 날아다님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Dash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쥐 무리로 돌진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Beam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빔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Spin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돌며 쫓아감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Swallow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삼켰다 뱉음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Slam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뛰어가 연타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Global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화면 전체 기절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Smash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바로 앞 내려침</a:t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/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/>
                      </a:r>
                    </a:p>
                  </a:txBody>
                  <a:tcPr anchor="ctr" marL="72000" marR="7200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033271" y="6217920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Noto Sans KR"/>
                <a:ea typeface="Noto Sans KR"/>
              </a:rPr>
              <a:t>그림이 아직 없는 기술은 임시 그림으로 동작 (동작 먼저, 그림은 나중) · 패턴 설명 = Boss.Meme.cs · Boss.Rework.cs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663</TotalTime>
  <Words>303</Words>
  <Application>Microsoft Office PowerPoint</Application>
  <PresentationFormat>와이드스크린</PresentationFormat>
  <Paragraphs>76</Paragraphs>
  <Slides>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11" baseType="lpstr">
      <vt:lpstr>Noto Sans KR</vt:lpstr>
      <vt:lpstr>Noto Sans KR Black</vt:lpstr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도원 박</dc:creator>
  <cp:lastModifiedBy>송호 박</cp:lastModifiedBy>
  <cp:revision>17</cp:revision>
  <dcterms:created xsi:type="dcterms:W3CDTF">2026-09-29T07:46:10Z</dcterms:created>
  <dcterms:modified xsi:type="dcterms:W3CDTF">2026-10-05T07:19:09Z</dcterms:modified>
</cp:coreProperties>
</file>