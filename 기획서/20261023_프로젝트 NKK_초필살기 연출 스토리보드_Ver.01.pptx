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공통" id="{05683279-62e8-696a-4034-e48ba8c4770f}">
          <p14:sldIdLst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01 찌릿 햄찌" id="{bf0fe1b5-bcb5-d435-8f11-51e285226603}">
          <p14:sldIdLst>
            <p14:sldId id="263"/>
            <p14:sldId id="264"/>
          </p14:sldIdLst>
        </p14:section>
        <p14:section name="02 쥐랜드 관광쥐" id="{c4f88ffd-6a73-e903-a857-058dcba5bd97}">
          <p14:sldIdLst>
            <p14:sldId id="265"/>
            <p14:sldId id="266"/>
            <p14:sldId id="267"/>
          </p14:sldIdLst>
        </p14:section>
        <p14:section name="03 쥐 황제" id="{b31c78a2-d467-45c5-bf91-d9fad3df94a1}">
          <p14:sldIdLst>
            <p14:sldId id="268"/>
            <p14:sldId id="269"/>
          </p14:sldIdLst>
        </p14:section>
        <p14:section name="04 파라오 생쥐" id="{f15f1e84-3e5a-cd37-d655-45c275644056}">
          <p14:sldIdLst>
            <p14:sldId id="270"/>
            <p14:sldId id="271"/>
          </p14:sldIdLst>
        </p14:section>
        <p14:section name="05 기사 쥐" id="{be1a1dba-7239-9edd-6407-b889a8fcdbb8}">
          <p14:sldIdLst>
            <p14:sldId id="272"/>
            <p14:sldId id="273"/>
          </p14:sldIdLst>
        </p14:section>
        <p14:section name="06 술탄 햄스터" id="{15ffa27b-a3f8-c95f-7cb0-5a346b6d2893}">
          <p14:sldIdLst>
            <p14:sldId id="274"/>
            <p14:sldId id="275"/>
          </p14:sldIdLst>
        </p14:section>
        <p14:section name="07 외계인 생쥐" id="{7f638cd4-10a1-9cf6-7a35-3ac9cbff5f08}">
          <p14:sldIdLst>
            <p14:sldId id="276"/>
            <p14:sldId id="277"/>
          </p14:sldIdLst>
        </p14:section>
        <p14:section name="08 흐에~ 스트리머 쥐" id="{a09f5a9b-ad49-d1c3-f747-2a240fd9cbf6}">
          <p14:sldIdLst>
            <p14:sldId id="278"/>
            <p14:sldId id="279"/>
          </p14:sldIdLst>
        </p14:section>
        <p14:section name="09 다람쥐" id="{aca1cffa-116f-bfdc-9374-10dcd9dfda40}">
          <p14:sldIdLst>
            <p14:sldId id="280"/>
            <p14:sldId id="281"/>
          </p14:sldIdLst>
        </p14:section>
        <p14:section name="10 줴리" id="{6e0cd362-0b61-c492-680d-0d14883ce375}">
          <p14:sldIdLst>
            <p14:sldId id="282"/>
            <p14:sldId id="283"/>
            <p14:sldId id="284"/>
          </p14:sldIdLst>
        </p14:section>
        <p14:section name="11 슈퍼 요리사 쥐" id="{8f5759a8-220f-a154-bcea-d3af01364188}">
          <p14:sldIdLst>
            <p14:sldId id="285"/>
            <p14:sldId id="286"/>
          </p14:sldIdLst>
        </p14:section>
        <p14:section name="12 찍찍 탐정" id="{5790cd4b-f7fc-c0d9-e779-1d577040e5b3}">
          <p14:sldIdLst>
            <p14:sldId id="287"/>
            <p14:sldId id="288"/>
          </p14:sldIdLst>
        </p14:section>
        <p14:section name="13 치즈 퐁듀 쥐" id="{d4ca15f9-a899-8773-e3cd-fda5ddd78ab1}">
          <p14:sldIdLst>
            <p14:sldId id="289"/>
            <p14:sldId id="290"/>
          </p14:sldIdLst>
        </p14:section>
        <p14:section name="14 폭탄마 쥐" id="{241a350a-a214-d158-c7ab-51d50ce96081}">
          <p14:sldIdLst>
            <p14:sldId id="291"/>
            <p14:sldId id="292"/>
          </p14:sldIdLst>
        </p14:section>
        <p14:section name="15 아이스 퀸 쥐" id="{b260438d-2953-d247-9995-5a81987d43e5}">
          <p14:sldIdLst>
            <p14:sldId id="293"/>
            <p14:sldId id="294"/>
          </p14:sldIdLst>
        </p14:section>
        <p14:section name="16 메이드 쥐" id="{0ef9f8cc-b58b-61a7-c2c5-9ec4646dc057}">
          <p14:sldIdLst>
            <p14:sldId id="295"/>
            <p14:sldId id="296"/>
          </p14:sldIdLst>
        </p14:section>
        <p14:section name="검토" id="{2b5df06f-7590-bd31-93b9-fbc3d6a94568}">
          <p14:sldIdLst>
            <p14:sldId id="29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컷신 (실제)</c:v>
                </c:pt>
              </c:strCache>
            </c:strRef>
          </c:tx>
          <c:spPr>
            <a:solidFill>
              <a:srgbClr val="FFC83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7141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Sheet1!$A$2:$A$17</c:f>
              <c:multiLvlStrCache>
                <c:ptCount val="16"/>
                <c:lvl>
                  <c:pt idx="0">
                    <c:v>폭탄마 쥐</c:v>
                  </c:pt>
                  <c:pt idx="1">
                    <c:v>기사 쥐</c:v>
                  </c:pt>
                  <c:pt idx="2">
                    <c:v>쥐 황제</c:v>
                  </c:pt>
                  <c:pt idx="3">
                    <c:v>흐에~ 스트리머 쥐</c:v>
                  </c:pt>
                  <c:pt idx="4">
                    <c:v>메이드 쥐</c:v>
                  </c:pt>
                  <c:pt idx="5">
                    <c:v>파라오 생쥐</c:v>
                  </c:pt>
                  <c:pt idx="6">
                    <c:v>치즈 퐁듀 쥐</c:v>
                  </c:pt>
                  <c:pt idx="7">
                    <c:v>아이스 퀸 쥐</c:v>
                  </c:pt>
                  <c:pt idx="8">
                    <c:v>슈퍼 요리사 쥐</c:v>
                  </c:pt>
                  <c:pt idx="9">
                    <c:v>술탄 햄스터</c:v>
                  </c:pt>
                  <c:pt idx="10">
                    <c:v>찌릿 햄찌</c:v>
                  </c:pt>
                  <c:pt idx="11">
                    <c:v>찍찍 탐정</c:v>
                  </c:pt>
                  <c:pt idx="12">
                    <c:v>다람쥐</c:v>
                  </c:pt>
                  <c:pt idx="13">
                    <c:v>줴리</c:v>
                  </c:pt>
                  <c:pt idx="14">
                    <c:v>외계인 생쥐</c:v>
                  </c:pt>
                  <c:pt idx="15">
                    <c:v>쥐랜드 관광쥐</c:v>
                  </c:pt>
                </c:lvl>
              </c:multiLvlStrCache>
            </c:multiLvl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4.07</c:v>
                </c:pt>
                <c:pt idx="1">
                  <c:v>5.27</c:v>
                </c:pt>
                <c:pt idx="2">
                  <c:v>5.25</c:v>
                </c:pt>
                <c:pt idx="3">
                  <c:v>4.8</c:v>
                </c:pt>
                <c:pt idx="4">
                  <c:v>4.6</c:v>
                </c:pt>
                <c:pt idx="5">
                  <c:v>5</c:v>
                </c:pt>
                <c:pt idx="6">
                  <c:v>5.35</c:v>
                </c:pt>
                <c:pt idx="7">
                  <c:v>4.53</c:v>
                </c:pt>
                <c:pt idx="8">
                  <c:v>6.41</c:v>
                </c:pt>
                <c:pt idx="9">
                  <c:v>4.15</c:v>
                </c:pt>
                <c:pt idx="10">
                  <c:v>6.5</c:v>
                </c:pt>
                <c:pt idx="11">
                  <c:v>6.7</c:v>
                </c:pt>
                <c:pt idx="12">
                  <c:v>7.48</c:v>
                </c:pt>
                <c:pt idx="13">
                  <c:v>7.3</c:v>
                </c:pt>
                <c:pt idx="14">
                  <c:v>8.3</c:v>
                </c:pt>
                <c:pt idx="15">
                  <c:v>9.96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걷힘 + 게임 화면</c:v>
                </c:pt>
              </c:strCache>
            </c:strRef>
          </c:tx>
          <c:spPr>
            <a:solidFill>
              <a:srgbClr val="6FD3C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7141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Sheet1!$A$2:$A$17</c:f>
              <c:multiLvlStrCache>
                <c:ptCount val="16"/>
                <c:lvl>
                  <c:pt idx="0">
                    <c:v>폭탄마 쥐</c:v>
                  </c:pt>
                  <c:pt idx="1">
                    <c:v>기사 쥐</c:v>
                  </c:pt>
                  <c:pt idx="2">
                    <c:v>쥐 황제</c:v>
                  </c:pt>
                  <c:pt idx="3">
                    <c:v>흐에~ 스트리머 쥐</c:v>
                  </c:pt>
                  <c:pt idx="4">
                    <c:v>메이드 쥐</c:v>
                  </c:pt>
                  <c:pt idx="5">
                    <c:v>파라오 생쥐</c:v>
                  </c:pt>
                  <c:pt idx="6">
                    <c:v>치즈 퐁듀 쥐</c:v>
                  </c:pt>
                  <c:pt idx="7">
                    <c:v>아이스 퀸 쥐</c:v>
                  </c:pt>
                  <c:pt idx="8">
                    <c:v>슈퍼 요리사 쥐</c:v>
                  </c:pt>
                  <c:pt idx="9">
                    <c:v>술탄 햄스터</c:v>
                  </c:pt>
                  <c:pt idx="10">
                    <c:v>찌릿 햄찌</c:v>
                  </c:pt>
                  <c:pt idx="11">
                    <c:v>찍찍 탐정</c:v>
                  </c:pt>
                  <c:pt idx="12">
                    <c:v>다람쥐</c:v>
                  </c:pt>
                  <c:pt idx="13">
                    <c:v>줴리</c:v>
                  </c:pt>
                  <c:pt idx="14">
                    <c:v>외계인 생쥐</c:v>
                  </c:pt>
                  <c:pt idx="15">
                    <c:v>쥐랜드 관광쥐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2.35</c:v>
                </c:pt>
                <c:pt idx="1">
                  <c:v>1.4</c:v>
                </c:pt>
                <c:pt idx="2">
                  <c:v>1.8</c:v>
                </c:pt>
                <c:pt idx="3">
                  <c:v>2.3</c:v>
                </c:pt>
                <c:pt idx="4">
                  <c:v>2.7</c:v>
                </c:pt>
                <c:pt idx="5">
                  <c:v>2.6</c:v>
                </c:pt>
                <c:pt idx="6">
                  <c:v>2.5</c:v>
                </c:pt>
                <c:pt idx="7">
                  <c:v>3.4</c:v>
                </c:pt>
                <c:pt idx="8">
                  <c:v>1.9</c:v>
                </c:pt>
                <c:pt idx="9">
                  <c:v>4.35</c:v>
                </c:pt>
                <c:pt idx="10">
                  <c:v>2.1</c:v>
                </c:pt>
                <c:pt idx="11">
                  <c:v>2.3</c:v>
                </c:pt>
                <c:pt idx="12">
                  <c:v>1.9</c:v>
                </c:pt>
                <c:pt idx="13">
                  <c:v>2.3</c:v>
                </c:pt>
                <c:pt idx="14">
                  <c:v>2.5</c:v>
                </c:pt>
                <c:pt idx="15">
                  <c:v>1.2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17141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F3EFE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</c:scaling>
        <c:delete val="0"/>
        <c:axPos val="b"/>
        <c:majorGridlines>
          <c:spPr>
            <a:ln w="9525" cap="flat">
              <a:solidFill>
                <a:srgbClr val="3530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7A1B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F3EFE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수치 출처: Unity_Making/NKK_Project/Assets/Data/RatTable.json Super_Config. 월드는 멈추지 않음 (Time.timeScale 안 건드림).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컷신 ≈ 컷신 내부 시간 ÷ playRate. 게임 화면 = cutFade + worldTime (마지막 일격 +0.3초 제외).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 파일: Tools/superult_story.py (STORIES · NO_FINISH · WORLD · IMAGE_FX · NO_TEXT), Tools/gen_superult_scene.py, Assets/Data/RatTable.json (Super_Ult · Super_Config), Assets/Scripts/Ults/SuperUltManager.cs (playRate).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7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0"/>
            <a:ext cx="86868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sz="4000" b="1" dirty="0">
                <a:solidFill>
                  <a:schemeClr val="bg2"/>
                </a:solidFill>
              </a:defRPr>
            </a:lvl1pPr>
          </a:lstStyle>
          <a:p>
            <a:pPr eaLnBrk="0" algn="l" indent="0" marL="0">
              <a:buNone/>
            </a:pPr>
            <a:endParaRPr lang="ko-KR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17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8755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sz="2800" b="1" dirty="0">
                <a:solidFill>
                  <a:schemeClr val="bg2"/>
                </a:solidFill>
              </a:defRPr>
            </a:lvl1pPr>
          </a:lstStyle>
          <a:p>
            <a:pPr eaLnBrk="0" algn="l" indent="0" marL="0">
              <a:buNone/>
            </a:pPr>
            <a:endParaRPr lang="ko-KR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sz="900" dirty="0">
                <a:solidFill>
                  <a:schemeClr val="accent5"/>
                </a:solidFill>
              </a:rPr>
              <a:t>NKK · 신화 쥐 초필살기 연출 스토리보드</a:t>
            </a:r>
            <a:endParaRPr lang="ko-KR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7A1B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/>
              <a:t>1003</a:t>
            </a:fld>
            <a:endParaRPr lang="ko-K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7A1B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/>
              <a:t>null</a:t>
            </a:fld>
            <a:endParaRPr 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image" Target="../media/image-1-3.jpg"/><Relationship Id="rId4" Type="http://schemas.openxmlformats.org/officeDocument/2006/relationships/image" Target="../media/image-1-4.jpg"/><Relationship Id="rId5" Type="http://schemas.openxmlformats.org/officeDocument/2006/relationships/image" Target="../media/image-1-5.jpg"/><Relationship Id="rId6" Type="http://schemas.openxmlformats.org/officeDocument/2006/relationships/image" Target="../media/image-1-6.jpg"/><Relationship Id="rId7" Type="http://schemas.openxmlformats.org/officeDocument/2006/relationships/image" Target="../media/image-1-7.jpg"/><Relationship Id="rId8" Type="http://schemas.openxmlformats.org/officeDocument/2006/relationships/image" Target="../media/image-1-8.jpg"/><Relationship Id="rId9" Type="http://schemas.openxmlformats.org/officeDocument/2006/relationships/image" Target="../media/image-1-9.jpg"/><Relationship Id="rId10" Type="http://schemas.openxmlformats.org/officeDocument/2006/relationships/image" Target="../media/image-1-10.jpg"/><Relationship Id="rId11" Type="http://schemas.openxmlformats.org/officeDocument/2006/relationships/image" Target="../media/image-1-11.jpg"/><Relationship Id="rId12" Type="http://schemas.openxmlformats.org/officeDocument/2006/relationships/image" Target="../media/image-1-12.jpg"/><Relationship Id="rId13" Type="http://schemas.openxmlformats.org/officeDocument/2006/relationships/image" Target="../media/image-1-13.jpg"/><Relationship Id="rId14" Type="http://schemas.openxmlformats.org/officeDocument/2006/relationships/image" Target="../media/image-1-14.jpg"/><Relationship Id="rId15" Type="http://schemas.openxmlformats.org/officeDocument/2006/relationships/image" Target="../media/image-1-15.jpg"/><Relationship Id="rId16" Type="http://schemas.openxmlformats.org/officeDocument/2006/relationships/image" Target="../media/image-1-16.jpg"/><Relationship Id="rId17" Type="http://schemas.openxmlformats.org/officeDocument/2006/relationships/slideLayout" Target="../slideLayouts/slideLayout2.xml"/><Relationship Id="rId1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image" Target="../media/image-9-3.jpg"/><Relationship Id="rId4" Type="http://schemas.openxmlformats.org/officeDocument/2006/relationships/image" Target="../media/image-9-4.jpg"/><Relationship Id="rId5" Type="http://schemas.openxmlformats.org/officeDocument/2006/relationships/image" Target="../media/image-9-5.jpg"/><Relationship Id="rId6" Type="http://schemas.openxmlformats.org/officeDocument/2006/relationships/image" Target="../media/image-9-6.jp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image" Target="../media/image-11-3.jpg"/><Relationship Id="rId4" Type="http://schemas.openxmlformats.org/officeDocument/2006/relationships/image" Target="../media/image-11-4.jpg"/><Relationship Id="rId5" Type="http://schemas.openxmlformats.org/officeDocument/2006/relationships/image" Target="../media/image-11-5.jp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image" Target="../media/image-12-3.jpg"/><Relationship Id="rId4" Type="http://schemas.openxmlformats.org/officeDocument/2006/relationships/image" Target="../media/image-12-4.jpg"/><Relationship Id="rId5" Type="http://schemas.openxmlformats.org/officeDocument/2006/relationships/image" Target="../media/image-12-5.jp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image" Target="../media/image-14-3.jpg"/><Relationship Id="rId4" Type="http://schemas.openxmlformats.org/officeDocument/2006/relationships/image" Target="../media/image-14-4.jpg"/><Relationship Id="rId5" Type="http://schemas.openxmlformats.org/officeDocument/2006/relationships/image" Target="../media/image-14-5.jpg"/><Relationship Id="rId6" Type="http://schemas.openxmlformats.org/officeDocument/2006/relationships/image" Target="../media/image-14-6.jpg"/><Relationship Id="rId7" Type="http://schemas.openxmlformats.org/officeDocument/2006/relationships/image" Target="../media/image-14-7.jp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jpg"/><Relationship Id="rId3" Type="http://schemas.openxmlformats.org/officeDocument/2006/relationships/image" Target="../media/image-16-3.jpg"/><Relationship Id="rId4" Type="http://schemas.openxmlformats.org/officeDocument/2006/relationships/image" Target="../media/image-16-4.jpg"/><Relationship Id="rId5" Type="http://schemas.openxmlformats.org/officeDocument/2006/relationships/image" Target="../media/image-16-5.jpg"/><Relationship Id="rId6" Type="http://schemas.openxmlformats.org/officeDocument/2006/relationships/image" Target="../media/image-16-6.jp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jpg"/><Relationship Id="rId3" Type="http://schemas.openxmlformats.org/officeDocument/2006/relationships/image" Target="../media/image-18-3.jpg"/><Relationship Id="rId4" Type="http://schemas.openxmlformats.org/officeDocument/2006/relationships/image" Target="../media/image-18-4.jpg"/><Relationship Id="rId5" Type="http://schemas.openxmlformats.org/officeDocument/2006/relationships/image" Target="../media/image-18-5.jpg"/><Relationship Id="rId6" Type="http://schemas.openxmlformats.org/officeDocument/2006/relationships/image" Target="../media/image-18-6.jpg"/><Relationship Id="rId7" Type="http://schemas.openxmlformats.org/officeDocument/2006/relationships/image" Target="../media/image-18-7.jp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image" Target="../media/image-20-2.jpg"/><Relationship Id="rId3" Type="http://schemas.openxmlformats.org/officeDocument/2006/relationships/image" Target="../media/image-20-3.jpg"/><Relationship Id="rId4" Type="http://schemas.openxmlformats.org/officeDocument/2006/relationships/image" Target="../media/image-20-4.jpg"/><Relationship Id="rId5" Type="http://schemas.openxmlformats.org/officeDocument/2006/relationships/image" Target="../media/image-20-5.jp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-22-2.jpg"/><Relationship Id="rId3" Type="http://schemas.openxmlformats.org/officeDocument/2006/relationships/image" Target="../media/image-22-3.jpg"/><Relationship Id="rId4" Type="http://schemas.openxmlformats.org/officeDocument/2006/relationships/image" Target="../media/image-22-4.jpg"/><Relationship Id="rId5" Type="http://schemas.openxmlformats.org/officeDocument/2006/relationships/image" Target="../media/image-22-5.jpg"/><Relationship Id="rId6" Type="http://schemas.openxmlformats.org/officeDocument/2006/relationships/image" Target="../media/image-22-6.jpg"/><Relationship Id="rId7" Type="http://schemas.openxmlformats.org/officeDocument/2006/relationships/image" Target="../media/image-22-7.jpg"/><Relationship Id="rId8" Type="http://schemas.openxmlformats.org/officeDocument/2006/relationships/image" Target="../media/image-22-8.jp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image" Target="../media/image-24-2.jpg"/><Relationship Id="rId3" Type="http://schemas.openxmlformats.org/officeDocument/2006/relationships/image" Target="../media/image-24-3.jpg"/><Relationship Id="rId4" Type="http://schemas.openxmlformats.org/officeDocument/2006/relationships/image" Target="../media/image-24-4.jpg"/><Relationship Id="rId5" Type="http://schemas.openxmlformats.org/officeDocument/2006/relationships/image" Target="../media/image-24-5.jpg"/><Relationship Id="rId6" Type="http://schemas.openxmlformats.org/officeDocument/2006/relationships/image" Target="../media/image-24-6.jp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image" Target="../media/image-26-2.jpg"/><Relationship Id="rId3" Type="http://schemas.openxmlformats.org/officeDocument/2006/relationships/image" Target="../media/image-26-3.jpg"/><Relationship Id="rId4" Type="http://schemas.openxmlformats.org/officeDocument/2006/relationships/image" Target="../media/image-26-4.jpg"/><Relationship Id="rId5" Type="http://schemas.openxmlformats.org/officeDocument/2006/relationships/image" Target="../media/image-26-5.jpg"/><Relationship Id="rId6" Type="http://schemas.openxmlformats.org/officeDocument/2006/relationships/image" Target="../media/image-26-6.jp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image" Target="../media/image-28-2.jpg"/><Relationship Id="rId3" Type="http://schemas.openxmlformats.org/officeDocument/2006/relationships/image" Target="../media/image-28-3.jpg"/><Relationship Id="rId4" Type="http://schemas.openxmlformats.org/officeDocument/2006/relationships/image" Target="../media/image-28-4.jpg"/><Relationship Id="rId5" Type="http://schemas.openxmlformats.org/officeDocument/2006/relationships/image" Target="../media/image-28-5.jpg"/><Relationship Id="rId6" Type="http://schemas.openxmlformats.org/officeDocument/2006/relationships/image" Target="../media/image-28-6.jp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image" Target="../media/image-29-2.jpg"/><Relationship Id="rId3" Type="http://schemas.openxmlformats.org/officeDocument/2006/relationships/image" Target="../media/image-29-3.jpg"/><Relationship Id="rId4" Type="http://schemas.openxmlformats.org/officeDocument/2006/relationships/image" Target="../media/image-29-4.jpg"/><Relationship Id="rId5" Type="http://schemas.openxmlformats.org/officeDocument/2006/relationships/image" Target="../media/image-29-5.jp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image" Target="../media/image-31-2.jpg"/><Relationship Id="rId3" Type="http://schemas.openxmlformats.org/officeDocument/2006/relationships/image" Target="../media/image-31-3.jpg"/><Relationship Id="rId4" Type="http://schemas.openxmlformats.org/officeDocument/2006/relationships/image" Target="../media/image-31-4.jpg"/><Relationship Id="rId5" Type="http://schemas.openxmlformats.org/officeDocument/2006/relationships/image" Target="../media/image-31-5.jpg"/><Relationship Id="rId6" Type="http://schemas.openxmlformats.org/officeDocument/2006/relationships/image" Target="../media/image-31-6.jp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image" Target="../media/image-33-2.jpg"/><Relationship Id="rId3" Type="http://schemas.openxmlformats.org/officeDocument/2006/relationships/image" Target="../media/image-33-3.jpg"/><Relationship Id="rId4" Type="http://schemas.openxmlformats.org/officeDocument/2006/relationships/image" Target="../media/image-33-4.jpg"/><Relationship Id="rId5" Type="http://schemas.openxmlformats.org/officeDocument/2006/relationships/image" Target="../media/image-33-5.jpg"/><Relationship Id="rId6" Type="http://schemas.openxmlformats.org/officeDocument/2006/relationships/image" Target="../media/image-33-6.jpg"/><Relationship Id="rId7" Type="http://schemas.openxmlformats.org/officeDocument/2006/relationships/image" Target="../media/image-33-7.jpg"/><Relationship Id="rId8" Type="http://schemas.openxmlformats.org/officeDocument/2006/relationships/image" Target="../media/image-33-8.jp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g"/><Relationship Id="rId2" Type="http://schemas.openxmlformats.org/officeDocument/2006/relationships/image" Target="../media/image-35-2.jpg"/><Relationship Id="rId3" Type="http://schemas.openxmlformats.org/officeDocument/2006/relationships/image" Target="../media/image-35-3.jpg"/><Relationship Id="rId4" Type="http://schemas.openxmlformats.org/officeDocument/2006/relationships/image" Target="../media/image-35-4.jpg"/><Relationship Id="rId5" Type="http://schemas.openxmlformats.org/officeDocument/2006/relationships/image" Target="../media/image-35-5.jpg"/><Relationship Id="rId6" Type="http://schemas.openxmlformats.org/officeDocument/2006/relationships/image" Target="../media/image-35-6.jpg"/><Relationship Id="rId7" Type="http://schemas.openxmlformats.org/officeDocument/2006/relationships/image" Target="../media/image-35-7.jp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jpg"/><Relationship Id="rId2" Type="http://schemas.openxmlformats.org/officeDocument/2006/relationships/image" Target="../media/image-37-2.jpg"/><Relationship Id="rId3" Type="http://schemas.openxmlformats.org/officeDocument/2006/relationships/image" Target="../media/image-37-3.jpg"/><Relationship Id="rId4" Type="http://schemas.openxmlformats.org/officeDocument/2006/relationships/image" Target="../media/image-37-4.jpg"/><Relationship Id="rId5" Type="http://schemas.openxmlformats.org/officeDocument/2006/relationships/image" Target="../media/image-37-5.jp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jpg"/><Relationship Id="rId2" Type="http://schemas.openxmlformats.org/officeDocument/2006/relationships/image" Target="../media/image-39-2.jpg"/><Relationship Id="rId3" Type="http://schemas.openxmlformats.org/officeDocument/2006/relationships/image" Target="../media/image-39-3.jpg"/><Relationship Id="rId4" Type="http://schemas.openxmlformats.org/officeDocument/2006/relationships/image" Target="../media/image-39-4.jpg"/><Relationship Id="rId5" Type="http://schemas.openxmlformats.org/officeDocument/2006/relationships/image" Target="../media/image-39-5.jpg"/><Relationship Id="rId6" Type="http://schemas.openxmlformats.org/officeDocument/2006/relationships/image" Target="../media/image-39-6.jp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jpg"/><Relationship Id="rId2" Type="http://schemas.openxmlformats.org/officeDocument/2006/relationships/image" Target="../media/image-41-2.jpg"/><Relationship Id="rId3" Type="http://schemas.openxmlformats.org/officeDocument/2006/relationships/image" Target="../media/image-41-3.jpg"/><Relationship Id="rId4" Type="http://schemas.openxmlformats.org/officeDocument/2006/relationships/image" Target="../media/image-41-4.jpg"/><Relationship Id="rId5" Type="http://schemas.openxmlformats.org/officeDocument/2006/relationships/image" Target="../media/image-41-5.jpg"/><Relationship Id="rId6" Type="http://schemas.openxmlformats.org/officeDocument/2006/relationships/image" Target="../media/image-41-6.jp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AppData\Local\Temp\claude\C--Project-NKK-PROJECT\0415198c-3dcb-489e-9557-3945752cc25a\scratchpad\frames\zapham\x_2.90.jp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0" y="0"/>
            <a:ext cx="3047924" cy="1714457"/>
          </a:xfrm>
          <a:prstGeom prst="rect">
            <a:avLst/>
          </a:prstGeom>
        </p:spPr>
      </p:pic>
      <p:pic>
        <p:nvPicPr>
          <p:cNvPr id="3" name="Image 1" descr="C:\Users\user\AppData\Local\Temp\claude\C--Project-NKK-PROJECT\0415198c-3dcb-489e-9557-3945752cc25a\scratchpad\frames\parkrat\13_BalloonD_5.52.jpg">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3047924" y="0"/>
            <a:ext cx="3047924" cy="1714457"/>
          </a:xfrm>
          <a:prstGeom prst="rect">
            <a:avLst/>
          </a:prstGeom>
        </p:spPr>
      </p:pic>
      <p:pic>
        <p:nvPicPr>
          <p:cNvPr id="4" name="Image 2" descr="C:\Users\user\AppData\Local\Temp\claude\C--Project-NKK-PROJECT\0415198c-3dcb-489e-9557-3945752cc25a\scratchpad\frames\emperor\cap_r1c3.jpg">    </p:cNvPr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6095848" y="0"/>
            <a:ext cx="3047924" cy="1714457"/>
          </a:xfrm>
          <a:prstGeom prst="rect">
            <a:avLst/>
          </a:prstGeom>
        </p:spPr>
      </p:pic>
      <p:pic>
        <p:nvPicPr>
          <p:cNvPr id="5" name="Image 3" descr="C:\Users\user\AppData\Local\Temp\claude\C--Project-NKK-PROJECT\0415198c-3dcb-489e-9557-3945752cc25a\scratchpad\frames\pharaoh\03_Cut4_2.33.jpg">    </p:cNvPr>
          <p:cNvPicPr>
            <a:picLocks noChangeAspect="1"/>
          </p:cNvPicPr>
          <p:nvPr/>
        </p:nvPicPr>
        <p:blipFill>
          <a:blip r:embed="rId4">
            <a:alphaModFix amt="45000"/>
          </a:blip>
          <a:stretch>
            <a:fillRect/>
          </a:stretch>
        </p:blipFill>
        <p:spPr>
          <a:xfrm>
            <a:off x="9143771" y="0"/>
            <a:ext cx="3047924" cy="1714457"/>
          </a:xfrm>
          <a:prstGeom prst="rect">
            <a:avLst/>
          </a:prstGeom>
        </p:spPr>
      </p:pic>
      <p:pic>
        <p:nvPicPr>
          <p:cNvPr id="6" name="Image 4" descr="C:\Users\user\AppData\Local\Temp\claude\C--Project-NKK-PROJECT\0415198c-3dcb-489e-9557-3945752cc25a\scratchpad\frames\knight\05_Rear_3.62.jpg">    </p:cNvPr>
          <p:cNvPicPr>
            <a:picLocks noChangeAspect="1"/>
          </p:cNvPicPr>
          <p:nvPr/>
        </p:nvPicPr>
        <p:blipFill>
          <a:blip r:embed="rId5">
            <a:alphaModFix amt="45000"/>
          </a:blip>
          <a:stretch>
            <a:fillRect/>
          </a:stretch>
        </p:blipFill>
        <p:spPr>
          <a:xfrm>
            <a:off x="0" y="1714457"/>
            <a:ext cx="3047924" cy="1714457"/>
          </a:xfrm>
          <a:prstGeom prst="rect">
            <a:avLst/>
          </a:prstGeom>
        </p:spPr>
      </p:pic>
      <p:pic>
        <p:nvPicPr>
          <p:cNvPr id="7" name="Image 5" descr="C:\Users\user\AppData\Local\Temp\claude\C--Project-NKK-PROJECT\0415198c-3dcb-489e-9557-3945752cc25a\scratchpad\frames\sultan\03_Cut4_3.80.jpg">    </p:cNvPr>
          <p:cNvPicPr>
            <a:picLocks noChangeAspect="1"/>
          </p:cNvPicPr>
          <p:nvPr/>
        </p:nvPicPr>
        <p:blipFill>
          <a:blip r:embed="rId6">
            <a:alphaModFix amt="45000"/>
          </a:blip>
          <a:stretch>
            <a:fillRect/>
          </a:stretch>
        </p:blipFill>
        <p:spPr>
          <a:xfrm>
            <a:off x="3047924" y="1714457"/>
            <a:ext cx="3047924" cy="1714457"/>
          </a:xfrm>
          <a:prstGeom prst="rect">
            <a:avLst/>
          </a:prstGeom>
        </p:spPr>
      </p:pic>
      <p:pic>
        <p:nvPicPr>
          <p:cNvPr id="8" name="Image 6" descr="C:\Users\user\AppData\Local\Temp\claude\C--Project-NKK-PROJECT\0415198c-3dcb-489e-9557-3945752cc25a\scratchpad\frames\alien\03_Cut4_3.20.jpg">    </p:cNvPr>
          <p:cNvPicPr>
            <a:picLocks noChangeAspect="1"/>
          </p:cNvPicPr>
          <p:nvPr/>
        </p:nvPicPr>
        <p:blipFill>
          <a:blip r:embed="rId7">
            <a:alphaModFix amt="45000"/>
          </a:blip>
          <a:stretch>
            <a:fillRect/>
          </a:stretch>
        </p:blipFill>
        <p:spPr>
          <a:xfrm>
            <a:off x="6095848" y="1714457"/>
            <a:ext cx="3047924" cy="1714457"/>
          </a:xfrm>
          <a:prstGeom prst="rect">
            <a:avLst/>
          </a:prstGeom>
        </p:spPr>
      </p:pic>
      <p:pic>
        <p:nvPicPr>
          <p:cNvPr id="9" name="Image 7" descr="C:\Users\user\AppData\Local\Temp\claude\C--Project-NKK-PROJECT\0415198c-3dcb-489e-9557-3945752cc25a\scratchpad\frames\streamrat\cap_c06.jpg">    </p:cNvPr>
          <p:cNvPicPr>
            <a:picLocks noChangeAspect="1"/>
          </p:cNvPicPr>
          <p:nvPr/>
        </p:nvPicPr>
        <p:blipFill>
          <a:blip r:embed="rId8">
            <a:alphaModFix amt="45000"/>
          </a:blip>
          <a:stretch>
            <a:fillRect/>
          </a:stretch>
        </p:blipFill>
        <p:spPr>
          <a:xfrm>
            <a:off x="9143771" y="1714457"/>
            <a:ext cx="3047924" cy="1714457"/>
          </a:xfrm>
          <a:prstGeom prst="rect">
            <a:avLst/>
          </a:prstGeom>
        </p:spPr>
      </p:pic>
      <p:pic>
        <p:nvPicPr>
          <p:cNvPr id="10" name="Image 8" descr="C:\Users\user\AppData\Local\Temp\claude\C--Project-NKK-PROJECT\0415198c-3dcb-489e-9557-3945752cc25a\scratchpad\frames\ramjui\x_3.60.jpg">    </p:cNvPr>
          <p:cNvPicPr>
            <a:picLocks noChangeAspect="1"/>
          </p:cNvPicPr>
          <p:nvPr/>
        </p:nvPicPr>
        <p:blipFill>
          <a:blip r:embed="rId9">
            <a:alphaModFix amt="45000"/>
          </a:blip>
          <a:stretch>
            <a:fillRect/>
          </a:stretch>
        </p:blipFill>
        <p:spPr>
          <a:xfrm>
            <a:off x="0" y="3428914"/>
            <a:ext cx="3047924" cy="1714457"/>
          </a:xfrm>
          <a:prstGeom prst="rect">
            <a:avLst/>
          </a:prstGeom>
        </p:spPr>
      </p:pic>
      <p:pic>
        <p:nvPicPr>
          <p:cNvPr id="11" name="Image 9" descr="C:\Users\user\AppData\Local\Temp\claude\C--Project-NKK-PROJECT\0415198c-3dcb-489e-9557-3945752cc25a\scratchpad\frames\jwerry\03_Pan_2.39.jpg">    </p:cNvPr>
          <p:cNvPicPr>
            <a:picLocks noChangeAspect="1"/>
          </p:cNvPicPr>
          <p:nvPr/>
        </p:nvPicPr>
        <p:blipFill>
          <a:blip r:embed="rId10">
            <a:alphaModFix amt="45000"/>
          </a:blip>
          <a:stretch>
            <a:fillRect/>
          </a:stretch>
        </p:blipFill>
        <p:spPr>
          <a:xfrm>
            <a:off x="3047924" y="3428914"/>
            <a:ext cx="3047924" cy="1714457"/>
          </a:xfrm>
          <a:prstGeom prst="rect">
            <a:avLst/>
          </a:prstGeom>
        </p:spPr>
      </p:pic>
      <p:pic>
        <p:nvPicPr>
          <p:cNvPr id="12" name="Image 10" descr="C:\Users\user\AppData\Local\Temp\claude\C--Project-NKK-PROJECT\0415198c-3dcb-489e-9557-3945752cc25a\scratchpad\frames\starchef\04_Cut5_6.14.jpg">    </p:cNvPr>
          <p:cNvPicPr>
            <a:picLocks noChangeAspect="1"/>
          </p:cNvPicPr>
          <p:nvPr/>
        </p:nvPicPr>
        <p:blipFill>
          <a:blip r:embed="rId11">
            <a:alphaModFix amt="45000"/>
          </a:blip>
          <a:stretch>
            <a:fillRect/>
          </a:stretch>
        </p:blipFill>
        <p:spPr>
          <a:xfrm>
            <a:off x="6095848" y="3428914"/>
            <a:ext cx="3047924" cy="1714457"/>
          </a:xfrm>
          <a:prstGeom prst="rect">
            <a:avLst/>
          </a:prstGeom>
        </p:spPr>
      </p:pic>
      <p:pic>
        <p:nvPicPr>
          <p:cNvPr id="13" name="Image 11" descr="C:\Users\user\AppData\Local\Temp\claude\C--Project-NKK-PROJECT\0415198c-3dcb-489e-9557-3945752cc25a\scratchpad\frames\jjdetective\05_Point_3.15.jpg">    </p:cNvPr>
          <p:cNvPicPr>
            <a:picLocks noChangeAspect="1"/>
          </p:cNvPicPr>
          <p:nvPr/>
        </p:nvPicPr>
        <p:blipFill>
          <a:blip r:embed="rId12">
            <a:alphaModFix amt="45000"/>
          </a:blip>
          <a:stretch>
            <a:fillRect/>
          </a:stretch>
        </p:blipFill>
        <p:spPr>
          <a:xfrm>
            <a:off x="9143771" y="3428914"/>
            <a:ext cx="3047924" cy="1714457"/>
          </a:xfrm>
          <a:prstGeom prst="rect">
            <a:avLst/>
          </a:prstGeom>
        </p:spPr>
      </p:pic>
      <p:pic>
        <p:nvPicPr>
          <p:cNvPr id="14" name="Image 12" descr="C:\Users\user\AppData\Local\Temp\claude\C--Project-NKK-PROJECT\0415198c-3dcb-489e-9557-3945752cc25a\scratchpad\frames\fondue\05_Boom_4.72.jpg">    </p:cNvPr>
          <p:cNvPicPr>
            <a:picLocks noChangeAspect="1"/>
          </p:cNvPicPr>
          <p:nvPr/>
        </p:nvPicPr>
        <p:blipFill>
          <a:blip r:embed="rId13">
            <a:alphaModFix amt="45000"/>
          </a:blip>
          <a:stretch>
            <a:fillRect/>
          </a:stretch>
        </p:blipFill>
        <p:spPr>
          <a:xfrm>
            <a:off x="0" y="5143371"/>
            <a:ext cx="3047924" cy="1714457"/>
          </a:xfrm>
          <a:prstGeom prst="rect">
            <a:avLst/>
          </a:prstGeom>
        </p:spPr>
      </p:pic>
      <p:pic>
        <p:nvPicPr>
          <p:cNvPr id="15" name="Image 13" descr="C:\Users\user\AppData\Local\Temp\claude\C--Project-NKK-PROJECT\0415198c-3dcb-489e-9557-3945752cc25a\scratchpad\frames\bomber\04_Cut5_2.87.jpg">    </p:cNvPr>
          <p:cNvPicPr>
            <a:picLocks noChangeAspect="1"/>
          </p:cNvPicPr>
          <p:nvPr/>
        </p:nvPicPr>
        <p:blipFill>
          <a:blip r:embed="rId14">
            <a:alphaModFix amt="45000"/>
          </a:blip>
          <a:stretch>
            <a:fillRect/>
          </a:stretch>
        </p:blipFill>
        <p:spPr>
          <a:xfrm>
            <a:off x="3047924" y="5143371"/>
            <a:ext cx="3047924" cy="1714457"/>
          </a:xfrm>
          <a:prstGeom prst="rect">
            <a:avLst/>
          </a:prstGeom>
        </p:spPr>
      </p:pic>
      <p:pic>
        <p:nvPicPr>
          <p:cNvPr id="16" name="Image 14" descr="C:\Users\user\AppData\Local\Temp\claude\C--Project-NKK-PROJECT\0415198c-3dcb-489e-9557-3945752cc25a\scratchpad\frames\icequeen\03_Cut4_2.26.jpg">    </p:cNvPr>
          <p:cNvPicPr>
            <a:picLocks noChangeAspect="1"/>
          </p:cNvPicPr>
          <p:nvPr/>
        </p:nvPicPr>
        <p:blipFill>
          <a:blip r:embed="rId15">
            <a:alphaModFix amt="45000"/>
          </a:blip>
          <a:stretch>
            <a:fillRect/>
          </a:stretch>
        </p:blipFill>
        <p:spPr>
          <a:xfrm>
            <a:off x="6095848" y="5143371"/>
            <a:ext cx="3047924" cy="1714457"/>
          </a:xfrm>
          <a:prstGeom prst="rect">
            <a:avLst/>
          </a:prstGeom>
        </p:spPr>
      </p:pic>
      <p:pic>
        <p:nvPicPr>
          <p:cNvPr id="17" name="Image 15" descr="C:\Users\user\AppData\Local\Temp\claude\C--Project-NKK-PROJECT\0415198c-3dcb-489e-9557-3945752cc25a\scratchpad\frames\maid\04_Cut5_2.85.jpg">    </p:cNvPr>
          <p:cNvPicPr>
            <a:picLocks noChangeAspect="1"/>
          </p:cNvPicPr>
          <p:nvPr/>
        </p:nvPicPr>
        <p:blipFill>
          <a:blip r:embed="rId16">
            <a:alphaModFix amt="45000"/>
          </a:blip>
          <a:stretch>
            <a:fillRect/>
          </a:stretch>
        </p:blipFill>
        <p:spPr>
          <a:xfrm>
            <a:off x="9143771" y="5143371"/>
            <a:ext cx="3047924" cy="1714457"/>
          </a:xfrm>
          <a:prstGeom prst="rect">
            <a:avLst/>
          </a:prstGeom>
        </p:spPr>
      </p:pic>
      <p:sp>
        <p:nvSpPr>
          <p:cNvPr id="18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41F">
              <a:alpha val="75000"/>
            </a:srgbClr>
          </a:solidFill>
          <a:ln/>
        </p:spPr>
      </p:sp>
      <p:sp>
        <p:nvSpPr>
          <p:cNvPr id="19" name="Shape 1"/>
          <p:cNvSpPr/>
          <p:nvPr/>
        </p:nvSpPr>
        <p:spPr>
          <a:xfrm>
            <a:off x="0" y="2011680"/>
            <a:ext cx="9418320" cy="3017520"/>
          </a:xfrm>
          <a:prstGeom prst="rect">
            <a:avLst/>
          </a:prstGeom>
          <a:solidFill>
            <a:srgbClr val="17141F">
              <a:alpha val="92000"/>
            </a:srgbClr>
          </a:solidFill>
          <a:ln/>
        </p:spPr>
      </p:sp>
      <p:sp>
        <p:nvSpPr>
          <p:cNvPr id="20" name="Text 2"/>
          <p:cNvSpPr txBox="1"/>
          <p:nvPr/>
        </p:nvSpPr>
        <p:spPr>
          <a:xfrm>
            <a:off x="457200" y="2240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600" b="1" dirty="0">
                <a:solidFill>
                  <a:schemeClr val="accent1"/>
                </a:solidFill>
              </a:rPr>
              <a:t>PROJECT NKK · 초필살기 기획</a:t>
            </a:r>
            <a:endParaRPr lang="ko-KR" sz="1600" dirty="0"/>
          </a:p>
        </p:txBody>
      </p:sp>
      <p:sp>
        <p:nvSpPr>
          <p:cNvPr id="21" name="Text 0"/>
          <p:cNvSpPr/>
          <p:nvPr>
            <p:ph idx="100" type="title" hasCustomPrompt="1"/>
          </p:nvPr>
        </p:nvSpPr>
        <p:spPr>
          <a:xfrm>
            <a:off x="457200" y="274320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l" indent="0" marL="0">
              <a:buNone/>
            </a:pPr>
            <a:r>
              <a:rPr lang="ko-KR" sz="4000" b="1" dirty="0">
                <a:solidFill>
                  <a:schemeClr val="bg2"/>
                </a:solidFill>
              </a:rPr>
              <a:t>신화 쥐 초필살기</a:t>
            </a:r>
            <a:endParaRPr lang="ko-KR" sz="4000" dirty="0"/>
          </a:p>
          <a:p>
            <a:pPr eaLnBrk="0" algn="l" indent="0" marL="0">
              <a:buNone/>
            </a:pPr>
            <a:r>
              <a:rPr lang="ko-KR" sz="4000" b="1" dirty="0">
                <a:solidFill>
                  <a:schemeClr val="bg2"/>
                </a:solidFill>
              </a:rPr>
              <a:t>연출 스토리보드</a:t>
            </a:r>
            <a:endParaRPr lang="ko-KR" sz="4000" dirty="0"/>
          </a:p>
        </p:txBody>
      </p:sp>
      <p:sp>
        <p:nvSpPr>
          <p:cNvPr id="22" name="Text 4"/>
          <p:cNvSpPr txBox="1"/>
          <p:nvPr/>
        </p:nvSpPr>
        <p:spPr>
          <a:xfrm>
            <a:off x="457200" y="40690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600" dirty="0">
                <a:solidFill>
                  <a:schemeClr val="bg2"/>
                </a:solidFill>
              </a:rPr>
              <a:t>현재 구현된 신화 16종의 컷 구성 · 타이밍 · 카메라 · 게임 화면 연출 정리</a:t>
            </a:r>
            <a:endParaRPr lang="ko-KR" sz="1600" dirty="0"/>
          </a:p>
        </p:txBody>
      </p:sp>
      <p:sp>
        <p:nvSpPr>
          <p:cNvPr id="23" name="Text 5"/>
          <p:cNvSpPr txBox="1"/>
          <p:nvPr/>
        </p:nvSpPr>
        <p:spPr>
          <a:xfrm>
            <a:off x="457200" y="448056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dirty="0">
                <a:solidFill>
                  <a:schemeClr val="accent5"/>
                </a:solidFill>
              </a:rPr>
              <a:t>2026-10-23 · main-game 기준 · 기준 자료: superult_story.py / RatTable.json</a:t>
            </a:r>
            <a:endParaRPr lang="ko-KR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sz="2800" b="1" dirty="0">
                <a:solidFill>
                  <a:schemeClr val="bg2"/>
                </a:solidFill>
              </a:rPr>
              <a:t>이 문서를 읽는 법</a:t>
            </a:r>
            <a:endParaRPr lang="ko-KR" sz="2800" dirty="0"/>
          </a:p>
        </p:txBody>
      </p:sp>
      <p:sp>
        <p:nvSpPr>
          <p:cNvPr id="3" name="guide0"/>
          <p:cNvSpPr/>
          <p:nvPr/>
        </p:nvSpPr>
        <p:spPr>
          <a:xfrm>
            <a:off x="457200" y="1234440"/>
            <a:ext cx="5458968" cy="2240280"/>
          </a:xfrm>
          <a:prstGeom prst="roundRect">
            <a:avLst>
              <a:gd name="adj" fmla="val 3265"/>
            </a:avLst>
          </a:prstGeom>
          <a:solidFill>
            <a:schemeClr val="tx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5087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1</a:t>
            </a:r>
            <a:endParaRPr lang="ko-KR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508760"/>
            <a:ext cx="4361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sz="1800" b="1" dirty="0">
                <a:solidFill>
                  <a:schemeClr val="accent1"/>
                </a:solidFill>
              </a:rPr>
              <a:t>목적</a:t>
            </a:r>
            <a:endParaRPr lang="ko-KR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03120"/>
            <a:ext cx="49103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5000"/>
              </a:lnSpc>
              <a:buNone/>
            </a:pPr>
            <a:r>
              <a:rPr lang="ko-KR" sz="1400" dirty="0">
                <a:solidFill>
                  <a:schemeClr val="bg2"/>
                </a:solidFill>
              </a:rPr>
              <a:t>신규 제안이 아니라 지금 게임에 들어간 연출을 그대로 기록한 스토리보드입니다. 기획 · 아트 · 개발이 같은 순서로 검토하고, 바꿀 곳을 짚기 위한 기준 문서입니다.</a:t>
            </a:r>
            <a:endParaRPr lang="ko-KR" sz="1400" dirty="0"/>
          </a:p>
        </p:txBody>
      </p:sp>
      <p:sp>
        <p:nvSpPr>
          <p:cNvPr id="8" name="guide1"/>
          <p:cNvSpPr/>
          <p:nvPr/>
        </p:nvSpPr>
        <p:spPr>
          <a:xfrm>
            <a:off x="6190488" y="1234440"/>
            <a:ext cx="5458968" cy="2240280"/>
          </a:xfrm>
          <a:prstGeom prst="roundRect">
            <a:avLst>
              <a:gd name="adj" fmla="val 3265"/>
            </a:avLst>
          </a:prstGeom>
          <a:solidFill>
            <a:schemeClr val="tx2"/>
          </a:solidFill>
          <a:ln/>
        </p:spPr>
      </p:sp>
      <p:sp>
        <p:nvSpPr>
          <p:cNvPr id="9" name="Shape 7"/>
          <p:cNvSpPr/>
          <p:nvPr/>
        </p:nvSpPr>
        <p:spPr>
          <a:xfrm>
            <a:off x="6464808" y="15087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64808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2</a:t>
            </a:r>
            <a:endParaRPr lang="ko-KR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013448" y="1508760"/>
            <a:ext cx="4361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sz="1800" b="1" dirty="0">
                <a:solidFill>
                  <a:schemeClr val="accent1"/>
                </a:solidFill>
              </a:rPr>
              <a:t>시간 표기</a:t>
            </a:r>
            <a:endParaRPr lang="ko-KR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64808" y="2103120"/>
            <a:ext cx="49103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5000"/>
              </a:lnSpc>
              <a:buNone/>
            </a:pPr>
            <a:r>
              <a:rPr lang="ko-KR" sz="1400" dirty="0">
                <a:solidFill>
                  <a:schemeClr val="bg2"/>
                </a:solidFill>
              </a:rPr>
              <a:t>모든 시각은 발동 순간을 0초로 둔 컷신 내부 시간입니다. 0.75배속 쥐는 실제로 ×1.33 길게 보입니다 (실제 ≈ 내부 ÷ 재생 속도). 게임 화면 단계는 제 속도입니다.</a:t>
            </a:r>
            <a:endParaRPr lang="ko-KR" sz="1400" dirty="0"/>
          </a:p>
        </p:txBody>
      </p:sp>
      <p:sp>
        <p:nvSpPr>
          <p:cNvPr id="13" name="guide2"/>
          <p:cNvSpPr/>
          <p:nvPr/>
        </p:nvSpPr>
        <p:spPr>
          <a:xfrm>
            <a:off x="457200" y="3749040"/>
            <a:ext cx="5458968" cy="2240280"/>
          </a:xfrm>
          <a:prstGeom prst="roundRect">
            <a:avLst>
              <a:gd name="adj" fmla="val 3265"/>
            </a:avLst>
          </a:prstGeom>
          <a:solidFill>
            <a:schemeClr val="tx2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40233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3</a:t>
            </a:r>
            <a:endParaRPr lang="ko-KR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4023360"/>
            <a:ext cx="4361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sz="1800" b="1" dirty="0">
                <a:solidFill>
                  <a:schemeClr val="accent1"/>
                </a:solidFill>
              </a:rPr>
              <a:t>패널 그림</a:t>
            </a:r>
            <a:endParaRPr lang="ko-KR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4617720"/>
            <a:ext cx="49103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5000"/>
              </a:lnSpc>
              <a:buNone/>
            </a:pPr>
            <a:r>
              <a:rPr lang="ko-KR" sz="1400" dirty="0">
                <a:solidFill>
                  <a:schemeClr val="bg2"/>
                </a:solidFill>
              </a:rPr>
              <a:t>대부분 superult_story 연출을 Unity 없이 그리는 미리보기 도구(superult_preview.py)로 컷마다 새로 렌더했습니다. 글 · 띠 · 흔들림은 빠져 있습니다. 황제 일부와 스트리머는 기존 유니티 캡처입니다.</a:t>
            </a:r>
            <a:endParaRPr lang="ko-KR" sz="1400" dirty="0"/>
          </a:p>
        </p:txBody>
      </p:sp>
      <p:sp>
        <p:nvSpPr>
          <p:cNvPr id="18" name="guide3"/>
          <p:cNvSpPr/>
          <p:nvPr/>
        </p:nvSpPr>
        <p:spPr>
          <a:xfrm>
            <a:off x="6190488" y="3749040"/>
            <a:ext cx="5458968" cy="2240280"/>
          </a:xfrm>
          <a:prstGeom prst="roundRect">
            <a:avLst>
              <a:gd name="adj" fmla="val 3265"/>
            </a:avLst>
          </a:prstGeom>
          <a:solidFill>
            <a:schemeClr val="tx2"/>
          </a:solidFill>
          <a:ln/>
        </p:spPr>
      </p:sp>
      <p:sp>
        <p:nvSpPr>
          <p:cNvPr id="19" name="Shape 17"/>
          <p:cNvSpPr/>
          <p:nvPr/>
        </p:nvSpPr>
        <p:spPr>
          <a:xfrm>
            <a:off x="6464808" y="40233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64808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4</a:t>
            </a:r>
            <a:endParaRPr lang="ko-KR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013448" y="4023360"/>
            <a:ext cx="4361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sz="1800" b="1" dirty="0">
                <a:solidFill>
                  <a:schemeClr val="accent1"/>
                </a:solidFill>
              </a:rPr>
              <a:t>패널 읽기</a:t>
            </a:r>
            <a:endParaRPr lang="ko-KR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464808" y="4617720"/>
            <a:ext cx="49103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5000"/>
              </a:lnSpc>
              <a:buNone/>
            </a:pPr>
            <a:r>
              <a:rPr lang="ko-KR" sz="1400" dirty="0">
                <a:solidFill>
                  <a:schemeClr val="bg2"/>
                </a:solidFill>
              </a:rPr>
              <a:t>노란 원 = 컷 번호 (3-1, 3-2 = 한 컷 안 두 장면), 시간 = 그 컷의 시작–끝. 첫 줄 = 화면과 동작, 회색 줄 = 카메라 · 전환 · 효과.</a:t>
            </a:r>
            <a:endParaRPr lang="ko-KR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7A1B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/>
              <a:t>2</a:t>
            </a:fld>
            <a:endParaRPr lang="ko-K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sz="2800" b="1" dirty="0">
                <a:solidFill>
                  <a:schemeClr val="bg2"/>
                </a:solidFill>
              </a:rPr>
              <a:t>발동 규칙과 피해 수치 (Super_Config)</a:t>
            </a:r>
            <a:endParaRPr lang="ko-KR" sz="2800" dirty="0"/>
          </a:p>
        </p:txBody>
      </p:sp>
      <p:sp>
        <p:nvSpPr>
          <p:cNvPr id="3" name="stat0"/>
          <p:cNvSpPr/>
          <p:nvPr/>
        </p:nvSpPr>
        <p:spPr>
          <a:xfrm>
            <a:off x="457200" y="1234440"/>
            <a:ext cx="3566160" cy="2240280"/>
          </a:xfrm>
          <a:prstGeom prst="roundRect">
            <a:avLst>
              <a:gd name="adj" fmla="val 3265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sz="4000" b="1" dirty="0">
                <a:solidFill>
                  <a:schemeClr val="accent1"/>
                </a:solidFill>
              </a:rPr>
              <a:t>Lv 10</a:t>
            </a:r>
            <a:endParaRPr lang="ko-KR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77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600" b="1" dirty="0">
                <a:solidFill>
                  <a:schemeClr val="bg2"/>
                </a:solidFill>
              </a:rPr>
              <a:t>해금</a:t>
            </a:r>
            <a:endParaRPr lang="ko-KR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889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dirty="0">
                <a:solidFill>
                  <a:schemeClr val="accent5"/>
                </a:solidFill>
              </a:rPr>
              <a:t>쳇바퀴 훈련 레벨 10 이상인 신화만</a:t>
            </a:r>
            <a:endParaRPr lang="ko-KR" sz="1200" dirty="0"/>
          </a:p>
        </p:txBody>
      </p:sp>
      <p:sp>
        <p:nvSpPr>
          <p:cNvPr id="7" name="stat1"/>
          <p:cNvSpPr/>
          <p:nvPr/>
        </p:nvSpPr>
        <p:spPr>
          <a:xfrm>
            <a:off x="4279392" y="1234440"/>
            <a:ext cx="3566160" cy="2240280"/>
          </a:xfrm>
          <a:prstGeom prst="roundRect">
            <a:avLst>
              <a:gd name="adj" fmla="val 3265"/>
            </a:avLst>
          </a:prstGeom>
          <a:solidFill>
            <a:schemeClr val="tx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53712" y="15087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sz="4000" b="1" dirty="0">
                <a:solidFill>
                  <a:schemeClr val="accent1"/>
                </a:solidFill>
              </a:rPr>
              <a:t>5 스택</a:t>
            </a:r>
            <a:endParaRPr lang="ko-KR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553712" y="2377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600" b="1" dirty="0">
                <a:solidFill>
                  <a:schemeClr val="bg2"/>
                </a:solidFill>
              </a:rPr>
              <a:t>버튼 등장</a:t>
            </a:r>
            <a:endParaRPr lang="ko-KR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53712" y="27889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dirty="0">
                <a:solidFill>
                  <a:schemeClr val="accent5"/>
                </a:solidFill>
              </a:rPr>
              <a:t>자기 필살기를 끝까지 쓸 때마다 +1 (종별 · 판 동안 유지)</a:t>
            </a:r>
            <a:endParaRPr lang="ko-KR" sz="1200" dirty="0"/>
          </a:p>
        </p:txBody>
      </p:sp>
      <p:sp>
        <p:nvSpPr>
          <p:cNvPr id="11" name="stat2"/>
          <p:cNvSpPr/>
          <p:nvPr/>
        </p:nvSpPr>
        <p:spPr>
          <a:xfrm>
            <a:off x="8101584" y="1234440"/>
            <a:ext cx="3566160" cy="2240280"/>
          </a:xfrm>
          <a:prstGeom prst="roundRect">
            <a:avLst>
              <a:gd name="adj" fmla="val 3265"/>
            </a:avLst>
          </a:prstGeom>
          <a:solidFill>
            <a:schemeClr val="tx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375904" y="15087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sz="4000" b="1" dirty="0">
                <a:solidFill>
                  <a:schemeClr val="accent1"/>
                </a:solidFill>
              </a:rPr>
              <a:t>판당 1회</a:t>
            </a:r>
            <a:endParaRPr lang="ko-KR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8375904" y="2377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600" b="1" dirty="0">
                <a:solidFill>
                  <a:schemeClr val="bg2"/>
                </a:solidFill>
              </a:rPr>
              <a:t>사용 제한</a:t>
            </a:r>
            <a:endParaRPr lang="ko-KR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375904" y="27889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dirty="0">
                <a:solidFill>
                  <a:schemeClr val="accent5"/>
                </a:solidFill>
              </a:rPr>
              <a:t>쥐 종류마다 한 판에 한 번 · 수동 버튼만 (자동 사용 X)</a:t>
            </a:r>
            <a:endParaRPr lang="ko-KR" sz="1200" dirty="0"/>
          </a:p>
        </p:txBody>
      </p:sp>
      <p:sp>
        <p:nvSpPr>
          <p:cNvPr id="15" name="stat3"/>
          <p:cNvSpPr/>
          <p:nvPr/>
        </p:nvSpPr>
        <p:spPr>
          <a:xfrm>
            <a:off x="457200" y="3749040"/>
            <a:ext cx="3566160" cy="2240280"/>
          </a:xfrm>
          <a:prstGeom prst="roundRect">
            <a:avLst>
              <a:gd name="adj" fmla="val 3265"/>
            </a:avLst>
          </a:prstGeom>
          <a:solidFill>
            <a:schemeClr val="tx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40233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sz="4000" b="1" dirty="0">
                <a:solidFill>
                  <a:schemeClr val="accent1"/>
                </a:solidFill>
              </a:rPr>
              <a:t>×4 × 10타</a:t>
            </a:r>
            <a:endParaRPr lang="ko-KR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4892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600" b="1" dirty="0">
                <a:solidFill>
                  <a:schemeClr val="bg2"/>
                </a:solidFill>
              </a:rPr>
              <a:t>다단 피해</a:t>
            </a:r>
            <a:endParaRPr lang="ko-KR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53035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dirty="0">
                <a:solidFill>
                  <a:schemeClr val="accent5"/>
                </a:solidFill>
              </a:rPr>
              <a:t>화면 범위 안 고양이 · 보스 · 사람 · 물건 (벽 제외)</a:t>
            </a:r>
            <a:endParaRPr lang="ko-KR" sz="1200" dirty="0"/>
          </a:p>
        </p:txBody>
      </p:sp>
      <p:sp>
        <p:nvSpPr>
          <p:cNvPr id="19" name="stat4"/>
          <p:cNvSpPr/>
          <p:nvPr/>
        </p:nvSpPr>
        <p:spPr>
          <a:xfrm>
            <a:off x="4279392" y="3749040"/>
            <a:ext cx="3566160" cy="2240280"/>
          </a:xfrm>
          <a:prstGeom prst="roundRect">
            <a:avLst>
              <a:gd name="adj" fmla="val 3265"/>
            </a:avLst>
          </a:prstGeom>
          <a:solidFill>
            <a:schemeClr val="tx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53712" y="40233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sz="4000" b="1" dirty="0">
                <a:solidFill>
                  <a:schemeClr val="accent1"/>
                </a:solidFill>
              </a:rPr>
              <a:t>×20</a:t>
            </a:r>
            <a:endParaRPr lang="ko-KR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4553712" y="4892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600" b="1" dirty="0">
                <a:solidFill>
                  <a:schemeClr val="bg2"/>
                </a:solidFill>
              </a:rPr>
              <a:t>마지막 일격</a:t>
            </a:r>
            <a:endParaRPr lang="ko-KR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553712" y="53035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dirty="0">
                <a:solidFill>
                  <a:schemeClr val="accent5"/>
                </a:solidFill>
              </a:rPr>
              <a:t>다단 뒤 한 번 · 흰 플래시 0.45</a:t>
            </a:r>
            <a:endParaRPr lang="ko-KR" sz="1200" dirty="0"/>
          </a:p>
        </p:txBody>
      </p:sp>
      <p:sp>
        <p:nvSpPr>
          <p:cNvPr id="23" name="stat5"/>
          <p:cNvSpPr/>
          <p:nvPr/>
        </p:nvSpPr>
        <p:spPr>
          <a:xfrm>
            <a:off x="8101584" y="3749040"/>
            <a:ext cx="3566160" cy="2240280"/>
          </a:xfrm>
          <a:prstGeom prst="roundRect">
            <a:avLst>
              <a:gd name="adj" fmla="val 3265"/>
            </a:avLst>
          </a:prstGeom>
          <a:solidFill>
            <a:schemeClr val="tx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375904" y="40233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sz="4000" b="1" dirty="0">
                <a:solidFill>
                  <a:schemeClr val="accent1"/>
                </a:solidFill>
              </a:rPr>
              <a:t>35%</a:t>
            </a:r>
            <a:endParaRPr lang="ko-KR" sz="4000" dirty="0"/>
          </a:p>
        </p:txBody>
      </p:sp>
      <p:sp>
        <p:nvSpPr>
          <p:cNvPr id="25" name="Text 23"/>
          <p:cNvSpPr txBox="1"/>
          <p:nvPr/>
        </p:nvSpPr>
        <p:spPr>
          <a:xfrm>
            <a:off x="8375904" y="4892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600" b="1" dirty="0">
                <a:solidFill>
                  <a:schemeClr val="bg2"/>
                </a:solidFill>
              </a:rPr>
              <a:t>보스 상한</a:t>
            </a:r>
            <a:endParaRPr lang="ko-KR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375904" y="53035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dirty="0">
                <a:solidFill>
                  <a:schemeClr val="accent5"/>
                </a:solidFill>
              </a:rPr>
              <a:t>초필살기 한 번으로 보스 최대 체력의 35%까지만</a:t>
            </a:r>
            <a:endParaRPr lang="ko-KR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7A1B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/>
              <a:t>3</a:t>
            </a:fld>
            <a:endParaRPr lang="ko-K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sz="2800" b="1" dirty="0">
                <a:solidFill>
                  <a:schemeClr val="bg2"/>
                </a:solidFill>
              </a:rPr>
              <a:t>모든 초필살기의 공통 흐름</a:t>
            </a:r>
            <a:endParaRPr lang="ko-KR" sz="2800" dirty="0"/>
          </a:p>
        </p:txBody>
      </p:sp>
      <p:sp>
        <p:nvSpPr>
          <p:cNvPr id="3" name="step0"/>
          <p:cNvSpPr/>
          <p:nvPr/>
        </p:nvSpPr>
        <p:spPr>
          <a:xfrm>
            <a:off x="457200" y="1463040"/>
            <a:ext cx="2057400" cy="3291840"/>
          </a:xfrm>
          <a:prstGeom prst="roundRect">
            <a:avLst>
              <a:gd name="adj" fmla="val 3556"/>
            </a:avLst>
          </a:prstGeom>
          <a:solidFill>
            <a:schemeClr val="tx2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16916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1</a:t>
            </a:r>
            <a:endParaRPr lang="ko-KR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945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800" b="1" dirty="0">
                <a:solidFill>
                  <a:schemeClr val="accent1"/>
                </a:solidFill>
              </a:rPr>
              <a:t>진입</a:t>
            </a:r>
            <a:endParaRPr lang="ko-KR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060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accent3"/>
                </a:solidFill>
              </a:rPr>
              <a:t>0 – 0.4초</a:t>
            </a:r>
            <a:endParaRPr lang="ko-KR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017520"/>
            <a:ext cx="1600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300" dirty="0">
                <a:solidFill>
                  <a:schemeClr val="bg2"/>
                </a:solidFill>
              </a:rPr>
              <a:t>전장이 어두워지고 컷신 레이어 등장</a:t>
            </a:r>
            <a:endParaRPr lang="ko-KR" sz="1300" dirty="0"/>
          </a:p>
        </p:txBody>
      </p:sp>
      <p:sp>
        <p:nvSpPr>
          <p:cNvPr id="9" name="Shape 7"/>
          <p:cNvSpPr/>
          <p:nvPr/>
        </p:nvSpPr>
        <p:spPr>
          <a:xfrm rot="5400000">
            <a:off x="2569464" y="2971800"/>
            <a:ext cx="137160" cy="274320"/>
          </a:xfrm>
          <a:prstGeom prst="rtTriangle">
            <a:avLst/>
          </a:prstGeom>
          <a:solidFill>
            <a:schemeClr val="accent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49377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accent5"/>
                </a:solidFill>
              </a:rPr>
              <a:t>쥐마다 다른 것</a:t>
            </a:r>
            <a:endParaRPr lang="ko-KR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521208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300" b="1" dirty="0">
                <a:solidFill>
                  <a:schemeClr val="bg2"/>
                </a:solidFill>
              </a:rPr>
              <a:t>어둠 색 · 진입음</a:t>
            </a:r>
            <a:endParaRPr lang="ko-KR" sz="1300" dirty="0"/>
          </a:p>
        </p:txBody>
      </p:sp>
      <p:sp>
        <p:nvSpPr>
          <p:cNvPr id="12" name="step1"/>
          <p:cNvSpPr/>
          <p:nvPr/>
        </p:nvSpPr>
        <p:spPr>
          <a:xfrm>
            <a:off x="2761488" y="1463040"/>
            <a:ext cx="2057400" cy="3291840"/>
          </a:xfrm>
          <a:prstGeom prst="roundRect">
            <a:avLst>
              <a:gd name="adj" fmla="val 3556"/>
            </a:avLst>
          </a:prstGeom>
          <a:solidFill>
            <a:schemeClr val="accent6"/>
          </a:solidFill>
          <a:ln/>
        </p:spPr>
      </p:sp>
      <p:sp>
        <p:nvSpPr>
          <p:cNvPr id="13" name="Shape 11"/>
          <p:cNvSpPr/>
          <p:nvPr/>
        </p:nvSpPr>
        <p:spPr>
          <a:xfrm>
            <a:off x="2990088" y="16916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990088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2</a:t>
            </a:r>
            <a:endParaRPr lang="ko-KR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990088" y="21945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800" b="1" dirty="0">
                <a:solidFill>
                  <a:schemeClr val="accent1"/>
                </a:solidFill>
              </a:rPr>
              <a:t>쥐별 컷신</a:t>
            </a:r>
            <a:endParaRPr lang="ko-KR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2990088" y="26060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accent3"/>
                </a:solidFill>
              </a:rPr>
              <a:t>0.4초 – 컷신 끝</a:t>
            </a:r>
            <a:endParaRPr lang="ko-KR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990088" y="3017520"/>
            <a:ext cx="1600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300" dirty="0">
                <a:solidFill>
                  <a:schemeClr val="bg2"/>
                </a:solidFill>
              </a:rPr>
              <a:t>쥐마다 직접 짠 컷 4~11개 (화면 전체 덮음)</a:t>
            </a:r>
            <a:endParaRPr lang="ko-KR" sz="1300" dirty="0"/>
          </a:p>
        </p:txBody>
      </p:sp>
      <p:sp>
        <p:nvSpPr>
          <p:cNvPr id="18" name="Shape 16"/>
          <p:cNvSpPr/>
          <p:nvPr/>
        </p:nvSpPr>
        <p:spPr>
          <a:xfrm rot="5400000">
            <a:off x="4873752" y="2971800"/>
            <a:ext cx="137160" cy="274320"/>
          </a:xfrm>
          <a:prstGeom prst="rtTriangle">
            <a:avLst/>
          </a:prstGeom>
          <a:solidFill>
            <a:schemeClr val="accent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761488" y="49377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accent5"/>
                </a:solidFill>
              </a:rPr>
              <a:t>쥐마다 다른 것</a:t>
            </a:r>
            <a:endParaRPr lang="ko-KR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2761488" y="521208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300" b="1" dirty="0">
                <a:solidFill>
                  <a:schemeClr val="bg2"/>
                </a:solidFill>
              </a:rPr>
              <a:t>배경 · 카메라 · 액션 · 밈 전부</a:t>
            </a:r>
            <a:endParaRPr lang="ko-KR" sz="1300" dirty="0"/>
          </a:p>
        </p:txBody>
      </p:sp>
      <p:sp>
        <p:nvSpPr>
          <p:cNvPr id="21" name="step2"/>
          <p:cNvSpPr/>
          <p:nvPr/>
        </p:nvSpPr>
        <p:spPr>
          <a:xfrm>
            <a:off x="5065776" y="1463040"/>
            <a:ext cx="2057400" cy="3291840"/>
          </a:xfrm>
          <a:prstGeom prst="roundRect">
            <a:avLst>
              <a:gd name="adj" fmla="val 3556"/>
            </a:avLst>
          </a:prstGeom>
          <a:solidFill>
            <a:schemeClr val="tx2"/>
          </a:solidFill>
          <a:ln/>
        </p:spPr>
      </p:sp>
      <p:sp>
        <p:nvSpPr>
          <p:cNvPr id="22" name="Shape 20"/>
          <p:cNvSpPr/>
          <p:nvPr/>
        </p:nvSpPr>
        <p:spPr>
          <a:xfrm>
            <a:off x="5294376" y="16916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294376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3</a:t>
            </a:r>
            <a:endParaRPr lang="ko-KR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294376" y="21945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800" b="1" dirty="0">
                <a:solidFill>
                  <a:schemeClr val="accent1"/>
                </a:solidFill>
              </a:rPr>
              <a:t>컷신 걷힘</a:t>
            </a:r>
            <a:endParaRPr lang="ko-KR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5294376" y="26060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accent3"/>
                </a:solidFill>
              </a:rPr>
              <a:t>0.15 – 0.4초</a:t>
            </a:r>
            <a:endParaRPr lang="ko-KR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294376" y="3017520"/>
            <a:ext cx="1600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300" dirty="0">
                <a:solidFill>
                  <a:schemeClr val="bg2"/>
                </a:solidFill>
              </a:rPr>
              <a:t>컷신 레이어가 페이드아웃, 원래 게임 화면이 드러남</a:t>
            </a:r>
            <a:endParaRPr lang="ko-KR" sz="1300" dirty="0"/>
          </a:p>
        </p:txBody>
      </p:sp>
      <p:sp>
        <p:nvSpPr>
          <p:cNvPr id="27" name="Shape 25"/>
          <p:cNvSpPr/>
          <p:nvPr/>
        </p:nvSpPr>
        <p:spPr>
          <a:xfrm rot="5400000">
            <a:off x="7178040" y="2971800"/>
            <a:ext cx="137160" cy="274320"/>
          </a:xfrm>
          <a:prstGeom prst="rtTriangle">
            <a:avLst/>
          </a:prstGeom>
          <a:solidFill>
            <a:schemeClr val="accent5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065776" y="49377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accent5"/>
                </a:solidFill>
              </a:rPr>
              <a:t>쥐마다 다른 것</a:t>
            </a:r>
            <a:endParaRPr lang="ko-KR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065776" y="521208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300" b="1" dirty="0">
                <a:solidFill>
                  <a:schemeClr val="bg2"/>
                </a:solidFill>
              </a:rPr>
              <a:t>걷히는 길이</a:t>
            </a:r>
            <a:endParaRPr lang="ko-KR" sz="1300" dirty="0"/>
          </a:p>
        </p:txBody>
      </p:sp>
      <p:sp>
        <p:nvSpPr>
          <p:cNvPr id="30" name="step3"/>
          <p:cNvSpPr/>
          <p:nvPr/>
        </p:nvSpPr>
        <p:spPr>
          <a:xfrm>
            <a:off x="7370064" y="1463040"/>
            <a:ext cx="2057400" cy="3291840"/>
          </a:xfrm>
          <a:prstGeom prst="roundRect">
            <a:avLst>
              <a:gd name="adj" fmla="val 3556"/>
            </a:avLst>
          </a:prstGeom>
          <a:solidFill>
            <a:schemeClr val="accent6"/>
          </a:solidFill>
          <a:ln/>
        </p:spPr>
      </p:sp>
      <p:sp>
        <p:nvSpPr>
          <p:cNvPr id="31" name="Shape 29"/>
          <p:cNvSpPr/>
          <p:nvPr/>
        </p:nvSpPr>
        <p:spPr>
          <a:xfrm>
            <a:off x="7598664" y="16916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598664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4</a:t>
            </a:r>
            <a:endParaRPr lang="ko-KR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7598664" y="21945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800" b="1" dirty="0">
                <a:solidFill>
                  <a:schemeClr val="accent1"/>
                </a:solidFill>
              </a:rPr>
              <a:t>게임 화면 단계</a:t>
            </a:r>
            <a:endParaRPr lang="ko-KR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7598664" y="26060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accent3"/>
                </a:solidFill>
              </a:rPr>
              <a:t>1.0 – 4.0초</a:t>
            </a:r>
            <a:endParaRPr lang="ko-KR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7598664" y="3017520"/>
            <a:ext cx="1600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300" dirty="0">
                <a:solidFill>
                  <a:schemeClr val="bg2"/>
                </a:solidFill>
              </a:rPr>
              <a:t>게임 화면 위에서 다단 10타 (대상마다 피해 숫자)</a:t>
            </a:r>
            <a:endParaRPr lang="ko-KR" sz="1300" dirty="0"/>
          </a:p>
        </p:txBody>
      </p:sp>
      <p:sp>
        <p:nvSpPr>
          <p:cNvPr id="36" name="Shape 34"/>
          <p:cNvSpPr/>
          <p:nvPr/>
        </p:nvSpPr>
        <p:spPr>
          <a:xfrm rot="5400000">
            <a:off x="9482328" y="2971800"/>
            <a:ext cx="137160" cy="274320"/>
          </a:xfrm>
          <a:prstGeom prst="rtTriangle">
            <a:avLst/>
          </a:prstGeom>
          <a:solidFill>
            <a:schemeClr val="accent5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370064" y="49377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accent5"/>
                </a:solidFill>
              </a:rPr>
              <a:t>쥐마다 다른 것</a:t>
            </a:r>
            <a:endParaRPr lang="ko-KR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7370064" y="521208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300" b="1" dirty="0">
                <a:solidFill>
                  <a:schemeClr val="bg2"/>
                </a:solidFill>
              </a:rPr>
              <a:t>떨어지는 것 · 폭발 · 버프 · 빙결</a:t>
            </a:r>
            <a:endParaRPr lang="ko-KR" sz="1300" dirty="0"/>
          </a:p>
        </p:txBody>
      </p:sp>
      <p:sp>
        <p:nvSpPr>
          <p:cNvPr id="39" name="step4"/>
          <p:cNvSpPr/>
          <p:nvPr/>
        </p:nvSpPr>
        <p:spPr>
          <a:xfrm>
            <a:off x="9674352" y="1463040"/>
            <a:ext cx="2057400" cy="3291840"/>
          </a:xfrm>
          <a:prstGeom prst="roundRect">
            <a:avLst>
              <a:gd name="adj" fmla="val 3556"/>
            </a:avLst>
          </a:prstGeom>
          <a:solidFill>
            <a:schemeClr val="tx2"/>
          </a:solidFill>
          <a:ln/>
        </p:spPr>
      </p:sp>
      <p:sp>
        <p:nvSpPr>
          <p:cNvPr id="40" name="Shape 38"/>
          <p:cNvSpPr/>
          <p:nvPr/>
        </p:nvSpPr>
        <p:spPr>
          <a:xfrm>
            <a:off x="9902952" y="16916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902952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5</a:t>
            </a:r>
            <a:endParaRPr lang="ko-KR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9902952" y="21945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800" b="1" dirty="0">
                <a:solidFill>
                  <a:schemeClr val="accent1"/>
                </a:solidFill>
              </a:rPr>
              <a:t>마지막 일격</a:t>
            </a:r>
            <a:endParaRPr lang="ko-KR" sz="1800" dirty="0"/>
          </a:p>
        </p:txBody>
      </p:sp>
      <p:sp>
        <p:nvSpPr>
          <p:cNvPr id="43" name="Text 41"/>
          <p:cNvSpPr txBox="1"/>
          <p:nvPr/>
        </p:nvSpPr>
        <p:spPr>
          <a:xfrm>
            <a:off x="9902952" y="26060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accent3"/>
                </a:solidFill>
              </a:rPr>
              <a:t>+0.3초</a:t>
            </a:r>
            <a:endParaRPr lang="ko-KR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9902952" y="3017520"/>
            <a:ext cx="1600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300" dirty="0">
                <a:solidFill>
                  <a:schemeClr val="bg2"/>
                </a:solidFill>
              </a:rPr>
              <a:t>×20 일격 · 흰 플래시 · 종료</a:t>
            </a:r>
            <a:endParaRPr lang="ko-KR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9674352" y="49377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accent5"/>
                </a:solidFill>
              </a:rPr>
              <a:t>쥐마다 다른 것</a:t>
            </a:r>
            <a:endParaRPr lang="ko-KR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9674352" y="521208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300" b="1" dirty="0">
                <a:solidFill>
                  <a:schemeClr val="bg2"/>
                </a:solidFill>
              </a:rPr>
              <a:t>일격 효과</a:t>
            </a:r>
            <a:endParaRPr lang="ko-KR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dirty="0">
                <a:solidFill>
                  <a:schemeClr val="accent5"/>
                </a:solidFill>
              </a:rPr>
              <a:t>월드는 멈추지 않습니다 — 컷신이 도는 동안에도 게임은 흘러가고, 컷신 중 일반 필살기는 대기합니다.</a:t>
            </a:r>
            <a:endParaRPr lang="ko-KR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7A1B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/>
              <a:t>4</a:t>
            </a:fld>
            <a:endParaRPr lang="ko-K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sz="2800" b="1" dirty="0">
                <a:solidFill>
                  <a:schemeClr val="bg2"/>
                </a:solidFill>
              </a:rPr>
              <a:t>신화 16종 한눈에</a:t>
            </a:r>
            <a:endParaRPr lang="ko-KR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1274552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2743200"/>
                <a:gridCol w="548640"/>
                <a:gridCol w="2514600"/>
                <a:gridCol w="1033272"/>
                <a:gridCol w="2651760"/>
              </a:tblGrid>
              <a:tr h="283464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sz="1100" b="1" dirty="0">
                          <a:solidFill>
                            <a:srgbClr val="17141F"/>
                          </a:solidFill>
                        </a:rPr>
                        <a:t>쥐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C83D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sz="1100" b="1" dirty="0">
                          <a:solidFill>
                            <a:srgbClr val="17141F"/>
                          </a:solidFill>
                        </a:rPr>
                        <a:t>연출 콘셉트 (현재)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C83D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sz="1100" b="1" dirty="0">
                          <a:solidFill>
                            <a:srgbClr val="17141F"/>
                          </a:solidFill>
                        </a:rPr>
                        <a:t>컷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C83D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sz="1100" b="1" dirty="0">
                          <a:solidFill>
                            <a:srgbClr val="17141F"/>
                          </a:solidFill>
                        </a:rPr>
                        <a:t>컷신 내부 → 실제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C83D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sz="1100" b="1" dirty="0">
                          <a:solidFill>
                            <a:srgbClr val="17141F"/>
                          </a:solidFill>
                        </a:rPr>
                        <a:t>게임 화면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C83D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sz="1100" b="1" dirty="0">
                          <a:solidFill>
                            <a:srgbClr val="17141F"/>
                          </a:solidFill>
                        </a:rPr>
                        <a:t>컷신 글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C83D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sz="1100" b="1" dirty="0">
                          <a:solidFill>
                            <a:srgbClr val="F3EFE6"/>
                          </a:solidFill>
                        </a:rPr>
                        <a:t>찌릿 햄찌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1A2B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sz="1100" dirty="0">
                          <a:solidFill>
                            <a:srgbClr val="F3EFE6"/>
                          </a:solidFill>
                        </a:rPr>
                        <a:t>백만볼트 · 또 당했다~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1A2B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ko-KR" sz="1100" dirty="0">
                          <a:solidFill>
                            <a:srgbClr val="F3EFE6"/>
                          </a:solidFill>
                        </a:rPr>
                        <a:t>5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1A2B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sz="1100" dirty="0">
                          <a:solidFill>
                            <a:srgbClr val="F3EFE6"/>
                          </a:solidFill>
                        </a:rPr>
                        <a:t>6.50초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1A2B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ko-KR" sz="1100" dirty="0">
                          <a:solidFill>
                            <a:srgbClr val="F3EFE6"/>
                          </a:solidFill>
                        </a:rPr>
                        <a:t>1.8초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1A2B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sz="1100" dirty="0">
                          <a:solidFill>
                            <a:srgbClr val="F3EFE6"/>
                          </a:solidFill>
                        </a:rPr>
                        <a:t>없음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1A2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sz="1100" b="1" dirty="0">
                          <a:solidFill>
                            <a:srgbClr val="F3EFE6"/>
                          </a:solidFill>
                        </a:rPr>
                        <a:t>쥐랜드 관광쥐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134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sz="1100" dirty="0">
                          <a:solidFill>
                            <a:srgbClr val="F3EFE6"/>
                          </a:solidFill>
                        </a:rPr>
                        <a:t>풍선 펑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134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ko-KR" sz="1100" dirty="0">
                          <a:solidFill>
                            <a:srgbClr val="F3EFE6"/>
                          </a:solidFill>
                        </a:rPr>
                        <a:t>10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134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sz="1100" dirty="0">
                          <a:solidFill>
                            <a:srgbClr val="F3EFE6"/>
                          </a:solidFill>
                        </a:rPr>
                        <a:t>9.96초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134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ko-KR" sz="1100" dirty="0">
                          <a:solidFill>
                            <a:srgbClr val="F3EFE6"/>
                          </a:solidFill>
                        </a:rPr>
                        <a:t>1.0초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134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sz="1100" dirty="0">
                          <a:solidFill>
                            <a:srgbClr val="F3EFE6"/>
                          </a:solidFill>
                        </a:rPr>
                        <a:t>없음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134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sz="1100" b="1" dirty="0">
                          <a:solidFill>
                            <a:srgbClr val="F3EFE6"/>
                          </a:solidFill>
                        </a:rPr>
                        <a:t>쥐 황제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1A2B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sz="1100" dirty="0">
                          <a:solidFill>
                            <a:srgbClr val="F3EFE6"/>
                          </a:solidFill>
                        </a:rPr>
                        <a:t>총병 앞으로 · 장전 · 격발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1A2B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ko-KR" sz="1100" dirty="0">
                          <a:solidFill>
                            <a:srgbClr val="F3EFE6"/>
                          </a:solidFill>
                        </a:rPr>
                        <a:t>7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1A2B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sz="1100" dirty="0">
                          <a:solidFill>
                            <a:srgbClr val="F3EFE6"/>
                          </a:solidFill>
                        </a:rPr>
                        <a:t>5.25초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1A2B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ko-KR" sz="1100" dirty="0">
                          <a:solidFill>
                            <a:srgbClr val="F3EFE6"/>
                          </a:solidFill>
                        </a:rPr>
                        <a:t>1.5초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1A2B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sz="1100" dirty="0">
                          <a:solidFill>
                            <a:srgbClr val="F3EFE6"/>
                          </a:solidFill>
                        </a:rPr>
                        <a:t>없음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1A2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sz="1100" b="1" dirty="0">
                          <a:solidFill>
                            <a:srgbClr val="F3EFE6"/>
                          </a:solidFill>
                        </a:rPr>
                        <a:t>파라오 생쥐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134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sz="1100" dirty="0">
                          <a:solidFill>
                            <a:srgbClr val="F3EFE6"/>
                          </a:solidFill>
                        </a:rPr>
                        <a:t>미라 군단 돌격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134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ko-KR" sz="1100" dirty="0">
                          <a:solidFill>
                            <a:srgbClr val="F3EFE6"/>
                          </a:solidFill>
                        </a:rPr>
                        <a:t>6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134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sz="1100" dirty="0">
                          <a:solidFill>
                            <a:srgbClr val="F3EFE6"/>
                          </a:solidFill>
                        </a:rPr>
                        <a:t>3.75초 → ≈5.0초 (0.75배속)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134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ko-KR" sz="1100" dirty="0">
                          <a:solidFill>
                            <a:srgbClr val="F3EFE6"/>
                          </a:solidFill>
                        </a:rPr>
                        <a:t>2.2초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134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sz="1100" dirty="0">
                          <a:solidFill>
                            <a:srgbClr val="F3EFE6"/>
                          </a:solidFill>
                        </a:rPr>
                        <a:t>제목 · 대사 · 밈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134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sz="1100" b="1" dirty="0">
                          <a:solidFill>
                            <a:srgbClr val="F3EFE6"/>
                          </a:solidFill>
                        </a:rPr>
                        <a:t>기사 쥐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1A2B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sz="1100" dirty="0">
                          <a:solidFill>
                            <a:srgbClr val="F3EFE6"/>
                          </a:solidFill>
                        </a:rPr>
                        <a:t>엑스칼리버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1A2B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ko-KR" sz="1100" dirty="0">
                          <a:solidFill>
                            <a:srgbClr val="F3EFE6"/>
                          </a:solidFill>
                        </a:rPr>
                        <a:t>7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1A2B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sz="1100" dirty="0">
                          <a:solidFill>
                            <a:srgbClr val="F3EFE6"/>
                          </a:solidFill>
                        </a:rPr>
                        <a:t>3.95초 → ≈5.3초 (0.75배속)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1A2B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ko-KR" sz="1100" dirty="0">
                          <a:solidFill>
                            <a:srgbClr val="F3EFE6"/>
                          </a:solidFill>
                        </a:rPr>
                        <a:t>1.0초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1A2B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sz="1100" dirty="0">
                          <a:solidFill>
                            <a:srgbClr val="F3EFE6"/>
                          </a:solidFill>
                        </a:rPr>
                        <a:t>없음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1A2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sz="1100" b="1" dirty="0">
                          <a:solidFill>
                            <a:srgbClr val="F3EFE6"/>
                          </a:solidFill>
                        </a:rPr>
                        <a:t>술탄 햄스터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134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sz="1100" dirty="0">
                          <a:solidFill>
                            <a:srgbClr val="F3EFE6"/>
                          </a:solidFill>
                        </a:rPr>
                        <a:t>석유 부자의 금화 비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134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ko-KR" sz="1100" dirty="0">
                          <a:solidFill>
                            <a:srgbClr val="F3EFE6"/>
                          </a:solidFill>
                        </a:rPr>
                        <a:t>4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134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sz="1100" dirty="0">
                          <a:solidFill>
                            <a:srgbClr val="F3EFE6"/>
                          </a:solidFill>
                        </a:rPr>
                        <a:t>4.15초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134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ko-KR" sz="1100" dirty="0">
                          <a:solidFill>
                            <a:srgbClr val="F3EFE6"/>
                          </a:solidFill>
                        </a:rPr>
                        <a:t>4.0초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134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sz="1100" dirty="0">
                          <a:solidFill>
                            <a:srgbClr val="F3EFE6"/>
                          </a:solidFill>
                        </a:rPr>
                        <a:t>제목 · 대사 · 밈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134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sz="1100" b="1" dirty="0">
                          <a:solidFill>
                            <a:srgbClr val="F3EFE6"/>
                          </a:solidFill>
                        </a:rPr>
                        <a:t>외계인 생쥐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1A2B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sz="1100" dirty="0">
                          <a:solidFill>
                            <a:srgbClr val="F3EFE6"/>
                          </a:solidFill>
                        </a:rPr>
                        <a:t>인디펜던스 데이 패러디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1A2B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ko-KR" sz="1100" dirty="0">
                          <a:solidFill>
                            <a:srgbClr val="F3EFE6"/>
                          </a:solidFill>
                        </a:rPr>
                        <a:t>8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1A2B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sz="1100" dirty="0">
                          <a:solidFill>
                            <a:srgbClr val="F3EFE6"/>
                          </a:solidFill>
                        </a:rPr>
                        <a:t>8.30초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1A2B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ko-KR" sz="1100" dirty="0">
                          <a:solidFill>
                            <a:srgbClr val="F3EFE6"/>
                          </a:solidFill>
                        </a:rPr>
                        <a:t>2.2초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1A2B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sz="1100" dirty="0">
                          <a:solidFill>
                            <a:srgbClr val="F3EFE6"/>
                          </a:solidFill>
                        </a:rPr>
                        <a:t>없음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1A2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sz="1100" b="1" dirty="0">
                          <a:solidFill>
                            <a:srgbClr val="F3EFE6"/>
                          </a:solidFill>
                        </a:rPr>
                        <a:t>흐에~ 스트리머 쥐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134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sz="1100" dirty="0">
                          <a:solidFill>
                            <a:srgbClr val="F3EFE6"/>
                          </a:solidFill>
                        </a:rPr>
                        <a:t>도네 리액션 → 엉덩이 춤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134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ko-KR" sz="1100" dirty="0">
                          <a:solidFill>
                            <a:srgbClr val="F3EFE6"/>
                          </a:solidFill>
                        </a:rPr>
                        <a:t>5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134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sz="1100" dirty="0">
                          <a:solidFill>
                            <a:srgbClr val="F3EFE6"/>
                          </a:solidFill>
                        </a:rPr>
                        <a:t>3.60초 → ≈4.8초 (0.75배속)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134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ko-KR" sz="1100" dirty="0">
                          <a:solidFill>
                            <a:srgbClr val="F3EFE6"/>
                          </a:solidFill>
                        </a:rPr>
                        <a:t>2.0초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134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sz="1100" dirty="0">
                          <a:solidFill>
                            <a:srgbClr val="F3EFE6"/>
                          </a:solidFill>
                        </a:rPr>
                        <a:t>제목 · 자막 · 밈 · 구독자 수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134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sz="1100" b="1" dirty="0">
                          <a:solidFill>
                            <a:srgbClr val="F3EFE6"/>
                          </a:solidFill>
                        </a:rPr>
                        <a:t>다람쥐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1A2B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sz="1100" dirty="0">
                          <a:solidFill>
                            <a:srgbClr val="F3EFE6"/>
                          </a:solidFill>
                        </a:rPr>
                        <a:t>람쥐썬더 짤 몽타주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1A2B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ko-KR" sz="1100" dirty="0">
                          <a:solidFill>
                            <a:srgbClr val="F3EFE6"/>
                          </a:solidFill>
                        </a:rPr>
                        <a:t>3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1A2B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sz="1100" dirty="0">
                          <a:solidFill>
                            <a:srgbClr val="F3EFE6"/>
                          </a:solidFill>
                        </a:rPr>
                        <a:t>5.61초 → ≈7.5초 (0.75배속)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1A2B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ko-KR" sz="1100" dirty="0">
                          <a:solidFill>
                            <a:srgbClr val="F3EFE6"/>
                          </a:solidFill>
                        </a:rPr>
                        <a:t>1.6초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1A2B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sz="1100" dirty="0">
                          <a:solidFill>
                            <a:srgbClr val="F3EFE6"/>
                          </a:solidFill>
                        </a:rPr>
                        <a:t>짤 자막 · 대사 · 밈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1A2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sz="1100" b="1" dirty="0">
                          <a:solidFill>
                            <a:srgbClr val="F3EFE6"/>
                          </a:solidFill>
                        </a:rPr>
                        <a:t>줴리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134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sz="1100" dirty="0">
                          <a:solidFill>
                            <a:srgbClr val="F3EFE6"/>
                          </a:solidFill>
                        </a:rPr>
                        <a:t>톰과 줴리 추격전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134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ko-KR" sz="1100" dirty="0">
                          <a:solidFill>
                            <a:srgbClr val="F3EFE6"/>
                          </a:solidFill>
                        </a:rPr>
                        <a:t>11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134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sz="1100" dirty="0">
                          <a:solidFill>
                            <a:srgbClr val="F3EFE6"/>
                          </a:solidFill>
                        </a:rPr>
                        <a:t>7.30초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134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ko-KR" sz="1100" dirty="0">
                          <a:solidFill>
                            <a:srgbClr val="F3EFE6"/>
                          </a:solidFill>
                        </a:rPr>
                        <a:t>2.0초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134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sz="1100" dirty="0">
                          <a:solidFill>
                            <a:srgbClr val="F3EFE6"/>
                          </a:solidFill>
                        </a:rPr>
                        <a:t>없음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134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sz="1100" b="1" dirty="0">
                          <a:solidFill>
                            <a:srgbClr val="F3EFE6"/>
                          </a:solidFill>
                        </a:rPr>
                        <a:t>슈퍼 요리사 쥐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1A2B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sz="1100" dirty="0">
                          <a:solidFill>
                            <a:srgbClr val="F3EFE6"/>
                          </a:solidFill>
                        </a:rPr>
                        <a:t>라따뚜이 시식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1A2B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ko-KR" sz="1100" dirty="0">
                          <a:solidFill>
                            <a:srgbClr val="F3EFE6"/>
                          </a:solidFill>
                        </a:rPr>
                        <a:t>5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1A2B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sz="1100" dirty="0">
                          <a:solidFill>
                            <a:srgbClr val="F3EFE6"/>
                          </a:solidFill>
                        </a:rPr>
                        <a:t>6.41초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1A2B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ko-KR" sz="1100" dirty="0">
                          <a:solidFill>
                            <a:srgbClr val="F3EFE6"/>
                          </a:solidFill>
                        </a:rPr>
                        <a:t>1.6초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1A2B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sz="1100" dirty="0">
                          <a:solidFill>
                            <a:srgbClr val="F3EFE6"/>
                          </a:solidFill>
                        </a:rPr>
                        <a:t>없음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1A2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sz="1100" b="1" dirty="0">
                          <a:solidFill>
                            <a:srgbClr val="F3EFE6"/>
                          </a:solidFill>
                        </a:rPr>
                        <a:t>찍찍 탐정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134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sz="1100" dirty="0">
                          <a:solidFill>
                            <a:srgbClr val="F3EFE6"/>
                          </a:solidFill>
                        </a:rPr>
                        <a:t>범인은 바로 너야!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134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ko-KR" sz="1100" dirty="0">
                          <a:solidFill>
                            <a:srgbClr val="F3EFE6"/>
                          </a:solidFill>
                        </a:rPr>
                        <a:t>7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134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sz="1100" dirty="0">
                          <a:solidFill>
                            <a:srgbClr val="F3EFE6"/>
                          </a:solidFill>
                        </a:rPr>
                        <a:t>6.70초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134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ko-KR" sz="1100" dirty="0">
                          <a:solidFill>
                            <a:srgbClr val="F3EFE6"/>
                          </a:solidFill>
                        </a:rPr>
                        <a:t>2.0초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134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sz="1100" dirty="0">
                          <a:solidFill>
                            <a:srgbClr val="F3EFE6"/>
                          </a:solidFill>
                        </a:rPr>
                        <a:t>대사 2줄만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134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sz="1100" b="1" dirty="0">
                          <a:solidFill>
                            <a:srgbClr val="F3EFE6"/>
                          </a:solidFill>
                        </a:rPr>
                        <a:t>치즈 퐁듀 쥐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1A2B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sz="1100" dirty="0">
                          <a:solidFill>
                            <a:srgbClr val="F3EFE6"/>
                          </a:solidFill>
                        </a:rPr>
                        <a:t>트레비 분수 치즈 폭발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1A2B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ko-KR" sz="1100" dirty="0">
                          <a:solidFill>
                            <a:srgbClr val="F3EFE6"/>
                          </a:solidFill>
                        </a:rPr>
                        <a:t>7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1A2B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sz="1100" dirty="0">
                          <a:solidFill>
                            <a:srgbClr val="F3EFE6"/>
                          </a:solidFill>
                        </a:rPr>
                        <a:t>5.35초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1A2B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ko-KR" sz="1100" dirty="0">
                          <a:solidFill>
                            <a:srgbClr val="F3EFE6"/>
                          </a:solidFill>
                        </a:rPr>
                        <a:t>2.2초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1A2B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sz="1100" dirty="0">
                          <a:solidFill>
                            <a:srgbClr val="F3EFE6"/>
                          </a:solidFill>
                        </a:rPr>
                        <a:t>없음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1A2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sz="1100" b="1" dirty="0">
                          <a:solidFill>
                            <a:srgbClr val="F3EFE6"/>
                          </a:solidFill>
                        </a:rPr>
                        <a:t>폭탄마 쥐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134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sz="1100" dirty="0">
                          <a:solidFill>
                            <a:srgbClr val="F3EFE6"/>
                          </a:solidFill>
                        </a:rPr>
                        <a:t>마법진 익스플로전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134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ko-KR" sz="1100" dirty="0">
                          <a:solidFill>
                            <a:srgbClr val="F3EFE6"/>
                          </a:solidFill>
                        </a:rPr>
                        <a:t>5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134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sz="1100" dirty="0">
                          <a:solidFill>
                            <a:srgbClr val="F3EFE6"/>
                          </a:solidFill>
                        </a:rPr>
                        <a:t>3.05초 → ≈4.1초 (0.75배속)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134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ko-KR" sz="1100" dirty="0">
                          <a:solidFill>
                            <a:srgbClr val="F3EFE6"/>
                          </a:solidFill>
                        </a:rPr>
                        <a:t>2.2초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134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sz="1100" dirty="0">
                          <a:solidFill>
                            <a:srgbClr val="F3EFE6"/>
                          </a:solidFill>
                        </a:rPr>
                        <a:t>제목 · 대사 · 밈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134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sz="1100" b="1" dirty="0">
                          <a:solidFill>
                            <a:srgbClr val="F3EFE6"/>
                          </a:solidFill>
                        </a:rPr>
                        <a:t>아이스 퀸 쥐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1A2B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sz="1100" dirty="0">
                          <a:solidFill>
                            <a:srgbClr val="F3EFE6"/>
                          </a:solidFill>
                        </a:rPr>
                        <a:t>얼음성 → 우박 눈보라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1A2B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ko-KR" sz="1100" dirty="0">
                          <a:solidFill>
                            <a:srgbClr val="F3EFE6"/>
                          </a:solidFill>
                        </a:rPr>
                        <a:t>6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1A2B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sz="1100" dirty="0">
                          <a:solidFill>
                            <a:srgbClr val="F3EFE6"/>
                          </a:solidFill>
                        </a:rPr>
                        <a:t>3.40초 → ≈4.5초 (0.75배속)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1A2B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ko-KR" sz="1100" dirty="0">
                          <a:solidFill>
                            <a:srgbClr val="F3EFE6"/>
                          </a:solidFill>
                        </a:rPr>
                        <a:t>3.0초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1A2B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sz="1100" dirty="0">
                          <a:solidFill>
                            <a:srgbClr val="F3EFE6"/>
                          </a:solidFill>
                        </a:rPr>
                        <a:t>제목 · 대사 · 밈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1A2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sz="1100" b="1" dirty="0">
                          <a:solidFill>
                            <a:srgbClr val="F3EFE6"/>
                          </a:solidFill>
                        </a:rPr>
                        <a:t>메이드 쥐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134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sz="1100" dirty="0">
                          <a:solidFill>
                            <a:srgbClr val="F3EFE6"/>
                          </a:solidFill>
                        </a:rPr>
                        <a:t>시간 정지 + 칼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134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ko-KR" sz="1100" dirty="0">
                          <a:solidFill>
                            <a:srgbClr val="F3EFE6"/>
                          </a:solidFill>
                        </a:rPr>
                        <a:t>6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134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sz="1100" dirty="0">
                          <a:solidFill>
                            <a:srgbClr val="F3EFE6"/>
                          </a:solidFill>
                        </a:rPr>
                        <a:t>3.45초 → ≈4.6초 (0.75배속)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134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ko-KR" sz="1100" dirty="0">
                          <a:solidFill>
                            <a:srgbClr val="F3EFE6"/>
                          </a:solidFill>
                        </a:rPr>
                        <a:t>2.4초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134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sz="1100" dirty="0">
                          <a:solidFill>
                            <a:srgbClr val="F3EFE6"/>
                          </a:solidFill>
                        </a:rPr>
                        <a:t>제목 · 대사 · 밈</a:t>
                      </a:r>
                      <a:endParaRPr lang="ko-KR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13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7A1B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/>
              <a:t>5</a:t>
            </a:fld>
            <a:endParaRPr lang="ko-K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sz="2800" b="1" dirty="0">
                <a:solidFill>
                  <a:schemeClr val="bg2"/>
                </a:solidFill>
              </a:rPr>
              <a:t>연출 길이 비교 (실제 재생 기준 ≈초)</a:t>
            </a:r>
            <a:endParaRPr lang="ko-KR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7589520" cy="5257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len0"/>
          <p:cNvSpPr/>
          <p:nvPr/>
        </p:nvSpPr>
        <p:spPr>
          <a:xfrm>
            <a:off x="8321040" y="1097280"/>
            <a:ext cx="3410712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549640" y="12344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sz="2600" b="1" dirty="0">
                <a:solidFill>
                  <a:schemeClr val="accent1"/>
                </a:solidFill>
              </a:rPr>
              <a:t>6.4–11.2초</a:t>
            </a:r>
            <a:endParaRPr lang="ko-KR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8549640" y="1783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300" b="1" dirty="0">
                <a:solidFill>
                  <a:schemeClr val="bg2"/>
                </a:solidFill>
              </a:rPr>
              <a:t>전체 길이 범위</a:t>
            </a:r>
            <a:endParaRPr lang="ko-KR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549640" y="20574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accent5"/>
                </a:solidFill>
              </a:rPr>
              <a:t>가장 짧은 폭탄마 · 기사와 가장 긴 관광쥐 · 외계인이 거의 2배 차이</a:t>
            </a:r>
            <a:endParaRPr lang="ko-KR" sz="1100" dirty="0"/>
          </a:p>
        </p:txBody>
      </p:sp>
      <p:sp>
        <p:nvSpPr>
          <p:cNvPr id="8" name="len1"/>
          <p:cNvSpPr/>
          <p:nvPr/>
        </p:nvSpPr>
        <p:spPr>
          <a:xfrm>
            <a:off x="8321040" y="2880360"/>
            <a:ext cx="3410712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549640" y="30175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sz="2600" b="1" dirty="0">
                <a:solidFill>
                  <a:schemeClr val="accent1"/>
                </a:solidFill>
              </a:rPr>
              <a:t>4종</a:t>
            </a:r>
            <a:endParaRPr lang="ko-KR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8549640" y="3566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300" b="1" dirty="0">
                <a:solidFill>
                  <a:schemeClr val="bg2"/>
                </a:solidFill>
              </a:rPr>
              <a:t>컷신만 7초 이상</a:t>
            </a:r>
            <a:endParaRPr lang="ko-KR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549640" y="38404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accent5"/>
                </a:solidFill>
              </a:rPr>
              <a:t>쥐랜드 관광쥐 · 외계인 생쥐 · 다람쥐 · 줴리 — 반복 사용 때 피로도 검토 대상</a:t>
            </a:r>
            <a:endParaRPr lang="ko-KR" sz="1100" dirty="0"/>
          </a:p>
        </p:txBody>
      </p:sp>
      <p:sp>
        <p:nvSpPr>
          <p:cNvPr id="12" name="len2"/>
          <p:cNvSpPr/>
          <p:nvPr/>
        </p:nvSpPr>
        <p:spPr>
          <a:xfrm>
            <a:off x="8321040" y="4663440"/>
            <a:ext cx="3410712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549640" y="48006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sz="2600" b="1" dirty="0">
                <a:solidFill>
                  <a:schemeClr val="accent1"/>
                </a:solidFill>
              </a:rPr>
              <a:t>7종</a:t>
            </a:r>
            <a:endParaRPr lang="ko-KR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8549640" y="5349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300" b="1" dirty="0">
                <a:solidFill>
                  <a:schemeClr val="bg2"/>
                </a:solidFill>
              </a:rPr>
              <a:t>0.75배속</a:t>
            </a:r>
            <a:endParaRPr lang="ko-KR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549640" y="562356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accent5"/>
                </a:solidFill>
              </a:rPr>
              <a:t>파라오 · 기사 · 스트리머 · 람쥐 · 폭탄마 · 아이스 퀸 · 메이드</a:t>
            </a:r>
            <a:endParaRPr lang="ko-KR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7A1B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/>
              <a:t>6</a:t>
            </a:fld>
            <a:endParaRPr lang="ko-K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sz="2800" b="1" dirty="0">
                <a:solidFill>
                  <a:schemeClr val="bg2"/>
                </a:solidFill>
              </a:rPr>
              <a:t>컷신 뒤 게임 화면 단계 — 6가지 유형</a:t>
            </a:r>
            <a:endParaRPr lang="ko-KR" sz="2800" dirty="0"/>
          </a:p>
        </p:txBody>
      </p:sp>
      <p:sp>
        <p:nvSpPr>
          <p:cNvPr id="3" name="world0"/>
          <p:cNvSpPr/>
          <p:nvPr/>
        </p:nvSpPr>
        <p:spPr>
          <a:xfrm>
            <a:off x="457200" y="1143000"/>
            <a:ext cx="5458968" cy="155448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13716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1</a:t>
            </a:r>
            <a:endParaRPr lang="ko-KR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371600"/>
            <a:ext cx="4453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sz="1600" b="1" dirty="0">
                <a:solidFill>
                  <a:schemeClr val="bg2"/>
                </a:solidFill>
              </a:rPr>
              <a:t>하늘에서 쏟아지는 비</a:t>
            </a:r>
            <a:endParaRPr lang="ko-KR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856232"/>
            <a:ext cx="5001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dirty="0">
                <a:solidFill>
                  <a:schemeClr val="bg2"/>
                </a:solidFill>
              </a:rPr>
              <a:t>아이스 퀸(우박) · 메이드(칼) · 술탄(금화) · 퐁듀(치즈) · 외계인(파편) · 줴리(프라이팬) · 탐정(마취침) · 스트리머(하트)</a:t>
            </a:r>
            <a:endParaRPr lang="ko-KR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350008"/>
            <a:ext cx="5001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accent5"/>
                </a:solidFill>
              </a:rPr>
              <a:t>떨어지는 그림 3장 + 바닥 충돌 3프레임 · 대상마다 충돌</a:t>
            </a:r>
            <a:endParaRPr lang="ko-KR" sz="1100" dirty="0"/>
          </a:p>
        </p:txBody>
      </p:sp>
      <p:sp>
        <p:nvSpPr>
          <p:cNvPr id="9" name="world1"/>
          <p:cNvSpPr/>
          <p:nvPr/>
        </p:nvSpPr>
        <p:spPr>
          <a:xfrm>
            <a:off x="6190488" y="1143000"/>
            <a:ext cx="5458968" cy="155448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/>
        </p:spPr>
      </p:sp>
      <p:sp>
        <p:nvSpPr>
          <p:cNvPr id="10" name="Shape 8"/>
          <p:cNvSpPr/>
          <p:nvPr/>
        </p:nvSpPr>
        <p:spPr>
          <a:xfrm>
            <a:off x="6419088" y="137160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19088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2</a:t>
            </a:r>
            <a:endParaRPr lang="ko-KR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967728" y="1371600"/>
            <a:ext cx="4453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sz="1600" b="1" dirty="0">
                <a:solidFill>
                  <a:schemeClr val="bg2"/>
                </a:solidFill>
              </a:rPr>
              <a:t>대상마다 내리꽂힘</a:t>
            </a:r>
            <a:endParaRPr lang="ko-KR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19088" y="1856232"/>
            <a:ext cx="5001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dirty="0">
                <a:solidFill>
                  <a:schemeClr val="bg2"/>
                </a:solidFill>
              </a:rPr>
              <a:t>햄찌(번개) · 람쥐(번개) · 요리사(머리카락 · 기절 별)</a:t>
            </a:r>
            <a:endParaRPr lang="ko-KR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19088" y="2350008"/>
            <a:ext cx="5001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accent5"/>
                </a:solidFill>
              </a:rPr>
              <a:t>눈송이 비 없이 대상 위치에만 효과</a:t>
            </a:r>
            <a:endParaRPr lang="ko-KR" sz="1100" dirty="0"/>
          </a:p>
        </p:txBody>
      </p:sp>
      <p:sp>
        <p:nvSpPr>
          <p:cNvPr id="15" name="world2"/>
          <p:cNvSpPr/>
          <p:nvPr/>
        </p:nvSpPr>
        <p:spPr>
          <a:xfrm>
            <a:off x="457200" y="2880360"/>
            <a:ext cx="5458968" cy="155448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" y="310896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3</a:t>
            </a:r>
            <a:endParaRPr lang="ko-KR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108960"/>
            <a:ext cx="4453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sz="1600" b="1" dirty="0">
                <a:solidFill>
                  <a:schemeClr val="bg2"/>
                </a:solidFill>
              </a:rPr>
              <a:t>돌격</a:t>
            </a:r>
            <a:endParaRPr lang="ko-KR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593592"/>
            <a:ext cx="5001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dirty="0">
                <a:solidFill>
                  <a:schemeClr val="bg2"/>
                </a:solidFill>
              </a:rPr>
              <a:t>파라오(미라 쥐들이 왼 → 오로 달려 태클)</a:t>
            </a:r>
            <a:endParaRPr lang="ko-KR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4087368"/>
            <a:ext cx="5001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accent5"/>
                </a:solidFill>
              </a:rPr>
              <a:t>달리기 3프레임 · 줄 3개</a:t>
            </a:r>
            <a:endParaRPr lang="ko-KR" sz="1100" dirty="0"/>
          </a:p>
        </p:txBody>
      </p:sp>
      <p:sp>
        <p:nvSpPr>
          <p:cNvPr id="21" name="world3"/>
          <p:cNvSpPr/>
          <p:nvPr/>
        </p:nvSpPr>
        <p:spPr>
          <a:xfrm>
            <a:off x="6190488" y="2880360"/>
            <a:ext cx="5458968" cy="155448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/>
        </p:spPr>
      </p:sp>
      <p:sp>
        <p:nvSpPr>
          <p:cNvPr id="22" name="Shape 20"/>
          <p:cNvSpPr/>
          <p:nvPr/>
        </p:nvSpPr>
        <p:spPr>
          <a:xfrm>
            <a:off x="6419088" y="310896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19088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4</a:t>
            </a:r>
            <a:endParaRPr lang="ko-KR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967728" y="3108960"/>
            <a:ext cx="4453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sz="1600" b="1" dirty="0">
                <a:solidFill>
                  <a:schemeClr val="bg2"/>
                </a:solidFill>
              </a:rPr>
              <a:t>베기선</a:t>
            </a:r>
            <a:endParaRPr lang="ko-KR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419088" y="3593592"/>
            <a:ext cx="5001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dirty="0">
                <a:solidFill>
                  <a:schemeClr val="bg2"/>
                </a:solidFill>
              </a:rPr>
              <a:t>기사(−40° 베기선 → 선을 따라 폭발 · 가로 파동 한 번)</a:t>
            </a:r>
            <a:endParaRPr lang="ko-KR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419088" y="4087368"/>
            <a:ext cx="5001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accent5"/>
                </a:solidFill>
              </a:rPr>
              <a:t>1초 안에 10타</a:t>
            </a:r>
            <a:endParaRPr lang="ko-KR" sz="1100" dirty="0"/>
          </a:p>
        </p:txBody>
      </p:sp>
      <p:sp>
        <p:nvSpPr>
          <p:cNvPr id="27" name="world4"/>
          <p:cNvSpPr/>
          <p:nvPr/>
        </p:nvSpPr>
        <p:spPr>
          <a:xfrm>
            <a:off x="457200" y="4617720"/>
            <a:ext cx="5458968" cy="155448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/>
        </p:spPr>
      </p:sp>
      <p:sp>
        <p:nvSpPr>
          <p:cNvPr id="28" name="Shape 26"/>
          <p:cNvSpPr/>
          <p:nvPr/>
        </p:nvSpPr>
        <p:spPr>
          <a:xfrm>
            <a:off x="685800" y="484632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85800" y="4846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5</a:t>
            </a:r>
            <a:endParaRPr lang="ko-KR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234440" y="4846320"/>
            <a:ext cx="4453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sz="1600" b="1" dirty="0">
                <a:solidFill>
                  <a:schemeClr val="bg2"/>
                </a:solidFill>
              </a:rPr>
              <a:t>거대 폭발 하나</a:t>
            </a:r>
            <a:endParaRPr lang="ko-KR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85800" y="5330952"/>
            <a:ext cx="5001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dirty="0">
                <a:solidFill>
                  <a:schemeClr val="bg2"/>
                </a:solidFill>
              </a:rPr>
              <a:t>폭탄마(레이저 → 섬광 → 맵 전체 폭발 · 충격파 · 파편 · 연기)</a:t>
            </a:r>
            <a:endParaRPr lang="ko-KR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85800" y="5824728"/>
            <a:ext cx="5001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accent5"/>
                </a:solidFill>
              </a:rPr>
              <a:t>버섯구름 없음</a:t>
            </a:r>
            <a:endParaRPr lang="ko-KR" sz="1100" dirty="0"/>
          </a:p>
        </p:txBody>
      </p:sp>
      <p:sp>
        <p:nvSpPr>
          <p:cNvPr id="33" name="world5"/>
          <p:cNvSpPr/>
          <p:nvPr/>
        </p:nvSpPr>
        <p:spPr>
          <a:xfrm>
            <a:off x="6190488" y="4617720"/>
            <a:ext cx="5458968" cy="155448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/>
        </p:spPr>
      </p:sp>
      <p:sp>
        <p:nvSpPr>
          <p:cNvPr id="34" name="Shape 32"/>
          <p:cNvSpPr/>
          <p:nvPr/>
        </p:nvSpPr>
        <p:spPr>
          <a:xfrm>
            <a:off x="6419088" y="484632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419088" y="4846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6</a:t>
            </a:r>
            <a:endParaRPr lang="ko-KR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6967728" y="4846320"/>
            <a:ext cx="4453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sz="1600" b="1" dirty="0">
                <a:solidFill>
                  <a:schemeClr val="bg2"/>
                </a:solidFill>
              </a:rPr>
              <a:t>효과 최소</a:t>
            </a:r>
            <a:endParaRPr lang="ko-KR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6419088" y="5330952"/>
            <a:ext cx="5001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dirty="0">
                <a:solidFill>
                  <a:schemeClr val="bg2"/>
                </a:solidFill>
              </a:rPr>
              <a:t>황제(탄흔만 1.5초 남음) · 관광쥐(피해만 1초)</a:t>
            </a:r>
            <a:endParaRPr lang="ko-KR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6419088" y="5824728"/>
            <a:ext cx="5001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accent5"/>
                </a:solidFill>
              </a:rPr>
              <a:t>컷신 마무리를 그대로 끌고 감</a:t>
            </a:r>
            <a:endParaRPr lang="ko-KR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7A1B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/>
              <a:t>7</a:t>
            </a:fld>
            <a:endParaRPr lang="ko-K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sz="2800" b="1" dirty="0">
                <a:solidFill>
                  <a:schemeClr val="bg2"/>
                </a:solidFill>
              </a:rPr>
              <a:t>찌릿 햄찌  </a:t>
            </a:r>
            <a:pPr eaLnBrk="0" algn="l" indent="0" marL="0">
              <a:buNone/>
            </a:pPr>
            <a:r>
              <a:rPr lang="ko-KR" sz="2800" b="1" dirty="0">
                <a:solidFill>
                  <a:srgbClr val="FFC83D"/>
                </a:solidFill>
              </a:rPr>
              <a:t>백만볼트 · 또 당했다~</a:t>
            </a:r>
            <a:endParaRPr lang="ko-KR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384048"/>
            <a:ext cx="1399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sz="1400" dirty="0">
                <a:solidFill>
                  <a:schemeClr val="accent5"/>
                </a:solidFill>
              </a:rPr>
              <a:t>01 / 16</a:t>
            </a:r>
            <a:endParaRPr lang="ko-KR" sz="1400" dirty="0"/>
          </a:p>
        </p:txBody>
      </p:sp>
      <p:pic>
        <p:nvPicPr>
          <p:cNvPr id="4" name="hero" descr="C:\Users\user\AppData\Local\Temp\claude\C--Project-NKK-PROJECT\0415198c-3dcb-489e-9557-3945752cc25a\scratchpad\frames\zapham\x_2.9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6400800" cy="360045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178040" y="1143000"/>
            <a:ext cx="45537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0000"/>
              </a:lnSpc>
              <a:buNone/>
            </a:pPr>
            <a:r>
              <a:rPr lang="ko-KR" sz="1500" b="1" dirty="0">
                <a:solidFill>
                  <a:schemeClr val="bg2"/>
                </a:solidFill>
              </a:rPr>
              <a:t>해바라기씨를 뺏어 간 길고양이에게 백만볼트 → 몸통박치기 → 하늘 저편으로 날려 보낸다.</a:t>
            </a:r>
            <a:endParaRPr lang="ko-KR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178040" y="21945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테이블 기술명</a:t>
            </a:r>
            <a:endParaRPr lang="ko-KR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412480" y="2194560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도시 대정전  (31001)</a:t>
            </a:r>
            <a:endParaRPr lang="ko-KR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178040" y="262432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컷 구성</a:t>
            </a:r>
            <a:endParaRPr lang="ko-KR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412480" y="2624328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5컷 · 패널 6장</a:t>
            </a:r>
            <a:endParaRPr lang="ko-KR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178040" y="3054096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컷신 길이</a:t>
            </a:r>
            <a:endParaRPr lang="ko-KR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412480" y="3054096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내부 6.50초 · 1배속</a:t>
            </a:r>
            <a:endParaRPr lang="ko-KR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178040" y="3483864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게임 화면</a:t>
            </a:r>
            <a:endParaRPr lang="ko-KR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412480" y="3483864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걷힘 0.3초 → 1.8초 · 대상마다 번개가 내리꽂힘 (다단 10타 + 마지막 일격)</a:t>
            </a:r>
            <a:endParaRPr lang="ko-KR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178040" y="391363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컷신 글</a:t>
            </a:r>
            <a:endParaRPr lang="ko-KR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412480" y="3913632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없음</a:t>
            </a:r>
            <a:endParaRPr lang="ko-KR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178040" y="43434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밈 · 대사</a:t>
            </a:r>
            <a:endParaRPr lang="ko-KR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8412480" y="4343400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—</a:t>
            </a:r>
            <a:endParaRPr lang="ko-KR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49743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accent5"/>
                </a:solidFill>
              </a:rPr>
              <a:t>타임라인 (컷신 내부 시간 · 게임 화면은 같은 축척)</a:t>
            </a:r>
            <a:endParaRPr lang="ko-KR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5321808"/>
            <a:ext cx="524398" cy="457200"/>
          </a:xfrm>
          <a:prstGeom prst="rect">
            <a:avLst/>
          </a:prstGeom>
          <a:solidFill>
            <a:srgbClr val="35304A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81598" y="5321808"/>
            <a:ext cx="1507644" cy="457200"/>
          </a:xfrm>
          <a:prstGeom prst="rect">
            <a:avLst/>
          </a:prstGeom>
          <a:solidFill>
            <a:srgbClr val="FFC83D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81598" y="5321808"/>
            <a:ext cx="15076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1</a:t>
            </a:r>
            <a:endParaRPr lang="ko-KR" sz="1100" dirty="0"/>
          </a:p>
        </p:txBody>
      </p:sp>
      <p:sp>
        <p:nvSpPr>
          <p:cNvPr id="22" name="Shape 19"/>
          <p:cNvSpPr/>
          <p:nvPr/>
        </p:nvSpPr>
        <p:spPr>
          <a:xfrm>
            <a:off x="2489241" y="5321808"/>
            <a:ext cx="721047" cy="457200"/>
          </a:xfrm>
          <a:prstGeom prst="rect">
            <a:avLst/>
          </a:prstGeom>
          <a:solidFill>
            <a:srgbClr val="E0AE2E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489241" y="5321808"/>
            <a:ext cx="7210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2</a:t>
            </a:r>
            <a:endParaRPr lang="ko-KR" sz="1100" dirty="0"/>
          </a:p>
        </p:txBody>
      </p:sp>
      <p:sp>
        <p:nvSpPr>
          <p:cNvPr id="24" name="Shape 21"/>
          <p:cNvSpPr/>
          <p:nvPr/>
        </p:nvSpPr>
        <p:spPr>
          <a:xfrm>
            <a:off x="3210288" y="5321808"/>
            <a:ext cx="2359790" cy="457200"/>
          </a:xfrm>
          <a:prstGeom prst="rect">
            <a:avLst/>
          </a:prstGeom>
          <a:solidFill>
            <a:srgbClr val="FFC83D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210288" y="5321808"/>
            <a:ext cx="23597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3</a:t>
            </a:r>
            <a:endParaRPr lang="ko-KR" sz="1100" dirty="0"/>
          </a:p>
        </p:txBody>
      </p:sp>
      <p:sp>
        <p:nvSpPr>
          <p:cNvPr id="26" name="Shape 23"/>
          <p:cNvSpPr/>
          <p:nvPr/>
        </p:nvSpPr>
        <p:spPr>
          <a:xfrm>
            <a:off x="5570078" y="5321808"/>
            <a:ext cx="1114345" cy="457200"/>
          </a:xfrm>
          <a:prstGeom prst="rect">
            <a:avLst/>
          </a:prstGeom>
          <a:solidFill>
            <a:srgbClr val="E0AE2E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570078" y="5321808"/>
            <a:ext cx="11143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4</a:t>
            </a:r>
            <a:endParaRPr lang="ko-KR" sz="1100" dirty="0"/>
          </a:p>
        </p:txBody>
      </p:sp>
      <p:sp>
        <p:nvSpPr>
          <p:cNvPr id="28" name="Shape 25"/>
          <p:cNvSpPr/>
          <p:nvPr/>
        </p:nvSpPr>
        <p:spPr>
          <a:xfrm>
            <a:off x="6684423" y="5321808"/>
            <a:ext cx="2294240" cy="457200"/>
          </a:xfrm>
          <a:prstGeom prst="rect">
            <a:avLst/>
          </a:prstGeom>
          <a:solidFill>
            <a:srgbClr val="FFC83D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684423" y="5321808"/>
            <a:ext cx="229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5</a:t>
            </a:r>
            <a:endParaRPr lang="ko-KR" sz="1100" dirty="0"/>
          </a:p>
        </p:txBody>
      </p:sp>
      <p:sp>
        <p:nvSpPr>
          <p:cNvPr id="30" name="Shape 27"/>
          <p:cNvSpPr/>
          <p:nvPr/>
        </p:nvSpPr>
        <p:spPr>
          <a:xfrm>
            <a:off x="8978664" y="5321808"/>
            <a:ext cx="393298" cy="457200"/>
          </a:xfrm>
          <a:prstGeom prst="rect">
            <a:avLst/>
          </a:prstGeom>
          <a:solidFill>
            <a:srgbClr val="A7A1B6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371962" y="5321808"/>
            <a:ext cx="2359790" cy="457200"/>
          </a:xfrm>
          <a:prstGeom prst="rect">
            <a:avLst/>
          </a:prstGeom>
          <a:solidFill>
            <a:srgbClr val="6FD3C6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371962" y="5321808"/>
            <a:ext cx="23597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게임 화면</a:t>
            </a:r>
            <a:endParaRPr lang="ko-KR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457200" y="58247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0</a:t>
            </a:r>
            <a:endParaRPr lang="ko-KR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615838" y="58247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0.4</a:t>
            </a:r>
            <a:endParaRPr lang="ko-KR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8612904" y="58247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6.50</a:t>
            </a:r>
            <a:endParaRPr lang="ko-KR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11000232" y="58247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r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+2.1</a:t>
            </a:r>
            <a:endParaRPr lang="ko-KR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7A1B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/>
              <a:t>8</a:t>
            </a:fld>
            <a:endParaRPr lang="ko-K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sz="2800" b="1" dirty="0">
                <a:solidFill>
                  <a:schemeClr val="bg2"/>
                </a:solidFill>
              </a:rPr>
              <a:t>찌릿 햄찌  </a:t>
            </a:r>
            <a:pPr eaLnBrk="0" algn="l" indent="0" marL="0">
              <a:buNone/>
            </a:pPr>
            <a:r>
              <a:rPr lang="ko-KR" sz="2800" b="1" dirty="0">
                <a:solidFill>
                  <a:srgbClr val="A7A1B6"/>
                </a:solidFill>
              </a:rPr>
              <a:t>콘티</a:t>
            </a:r>
            <a:endParaRPr lang="ko-KR" sz="2800" dirty="0"/>
          </a:p>
        </p:txBody>
      </p:sp>
      <p:sp>
        <p:nvSpPr>
          <p:cNvPr id="3" name="panel_1"/>
          <p:cNvSpPr/>
          <p:nvPr/>
        </p:nvSpPr>
        <p:spPr>
          <a:xfrm>
            <a:off x="457200" y="1097280"/>
            <a:ext cx="5486400" cy="1517333"/>
          </a:xfrm>
          <a:prstGeom prst="roundRect">
            <a:avLst>
              <a:gd name="adj" fmla="val 4821"/>
            </a:avLst>
          </a:prstGeom>
          <a:solidFill>
            <a:schemeClr val="tx2"/>
          </a:solidFill>
          <a:ln/>
        </p:spPr>
      </p:sp>
      <p:pic>
        <p:nvPicPr>
          <p:cNvPr id="4" name="img_1" descr="C:\Users\user\AppData\Local\Temp\claude\C--Project-NKK-PROJECT\0415198c-3dcb-489e-9557-3945752cc25a\scratchpad\frames\zapham\00_Tease_0.7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2697480" cy="151733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0352" y="1170432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30352" y="1170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1</a:t>
            </a:r>
            <a:endParaRPr lang="ko-KR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3319272" y="11704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accent1"/>
                </a:solidFill>
              </a:rPr>
              <a:t>0.40 – 1.55초</a:t>
            </a:r>
            <a:endParaRPr lang="ko-KR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3319272" y="1481328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150" dirty="0">
                <a:solidFill>
                  <a:schemeClr val="bg2"/>
                </a:solidFill>
              </a:rPr>
              <a:t>들판. 씨를 먹는 햄찌 볼을 길고양이가 콕콕(0.55·0.70·0.85) → 0.98 씨를 뺏어 들고 메롱 → 햄찌가 빈손으로 노려봄</a:t>
            </a:r>
            <a:endParaRPr lang="ko-KR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3319272" y="2212848"/>
            <a:ext cx="25146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들판 판 셀 합성 · 찌를 때마다 볼이 눌림 · 볼에서 파지직</a:t>
            </a:r>
            <a:endParaRPr lang="ko-KR" sz="1000" dirty="0"/>
          </a:p>
        </p:txBody>
      </p:sp>
      <p:sp>
        <p:nvSpPr>
          <p:cNvPr id="10" name="panel_2"/>
          <p:cNvSpPr/>
          <p:nvPr/>
        </p:nvSpPr>
        <p:spPr>
          <a:xfrm>
            <a:off x="6245352" y="1097280"/>
            <a:ext cx="5486400" cy="1517333"/>
          </a:xfrm>
          <a:prstGeom prst="roundRect">
            <a:avLst>
              <a:gd name="adj" fmla="val 4821"/>
            </a:avLst>
          </a:prstGeom>
          <a:solidFill>
            <a:schemeClr val="tx2"/>
          </a:solidFill>
          <a:ln/>
        </p:spPr>
      </p:sp>
      <p:pic>
        <p:nvPicPr>
          <p:cNvPr id="11" name="img_2" descr="C:\Users\user\AppData\Local\Temp\claude\C--Project-NKK-PROJECT\0415198c-3dcb-489e-9557-3945752cc25a\scratchpad\frames\zapham\01_Glare_1.88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097280"/>
            <a:ext cx="2697480" cy="1517333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318504" y="1170432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318504" y="1170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2</a:t>
            </a:r>
            <a:endParaRPr lang="ko-KR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9107424" y="11704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accent1"/>
                </a:solidFill>
              </a:rPr>
              <a:t>1.55 – 2.10초</a:t>
            </a:r>
            <a:endParaRPr lang="ko-KR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9107424" y="1481328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150" dirty="0">
                <a:solidFill>
                  <a:schemeClr val="bg2"/>
                </a:solidFill>
              </a:rPr>
              <a:t>얼굴 클로즈업: 그늘진 눈 → 눈 번쩍 · 볼 전기가 사방으로</a:t>
            </a:r>
            <a:endParaRPr lang="ko-KR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9107424" y="2212848"/>
            <a:ext cx="25146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천천히 다가감</a:t>
            </a:r>
            <a:endParaRPr lang="ko-KR" sz="1000" dirty="0"/>
          </a:p>
        </p:txBody>
      </p:sp>
      <p:sp>
        <p:nvSpPr>
          <p:cNvPr id="17" name="panel_3-1"/>
          <p:cNvSpPr/>
          <p:nvPr/>
        </p:nvSpPr>
        <p:spPr>
          <a:xfrm>
            <a:off x="457200" y="2797493"/>
            <a:ext cx="5486400" cy="1517333"/>
          </a:xfrm>
          <a:prstGeom prst="roundRect">
            <a:avLst>
              <a:gd name="adj" fmla="val 4821"/>
            </a:avLst>
          </a:prstGeom>
          <a:solidFill>
            <a:schemeClr val="tx2"/>
          </a:solidFill>
          <a:ln/>
        </p:spPr>
      </p:sp>
      <p:pic>
        <p:nvPicPr>
          <p:cNvPr id="18" name="img_3-1" descr="C:\Users\user\AppData\Local\Temp\claude\C--Project-NKK-PROJECT\0415198c-3dcb-489e-9557-3945752cc25a\scratchpad\frames\zapham\x_2.90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97493"/>
            <a:ext cx="2697480" cy="1517333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30352" y="2870645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530352" y="287064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000" b="1" dirty="0">
                <a:solidFill>
                  <a:schemeClr val="tx1"/>
                </a:solidFill>
              </a:rPr>
              <a:t>3-1</a:t>
            </a:r>
            <a:endParaRPr lang="ko-KR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3319272" y="2870645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accent1"/>
                </a:solidFill>
              </a:rPr>
              <a:t>2.10 – 3.90초</a:t>
            </a:r>
            <a:endParaRPr lang="ko-KR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3319272" y="3181541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150" dirty="0">
                <a:solidFill>
                  <a:schemeClr val="bg2"/>
                </a:solidFill>
              </a:rPr>
              <a:t>옆모습: 웅크려 충전 → 백만볼트 발사 → 고양이 감전 (털 곤두섬 ↔ 엑스레이 해골 깜빡) → 그을려 콜록</a:t>
            </a:r>
            <a:endParaRPr lang="ko-KR" sz="1150" dirty="0"/>
          </a:p>
        </p:txBody>
      </p:sp>
      <p:sp>
        <p:nvSpPr>
          <p:cNvPr id="23" name="Text 18"/>
          <p:cNvSpPr txBox="1"/>
          <p:nvPr/>
        </p:nvSpPr>
        <p:spPr>
          <a:xfrm>
            <a:off x="3319272" y="3913061"/>
            <a:ext cx="25146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카메라가 번개를 따라 휙 이동</a:t>
            </a:r>
            <a:endParaRPr lang="ko-KR" sz="1000" dirty="0"/>
          </a:p>
        </p:txBody>
      </p:sp>
      <p:sp>
        <p:nvSpPr>
          <p:cNvPr id="24" name="panel_3-2"/>
          <p:cNvSpPr/>
          <p:nvPr/>
        </p:nvSpPr>
        <p:spPr>
          <a:xfrm>
            <a:off x="6245352" y="2797493"/>
            <a:ext cx="5486400" cy="1517333"/>
          </a:xfrm>
          <a:prstGeom prst="roundRect">
            <a:avLst>
              <a:gd name="adj" fmla="val 4821"/>
            </a:avLst>
          </a:prstGeom>
          <a:solidFill>
            <a:schemeClr val="tx2"/>
          </a:solidFill>
          <a:ln/>
        </p:spPr>
      </p:sp>
      <p:pic>
        <p:nvPicPr>
          <p:cNvPr id="25" name="img_3-2" descr="C:\Users\user\AppData\Local\Temp\claude\C--Project-NKK-PROJECT\0415198c-3dcb-489e-9557-3945752cc25a\scratchpad\frames\zapham\02_Battle_3.54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2797493"/>
            <a:ext cx="2697480" cy="1517333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6318504" y="2870645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6318504" y="287064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000" b="1" dirty="0">
                <a:solidFill>
                  <a:schemeClr val="tx1"/>
                </a:solidFill>
              </a:rPr>
              <a:t>3-2</a:t>
            </a:r>
            <a:endParaRPr lang="ko-KR" sz="1000" dirty="0"/>
          </a:p>
        </p:txBody>
      </p:sp>
      <p:sp>
        <p:nvSpPr>
          <p:cNvPr id="28" name="Text 22"/>
          <p:cNvSpPr txBox="1"/>
          <p:nvPr/>
        </p:nvSpPr>
        <p:spPr>
          <a:xfrm>
            <a:off x="9107424" y="2870645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accent1"/>
                </a:solidFill>
              </a:rPr>
              <a:t>2.10 – 3.90초</a:t>
            </a:r>
            <a:endParaRPr lang="ko-KR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9107424" y="3181541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150" dirty="0">
                <a:solidFill>
                  <a:schemeClr val="bg2"/>
                </a:solidFill>
              </a:rPr>
              <a:t>몸통박치기 → 히트 스톱 · 쾅 → 고양이가 오른쪽 위 하늘로 튕겨 나감</a:t>
            </a:r>
            <a:endParaRPr lang="ko-KR" sz="1150" dirty="0"/>
          </a:p>
        </p:txBody>
      </p:sp>
      <p:sp>
        <p:nvSpPr>
          <p:cNvPr id="30" name="Text 24"/>
          <p:cNvSpPr txBox="1"/>
          <p:nvPr/>
        </p:nvSpPr>
        <p:spPr>
          <a:xfrm>
            <a:off x="9107424" y="3913061"/>
            <a:ext cx="25146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튕겨 나가는 고양이를 따라 틸트 업</a:t>
            </a:r>
            <a:endParaRPr lang="ko-KR" sz="1000" dirty="0"/>
          </a:p>
        </p:txBody>
      </p:sp>
      <p:sp>
        <p:nvSpPr>
          <p:cNvPr id="31" name="panel_4"/>
          <p:cNvSpPr/>
          <p:nvPr/>
        </p:nvSpPr>
        <p:spPr>
          <a:xfrm>
            <a:off x="457200" y="4497705"/>
            <a:ext cx="5486400" cy="1517333"/>
          </a:xfrm>
          <a:prstGeom prst="roundRect">
            <a:avLst>
              <a:gd name="adj" fmla="val 4821"/>
            </a:avLst>
          </a:prstGeom>
          <a:solidFill>
            <a:schemeClr val="tx2"/>
          </a:solidFill>
          <a:ln/>
        </p:spPr>
      </p:sp>
      <p:pic>
        <p:nvPicPr>
          <p:cNvPr id="32" name="img_4" descr="C:\Users\user\AppData\Local\Temp\claude\C--Project-NKK-PROJECT\0415198c-3dcb-489e-9557-3945752cc25a\scratchpad\frames\zapham\03_Fly_4.41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497705"/>
            <a:ext cx="2697480" cy="1517333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530352" y="4570857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4" name="Text 27"/>
          <p:cNvSpPr txBox="1"/>
          <p:nvPr/>
        </p:nvSpPr>
        <p:spPr>
          <a:xfrm>
            <a:off x="530352" y="457085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4</a:t>
            </a:r>
            <a:endParaRPr lang="ko-KR" sz="1300" dirty="0"/>
          </a:p>
        </p:txBody>
      </p:sp>
      <p:sp>
        <p:nvSpPr>
          <p:cNvPr id="35" name="Text 28"/>
          <p:cNvSpPr txBox="1"/>
          <p:nvPr/>
        </p:nvSpPr>
        <p:spPr>
          <a:xfrm>
            <a:off x="3319272" y="4570857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accent1"/>
                </a:solidFill>
              </a:rPr>
              <a:t>3.90 – 4.75초</a:t>
            </a:r>
            <a:endParaRPr lang="ko-KR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3319272" y="4881753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150" dirty="0">
                <a:solidFill>
                  <a:schemeClr val="bg2"/>
                </a:solidFill>
              </a:rPr>
              <a:t>하늘 근접 컷: 빙글빙글 날아가는 고양이 (악당 퇴장 패러디)</a:t>
            </a:r>
            <a:endParaRPr lang="ko-KR" sz="1150" dirty="0"/>
          </a:p>
        </p:txBody>
      </p:sp>
      <p:sp>
        <p:nvSpPr>
          <p:cNvPr id="37" name="Text 30"/>
          <p:cNvSpPr txBox="1"/>
          <p:nvPr/>
        </p:nvSpPr>
        <p:spPr>
          <a:xfrm>
            <a:off x="3319272" y="5613273"/>
            <a:ext cx="25146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구름이 오른쪽 위 → 왼쪽 아래로 휙휙</a:t>
            </a:r>
            <a:endParaRPr lang="ko-KR" sz="1000" dirty="0"/>
          </a:p>
        </p:txBody>
      </p:sp>
      <p:sp>
        <p:nvSpPr>
          <p:cNvPr id="38" name="panel_5"/>
          <p:cNvSpPr/>
          <p:nvPr/>
        </p:nvSpPr>
        <p:spPr>
          <a:xfrm>
            <a:off x="6245352" y="4497705"/>
            <a:ext cx="5486400" cy="1517333"/>
          </a:xfrm>
          <a:prstGeom prst="roundRect">
            <a:avLst>
              <a:gd name="adj" fmla="val 4821"/>
            </a:avLst>
          </a:prstGeom>
          <a:solidFill>
            <a:schemeClr val="tx2"/>
          </a:solidFill>
          <a:ln/>
        </p:spPr>
      </p:sp>
      <p:pic>
        <p:nvPicPr>
          <p:cNvPr id="39" name="img_5" descr="C:\Users\user\AppData\Local\Temp\claude\C--Project-NKK-PROJECT\0415198c-3dcb-489e-9557-3945752cc25a\scratchpad\frames\zapham\04_Twinkle_6.15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5352" y="4497705"/>
            <a:ext cx="2697480" cy="1517333"/>
          </a:xfrm>
          <a:prstGeom prst="rect">
            <a:avLst/>
          </a:prstGeom>
        </p:spPr>
      </p:pic>
      <p:sp>
        <p:nvSpPr>
          <p:cNvPr id="40" name="Shape 32"/>
          <p:cNvSpPr/>
          <p:nvPr/>
        </p:nvSpPr>
        <p:spPr>
          <a:xfrm>
            <a:off x="6318504" y="4570857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1" name="Text 33"/>
          <p:cNvSpPr txBox="1"/>
          <p:nvPr/>
        </p:nvSpPr>
        <p:spPr>
          <a:xfrm>
            <a:off x="6318504" y="457085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5</a:t>
            </a:r>
            <a:endParaRPr lang="ko-KR" sz="1300" dirty="0"/>
          </a:p>
        </p:txBody>
      </p:sp>
      <p:sp>
        <p:nvSpPr>
          <p:cNvPr id="42" name="Text 34"/>
          <p:cNvSpPr txBox="1"/>
          <p:nvPr/>
        </p:nvSpPr>
        <p:spPr>
          <a:xfrm>
            <a:off x="9107424" y="4570857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accent1"/>
                </a:solidFill>
              </a:rPr>
              <a:t>4.75 – 6.50초</a:t>
            </a:r>
            <a:endParaRPr lang="ko-KR" sz="1200" dirty="0"/>
          </a:p>
        </p:txBody>
      </p:sp>
      <p:sp>
        <p:nvSpPr>
          <p:cNvPr id="43" name="Text 35"/>
          <p:cNvSpPr txBox="1"/>
          <p:nvPr/>
        </p:nvSpPr>
        <p:spPr>
          <a:xfrm>
            <a:off x="9107424" y="4881753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150" dirty="0">
                <a:solidFill>
                  <a:schemeClr val="bg2"/>
                </a:solidFill>
              </a:rPr>
              <a:t>들판 롱샷: 고양이가 하늘 저편 점이 되어 반짝 ✦ → 햄찌 브이 윙크</a:t>
            </a:r>
            <a:endParaRPr lang="ko-KR" sz="1150" dirty="0"/>
          </a:p>
        </p:txBody>
      </p:sp>
      <p:sp>
        <p:nvSpPr>
          <p:cNvPr id="44" name="Text 36"/>
          <p:cNvSpPr txBox="1"/>
          <p:nvPr/>
        </p:nvSpPr>
        <p:spPr>
          <a:xfrm>
            <a:off x="9107424" y="5613273"/>
            <a:ext cx="25146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햄찌 쪽으로 다가감 · 컷신 걷힘</a:t>
            </a:r>
            <a:endParaRPr lang="ko-KR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7A1B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/>
              <a:t>9</a:t>
            </a:fld>
            <a:endParaRPr lang="ko-K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sz="2800" b="1" dirty="0">
                <a:solidFill>
                  <a:schemeClr val="bg2"/>
                </a:solidFill>
              </a:rPr>
              <a:t>쥐랜드 관광쥐  </a:t>
            </a:r>
            <a:pPr eaLnBrk="0" algn="l" indent="0" marL="0">
              <a:buNone/>
            </a:pPr>
            <a:r>
              <a:rPr lang="ko-KR" sz="2800" b="1" dirty="0">
                <a:solidFill>
                  <a:srgbClr val="FFC83D"/>
                </a:solidFill>
              </a:rPr>
              <a:t>풍선 펑</a:t>
            </a:r>
            <a:endParaRPr lang="ko-KR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384048"/>
            <a:ext cx="1399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sz="1400" dirty="0">
                <a:solidFill>
                  <a:schemeClr val="accent5"/>
                </a:solidFill>
              </a:rPr>
              <a:t>02 / 16</a:t>
            </a:r>
            <a:endParaRPr lang="ko-KR" sz="1400" dirty="0"/>
          </a:p>
        </p:txBody>
      </p:sp>
      <p:pic>
        <p:nvPicPr>
          <p:cNvPr id="4" name="hero" descr="C:\Users\user\AppData\Local\Temp\claude\C--Project-NKK-PROJECT\0415198c-3dcb-489e-9557-3945752cc25a\scratchpad\frames\parkrat\13_BalloonD_5.5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6400800" cy="360045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178040" y="1143000"/>
            <a:ext cx="45537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0000"/>
              </a:lnSpc>
              <a:buNone/>
            </a:pPr>
            <a:r>
              <a:rPr lang="ko-KR" sz="1500" b="1" dirty="0">
                <a:solidFill>
                  <a:schemeClr val="bg2"/>
                </a:solidFill>
              </a:rPr>
              <a:t>퍼레이드 중 풍선을 불다 멈추지 못하고, 거대해진 풍선이 터져 쥐랜드가 날아간다. 본인은 데헷.</a:t>
            </a:r>
            <a:endParaRPr lang="ko-KR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178040" y="21945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테이블 기술명</a:t>
            </a:r>
            <a:endParaRPr lang="ko-KR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412480" y="2194560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쥐랜드 불꽃 퍼레이드  (31002)</a:t>
            </a:r>
            <a:endParaRPr lang="ko-KR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178040" y="262432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컷 구성</a:t>
            </a:r>
            <a:endParaRPr lang="ko-KR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412480" y="2624328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10컷 · 패널 10장</a:t>
            </a:r>
            <a:endParaRPr lang="ko-KR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178040" y="3054096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컷신 길이</a:t>
            </a:r>
            <a:endParaRPr lang="ko-KR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412480" y="3054096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내부 9.96초 · 1배속</a:t>
            </a:r>
            <a:endParaRPr lang="ko-KR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178040" y="3483864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게임 화면</a:t>
            </a:r>
            <a:endParaRPr lang="ko-KR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412480" y="3483864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걷힘 0.2초 → 1초 · 게임 화면 이펙트 없음 · 1초 동안 피해만 (후처리 폭발 뺌)</a:t>
            </a:r>
            <a:endParaRPr lang="ko-KR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178040" y="391363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컷신 글</a:t>
            </a:r>
            <a:endParaRPr lang="ko-KR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412480" y="3913632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없음</a:t>
            </a:r>
            <a:endParaRPr lang="ko-KR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178040" y="43434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밈 · 대사</a:t>
            </a:r>
            <a:endParaRPr lang="ko-KR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8412480" y="4343400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—</a:t>
            </a:r>
            <a:endParaRPr lang="ko-KR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49743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accent5"/>
                </a:solidFill>
              </a:rPr>
              <a:t>타임라인 (컷신 내부 시간 · 게임 화면은 같은 축척)</a:t>
            </a:r>
            <a:endParaRPr lang="ko-KR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5321808"/>
            <a:ext cx="404106" cy="457200"/>
          </a:xfrm>
          <a:prstGeom prst="rect">
            <a:avLst/>
          </a:prstGeom>
          <a:solidFill>
            <a:srgbClr val="35304A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61306" y="5321808"/>
            <a:ext cx="1111291" cy="457200"/>
          </a:xfrm>
          <a:prstGeom prst="rect">
            <a:avLst/>
          </a:prstGeom>
          <a:solidFill>
            <a:srgbClr val="FFC83D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1306" y="5321808"/>
            <a:ext cx="11112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1</a:t>
            </a:r>
            <a:endParaRPr lang="ko-KR" sz="1100" dirty="0"/>
          </a:p>
        </p:txBody>
      </p:sp>
      <p:sp>
        <p:nvSpPr>
          <p:cNvPr id="22" name="Shape 19"/>
          <p:cNvSpPr/>
          <p:nvPr/>
        </p:nvSpPr>
        <p:spPr>
          <a:xfrm>
            <a:off x="1972597" y="5321808"/>
            <a:ext cx="656672" cy="457200"/>
          </a:xfrm>
          <a:prstGeom prst="rect">
            <a:avLst/>
          </a:prstGeom>
          <a:solidFill>
            <a:srgbClr val="E0AE2E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972597" y="5321808"/>
            <a:ext cx="656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2</a:t>
            </a:r>
            <a:endParaRPr lang="ko-KR" sz="1100" dirty="0"/>
          </a:p>
        </p:txBody>
      </p:sp>
      <p:sp>
        <p:nvSpPr>
          <p:cNvPr id="24" name="Shape 21"/>
          <p:cNvSpPr/>
          <p:nvPr/>
        </p:nvSpPr>
        <p:spPr>
          <a:xfrm>
            <a:off x="2629269" y="5321808"/>
            <a:ext cx="404106" cy="457200"/>
          </a:xfrm>
          <a:prstGeom prst="rect">
            <a:avLst/>
          </a:prstGeom>
          <a:solidFill>
            <a:srgbClr val="FFC83D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629269" y="5321808"/>
            <a:ext cx="4041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3</a:t>
            </a:r>
            <a:endParaRPr lang="ko-KR" sz="1100" dirty="0"/>
          </a:p>
        </p:txBody>
      </p:sp>
      <p:sp>
        <p:nvSpPr>
          <p:cNvPr id="26" name="Shape 23"/>
          <p:cNvSpPr/>
          <p:nvPr/>
        </p:nvSpPr>
        <p:spPr>
          <a:xfrm>
            <a:off x="3033375" y="5321808"/>
            <a:ext cx="434414" cy="457200"/>
          </a:xfrm>
          <a:prstGeom prst="rect">
            <a:avLst/>
          </a:prstGeom>
          <a:solidFill>
            <a:srgbClr val="E0AE2E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033375" y="5321808"/>
            <a:ext cx="4344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4</a:t>
            </a:r>
            <a:endParaRPr lang="ko-KR" sz="1100" dirty="0"/>
          </a:p>
        </p:txBody>
      </p:sp>
      <p:sp>
        <p:nvSpPr>
          <p:cNvPr id="28" name="Shape 25"/>
          <p:cNvSpPr/>
          <p:nvPr/>
        </p:nvSpPr>
        <p:spPr>
          <a:xfrm>
            <a:off x="3467788" y="5321808"/>
            <a:ext cx="363695" cy="457200"/>
          </a:xfrm>
          <a:prstGeom prst="rect">
            <a:avLst/>
          </a:prstGeom>
          <a:solidFill>
            <a:srgbClr val="FFC83D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467788" y="5321808"/>
            <a:ext cx="363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5</a:t>
            </a:r>
            <a:endParaRPr lang="ko-KR" sz="1100" dirty="0"/>
          </a:p>
        </p:txBody>
      </p:sp>
      <p:sp>
        <p:nvSpPr>
          <p:cNvPr id="30" name="Shape 27"/>
          <p:cNvSpPr/>
          <p:nvPr/>
        </p:nvSpPr>
        <p:spPr>
          <a:xfrm>
            <a:off x="3831483" y="5321808"/>
            <a:ext cx="979957" cy="457200"/>
          </a:xfrm>
          <a:prstGeom prst="rect">
            <a:avLst/>
          </a:prstGeom>
          <a:solidFill>
            <a:srgbClr val="E0AE2E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3831483" y="5321808"/>
            <a:ext cx="97995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6</a:t>
            </a:r>
            <a:endParaRPr lang="ko-KR" sz="1100" dirty="0"/>
          </a:p>
        </p:txBody>
      </p:sp>
      <p:sp>
        <p:nvSpPr>
          <p:cNvPr id="32" name="Shape 29"/>
          <p:cNvSpPr/>
          <p:nvPr/>
        </p:nvSpPr>
        <p:spPr>
          <a:xfrm>
            <a:off x="4811440" y="5321808"/>
            <a:ext cx="1666936" cy="457200"/>
          </a:xfrm>
          <a:prstGeom prst="rect">
            <a:avLst/>
          </a:prstGeom>
          <a:solidFill>
            <a:srgbClr val="FFC83D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811440" y="5321808"/>
            <a:ext cx="166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7</a:t>
            </a:r>
            <a:endParaRPr lang="ko-KR" sz="1100" dirty="0"/>
          </a:p>
        </p:txBody>
      </p:sp>
      <p:sp>
        <p:nvSpPr>
          <p:cNvPr id="34" name="Shape 31"/>
          <p:cNvSpPr/>
          <p:nvPr/>
        </p:nvSpPr>
        <p:spPr>
          <a:xfrm>
            <a:off x="6478377" y="5321808"/>
            <a:ext cx="1010265" cy="457200"/>
          </a:xfrm>
          <a:prstGeom prst="rect">
            <a:avLst/>
          </a:prstGeom>
          <a:solidFill>
            <a:srgbClr val="E0AE2E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8377" y="5321808"/>
            <a:ext cx="10102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8</a:t>
            </a:r>
            <a:endParaRPr lang="ko-KR" sz="1100" dirty="0"/>
          </a:p>
        </p:txBody>
      </p:sp>
      <p:sp>
        <p:nvSpPr>
          <p:cNvPr id="36" name="Shape 33"/>
          <p:cNvSpPr/>
          <p:nvPr/>
        </p:nvSpPr>
        <p:spPr>
          <a:xfrm>
            <a:off x="7488641" y="5321808"/>
            <a:ext cx="1394165" cy="457200"/>
          </a:xfrm>
          <a:prstGeom prst="rect">
            <a:avLst/>
          </a:prstGeom>
          <a:solidFill>
            <a:srgbClr val="FFC83D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7488641" y="5321808"/>
            <a:ext cx="13941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9</a:t>
            </a:r>
            <a:endParaRPr lang="ko-KR" sz="1100" dirty="0"/>
          </a:p>
        </p:txBody>
      </p:sp>
      <p:sp>
        <p:nvSpPr>
          <p:cNvPr id="38" name="Shape 35"/>
          <p:cNvSpPr/>
          <p:nvPr/>
        </p:nvSpPr>
        <p:spPr>
          <a:xfrm>
            <a:off x="8882806" y="5321808"/>
            <a:ext cx="1636629" cy="457200"/>
          </a:xfrm>
          <a:prstGeom prst="rect">
            <a:avLst/>
          </a:prstGeom>
          <a:solidFill>
            <a:srgbClr val="E0AE2E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8882806" y="5321808"/>
            <a:ext cx="16366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10</a:t>
            </a:r>
            <a:endParaRPr lang="ko-KR" sz="1100" dirty="0"/>
          </a:p>
        </p:txBody>
      </p:sp>
      <p:sp>
        <p:nvSpPr>
          <p:cNvPr id="40" name="Shape 37"/>
          <p:cNvSpPr/>
          <p:nvPr/>
        </p:nvSpPr>
        <p:spPr>
          <a:xfrm>
            <a:off x="10519435" y="5321808"/>
            <a:ext cx="202053" cy="457200"/>
          </a:xfrm>
          <a:prstGeom prst="rect">
            <a:avLst/>
          </a:prstGeom>
          <a:solidFill>
            <a:srgbClr val="A7A1B6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0721487" y="5321808"/>
            <a:ext cx="1010265" cy="457200"/>
          </a:xfrm>
          <a:prstGeom prst="rect">
            <a:avLst/>
          </a:prstGeom>
          <a:solidFill>
            <a:srgbClr val="6FD3C6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10721487" y="5321808"/>
            <a:ext cx="10102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게임 화면</a:t>
            </a:r>
            <a:endParaRPr lang="ko-KR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457200" y="58247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0</a:t>
            </a:r>
            <a:endParaRPr lang="ko-KR" sz="1000" dirty="0"/>
          </a:p>
        </p:txBody>
      </p:sp>
      <p:sp>
        <p:nvSpPr>
          <p:cNvPr id="44" name="Text 41"/>
          <p:cNvSpPr txBox="1"/>
          <p:nvPr/>
        </p:nvSpPr>
        <p:spPr>
          <a:xfrm>
            <a:off x="495546" y="58247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0.4</a:t>
            </a:r>
            <a:endParaRPr lang="ko-KR" sz="1000" dirty="0"/>
          </a:p>
        </p:txBody>
      </p:sp>
      <p:sp>
        <p:nvSpPr>
          <p:cNvPr id="45" name="Text 42"/>
          <p:cNvSpPr txBox="1"/>
          <p:nvPr/>
        </p:nvSpPr>
        <p:spPr>
          <a:xfrm>
            <a:off x="10153675" y="58247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9.96</a:t>
            </a:r>
            <a:endParaRPr lang="ko-KR" sz="1000" dirty="0"/>
          </a:p>
        </p:txBody>
      </p:sp>
      <p:sp>
        <p:nvSpPr>
          <p:cNvPr id="46" name="Text 43"/>
          <p:cNvSpPr txBox="1"/>
          <p:nvPr/>
        </p:nvSpPr>
        <p:spPr>
          <a:xfrm>
            <a:off x="11000232" y="58247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r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+1.2</a:t>
            </a:r>
            <a:endParaRPr lang="ko-KR" sz="1000" dirty="0"/>
          </a:p>
        </p:txBody>
      </p:sp>
      <p:sp>
        <p:nvSpPr>
          <p:cNvPr id="47" name="Text 44"/>
          <p:cNvSpPr txBox="1"/>
          <p:nvPr/>
        </p:nvSpPr>
        <p:spPr>
          <a:xfrm>
            <a:off x="457200" y="614476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accent5"/>
                </a:solidFill>
              </a:rPr>
              <a:t>※ 2.55초(박수 컷)부터 0.7배속이 시간에 반영됨</a:t>
            </a:r>
            <a:endParaRPr lang="ko-KR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7A1B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/>
              <a:t>10</a:t>
            </a:fld>
            <a:endParaRPr lang="ko-K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sz="2800" b="1" dirty="0">
                <a:solidFill>
                  <a:schemeClr val="bg2"/>
                </a:solidFill>
              </a:rPr>
              <a:t>쥐랜드 관광쥐  </a:t>
            </a:r>
            <a:pPr eaLnBrk="0" algn="l" indent="0" marL="0">
              <a:buNone/>
            </a:pPr>
            <a:r>
              <a:rPr lang="ko-KR" sz="2800" b="1" dirty="0">
                <a:solidFill>
                  <a:srgbClr val="A7A1B6"/>
                </a:solidFill>
              </a:rPr>
              <a:t>콘티 1/2</a:t>
            </a:r>
            <a:endParaRPr lang="ko-KR" sz="2800" dirty="0"/>
          </a:p>
        </p:txBody>
      </p:sp>
      <p:sp>
        <p:nvSpPr>
          <p:cNvPr id="3" name="panel_1"/>
          <p:cNvSpPr/>
          <p:nvPr/>
        </p:nvSpPr>
        <p:spPr>
          <a:xfrm>
            <a:off x="457200" y="1097280"/>
            <a:ext cx="5486400" cy="1517333"/>
          </a:xfrm>
          <a:prstGeom prst="roundRect">
            <a:avLst>
              <a:gd name="adj" fmla="val 4821"/>
            </a:avLst>
          </a:prstGeom>
          <a:solidFill>
            <a:schemeClr val="tx2"/>
          </a:solidFill>
          <a:ln/>
        </p:spPr>
      </p:sp>
      <p:pic>
        <p:nvPicPr>
          <p:cNvPr id="4" name="img_1" descr="C:\Users\user\AppData\Local\Temp\claude\C--Project-NKK-PROJECT\0415198c-3dcb-489e-9557-3945752cc25a\scratchpad\frames\parkrat\00_Parade0_0.6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2697480" cy="151733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0352" y="1170432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30352" y="1170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1</a:t>
            </a:r>
            <a:endParaRPr lang="ko-KR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3319272" y="11704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accent1"/>
                </a:solidFill>
              </a:rPr>
              <a:t>0.40 – 1.50초</a:t>
            </a:r>
            <a:endParaRPr lang="ko-KR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3319272" y="1481328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150" dirty="0">
                <a:solidFill>
                  <a:schemeClr val="bg2"/>
                </a:solidFill>
              </a:rPr>
              <a:t>축제 퍼레이드 몽타주 3컷: 치즈 꽃차 · 즐기는 쥐들 · 회전목마</a:t>
            </a:r>
            <a:endParaRPr lang="ko-KR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3319272" y="2212848"/>
            <a:ext cx="25146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컷마다 다른 카메라 흐름 (좌우 팬 · 줌 인 · 줌 아웃)</a:t>
            </a:r>
            <a:endParaRPr lang="ko-KR" sz="1000" dirty="0"/>
          </a:p>
        </p:txBody>
      </p:sp>
      <p:sp>
        <p:nvSpPr>
          <p:cNvPr id="10" name="panel_2"/>
          <p:cNvSpPr/>
          <p:nvPr/>
        </p:nvSpPr>
        <p:spPr>
          <a:xfrm>
            <a:off x="6245352" y="1097280"/>
            <a:ext cx="5486400" cy="1517333"/>
          </a:xfrm>
          <a:prstGeom prst="roundRect">
            <a:avLst>
              <a:gd name="adj" fmla="val 4821"/>
            </a:avLst>
          </a:prstGeom>
          <a:solidFill>
            <a:schemeClr val="tx2"/>
          </a:solidFill>
          <a:ln/>
        </p:spPr>
      </p:sp>
      <p:pic>
        <p:nvPicPr>
          <p:cNvPr id="11" name="img_2" descr="C:\Users\user\AppData\Local\Temp\claude\C--Project-NKK-PROJECT\0415198c-3dcb-489e-9557-3945752cc25a\scratchpad\frames\parkrat\03_Think_1.89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097280"/>
            <a:ext cx="2697480" cy="1517333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318504" y="1170432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318504" y="1170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2</a:t>
            </a:r>
            <a:endParaRPr lang="ko-KR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9107424" y="11704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accent1"/>
                </a:solidFill>
              </a:rPr>
              <a:t>1.50 – 2.15초</a:t>
            </a:r>
            <a:endParaRPr lang="ko-KR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9107424" y="1481328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150" dirty="0">
                <a:solidFill>
                  <a:schemeClr val="bg2"/>
                </a:solidFill>
              </a:rPr>
              <a:t>바람 빠진 풍선을 들고 고민 → 유레카! (전구 · 반짝)</a:t>
            </a:r>
            <a:endParaRPr lang="ko-KR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9107424" y="2212848"/>
            <a:ext cx="25146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얼굴 중심 고정 컷</a:t>
            </a:r>
            <a:endParaRPr lang="ko-KR" sz="1000" dirty="0"/>
          </a:p>
        </p:txBody>
      </p:sp>
      <p:sp>
        <p:nvSpPr>
          <p:cNvPr id="17" name="panel_3"/>
          <p:cNvSpPr/>
          <p:nvPr/>
        </p:nvSpPr>
        <p:spPr>
          <a:xfrm>
            <a:off x="457200" y="2797493"/>
            <a:ext cx="5486400" cy="1517333"/>
          </a:xfrm>
          <a:prstGeom prst="roundRect">
            <a:avLst>
              <a:gd name="adj" fmla="val 4821"/>
            </a:avLst>
          </a:prstGeom>
          <a:solidFill>
            <a:schemeClr val="tx2"/>
          </a:solidFill>
          <a:ln/>
        </p:spPr>
      </p:sp>
      <p:pic>
        <p:nvPicPr>
          <p:cNvPr id="18" name="img_3" descr="C:\Users\user\AppData\Local\Temp\claude\C--Project-NKK-PROJECT\0415198c-3dcb-489e-9557-3945752cc25a\scratchpad\frames\parkrat\04_Pump_2.39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97493"/>
            <a:ext cx="2697480" cy="1517333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30352" y="2870645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530352" y="287064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3</a:t>
            </a:r>
            <a:endParaRPr lang="ko-KR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3319272" y="2870645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accent1"/>
                </a:solidFill>
              </a:rPr>
              <a:t>2.15 – 2.55초</a:t>
            </a:r>
            <a:endParaRPr lang="ko-KR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3319272" y="3181541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150" dirty="0">
                <a:solidFill>
                  <a:schemeClr val="bg2"/>
                </a:solidFill>
              </a:rPr>
              <a:t>광장: 에어 펌프로 풍선을 불기 시작 (누를 때마다 조금씩)</a:t>
            </a:r>
            <a:endParaRPr lang="ko-KR" sz="1150" dirty="0"/>
          </a:p>
        </p:txBody>
      </p:sp>
      <p:sp>
        <p:nvSpPr>
          <p:cNvPr id="23" name="Text 18"/>
          <p:cNvSpPr txBox="1"/>
          <p:nvPr/>
        </p:nvSpPr>
        <p:spPr>
          <a:xfrm>
            <a:off x="3319272" y="3913061"/>
            <a:ext cx="25146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광장 롱샷 — 같은 쥐 · 같은 풍선이 이후 풍선 컷까지 이어짐</a:t>
            </a:r>
            <a:endParaRPr lang="ko-KR" sz="1000" dirty="0"/>
          </a:p>
        </p:txBody>
      </p:sp>
      <p:sp>
        <p:nvSpPr>
          <p:cNvPr id="24" name="panel_4"/>
          <p:cNvSpPr/>
          <p:nvPr/>
        </p:nvSpPr>
        <p:spPr>
          <a:xfrm>
            <a:off x="6245352" y="2797493"/>
            <a:ext cx="5486400" cy="1517333"/>
          </a:xfrm>
          <a:prstGeom prst="roundRect">
            <a:avLst>
              <a:gd name="adj" fmla="val 4821"/>
            </a:avLst>
          </a:prstGeom>
          <a:solidFill>
            <a:schemeClr val="tx2"/>
          </a:solidFill>
          <a:ln/>
        </p:spPr>
      </p:sp>
      <p:pic>
        <p:nvPicPr>
          <p:cNvPr id="25" name="img_4" descr="C:\Users\user\AppData\Local\Temp\claude\C--Project-NKK-PROJECT\0415198c-3dcb-489e-9557-3945752cc25a\scratchpad\frames\parkrat\05_Crowd_2.81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2797493"/>
            <a:ext cx="2697480" cy="1517333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6318504" y="2870645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6318504" y="287064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4</a:t>
            </a:r>
            <a:endParaRPr lang="ko-KR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9107424" y="2870645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accent1"/>
                </a:solidFill>
              </a:rPr>
              <a:t>2.55 – 2.98초</a:t>
            </a:r>
            <a:endParaRPr lang="ko-KR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9107424" y="3181541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150" dirty="0">
                <a:solidFill>
                  <a:schemeClr val="bg2"/>
                </a:solidFill>
              </a:rPr>
              <a:t>박수 치는 구경꾼 쥐들 (손 모음 ↔ 벌림)</a:t>
            </a:r>
            <a:endParaRPr lang="ko-KR" sz="1150" dirty="0"/>
          </a:p>
        </p:txBody>
      </p:sp>
      <p:sp>
        <p:nvSpPr>
          <p:cNvPr id="30" name="Text 24"/>
          <p:cNvSpPr txBox="1"/>
          <p:nvPr/>
        </p:nvSpPr>
        <p:spPr>
          <a:xfrm>
            <a:off x="9107424" y="3913061"/>
            <a:ext cx="25146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사선 하이 앵글 · 여기부터 0.7배속</a:t>
            </a:r>
            <a:endParaRPr lang="ko-KR" sz="1000" dirty="0"/>
          </a:p>
        </p:txBody>
      </p:sp>
      <p:sp>
        <p:nvSpPr>
          <p:cNvPr id="31" name="panel_5"/>
          <p:cNvSpPr/>
          <p:nvPr/>
        </p:nvSpPr>
        <p:spPr>
          <a:xfrm>
            <a:off x="457200" y="4497705"/>
            <a:ext cx="5486400" cy="1517333"/>
          </a:xfrm>
          <a:prstGeom prst="roundRect">
            <a:avLst>
              <a:gd name="adj" fmla="val 4821"/>
            </a:avLst>
          </a:prstGeom>
          <a:solidFill>
            <a:schemeClr val="tx2"/>
          </a:solidFill>
          <a:ln/>
        </p:spPr>
      </p:sp>
      <p:pic>
        <p:nvPicPr>
          <p:cNvPr id="32" name="img_5" descr="C:\Users\user\AppData\Local\Temp\claude\C--Project-NKK-PROJECT\0415198c-3dcb-489e-9557-3945752cc25a\scratchpad\frames\parkrat\06_Hand_3.20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497705"/>
            <a:ext cx="2697480" cy="1517333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530352" y="4570857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4" name="Text 27"/>
          <p:cNvSpPr txBox="1"/>
          <p:nvPr/>
        </p:nvSpPr>
        <p:spPr>
          <a:xfrm>
            <a:off x="530352" y="457085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5</a:t>
            </a:r>
            <a:endParaRPr lang="ko-KR" sz="1300" dirty="0"/>
          </a:p>
        </p:txBody>
      </p:sp>
      <p:sp>
        <p:nvSpPr>
          <p:cNvPr id="35" name="Text 28"/>
          <p:cNvSpPr txBox="1"/>
          <p:nvPr/>
        </p:nvSpPr>
        <p:spPr>
          <a:xfrm>
            <a:off x="3319272" y="4570857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accent1"/>
                </a:solidFill>
              </a:rPr>
              <a:t>2.98 – 3.34초</a:t>
            </a:r>
            <a:endParaRPr lang="ko-KR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3319272" y="4881753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150" dirty="0">
                <a:solidFill>
                  <a:schemeClr val="bg2"/>
                </a:solidFill>
              </a:rPr>
              <a:t>펌프를 누르는 손 클로즈업 (누를수록 빨라짐)</a:t>
            </a:r>
            <a:endParaRPr lang="ko-KR" sz="1150" dirty="0"/>
          </a:p>
        </p:txBody>
      </p:sp>
      <p:sp>
        <p:nvSpPr>
          <p:cNvPr id="37" name="Text 30"/>
          <p:cNvSpPr txBox="1"/>
          <p:nvPr/>
        </p:nvSpPr>
        <p:spPr>
          <a:xfrm>
            <a:off x="3319272" y="5613273"/>
            <a:ext cx="25146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펌프 셀 프레임 반복</a:t>
            </a:r>
            <a:endParaRPr lang="ko-KR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7A1B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/>
              <a:t>11</a:t>
            </a:fld>
            <a:endParaRPr lang="ko-K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sz="2800" b="1" dirty="0">
                <a:solidFill>
                  <a:schemeClr val="bg2"/>
                </a:solidFill>
              </a:rPr>
              <a:t>쥐랜드 관광쥐  </a:t>
            </a:r>
            <a:pPr eaLnBrk="0" algn="l" indent="0" marL="0">
              <a:buNone/>
            </a:pPr>
            <a:r>
              <a:rPr lang="ko-KR" sz="2800" b="1" dirty="0">
                <a:solidFill>
                  <a:srgbClr val="A7A1B6"/>
                </a:solidFill>
              </a:rPr>
              <a:t>콘티 2/2</a:t>
            </a:r>
            <a:endParaRPr lang="ko-KR" sz="2800" dirty="0"/>
          </a:p>
        </p:txBody>
      </p:sp>
      <p:sp>
        <p:nvSpPr>
          <p:cNvPr id="3" name="panel_6"/>
          <p:cNvSpPr/>
          <p:nvPr/>
        </p:nvSpPr>
        <p:spPr>
          <a:xfrm>
            <a:off x="457200" y="1097280"/>
            <a:ext cx="5486400" cy="1517333"/>
          </a:xfrm>
          <a:prstGeom prst="roundRect">
            <a:avLst>
              <a:gd name="adj" fmla="val 4821"/>
            </a:avLst>
          </a:prstGeom>
          <a:solidFill>
            <a:schemeClr val="tx2"/>
          </a:solidFill>
          <a:ln/>
        </p:spPr>
      </p:sp>
      <p:pic>
        <p:nvPicPr>
          <p:cNvPr id="4" name="img_6" descr="C:\Users\user\AppData\Local\Temp\claude\C--Project-NKK-PROJECT\0415198c-3dcb-489e-9557-3945752cc25a\scratchpad\frames\parkrat\09_BalloonB_4.1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2697480" cy="151733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0352" y="1170432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30352" y="1170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6</a:t>
            </a:r>
            <a:endParaRPr lang="ko-KR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3319272" y="11704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accent1"/>
                </a:solidFill>
              </a:rPr>
              <a:t>3.34 – 4.31초</a:t>
            </a:r>
            <a:endParaRPr lang="ko-KR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3319272" y="1481328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150" dirty="0">
                <a:solidFill>
                  <a:schemeClr val="bg2"/>
                </a:solidFill>
              </a:rPr>
              <a:t>교차 1: 풍선 A → 관객 갸웃 → 풍선 B → 관객 불안</a:t>
            </a:r>
            <a:endParaRPr lang="ko-KR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3319272" y="2212848"/>
            <a:ext cx="25146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관객 컷은 ④와 같은 구도, 단계마다 더 다가가고 더 흔들림</a:t>
            </a:r>
            <a:endParaRPr lang="ko-KR" sz="1000" dirty="0"/>
          </a:p>
        </p:txBody>
      </p:sp>
      <p:sp>
        <p:nvSpPr>
          <p:cNvPr id="10" name="panel_7"/>
          <p:cNvSpPr/>
          <p:nvPr/>
        </p:nvSpPr>
        <p:spPr>
          <a:xfrm>
            <a:off x="6245352" y="1097280"/>
            <a:ext cx="5486400" cy="1517333"/>
          </a:xfrm>
          <a:prstGeom prst="roundRect">
            <a:avLst>
              <a:gd name="adj" fmla="val 4821"/>
            </a:avLst>
          </a:prstGeom>
          <a:solidFill>
            <a:schemeClr val="tx2"/>
          </a:solidFill>
          <a:ln/>
        </p:spPr>
      </p:sp>
      <p:pic>
        <p:nvPicPr>
          <p:cNvPr id="11" name="img_7" descr="C:\Users\user\AppData\Local\Temp\claude\C--Project-NKK-PROJECT\0415198c-3dcb-489e-9557-3945752cc25a\scratchpad\frames\parkrat\13_BalloonD_5.5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097280"/>
            <a:ext cx="2697480" cy="1517333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318504" y="1170432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318504" y="1170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7</a:t>
            </a:r>
            <a:endParaRPr lang="ko-KR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9107424" y="11704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accent1"/>
                </a:solidFill>
              </a:rPr>
              <a:t>4.31 – 5.96초</a:t>
            </a:r>
            <a:endParaRPr lang="ko-KR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9107424" y="1481328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150" dirty="0">
                <a:solidFill>
                  <a:schemeClr val="bg2"/>
                </a:solidFill>
              </a:rPr>
              <a:t>교차 2: 풍선 C → 당황 → 풍선 D → 비명 (풍선이 광장 · 성을 덮음)</a:t>
            </a:r>
            <a:endParaRPr lang="ko-KR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9107424" y="2212848"/>
            <a:ext cx="25146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풍선 D = 트래킹 줌 아웃</a:t>
            </a:r>
            <a:endParaRPr lang="ko-KR" sz="1000" dirty="0"/>
          </a:p>
        </p:txBody>
      </p:sp>
      <p:sp>
        <p:nvSpPr>
          <p:cNvPr id="17" name="panel_8"/>
          <p:cNvSpPr/>
          <p:nvPr/>
        </p:nvSpPr>
        <p:spPr>
          <a:xfrm>
            <a:off x="457200" y="2797493"/>
            <a:ext cx="5486400" cy="1517333"/>
          </a:xfrm>
          <a:prstGeom prst="roundRect">
            <a:avLst>
              <a:gd name="adj" fmla="val 4821"/>
            </a:avLst>
          </a:prstGeom>
          <a:solidFill>
            <a:schemeClr val="tx2"/>
          </a:solidFill>
          <a:ln/>
        </p:spPr>
      </p:sp>
      <p:pic>
        <p:nvPicPr>
          <p:cNvPr id="18" name="img_8" descr="C:\Users\user\AppData\Local\Temp\claude\C--Project-NKK-PROJECT\0415198c-3dcb-489e-9557-3945752cc25a\scratchpad\frames\parkrat\15_Freeze_6.76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97493"/>
            <a:ext cx="2697480" cy="1517333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30352" y="2870645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530352" y="287064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8</a:t>
            </a:r>
            <a:endParaRPr lang="ko-KR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3319272" y="2870645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accent1"/>
                </a:solidFill>
              </a:rPr>
              <a:t>5.96 – 6.96초</a:t>
            </a:r>
            <a:endParaRPr lang="ko-KR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3319272" y="3181541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150" dirty="0">
                <a:solidFill>
                  <a:schemeClr val="bg2"/>
                </a:solidFill>
              </a:rPr>
              <a:t>카메라 · 풍선 · 쥐 전부 정지 → 펑! 하얀 번쩍 · 풍압 돔 · 충격파 고리 · 파편</a:t>
            </a:r>
            <a:endParaRPr lang="ko-KR" sz="1150" dirty="0"/>
          </a:p>
        </p:txBody>
      </p:sp>
      <p:sp>
        <p:nvSpPr>
          <p:cNvPr id="23" name="Text 18"/>
          <p:cNvSpPr txBox="1"/>
          <p:nvPr/>
        </p:nvSpPr>
        <p:spPr>
          <a:xfrm>
            <a:off x="3319272" y="3913061"/>
            <a:ext cx="25146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1초 프레임 스탑 뒤 폭발</a:t>
            </a:r>
            <a:endParaRPr lang="ko-KR" sz="1000" dirty="0"/>
          </a:p>
        </p:txBody>
      </p:sp>
      <p:sp>
        <p:nvSpPr>
          <p:cNvPr id="24" name="panel_9"/>
          <p:cNvSpPr/>
          <p:nvPr/>
        </p:nvSpPr>
        <p:spPr>
          <a:xfrm>
            <a:off x="6245352" y="2797493"/>
            <a:ext cx="5486400" cy="1517333"/>
          </a:xfrm>
          <a:prstGeom prst="roundRect">
            <a:avLst>
              <a:gd name="adj" fmla="val 4821"/>
            </a:avLst>
          </a:prstGeom>
          <a:solidFill>
            <a:schemeClr val="tx2"/>
          </a:solidFill>
          <a:ln/>
        </p:spPr>
      </p:sp>
      <p:pic>
        <p:nvPicPr>
          <p:cNvPr id="25" name="img_9" descr="C:\Users\user\AppData\Local\Temp\claude\C--Project-NKK-PROJECT\0415198c-3dcb-489e-9557-3945752cc25a\scratchpad\frames\parkrat\17_Wave1_7.67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2797493"/>
            <a:ext cx="2697480" cy="1517333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6318504" y="2870645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6318504" y="287064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9</a:t>
            </a:r>
            <a:endParaRPr lang="ko-KR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9107424" y="2870645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accent1"/>
                </a:solidFill>
              </a:rPr>
              <a:t>6.96 – 8.34초</a:t>
            </a:r>
            <a:endParaRPr lang="ko-KR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9107424" y="3181541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150" dirty="0">
                <a:solidFill>
                  <a:schemeClr val="bg2"/>
                </a:solidFill>
              </a:rPr>
              <a:t>풍압 몽타주 3컷: 성 · 기념품 거리 · 구경하던 쥐들이 왼 → 오로 날아감</a:t>
            </a:r>
            <a:endParaRPr lang="ko-KR" sz="1150" dirty="0"/>
          </a:p>
        </p:txBody>
      </p:sp>
      <p:sp>
        <p:nvSpPr>
          <p:cNvPr id="30" name="Text 24"/>
          <p:cNvSpPr txBox="1"/>
          <p:nvPr/>
        </p:nvSpPr>
        <p:spPr>
          <a:xfrm>
            <a:off x="9107424" y="3913061"/>
            <a:ext cx="25146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핵폭발 영화식 — 멀쩡하다가 바람이 닿는 순간 날아감</a:t>
            </a:r>
            <a:endParaRPr lang="ko-KR" sz="1000" dirty="0"/>
          </a:p>
        </p:txBody>
      </p:sp>
      <p:sp>
        <p:nvSpPr>
          <p:cNvPr id="31" name="panel_10"/>
          <p:cNvSpPr/>
          <p:nvPr/>
        </p:nvSpPr>
        <p:spPr>
          <a:xfrm>
            <a:off x="457200" y="4497705"/>
            <a:ext cx="5486400" cy="1517333"/>
          </a:xfrm>
          <a:prstGeom prst="roundRect">
            <a:avLst>
              <a:gd name="adj" fmla="val 4821"/>
            </a:avLst>
          </a:prstGeom>
          <a:solidFill>
            <a:schemeClr val="tx2"/>
          </a:solidFill>
          <a:ln/>
        </p:spPr>
      </p:sp>
      <p:pic>
        <p:nvPicPr>
          <p:cNvPr id="32" name="img_10" descr="C:\Users\user\AppData\Local\Temp\claude\C--Project-NKK-PROJECT\0415198c-3dcb-489e-9557-3945752cc25a\scratchpad\frames\parkrat\19_After_9.6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497705"/>
            <a:ext cx="2697480" cy="1517333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530352" y="4570857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4" name="Text 27"/>
          <p:cNvSpPr txBox="1"/>
          <p:nvPr/>
        </p:nvSpPr>
        <p:spPr>
          <a:xfrm>
            <a:off x="530352" y="457085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10</a:t>
            </a:r>
            <a:endParaRPr lang="ko-KR" sz="1300" dirty="0"/>
          </a:p>
        </p:txBody>
      </p:sp>
      <p:sp>
        <p:nvSpPr>
          <p:cNvPr id="35" name="Text 28"/>
          <p:cNvSpPr txBox="1"/>
          <p:nvPr/>
        </p:nvSpPr>
        <p:spPr>
          <a:xfrm>
            <a:off x="3319272" y="4570857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accent1"/>
                </a:solidFill>
              </a:rPr>
              <a:t>8.34 – 9.96초</a:t>
            </a:r>
            <a:endParaRPr lang="ko-KR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3319272" y="4881753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150" dirty="0">
                <a:solidFill>
                  <a:schemeClr val="bg2"/>
                </a:solidFill>
              </a:rPr>
              <a:t>먼지가 걷힌 폐허 광장: 떨어져 멍 → 머리 긁적 → 데헷 (윙크 반짝)</a:t>
            </a:r>
            <a:endParaRPr lang="ko-KR" sz="1150" dirty="0"/>
          </a:p>
        </p:txBody>
      </p:sp>
      <p:sp>
        <p:nvSpPr>
          <p:cNvPr id="37" name="Text 30"/>
          <p:cNvSpPr txBox="1"/>
          <p:nvPr/>
        </p:nvSpPr>
        <p:spPr>
          <a:xfrm>
            <a:off x="3319272" y="5613273"/>
            <a:ext cx="25146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글 없이 포즈로만 마무리</a:t>
            </a:r>
            <a:endParaRPr lang="ko-KR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7A1B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/>
              <a:t>12</a:t>
            </a:fld>
            <a:endParaRPr lang="ko-K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sz="2800" b="1" dirty="0">
                <a:solidFill>
                  <a:schemeClr val="bg2"/>
                </a:solidFill>
              </a:rPr>
              <a:t>쥐 황제  </a:t>
            </a:r>
            <a:pPr eaLnBrk="0" algn="l" indent="0" marL="0">
              <a:buNone/>
            </a:pPr>
            <a:r>
              <a:rPr lang="ko-KR" sz="2800" b="1" dirty="0">
                <a:solidFill>
                  <a:srgbClr val="FFC83D"/>
                </a:solidFill>
              </a:rPr>
              <a:t>총병 앞으로 · 장전 · 격발</a:t>
            </a:r>
            <a:endParaRPr lang="ko-KR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384048"/>
            <a:ext cx="1399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sz="1400" dirty="0">
                <a:solidFill>
                  <a:schemeClr val="accent5"/>
                </a:solidFill>
              </a:rPr>
              <a:t>03 / 16</a:t>
            </a:r>
            <a:endParaRPr lang="ko-KR" sz="1400" dirty="0"/>
          </a:p>
        </p:txBody>
      </p:sp>
      <p:pic>
        <p:nvPicPr>
          <p:cNvPr id="4" name="hero" descr="C:\Users\user\AppData\Local\Temp\claude\C--Project-NKK-PROJECT\0415198c-3dcb-489e-9557-3945752cc25a\scratchpad\frames\emperor\cap_r1c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6400800" cy="360045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178040" y="1143000"/>
            <a:ext cx="45537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0000"/>
              </a:lnSpc>
              <a:buNone/>
            </a:pPr>
            <a:r>
              <a:rPr lang="ko-KR" sz="1500" b="1" dirty="0">
                <a:solidFill>
                  <a:schemeClr val="bg2"/>
                </a:solidFill>
              </a:rPr>
              <a:t>황제의 칼 신호에 총병 세 줄이 소환되어 카메라를 향해 정면 일제 사격, 탄흔이 화면을 덮는다.</a:t>
            </a:r>
            <a:endParaRPr lang="ko-KR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178040" y="21945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테이블 기술명</a:t>
            </a:r>
            <a:endParaRPr lang="ko-KR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412480" y="2194560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천하통일 대관식  (31003)</a:t>
            </a:r>
            <a:endParaRPr lang="ko-KR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178040" y="262432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컷 구성</a:t>
            </a:r>
            <a:endParaRPr lang="ko-KR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412480" y="2624328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7컷 · 패널 7장</a:t>
            </a:r>
            <a:endParaRPr lang="ko-KR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178040" y="3054096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컷신 길이</a:t>
            </a:r>
            <a:endParaRPr lang="ko-KR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412480" y="3054096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내부 5.25초 · 1배속</a:t>
            </a:r>
            <a:endParaRPr lang="ko-KR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178040" y="3483864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게임 화면</a:t>
            </a:r>
            <a:endParaRPr lang="ko-KR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412480" y="3483864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걷힘 0.3초 → 1.5초 · 게임 화면 이펙트 없음 · 컷신의 탄흔 묶음만 1.5초 남았다 사라짐</a:t>
            </a:r>
            <a:endParaRPr lang="ko-KR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178040" y="391363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컷신 글</a:t>
            </a:r>
            <a:endParaRPr lang="ko-KR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412480" y="3913632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없음</a:t>
            </a:r>
            <a:endParaRPr lang="ko-KR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178040" y="43434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밈 · 대사</a:t>
            </a:r>
            <a:endParaRPr lang="ko-KR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8412480" y="4343400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—</a:t>
            </a:r>
            <a:endParaRPr lang="ko-KR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49743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accent5"/>
                </a:solidFill>
              </a:rPr>
              <a:t>타임라인 (컷신 내부 시간 · 게임 화면은 같은 축척)</a:t>
            </a:r>
            <a:endParaRPr lang="ko-KR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5321808"/>
            <a:ext cx="639691" cy="457200"/>
          </a:xfrm>
          <a:prstGeom prst="rect">
            <a:avLst/>
          </a:prstGeom>
          <a:solidFill>
            <a:srgbClr val="35304A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096891" y="5321808"/>
            <a:ext cx="1039498" cy="457200"/>
          </a:xfrm>
          <a:prstGeom prst="rect">
            <a:avLst/>
          </a:prstGeom>
          <a:solidFill>
            <a:srgbClr val="FFC83D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96891" y="5321808"/>
            <a:ext cx="103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1</a:t>
            </a:r>
            <a:endParaRPr lang="ko-KR" sz="1100" dirty="0"/>
          </a:p>
        </p:txBody>
      </p:sp>
      <p:sp>
        <p:nvSpPr>
          <p:cNvPr id="22" name="Shape 19"/>
          <p:cNvSpPr/>
          <p:nvPr/>
        </p:nvSpPr>
        <p:spPr>
          <a:xfrm>
            <a:off x="2136389" y="5321808"/>
            <a:ext cx="1439305" cy="457200"/>
          </a:xfrm>
          <a:prstGeom prst="rect">
            <a:avLst/>
          </a:prstGeom>
          <a:solidFill>
            <a:srgbClr val="E0AE2E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136389" y="5321808"/>
            <a:ext cx="1439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2</a:t>
            </a:r>
            <a:endParaRPr lang="ko-KR" sz="1100" dirty="0"/>
          </a:p>
        </p:txBody>
      </p:sp>
      <p:sp>
        <p:nvSpPr>
          <p:cNvPr id="24" name="Shape 21"/>
          <p:cNvSpPr/>
          <p:nvPr/>
        </p:nvSpPr>
        <p:spPr>
          <a:xfrm>
            <a:off x="3575693" y="5321808"/>
            <a:ext cx="719652" cy="457200"/>
          </a:xfrm>
          <a:prstGeom prst="rect">
            <a:avLst/>
          </a:prstGeom>
          <a:solidFill>
            <a:srgbClr val="FFC83D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575693" y="5321808"/>
            <a:ext cx="7196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3</a:t>
            </a:r>
            <a:endParaRPr lang="ko-KR" sz="1100" dirty="0"/>
          </a:p>
        </p:txBody>
      </p:sp>
      <p:sp>
        <p:nvSpPr>
          <p:cNvPr id="26" name="Shape 23"/>
          <p:cNvSpPr/>
          <p:nvPr/>
        </p:nvSpPr>
        <p:spPr>
          <a:xfrm>
            <a:off x="4295345" y="5321808"/>
            <a:ext cx="559730" cy="457200"/>
          </a:xfrm>
          <a:prstGeom prst="rect">
            <a:avLst/>
          </a:prstGeom>
          <a:solidFill>
            <a:srgbClr val="E0AE2E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295345" y="5321808"/>
            <a:ext cx="5597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4</a:t>
            </a:r>
            <a:endParaRPr lang="ko-KR" sz="1100" dirty="0"/>
          </a:p>
        </p:txBody>
      </p:sp>
      <p:sp>
        <p:nvSpPr>
          <p:cNvPr id="28" name="Shape 25"/>
          <p:cNvSpPr/>
          <p:nvPr/>
        </p:nvSpPr>
        <p:spPr>
          <a:xfrm>
            <a:off x="4855075" y="5321808"/>
            <a:ext cx="479768" cy="457200"/>
          </a:xfrm>
          <a:prstGeom prst="rect">
            <a:avLst/>
          </a:prstGeom>
          <a:solidFill>
            <a:srgbClr val="FFC83D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855075" y="5321808"/>
            <a:ext cx="479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5</a:t>
            </a:r>
            <a:endParaRPr lang="ko-KR" sz="1100" dirty="0"/>
          </a:p>
        </p:txBody>
      </p:sp>
      <p:sp>
        <p:nvSpPr>
          <p:cNvPr id="30" name="Shape 27"/>
          <p:cNvSpPr/>
          <p:nvPr/>
        </p:nvSpPr>
        <p:spPr>
          <a:xfrm>
            <a:off x="5334843" y="5321808"/>
            <a:ext cx="2206934" cy="457200"/>
          </a:xfrm>
          <a:prstGeom prst="rect">
            <a:avLst/>
          </a:prstGeom>
          <a:solidFill>
            <a:srgbClr val="E0AE2E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334843" y="5321808"/>
            <a:ext cx="22069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6</a:t>
            </a:r>
            <a:endParaRPr lang="ko-KR" sz="1100" dirty="0"/>
          </a:p>
        </p:txBody>
      </p:sp>
      <p:sp>
        <p:nvSpPr>
          <p:cNvPr id="32" name="Shape 29"/>
          <p:cNvSpPr/>
          <p:nvPr/>
        </p:nvSpPr>
        <p:spPr>
          <a:xfrm>
            <a:off x="7541777" y="5321808"/>
            <a:ext cx="1311366" cy="457200"/>
          </a:xfrm>
          <a:prstGeom prst="rect">
            <a:avLst/>
          </a:prstGeom>
          <a:solidFill>
            <a:srgbClr val="FFC83D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541777" y="5321808"/>
            <a:ext cx="13113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7</a:t>
            </a:r>
            <a:endParaRPr lang="ko-KR" sz="1100" dirty="0"/>
          </a:p>
        </p:txBody>
      </p:sp>
      <p:sp>
        <p:nvSpPr>
          <p:cNvPr id="34" name="Shape 31"/>
          <p:cNvSpPr/>
          <p:nvPr/>
        </p:nvSpPr>
        <p:spPr>
          <a:xfrm>
            <a:off x="8853143" y="5321808"/>
            <a:ext cx="479768" cy="457200"/>
          </a:xfrm>
          <a:prstGeom prst="rect">
            <a:avLst/>
          </a:prstGeom>
          <a:solidFill>
            <a:srgbClr val="A7A1B6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9332911" y="5321808"/>
            <a:ext cx="2398841" cy="457200"/>
          </a:xfrm>
          <a:prstGeom prst="rect">
            <a:avLst/>
          </a:prstGeom>
          <a:solidFill>
            <a:srgbClr val="6FD3C6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9332911" y="5321808"/>
            <a:ext cx="23988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게임 화면</a:t>
            </a:r>
            <a:endParaRPr lang="ko-KR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457200" y="58247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0</a:t>
            </a:r>
            <a:endParaRPr lang="ko-KR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731131" y="58247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0.4</a:t>
            </a:r>
            <a:endParaRPr lang="ko-KR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8487383" y="58247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5.25</a:t>
            </a:r>
            <a:endParaRPr lang="ko-KR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11000232" y="58247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r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+1.8</a:t>
            </a:r>
            <a:endParaRPr lang="ko-KR" sz="1000" dirty="0"/>
          </a:p>
        </p:txBody>
      </p:sp>
      <p:sp>
        <p:nvSpPr>
          <p:cNvPr id="41" name="Text 38"/>
          <p:cNvSpPr txBox="1"/>
          <p:nvPr/>
        </p:nvSpPr>
        <p:spPr>
          <a:xfrm>
            <a:off x="457200" y="614476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accent5"/>
                </a:solidFill>
              </a:rPr>
              <a:t>※ 패널 2·6·7은 기존 유니티 캡처 (미리보기 도구가 병사 대열을 못 그림)</a:t>
            </a:r>
            <a:endParaRPr lang="ko-KR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7A1B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/>
              <a:t>13</a:t>
            </a:fld>
            <a:endParaRPr lang="ko-K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sz="2800" b="1" dirty="0">
                <a:solidFill>
                  <a:schemeClr val="bg2"/>
                </a:solidFill>
              </a:rPr>
              <a:t>쥐 황제  </a:t>
            </a:r>
            <a:pPr eaLnBrk="0" algn="l" indent="0" marL="0">
              <a:buNone/>
            </a:pPr>
            <a:r>
              <a:rPr lang="ko-KR" sz="2800" b="1" dirty="0">
                <a:solidFill>
                  <a:srgbClr val="A7A1B6"/>
                </a:solidFill>
              </a:rPr>
              <a:t>콘티</a:t>
            </a:r>
            <a:endParaRPr lang="ko-KR" sz="2800" dirty="0"/>
          </a:p>
        </p:txBody>
      </p:sp>
      <p:sp>
        <p:nvSpPr>
          <p:cNvPr id="3" name="panel_1"/>
          <p:cNvSpPr/>
          <p:nvPr/>
        </p:nvSpPr>
        <p:spPr>
          <a:xfrm>
            <a:off x="457200" y="1024128"/>
            <a:ext cx="5486400" cy="1183005"/>
          </a:xfrm>
          <a:prstGeom prst="roundRect">
            <a:avLst>
              <a:gd name="adj" fmla="val 6184"/>
            </a:avLst>
          </a:prstGeom>
          <a:solidFill>
            <a:schemeClr val="tx2"/>
          </a:solidFill>
          <a:ln/>
        </p:spPr>
      </p:sp>
      <p:pic>
        <p:nvPicPr>
          <p:cNvPr id="4" name="img_1" descr="C:\Users\user\AppData\Local\Temp\claude\C--Project-NKK-PROJECT\0415198c-3dcb-489e-9557-3945752cc25a\scratchpad\frames\emperor\cap_r0c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24128"/>
            <a:ext cx="2103120" cy="11830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0352" y="109728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30352" y="1097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1</a:t>
            </a:r>
            <a:endParaRPr lang="ko-KR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2724912" y="10972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1"/>
                </a:solidFill>
              </a:rPr>
              <a:t>0.40 – 1.05초</a:t>
            </a:r>
            <a:endParaRPr lang="ko-KR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2724912" y="1353312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050" dirty="0">
                <a:solidFill>
                  <a:schemeClr val="bg2"/>
                </a:solidFill>
              </a:rPr>
              <a:t>황제가 금빛 칼을 높이 듦</a:t>
            </a:r>
            <a:endParaRPr lang="ko-KR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2724912" y="1847088"/>
            <a:ext cx="3108960" cy="323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방사형 햇살 배경 · 정면</a:t>
            </a:r>
            <a:endParaRPr lang="ko-KR" sz="1000" dirty="0"/>
          </a:p>
        </p:txBody>
      </p:sp>
      <p:sp>
        <p:nvSpPr>
          <p:cNvPr id="10" name="panel_2"/>
          <p:cNvSpPr/>
          <p:nvPr/>
        </p:nvSpPr>
        <p:spPr>
          <a:xfrm>
            <a:off x="6245352" y="1024128"/>
            <a:ext cx="5486400" cy="1183005"/>
          </a:xfrm>
          <a:prstGeom prst="roundRect">
            <a:avLst>
              <a:gd name="adj" fmla="val 6184"/>
            </a:avLst>
          </a:prstGeom>
          <a:solidFill>
            <a:schemeClr val="tx2"/>
          </a:solidFill>
          <a:ln/>
        </p:spPr>
      </p:sp>
      <p:pic>
        <p:nvPicPr>
          <p:cNvPr id="11" name="img_2" descr="C:\Users\user\AppData\Local\Temp\claude\C--Project-NKK-PROJECT\0415198c-3dcb-489e-9557-3945752cc25a\scratchpad\frames\emperor\cap_r0c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024128"/>
            <a:ext cx="2103120" cy="118300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318504" y="109728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318504" y="1097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2</a:t>
            </a:r>
            <a:endParaRPr lang="ko-KR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8513064" y="10972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1"/>
                </a:solidFill>
              </a:rPr>
              <a:t>1.05 – 1.95초</a:t>
            </a:r>
            <a:endParaRPr lang="ko-KR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8513064" y="1353312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050" dirty="0">
                <a:solidFill>
                  <a:schemeClr val="bg2"/>
                </a:solidFill>
              </a:rPr>
              <a:t>'총병 앞으로': 궁 앞 들판에 병사 세 줄 소환 (뒤 줄부터)</a:t>
            </a:r>
            <a:endParaRPr lang="ko-KR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8513064" y="1847088"/>
            <a:ext cx="3108960" cy="323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카메라가 물러나며 대열 전체</a:t>
            </a:r>
            <a:endParaRPr lang="ko-KR" sz="1000" dirty="0"/>
          </a:p>
        </p:txBody>
      </p:sp>
      <p:sp>
        <p:nvSpPr>
          <p:cNvPr id="17" name="panel_3"/>
          <p:cNvSpPr/>
          <p:nvPr/>
        </p:nvSpPr>
        <p:spPr>
          <a:xfrm>
            <a:off x="457200" y="2316861"/>
            <a:ext cx="5486400" cy="1183005"/>
          </a:xfrm>
          <a:prstGeom prst="roundRect">
            <a:avLst>
              <a:gd name="adj" fmla="val 6184"/>
            </a:avLst>
          </a:prstGeom>
          <a:solidFill>
            <a:schemeClr val="tx2"/>
          </a:solidFill>
          <a:ln/>
        </p:spPr>
      </p:sp>
      <p:pic>
        <p:nvPicPr>
          <p:cNvPr id="18" name="img_3" descr="C:\Users\user\AppData\Local\Temp\claude\C--Project-NKK-PROJECT\0415198c-3dcb-489e-9557-3945752cc25a\scratchpad\frames\emperor\cap_r0c4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16861"/>
            <a:ext cx="2103120" cy="1183005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30352" y="2390013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530352" y="2390013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3</a:t>
            </a:r>
            <a:endParaRPr lang="ko-KR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2724912" y="2390013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1"/>
                </a:solidFill>
              </a:rPr>
              <a:t>1.95 – 2.40초</a:t>
            </a:r>
            <a:endParaRPr lang="ko-KR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2724912" y="2646045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050" dirty="0">
                <a:solidFill>
                  <a:schemeClr val="bg2"/>
                </a:solidFill>
              </a:rPr>
              <a:t>'장전': 공이치기 철컥</a:t>
            </a:r>
            <a:endParaRPr lang="ko-KR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2724912" y="3139821"/>
            <a:ext cx="3108960" cy="323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총 클로즈업</a:t>
            </a:r>
            <a:endParaRPr lang="ko-KR" sz="1000" dirty="0"/>
          </a:p>
        </p:txBody>
      </p:sp>
      <p:sp>
        <p:nvSpPr>
          <p:cNvPr id="24" name="panel_4"/>
          <p:cNvSpPr/>
          <p:nvPr/>
        </p:nvSpPr>
        <p:spPr>
          <a:xfrm>
            <a:off x="6245352" y="2316861"/>
            <a:ext cx="5486400" cy="1183005"/>
          </a:xfrm>
          <a:prstGeom prst="roundRect">
            <a:avLst>
              <a:gd name="adj" fmla="val 6184"/>
            </a:avLst>
          </a:prstGeom>
          <a:solidFill>
            <a:schemeClr val="tx2"/>
          </a:solidFill>
          <a:ln/>
        </p:spPr>
      </p:sp>
      <p:pic>
        <p:nvPicPr>
          <p:cNvPr id="25" name="img_4" descr="C:\Users\user\AppData\Local\Temp\claude\C--Project-NKK-PROJECT\0415198c-3dcb-489e-9557-3945752cc25a\scratchpad\frames\emperor\cap_r1c0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2316861"/>
            <a:ext cx="2103120" cy="1183005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6318504" y="2390013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6318504" y="2390013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4</a:t>
            </a:r>
            <a:endParaRPr lang="ko-KR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8513064" y="2390013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1"/>
                </a:solidFill>
              </a:rPr>
              <a:t>2.40 – 2.75초</a:t>
            </a:r>
            <a:endParaRPr lang="ko-KR" sz="1100" dirty="0"/>
          </a:p>
        </p:txBody>
      </p:sp>
      <p:sp>
        <p:nvSpPr>
          <p:cNvPr id="29" name="Text 23"/>
          <p:cNvSpPr txBox="1"/>
          <p:nvPr/>
        </p:nvSpPr>
        <p:spPr>
          <a:xfrm>
            <a:off x="8513064" y="2646045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050" dirty="0">
                <a:solidFill>
                  <a:schemeClr val="bg2"/>
                </a:solidFill>
              </a:rPr>
              <a:t>병사가 총구로 카메라를 겨눔</a:t>
            </a:r>
            <a:endParaRPr lang="ko-KR" sz="1050" dirty="0"/>
          </a:p>
        </p:txBody>
      </p:sp>
      <p:sp>
        <p:nvSpPr>
          <p:cNvPr id="30" name="Text 24"/>
          <p:cNvSpPr txBox="1"/>
          <p:nvPr/>
        </p:nvSpPr>
        <p:spPr>
          <a:xfrm>
            <a:off x="8513064" y="3139821"/>
            <a:ext cx="3108960" cy="323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총구로 밀고 들어감</a:t>
            </a:r>
            <a:endParaRPr lang="ko-KR" sz="1000" dirty="0"/>
          </a:p>
        </p:txBody>
      </p:sp>
      <p:sp>
        <p:nvSpPr>
          <p:cNvPr id="31" name="panel_5"/>
          <p:cNvSpPr/>
          <p:nvPr/>
        </p:nvSpPr>
        <p:spPr>
          <a:xfrm>
            <a:off x="457200" y="3609594"/>
            <a:ext cx="5486400" cy="1183005"/>
          </a:xfrm>
          <a:prstGeom prst="roundRect">
            <a:avLst>
              <a:gd name="adj" fmla="val 6184"/>
            </a:avLst>
          </a:prstGeom>
          <a:solidFill>
            <a:schemeClr val="tx2"/>
          </a:solidFill>
          <a:ln/>
        </p:spPr>
      </p:sp>
      <p:pic>
        <p:nvPicPr>
          <p:cNvPr id="32" name="img_5" descr="C:\Users\user\AppData\Local\Temp\claude\C--Project-NKK-PROJECT\0415198c-3dcb-489e-9557-3945752cc25a\scratchpad\frames\emperor\cap_r1c1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609594"/>
            <a:ext cx="2103120" cy="1183005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530352" y="3682746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4" name="Text 27"/>
          <p:cNvSpPr txBox="1"/>
          <p:nvPr/>
        </p:nvSpPr>
        <p:spPr>
          <a:xfrm>
            <a:off x="530352" y="368274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5</a:t>
            </a:r>
            <a:endParaRPr lang="ko-KR" sz="1300" dirty="0"/>
          </a:p>
        </p:txBody>
      </p:sp>
      <p:sp>
        <p:nvSpPr>
          <p:cNvPr id="35" name="Text 28"/>
          <p:cNvSpPr txBox="1"/>
          <p:nvPr/>
        </p:nvSpPr>
        <p:spPr>
          <a:xfrm>
            <a:off x="2724912" y="368274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1"/>
                </a:solidFill>
              </a:rPr>
              <a:t>2.75 – 3.05초</a:t>
            </a:r>
            <a:endParaRPr lang="ko-KR" sz="1100" dirty="0"/>
          </a:p>
        </p:txBody>
      </p:sp>
      <p:sp>
        <p:nvSpPr>
          <p:cNvPr id="36" name="Text 29"/>
          <p:cNvSpPr txBox="1"/>
          <p:nvPr/>
        </p:nvSpPr>
        <p:spPr>
          <a:xfrm>
            <a:off x="2724912" y="3938778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050" dirty="0">
                <a:solidFill>
                  <a:schemeClr val="bg2"/>
                </a:solidFill>
              </a:rPr>
              <a:t>'격발': 황제가 칼끝을 카메라로 내지름</a:t>
            </a:r>
            <a:endParaRPr lang="ko-KR" sz="1050" dirty="0"/>
          </a:p>
        </p:txBody>
      </p:sp>
      <p:sp>
        <p:nvSpPr>
          <p:cNvPr id="37" name="Text 30"/>
          <p:cNvSpPr txBox="1"/>
          <p:nvPr/>
        </p:nvSpPr>
        <p:spPr>
          <a:xfrm>
            <a:off x="2724912" y="4432554"/>
            <a:ext cx="3108960" cy="323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칼끝 방향으로 속도선</a:t>
            </a:r>
            <a:endParaRPr lang="ko-KR" sz="1000" dirty="0"/>
          </a:p>
        </p:txBody>
      </p:sp>
      <p:sp>
        <p:nvSpPr>
          <p:cNvPr id="38" name="panel_6"/>
          <p:cNvSpPr/>
          <p:nvPr/>
        </p:nvSpPr>
        <p:spPr>
          <a:xfrm>
            <a:off x="6245352" y="3609594"/>
            <a:ext cx="5486400" cy="1183005"/>
          </a:xfrm>
          <a:prstGeom prst="roundRect">
            <a:avLst>
              <a:gd name="adj" fmla="val 6184"/>
            </a:avLst>
          </a:prstGeom>
          <a:solidFill>
            <a:schemeClr val="tx2"/>
          </a:solidFill>
          <a:ln/>
        </p:spPr>
      </p:sp>
      <p:pic>
        <p:nvPicPr>
          <p:cNvPr id="39" name="img_6" descr="C:\Users\user\AppData\Local\Temp\claude\C--Project-NKK-PROJECT\0415198c-3dcb-489e-9557-3945752cc25a\scratchpad\frames\emperor\cap_r1c3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5352" y="3609594"/>
            <a:ext cx="2103120" cy="1183005"/>
          </a:xfrm>
          <a:prstGeom prst="rect">
            <a:avLst/>
          </a:prstGeom>
        </p:spPr>
      </p:pic>
      <p:sp>
        <p:nvSpPr>
          <p:cNvPr id="40" name="Shape 32"/>
          <p:cNvSpPr/>
          <p:nvPr/>
        </p:nvSpPr>
        <p:spPr>
          <a:xfrm>
            <a:off x="6318504" y="3682746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1" name="Text 33"/>
          <p:cNvSpPr txBox="1"/>
          <p:nvPr/>
        </p:nvSpPr>
        <p:spPr>
          <a:xfrm>
            <a:off x="6318504" y="368274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6</a:t>
            </a:r>
            <a:endParaRPr lang="ko-KR" sz="1300" dirty="0"/>
          </a:p>
        </p:txBody>
      </p:sp>
      <p:sp>
        <p:nvSpPr>
          <p:cNvPr id="42" name="Text 34"/>
          <p:cNvSpPr txBox="1"/>
          <p:nvPr/>
        </p:nvSpPr>
        <p:spPr>
          <a:xfrm>
            <a:off x="8513064" y="368274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1"/>
                </a:solidFill>
              </a:rPr>
              <a:t>3.05 – 4.43초</a:t>
            </a:r>
            <a:endParaRPr lang="ko-KR" sz="1100" dirty="0"/>
          </a:p>
        </p:txBody>
      </p:sp>
      <p:sp>
        <p:nvSpPr>
          <p:cNvPr id="43" name="Text 35"/>
          <p:cNvSpPr txBox="1"/>
          <p:nvPr/>
        </p:nvSpPr>
        <p:spPr>
          <a:xfrm>
            <a:off x="8513064" y="3938778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050" dirty="0">
                <a:solidFill>
                  <a:schemeClr val="bg2"/>
                </a:solidFill>
              </a:rPr>
              <a:t>정면 일제 사격 4번: 총알이 소실점에서 카메라 쪽으로 커지며 날아옴</a:t>
            </a:r>
            <a:endParaRPr lang="ko-KR" sz="1050" dirty="0"/>
          </a:p>
        </p:txBody>
      </p:sp>
      <p:sp>
        <p:nvSpPr>
          <p:cNvPr id="44" name="Text 36"/>
          <p:cNvSpPr txBox="1"/>
          <p:nvPr/>
        </p:nvSpPr>
        <p:spPr>
          <a:xfrm>
            <a:off x="8513064" y="4432554"/>
            <a:ext cx="3108960" cy="323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쏠 때마다 카메라가 쾅 밀고 들어감 → 마지막엔 대열로 돌진, 총알이 화면 가장자리로 스침</a:t>
            </a:r>
            <a:endParaRPr lang="ko-KR" sz="1000" dirty="0"/>
          </a:p>
        </p:txBody>
      </p:sp>
      <p:sp>
        <p:nvSpPr>
          <p:cNvPr id="45" name="panel_7"/>
          <p:cNvSpPr/>
          <p:nvPr/>
        </p:nvSpPr>
        <p:spPr>
          <a:xfrm>
            <a:off x="457200" y="4902327"/>
            <a:ext cx="5486400" cy="1183005"/>
          </a:xfrm>
          <a:prstGeom prst="roundRect">
            <a:avLst>
              <a:gd name="adj" fmla="val 6184"/>
            </a:avLst>
          </a:prstGeom>
          <a:solidFill>
            <a:schemeClr val="tx2"/>
          </a:solidFill>
          <a:ln/>
        </p:spPr>
      </p:sp>
      <p:pic>
        <p:nvPicPr>
          <p:cNvPr id="46" name="img_7" descr="C:\Users\user\AppData\Local\Temp\claude\C--Project-NKK-PROJECT\0415198c-3dcb-489e-9557-3945752cc25a\scratchpad\frames\emperor\cap_r2c4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902327"/>
            <a:ext cx="2103120" cy="1183005"/>
          </a:xfrm>
          <a:prstGeom prst="rect">
            <a:avLst/>
          </a:prstGeom>
        </p:spPr>
      </p:pic>
      <p:sp>
        <p:nvSpPr>
          <p:cNvPr id="47" name="Shape 38"/>
          <p:cNvSpPr/>
          <p:nvPr/>
        </p:nvSpPr>
        <p:spPr>
          <a:xfrm>
            <a:off x="530352" y="4975479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8" name="Text 39"/>
          <p:cNvSpPr txBox="1"/>
          <p:nvPr/>
        </p:nvSpPr>
        <p:spPr>
          <a:xfrm>
            <a:off x="530352" y="4975479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7</a:t>
            </a:r>
            <a:endParaRPr lang="ko-KR" sz="1300" dirty="0"/>
          </a:p>
        </p:txBody>
      </p:sp>
      <p:sp>
        <p:nvSpPr>
          <p:cNvPr id="49" name="Text 40"/>
          <p:cNvSpPr txBox="1"/>
          <p:nvPr/>
        </p:nvSpPr>
        <p:spPr>
          <a:xfrm>
            <a:off x="2724912" y="4975479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1"/>
                </a:solidFill>
              </a:rPr>
              <a:t>4.43 – 5.25초</a:t>
            </a:r>
            <a:endParaRPr lang="ko-KR" sz="1100" dirty="0"/>
          </a:p>
        </p:txBody>
      </p:sp>
      <p:sp>
        <p:nvSpPr>
          <p:cNvPr id="50" name="Text 41"/>
          <p:cNvSpPr txBox="1"/>
          <p:nvPr/>
        </p:nvSpPr>
        <p:spPr>
          <a:xfrm>
            <a:off x="2724912" y="5231511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050" dirty="0">
                <a:solidFill>
                  <a:schemeClr val="bg2"/>
                </a:solidFill>
              </a:rPr>
              <a:t>총알이 화면(렌즈)에 박혀 탄흔이 점점 빠르게 화면을 덮음</a:t>
            </a:r>
            <a:endParaRPr lang="ko-KR" sz="1050" dirty="0"/>
          </a:p>
        </p:txBody>
      </p:sp>
      <p:sp>
        <p:nvSpPr>
          <p:cNvPr id="51" name="Text 42"/>
          <p:cNvSpPr txBox="1"/>
          <p:nvPr/>
        </p:nvSpPr>
        <p:spPr>
          <a:xfrm>
            <a:off x="2724912" y="5725287"/>
            <a:ext cx="3108960" cy="323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탄흔 묶음은 컷신이 걷혀도 게임 화면 위 1.5초 유지</a:t>
            </a:r>
            <a:endParaRPr lang="ko-KR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7A1B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/>
              <a:t>14</a:t>
            </a:fld>
            <a:endParaRPr lang="ko-K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sz="2800" b="1" dirty="0">
                <a:solidFill>
                  <a:schemeClr val="bg2"/>
                </a:solidFill>
              </a:rPr>
              <a:t>파라오 생쥐  </a:t>
            </a:r>
            <a:pPr eaLnBrk="0" algn="l" indent="0" marL="0">
              <a:buNone/>
            </a:pPr>
            <a:r>
              <a:rPr lang="ko-KR" sz="2800" b="1" dirty="0">
                <a:solidFill>
                  <a:srgbClr val="FFC83D"/>
                </a:solidFill>
              </a:rPr>
              <a:t>미라 군단 돌격</a:t>
            </a:r>
            <a:endParaRPr lang="ko-KR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384048"/>
            <a:ext cx="1399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sz="1400" dirty="0">
                <a:solidFill>
                  <a:schemeClr val="accent5"/>
                </a:solidFill>
              </a:rPr>
              <a:t>04 / 16</a:t>
            </a:r>
            <a:endParaRPr lang="ko-KR" sz="1400" dirty="0"/>
          </a:p>
        </p:txBody>
      </p:sp>
      <p:pic>
        <p:nvPicPr>
          <p:cNvPr id="4" name="hero" descr="C:\Users\user\AppData\Local\Temp\claude\C--Project-NKK-PROJECT\0415198c-3dcb-489e-9557-3945752cc25a\scratchpad\frames\pharaoh\03_Cut4_2.3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6400800" cy="360045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178040" y="1143000"/>
            <a:ext cx="45537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0000"/>
              </a:lnSpc>
              <a:buNone/>
            </a:pPr>
            <a:r>
              <a:rPr lang="ko-KR" sz="1500" b="1" dirty="0">
                <a:solidFill>
                  <a:schemeClr val="bg2"/>
                </a:solidFill>
              </a:rPr>
              <a:t>피라미드 계단 위 파라오가 아누비스와 미라 군단을 소환하고, 미라들이 카메라를 향해 돌격한다.</a:t>
            </a:r>
            <a:endParaRPr lang="ko-KR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178040" y="21945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테이블 기술명</a:t>
            </a:r>
            <a:endParaRPr lang="ko-KR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412480" y="2194560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태양신의 심판  (31004)</a:t>
            </a:r>
            <a:endParaRPr lang="ko-KR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178040" y="262432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컷 구성</a:t>
            </a:r>
            <a:endParaRPr lang="ko-KR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412480" y="2624328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6컷 · 패널 6장</a:t>
            </a:r>
            <a:endParaRPr lang="ko-KR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178040" y="3054096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컷신 길이</a:t>
            </a:r>
            <a:endParaRPr lang="ko-KR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412480" y="3054096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내부 3.75초 · 0.75배속 → 실제 ≈5.0초</a:t>
            </a:r>
            <a:endParaRPr lang="ko-KR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178040" y="3483864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게임 화면</a:t>
            </a:r>
            <a:endParaRPr lang="ko-KR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412480" y="3483864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걷힘 0.4초 → 2.2초 · 미라 쥐들이 왼 → 오로 줄줄이 달려 지나감 · 태클 충돌 = 다단 10타</a:t>
            </a:r>
            <a:endParaRPr lang="ko-KR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178040" y="391363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컷신 글</a:t>
            </a:r>
            <a:endParaRPr lang="ko-KR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412480" y="3913632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제목 · 대사 · 밈</a:t>
            </a:r>
            <a:endParaRPr lang="ko-KR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178040" y="43434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밈 · 대사</a:t>
            </a:r>
            <a:endParaRPr lang="ko-KR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8412480" y="4343400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※ 자외선 지수: 매우 위험</a:t>
            </a:r>
            <a:endParaRPr lang="ko-KR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49743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accent5"/>
                </a:solidFill>
              </a:rPr>
              <a:t>타임라인 (컷신 내부 시간 · 게임 화면은 같은 축척)</a:t>
            </a:r>
            <a:endParaRPr lang="ko-KR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5321808"/>
            <a:ext cx="710208" cy="457200"/>
          </a:xfrm>
          <a:prstGeom prst="rect">
            <a:avLst/>
          </a:prstGeom>
          <a:solidFill>
            <a:srgbClr val="35304A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167408" y="5321808"/>
            <a:ext cx="798984" cy="457200"/>
          </a:xfrm>
          <a:prstGeom prst="rect">
            <a:avLst/>
          </a:prstGeom>
          <a:solidFill>
            <a:srgbClr val="FFC83D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167408" y="5321808"/>
            <a:ext cx="798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1</a:t>
            </a:r>
            <a:endParaRPr lang="ko-KR" sz="1100" dirty="0"/>
          </a:p>
        </p:txBody>
      </p:sp>
      <p:sp>
        <p:nvSpPr>
          <p:cNvPr id="22" name="Shape 19"/>
          <p:cNvSpPr/>
          <p:nvPr/>
        </p:nvSpPr>
        <p:spPr>
          <a:xfrm>
            <a:off x="1966392" y="5321808"/>
            <a:ext cx="976536" cy="457200"/>
          </a:xfrm>
          <a:prstGeom prst="rect">
            <a:avLst/>
          </a:prstGeom>
          <a:solidFill>
            <a:srgbClr val="E0AE2E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966392" y="5321808"/>
            <a:ext cx="976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2</a:t>
            </a:r>
            <a:endParaRPr lang="ko-KR" sz="1100" dirty="0"/>
          </a:p>
        </p:txBody>
      </p:sp>
      <p:sp>
        <p:nvSpPr>
          <p:cNvPr id="24" name="Shape 21"/>
          <p:cNvSpPr/>
          <p:nvPr/>
        </p:nvSpPr>
        <p:spPr>
          <a:xfrm>
            <a:off x="2942928" y="5321808"/>
            <a:ext cx="798984" cy="457200"/>
          </a:xfrm>
          <a:prstGeom prst="rect">
            <a:avLst/>
          </a:prstGeom>
          <a:solidFill>
            <a:srgbClr val="FFC83D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942928" y="5321808"/>
            <a:ext cx="798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3</a:t>
            </a:r>
            <a:endParaRPr lang="ko-KR" sz="1100" dirty="0"/>
          </a:p>
        </p:txBody>
      </p:sp>
      <p:sp>
        <p:nvSpPr>
          <p:cNvPr id="26" name="Shape 23"/>
          <p:cNvSpPr/>
          <p:nvPr/>
        </p:nvSpPr>
        <p:spPr>
          <a:xfrm>
            <a:off x="3741912" y="5321808"/>
            <a:ext cx="1420416" cy="457200"/>
          </a:xfrm>
          <a:prstGeom prst="rect">
            <a:avLst/>
          </a:prstGeom>
          <a:solidFill>
            <a:srgbClr val="E0AE2E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741912" y="5321808"/>
            <a:ext cx="1420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4</a:t>
            </a:r>
            <a:endParaRPr lang="ko-KR" sz="1100" dirty="0"/>
          </a:p>
        </p:txBody>
      </p:sp>
      <p:sp>
        <p:nvSpPr>
          <p:cNvPr id="28" name="Shape 25"/>
          <p:cNvSpPr/>
          <p:nvPr/>
        </p:nvSpPr>
        <p:spPr>
          <a:xfrm>
            <a:off x="5162328" y="5321808"/>
            <a:ext cx="532656" cy="457200"/>
          </a:xfrm>
          <a:prstGeom prst="rect">
            <a:avLst/>
          </a:prstGeom>
          <a:solidFill>
            <a:srgbClr val="FFC83D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162328" y="5321808"/>
            <a:ext cx="53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5</a:t>
            </a:r>
            <a:endParaRPr lang="ko-KR" sz="1100" dirty="0"/>
          </a:p>
        </p:txBody>
      </p:sp>
      <p:sp>
        <p:nvSpPr>
          <p:cNvPr id="30" name="Shape 27"/>
          <p:cNvSpPr/>
          <p:nvPr/>
        </p:nvSpPr>
        <p:spPr>
          <a:xfrm>
            <a:off x="5694984" y="5321808"/>
            <a:ext cx="1420416" cy="457200"/>
          </a:xfrm>
          <a:prstGeom prst="rect">
            <a:avLst/>
          </a:prstGeom>
          <a:solidFill>
            <a:srgbClr val="E0AE2E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694984" y="5321808"/>
            <a:ext cx="1420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6</a:t>
            </a:r>
            <a:endParaRPr lang="ko-KR" sz="1100" dirty="0"/>
          </a:p>
        </p:txBody>
      </p:sp>
      <p:sp>
        <p:nvSpPr>
          <p:cNvPr id="32" name="Shape 29"/>
          <p:cNvSpPr/>
          <p:nvPr/>
        </p:nvSpPr>
        <p:spPr>
          <a:xfrm>
            <a:off x="7115400" y="5321808"/>
            <a:ext cx="710208" cy="457200"/>
          </a:xfrm>
          <a:prstGeom prst="rect">
            <a:avLst/>
          </a:prstGeom>
          <a:solidFill>
            <a:srgbClr val="A7A1B6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825608" y="5321808"/>
            <a:ext cx="3906144" cy="457200"/>
          </a:xfrm>
          <a:prstGeom prst="rect">
            <a:avLst/>
          </a:prstGeom>
          <a:solidFill>
            <a:srgbClr val="6FD3C6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825608" y="5321808"/>
            <a:ext cx="3906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게임 화면</a:t>
            </a:r>
            <a:endParaRPr lang="ko-KR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457200" y="58247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0</a:t>
            </a:r>
            <a:endParaRPr lang="ko-KR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801648" y="58247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0.4</a:t>
            </a:r>
            <a:endParaRPr lang="ko-KR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6749640" y="58247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3.75</a:t>
            </a:r>
            <a:endParaRPr lang="ko-KR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11000232" y="58247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r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+2.6</a:t>
            </a:r>
            <a:endParaRPr lang="ko-KR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7A1B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/>
              <a:t>15</a:t>
            </a:fld>
            <a:endParaRPr lang="ko-K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sz="2800" b="1" dirty="0">
                <a:solidFill>
                  <a:schemeClr val="bg2"/>
                </a:solidFill>
              </a:rPr>
              <a:t>파라오 생쥐  </a:t>
            </a:r>
            <a:pPr eaLnBrk="0" algn="l" indent="0" marL="0">
              <a:buNone/>
            </a:pPr>
            <a:r>
              <a:rPr lang="ko-KR" sz="2800" b="1" dirty="0">
                <a:solidFill>
                  <a:srgbClr val="A7A1B6"/>
                </a:solidFill>
              </a:rPr>
              <a:t>콘티</a:t>
            </a:r>
            <a:endParaRPr lang="ko-KR" sz="2800" dirty="0"/>
          </a:p>
        </p:txBody>
      </p:sp>
      <p:sp>
        <p:nvSpPr>
          <p:cNvPr id="3" name="panel_1"/>
          <p:cNvSpPr/>
          <p:nvPr/>
        </p:nvSpPr>
        <p:spPr>
          <a:xfrm>
            <a:off x="457200" y="1097280"/>
            <a:ext cx="5486400" cy="1517333"/>
          </a:xfrm>
          <a:prstGeom prst="roundRect">
            <a:avLst>
              <a:gd name="adj" fmla="val 4821"/>
            </a:avLst>
          </a:prstGeom>
          <a:solidFill>
            <a:schemeClr val="tx2"/>
          </a:solidFill>
          <a:ln/>
        </p:spPr>
      </p:sp>
      <p:pic>
        <p:nvPicPr>
          <p:cNvPr id="4" name="img_1" descr="C:\Users\user\AppData\Local\Temp\claude\C--Project-NKK-PROJECT\0415198c-3dcb-489e-9557-3945752cc25a\scratchpad\frames\pharaoh\00_Cut1_0.6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2697480" cy="151733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0352" y="1170432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30352" y="1170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1</a:t>
            </a:r>
            <a:endParaRPr lang="ko-KR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3319272" y="11704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accent1"/>
                </a:solidFill>
              </a:rPr>
              <a:t>0.40 – 0.85초</a:t>
            </a:r>
            <a:endParaRPr lang="ko-KR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3319272" y="1481328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150" dirty="0">
                <a:solidFill>
                  <a:schemeClr val="bg2"/>
                </a:solidFill>
              </a:rPr>
              <a:t>노을 태양</a:t>
            </a:r>
            <a:endParaRPr lang="ko-KR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3319272" y="2212848"/>
            <a:ext cx="25146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피라미드 정면으로 휙 틸트 다운</a:t>
            </a:r>
            <a:endParaRPr lang="ko-KR" sz="1000" dirty="0"/>
          </a:p>
        </p:txBody>
      </p:sp>
      <p:sp>
        <p:nvSpPr>
          <p:cNvPr id="10" name="panel_2"/>
          <p:cNvSpPr/>
          <p:nvPr/>
        </p:nvSpPr>
        <p:spPr>
          <a:xfrm>
            <a:off x="6245352" y="1097280"/>
            <a:ext cx="5486400" cy="1517333"/>
          </a:xfrm>
          <a:prstGeom prst="roundRect">
            <a:avLst>
              <a:gd name="adj" fmla="val 4821"/>
            </a:avLst>
          </a:prstGeom>
          <a:solidFill>
            <a:schemeClr val="tx2"/>
          </a:solidFill>
          <a:ln/>
        </p:spPr>
      </p:sp>
      <p:pic>
        <p:nvPicPr>
          <p:cNvPr id="11" name="img_2" descr="C:\Users\user\AppData\Local\Temp\claude\C--Project-NKK-PROJECT\0415198c-3dcb-489e-9557-3945752cc25a\scratchpad\frames\pharaoh\01_Cut2_1.18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097280"/>
            <a:ext cx="2697480" cy="1517333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318504" y="1170432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318504" y="1170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2</a:t>
            </a:r>
            <a:endParaRPr lang="ko-KR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9107424" y="11704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accent1"/>
                </a:solidFill>
              </a:rPr>
              <a:t>0.85 – 1.40초</a:t>
            </a:r>
            <a:endParaRPr lang="ko-KR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9107424" y="1481328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150" dirty="0">
                <a:solidFill>
                  <a:schemeClr val="bg2"/>
                </a:solidFill>
              </a:rPr>
              <a:t>계단 아래 정면: 팔짱 → 지팡이 · 도리깨 펼침 → 두 팔을 하늘로</a:t>
            </a:r>
            <a:endParaRPr lang="ko-KR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9107424" y="2212848"/>
            <a:ext cx="25146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발밑에 소환진이 퍼짐</a:t>
            </a:r>
            <a:endParaRPr lang="ko-KR" sz="1000" dirty="0"/>
          </a:p>
        </p:txBody>
      </p:sp>
      <p:sp>
        <p:nvSpPr>
          <p:cNvPr id="17" name="panel_3"/>
          <p:cNvSpPr/>
          <p:nvPr/>
        </p:nvSpPr>
        <p:spPr>
          <a:xfrm>
            <a:off x="457200" y="2797493"/>
            <a:ext cx="5486400" cy="1517333"/>
          </a:xfrm>
          <a:prstGeom prst="roundRect">
            <a:avLst>
              <a:gd name="adj" fmla="val 4821"/>
            </a:avLst>
          </a:prstGeom>
          <a:solidFill>
            <a:schemeClr val="tx2"/>
          </a:solidFill>
          <a:ln/>
        </p:spPr>
      </p:sp>
      <p:pic>
        <p:nvPicPr>
          <p:cNvPr id="18" name="img_3" descr="C:\Users\user\AppData\Local\Temp\claude\C--Project-NKK-PROJECT\0415198c-3dcb-489e-9557-3945752cc25a\scratchpad\frames\pharaoh\02_Cut3_1.67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97493"/>
            <a:ext cx="2697480" cy="1517333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30352" y="2870645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530352" y="287064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3</a:t>
            </a:r>
            <a:endParaRPr lang="ko-KR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3319272" y="2870645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accent1"/>
                </a:solidFill>
              </a:rPr>
              <a:t>1.40 – 1.85초</a:t>
            </a:r>
            <a:endParaRPr lang="ko-KR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3319272" y="3181541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150" dirty="0">
                <a:solidFill>
                  <a:schemeClr val="bg2"/>
                </a:solidFill>
              </a:rPr>
              <a:t>얼굴 정면 클로즈업 · 눈이 금빛으로 번쩍</a:t>
            </a:r>
            <a:endParaRPr lang="ko-KR" sz="1150" dirty="0"/>
          </a:p>
        </p:txBody>
      </p:sp>
      <p:sp>
        <p:nvSpPr>
          <p:cNvPr id="23" name="Text 18"/>
          <p:cNvSpPr txBox="1"/>
          <p:nvPr/>
        </p:nvSpPr>
        <p:spPr>
          <a:xfrm>
            <a:off x="3319272" y="3913061"/>
            <a:ext cx="25146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배경 판 + 쥐 판 분리</a:t>
            </a:r>
            <a:endParaRPr lang="ko-KR" sz="1000" dirty="0"/>
          </a:p>
        </p:txBody>
      </p:sp>
      <p:sp>
        <p:nvSpPr>
          <p:cNvPr id="24" name="panel_4"/>
          <p:cNvSpPr/>
          <p:nvPr/>
        </p:nvSpPr>
        <p:spPr>
          <a:xfrm>
            <a:off x="6245352" y="2797493"/>
            <a:ext cx="5486400" cy="1517333"/>
          </a:xfrm>
          <a:prstGeom prst="roundRect">
            <a:avLst>
              <a:gd name="adj" fmla="val 4821"/>
            </a:avLst>
          </a:prstGeom>
          <a:solidFill>
            <a:schemeClr val="tx2"/>
          </a:solidFill>
          <a:ln/>
        </p:spPr>
      </p:sp>
      <p:pic>
        <p:nvPicPr>
          <p:cNvPr id="25" name="img_4" descr="C:\Users\user\AppData\Local\Temp\claude\C--Project-NKK-PROJECT\0415198c-3dcb-489e-9557-3945752cc25a\scratchpad\frames\pharaoh\03_Cut4_2.3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2797493"/>
            <a:ext cx="2697480" cy="1517333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6318504" y="2870645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6318504" y="287064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4</a:t>
            </a:r>
            <a:endParaRPr lang="ko-KR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9107424" y="2870645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accent1"/>
                </a:solidFill>
              </a:rPr>
              <a:t>1.85 – 2.65초</a:t>
            </a:r>
            <a:endParaRPr lang="ko-KR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9107424" y="3181541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150" dirty="0">
                <a:solidFill>
                  <a:schemeClr val="bg2"/>
                </a:solidFill>
              </a:rPr>
              <a:t>소환: 모래가 터지며 아누비스(한 마리 크게) · 미라가 줄줄이 솟음</a:t>
            </a:r>
            <a:endParaRPr lang="ko-KR" sz="1150" dirty="0"/>
          </a:p>
        </p:txBody>
      </p:sp>
      <p:sp>
        <p:nvSpPr>
          <p:cNvPr id="30" name="Text 24"/>
          <p:cNvSpPr txBox="1"/>
          <p:nvPr/>
        </p:nvSpPr>
        <p:spPr>
          <a:xfrm>
            <a:off x="9107424" y="3913061"/>
            <a:ext cx="25146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카메라가 물러나며 뒤로 군단이 가득</a:t>
            </a:r>
            <a:endParaRPr lang="ko-KR" sz="1000" dirty="0"/>
          </a:p>
        </p:txBody>
      </p:sp>
      <p:sp>
        <p:nvSpPr>
          <p:cNvPr id="31" name="panel_5"/>
          <p:cNvSpPr/>
          <p:nvPr/>
        </p:nvSpPr>
        <p:spPr>
          <a:xfrm>
            <a:off x="457200" y="4497705"/>
            <a:ext cx="5486400" cy="1517333"/>
          </a:xfrm>
          <a:prstGeom prst="roundRect">
            <a:avLst>
              <a:gd name="adj" fmla="val 4821"/>
            </a:avLst>
          </a:prstGeom>
          <a:solidFill>
            <a:schemeClr val="tx2"/>
          </a:solidFill>
          <a:ln/>
        </p:spPr>
      </p:sp>
      <p:pic>
        <p:nvPicPr>
          <p:cNvPr id="32" name="img_5" descr="C:\Users\user\AppData\Local\Temp\claude\C--Project-NKK-PROJECT\0415198c-3dcb-489e-9557-3945752cc25a\scratchpad\frames\pharaoh\04_Cut5_2.83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497705"/>
            <a:ext cx="2697480" cy="1517333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530352" y="4570857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4" name="Text 27"/>
          <p:cNvSpPr txBox="1"/>
          <p:nvPr/>
        </p:nvSpPr>
        <p:spPr>
          <a:xfrm>
            <a:off x="530352" y="457085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5</a:t>
            </a:r>
            <a:endParaRPr lang="ko-KR" sz="1300" dirty="0"/>
          </a:p>
        </p:txBody>
      </p:sp>
      <p:sp>
        <p:nvSpPr>
          <p:cNvPr id="35" name="Text 28"/>
          <p:cNvSpPr txBox="1"/>
          <p:nvPr/>
        </p:nvSpPr>
        <p:spPr>
          <a:xfrm>
            <a:off x="3319272" y="4570857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accent1"/>
                </a:solidFill>
              </a:rPr>
              <a:t>2.65 – 2.95초</a:t>
            </a:r>
            <a:endParaRPr lang="ko-KR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3319272" y="4881753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150" dirty="0">
                <a:solidFill>
                  <a:schemeClr val="bg2"/>
                </a:solidFill>
              </a:rPr>
              <a:t>정면 지휘: 지팡이를 카메라 쪽으로 내지름</a:t>
            </a:r>
            <a:endParaRPr lang="ko-KR" sz="1150" dirty="0"/>
          </a:p>
        </p:txBody>
      </p:sp>
      <p:sp>
        <p:nvSpPr>
          <p:cNvPr id="37" name="Text 30"/>
          <p:cNvSpPr txBox="1"/>
          <p:nvPr/>
        </p:nvSpPr>
        <p:spPr>
          <a:xfrm>
            <a:off x="3319272" y="5613273"/>
            <a:ext cx="25146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밈 글 2.7초부터 화면 위</a:t>
            </a:r>
            <a:endParaRPr lang="ko-KR" sz="1000" dirty="0"/>
          </a:p>
        </p:txBody>
      </p:sp>
      <p:sp>
        <p:nvSpPr>
          <p:cNvPr id="38" name="panel_6"/>
          <p:cNvSpPr/>
          <p:nvPr/>
        </p:nvSpPr>
        <p:spPr>
          <a:xfrm>
            <a:off x="6245352" y="4497705"/>
            <a:ext cx="5486400" cy="1517333"/>
          </a:xfrm>
          <a:prstGeom prst="roundRect">
            <a:avLst>
              <a:gd name="adj" fmla="val 4821"/>
            </a:avLst>
          </a:prstGeom>
          <a:solidFill>
            <a:schemeClr val="tx2"/>
          </a:solidFill>
          <a:ln/>
        </p:spPr>
      </p:sp>
      <p:pic>
        <p:nvPicPr>
          <p:cNvPr id="39" name="img_6" descr="C:\Users\user\AppData\Local\Temp\claude\C--Project-NKK-PROJECT\0415198c-3dcb-489e-9557-3945752cc25a\scratchpad\frames\pharaoh\05_Cut6_3.43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5352" y="4497705"/>
            <a:ext cx="2697480" cy="1517333"/>
          </a:xfrm>
          <a:prstGeom prst="rect">
            <a:avLst/>
          </a:prstGeom>
        </p:spPr>
      </p:pic>
      <p:sp>
        <p:nvSpPr>
          <p:cNvPr id="40" name="Shape 32"/>
          <p:cNvSpPr/>
          <p:nvPr/>
        </p:nvSpPr>
        <p:spPr>
          <a:xfrm>
            <a:off x="6318504" y="4570857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1" name="Text 33"/>
          <p:cNvSpPr txBox="1"/>
          <p:nvPr/>
        </p:nvSpPr>
        <p:spPr>
          <a:xfrm>
            <a:off x="6318504" y="457085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6</a:t>
            </a:r>
            <a:endParaRPr lang="ko-KR" sz="1300" dirty="0"/>
          </a:p>
        </p:txBody>
      </p:sp>
      <p:sp>
        <p:nvSpPr>
          <p:cNvPr id="42" name="Text 34"/>
          <p:cNvSpPr txBox="1"/>
          <p:nvPr/>
        </p:nvSpPr>
        <p:spPr>
          <a:xfrm>
            <a:off x="9107424" y="4570857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accent1"/>
                </a:solidFill>
              </a:rPr>
              <a:t>2.95 – 3.75초</a:t>
            </a:r>
            <a:endParaRPr lang="ko-KR" sz="1200" dirty="0"/>
          </a:p>
        </p:txBody>
      </p:sp>
      <p:sp>
        <p:nvSpPr>
          <p:cNvPr id="43" name="Text 35"/>
          <p:cNvSpPr txBox="1"/>
          <p:nvPr/>
        </p:nvSpPr>
        <p:spPr>
          <a:xfrm>
            <a:off x="9107424" y="4881753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150" dirty="0">
                <a:solidFill>
                  <a:schemeClr val="bg2"/>
                </a:solidFill>
              </a:rPr>
              <a:t>미라 돌격: 멀리서 카메라로 달려와 화면 밖으로 → 맨 앞 미라가 카메라를 덮침</a:t>
            </a:r>
            <a:endParaRPr lang="ko-KR" sz="1150" dirty="0"/>
          </a:p>
        </p:txBody>
      </p:sp>
      <p:sp>
        <p:nvSpPr>
          <p:cNvPr id="44" name="Text 36"/>
          <p:cNvSpPr txBox="1"/>
          <p:nvPr/>
        </p:nvSpPr>
        <p:spPr>
          <a:xfrm>
            <a:off x="9107424" y="5613273"/>
            <a:ext cx="25146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원근 = 발끝이 내려오고 바깥으로 벌어짐</a:t>
            </a:r>
            <a:endParaRPr lang="ko-KR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7A1B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/>
              <a:t>16</a:t>
            </a:fld>
            <a:endParaRPr lang="ko-K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sz="2800" b="1" dirty="0">
                <a:solidFill>
                  <a:schemeClr val="bg2"/>
                </a:solidFill>
              </a:rPr>
              <a:t>기사 쥐  </a:t>
            </a:r>
            <a:pPr eaLnBrk="0" algn="l" indent="0" marL="0">
              <a:buNone/>
            </a:pPr>
            <a:r>
              <a:rPr lang="ko-KR" sz="2800" b="1" dirty="0">
                <a:solidFill>
                  <a:srgbClr val="FFC83D"/>
                </a:solidFill>
              </a:rPr>
              <a:t>엑스칼리버</a:t>
            </a:r>
            <a:endParaRPr lang="ko-KR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384048"/>
            <a:ext cx="1399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sz="1400" dirty="0">
                <a:solidFill>
                  <a:schemeClr val="accent5"/>
                </a:solidFill>
              </a:rPr>
              <a:t>05 / 16</a:t>
            </a:r>
            <a:endParaRPr lang="ko-KR" sz="1400" dirty="0"/>
          </a:p>
        </p:txBody>
      </p:sp>
      <p:pic>
        <p:nvPicPr>
          <p:cNvPr id="4" name="hero" descr="C:\Users\user\AppData\Local\Temp\claude\C--Project-NKK-PROJECT\0415198c-3dcb-489e-9557-3945752cc25a\scratchpad\frames\knight\05_Rear_3.6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6400800" cy="360045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178040" y="1143000"/>
            <a:ext cx="45537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0000"/>
              </a:lnSpc>
              <a:buNone/>
            </a:pPr>
            <a:r>
              <a:rPr lang="ko-KR" sz="1500" b="1" dirty="0">
                <a:solidFill>
                  <a:schemeClr val="bg2"/>
                </a:solidFill>
              </a:rPr>
              <a:t>돌 제단의 성검을 뽑아 기를 모으고, 한 번 휘둘러 대지를 가른다.</a:t>
            </a:r>
            <a:endParaRPr lang="ko-KR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178040" y="21945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테이블 기술명</a:t>
            </a:r>
            <a:endParaRPr lang="ko-KR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412480" y="2194560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원탁의 기사단  (31005)</a:t>
            </a:r>
            <a:endParaRPr lang="ko-KR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178040" y="262432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컷 구성</a:t>
            </a:r>
            <a:endParaRPr lang="ko-KR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412480" y="2624328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7컷 · 패널 7장</a:t>
            </a:r>
            <a:endParaRPr lang="ko-KR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178040" y="3054096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컷신 길이</a:t>
            </a:r>
            <a:endParaRPr lang="ko-KR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412480" y="3054096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내부 3.95초 · 0.75배속 → 실제 ≈5.3초</a:t>
            </a:r>
            <a:endParaRPr lang="ko-KR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178040" y="3483864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게임 화면</a:t>
            </a:r>
            <a:endParaRPr lang="ko-KR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412480" y="3483864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걷힘 0.4초 → 1초 · 화면을 가르는 베기선(−40°) → 선을 따라 폭발 · 가로 파동 한 번에 1초 동안 10타</a:t>
            </a:r>
            <a:endParaRPr lang="ko-KR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178040" y="391363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컷신 글</a:t>
            </a:r>
            <a:endParaRPr lang="ko-KR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412480" y="3913632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없음</a:t>
            </a:r>
            <a:endParaRPr lang="ko-KR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178040" y="43434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밈 · 대사</a:t>
            </a:r>
            <a:endParaRPr lang="ko-KR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8412480" y="4343400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(글 없음 · 데이터만 있음)</a:t>
            </a:r>
            <a:endParaRPr lang="ko-KR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49743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accent5"/>
                </a:solidFill>
              </a:rPr>
              <a:t>타임라인 (컷신 내부 시간 · 게임 화면은 같은 축척)</a:t>
            </a:r>
            <a:endParaRPr lang="ko-KR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5321808"/>
            <a:ext cx="842957" cy="457200"/>
          </a:xfrm>
          <a:prstGeom prst="rect">
            <a:avLst/>
          </a:prstGeom>
          <a:solidFill>
            <a:srgbClr val="35304A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300157" y="5321808"/>
            <a:ext cx="1053696" cy="457200"/>
          </a:xfrm>
          <a:prstGeom prst="rect">
            <a:avLst/>
          </a:prstGeom>
          <a:solidFill>
            <a:srgbClr val="FFC83D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300157" y="5321808"/>
            <a:ext cx="1053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1</a:t>
            </a:r>
            <a:endParaRPr lang="ko-KR" sz="1100" dirty="0"/>
          </a:p>
        </p:txBody>
      </p:sp>
      <p:sp>
        <p:nvSpPr>
          <p:cNvPr id="22" name="Shape 19"/>
          <p:cNvSpPr/>
          <p:nvPr/>
        </p:nvSpPr>
        <p:spPr>
          <a:xfrm>
            <a:off x="2353854" y="5321808"/>
            <a:ext cx="1159066" cy="457200"/>
          </a:xfrm>
          <a:prstGeom prst="rect">
            <a:avLst/>
          </a:prstGeom>
          <a:solidFill>
            <a:srgbClr val="E0AE2E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353854" y="5321808"/>
            <a:ext cx="11590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2</a:t>
            </a:r>
            <a:endParaRPr lang="ko-KR" sz="1100" dirty="0"/>
          </a:p>
        </p:txBody>
      </p:sp>
      <p:sp>
        <p:nvSpPr>
          <p:cNvPr id="24" name="Shape 21"/>
          <p:cNvSpPr/>
          <p:nvPr/>
        </p:nvSpPr>
        <p:spPr>
          <a:xfrm>
            <a:off x="3512920" y="5321808"/>
            <a:ext cx="1475175" cy="457200"/>
          </a:xfrm>
          <a:prstGeom prst="rect">
            <a:avLst/>
          </a:prstGeom>
          <a:solidFill>
            <a:srgbClr val="FFC83D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512920" y="5321808"/>
            <a:ext cx="14751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3</a:t>
            </a:r>
            <a:endParaRPr lang="ko-KR" sz="1100" dirty="0"/>
          </a:p>
        </p:txBody>
      </p:sp>
      <p:sp>
        <p:nvSpPr>
          <p:cNvPr id="26" name="Shape 23"/>
          <p:cNvSpPr/>
          <p:nvPr/>
        </p:nvSpPr>
        <p:spPr>
          <a:xfrm>
            <a:off x="4988095" y="5321808"/>
            <a:ext cx="1264436" cy="457200"/>
          </a:xfrm>
          <a:prstGeom prst="rect">
            <a:avLst/>
          </a:prstGeom>
          <a:solidFill>
            <a:srgbClr val="E0AE2E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988095" y="5321808"/>
            <a:ext cx="1264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4</a:t>
            </a:r>
            <a:endParaRPr lang="ko-KR" sz="1100" dirty="0"/>
          </a:p>
        </p:txBody>
      </p:sp>
      <p:sp>
        <p:nvSpPr>
          <p:cNvPr id="28" name="Shape 25"/>
          <p:cNvSpPr/>
          <p:nvPr/>
        </p:nvSpPr>
        <p:spPr>
          <a:xfrm>
            <a:off x="6252530" y="5321808"/>
            <a:ext cx="358257" cy="457200"/>
          </a:xfrm>
          <a:prstGeom prst="rect">
            <a:avLst/>
          </a:prstGeom>
          <a:solidFill>
            <a:srgbClr val="FFC83D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252530" y="5321808"/>
            <a:ext cx="35825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5</a:t>
            </a:r>
            <a:endParaRPr lang="ko-KR" sz="1100" dirty="0"/>
          </a:p>
        </p:txBody>
      </p:sp>
      <p:sp>
        <p:nvSpPr>
          <p:cNvPr id="30" name="Shape 27"/>
          <p:cNvSpPr/>
          <p:nvPr/>
        </p:nvSpPr>
        <p:spPr>
          <a:xfrm>
            <a:off x="6610787" y="5321808"/>
            <a:ext cx="421479" cy="457200"/>
          </a:xfrm>
          <a:prstGeom prst="rect">
            <a:avLst/>
          </a:prstGeom>
          <a:solidFill>
            <a:srgbClr val="E0AE2E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610787" y="5321808"/>
            <a:ext cx="4214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6</a:t>
            </a:r>
            <a:endParaRPr lang="ko-KR" sz="1100" dirty="0"/>
          </a:p>
        </p:txBody>
      </p:sp>
      <p:sp>
        <p:nvSpPr>
          <p:cNvPr id="32" name="Shape 29"/>
          <p:cNvSpPr/>
          <p:nvPr/>
        </p:nvSpPr>
        <p:spPr>
          <a:xfrm>
            <a:off x="7032266" y="5321808"/>
            <a:ext cx="1749136" cy="457200"/>
          </a:xfrm>
          <a:prstGeom prst="rect">
            <a:avLst/>
          </a:prstGeom>
          <a:solidFill>
            <a:srgbClr val="FFC83D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032266" y="5321808"/>
            <a:ext cx="1749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7</a:t>
            </a:r>
            <a:endParaRPr lang="ko-KR" sz="1100" dirty="0"/>
          </a:p>
        </p:txBody>
      </p:sp>
      <p:sp>
        <p:nvSpPr>
          <p:cNvPr id="34" name="Shape 31"/>
          <p:cNvSpPr/>
          <p:nvPr/>
        </p:nvSpPr>
        <p:spPr>
          <a:xfrm>
            <a:off x="8781402" y="5321808"/>
            <a:ext cx="842957" cy="457200"/>
          </a:xfrm>
          <a:prstGeom prst="rect">
            <a:avLst/>
          </a:prstGeom>
          <a:solidFill>
            <a:srgbClr val="A7A1B6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9624359" y="5321808"/>
            <a:ext cx="2107393" cy="457200"/>
          </a:xfrm>
          <a:prstGeom prst="rect">
            <a:avLst/>
          </a:prstGeom>
          <a:solidFill>
            <a:srgbClr val="6FD3C6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9624359" y="5321808"/>
            <a:ext cx="210739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게임 화면</a:t>
            </a:r>
            <a:endParaRPr lang="ko-KR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457200" y="58247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0</a:t>
            </a:r>
            <a:endParaRPr lang="ko-KR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934397" y="58247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0.4</a:t>
            </a:r>
            <a:endParaRPr lang="ko-KR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8415642" y="58247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3.95</a:t>
            </a:r>
            <a:endParaRPr lang="ko-KR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11000232" y="58247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r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+1.4</a:t>
            </a:r>
            <a:endParaRPr lang="ko-KR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7A1B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/>
              <a:t>17</a:t>
            </a:fld>
            <a:endParaRPr lang="ko-K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sz="2800" b="1" dirty="0">
                <a:solidFill>
                  <a:schemeClr val="bg2"/>
                </a:solidFill>
              </a:rPr>
              <a:t>기사 쥐  </a:t>
            </a:r>
            <a:pPr eaLnBrk="0" algn="l" indent="0" marL="0">
              <a:buNone/>
            </a:pPr>
            <a:r>
              <a:rPr lang="ko-KR" sz="2800" b="1" dirty="0">
                <a:solidFill>
                  <a:srgbClr val="A7A1B6"/>
                </a:solidFill>
              </a:rPr>
              <a:t>콘티</a:t>
            </a:r>
            <a:endParaRPr lang="ko-KR" sz="2800" dirty="0"/>
          </a:p>
        </p:txBody>
      </p:sp>
      <p:sp>
        <p:nvSpPr>
          <p:cNvPr id="3" name="panel_1"/>
          <p:cNvSpPr/>
          <p:nvPr/>
        </p:nvSpPr>
        <p:spPr>
          <a:xfrm>
            <a:off x="457200" y="1024128"/>
            <a:ext cx="5486400" cy="1183005"/>
          </a:xfrm>
          <a:prstGeom prst="roundRect">
            <a:avLst>
              <a:gd name="adj" fmla="val 6184"/>
            </a:avLst>
          </a:prstGeom>
          <a:solidFill>
            <a:schemeClr val="tx2"/>
          </a:solidFill>
          <a:ln/>
        </p:spPr>
      </p:sp>
      <p:pic>
        <p:nvPicPr>
          <p:cNvPr id="4" name="img_1" descr="C:\Users\user\AppData\Local\Temp\claude\C--Project-NKK-PROJECT\0415198c-3dcb-489e-9557-3945752cc25a\scratchpad\frames\knight\00_Cut1_0.7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24128"/>
            <a:ext cx="2103120" cy="11830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0352" y="109728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30352" y="1097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1</a:t>
            </a:r>
            <a:endParaRPr lang="ko-KR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2724912" y="10972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1"/>
                </a:solidFill>
              </a:rPr>
              <a:t>0.40 – 0.90초</a:t>
            </a:r>
            <a:endParaRPr lang="ko-KR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2724912" y="1353312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050" dirty="0">
                <a:solidFill>
                  <a:schemeClr val="bg2"/>
                </a:solidFill>
              </a:rPr>
              <a:t>언덕 위 돌 제단에 꽂힌 대검 · 하늘에서 빛이 내려옴</a:t>
            </a:r>
            <a:endParaRPr lang="ko-KR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2724912" y="1847088"/>
            <a:ext cx="3108960" cy="323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천천히 다가감</a:t>
            </a:r>
            <a:endParaRPr lang="ko-KR" sz="1000" dirty="0"/>
          </a:p>
        </p:txBody>
      </p:sp>
      <p:sp>
        <p:nvSpPr>
          <p:cNvPr id="10" name="panel_2"/>
          <p:cNvSpPr/>
          <p:nvPr/>
        </p:nvSpPr>
        <p:spPr>
          <a:xfrm>
            <a:off x="6245352" y="1024128"/>
            <a:ext cx="5486400" cy="1183005"/>
          </a:xfrm>
          <a:prstGeom prst="roundRect">
            <a:avLst>
              <a:gd name="adj" fmla="val 6184"/>
            </a:avLst>
          </a:prstGeom>
          <a:solidFill>
            <a:schemeClr val="tx2"/>
          </a:solidFill>
          <a:ln/>
        </p:spPr>
      </p:sp>
      <p:pic>
        <p:nvPicPr>
          <p:cNvPr id="11" name="img_2" descr="C:\Users\user\AppData\Local\Temp\claude\C--Project-NKK-PROJECT\0415198c-3dcb-489e-9557-3945752cc25a\scratchpad\frames\knight\01_Cut2_1.2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024128"/>
            <a:ext cx="2103120" cy="118300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318504" y="109728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318504" y="1097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2</a:t>
            </a:r>
            <a:endParaRPr lang="ko-KR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8513064" y="10972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1"/>
                </a:solidFill>
              </a:rPr>
              <a:t>0.90 – 1.45초</a:t>
            </a:r>
            <a:endParaRPr lang="ko-KR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8513064" y="1353312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050" dirty="0">
                <a:solidFill>
                  <a:schemeClr val="bg2"/>
                </a:solidFill>
              </a:rPr>
              <a:t>손잡이를 잡고 힘껏 → 돌 파편과 함께 뽑아 치켜듦</a:t>
            </a:r>
            <a:endParaRPr lang="ko-KR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8513064" y="1847088"/>
            <a:ext cx="3108960" cy="323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뽑는 순간 흔들림</a:t>
            </a:r>
            <a:endParaRPr lang="ko-KR" sz="1000" dirty="0"/>
          </a:p>
        </p:txBody>
      </p:sp>
      <p:sp>
        <p:nvSpPr>
          <p:cNvPr id="17" name="panel_3"/>
          <p:cNvSpPr/>
          <p:nvPr/>
        </p:nvSpPr>
        <p:spPr>
          <a:xfrm>
            <a:off x="457200" y="2316861"/>
            <a:ext cx="5486400" cy="1183005"/>
          </a:xfrm>
          <a:prstGeom prst="roundRect">
            <a:avLst>
              <a:gd name="adj" fmla="val 6184"/>
            </a:avLst>
          </a:prstGeom>
          <a:solidFill>
            <a:schemeClr val="tx2"/>
          </a:solidFill>
          <a:ln/>
        </p:spPr>
      </p:sp>
      <p:pic>
        <p:nvPicPr>
          <p:cNvPr id="18" name="img_3" descr="C:\Users\user\AppData\Local\Temp\claude\C--Project-NKK-PROJECT\0415198c-3dcb-489e-9557-3945752cc25a\scratchpad\frames\knight\02_Cut3_1.87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16861"/>
            <a:ext cx="2103120" cy="1183005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30352" y="2390013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530352" y="2390013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3</a:t>
            </a:r>
            <a:endParaRPr lang="ko-KR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2724912" y="2390013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1"/>
                </a:solidFill>
              </a:rPr>
              <a:t>1.45 – 2.15초</a:t>
            </a:r>
            <a:endParaRPr lang="ko-KR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2724912" y="2646045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050" dirty="0">
                <a:solidFill>
                  <a:schemeClr val="bg2"/>
                </a:solidFill>
              </a:rPr>
              <a:t>대검을 어깨에 메고 에너지 차징</a:t>
            </a:r>
            <a:endParaRPr lang="ko-KR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2724912" y="3139821"/>
            <a:ext cx="3108960" cy="323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기운이 커질수록 흔들림이 세짐</a:t>
            </a:r>
            <a:endParaRPr lang="ko-KR" sz="1000" dirty="0"/>
          </a:p>
        </p:txBody>
      </p:sp>
      <p:sp>
        <p:nvSpPr>
          <p:cNvPr id="24" name="panel_4"/>
          <p:cNvSpPr/>
          <p:nvPr/>
        </p:nvSpPr>
        <p:spPr>
          <a:xfrm>
            <a:off x="6245352" y="2316861"/>
            <a:ext cx="5486400" cy="1183005"/>
          </a:xfrm>
          <a:prstGeom prst="roundRect">
            <a:avLst>
              <a:gd name="adj" fmla="val 6184"/>
            </a:avLst>
          </a:prstGeom>
          <a:solidFill>
            <a:schemeClr val="tx2"/>
          </a:solidFill>
          <a:ln/>
        </p:spPr>
      </p:sp>
      <p:pic>
        <p:nvPicPr>
          <p:cNvPr id="25" name="img_4" descr="C:\Users\user\AppData\Local\Temp\claude\C--Project-NKK-PROJECT\0415198c-3dcb-489e-9557-3945752cc25a\scratchpad\frames\knight\03_Cut4_2.51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2316861"/>
            <a:ext cx="2103120" cy="1183005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6318504" y="2390013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6318504" y="2390013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4</a:t>
            </a:r>
            <a:endParaRPr lang="ko-KR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8513064" y="2390013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1"/>
                </a:solidFill>
              </a:rPr>
              <a:t>2.15 – 2.75초</a:t>
            </a:r>
            <a:endParaRPr lang="ko-KR" sz="1100" dirty="0"/>
          </a:p>
        </p:txBody>
      </p:sp>
      <p:sp>
        <p:nvSpPr>
          <p:cNvPr id="29" name="Text 23"/>
          <p:cNvSpPr txBox="1"/>
          <p:nvPr/>
        </p:nvSpPr>
        <p:spPr>
          <a:xfrm>
            <a:off x="8513064" y="2646045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050" dirty="0">
                <a:solidFill>
                  <a:schemeClr val="bg2"/>
                </a:solidFill>
              </a:rPr>
              <a:t>정면: 대검을 머리 뒤로 높이 · 칼날에 빛 기둥 · 빛 알갱이가 모임</a:t>
            </a:r>
            <a:endParaRPr lang="ko-KR" sz="1050" dirty="0"/>
          </a:p>
        </p:txBody>
      </p:sp>
      <p:sp>
        <p:nvSpPr>
          <p:cNvPr id="30" name="Text 24"/>
          <p:cNvSpPr txBox="1"/>
          <p:nvPr/>
        </p:nvSpPr>
        <p:spPr>
          <a:xfrm>
            <a:off x="8513064" y="3139821"/>
            <a:ext cx="3108960" cy="323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트래킹 줌으로 얼굴까지</a:t>
            </a:r>
            <a:endParaRPr lang="ko-KR" sz="1000" dirty="0"/>
          </a:p>
        </p:txBody>
      </p:sp>
      <p:sp>
        <p:nvSpPr>
          <p:cNvPr id="31" name="panel_5"/>
          <p:cNvSpPr/>
          <p:nvPr/>
        </p:nvSpPr>
        <p:spPr>
          <a:xfrm>
            <a:off x="457200" y="3609594"/>
            <a:ext cx="5486400" cy="1183005"/>
          </a:xfrm>
          <a:prstGeom prst="roundRect">
            <a:avLst>
              <a:gd name="adj" fmla="val 6184"/>
            </a:avLst>
          </a:prstGeom>
          <a:solidFill>
            <a:schemeClr val="tx2"/>
          </a:solidFill>
          <a:ln/>
        </p:spPr>
      </p:sp>
      <p:pic>
        <p:nvPicPr>
          <p:cNvPr id="32" name="img_5" descr="C:\Users\user\AppData\Local\Temp\claude\C--Project-NKK-PROJECT\0415198c-3dcb-489e-9557-3945752cc25a\scratchpad\frames\knight\x_2.95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609594"/>
            <a:ext cx="2103120" cy="1183005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530352" y="3682746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4" name="Text 27"/>
          <p:cNvSpPr txBox="1"/>
          <p:nvPr/>
        </p:nvSpPr>
        <p:spPr>
          <a:xfrm>
            <a:off x="530352" y="368274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5</a:t>
            </a:r>
            <a:endParaRPr lang="ko-KR" sz="1300" dirty="0"/>
          </a:p>
        </p:txBody>
      </p:sp>
      <p:sp>
        <p:nvSpPr>
          <p:cNvPr id="35" name="Text 28"/>
          <p:cNvSpPr txBox="1"/>
          <p:nvPr/>
        </p:nvSpPr>
        <p:spPr>
          <a:xfrm>
            <a:off x="2724912" y="368274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1"/>
                </a:solidFill>
              </a:rPr>
              <a:t>2.75 – 2.92초</a:t>
            </a:r>
            <a:endParaRPr lang="ko-KR" sz="1100" dirty="0"/>
          </a:p>
        </p:txBody>
      </p:sp>
      <p:sp>
        <p:nvSpPr>
          <p:cNvPr id="36" name="Text 29"/>
          <p:cNvSpPr txBox="1"/>
          <p:nvPr/>
        </p:nvSpPr>
        <p:spPr>
          <a:xfrm>
            <a:off x="2724912" y="3938778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050" dirty="0">
                <a:solidFill>
                  <a:schemeClr val="bg2"/>
                </a:solidFill>
              </a:rPr>
              <a:t>눈 익스트림 클로즈업</a:t>
            </a:r>
            <a:endParaRPr lang="ko-KR" sz="1050" dirty="0"/>
          </a:p>
        </p:txBody>
      </p:sp>
      <p:sp>
        <p:nvSpPr>
          <p:cNvPr id="37" name="Text 30"/>
          <p:cNvSpPr txBox="1"/>
          <p:nvPr/>
        </p:nvSpPr>
        <p:spPr>
          <a:xfrm>
            <a:off x="2724912" y="4432554"/>
            <a:ext cx="3108960" cy="323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정지에 가까운 클로즈업</a:t>
            </a:r>
            <a:endParaRPr lang="ko-KR" sz="1000" dirty="0"/>
          </a:p>
        </p:txBody>
      </p:sp>
      <p:sp>
        <p:nvSpPr>
          <p:cNvPr id="38" name="panel_6"/>
          <p:cNvSpPr/>
          <p:nvPr/>
        </p:nvSpPr>
        <p:spPr>
          <a:xfrm>
            <a:off x="6245352" y="3609594"/>
            <a:ext cx="5486400" cy="1183005"/>
          </a:xfrm>
          <a:prstGeom prst="roundRect">
            <a:avLst>
              <a:gd name="adj" fmla="val 6184"/>
            </a:avLst>
          </a:prstGeom>
          <a:solidFill>
            <a:schemeClr val="tx2"/>
          </a:solidFill>
          <a:ln/>
        </p:spPr>
      </p:sp>
      <p:pic>
        <p:nvPicPr>
          <p:cNvPr id="39" name="img_6" descr="C:\Users\user\AppData\Local\Temp\claude\C--Project-NKK-PROJECT\0415198c-3dcb-489e-9557-3945752cc25a\scratchpad\frames\knight\x_3.02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5352" y="3609594"/>
            <a:ext cx="2103120" cy="1183005"/>
          </a:xfrm>
          <a:prstGeom prst="rect">
            <a:avLst/>
          </a:prstGeom>
        </p:spPr>
      </p:pic>
      <p:sp>
        <p:nvSpPr>
          <p:cNvPr id="40" name="Shape 32"/>
          <p:cNvSpPr/>
          <p:nvPr/>
        </p:nvSpPr>
        <p:spPr>
          <a:xfrm>
            <a:off x="6318504" y="3682746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1" name="Text 33"/>
          <p:cNvSpPr txBox="1"/>
          <p:nvPr/>
        </p:nvSpPr>
        <p:spPr>
          <a:xfrm>
            <a:off x="6318504" y="368274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6</a:t>
            </a:r>
            <a:endParaRPr lang="ko-KR" sz="1300" dirty="0"/>
          </a:p>
        </p:txBody>
      </p:sp>
      <p:sp>
        <p:nvSpPr>
          <p:cNvPr id="42" name="Text 34"/>
          <p:cNvSpPr txBox="1"/>
          <p:nvPr/>
        </p:nvSpPr>
        <p:spPr>
          <a:xfrm>
            <a:off x="8513064" y="368274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1"/>
                </a:solidFill>
              </a:rPr>
              <a:t>2.92 – 3.12초</a:t>
            </a:r>
            <a:endParaRPr lang="ko-KR" sz="1100" dirty="0"/>
          </a:p>
        </p:txBody>
      </p:sp>
      <p:sp>
        <p:nvSpPr>
          <p:cNvPr id="43" name="Text 35"/>
          <p:cNvSpPr txBox="1"/>
          <p:nvPr/>
        </p:nvSpPr>
        <p:spPr>
          <a:xfrm>
            <a:off x="8513064" y="3938778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050" dirty="0">
                <a:solidFill>
                  <a:schemeClr val="bg2"/>
                </a:solidFill>
              </a:rPr>
              <a:t>휘두르는 칼의 잔상 줄무늬가 칼 각도(−40°)로 얼굴 위를 스침 → 빛 · 불꽃이 화면을 덮음</a:t>
            </a:r>
            <a:endParaRPr lang="ko-KR" sz="1050" dirty="0"/>
          </a:p>
        </p:txBody>
      </p:sp>
      <p:sp>
        <p:nvSpPr>
          <p:cNvPr id="44" name="Text 36"/>
          <p:cNvSpPr txBox="1"/>
          <p:nvPr/>
        </p:nvSpPr>
        <p:spPr>
          <a:xfrm>
            <a:off x="8513064" y="4432554"/>
            <a:ext cx="3108960" cy="323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잔상 줄무늬만 · 갈라지는 방향 = 휘두른 각도</a:t>
            </a:r>
            <a:endParaRPr lang="ko-KR" sz="1000" dirty="0"/>
          </a:p>
        </p:txBody>
      </p:sp>
      <p:sp>
        <p:nvSpPr>
          <p:cNvPr id="45" name="panel_7"/>
          <p:cNvSpPr/>
          <p:nvPr/>
        </p:nvSpPr>
        <p:spPr>
          <a:xfrm>
            <a:off x="457200" y="4902327"/>
            <a:ext cx="5486400" cy="1183005"/>
          </a:xfrm>
          <a:prstGeom prst="roundRect">
            <a:avLst>
              <a:gd name="adj" fmla="val 6184"/>
            </a:avLst>
          </a:prstGeom>
          <a:solidFill>
            <a:schemeClr val="tx2"/>
          </a:solidFill>
          <a:ln/>
        </p:spPr>
      </p:sp>
      <p:pic>
        <p:nvPicPr>
          <p:cNvPr id="46" name="img_7" descr="C:\Users\user\AppData\Local\Temp\claude\C--Project-NKK-PROJECT\0415198c-3dcb-489e-9557-3945752cc25a\scratchpad\frames\knight\05_Rear_3.62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902327"/>
            <a:ext cx="2103120" cy="1183005"/>
          </a:xfrm>
          <a:prstGeom prst="rect">
            <a:avLst/>
          </a:prstGeom>
        </p:spPr>
      </p:pic>
      <p:sp>
        <p:nvSpPr>
          <p:cNvPr id="47" name="Shape 38"/>
          <p:cNvSpPr/>
          <p:nvPr/>
        </p:nvSpPr>
        <p:spPr>
          <a:xfrm>
            <a:off x="530352" y="4975479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8" name="Text 39"/>
          <p:cNvSpPr txBox="1"/>
          <p:nvPr/>
        </p:nvSpPr>
        <p:spPr>
          <a:xfrm>
            <a:off x="530352" y="4975479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7</a:t>
            </a:r>
            <a:endParaRPr lang="ko-KR" sz="1300" dirty="0"/>
          </a:p>
        </p:txBody>
      </p:sp>
      <p:sp>
        <p:nvSpPr>
          <p:cNvPr id="49" name="Text 40"/>
          <p:cNvSpPr txBox="1"/>
          <p:nvPr/>
        </p:nvSpPr>
        <p:spPr>
          <a:xfrm>
            <a:off x="2724912" y="4975479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1"/>
                </a:solidFill>
              </a:rPr>
              <a:t>3.12 – 3.95초</a:t>
            </a:r>
            <a:endParaRPr lang="ko-KR" sz="1100" dirty="0"/>
          </a:p>
        </p:txBody>
      </p:sp>
      <p:sp>
        <p:nvSpPr>
          <p:cNvPr id="50" name="Text 41"/>
          <p:cNvSpPr txBox="1"/>
          <p:nvPr/>
        </p:nvSpPr>
        <p:spPr>
          <a:xfrm>
            <a:off x="2724912" y="5231511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050" dirty="0">
                <a:solidFill>
                  <a:schemeClr val="bg2"/>
                </a:solidFill>
              </a:rPr>
              <a:t>후경: 초원 원근 · 덮었던 불꽃 벽이 칼 각도로 둘로 갈라져 양옆으로 스쳐 지나감</a:t>
            </a:r>
            <a:endParaRPr lang="ko-KR" sz="1050" dirty="0"/>
          </a:p>
        </p:txBody>
      </p:sp>
      <p:sp>
        <p:nvSpPr>
          <p:cNvPr id="51" name="Text 42"/>
          <p:cNvSpPr txBox="1"/>
          <p:nvPr/>
        </p:nvSpPr>
        <p:spPr>
          <a:xfrm>
            <a:off x="2724912" y="5725287"/>
            <a:ext cx="3108960" cy="323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틸트 다운 + 달리 아웃 반동 · 가장자리 블러 · 칼 오라 맥동</a:t>
            </a:r>
            <a:endParaRPr lang="ko-KR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7A1B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/>
              <a:t>18</a:t>
            </a:fld>
            <a:endParaRPr lang="ko-K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sz="2800" b="1" dirty="0">
                <a:solidFill>
                  <a:schemeClr val="bg2"/>
                </a:solidFill>
              </a:rPr>
              <a:t>술탄 햄스터  </a:t>
            </a:r>
            <a:pPr eaLnBrk="0" algn="l" indent="0" marL="0">
              <a:buNone/>
            </a:pPr>
            <a:r>
              <a:rPr lang="ko-KR" sz="2800" b="1" dirty="0">
                <a:solidFill>
                  <a:srgbClr val="FFC83D"/>
                </a:solidFill>
              </a:rPr>
              <a:t>석유 부자의 금화 비</a:t>
            </a:r>
            <a:endParaRPr lang="ko-KR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384048"/>
            <a:ext cx="1399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sz="1400" dirty="0">
                <a:solidFill>
                  <a:schemeClr val="accent5"/>
                </a:solidFill>
              </a:rPr>
              <a:t>06 / 16</a:t>
            </a:r>
            <a:endParaRPr lang="ko-KR" sz="1400" dirty="0"/>
          </a:p>
        </p:txBody>
      </p:sp>
      <p:pic>
        <p:nvPicPr>
          <p:cNvPr id="4" name="hero" descr="C:\Users\user\AppData\Local\Temp\claude\C--Project-NKK-PROJECT\0415198c-3dcb-489e-9557-3945752cc25a\scratchpad\frames\sultan\03_Cut4_3.8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6400800" cy="360045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178040" y="1143000"/>
            <a:ext cx="45537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0000"/>
              </a:lnSpc>
              <a:buNone/>
            </a:pPr>
            <a:r>
              <a:rPr lang="ko-KR" sz="1500" b="1" dirty="0">
                <a:solidFill>
                  <a:schemeClr val="bg2"/>
                </a:solidFill>
              </a:rPr>
              <a:t>석유로 번 돈을 마법 양탄자에서 하늘 높이 뿌리고, 금화 비가 게임 화면까지 쏟아진다.</a:t>
            </a:r>
            <a:endParaRPr lang="ko-KR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178040" y="21945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테이블 기술명</a:t>
            </a:r>
            <a:endParaRPr lang="ko-KR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412480" y="2194560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소원 세 개  (31006)</a:t>
            </a:r>
            <a:endParaRPr lang="ko-KR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178040" y="262432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컷 구성</a:t>
            </a:r>
            <a:endParaRPr lang="ko-KR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412480" y="2624328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4컷 · 패널 5장</a:t>
            </a:r>
            <a:endParaRPr lang="ko-KR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178040" y="3054096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컷신 길이</a:t>
            </a:r>
            <a:endParaRPr lang="ko-KR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412480" y="3054096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내부 4.15초 · 1배속</a:t>
            </a:r>
            <a:endParaRPr lang="ko-KR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178040" y="3483864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게임 화면</a:t>
            </a:r>
            <a:endParaRPr lang="ko-KR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412480" y="3483864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걷힘 0.35초 → 4초 · 컷신 금화 비가 그대로 이어져 4초 동안 쏟아지고 대상마다 짤랑</a:t>
            </a:r>
            <a:endParaRPr lang="ko-KR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178040" y="391363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컷신 글</a:t>
            </a:r>
            <a:endParaRPr lang="ko-KR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412480" y="3913632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제목 · 대사 · 밈</a:t>
            </a:r>
            <a:endParaRPr lang="ko-KR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178040" y="43434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밈 · 대사</a:t>
            </a:r>
            <a:endParaRPr lang="ko-KR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8412480" y="4343400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※ 오늘 금화 비는 술탄이 쏩니다</a:t>
            </a:r>
            <a:endParaRPr lang="ko-KR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49743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accent5"/>
                </a:solidFill>
              </a:rPr>
              <a:t>타임라인 (컷신 내부 시간 · 게임 화면은 같은 축척)</a:t>
            </a:r>
            <a:endParaRPr lang="ko-KR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5321808"/>
            <a:ext cx="530567" cy="457200"/>
          </a:xfrm>
          <a:prstGeom prst="rect">
            <a:avLst/>
          </a:prstGeom>
          <a:solidFill>
            <a:srgbClr val="35304A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87767" y="5321808"/>
            <a:ext cx="769322" cy="457200"/>
          </a:xfrm>
          <a:prstGeom prst="rect">
            <a:avLst/>
          </a:prstGeom>
          <a:solidFill>
            <a:srgbClr val="FFC83D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87767" y="5321808"/>
            <a:ext cx="7693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1</a:t>
            </a:r>
            <a:endParaRPr lang="ko-KR" sz="1100" dirty="0"/>
          </a:p>
        </p:txBody>
      </p:sp>
      <p:sp>
        <p:nvSpPr>
          <p:cNvPr id="22" name="Shape 19"/>
          <p:cNvSpPr/>
          <p:nvPr/>
        </p:nvSpPr>
        <p:spPr>
          <a:xfrm>
            <a:off x="1757090" y="5321808"/>
            <a:ext cx="583624" cy="457200"/>
          </a:xfrm>
          <a:prstGeom prst="rect">
            <a:avLst/>
          </a:prstGeom>
          <a:solidFill>
            <a:srgbClr val="E0AE2E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757090" y="5321808"/>
            <a:ext cx="583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2</a:t>
            </a:r>
            <a:endParaRPr lang="ko-KR" sz="1100" dirty="0"/>
          </a:p>
        </p:txBody>
      </p:sp>
      <p:sp>
        <p:nvSpPr>
          <p:cNvPr id="24" name="Shape 21"/>
          <p:cNvSpPr/>
          <p:nvPr/>
        </p:nvSpPr>
        <p:spPr>
          <a:xfrm>
            <a:off x="2340713" y="5321808"/>
            <a:ext cx="1299890" cy="457200"/>
          </a:xfrm>
          <a:prstGeom prst="rect">
            <a:avLst/>
          </a:prstGeom>
          <a:solidFill>
            <a:srgbClr val="FFC83D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340713" y="5321808"/>
            <a:ext cx="12998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3</a:t>
            </a:r>
            <a:endParaRPr lang="ko-KR" sz="1100" dirty="0"/>
          </a:p>
        </p:txBody>
      </p:sp>
      <p:sp>
        <p:nvSpPr>
          <p:cNvPr id="26" name="Shape 23"/>
          <p:cNvSpPr/>
          <p:nvPr/>
        </p:nvSpPr>
        <p:spPr>
          <a:xfrm>
            <a:off x="3640603" y="5321808"/>
            <a:ext cx="2321231" cy="457200"/>
          </a:xfrm>
          <a:prstGeom prst="rect">
            <a:avLst/>
          </a:prstGeom>
          <a:solidFill>
            <a:srgbClr val="E0AE2E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640603" y="5321808"/>
            <a:ext cx="23212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4</a:t>
            </a:r>
            <a:endParaRPr lang="ko-KR" sz="1100" dirty="0"/>
          </a:p>
        </p:txBody>
      </p:sp>
      <p:sp>
        <p:nvSpPr>
          <p:cNvPr id="28" name="Shape 25"/>
          <p:cNvSpPr/>
          <p:nvPr/>
        </p:nvSpPr>
        <p:spPr>
          <a:xfrm>
            <a:off x="5961834" y="5321808"/>
            <a:ext cx="464246" cy="457200"/>
          </a:xfrm>
          <a:prstGeom prst="rect">
            <a:avLst/>
          </a:prstGeom>
          <a:solidFill>
            <a:srgbClr val="A7A1B6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426080" y="5321808"/>
            <a:ext cx="5305672" cy="457200"/>
          </a:xfrm>
          <a:prstGeom prst="rect">
            <a:avLst/>
          </a:prstGeom>
          <a:solidFill>
            <a:srgbClr val="6FD3C6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426080" y="5321808"/>
            <a:ext cx="5305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게임 화면</a:t>
            </a:r>
            <a:endParaRPr lang="ko-KR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457200" y="58247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0</a:t>
            </a:r>
            <a:endParaRPr lang="ko-KR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622007" y="58247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0.4</a:t>
            </a:r>
            <a:endParaRPr lang="ko-KR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5596074" y="58247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4.15</a:t>
            </a:r>
            <a:endParaRPr lang="ko-KR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11000232" y="58247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r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+4.3</a:t>
            </a:r>
            <a:endParaRPr lang="ko-KR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7A1B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/>
              <a:t>19</a:t>
            </a:fld>
            <a:endParaRPr lang="ko-K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sz="2800" b="1" dirty="0">
                <a:solidFill>
                  <a:schemeClr val="bg2"/>
                </a:solidFill>
              </a:rPr>
              <a:t>술탄 햄스터  </a:t>
            </a:r>
            <a:pPr eaLnBrk="0" algn="l" indent="0" marL="0">
              <a:buNone/>
            </a:pPr>
            <a:r>
              <a:rPr lang="ko-KR" sz="2800" b="1" dirty="0">
                <a:solidFill>
                  <a:srgbClr val="A7A1B6"/>
                </a:solidFill>
              </a:rPr>
              <a:t>콘티</a:t>
            </a:r>
            <a:endParaRPr lang="ko-KR" sz="2800" dirty="0"/>
          </a:p>
        </p:txBody>
      </p:sp>
      <p:sp>
        <p:nvSpPr>
          <p:cNvPr id="3" name="panel_1"/>
          <p:cNvSpPr/>
          <p:nvPr/>
        </p:nvSpPr>
        <p:spPr>
          <a:xfrm>
            <a:off x="457200" y="1097280"/>
            <a:ext cx="5486400" cy="1517333"/>
          </a:xfrm>
          <a:prstGeom prst="roundRect">
            <a:avLst>
              <a:gd name="adj" fmla="val 4821"/>
            </a:avLst>
          </a:prstGeom>
          <a:solidFill>
            <a:schemeClr val="tx2"/>
          </a:solidFill>
          <a:ln/>
        </p:spPr>
      </p:sp>
      <p:pic>
        <p:nvPicPr>
          <p:cNvPr id="4" name="img_1" descr="C:\Users\user\AppData\Local\Temp\claude\C--Project-NKK-PROJECT\0415198c-3dcb-489e-9557-3945752cc25a\scratchpad\frames\sultan\00_Cut1_0.7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2697480" cy="151733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0352" y="1170432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30352" y="1170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1</a:t>
            </a:r>
            <a:endParaRPr lang="ko-KR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3319272" y="11704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accent1"/>
                </a:solidFill>
              </a:rPr>
              <a:t>0.40 – 0.98초</a:t>
            </a:r>
            <a:endParaRPr lang="ko-KR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3319272" y="1481328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150" dirty="0">
                <a:solidFill>
                  <a:schemeClr val="bg2"/>
                </a:solidFill>
              </a:rPr>
              <a:t>사막의 작은 유정 → 땅이 들썩(0.56) → 쾅! 검은 석유가 하늘까지 분출</a:t>
            </a:r>
            <a:endParaRPr lang="ko-KR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3319272" y="2212848"/>
            <a:ext cx="25146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천천히 다가감 · 짧게, 금화 없음</a:t>
            </a:r>
            <a:endParaRPr lang="ko-KR" sz="1000" dirty="0"/>
          </a:p>
        </p:txBody>
      </p:sp>
      <p:sp>
        <p:nvSpPr>
          <p:cNvPr id="10" name="panel_2"/>
          <p:cNvSpPr/>
          <p:nvPr/>
        </p:nvSpPr>
        <p:spPr>
          <a:xfrm>
            <a:off x="6245352" y="1097280"/>
            <a:ext cx="5486400" cy="1517333"/>
          </a:xfrm>
          <a:prstGeom prst="roundRect">
            <a:avLst>
              <a:gd name="adj" fmla="val 4821"/>
            </a:avLst>
          </a:prstGeom>
          <a:solidFill>
            <a:schemeClr val="tx2"/>
          </a:solidFill>
          <a:ln/>
        </p:spPr>
      </p:sp>
      <p:pic>
        <p:nvPicPr>
          <p:cNvPr id="11" name="img_2" descr="C:\Users\user\AppData\Local\Temp\claude\C--Project-NKK-PROJECT\0415198c-3dcb-489e-9557-3945752cc25a\scratchpad\frames\sultan\01_Cut2_1.24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097280"/>
            <a:ext cx="2697480" cy="1517333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318504" y="1170432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318504" y="1170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2</a:t>
            </a:r>
            <a:endParaRPr lang="ko-KR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9107424" y="11704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accent1"/>
                </a:solidFill>
              </a:rPr>
              <a:t>0.98 – 1.42초</a:t>
            </a:r>
            <a:endParaRPr lang="ko-KR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9107424" y="1481328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150" dirty="0">
                <a:solidFill>
                  <a:schemeClr val="bg2"/>
                </a:solidFill>
              </a:rPr>
              <a:t>얼굴 클로즈업: 흐뭇하게 돈 세는 손짓 → 눈이 금화로 반짝 (짤랑)</a:t>
            </a:r>
            <a:endParaRPr lang="ko-KR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9107424" y="2212848"/>
            <a:ext cx="25146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같은 틀 연속 프레임 바꿔 끼우기</a:t>
            </a:r>
            <a:endParaRPr lang="ko-KR" sz="1000" dirty="0"/>
          </a:p>
        </p:txBody>
      </p:sp>
      <p:sp>
        <p:nvSpPr>
          <p:cNvPr id="17" name="panel_3"/>
          <p:cNvSpPr/>
          <p:nvPr/>
        </p:nvSpPr>
        <p:spPr>
          <a:xfrm>
            <a:off x="457200" y="2797493"/>
            <a:ext cx="5486400" cy="1517333"/>
          </a:xfrm>
          <a:prstGeom prst="roundRect">
            <a:avLst>
              <a:gd name="adj" fmla="val 4821"/>
            </a:avLst>
          </a:prstGeom>
          <a:solidFill>
            <a:schemeClr val="tx2"/>
          </a:solidFill>
          <a:ln/>
        </p:spPr>
      </p:sp>
      <p:pic>
        <p:nvPicPr>
          <p:cNvPr id="18" name="img_3" descr="C:\Users\user\AppData\Local\Temp\claude\C--Project-NKK-PROJECT\0415198c-3dcb-489e-9557-3945752cc25a\scratchpad\frames\sultan\02_Cut3_1.71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97493"/>
            <a:ext cx="2697480" cy="1517333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30352" y="2870645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530352" y="287064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3</a:t>
            </a:r>
            <a:endParaRPr lang="ko-KR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3319272" y="2870645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accent1"/>
                </a:solidFill>
              </a:rPr>
              <a:t>1.42 – 2.40초</a:t>
            </a:r>
            <a:endParaRPr lang="ko-KR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3319272" y="3181541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150" dirty="0">
                <a:solidFill>
                  <a:schemeClr val="bg2"/>
                </a:solidFill>
              </a:rPr>
              <a:t>금화 산이 쌓인 궁전 앞에서 양탄자를 탄 채 떠오름</a:t>
            </a:r>
            <a:endParaRPr lang="ko-KR" sz="1150" dirty="0"/>
          </a:p>
        </p:txBody>
      </p:sp>
      <p:sp>
        <p:nvSpPr>
          <p:cNvPr id="23" name="Text 18"/>
          <p:cNvSpPr txBox="1"/>
          <p:nvPr/>
        </p:nvSpPr>
        <p:spPr>
          <a:xfrm>
            <a:off x="3319272" y="3913061"/>
            <a:ext cx="25146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세로 한 장을 아래(궁전) → 위(하늘)로 틸트 · 점점 빨라짐 · 속도선</a:t>
            </a:r>
            <a:endParaRPr lang="ko-KR" sz="1000" dirty="0"/>
          </a:p>
        </p:txBody>
      </p:sp>
      <p:sp>
        <p:nvSpPr>
          <p:cNvPr id="24" name="panel_4-1"/>
          <p:cNvSpPr/>
          <p:nvPr/>
        </p:nvSpPr>
        <p:spPr>
          <a:xfrm>
            <a:off x="6245352" y="2797493"/>
            <a:ext cx="5486400" cy="1517333"/>
          </a:xfrm>
          <a:prstGeom prst="roundRect">
            <a:avLst>
              <a:gd name="adj" fmla="val 4821"/>
            </a:avLst>
          </a:prstGeom>
          <a:solidFill>
            <a:schemeClr val="tx2"/>
          </a:solidFill>
          <a:ln/>
        </p:spPr>
      </p:sp>
      <p:pic>
        <p:nvPicPr>
          <p:cNvPr id="25" name="img_4-1" descr="C:\Users\user\AppData\Local\Temp\claude\C--Project-NKK-PROJECT\0415198c-3dcb-489e-9557-3945752cc25a\scratchpad\frames\sultan\03_Cut4_2.92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2797493"/>
            <a:ext cx="2697480" cy="1517333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6318504" y="2870645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6318504" y="287064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000" b="1" dirty="0">
                <a:solidFill>
                  <a:schemeClr val="tx1"/>
                </a:solidFill>
              </a:rPr>
              <a:t>4-1</a:t>
            </a:r>
            <a:endParaRPr lang="ko-KR" sz="1000" dirty="0"/>
          </a:p>
        </p:txBody>
      </p:sp>
      <p:sp>
        <p:nvSpPr>
          <p:cNvPr id="28" name="Text 22"/>
          <p:cNvSpPr txBox="1"/>
          <p:nvPr/>
        </p:nvSpPr>
        <p:spPr>
          <a:xfrm>
            <a:off x="9107424" y="2870645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accent1"/>
                </a:solidFill>
              </a:rPr>
              <a:t>2.40 – 4.15초</a:t>
            </a:r>
            <a:endParaRPr lang="ko-KR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9107424" y="3181541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150" dirty="0">
                <a:solidFill>
                  <a:schemeClr val="bg2"/>
                </a:solidFill>
              </a:rPr>
              <a:t>하늘: 도시 위를 날며 자루에서 금화를 퍼 두 손으로 하늘 높이 흩뿌림</a:t>
            </a:r>
            <a:endParaRPr lang="ko-KR" sz="1150" dirty="0"/>
          </a:p>
        </p:txBody>
      </p:sp>
      <p:sp>
        <p:nvSpPr>
          <p:cNvPr id="30" name="Text 24"/>
          <p:cNvSpPr txBox="1"/>
          <p:nvPr/>
        </p:nvSpPr>
        <p:spPr>
          <a:xfrm>
            <a:off x="9107424" y="3913061"/>
            <a:ext cx="25146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밈 글 2.75~3.72초 화면 아래</a:t>
            </a:r>
            <a:endParaRPr lang="ko-KR" sz="1000" dirty="0"/>
          </a:p>
        </p:txBody>
      </p:sp>
      <p:sp>
        <p:nvSpPr>
          <p:cNvPr id="31" name="panel_4-2"/>
          <p:cNvSpPr/>
          <p:nvPr/>
        </p:nvSpPr>
        <p:spPr>
          <a:xfrm>
            <a:off x="457200" y="4497705"/>
            <a:ext cx="5486400" cy="1517333"/>
          </a:xfrm>
          <a:prstGeom prst="roundRect">
            <a:avLst>
              <a:gd name="adj" fmla="val 4821"/>
            </a:avLst>
          </a:prstGeom>
          <a:solidFill>
            <a:schemeClr val="tx2"/>
          </a:solidFill>
          <a:ln/>
        </p:spPr>
      </p:sp>
      <p:pic>
        <p:nvPicPr>
          <p:cNvPr id="32" name="img_4-2" descr="C:\Users\user\AppData\Local\Temp\claude\C--Project-NKK-PROJECT\0415198c-3dcb-489e-9557-3945752cc25a\scratchpad\frames\sultan\03_Cut4_3.80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497705"/>
            <a:ext cx="2697480" cy="1517333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530352" y="4570857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4" name="Text 27"/>
          <p:cNvSpPr txBox="1"/>
          <p:nvPr/>
        </p:nvSpPr>
        <p:spPr>
          <a:xfrm>
            <a:off x="530352" y="457085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000" b="1" dirty="0">
                <a:solidFill>
                  <a:schemeClr val="tx1"/>
                </a:solidFill>
              </a:rPr>
              <a:t>4-2</a:t>
            </a:r>
            <a:endParaRPr lang="ko-KR" sz="1000" dirty="0"/>
          </a:p>
        </p:txBody>
      </p:sp>
      <p:sp>
        <p:nvSpPr>
          <p:cNvPr id="35" name="Text 28"/>
          <p:cNvSpPr txBox="1"/>
          <p:nvPr/>
        </p:nvSpPr>
        <p:spPr>
          <a:xfrm>
            <a:off x="3319272" y="4570857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accent1"/>
                </a:solidFill>
              </a:rPr>
              <a:t>2.40 – 4.15초</a:t>
            </a:r>
            <a:endParaRPr lang="ko-KR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3319272" y="4881753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150" dirty="0">
                <a:solidFill>
                  <a:schemeClr val="bg2"/>
                </a:solidFill>
              </a:rPr>
              <a:t>뿌린 금화가 화면 가득 비처럼 쏟아짐 (지붕마다 짤랑)</a:t>
            </a:r>
            <a:endParaRPr lang="ko-KR" sz="1150" dirty="0"/>
          </a:p>
        </p:txBody>
      </p:sp>
      <p:sp>
        <p:nvSpPr>
          <p:cNvPr id="37" name="Text 30"/>
          <p:cNvSpPr txBox="1"/>
          <p:nvPr/>
        </p:nvSpPr>
        <p:spPr>
          <a:xfrm>
            <a:off x="3319272" y="5613273"/>
            <a:ext cx="25146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덮는 벽 없이 그대로 걷혀 게임 화면으로 이어짐</a:t>
            </a:r>
            <a:endParaRPr lang="ko-KR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7A1B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/>
              <a:t>20</a:t>
            </a:fld>
            <a:endParaRPr lang="ko-K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sz="2800" b="1" dirty="0">
                <a:solidFill>
                  <a:schemeClr val="bg2"/>
                </a:solidFill>
              </a:rPr>
              <a:t>외계인 생쥐  </a:t>
            </a:r>
            <a:pPr eaLnBrk="0" algn="l" indent="0" marL="0">
              <a:buNone/>
            </a:pPr>
            <a:r>
              <a:rPr lang="ko-KR" sz="2800" b="1" dirty="0">
                <a:solidFill>
                  <a:srgbClr val="FFC83D"/>
                </a:solidFill>
              </a:rPr>
              <a:t>인디펜던스 데이 패러디</a:t>
            </a:r>
            <a:endParaRPr lang="ko-KR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384048"/>
            <a:ext cx="1399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sz="1400" dirty="0">
                <a:solidFill>
                  <a:schemeClr val="accent5"/>
                </a:solidFill>
              </a:rPr>
              <a:t>07 / 16</a:t>
            </a:r>
            <a:endParaRPr lang="ko-KR" sz="1400" dirty="0"/>
          </a:p>
        </p:txBody>
      </p:sp>
      <p:pic>
        <p:nvPicPr>
          <p:cNvPr id="4" name="hero" descr="C:\Users\user\AppData\Local\Temp\claude\C--Project-NKK-PROJECT\0415198c-3dcb-489e-9557-3945752cc25a\scratchpad\frames\alien\03_Cut4_3.2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6400800" cy="360045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178040" y="1143000"/>
            <a:ext cx="45537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0000"/>
              </a:lnSpc>
              <a:buNone/>
            </a:pPr>
            <a:r>
              <a:rPr lang="ko-KR" sz="1500" b="1" dirty="0">
                <a:solidFill>
                  <a:schemeClr val="bg2"/>
                </a:solidFill>
              </a:rPr>
              <a:t>스파이 외계인 쥐가 부른 우주선이 도시를 쏘지만, 전투기가 주포에 돌진해 우주선이 폭발한다. 외계인 쥐는 엉엉.</a:t>
            </a:r>
            <a:endParaRPr lang="ko-KR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178040" y="21945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테이블 기술명</a:t>
            </a:r>
            <a:endParaRPr lang="ko-KR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412480" y="2194560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모선 강림  (31007)</a:t>
            </a:r>
            <a:endParaRPr lang="ko-KR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178040" y="262432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컷 구성</a:t>
            </a:r>
            <a:endParaRPr lang="ko-KR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412480" y="2624328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8컷 · 패널 8장</a:t>
            </a:r>
            <a:endParaRPr lang="ko-KR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178040" y="3054096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컷신 길이</a:t>
            </a:r>
            <a:endParaRPr lang="ko-KR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412480" y="3054096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내부 8.30초 · 1배속</a:t>
            </a:r>
            <a:endParaRPr lang="ko-KR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178040" y="3483864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게임 화면</a:t>
            </a:r>
            <a:endParaRPr lang="ko-KR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412480" y="3483864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걷힘 0.3초 → 2.2초 · 우주선 파편이 적마다 떨어져 쾅</a:t>
            </a:r>
            <a:endParaRPr lang="ko-KR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178040" y="391363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컷신 글</a:t>
            </a:r>
            <a:endParaRPr lang="ko-KR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412480" y="3913632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없음</a:t>
            </a:r>
            <a:endParaRPr lang="ko-KR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178040" y="43434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밈 · 대사</a:t>
            </a:r>
            <a:endParaRPr lang="ko-KR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8412480" y="4343400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—</a:t>
            </a:r>
            <a:endParaRPr lang="ko-KR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49743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accent5"/>
                </a:solidFill>
              </a:rPr>
              <a:t>타임라인 (컷신 내부 시간 · 게임 화면은 같은 축척)</a:t>
            </a:r>
            <a:endParaRPr lang="ko-KR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5321808"/>
            <a:ext cx="417576" cy="457200"/>
          </a:xfrm>
          <a:prstGeom prst="rect">
            <a:avLst/>
          </a:prstGeom>
          <a:solidFill>
            <a:srgbClr val="35304A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74776" y="5321808"/>
            <a:ext cx="1096137" cy="457200"/>
          </a:xfrm>
          <a:prstGeom prst="rect">
            <a:avLst/>
          </a:prstGeom>
          <a:solidFill>
            <a:srgbClr val="FFC83D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4776" y="5321808"/>
            <a:ext cx="109613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1</a:t>
            </a:r>
            <a:endParaRPr lang="ko-KR" sz="1100" dirty="0"/>
          </a:p>
        </p:txBody>
      </p:sp>
      <p:sp>
        <p:nvSpPr>
          <p:cNvPr id="22" name="Shape 19"/>
          <p:cNvSpPr/>
          <p:nvPr/>
        </p:nvSpPr>
        <p:spPr>
          <a:xfrm>
            <a:off x="1970913" y="5321808"/>
            <a:ext cx="553288" cy="457200"/>
          </a:xfrm>
          <a:prstGeom prst="rect">
            <a:avLst/>
          </a:prstGeom>
          <a:solidFill>
            <a:srgbClr val="E0AE2E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970913" y="5321808"/>
            <a:ext cx="553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2</a:t>
            </a:r>
            <a:endParaRPr lang="ko-KR" sz="1100" dirty="0"/>
          </a:p>
        </p:txBody>
      </p:sp>
      <p:sp>
        <p:nvSpPr>
          <p:cNvPr id="24" name="Shape 21"/>
          <p:cNvSpPr/>
          <p:nvPr/>
        </p:nvSpPr>
        <p:spPr>
          <a:xfrm>
            <a:off x="2524201" y="5321808"/>
            <a:ext cx="908228" cy="457200"/>
          </a:xfrm>
          <a:prstGeom prst="rect">
            <a:avLst/>
          </a:prstGeom>
          <a:solidFill>
            <a:srgbClr val="FFC83D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524201" y="5321808"/>
            <a:ext cx="9082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3</a:t>
            </a:r>
            <a:endParaRPr lang="ko-KR" sz="1100" dirty="0"/>
          </a:p>
        </p:txBody>
      </p:sp>
      <p:sp>
        <p:nvSpPr>
          <p:cNvPr id="26" name="Shape 23"/>
          <p:cNvSpPr/>
          <p:nvPr/>
        </p:nvSpPr>
        <p:spPr>
          <a:xfrm>
            <a:off x="3432429" y="5321808"/>
            <a:ext cx="1200531" cy="457200"/>
          </a:xfrm>
          <a:prstGeom prst="rect">
            <a:avLst/>
          </a:prstGeom>
          <a:solidFill>
            <a:srgbClr val="E0AE2E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432429" y="5321808"/>
            <a:ext cx="12005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4</a:t>
            </a:r>
            <a:endParaRPr lang="ko-KR" sz="1100" dirty="0"/>
          </a:p>
        </p:txBody>
      </p:sp>
      <p:sp>
        <p:nvSpPr>
          <p:cNvPr id="28" name="Shape 25"/>
          <p:cNvSpPr/>
          <p:nvPr/>
        </p:nvSpPr>
        <p:spPr>
          <a:xfrm>
            <a:off x="4632960" y="5321808"/>
            <a:ext cx="887349" cy="457200"/>
          </a:xfrm>
          <a:prstGeom prst="rect">
            <a:avLst/>
          </a:prstGeom>
          <a:solidFill>
            <a:srgbClr val="FFC83D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632960" y="5321808"/>
            <a:ext cx="8873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5</a:t>
            </a:r>
            <a:endParaRPr lang="ko-KR" sz="1100" dirty="0"/>
          </a:p>
        </p:txBody>
      </p:sp>
      <p:sp>
        <p:nvSpPr>
          <p:cNvPr id="30" name="Shape 27"/>
          <p:cNvSpPr/>
          <p:nvPr/>
        </p:nvSpPr>
        <p:spPr>
          <a:xfrm>
            <a:off x="5520309" y="5321808"/>
            <a:ext cx="939546" cy="457200"/>
          </a:xfrm>
          <a:prstGeom prst="rect">
            <a:avLst/>
          </a:prstGeom>
          <a:solidFill>
            <a:srgbClr val="E0AE2E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520309" y="5321808"/>
            <a:ext cx="9395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6</a:t>
            </a:r>
            <a:endParaRPr lang="ko-KR" sz="1100" dirty="0"/>
          </a:p>
        </p:txBody>
      </p:sp>
      <p:sp>
        <p:nvSpPr>
          <p:cNvPr id="32" name="Shape 29"/>
          <p:cNvSpPr/>
          <p:nvPr/>
        </p:nvSpPr>
        <p:spPr>
          <a:xfrm>
            <a:off x="6459855" y="5321808"/>
            <a:ext cx="1534592" cy="457200"/>
          </a:xfrm>
          <a:prstGeom prst="rect">
            <a:avLst/>
          </a:prstGeom>
          <a:solidFill>
            <a:srgbClr val="FFC83D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459855" y="5321808"/>
            <a:ext cx="153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7</a:t>
            </a:r>
            <a:endParaRPr lang="ko-KR" sz="1100" dirty="0"/>
          </a:p>
        </p:txBody>
      </p:sp>
      <p:sp>
        <p:nvSpPr>
          <p:cNvPr id="34" name="Shape 31"/>
          <p:cNvSpPr/>
          <p:nvPr/>
        </p:nvSpPr>
        <p:spPr>
          <a:xfrm>
            <a:off x="7994447" y="5321808"/>
            <a:ext cx="1127455" cy="457200"/>
          </a:xfrm>
          <a:prstGeom prst="rect">
            <a:avLst/>
          </a:prstGeom>
          <a:solidFill>
            <a:srgbClr val="E0AE2E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994447" y="5321808"/>
            <a:ext cx="1127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8</a:t>
            </a:r>
            <a:endParaRPr lang="ko-KR" sz="1100" dirty="0"/>
          </a:p>
        </p:txBody>
      </p:sp>
      <p:sp>
        <p:nvSpPr>
          <p:cNvPr id="36" name="Shape 33"/>
          <p:cNvSpPr/>
          <p:nvPr/>
        </p:nvSpPr>
        <p:spPr>
          <a:xfrm>
            <a:off x="9121902" y="5321808"/>
            <a:ext cx="313182" cy="457200"/>
          </a:xfrm>
          <a:prstGeom prst="rect">
            <a:avLst/>
          </a:prstGeom>
          <a:solidFill>
            <a:srgbClr val="A7A1B6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9435084" y="5321808"/>
            <a:ext cx="2296668" cy="457200"/>
          </a:xfrm>
          <a:prstGeom prst="rect">
            <a:avLst/>
          </a:prstGeom>
          <a:solidFill>
            <a:srgbClr val="6FD3C6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435084" y="5321808"/>
            <a:ext cx="22966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게임 화면</a:t>
            </a:r>
            <a:endParaRPr lang="ko-KR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457200" y="58247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0</a:t>
            </a:r>
            <a:endParaRPr lang="ko-KR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509016" y="58247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0.4</a:t>
            </a:r>
            <a:endParaRPr lang="ko-KR" sz="1000" dirty="0"/>
          </a:p>
        </p:txBody>
      </p:sp>
      <p:sp>
        <p:nvSpPr>
          <p:cNvPr id="41" name="Text 38"/>
          <p:cNvSpPr txBox="1"/>
          <p:nvPr/>
        </p:nvSpPr>
        <p:spPr>
          <a:xfrm>
            <a:off x="8756142" y="58247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8.30</a:t>
            </a:r>
            <a:endParaRPr lang="ko-KR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11000232" y="58247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r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+2.5</a:t>
            </a:r>
            <a:endParaRPr lang="ko-KR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7A1B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/>
              <a:t>21</a:t>
            </a:fld>
            <a:endParaRPr lang="ko-K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sz="2800" b="1" dirty="0">
                <a:solidFill>
                  <a:schemeClr val="bg2"/>
                </a:solidFill>
              </a:rPr>
              <a:t>외계인 생쥐  </a:t>
            </a:r>
            <a:pPr eaLnBrk="0" algn="l" indent="0" marL="0">
              <a:buNone/>
            </a:pPr>
            <a:r>
              <a:rPr lang="ko-KR" sz="2800" b="1" dirty="0">
                <a:solidFill>
                  <a:srgbClr val="A7A1B6"/>
                </a:solidFill>
              </a:rPr>
              <a:t>콘티</a:t>
            </a:r>
            <a:endParaRPr lang="ko-KR" sz="2800" dirty="0"/>
          </a:p>
        </p:txBody>
      </p:sp>
      <p:sp>
        <p:nvSpPr>
          <p:cNvPr id="3" name="panel_1"/>
          <p:cNvSpPr/>
          <p:nvPr/>
        </p:nvSpPr>
        <p:spPr>
          <a:xfrm>
            <a:off x="457200" y="1024128"/>
            <a:ext cx="5486400" cy="1183005"/>
          </a:xfrm>
          <a:prstGeom prst="roundRect">
            <a:avLst>
              <a:gd name="adj" fmla="val 6184"/>
            </a:avLst>
          </a:prstGeom>
          <a:solidFill>
            <a:schemeClr val="tx2"/>
          </a:solidFill>
          <a:ln/>
        </p:spPr>
      </p:sp>
      <p:pic>
        <p:nvPicPr>
          <p:cNvPr id="4" name="img_1" descr="C:\Users\user\AppData\Local\Temp\claude\C--Project-NKK-PROJECT\0415198c-3dcb-489e-9557-3945752cc25a\scratchpad\frames\alien\00_Cut1_1.2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24128"/>
            <a:ext cx="2103120" cy="11830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0352" y="109728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30352" y="1097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1</a:t>
            </a:r>
            <a:endParaRPr lang="ko-KR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2724912" y="10972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1"/>
                </a:solidFill>
              </a:rPr>
              <a:t>0.40 – 1.45초</a:t>
            </a:r>
            <a:endParaRPr lang="ko-KR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2724912" y="1353312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050" dirty="0">
                <a:solidFill>
                  <a:schemeClr val="bg2"/>
                </a:solidFill>
              </a:rPr>
              <a:t>건물(화면 왼쪽 1/3) 뒤에 숨어 눈치 보는 스파이 복장 외계인 쥐 · 뒤로 흐린 떠드는 쥐들</a:t>
            </a:r>
            <a:endParaRPr lang="ko-KR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2724912" y="1847088"/>
            <a:ext cx="3108960" cy="323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앞 건물 · 쥐 · 배경이 다른 속도로 흘러 시차</a:t>
            </a:r>
            <a:endParaRPr lang="ko-KR" sz="1000" dirty="0"/>
          </a:p>
        </p:txBody>
      </p:sp>
      <p:sp>
        <p:nvSpPr>
          <p:cNvPr id="10" name="panel_2"/>
          <p:cNvSpPr/>
          <p:nvPr/>
        </p:nvSpPr>
        <p:spPr>
          <a:xfrm>
            <a:off x="6245352" y="1024128"/>
            <a:ext cx="5486400" cy="1183005"/>
          </a:xfrm>
          <a:prstGeom prst="roundRect">
            <a:avLst>
              <a:gd name="adj" fmla="val 6184"/>
            </a:avLst>
          </a:prstGeom>
          <a:solidFill>
            <a:schemeClr val="tx2"/>
          </a:solidFill>
          <a:ln/>
        </p:spPr>
      </p:sp>
      <p:pic>
        <p:nvPicPr>
          <p:cNvPr id="11" name="img_2" descr="C:\Users\user\AppData\Local\Temp\claude\C--Project-NKK-PROJECT\0415198c-3dcb-489e-9557-3945752cc25a\scratchpad\frames\alien\01_Cut2_1.77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024128"/>
            <a:ext cx="2103120" cy="118300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318504" y="109728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318504" y="1097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2</a:t>
            </a:r>
            <a:endParaRPr lang="ko-KR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8513064" y="10972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1"/>
                </a:solidFill>
              </a:rPr>
              <a:t>1.45 – 1.98초</a:t>
            </a:r>
            <a:endParaRPr lang="ko-KR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8513064" y="1353312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050" dirty="0">
                <a:solidFill>
                  <a:schemeClr val="bg2"/>
                </a:solidFill>
              </a:rPr>
              <a:t>손목 시계 버튼을 누르는 손 클로즈업</a:t>
            </a:r>
            <a:endParaRPr lang="ko-KR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8513064" y="1847088"/>
            <a:ext cx="3108960" cy="323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버튼 누를 때 초록 신호</a:t>
            </a:r>
            <a:endParaRPr lang="ko-KR" sz="1000" dirty="0"/>
          </a:p>
        </p:txBody>
      </p:sp>
      <p:sp>
        <p:nvSpPr>
          <p:cNvPr id="17" name="panel_3"/>
          <p:cNvSpPr/>
          <p:nvPr/>
        </p:nvSpPr>
        <p:spPr>
          <a:xfrm>
            <a:off x="457200" y="2316861"/>
            <a:ext cx="5486400" cy="1183005"/>
          </a:xfrm>
          <a:prstGeom prst="roundRect">
            <a:avLst>
              <a:gd name="adj" fmla="val 6184"/>
            </a:avLst>
          </a:prstGeom>
          <a:solidFill>
            <a:schemeClr val="tx2"/>
          </a:solidFill>
          <a:ln/>
        </p:spPr>
      </p:sp>
      <p:pic>
        <p:nvPicPr>
          <p:cNvPr id="18" name="img_3" descr="C:\Users\user\AppData\Local\Temp\claude\C--Project-NKK-PROJECT\0415198c-3dcb-489e-9557-3945752cc25a\scratchpad\frames\alien\02_Cut3_2.50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16861"/>
            <a:ext cx="2103120" cy="1183005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30352" y="2390013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530352" y="2390013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3</a:t>
            </a:r>
            <a:endParaRPr lang="ko-KR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2724912" y="2390013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1"/>
                </a:solidFill>
              </a:rPr>
              <a:t>1.98 – 2.85초</a:t>
            </a:r>
            <a:endParaRPr lang="ko-KR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2724912" y="2646045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050" dirty="0">
                <a:solidFill>
                  <a:schemeClr val="bg2"/>
                </a:solidFill>
              </a:rPr>
              <a:t>우주: 지구에서 초록 신호가 퍼짐 → 먼 우주에서 우주선이 다가옴</a:t>
            </a:r>
            <a:endParaRPr lang="ko-KR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2724912" y="3139821"/>
            <a:ext cx="3108960" cy="323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정지 구도 · 신호 고리 확산</a:t>
            </a:r>
            <a:endParaRPr lang="ko-KR" sz="1000" dirty="0"/>
          </a:p>
        </p:txBody>
      </p:sp>
      <p:sp>
        <p:nvSpPr>
          <p:cNvPr id="24" name="panel_4"/>
          <p:cNvSpPr/>
          <p:nvPr/>
        </p:nvSpPr>
        <p:spPr>
          <a:xfrm>
            <a:off x="6245352" y="2316861"/>
            <a:ext cx="5486400" cy="1183005"/>
          </a:xfrm>
          <a:prstGeom prst="roundRect">
            <a:avLst>
              <a:gd name="adj" fmla="val 6184"/>
            </a:avLst>
          </a:prstGeom>
          <a:solidFill>
            <a:schemeClr val="tx2"/>
          </a:solidFill>
          <a:ln/>
        </p:spPr>
      </p:sp>
      <p:pic>
        <p:nvPicPr>
          <p:cNvPr id="25" name="img_4" descr="C:\Users\user\AppData\Local\Temp\claude\C--Project-NKK-PROJECT\0415198c-3dcb-489e-9557-3945752cc25a\scratchpad\frames\alien\03_Cut4_3.20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2316861"/>
            <a:ext cx="2103120" cy="1183005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6318504" y="2390013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6318504" y="2390013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4</a:t>
            </a:r>
            <a:endParaRPr lang="ko-KR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8513064" y="2390013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1"/>
                </a:solidFill>
              </a:rPr>
              <a:t>2.85 – 4.00초</a:t>
            </a:r>
            <a:endParaRPr lang="ko-KR" sz="1100" dirty="0"/>
          </a:p>
        </p:txBody>
      </p:sp>
      <p:sp>
        <p:nvSpPr>
          <p:cNvPr id="29" name="Text 23"/>
          <p:cNvSpPr txBox="1"/>
          <p:nvPr/>
        </p:nvSpPr>
        <p:spPr>
          <a:xfrm>
            <a:off x="8513064" y="2646045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050" dirty="0">
                <a:solidFill>
                  <a:schemeClr val="bg2"/>
                </a:solidFill>
              </a:rPr>
              <a:t>롱샷: 불타는 구름을 뚫고 거대 우주선이 내려옴</a:t>
            </a:r>
            <a:endParaRPr lang="ko-KR" sz="1050" dirty="0"/>
          </a:p>
        </p:txBody>
      </p:sp>
      <p:sp>
        <p:nvSpPr>
          <p:cNvPr id="30" name="Text 24"/>
          <p:cNvSpPr txBox="1"/>
          <p:nvPr/>
        </p:nvSpPr>
        <p:spPr>
          <a:xfrm>
            <a:off x="8513064" y="3139821"/>
            <a:ext cx="3108960" cy="323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카메라도 천천히 같이 내려옴</a:t>
            </a:r>
            <a:endParaRPr lang="ko-KR" sz="1000" dirty="0"/>
          </a:p>
        </p:txBody>
      </p:sp>
      <p:sp>
        <p:nvSpPr>
          <p:cNvPr id="31" name="panel_5"/>
          <p:cNvSpPr/>
          <p:nvPr/>
        </p:nvSpPr>
        <p:spPr>
          <a:xfrm>
            <a:off x="457200" y="3609594"/>
            <a:ext cx="5486400" cy="1183005"/>
          </a:xfrm>
          <a:prstGeom prst="roundRect">
            <a:avLst>
              <a:gd name="adj" fmla="val 6184"/>
            </a:avLst>
          </a:prstGeom>
          <a:solidFill>
            <a:schemeClr val="tx2"/>
          </a:solidFill>
          <a:ln/>
        </p:spPr>
      </p:sp>
      <p:pic>
        <p:nvPicPr>
          <p:cNvPr id="32" name="img_5" descr="C:\Users\user\AppData\Local\Temp\claude\C--Project-NKK-PROJECT\0415198c-3dcb-489e-9557-3945752cc25a\scratchpad\frames\alien\04_Cut5_4.51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609594"/>
            <a:ext cx="2103120" cy="1183005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530352" y="3682746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4" name="Text 27"/>
          <p:cNvSpPr txBox="1"/>
          <p:nvPr/>
        </p:nvSpPr>
        <p:spPr>
          <a:xfrm>
            <a:off x="530352" y="368274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5</a:t>
            </a:r>
            <a:endParaRPr lang="ko-KR" sz="1300" dirty="0"/>
          </a:p>
        </p:txBody>
      </p:sp>
      <p:sp>
        <p:nvSpPr>
          <p:cNvPr id="35" name="Text 28"/>
          <p:cNvSpPr txBox="1"/>
          <p:nvPr/>
        </p:nvSpPr>
        <p:spPr>
          <a:xfrm>
            <a:off x="2724912" y="368274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1"/>
                </a:solidFill>
              </a:rPr>
              <a:t>4.00 – 4.85초</a:t>
            </a:r>
            <a:endParaRPr lang="ko-KR" sz="1100" dirty="0"/>
          </a:p>
        </p:txBody>
      </p:sp>
      <p:sp>
        <p:nvSpPr>
          <p:cNvPr id="36" name="Text 29"/>
          <p:cNvSpPr txBox="1"/>
          <p:nvPr/>
        </p:nvSpPr>
        <p:spPr>
          <a:xfrm>
            <a:off x="2724912" y="3938778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050" dirty="0">
                <a:solidFill>
                  <a:schemeClr val="bg2"/>
                </a:solidFill>
              </a:rPr>
              <a:t>주포 충전 → 프레임 스탑 → 레이저가 도시 가운데로 (가운데만 부서짐)</a:t>
            </a:r>
            <a:endParaRPr lang="ko-KR" sz="1050" dirty="0"/>
          </a:p>
        </p:txBody>
      </p:sp>
      <p:sp>
        <p:nvSpPr>
          <p:cNvPr id="37" name="Text 30"/>
          <p:cNvSpPr txBox="1"/>
          <p:nvPr/>
        </p:nvSpPr>
        <p:spPr>
          <a:xfrm>
            <a:off x="2724912" y="4432554"/>
            <a:ext cx="3108960" cy="323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흔들림 · 크롭 줌 블러</a:t>
            </a:r>
            <a:endParaRPr lang="ko-KR" sz="1000" dirty="0"/>
          </a:p>
        </p:txBody>
      </p:sp>
      <p:sp>
        <p:nvSpPr>
          <p:cNvPr id="38" name="panel_6"/>
          <p:cNvSpPr/>
          <p:nvPr/>
        </p:nvSpPr>
        <p:spPr>
          <a:xfrm>
            <a:off x="6245352" y="3609594"/>
            <a:ext cx="5486400" cy="1183005"/>
          </a:xfrm>
          <a:prstGeom prst="roundRect">
            <a:avLst>
              <a:gd name="adj" fmla="val 6184"/>
            </a:avLst>
          </a:prstGeom>
          <a:solidFill>
            <a:schemeClr val="tx2"/>
          </a:solidFill>
          <a:ln/>
        </p:spPr>
      </p:sp>
      <p:pic>
        <p:nvPicPr>
          <p:cNvPr id="39" name="img_6" descr="C:\Users\user\AppData\Local\Temp\claude\C--Project-NKK-PROJECT\0415198c-3dcb-489e-9557-3945752cc25a\scratchpad\frames\alien\05_Cut6_5.12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5352" y="3609594"/>
            <a:ext cx="2103120" cy="1183005"/>
          </a:xfrm>
          <a:prstGeom prst="rect">
            <a:avLst/>
          </a:prstGeom>
        </p:spPr>
      </p:pic>
      <p:sp>
        <p:nvSpPr>
          <p:cNvPr id="40" name="Shape 32"/>
          <p:cNvSpPr/>
          <p:nvPr/>
        </p:nvSpPr>
        <p:spPr>
          <a:xfrm>
            <a:off x="6318504" y="3682746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1" name="Text 33"/>
          <p:cNvSpPr txBox="1"/>
          <p:nvPr/>
        </p:nvSpPr>
        <p:spPr>
          <a:xfrm>
            <a:off x="6318504" y="368274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6</a:t>
            </a:r>
            <a:endParaRPr lang="ko-KR" sz="1300" dirty="0"/>
          </a:p>
        </p:txBody>
      </p:sp>
      <p:sp>
        <p:nvSpPr>
          <p:cNvPr id="42" name="Text 34"/>
          <p:cNvSpPr txBox="1"/>
          <p:nvPr/>
        </p:nvSpPr>
        <p:spPr>
          <a:xfrm>
            <a:off x="8513064" y="368274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1"/>
                </a:solidFill>
              </a:rPr>
              <a:t>4.85 – 5.75초</a:t>
            </a:r>
            <a:endParaRPr lang="ko-KR" sz="1100" dirty="0"/>
          </a:p>
        </p:txBody>
      </p:sp>
      <p:sp>
        <p:nvSpPr>
          <p:cNvPr id="43" name="Text 35"/>
          <p:cNvSpPr txBox="1"/>
          <p:nvPr/>
        </p:nvSpPr>
        <p:spPr>
          <a:xfrm>
            <a:off x="8513064" y="3938778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050" dirty="0">
                <a:solidFill>
                  <a:schemeClr val="bg2"/>
                </a:solidFill>
              </a:rPr>
              <a:t>로우 앵글 · 뒤에서 본 전투기 → 애프터버너 → 소실점으로 순식간에 발진</a:t>
            </a:r>
            <a:endParaRPr lang="ko-KR" sz="1050" dirty="0"/>
          </a:p>
        </p:txBody>
      </p:sp>
      <p:sp>
        <p:nvSpPr>
          <p:cNvPr id="44" name="Text 36"/>
          <p:cNvSpPr txBox="1"/>
          <p:nvPr/>
        </p:nvSpPr>
        <p:spPr>
          <a:xfrm>
            <a:off x="8513064" y="4432554"/>
            <a:ext cx="3108960" cy="323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배경 · 전투기 분리 · 블러 · 속도선</a:t>
            </a:r>
            <a:endParaRPr lang="ko-KR" sz="1000" dirty="0"/>
          </a:p>
        </p:txBody>
      </p:sp>
      <p:sp>
        <p:nvSpPr>
          <p:cNvPr id="45" name="panel_7"/>
          <p:cNvSpPr/>
          <p:nvPr/>
        </p:nvSpPr>
        <p:spPr>
          <a:xfrm>
            <a:off x="457200" y="4902327"/>
            <a:ext cx="5486400" cy="1183005"/>
          </a:xfrm>
          <a:prstGeom prst="roundRect">
            <a:avLst>
              <a:gd name="adj" fmla="val 6184"/>
            </a:avLst>
          </a:prstGeom>
          <a:solidFill>
            <a:schemeClr val="tx2"/>
          </a:solidFill>
          <a:ln/>
        </p:spPr>
      </p:sp>
      <p:pic>
        <p:nvPicPr>
          <p:cNvPr id="46" name="img_7" descr="C:\Users\user\AppData\Local\Temp\claude\C--Project-NKK-PROJECT\0415198c-3dcb-489e-9557-3945752cc25a\scratchpad\frames\alien\06_Cut7_6.19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902327"/>
            <a:ext cx="2103120" cy="1183005"/>
          </a:xfrm>
          <a:prstGeom prst="rect">
            <a:avLst/>
          </a:prstGeom>
        </p:spPr>
      </p:pic>
      <p:sp>
        <p:nvSpPr>
          <p:cNvPr id="47" name="Shape 38"/>
          <p:cNvSpPr/>
          <p:nvPr/>
        </p:nvSpPr>
        <p:spPr>
          <a:xfrm>
            <a:off x="530352" y="4975479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8" name="Text 39"/>
          <p:cNvSpPr txBox="1"/>
          <p:nvPr/>
        </p:nvSpPr>
        <p:spPr>
          <a:xfrm>
            <a:off x="530352" y="4975479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7</a:t>
            </a:r>
            <a:endParaRPr lang="ko-KR" sz="1300" dirty="0"/>
          </a:p>
        </p:txBody>
      </p:sp>
      <p:sp>
        <p:nvSpPr>
          <p:cNvPr id="49" name="Text 40"/>
          <p:cNvSpPr txBox="1"/>
          <p:nvPr/>
        </p:nvSpPr>
        <p:spPr>
          <a:xfrm>
            <a:off x="2724912" y="4975479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1"/>
                </a:solidFill>
              </a:rPr>
              <a:t>5.75 – 7.22초</a:t>
            </a:r>
            <a:endParaRPr lang="ko-KR" sz="1100" dirty="0"/>
          </a:p>
        </p:txBody>
      </p:sp>
      <p:sp>
        <p:nvSpPr>
          <p:cNvPr id="50" name="Text 41"/>
          <p:cNvSpPr txBox="1"/>
          <p:nvPr/>
        </p:nvSpPr>
        <p:spPr>
          <a:xfrm>
            <a:off x="2724912" y="5231511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050" dirty="0">
                <a:solidFill>
                  <a:schemeClr val="bg2"/>
                </a:solidFill>
              </a:rPr>
              <a:t>다시 레이저 컷: 전투기가 솟아 주포 구멍에 쾅 → 레이저가 천천히 멈추고 우주선 멈칫</a:t>
            </a:r>
            <a:endParaRPr lang="ko-KR" sz="1050" dirty="0"/>
          </a:p>
        </p:txBody>
      </p:sp>
      <p:sp>
        <p:nvSpPr>
          <p:cNvPr id="51" name="Text 42"/>
          <p:cNvSpPr txBox="1"/>
          <p:nvPr/>
        </p:nvSpPr>
        <p:spPr>
          <a:xfrm>
            <a:off x="2724912" y="5725287"/>
            <a:ext cx="3108960" cy="323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주포로 따라 들어갔다 빠짐 · 히트 스톱 · 섬광 · 충격파</a:t>
            </a:r>
            <a:endParaRPr lang="ko-KR" sz="1000" dirty="0"/>
          </a:p>
        </p:txBody>
      </p:sp>
      <p:sp>
        <p:nvSpPr>
          <p:cNvPr id="52" name="panel_8"/>
          <p:cNvSpPr/>
          <p:nvPr/>
        </p:nvSpPr>
        <p:spPr>
          <a:xfrm>
            <a:off x="6245352" y="4902327"/>
            <a:ext cx="5486400" cy="1183005"/>
          </a:xfrm>
          <a:prstGeom prst="roundRect">
            <a:avLst>
              <a:gd name="adj" fmla="val 6184"/>
            </a:avLst>
          </a:prstGeom>
          <a:solidFill>
            <a:schemeClr val="tx2"/>
          </a:solidFill>
          <a:ln/>
        </p:spPr>
      </p:sp>
      <p:pic>
        <p:nvPicPr>
          <p:cNvPr id="53" name="img_8" descr="C:\Users\user\AppData\Local\Temp\claude\C--Project-NKK-PROJECT\0415198c-3dcb-489e-9557-3945752cc25a\scratchpad\frames\alien\07_Cut8_8.08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5352" y="4902327"/>
            <a:ext cx="2103120" cy="1183005"/>
          </a:xfrm>
          <a:prstGeom prst="rect">
            <a:avLst/>
          </a:prstGeom>
        </p:spPr>
      </p:pic>
      <p:sp>
        <p:nvSpPr>
          <p:cNvPr id="54" name="Shape 44"/>
          <p:cNvSpPr/>
          <p:nvPr/>
        </p:nvSpPr>
        <p:spPr>
          <a:xfrm>
            <a:off x="6318504" y="4975479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5" name="Text 45"/>
          <p:cNvSpPr txBox="1"/>
          <p:nvPr/>
        </p:nvSpPr>
        <p:spPr>
          <a:xfrm>
            <a:off x="6318504" y="4975479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8</a:t>
            </a:r>
            <a:endParaRPr lang="ko-KR" sz="1300" dirty="0"/>
          </a:p>
        </p:txBody>
      </p:sp>
      <p:sp>
        <p:nvSpPr>
          <p:cNvPr id="56" name="Text 46"/>
          <p:cNvSpPr txBox="1"/>
          <p:nvPr/>
        </p:nvSpPr>
        <p:spPr>
          <a:xfrm>
            <a:off x="8513064" y="4975479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1"/>
                </a:solidFill>
              </a:rPr>
              <a:t>7.22 – 8.30초</a:t>
            </a:r>
            <a:endParaRPr lang="ko-KR" sz="1100" dirty="0"/>
          </a:p>
        </p:txBody>
      </p:sp>
      <p:sp>
        <p:nvSpPr>
          <p:cNvPr id="57" name="Text 47"/>
          <p:cNvSpPr txBox="1"/>
          <p:nvPr/>
        </p:nvSpPr>
        <p:spPr>
          <a:xfrm>
            <a:off x="8513064" y="5231511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050" dirty="0">
                <a:solidFill>
                  <a:schemeClr val="bg2"/>
                </a:solidFill>
              </a:rPr>
              <a:t>우주선 폭발 + 오른쪽 아래 작은 창에 우는 외계인 쥐 (수어 통역 창 패러디)</a:t>
            </a:r>
            <a:endParaRPr lang="ko-KR" sz="1050" dirty="0"/>
          </a:p>
        </p:txBody>
      </p:sp>
      <p:sp>
        <p:nvSpPr>
          <p:cNvPr id="58" name="Text 48"/>
          <p:cNvSpPr txBox="1"/>
          <p:nvPr/>
        </p:nvSpPr>
        <p:spPr>
          <a:xfrm>
            <a:off x="8513064" y="5725287"/>
            <a:ext cx="3108960" cy="323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창이 뿅 → 충격 → 엉엉 · 훌쩍 번갈아</a:t>
            </a:r>
            <a:endParaRPr lang="ko-KR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7A1B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/>
              <a:t>22</a:t>
            </a:fld>
            <a:endParaRPr lang="ko-K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sz="2800" b="1" dirty="0">
                <a:solidFill>
                  <a:schemeClr val="bg2"/>
                </a:solidFill>
              </a:rPr>
              <a:t>흐에~ 스트리머 쥐  </a:t>
            </a:r>
            <a:pPr eaLnBrk="0" algn="l" indent="0" marL="0">
              <a:buNone/>
            </a:pPr>
            <a:r>
              <a:rPr lang="ko-KR" sz="2800" b="1" dirty="0">
                <a:solidFill>
                  <a:srgbClr val="FFC83D"/>
                </a:solidFill>
              </a:rPr>
              <a:t>도네 리액션 → 엉덩이 춤</a:t>
            </a:r>
            <a:endParaRPr lang="ko-KR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384048"/>
            <a:ext cx="1399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sz="1400" dirty="0">
                <a:solidFill>
                  <a:schemeClr val="accent5"/>
                </a:solidFill>
              </a:rPr>
              <a:t>08 / 16</a:t>
            </a:r>
            <a:endParaRPr lang="ko-KR" sz="1400" dirty="0"/>
          </a:p>
        </p:txBody>
      </p:sp>
      <p:pic>
        <p:nvPicPr>
          <p:cNvPr id="4" name="hero" descr="C:\Users\user\AppData\Local\Temp\claude\C--Project-NKK-PROJECT\0415198c-3dcb-489e-9557-3945752cc25a\scratchpad\frames\streamrat\cap_c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6400800" cy="360045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178040" y="1143000"/>
            <a:ext cx="45537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0000"/>
              </a:lnSpc>
              <a:buNone/>
            </a:pPr>
            <a:r>
              <a:rPr lang="ko-KR" sz="1500" b="1" dirty="0">
                <a:solidFill>
                  <a:schemeClr val="bg2"/>
                </a:solidFill>
              </a:rPr>
              <a:t>방송 중 도네가 터지자 고글 리액션, 러그 위에서 8박 춤을 추고 손가락 하트로 마무리한다.</a:t>
            </a:r>
            <a:endParaRPr lang="ko-KR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178040" y="21945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테이블 기술명</a:t>
            </a:r>
            <a:endParaRPr lang="ko-KR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412480" y="2194560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구독자 100만 기념 방송  (31008)</a:t>
            </a:r>
            <a:endParaRPr lang="ko-KR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178040" y="262432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컷 구성</a:t>
            </a:r>
            <a:endParaRPr lang="ko-KR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412480" y="2624328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5컷 · 패널 5장</a:t>
            </a:r>
            <a:endParaRPr lang="ko-KR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178040" y="3054096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컷신 길이</a:t>
            </a:r>
            <a:endParaRPr lang="ko-KR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412480" y="3054096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내부 3.60초 · 0.75배속 → 실제 ≈4.8초</a:t>
            </a:r>
            <a:endParaRPr lang="ko-KR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178040" y="3483864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게임 화면</a:t>
            </a:r>
            <a:endParaRPr lang="ko-KR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412480" y="3483864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걷힘 0.3초 → 2초 · 하트 · 색종이가 쏟아지며 대상마다 하트 팡 · 마무리에 모든 쥐 광란 8초</a:t>
            </a:r>
            <a:endParaRPr lang="ko-KR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178040" y="391363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컷신 글</a:t>
            </a:r>
            <a:endParaRPr lang="ko-KR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412480" y="3913632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제목 · 자막 · 밈 · 구독자 수</a:t>
            </a:r>
            <a:endParaRPr lang="ko-KR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178040" y="43434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밈 · 대사</a:t>
            </a:r>
            <a:endParaRPr lang="ko-KR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8412480" y="4343400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※ 구독 · 좋아요 · 알림 설정까지!  (카운터 {n}명)</a:t>
            </a:r>
            <a:endParaRPr lang="ko-KR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49743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accent5"/>
                </a:solidFill>
              </a:rPr>
              <a:t>타임라인 (컷신 내부 시간 · 게임 화면은 같은 축척)</a:t>
            </a:r>
            <a:endParaRPr lang="ko-KR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5321808"/>
            <a:ext cx="764376" cy="457200"/>
          </a:xfrm>
          <a:prstGeom prst="rect">
            <a:avLst/>
          </a:prstGeom>
          <a:solidFill>
            <a:srgbClr val="35304A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221576" y="5321808"/>
            <a:ext cx="1375878" cy="457200"/>
          </a:xfrm>
          <a:prstGeom prst="rect">
            <a:avLst/>
          </a:prstGeom>
          <a:solidFill>
            <a:srgbClr val="FFC83D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221576" y="5321808"/>
            <a:ext cx="13758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1</a:t>
            </a:r>
            <a:endParaRPr lang="ko-KR" sz="1100" dirty="0"/>
          </a:p>
        </p:txBody>
      </p:sp>
      <p:sp>
        <p:nvSpPr>
          <p:cNvPr id="22" name="Shape 19"/>
          <p:cNvSpPr/>
          <p:nvPr/>
        </p:nvSpPr>
        <p:spPr>
          <a:xfrm>
            <a:off x="2597454" y="5321808"/>
            <a:ext cx="1203893" cy="457200"/>
          </a:xfrm>
          <a:prstGeom prst="rect">
            <a:avLst/>
          </a:prstGeom>
          <a:solidFill>
            <a:srgbClr val="E0AE2E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597454" y="5321808"/>
            <a:ext cx="120389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2</a:t>
            </a:r>
            <a:endParaRPr lang="ko-KR" sz="1100" dirty="0"/>
          </a:p>
        </p:txBody>
      </p:sp>
      <p:sp>
        <p:nvSpPr>
          <p:cNvPr id="24" name="Shape 21"/>
          <p:cNvSpPr/>
          <p:nvPr/>
        </p:nvSpPr>
        <p:spPr>
          <a:xfrm>
            <a:off x="3801347" y="5321808"/>
            <a:ext cx="477735" cy="457200"/>
          </a:xfrm>
          <a:prstGeom prst="rect">
            <a:avLst/>
          </a:prstGeom>
          <a:solidFill>
            <a:srgbClr val="FFC83D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801347" y="5321808"/>
            <a:ext cx="477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3</a:t>
            </a:r>
            <a:endParaRPr lang="ko-KR" sz="1100" dirty="0"/>
          </a:p>
        </p:txBody>
      </p:sp>
      <p:sp>
        <p:nvSpPr>
          <p:cNvPr id="26" name="Shape 23"/>
          <p:cNvSpPr/>
          <p:nvPr/>
        </p:nvSpPr>
        <p:spPr>
          <a:xfrm>
            <a:off x="4279082" y="5321808"/>
            <a:ext cx="2293129" cy="457200"/>
          </a:xfrm>
          <a:prstGeom prst="rect">
            <a:avLst/>
          </a:prstGeom>
          <a:solidFill>
            <a:srgbClr val="E0AE2E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279082" y="5321808"/>
            <a:ext cx="22931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4</a:t>
            </a:r>
            <a:endParaRPr lang="ko-KR" sz="1100" dirty="0"/>
          </a:p>
        </p:txBody>
      </p:sp>
      <p:sp>
        <p:nvSpPr>
          <p:cNvPr id="28" name="Shape 25"/>
          <p:cNvSpPr/>
          <p:nvPr/>
        </p:nvSpPr>
        <p:spPr>
          <a:xfrm>
            <a:off x="6572211" y="5321808"/>
            <a:ext cx="764376" cy="457200"/>
          </a:xfrm>
          <a:prstGeom prst="rect">
            <a:avLst/>
          </a:prstGeom>
          <a:solidFill>
            <a:srgbClr val="FFC83D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72211" y="5321808"/>
            <a:ext cx="764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5</a:t>
            </a:r>
            <a:endParaRPr lang="ko-KR" sz="1100" dirty="0"/>
          </a:p>
        </p:txBody>
      </p:sp>
      <p:sp>
        <p:nvSpPr>
          <p:cNvPr id="30" name="Shape 27"/>
          <p:cNvSpPr/>
          <p:nvPr/>
        </p:nvSpPr>
        <p:spPr>
          <a:xfrm>
            <a:off x="7336588" y="5321808"/>
            <a:ext cx="573282" cy="457200"/>
          </a:xfrm>
          <a:prstGeom prst="rect">
            <a:avLst/>
          </a:prstGeom>
          <a:solidFill>
            <a:srgbClr val="A7A1B6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909870" y="5321808"/>
            <a:ext cx="3821882" cy="457200"/>
          </a:xfrm>
          <a:prstGeom prst="rect">
            <a:avLst/>
          </a:prstGeom>
          <a:solidFill>
            <a:srgbClr val="6FD3C6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909870" y="5321808"/>
            <a:ext cx="38218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게임 화면</a:t>
            </a:r>
            <a:endParaRPr lang="ko-KR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457200" y="58247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0</a:t>
            </a:r>
            <a:endParaRPr lang="ko-KR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855816" y="58247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0.4</a:t>
            </a:r>
            <a:endParaRPr lang="ko-KR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6970828" y="58247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3.60</a:t>
            </a:r>
            <a:endParaRPr lang="ko-KR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11000232" y="58247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r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+2.3</a:t>
            </a:r>
            <a:endParaRPr lang="ko-KR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457200" y="614476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accent5"/>
                </a:solidFill>
              </a:rPr>
              <a:t>※ 패널 이미지는 기존 유니티 캡처 (왼쪽 개발 메뉴 보임)</a:t>
            </a:r>
            <a:endParaRPr lang="ko-KR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7A1B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/>
              <a:t>23</a:t>
            </a:fld>
            <a:endParaRPr lang="ko-K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sz="2800" b="1" dirty="0">
                <a:solidFill>
                  <a:schemeClr val="bg2"/>
                </a:solidFill>
              </a:rPr>
              <a:t>흐에~ 스트리머 쥐  </a:t>
            </a:r>
            <a:pPr eaLnBrk="0" algn="l" indent="0" marL="0">
              <a:buNone/>
            </a:pPr>
            <a:r>
              <a:rPr lang="ko-KR" sz="2800" b="1" dirty="0">
                <a:solidFill>
                  <a:srgbClr val="A7A1B6"/>
                </a:solidFill>
              </a:rPr>
              <a:t>콘티</a:t>
            </a:r>
            <a:endParaRPr lang="ko-KR" sz="2800" dirty="0"/>
          </a:p>
        </p:txBody>
      </p:sp>
      <p:sp>
        <p:nvSpPr>
          <p:cNvPr id="3" name="panel_1"/>
          <p:cNvSpPr/>
          <p:nvPr/>
        </p:nvSpPr>
        <p:spPr>
          <a:xfrm>
            <a:off x="457200" y="1097280"/>
            <a:ext cx="5486400" cy="1517333"/>
          </a:xfrm>
          <a:prstGeom prst="roundRect">
            <a:avLst>
              <a:gd name="adj" fmla="val 4821"/>
            </a:avLst>
          </a:prstGeom>
          <a:solidFill>
            <a:schemeClr val="tx2"/>
          </a:solidFill>
          <a:ln/>
        </p:spPr>
      </p:sp>
      <p:pic>
        <p:nvPicPr>
          <p:cNvPr id="4" name="img_1" descr="C:\Users\user\AppData\Local\Temp\claude\C--Project-NKK-PROJECT\0415198c-3dcb-489e-9557-3945752cc25a\scratchpad\frames\streamrat\cap_c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2697480" cy="151733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0352" y="1170432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30352" y="1170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1</a:t>
            </a:r>
            <a:endParaRPr lang="ko-KR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3319272" y="11704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accent1"/>
                </a:solidFill>
              </a:rPr>
              <a:t>0.40 – 1.12초</a:t>
            </a:r>
            <a:endParaRPr lang="ko-KR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3319272" y="1481328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150" dirty="0">
                <a:solidFill>
                  <a:schemeClr val="bg2"/>
                </a:solidFill>
              </a:rPr>
              <a:t>뒷모습: 컴퓨터 앞에서 방송 중 → 띵! 모니터에 도네 알림 · 동전</a:t>
            </a:r>
            <a:endParaRPr lang="ko-KR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3319272" y="2212848"/>
            <a:ext cx="25146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천천히 줌인 → 쥐 주위를 돌듯 왼쪽으로 휙 패닝 + 블러 · 잔상</a:t>
            </a:r>
            <a:endParaRPr lang="ko-KR" sz="1000" dirty="0"/>
          </a:p>
        </p:txBody>
      </p:sp>
      <p:sp>
        <p:nvSpPr>
          <p:cNvPr id="10" name="panel_2"/>
          <p:cNvSpPr/>
          <p:nvPr/>
        </p:nvSpPr>
        <p:spPr>
          <a:xfrm>
            <a:off x="6245352" y="1097280"/>
            <a:ext cx="5486400" cy="1517333"/>
          </a:xfrm>
          <a:prstGeom prst="roundRect">
            <a:avLst>
              <a:gd name="adj" fmla="val 4821"/>
            </a:avLst>
          </a:prstGeom>
          <a:solidFill>
            <a:schemeClr val="tx2"/>
          </a:solidFill>
          <a:ln/>
        </p:spPr>
      </p:sp>
      <p:pic>
        <p:nvPicPr>
          <p:cNvPr id="11" name="img_2" descr="C:\Users\user\AppData\Local\Temp\claude\C--Project-NKK-PROJECT\0415198c-3dcb-489e-9557-3945752cc25a\scratchpad\frames\streamrat\cap_c0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097280"/>
            <a:ext cx="2697480" cy="1517333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318504" y="1170432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318504" y="1170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2</a:t>
            </a:r>
            <a:endParaRPr lang="ko-KR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9107424" y="11704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accent1"/>
                </a:solidFill>
              </a:rPr>
              <a:t>1.12 – 1.75초</a:t>
            </a:r>
            <a:endParaRPr lang="ko-KR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9107424" y="1481328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150" dirty="0">
                <a:solidFill>
                  <a:schemeClr val="bg2"/>
                </a:solidFill>
              </a:rPr>
              <a:t>같은 방향 패닝으로 앞모습 등장 → 고글을 쓱 올리면 렌즈가 하얗게 '이이잉'</a:t>
            </a:r>
            <a:endParaRPr lang="ko-KR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9107424" y="2212848"/>
            <a:ext cx="25146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트래킹 줌으로 얼굴까지</a:t>
            </a:r>
            <a:endParaRPr lang="ko-KR" sz="1000" dirty="0"/>
          </a:p>
        </p:txBody>
      </p:sp>
      <p:sp>
        <p:nvSpPr>
          <p:cNvPr id="17" name="panel_3"/>
          <p:cNvSpPr/>
          <p:nvPr/>
        </p:nvSpPr>
        <p:spPr>
          <a:xfrm>
            <a:off x="457200" y="2797493"/>
            <a:ext cx="5486400" cy="1517333"/>
          </a:xfrm>
          <a:prstGeom prst="roundRect">
            <a:avLst>
              <a:gd name="adj" fmla="val 4821"/>
            </a:avLst>
          </a:prstGeom>
          <a:solidFill>
            <a:schemeClr val="tx2"/>
          </a:solidFill>
          <a:ln/>
        </p:spPr>
      </p:sp>
      <p:pic>
        <p:nvPicPr>
          <p:cNvPr id="18" name="img_3" descr="C:\Users\user\AppData\Local\Temp\claude\C--Project-NKK-PROJECT\0415198c-3dcb-489e-9557-3945752cc25a\scratchpad\frames\streamrat\cap_c04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97493"/>
            <a:ext cx="2697480" cy="1517333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30352" y="2870645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530352" y="287064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3</a:t>
            </a:r>
            <a:endParaRPr lang="ko-KR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3319272" y="2870645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accent1"/>
                </a:solidFill>
              </a:rPr>
              <a:t>1.75 – 2.00초</a:t>
            </a:r>
            <a:endParaRPr lang="ko-KR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3319272" y="3181541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150" dirty="0">
                <a:solidFill>
                  <a:schemeClr val="bg2"/>
                </a:solidFill>
              </a:rPr>
              <a:t>고글 반짝 얼굴 클로즈업</a:t>
            </a:r>
            <a:endParaRPr lang="ko-KR" sz="1150" dirty="0"/>
          </a:p>
        </p:txBody>
      </p:sp>
      <p:sp>
        <p:nvSpPr>
          <p:cNvPr id="23" name="Text 18"/>
          <p:cNvSpPr txBox="1"/>
          <p:nvPr/>
        </p:nvSpPr>
        <p:spPr>
          <a:xfrm>
            <a:off x="3319272" y="3913061"/>
            <a:ext cx="25146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배경 판 + 쥐 판 분리</a:t>
            </a:r>
            <a:endParaRPr lang="ko-KR" sz="1000" dirty="0"/>
          </a:p>
        </p:txBody>
      </p:sp>
      <p:sp>
        <p:nvSpPr>
          <p:cNvPr id="24" name="panel_4"/>
          <p:cNvSpPr/>
          <p:nvPr/>
        </p:nvSpPr>
        <p:spPr>
          <a:xfrm>
            <a:off x="6245352" y="2797493"/>
            <a:ext cx="5486400" cy="1517333"/>
          </a:xfrm>
          <a:prstGeom prst="roundRect">
            <a:avLst>
              <a:gd name="adj" fmla="val 4821"/>
            </a:avLst>
          </a:prstGeom>
          <a:solidFill>
            <a:schemeClr val="tx2"/>
          </a:solidFill>
          <a:ln/>
        </p:spPr>
      </p:sp>
      <p:pic>
        <p:nvPicPr>
          <p:cNvPr id="25" name="img_4" descr="C:\Users\user\AppData\Local\Temp\claude\C--Project-NKK-PROJECT\0415198c-3dcb-489e-9557-3945752cc25a\scratchpad\frames\streamrat\cap_c06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2797493"/>
            <a:ext cx="2697480" cy="1517333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6318504" y="2870645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6318504" y="287064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4</a:t>
            </a:r>
            <a:endParaRPr lang="ko-KR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9107424" y="2870645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accent1"/>
                </a:solidFill>
              </a:rPr>
              <a:t>2.00 – 3.20초</a:t>
            </a:r>
            <a:endParaRPr lang="ko-KR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9107424" y="3181541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150" dirty="0">
                <a:solidFill>
                  <a:schemeClr val="bg2"/>
                </a:solidFill>
              </a:rPr>
              <a:t>러그 위 전신: 머리 뒤로 깍지 · 엉덩이를 좌우로 흔드는 8박 춤 (동작만 오마주)</a:t>
            </a:r>
            <a:endParaRPr lang="ko-KR" sz="1150" dirty="0"/>
          </a:p>
        </p:txBody>
      </p:sp>
      <p:sp>
        <p:nvSpPr>
          <p:cNvPr id="30" name="Text 24"/>
          <p:cNvSpPr txBox="1"/>
          <p:nvPr/>
        </p:nvSpPr>
        <p:spPr>
          <a:xfrm>
            <a:off x="9107424" y="3913061"/>
            <a:ext cx="25146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박자마다 카메라 반동 · 하트 · 음표 · 색종이 · 네온 고리</a:t>
            </a:r>
            <a:endParaRPr lang="ko-KR" sz="1000" dirty="0"/>
          </a:p>
        </p:txBody>
      </p:sp>
      <p:sp>
        <p:nvSpPr>
          <p:cNvPr id="31" name="panel_5"/>
          <p:cNvSpPr/>
          <p:nvPr/>
        </p:nvSpPr>
        <p:spPr>
          <a:xfrm>
            <a:off x="457200" y="4497705"/>
            <a:ext cx="5486400" cy="1517333"/>
          </a:xfrm>
          <a:prstGeom prst="roundRect">
            <a:avLst>
              <a:gd name="adj" fmla="val 4821"/>
            </a:avLst>
          </a:prstGeom>
          <a:solidFill>
            <a:schemeClr val="tx2"/>
          </a:solidFill>
          <a:ln/>
        </p:spPr>
      </p:sp>
      <p:pic>
        <p:nvPicPr>
          <p:cNvPr id="32" name="img_5" descr="C:\Users\user\AppData\Local\Temp\claude\C--Project-NKK-PROJECT\0415198c-3dcb-489e-9557-3945752cc25a\scratchpad\frames\streamrat\cap_c08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497705"/>
            <a:ext cx="2697480" cy="1517333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530352" y="4570857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4" name="Text 27"/>
          <p:cNvSpPr txBox="1"/>
          <p:nvPr/>
        </p:nvSpPr>
        <p:spPr>
          <a:xfrm>
            <a:off x="530352" y="457085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5</a:t>
            </a:r>
            <a:endParaRPr lang="ko-KR" sz="1300" dirty="0"/>
          </a:p>
        </p:txBody>
      </p:sp>
      <p:sp>
        <p:nvSpPr>
          <p:cNvPr id="35" name="Text 28"/>
          <p:cNvSpPr txBox="1"/>
          <p:nvPr/>
        </p:nvSpPr>
        <p:spPr>
          <a:xfrm>
            <a:off x="3319272" y="4570857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accent1"/>
                </a:solidFill>
              </a:rPr>
              <a:t>3.20 – 3.60초</a:t>
            </a:r>
            <a:endParaRPr lang="ko-KR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3319272" y="4881753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150" dirty="0">
                <a:solidFill>
                  <a:schemeClr val="bg2"/>
                </a:solidFill>
              </a:rPr>
              <a:t>손가락 하트 → 하트가 화면을 덮음</a:t>
            </a:r>
            <a:endParaRPr lang="ko-KR" sz="1150" dirty="0"/>
          </a:p>
        </p:txBody>
      </p:sp>
      <p:sp>
        <p:nvSpPr>
          <p:cNvPr id="37" name="Text 30"/>
          <p:cNvSpPr txBox="1"/>
          <p:nvPr/>
        </p:nvSpPr>
        <p:spPr>
          <a:xfrm>
            <a:off x="3319272" y="5613273"/>
            <a:ext cx="25146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컷신 걷힘</a:t>
            </a:r>
            <a:endParaRPr lang="ko-KR" sz="1000" dirty="0"/>
          </a:p>
        </p:txBody>
      </p:sp>
      <p:sp>
        <p:nvSpPr>
          <p:cNvPr id="38" name="panel_W"/>
          <p:cNvSpPr/>
          <p:nvPr/>
        </p:nvSpPr>
        <p:spPr>
          <a:xfrm>
            <a:off x="6245352" y="4497705"/>
            <a:ext cx="5486400" cy="1517333"/>
          </a:xfrm>
          <a:prstGeom prst="roundRect">
            <a:avLst>
              <a:gd name="adj" fmla="val 4821"/>
            </a:avLst>
          </a:prstGeom>
          <a:solidFill>
            <a:schemeClr val="tx2"/>
          </a:solidFill>
          <a:ln/>
        </p:spPr>
      </p:sp>
      <p:pic>
        <p:nvPicPr>
          <p:cNvPr id="39" name="img_W" descr="C:\Users\user\AppData\Local\Temp\claude\C--Project-NKK-PROJECT\0415198c-3dcb-489e-9557-3945752cc25a\scratchpad\frames\streamrat\cap_c1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5352" y="4497705"/>
            <a:ext cx="2697480" cy="1517333"/>
          </a:xfrm>
          <a:prstGeom prst="rect">
            <a:avLst/>
          </a:prstGeom>
        </p:spPr>
      </p:pic>
      <p:sp>
        <p:nvSpPr>
          <p:cNvPr id="40" name="Shape 32"/>
          <p:cNvSpPr/>
          <p:nvPr/>
        </p:nvSpPr>
        <p:spPr>
          <a:xfrm>
            <a:off x="6318504" y="4570857"/>
            <a:ext cx="402336" cy="40233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41" name="Text 33"/>
          <p:cNvSpPr txBox="1"/>
          <p:nvPr/>
        </p:nvSpPr>
        <p:spPr>
          <a:xfrm>
            <a:off x="6318504" y="457085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W</a:t>
            </a:r>
            <a:endParaRPr lang="ko-KR" sz="1300" dirty="0"/>
          </a:p>
        </p:txBody>
      </p:sp>
      <p:sp>
        <p:nvSpPr>
          <p:cNvPr id="42" name="Text 34"/>
          <p:cNvSpPr txBox="1"/>
          <p:nvPr/>
        </p:nvSpPr>
        <p:spPr>
          <a:xfrm>
            <a:off x="9107424" y="4570857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accent3"/>
                </a:solidFill>
              </a:rPr>
              <a:t>게임 화면 단계</a:t>
            </a:r>
            <a:endParaRPr lang="ko-KR" sz="1200" dirty="0"/>
          </a:p>
        </p:txBody>
      </p:sp>
      <p:sp>
        <p:nvSpPr>
          <p:cNvPr id="43" name="Text 35"/>
          <p:cNvSpPr txBox="1"/>
          <p:nvPr/>
        </p:nvSpPr>
        <p:spPr>
          <a:xfrm>
            <a:off x="9107424" y="4881753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150" dirty="0">
                <a:solidFill>
                  <a:schemeClr val="bg2"/>
                </a:solidFill>
              </a:rPr>
              <a:t>게임 화면: 하트 · 색종이 비, 대상마다 하트 팡</a:t>
            </a:r>
            <a:endParaRPr lang="ko-KR" sz="1150" dirty="0"/>
          </a:p>
        </p:txBody>
      </p:sp>
      <p:sp>
        <p:nvSpPr>
          <p:cNvPr id="44" name="Text 36"/>
          <p:cNvSpPr txBox="1"/>
          <p:nvPr/>
        </p:nvSpPr>
        <p:spPr>
          <a:xfrm>
            <a:off x="9107424" y="5613273"/>
            <a:ext cx="25146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마무리에 모든 쥐 광란 8초</a:t>
            </a:r>
            <a:endParaRPr lang="ko-KR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7A1B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/>
              <a:t>24</a:t>
            </a:fld>
            <a:endParaRPr lang="ko-K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sz="2800" b="1" dirty="0">
                <a:solidFill>
                  <a:schemeClr val="bg2"/>
                </a:solidFill>
              </a:rPr>
              <a:t>다람쥐  </a:t>
            </a:r>
            <a:pPr eaLnBrk="0" algn="l" indent="0" marL="0">
              <a:buNone/>
            </a:pPr>
            <a:r>
              <a:rPr lang="ko-KR" sz="2800" b="1" dirty="0">
                <a:solidFill>
                  <a:srgbClr val="FFC83D"/>
                </a:solidFill>
              </a:rPr>
              <a:t>람쥐썬더 짤 몽타주</a:t>
            </a:r>
            <a:endParaRPr lang="ko-KR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384048"/>
            <a:ext cx="1399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sz="1400" dirty="0">
                <a:solidFill>
                  <a:schemeClr val="accent5"/>
                </a:solidFill>
              </a:rPr>
              <a:t>09 / 16</a:t>
            </a:r>
            <a:endParaRPr lang="ko-KR" sz="1400" dirty="0"/>
          </a:p>
        </p:txBody>
      </p:sp>
      <p:pic>
        <p:nvPicPr>
          <p:cNvPr id="4" name="hero" descr="C:\Users\user\AppData\Local\Temp\claude\C--Project-NKK-PROJECT\0415198c-3dcb-489e-9557-3945752cc25a\scratchpad\frames\ramjui\x_3.6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6400800" cy="360045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178040" y="1143000"/>
            <a:ext cx="45537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0000"/>
              </a:lnSpc>
              <a:buNone/>
            </a:pPr>
            <a:r>
              <a:rPr lang="ko-KR" sz="1500" b="1" dirty="0">
                <a:solidFill>
                  <a:schemeClr val="bg2"/>
                </a:solidFill>
              </a:rPr>
              <a:t>게임 그림체 람쥐가 점점 실사 짤로 변하는 몽타주 끝에 실사 다람쥐가 "안심하라구!"를 외친다.</a:t>
            </a:r>
            <a:endParaRPr lang="ko-KR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178040" y="21945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테이블 기술명</a:t>
            </a:r>
            <a:endParaRPr lang="ko-KR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412480" y="2194560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람쥐썬더 최종장  (31009)</a:t>
            </a:r>
            <a:endParaRPr lang="ko-KR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178040" y="262432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컷 구성</a:t>
            </a:r>
            <a:endParaRPr lang="ko-KR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412480" y="2624328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3컷 · 패널 6장</a:t>
            </a:r>
            <a:endParaRPr lang="ko-KR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178040" y="3054096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컷신 길이</a:t>
            </a:r>
            <a:endParaRPr lang="ko-KR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412480" y="3054096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내부 5.61초 · 0.75배속 → 실제 ≈7.5초</a:t>
            </a:r>
            <a:endParaRPr lang="ko-KR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178040" y="3483864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게임 화면</a:t>
            </a:r>
            <a:endParaRPr lang="ko-KR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412480" y="3483864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걷힘 0.3초 → 1.6초 · 대상마다 번개가 내리꽂힘</a:t>
            </a:r>
            <a:endParaRPr lang="ko-KR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178040" y="391363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컷신 글</a:t>
            </a:r>
            <a:endParaRPr lang="ko-KR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412480" y="3913632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짤 자막 · 대사 · 밈</a:t>
            </a:r>
            <a:endParaRPr lang="ko-KR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178040" y="43434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밈 · 대사</a:t>
            </a:r>
            <a:endParaRPr lang="ko-KR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8412480" y="4343400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수고람쥐썬더!!!</a:t>
            </a:r>
            <a:endParaRPr lang="ko-KR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49743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accent5"/>
                </a:solidFill>
              </a:rPr>
              <a:t>타임라인 (컷신 내부 시간 · 게임 화면은 같은 축척)</a:t>
            </a:r>
            <a:endParaRPr lang="ko-KR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5321808"/>
            <a:ext cx="600509" cy="457200"/>
          </a:xfrm>
          <a:prstGeom prst="rect">
            <a:avLst/>
          </a:prstGeom>
          <a:solidFill>
            <a:srgbClr val="35304A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057709" y="5321808"/>
            <a:ext cx="825700" cy="457200"/>
          </a:xfrm>
          <a:prstGeom prst="rect">
            <a:avLst/>
          </a:prstGeom>
          <a:solidFill>
            <a:srgbClr val="FFC83D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57709" y="5321808"/>
            <a:ext cx="825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1</a:t>
            </a:r>
            <a:endParaRPr lang="ko-KR" sz="1100" dirty="0"/>
          </a:p>
        </p:txBody>
      </p:sp>
      <p:sp>
        <p:nvSpPr>
          <p:cNvPr id="22" name="Shape 19"/>
          <p:cNvSpPr/>
          <p:nvPr/>
        </p:nvSpPr>
        <p:spPr>
          <a:xfrm>
            <a:off x="1883408" y="5321808"/>
            <a:ext cx="6035113" cy="457200"/>
          </a:xfrm>
          <a:prstGeom prst="rect">
            <a:avLst/>
          </a:prstGeom>
          <a:solidFill>
            <a:srgbClr val="E0AE2E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883408" y="5321808"/>
            <a:ext cx="60351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2</a:t>
            </a:r>
            <a:endParaRPr lang="ko-KR" sz="1100" dirty="0"/>
          </a:p>
        </p:txBody>
      </p:sp>
      <p:sp>
        <p:nvSpPr>
          <p:cNvPr id="24" name="Shape 21"/>
          <p:cNvSpPr/>
          <p:nvPr/>
        </p:nvSpPr>
        <p:spPr>
          <a:xfrm>
            <a:off x="7918521" y="5321808"/>
            <a:ext cx="960814" cy="457200"/>
          </a:xfrm>
          <a:prstGeom prst="rect">
            <a:avLst/>
          </a:prstGeom>
          <a:solidFill>
            <a:srgbClr val="FFC83D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918521" y="5321808"/>
            <a:ext cx="9608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3</a:t>
            </a:r>
            <a:endParaRPr lang="ko-KR" sz="1100" dirty="0"/>
          </a:p>
        </p:txBody>
      </p:sp>
      <p:sp>
        <p:nvSpPr>
          <p:cNvPr id="26" name="Shape 23"/>
          <p:cNvSpPr/>
          <p:nvPr/>
        </p:nvSpPr>
        <p:spPr>
          <a:xfrm>
            <a:off x="8879335" y="5321808"/>
            <a:ext cx="450382" cy="457200"/>
          </a:xfrm>
          <a:prstGeom prst="rect">
            <a:avLst/>
          </a:prstGeom>
          <a:solidFill>
            <a:srgbClr val="A7A1B6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329717" y="5321808"/>
            <a:ext cx="2402035" cy="457200"/>
          </a:xfrm>
          <a:prstGeom prst="rect">
            <a:avLst/>
          </a:prstGeom>
          <a:solidFill>
            <a:srgbClr val="6FD3C6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329717" y="5321808"/>
            <a:ext cx="24020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게임 화면</a:t>
            </a:r>
            <a:endParaRPr lang="ko-KR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58247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0</a:t>
            </a:r>
            <a:endParaRPr lang="ko-KR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691949" y="58247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0.4</a:t>
            </a:r>
            <a:endParaRPr lang="ko-KR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8513575" y="58247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5.61</a:t>
            </a:r>
            <a:endParaRPr lang="ko-KR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1000232" y="58247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r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+1.9</a:t>
            </a:r>
            <a:endParaRPr lang="ko-KR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457200" y="614476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accent5"/>
                </a:solidFill>
              </a:rPr>
              <a:t>※ 짤은 Codex 재현 그림 (실제 짤은 저작권 때문에 안 씀)</a:t>
            </a:r>
            <a:endParaRPr lang="ko-KR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7A1B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/>
              <a:t>25</a:t>
            </a:fld>
            <a:endParaRPr lang="ko-K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sz="2800" b="1" dirty="0">
                <a:solidFill>
                  <a:schemeClr val="bg2"/>
                </a:solidFill>
              </a:rPr>
              <a:t>다람쥐  </a:t>
            </a:r>
            <a:pPr eaLnBrk="0" algn="l" indent="0" marL="0">
              <a:buNone/>
            </a:pPr>
            <a:r>
              <a:rPr lang="ko-KR" sz="2800" b="1" dirty="0">
                <a:solidFill>
                  <a:srgbClr val="A7A1B6"/>
                </a:solidFill>
              </a:rPr>
              <a:t>콘티</a:t>
            </a:r>
            <a:endParaRPr lang="ko-KR" sz="2800" dirty="0"/>
          </a:p>
        </p:txBody>
      </p:sp>
      <p:sp>
        <p:nvSpPr>
          <p:cNvPr id="3" name="panel_1"/>
          <p:cNvSpPr/>
          <p:nvPr/>
        </p:nvSpPr>
        <p:spPr>
          <a:xfrm>
            <a:off x="457200" y="1097280"/>
            <a:ext cx="5486400" cy="1517333"/>
          </a:xfrm>
          <a:prstGeom prst="roundRect">
            <a:avLst>
              <a:gd name="adj" fmla="val 4821"/>
            </a:avLst>
          </a:prstGeom>
          <a:solidFill>
            <a:schemeClr val="tx2"/>
          </a:solidFill>
          <a:ln/>
        </p:spPr>
      </p:sp>
      <p:pic>
        <p:nvPicPr>
          <p:cNvPr id="4" name="img_1" descr="C:\Users\user\AppData\Local\Temp\claude\C--Project-NKK-PROJECT\0415198c-3dcb-489e-9557-3945752cc25a\scratchpad\frames\ramjui\00_Rat_0.7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2697480" cy="151733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0352" y="1170432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30352" y="1170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1</a:t>
            </a:r>
            <a:endParaRPr lang="ko-KR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3319272" y="11704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accent1"/>
                </a:solidFill>
              </a:rPr>
              <a:t>0.40 – 0.95초</a:t>
            </a:r>
            <a:endParaRPr lang="ko-KR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3319272" y="1481328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150" dirty="0">
                <a:solidFill>
                  <a:schemeClr val="bg2"/>
                </a:solidFill>
              </a:rPr>
              <a:t>게임 그림체 람쥐: 번개 들판에서 놀람 → 두 손 앞으로 → 두 팔 번쩍</a:t>
            </a:r>
            <a:endParaRPr lang="ko-KR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3319272" y="2212848"/>
            <a:ext cx="25146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0.55 · 0.70초 단계 줌</a:t>
            </a:r>
            <a:endParaRPr lang="ko-KR" sz="1000" dirty="0"/>
          </a:p>
        </p:txBody>
      </p:sp>
      <p:sp>
        <p:nvSpPr>
          <p:cNvPr id="10" name="panel_2-1"/>
          <p:cNvSpPr/>
          <p:nvPr/>
        </p:nvSpPr>
        <p:spPr>
          <a:xfrm>
            <a:off x="6245352" y="1097280"/>
            <a:ext cx="5486400" cy="1517333"/>
          </a:xfrm>
          <a:prstGeom prst="roundRect">
            <a:avLst>
              <a:gd name="adj" fmla="val 4821"/>
            </a:avLst>
          </a:prstGeom>
          <a:solidFill>
            <a:schemeClr val="tx2"/>
          </a:solidFill>
          <a:ln/>
        </p:spPr>
      </p:sp>
      <p:pic>
        <p:nvPicPr>
          <p:cNvPr id="11" name="img_2-1" descr="C:\Users\user\AppData\Local\Temp\claude\C--Project-NKK-PROJECT\0415198c-3dcb-489e-9557-3945752cc25a\scratchpad\frames\ramjui\x_1.30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097280"/>
            <a:ext cx="2697480" cy="1517333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318504" y="1170432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318504" y="1170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000" b="1" dirty="0">
                <a:solidFill>
                  <a:schemeClr val="tx1"/>
                </a:solidFill>
              </a:rPr>
              <a:t>2-1</a:t>
            </a:r>
            <a:endParaRPr lang="ko-KR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9107424" y="11704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accent1"/>
                </a:solidFill>
              </a:rPr>
              <a:t>0.95 – 4.97초</a:t>
            </a:r>
            <a:endParaRPr lang="ko-KR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9107424" y="1481328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150" dirty="0">
                <a:solidFill>
                  <a:schemeClr val="bg2"/>
                </a:solidFill>
              </a:rPr>
              <a:t>짤 몽타주 시작 — A 게임 플랫 → A+ 플랫 + 부드러운 음영</a:t>
            </a:r>
            <a:endParaRPr lang="ko-KR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9107424" y="2212848"/>
            <a:ext cx="25146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19장 디졸브 · 0.36초 간격에서 시작</a:t>
            </a:r>
            <a:endParaRPr lang="ko-KR" sz="1000" dirty="0"/>
          </a:p>
        </p:txBody>
      </p:sp>
      <p:sp>
        <p:nvSpPr>
          <p:cNvPr id="17" name="panel_2-2"/>
          <p:cNvSpPr/>
          <p:nvPr/>
        </p:nvSpPr>
        <p:spPr>
          <a:xfrm>
            <a:off x="457200" y="2797493"/>
            <a:ext cx="5486400" cy="1517333"/>
          </a:xfrm>
          <a:prstGeom prst="roundRect">
            <a:avLst>
              <a:gd name="adj" fmla="val 4821"/>
            </a:avLst>
          </a:prstGeom>
          <a:solidFill>
            <a:schemeClr val="tx2"/>
          </a:solidFill>
          <a:ln/>
        </p:spPr>
      </p:sp>
      <p:pic>
        <p:nvPicPr>
          <p:cNvPr id="18" name="img_2-2" descr="C:\Users\user\AppData\Local\Temp\claude\C--Project-NKK-PROJECT\0415198c-3dcb-489e-9557-3945752cc25a\scratchpad\frames\ramjui\x_2.80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97493"/>
            <a:ext cx="2697480" cy="1517333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30352" y="2870645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530352" y="287064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000" b="1" dirty="0">
                <a:solidFill>
                  <a:schemeClr val="tx1"/>
                </a:solidFill>
              </a:rPr>
              <a:t>2-2</a:t>
            </a:r>
            <a:endParaRPr lang="ko-KR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3319272" y="2870645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accent1"/>
                </a:solidFill>
              </a:rPr>
              <a:t>0.95 – 4.97초</a:t>
            </a:r>
            <a:endParaRPr lang="ko-KR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3319272" y="3181541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150" dirty="0">
                <a:solidFill>
                  <a:schemeClr val="bg2"/>
                </a:solidFill>
              </a:rPr>
              <a:t>중반 — B 동화 유화 → B+ 반실사 디지털 페인팅</a:t>
            </a:r>
            <a:endParaRPr lang="ko-KR" sz="1150" dirty="0"/>
          </a:p>
        </p:txBody>
      </p:sp>
      <p:sp>
        <p:nvSpPr>
          <p:cNvPr id="23" name="Text 18"/>
          <p:cNvSpPr txBox="1"/>
          <p:nvPr/>
        </p:nvSpPr>
        <p:spPr>
          <a:xfrm>
            <a:off x="3319272" y="3913061"/>
            <a:ext cx="25146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점점 빨라짐</a:t>
            </a:r>
            <a:endParaRPr lang="ko-KR" sz="1000" dirty="0"/>
          </a:p>
        </p:txBody>
      </p:sp>
      <p:sp>
        <p:nvSpPr>
          <p:cNvPr id="24" name="panel_2-3"/>
          <p:cNvSpPr/>
          <p:nvPr/>
        </p:nvSpPr>
        <p:spPr>
          <a:xfrm>
            <a:off x="6245352" y="2797493"/>
            <a:ext cx="5486400" cy="1517333"/>
          </a:xfrm>
          <a:prstGeom prst="roundRect">
            <a:avLst>
              <a:gd name="adj" fmla="val 4821"/>
            </a:avLst>
          </a:prstGeom>
          <a:solidFill>
            <a:schemeClr val="tx2"/>
          </a:solidFill>
          <a:ln/>
        </p:spPr>
      </p:sp>
      <p:pic>
        <p:nvPicPr>
          <p:cNvPr id="25" name="img_2-3" descr="C:\Users\user\AppData\Local\Temp\claude\C--Project-NKK-PROJECT\0415198c-3dcb-489e-9557-3945752cc25a\scratchpad\frames\ramjui\x_3.60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2797493"/>
            <a:ext cx="2697480" cy="1517333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6318504" y="2870645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6318504" y="287064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000" b="1" dirty="0">
                <a:solidFill>
                  <a:schemeClr val="tx1"/>
                </a:solidFill>
              </a:rPr>
              <a:t>2-3</a:t>
            </a:r>
            <a:endParaRPr lang="ko-KR" sz="1000" dirty="0"/>
          </a:p>
        </p:txBody>
      </p:sp>
      <p:sp>
        <p:nvSpPr>
          <p:cNvPr id="28" name="Text 22"/>
          <p:cNvSpPr txBox="1"/>
          <p:nvPr/>
        </p:nvSpPr>
        <p:spPr>
          <a:xfrm>
            <a:off x="9107424" y="2870645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accent1"/>
                </a:solidFill>
              </a:rPr>
              <a:t>0.95 – 4.97초</a:t>
            </a:r>
            <a:endParaRPr lang="ko-KR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9107424" y="3181541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150" dirty="0">
                <a:solidFill>
                  <a:schemeClr val="bg2"/>
                </a:solidFill>
              </a:rPr>
              <a:t>후반 — C 3D 영화풍 → C+ 포토리얼 CG</a:t>
            </a:r>
            <a:endParaRPr lang="ko-KR" sz="1150" dirty="0"/>
          </a:p>
        </p:txBody>
      </p:sp>
      <p:sp>
        <p:nvSpPr>
          <p:cNvPr id="30" name="Text 24"/>
          <p:cNvSpPr txBox="1"/>
          <p:nvPr/>
        </p:nvSpPr>
        <p:spPr>
          <a:xfrm>
            <a:off x="9107424" y="3913061"/>
            <a:ext cx="25146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그림체 6단계로 천천히 실사화</a:t>
            </a:r>
            <a:endParaRPr lang="ko-KR" sz="1000" dirty="0"/>
          </a:p>
        </p:txBody>
      </p:sp>
      <p:sp>
        <p:nvSpPr>
          <p:cNvPr id="31" name="panel_2-4"/>
          <p:cNvSpPr/>
          <p:nvPr/>
        </p:nvSpPr>
        <p:spPr>
          <a:xfrm>
            <a:off x="457200" y="4497705"/>
            <a:ext cx="5486400" cy="1517333"/>
          </a:xfrm>
          <a:prstGeom prst="roundRect">
            <a:avLst>
              <a:gd name="adj" fmla="val 4821"/>
            </a:avLst>
          </a:prstGeom>
          <a:solidFill>
            <a:schemeClr val="tx2"/>
          </a:solidFill>
          <a:ln/>
        </p:spPr>
      </p:sp>
      <p:pic>
        <p:nvPicPr>
          <p:cNvPr id="32" name="img_2-4" descr="C:\Users\user\AppData\Local\Temp\claude\C--Project-NKK-PROJECT\0415198c-3dcb-489e-9557-3945752cc25a\scratchpad\frames\ramjui\x_4.50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497705"/>
            <a:ext cx="2697480" cy="1517333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530352" y="4570857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4" name="Text 27"/>
          <p:cNvSpPr txBox="1"/>
          <p:nvPr/>
        </p:nvSpPr>
        <p:spPr>
          <a:xfrm>
            <a:off x="530352" y="457085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000" b="1" dirty="0">
                <a:solidFill>
                  <a:schemeClr val="tx1"/>
                </a:solidFill>
              </a:rPr>
              <a:t>2-4</a:t>
            </a:r>
            <a:endParaRPr lang="ko-KR" sz="1000" dirty="0"/>
          </a:p>
        </p:txBody>
      </p:sp>
      <p:sp>
        <p:nvSpPr>
          <p:cNvPr id="35" name="Text 28"/>
          <p:cNvSpPr txBox="1"/>
          <p:nvPr/>
        </p:nvSpPr>
        <p:spPr>
          <a:xfrm>
            <a:off x="3319272" y="4570857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accent1"/>
                </a:solidFill>
              </a:rPr>
              <a:t>0.95 – 4.97초</a:t>
            </a:r>
            <a:endParaRPr lang="ko-KR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3319272" y="4881753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150" dirty="0">
                <a:solidFill>
                  <a:schemeClr val="bg2"/>
                </a:solidFill>
              </a:rPr>
              <a:t>끝 — D 사진 합성 짤</a:t>
            </a:r>
            <a:endParaRPr lang="ko-KR" sz="1150" dirty="0"/>
          </a:p>
        </p:txBody>
      </p:sp>
      <p:sp>
        <p:nvSpPr>
          <p:cNvPr id="37" name="Text 30"/>
          <p:cNvSpPr txBox="1"/>
          <p:nvPr/>
        </p:nvSpPr>
        <p:spPr>
          <a:xfrm>
            <a:off x="3319272" y="5613273"/>
            <a:ext cx="25146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0.10초 간격까지 빨라짐</a:t>
            </a:r>
            <a:endParaRPr lang="ko-KR" sz="1000" dirty="0"/>
          </a:p>
        </p:txBody>
      </p:sp>
      <p:sp>
        <p:nvSpPr>
          <p:cNvPr id="38" name="panel_3"/>
          <p:cNvSpPr/>
          <p:nvPr/>
        </p:nvSpPr>
        <p:spPr>
          <a:xfrm>
            <a:off x="6245352" y="4497705"/>
            <a:ext cx="5486400" cy="1517333"/>
          </a:xfrm>
          <a:prstGeom prst="roundRect">
            <a:avLst>
              <a:gd name="adj" fmla="val 4821"/>
            </a:avLst>
          </a:prstGeom>
          <a:solidFill>
            <a:schemeClr val="tx2"/>
          </a:solidFill>
          <a:ln/>
        </p:spPr>
      </p:sp>
      <p:pic>
        <p:nvPicPr>
          <p:cNvPr id="39" name="img_3" descr="C:\Users\user\AppData\Local\Temp\claude\C--Project-NKK-PROJECT\0415198c-3dcb-489e-9557-3945752cc25a\scratchpad\frames\ramjui\02_Nugul_5.35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5352" y="4497705"/>
            <a:ext cx="2697480" cy="1517333"/>
          </a:xfrm>
          <a:prstGeom prst="rect">
            <a:avLst/>
          </a:prstGeom>
        </p:spPr>
      </p:pic>
      <p:sp>
        <p:nvSpPr>
          <p:cNvPr id="40" name="Shape 32"/>
          <p:cNvSpPr/>
          <p:nvPr/>
        </p:nvSpPr>
        <p:spPr>
          <a:xfrm>
            <a:off x="6318504" y="4570857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1" name="Text 33"/>
          <p:cNvSpPr txBox="1"/>
          <p:nvPr/>
        </p:nvSpPr>
        <p:spPr>
          <a:xfrm>
            <a:off x="6318504" y="457085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3</a:t>
            </a:r>
            <a:endParaRPr lang="ko-KR" sz="1300" dirty="0"/>
          </a:p>
        </p:txBody>
      </p:sp>
      <p:sp>
        <p:nvSpPr>
          <p:cNvPr id="42" name="Text 34"/>
          <p:cNvSpPr txBox="1"/>
          <p:nvPr/>
        </p:nvSpPr>
        <p:spPr>
          <a:xfrm>
            <a:off x="9107424" y="4570857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accent1"/>
                </a:solidFill>
              </a:rPr>
              <a:t>4.97 – 5.61초</a:t>
            </a:r>
            <a:endParaRPr lang="ko-KR" sz="1200" dirty="0"/>
          </a:p>
        </p:txBody>
      </p:sp>
      <p:sp>
        <p:nvSpPr>
          <p:cNvPr id="43" name="Text 35"/>
          <p:cNvSpPr txBox="1"/>
          <p:nvPr/>
        </p:nvSpPr>
        <p:spPr>
          <a:xfrm>
            <a:off x="9107424" y="4881753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150" dirty="0">
                <a:solidFill>
                  <a:schemeClr val="bg2"/>
                </a:solidFill>
              </a:rPr>
              <a:t>흰 스튜디오 실사 다람쥐 전신 · 손 내밂 정지 + "…람쥐썬더가 처리했으니 안심하라구!"</a:t>
            </a:r>
            <a:endParaRPr lang="ko-KR" sz="1150" dirty="0"/>
          </a:p>
        </p:txBody>
      </p:sp>
      <p:sp>
        <p:nvSpPr>
          <p:cNvPr id="44" name="Text 36"/>
          <p:cNvSpPr txBox="1"/>
          <p:nvPr/>
        </p:nvSpPr>
        <p:spPr>
          <a:xfrm>
            <a:off x="9107424" y="5613273"/>
            <a:ext cx="25146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정지 → 번쩍 → 게임 화면 번개</a:t>
            </a:r>
            <a:endParaRPr lang="ko-KR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7A1B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/>
              <a:t>26</a:t>
            </a:fld>
            <a:endParaRPr lang="ko-K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sz="2800" b="1" dirty="0">
                <a:solidFill>
                  <a:schemeClr val="bg2"/>
                </a:solidFill>
              </a:rPr>
              <a:t>줴리  </a:t>
            </a:r>
            <a:pPr eaLnBrk="0" algn="l" indent="0" marL="0">
              <a:buNone/>
            </a:pPr>
            <a:r>
              <a:rPr lang="ko-KR" sz="2800" b="1" dirty="0">
                <a:solidFill>
                  <a:srgbClr val="FFC83D"/>
                </a:solidFill>
              </a:rPr>
              <a:t>톰과 줴리 추격전</a:t>
            </a:r>
            <a:endParaRPr lang="ko-KR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384048"/>
            <a:ext cx="1399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sz="1400" dirty="0">
                <a:solidFill>
                  <a:schemeClr val="accent5"/>
                </a:solidFill>
              </a:rPr>
              <a:t>10 / 16</a:t>
            </a:r>
            <a:endParaRPr lang="ko-KR" sz="1400" dirty="0"/>
          </a:p>
        </p:txBody>
      </p:sp>
      <p:pic>
        <p:nvPicPr>
          <p:cNvPr id="4" name="hero" descr="C:\Users\user\AppData\Local\Temp\claude\C--Project-NKK-PROJECT\0415198c-3dcb-489e-9557-3945752cc25a\scratchpad\frames\jwerry\03_Pan_2.3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6400800" cy="360045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178040" y="1143000"/>
            <a:ext cx="45537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0000"/>
              </a:lnSpc>
              <a:buNone/>
            </a:pPr>
            <a:r>
              <a:rPr lang="ko-KR" sz="1500" b="1" dirty="0">
                <a:solidFill>
                  <a:schemeClr val="bg2"/>
                </a:solidFill>
              </a:rPr>
              <a:t>집 안을 가로지르는 고양이와의 추격전. 프라이팬 · 문 · 카펫으로 세 번 반격하고 쥐구멍으로 쏙.</a:t>
            </a:r>
            <a:endParaRPr lang="ko-KR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178040" y="21945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테이블 기술명</a:t>
            </a:r>
            <a:endParaRPr lang="ko-KR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412480" y="2194560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줴리 감사합니다 (앵콜)  (31010)</a:t>
            </a:r>
            <a:endParaRPr lang="ko-KR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178040" y="262432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컷 구성</a:t>
            </a:r>
            <a:endParaRPr lang="ko-KR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412480" y="2624328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11컷 · 패널 11장</a:t>
            </a:r>
            <a:endParaRPr lang="ko-KR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178040" y="3054096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컷신 길이</a:t>
            </a:r>
            <a:endParaRPr lang="ko-KR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412480" y="3054096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내부 7.30초 · 1배속</a:t>
            </a:r>
            <a:endParaRPr lang="ko-KR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178040" y="3483864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게임 화면</a:t>
            </a:r>
            <a:endParaRPr lang="ko-KR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412480" y="3483864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걷힘 0.3초 → 2초 · 프라이팬이 대상마다 떨어져 뿅</a:t>
            </a:r>
            <a:endParaRPr lang="ko-KR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178040" y="391363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컷신 글</a:t>
            </a:r>
            <a:endParaRPr lang="ko-KR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412480" y="3913632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없음</a:t>
            </a:r>
            <a:endParaRPr lang="ko-KR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178040" y="43434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밈 · 대사</a:t>
            </a:r>
            <a:endParaRPr lang="ko-KR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8412480" y="4343400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—</a:t>
            </a:r>
            <a:endParaRPr lang="ko-KR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49743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accent5"/>
                </a:solidFill>
              </a:rPr>
              <a:t>타임라인 (컷신 내부 시간 · 게임 화면은 같은 축척)</a:t>
            </a:r>
            <a:endParaRPr lang="ko-KR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5321808"/>
            <a:ext cx="469773" cy="457200"/>
          </a:xfrm>
          <a:prstGeom prst="rect">
            <a:avLst/>
          </a:prstGeom>
          <a:solidFill>
            <a:srgbClr val="35304A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26973" y="5321808"/>
            <a:ext cx="681171" cy="457200"/>
          </a:xfrm>
          <a:prstGeom prst="rect">
            <a:avLst/>
          </a:prstGeom>
          <a:solidFill>
            <a:srgbClr val="FFC83D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6973" y="5321808"/>
            <a:ext cx="6811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1</a:t>
            </a:r>
            <a:endParaRPr lang="ko-KR" sz="1100" dirty="0"/>
          </a:p>
        </p:txBody>
      </p:sp>
      <p:sp>
        <p:nvSpPr>
          <p:cNvPr id="22" name="Shape 19"/>
          <p:cNvSpPr/>
          <p:nvPr/>
        </p:nvSpPr>
        <p:spPr>
          <a:xfrm>
            <a:off x="1608144" y="5321808"/>
            <a:ext cx="317097" cy="457200"/>
          </a:xfrm>
          <a:prstGeom prst="rect">
            <a:avLst/>
          </a:prstGeom>
          <a:solidFill>
            <a:srgbClr val="E0AE2E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608144" y="5321808"/>
            <a:ext cx="31709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2</a:t>
            </a:r>
            <a:endParaRPr lang="ko-KR" sz="1100" dirty="0"/>
          </a:p>
        </p:txBody>
      </p:sp>
      <p:sp>
        <p:nvSpPr>
          <p:cNvPr id="24" name="Shape 21"/>
          <p:cNvSpPr/>
          <p:nvPr/>
        </p:nvSpPr>
        <p:spPr>
          <a:xfrm>
            <a:off x="1925241" y="5321808"/>
            <a:ext cx="939546" cy="457200"/>
          </a:xfrm>
          <a:prstGeom prst="rect">
            <a:avLst/>
          </a:prstGeom>
          <a:solidFill>
            <a:srgbClr val="FFC83D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925241" y="5321808"/>
            <a:ext cx="9395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3</a:t>
            </a:r>
            <a:endParaRPr lang="ko-KR" sz="1100" dirty="0"/>
          </a:p>
        </p:txBody>
      </p:sp>
      <p:sp>
        <p:nvSpPr>
          <p:cNvPr id="26" name="Shape 23"/>
          <p:cNvSpPr/>
          <p:nvPr/>
        </p:nvSpPr>
        <p:spPr>
          <a:xfrm>
            <a:off x="2864787" y="5321808"/>
            <a:ext cx="669427" cy="457200"/>
          </a:xfrm>
          <a:prstGeom prst="rect">
            <a:avLst/>
          </a:prstGeom>
          <a:solidFill>
            <a:srgbClr val="E0AE2E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2864787" y="5321808"/>
            <a:ext cx="6694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4</a:t>
            </a:r>
            <a:endParaRPr lang="ko-KR" sz="1100" dirty="0"/>
          </a:p>
        </p:txBody>
      </p:sp>
      <p:sp>
        <p:nvSpPr>
          <p:cNvPr id="28" name="Shape 25"/>
          <p:cNvSpPr/>
          <p:nvPr/>
        </p:nvSpPr>
        <p:spPr>
          <a:xfrm>
            <a:off x="3534213" y="5321808"/>
            <a:ext cx="916057" cy="457200"/>
          </a:xfrm>
          <a:prstGeom prst="rect">
            <a:avLst/>
          </a:prstGeom>
          <a:solidFill>
            <a:srgbClr val="FFC83D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534213" y="5321808"/>
            <a:ext cx="91605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5</a:t>
            </a:r>
            <a:endParaRPr lang="ko-KR" sz="1100" dirty="0"/>
          </a:p>
        </p:txBody>
      </p:sp>
      <p:sp>
        <p:nvSpPr>
          <p:cNvPr id="30" name="Shape 27"/>
          <p:cNvSpPr/>
          <p:nvPr/>
        </p:nvSpPr>
        <p:spPr>
          <a:xfrm>
            <a:off x="4450271" y="5321808"/>
            <a:ext cx="763381" cy="457200"/>
          </a:xfrm>
          <a:prstGeom prst="rect">
            <a:avLst/>
          </a:prstGeom>
          <a:solidFill>
            <a:srgbClr val="E0AE2E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450271" y="5321808"/>
            <a:ext cx="76338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6</a:t>
            </a:r>
            <a:endParaRPr lang="ko-KR" sz="1100" dirty="0"/>
          </a:p>
        </p:txBody>
      </p:sp>
      <p:sp>
        <p:nvSpPr>
          <p:cNvPr id="32" name="Shape 29"/>
          <p:cNvSpPr/>
          <p:nvPr/>
        </p:nvSpPr>
        <p:spPr>
          <a:xfrm>
            <a:off x="5213652" y="5321808"/>
            <a:ext cx="763381" cy="457200"/>
          </a:xfrm>
          <a:prstGeom prst="rect">
            <a:avLst/>
          </a:prstGeom>
          <a:solidFill>
            <a:srgbClr val="FFC83D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213652" y="5321808"/>
            <a:ext cx="76338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7</a:t>
            </a:r>
            <a:endParaRPr lang="ko-KR" sz="1100" dirty="0"/>
          </a:p>
        </p:txBody>
      </p:sp>
      <p:sp>
        <p:nvSpPr>
          <p:cNvPr id="34" name="Shape 31"/>
          <p:cNvSpPr/>
          <p:nvPr/>
        </p:nvSpPr>
        <p:spPr>
          <a:xfrm>
            <a:off x="5977033" y="5321808"/>
            <a:ext cx="587216" cy="457200"/>
          </a:xfrm>
          <a:prstGeom prst="rect">
            <a:avLst/>
          </a:prstGeom>
          <a:solidFill>
            <a:srgbClr val="E0AE2E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977033" y="5321808"/>
            <a:ext cx="587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8</a:t>
            </a:r>
            <a:endParaRPr lang="ko-KR" sz="1100" dirty="0"/>
          </a:p>
        </p:txBody>
      </p:sp>
      <p:sp>
        <p:nvSpPr>
          <p:cNvPr id="36" name="Shape 33"/>
          <p:cNvSpPr/>
          <p:nvPr/>
        </p:nvSpPr>
        <p:spPr>
          <a:xfrm>
            <a:off x="6564249" y="5321808"/>
            <a:ext cx="704659" cy="457200"/>
          </a:xfrm>
          <a:prstGeom prst="rect">
            <a:avLst/>
          </a:prstGeom>
          <a:solidFill>
            <a:srgbClr val="FFC83D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564249" y="5321808"/>
            <a:ext cx="7046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9</a:t>
            </a:r>
            <a:endParaRPr lang="ko-KR" sz="1100" dirty="0"/>
          </a:p>
        </p:txBody>
      </p:sp>
      <p:sp>
        <p:nvSpPr>
          <p:cNvPr id="38" name="Shape 35"/>
          <p:cNvSpPr/>
          <p:nvPr/>
        </p:nvSpPr>
        <p:spPr>
          <a:xfrm>
            <a:off x="7268909" y="5321808"/>
            <a:ext cx="645938" cy="457200"/>
          </a:xfrm>
          <a:prstGeom prst="rect">
            <a:avLst/>
          </a:prstGeom>
          <a:solidFill>
            <a:srgbClr val="E0AE2E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268909" y="5321808"/>
            <a:ext cx="6459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10</a:t>
            </a:r>
            <a:endParaRPr lang="ko-KR" sz="1100" dirty="0"/>
          </a:p>
        </p:txBody>
      </p:sp>
      <p:sp>
        <p:nvSpPr>
          <p:cNvPr id="40" name="Shape 37"/>
          <p:cNvSpPr/>
          <p:nvPr/>
        </p:nvSpPr>
        <p:spPr>
          <a:xfrm>
            <a:off x="7914846" y="5321808"/>
            <a:ext cx="1115711" cy="457200"/>
          </a:xfrm>
          <a:prstGeom prst="rect">
            <a:avLst/>
          </a:prstGeom>
          <a:solidFill>
            <a:srgbClr val="FFC83D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914846" y="5321808"/>
            <a:ext cx="11157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11</a:t>
            </a:r>
            <a:endParaRPr lang="ko-KR" sz="1100" dirty="0"/>
          </a:p>
        </p:txBody>
      </p:sp>
      <p:sp>
        <p:nvSpPr>
          <p:cNvPr id="42" name="Shape 39"/>
          <p:cNvSpPr/>
          <p:nvPr/>
        </p:nvSpPr>
        <p:spPr>
          <a:xfrm>
            <a:off x="9030557" y="5321808"/>
            <a:ext cx="352330" cy="457200"/>
          </a:xfrm>
          <a:prstGeom prst="rect">
            <a:avLst/>
          </a:prstGeom>
          <a:solidFill>
            <a:srgbClr val="A7A1B6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9382887" y="5321808"/>
            <a:ext cx="2348865" cy="457200"/>
          </a:xfrm>
          <a:prstGeom prst="rect">
            <a:avLst/>
          </a:prstGeom>
          <a:solidFill>
            <a:srgbClr val="6FD3C6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9382887" y="5321808"/>
            <a:ext cx="23488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게임 화면</a:t>
            </a:r>
            <a:endParaRPr lang="ko-KR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8247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0</a:t>
            </a:r>
            <a:endParaRPr lang="ko-KR" sz="1000" dirty="0"/>
          </a:p>
        </p:txBody>
      </p:sp>
      <p:sp>
        <p:nvSpPr>
          <p:cNvPr id="46" name="Text 43"/>
          <p:cNvSpPr txBox="1"/>
          <p:nvPr/>
        </p:nvSpPr>
        <p:spPr>
          <a:xfrm>
            <a:off x="561213" y="58247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0.4</a:t>
            </a:r>
            <a:endParaRPr lang="ko-KR" sz="1000" dirty="0"/>
          </a:p>
        </p:txBody>
      </p:sp>
      <p:sp>
        <p:nvSpPr>
          <p:cNvPr id="47" name="Text 44"/>
          <p:cNvSpPr txBox="1"/>
          <p:nvPr/>
        </p:nvSpPr>
        <p:spPr>
          <a:xfrm>
            <a:off x="8664797" y="58247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7.30</a:t>
            </a:r>
            <a:endParaRPr lang="ko-KR" sz="1000" dirty="0"/>
          </a:p>
        </p:txBody>
      </p:sp>
      <p:sp>
        <p:nvSpPr>
          <p:cNvPr id="48" name="Text 45"/>
          <p:cNvSpPr txBox="1"/>
          <p:nvPr/>
        </p:nvSpPr>
        <p:spPr>
          <a:xfrm>
            <a:off x="11000232" y="58247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r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+2.3</a:t>
            </a:r>
            <a:endParaRPr lang="ko-KR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7A1B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/>
              <a:t>27</a:t>
            </a:fld>
            <a:endParaRPr lang="ko-K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sz="2800" b="1" dirty="0">
                <a:solidFill>
                  <a:schemeClr val="bg2"/>
                </a:solidFill>
              </a:rPr>
              <a:t>줴리  </a:t>
            </a:r>
            <a:pPr eaLnBrk="0" algn="l" indent="0" marL="0">
              <a:buNone/>
            </a:pPr>
            <a:r>
              <a:rPr lang="ko-KR" sz="2800" b="1" dirty="0">
                <a:solidFill>
                  <a:srgbClr val="A7A1B6"/>
                </a:solidFill>
              </a:rPr>
              <a:t>콘티 1/2</a:t>
            </a:r>
            <a:endParaRPr lang="ko-KR" sz="2800" dirty="0"/>
          </a:p>
        </p:txBody>
      </p:sp>
      <p:sp>
        <p:nvSpPr>
          <p:cNvPr id="3" name="panel_1"/>
          <p:cNvSpPr/>
          <p:nvPr/>
        </p:nvSpPr>
        <p:spPr>
          <a:xfrm>
            <a:off x="457200" y="1097280"/>
            <a:ext cx="5486400" cy="1517333"/>
          </a:xfrm>
          <a:prstGeom prst="roundRect">
            <a:avLst>
              <a:gd name="adj" fmla="val 4821"/>
            </a:avLst>
          </a:prstGeom>
          <a:solidFill>
            <a:schemeClr val="tx2"/>
          </a:solidFill>
          <a:ln/>
        </p:spPr>
      </p:sp>
      <p:pic>
        <p:nvPicPr>
          <p:cNvPr id="4" name="img_1" descr="C:\Users\user\AppData\Local\Temp\claude\C--Project-NKK-PROJECT\0415198c-3dcb-489e-9557-3945752cc25a\scratchpad\frames\jwerry\00_Open_0.7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2697480" cy="151733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0352" y="1170432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30352" y="1170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1</a:t>
            </a:r>
            <a:endParaRPr lang="ko-KR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3319272" y="11704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accent1"/>
                </a:solidFill>
              </a:rPr>
              <a:t>0.40 – 0.98초</a:t>
            </a:r>
            <a:endParaRPr lang="ko-KR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3319272" y="1481328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150" dirty="0">
                <a:solidFill>
                  <a:schemeClr val="bg2"/>
                </a:solidFill>
              </a:rPr>
              <a:t>부엌 바닥에서 치즈를 먹다 → 등 뒤 거대한 고양이 그림자 (흠칫)</a:t>
            </a:r>
            <a:endParaRPr lang="ko-KR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3319272" y="2212848"/>
            <a:ext cx="25146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쥐 정면 고정</a:t>
            </a:r>
            <a:endParaRPr lang="ko-KR" sz="1000" dirty="0"/>
          </a:p>
        </p:txBody>
      </p:sp>
      <p:sp>
        <p:nvSpPr>
          <p:cNvPr id="10" name="panel_2"/>
          <p:cNvSpPr/>
          <p:nvPr/>
        </p:nvSpPr>
        <p:spPr>
          <a:xfrm>
            <a:off x="6245352" y="1097280"/>
            <a:ext cx="5486400" cy="1517333"/>
          </a:xfrm>
          <a:prstGeom prst="roundRect">
            <a:avLst>
              <a:gd name="adj" fmla="val 4821"/>
            </a:avLst>
          </a:prstGeom>
          <a:solidFill>
            <a:schemeClr val="tx2"/>
          </a:solidFill>
          <a:ln/>
        </p:spPr>
      </p:sp>
      <p:pic>
        <p:nvPicPr>
          <p:cNvPr id="11" name="img_2" descr="C:\Users\user\AppData\Local\Temp\claude\C--Project-NKK-PROJECT\0415198c-3dcb-489e-9557-3945752cc25a\scratchpad\frames\jwerry\01_CatFace_1.14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097280"/>
            <a:ext cx="2697480" cy="1517333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318504" y="1170432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318504" y="1170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2</a:t>
            </a:r>
            <a:endParaRPr lang="ko-KR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9107424" y="11704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accent1"/>
                </a:solidFill>
              </a:rPr>
              <a:t>0.98 – 1.25초</a:t>
            </a:r>
            <a:endParaRPr lang="ko-KR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9107424" y="1481328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150" dirty="0">
                <a:solidFill>
                  <a:schemeClr val="bg2"/>
                </a:solidFill>
              </a:rPr>
              <a:t>고양이 얼굴: 다가오며 입맛 다심</a:t>
            </a:r>
            <a:endParaRPr lang="ko-KR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9107424" y="2212848"/>
            <a:ext cx="25146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로우 앵글 · 사선</a:t>
            </a:r>
            <a:endParaRPr lang="ko-KR" sz="1000" dirty="0"/>
          </a:p>
        </p:txBody>
      </p:sp>
      <p:sp>
        <p:nvSpPr>
          <p:cNvPr id="17" name="panel_3"/>
          <p:cNvSpPr/>
          <p:nvPr/>
        </p:nvSpPr>
        <p:spPr>
          <a:xfrm>
            <a:off x="457200" y="2797493"/>
            <a:ext cx="5486400" cy="1517333"/>
          </a:xfrm>
          <a:prstGeom prst="roundRect">
            <a:avLst>
              <a:gd name="adj" fmla="val 4821"/>
            </a:avLst>
          </a:prstGeom>
          <a:solidFill>
            <a:schemeClr val="tx2"/>
          </a:solidFill>
          <a:ln/>
        </p:spPr>
      </p:sp>
      <p:pic>
        <p:nvPicPr>
          <p:cNvPr id="18" name="img_3" descr="C:\Users\user\AppData\Local\Temp\claude\C--Project-NKK-PROJECT\0415198c-3dcb-489e-9557-3945752cc25a\scratchpad\frames\jwerry\02_Chase1_1.7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97493"/>
            <a:ext cx="2697480" cy="1517333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30352" y="2870645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530352" y="287064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3</a:t>
            </a:r>
            <a:endParaRPr lang="ko-KR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3319272" y="2870645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accent1"/>
                </a:solidFill>
              </a:rPr>
              <a:t>1.25 – 2.05초</a:t>
            </a:r>
            <a:endParaRPr lang="ko-KR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3319272" y="3181541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150" dirty="0">
                <a:solidFill>
                  <a:schemeClr val="bg2"/>
                </a:solidFill>
              </a:rPr>
              <a:t>추격 1 (부엌): 웅크린 쥐가 튀어 나감 · 왼쪽에서 고양이 난입 · 돌아보며 메롱</a:t>
            </a:r>
            <a:endParaRPr lang="ko-KR" sz="1150" dirty="0"/>
          </a:p>
        </p:txBody>
      </p:sp>
      <p:sp>
        <p:nvSpPr>
          <p:cNvPr id="23" name="Text 18"/>
          <p:cNvSpPr txBox="1"/>
          <p:nvPr/>
        </p:nvSpPr>
        <p:spPr>
          <a:xfrm>
            <a:off x="3319272" y="3913061"/>
            <a:ext cx="25146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쥐에 바짝 붙었다 휙 빠짐 · 앞 의자 · 화분 시차 · 속도선</a:t>
            </a:r>
            <a:endParaRPr lang="ko-KR" sz="1000" dirty="0"/>
          </a:p>
        </p:txBody>
      </p:sp>
      <p:sp>
        <p:nvSpPr>
          <p:cNvPr id="24" name="panel_4"/>
          <p:cNvSpPr/>
          <p:nvPr/>
        </p:nvSpPr>
        <p:spPr>
          <a:xfrm>
            <a:off x="6245352" y="2797493"/>
            <a:ext cx="5486400" cy="1517333"/>
          </a:xfrm>
          <a:prstGeom prst="roundRect">
            <a:avLst>
              <a:gd name="adj" fmla="val 4821"/>
            </a:avLst>
          </a:prstGeom>
          <a:solidFill>
            <a:schemeClr val="tx2"/>
          </a:solidFill>
          <a:ln/>
        </p:spPr>
      </p:sp>
      <p:pic>
        <p:nvPicPr>
          <p:cNvPr id="25" name="img_4" descr="C:\Users\user\AppData\Local\Temp\claude\C--Project-NKK-PROJECT\0415198c-3dcb-489e-9557-3945752cc25a\scratchpad\frames\jwerry\03_Pan_2.39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2797493"/>
            <a:ext cx="2697480" cy="1517333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6318504" y="2870645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6318504" y="287064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4</a:t>
            </a:r>
            <a:endParaRPr lang="ko-KR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9107424" y="2870645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accent1"/>
                </a:solidFill>
              </a:rPr>
              <a:t>2.05 – 2.62초</a:t>
            </a:r>
            <a:endParaRPr lang="ko-KR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9107424" y="3181541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150" dirty="0">
                <a:solidFill>
                  <a:schemeClr val="bg2"/>
                </a:solidFill>
              </a:rPr>
              <a:t>반격 1: 조리대 위 프라이팬 풀스윙 → 뿅!</a:t>
            </a:r>
            <a:endParaRPr lang="ko-KR" sz="1150" dirty="0"/>
          </a:p>
        </p:txBody>
      </p:sp>
      <p:sp>
        <p:nvSpPr>
          <p:cNvPr id="30" name="Text 24"/>
          <p:cNvSpPr txBox="1"/>
          <p:nvPr/>
        </p:nvSpPr>
        <p:spPr>
          <a:xfrm>
            <a:off x="9107424" y="3913061"/>
            <a:ext cx="25146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히트 스톱 · 별</a:t>
            </a:r>
            <a:endParaRPr lang="ko-KR" sz="1000" dirty="0"/>
          </a:p>
        </p:txBody>
      </p:sp>
      <p:sp>
        <p:nvSpPr>
          <p:cNvPr id="31" name="panel_5"/>
          <p:cNvSpPr/>
          <p:nvPr/>
        </p:nvSpPr>
        <p:spPr>
          <a:xfrm>
            <a:off x="457200" y="4497705"/>
            <a:ext cx="5486400" cy="1517333"/>
          </a:xfrm>
          <a:prstGeom prst="roundRect">
            <a:avLst>
              <a:gd name="adj" fmla="val 4821"/>
            </a:avLst>
          </a:prstGeom>
          <a:solidFill>
            <a:schemeClr val="tx2"/>
          </a:solidFill>
          <a:ln/>
        </p:spPr>
      </p:sp>
      <p:pic>
        <p:nvPicPr>
          <p:cNvPr id="32" name="img_5" descr="C:\Users\user\AppData\Local\Temp\claude\C--Project-NKK-PROJECT\0415198c-3dcb-489e-9557-3945752cc25a\scratchpad\frames\jwerry\04_Chase2_3.09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497705"/>
            <a:ext cx="2697480" cy="1517333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530352" y="4570857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4" name="Text 27"/>
          <p:cNvSpPr txBox="1"/>
          <p:nvPr/>
        </p:nvSpPr>
        <p:spPr>
          <a:xfrm>
            <a:off x="530352" y="457085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5</a:t>
            </a:r>
            <a:endParaRPr lang="ko-KR" sz="1300" dirty="0"/>
          </a:p>
        </p:txBody>
      </p:sp>
      <p:sp>
        <p:nvSpPr>
          <p:cNvPr id="35" name="Text 28"/>
          <p:cNvSpPr txBox="1"/>
          <p:nvPr/>
        </p:nvSpPr>
        <p:spPr>
          <a:xfrm>
            <a:off x="3319272" y="4570857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accent1"/>
                </a:solidFill>
              </a:rPr>
              <a:t>2.62 – 3.40초</a:t>
            </a:r>
            <a:endParaRPr lang="ko-KR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3319272" y="4881753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150" dirty="0">
                <a:solidFill>
                  <a:schemeClr val="bg2"/>
                </a:solidFill>
              </a:rPr>
              <a:t>추격 2 (거실): 팬 모양으로 납작해진 얼굴 → 따라붙는 고양이</a:t>
            </a:r>
            <a:endParaRPr lang="ko-KR" sz="1150" dirty="0"/>
          </a:p>
        </p:txBody>
      </p:sp>
      <p:sp>
        <p:nvSpPr>
          <p:cNvPr id="37" name="Text 30"/>
          <p:cNvSpPr txBox="1"/>
          <p:nvPr/>
        </p:nvSpPr>
        <p:spPr>
          <a:xfrm>
            <a:off x="3319272" y="5613273"/>
            <a:ext cx="25146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얼굴 클로즈업 → 휙 쥐 쪽으로 → 넓게 · 사선</a:t>
            </a:r>
            <a:endParaRPr lang="ko-KR" sz="1000" dirty="0"/>
          </a:p>
        </p:txBody>
      </p:sp>
      <p:sp>
        <p:nvSpPr>
          <p:cNvPr id="38" name="panel_6"/>
          <p:cNvSpPr/>
          <p:nvPr/>
        </p:nvSpPr>
        <p:spPr>
          <a:xfrm>
            <a:off x="6245352" y="4497705"/>
            <a:ext cx="5486400" cy="1517333"/>
          </a:xfrm>
          <a:prstGeom prst="roundRect">
            <a:avLst>
              <a:gd name="adj" fmla="val 4821"/>
            </a:avLst>
          </a:prstGeom>
          <a:solidFill>
            <a:schemeClr val="tx2"/>
          </a:solidFill>
          <a:ln/>
        </p:spPr>
      </p:sp>
      <p:pic>
        <p:nvPicPr>
          <p:cNvPr id="39" name="img_6" descr="C:\Users\user\AppData\Local\Temp\claude\C--Project-NKK-PROJECT\0415198c-3dcb-489e-9557-3945752cc25a\scratchpad\frames\jwerry\05_Door_3.79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5352" y="4497705"/>
            <a:ext cx="2697480" cy="1517333"/>
          </a:xfrm>
          <a:prstGeom prst="rect">
            <a:avLst/>
          </a:prstGeom>
        </p:spPr>
      </p:pic>
      <p:sp>
        <p:nvSpPr>
          <p:cNvPr id="40" name="Shape 32"/>
          <p:cNvSpPr/>
          <p:nvPr/>
        </p:nvSpPr>
        <p:spPr>
          <a:xfrm>
            <a:off x="6318504" y="4570857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1" name="Text 33"/>
          <p:cNvSpPr txBox="1"/>
          <p:nvPr/>
        </p:nvSpPr>
        <p:spPr>
          <a:xfrm>
            <a:off x="6318504" y="457085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6</a:t>
            </a:r>
            <a:endParaRPr lang="ko-KR" sz="1300" dirty="0"/>
          </a:p>
        </p:txBody>
      </p:sp>
      <p:sp>
        <p:nvSpPr>
          <p:cNvPr id="42" name="Text 34"/>
          <p:cNvSpPr txBox="1"/>
          <p:nvPr/>
        </p:nvSpPr>
        <p:spPr>
          <a:xfrm>
            <a:off x="9107424" y="4570857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accent1"/>
                </a:solidFill>
              </a:rPr>
              <a:t>3.40 – 4.05초</a:t>
            </a:r>
            <a:endParaRPr lang="ko-KR" sz="1200" dirty="0"/>
          </a:p>
        </p:txBody>
      </p:sp>
      <p:sp>
        <p:nvSpPr>
          <p:cNvPr id="43" name="Text 35"/>
          <p:cNvSpPr txBox="1"/>
          <p:nvPr/>
        </p:nvSpPr>
        <p:spPr>
          <a:xfrm>
            <a:off x="9107424" y="4881753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150" dirty="0">
                <a:solidFill>
                  <a:schemeClr val="bg2"/>
                </a:solidFill>
              </a:rPr>
              <a:t>반격 2: 문 뒤에 숨었다 쾅 → 종잇장처럼 납작 → 벗겨져 팔랑</a:t>
            </a:r>
            <a:endParaRPr lang="ko-KR" sz="1150" dirty="0"/>
          </a:p>
        </p:txBody>
      </p:sp>
      <p:sp>
        <p:nvSpPr>
          <p:cNvPr id="44" name="Text 36"/>
          <p:cNvSpPr txBox="1"/>
          <p:nvPr/>
        </p:nvSpPr>
        <p:spPr>
          <a:xfrm>
            <a:off x="9107424" y="5613273"/>
            <a:ext cx="25146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고정 컷</a:t>
            </a:r>
            <a:endParaRPr lang="ko-KR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7A1B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/>
              <a:t>28</a:t>
            </a:fld>
            <a:endParaRPr lang="ko-K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sz="2800" b="1" dirty="0">
                <a:solidFill>
                  <a:schemeClr val="bg2"/>
                </a:solidFill>
              </a:rPr>
              <a:t>줴리  </a:t>
            </a:r>
            <a:pPr eaLnBrk="0" algn="l" indent="0" marL="0">
              <a:buNone/>
            </a:pPr>
            <a:r>
              <a:rPr lang="ko-KR" sz="2800" b="1" dirty="0">
                <a:solidFill>
                  <a:srgbClr val="A7A1B6"/>
                </a:solidFill>
              </a:rPr>
              <a:t>콘티 2/2</a:t>
            </a:r>
            <a:endParaRPr lang="ko-KR" sz="2800" dirty="0"/>
          </a:p>
        </p:txBody>
      </p:sp>
      <p:sp>
        <p:nvSpPr>
          <p:cNvPr id="3" name="panel_7"/>
          <p:cNvSpPr/>
          <p:nvPr/>
        </p:nvSpPr>
        <p:spPr>
          <a:xfrm>
            <a:off x="457200" y="1097280"/>
            <a:ext cx="5486400" cy="1517333"/>
          </a:xfrm>
          <a:prstGeom prst="roundRect">
            <a:avLst>
              <a:gd name="adj" fmla="val 4821"/>
            </a:avLst>
          </a:prstGeom>
          <a:solidFill>
            <a:schemeClr val="tx2"/>
          </a:solidFill>
          <a:ln/>
        </p:spPr>
      </p:sp>
      <p:pic>
        <p:nvPicPr>
          <p:cNvPr id="4" name="img_7" descr="C:\Users\user\AppData\Local\Temp\claude\C--Project-NKK-PROJECT\0415198c-3dcb-489e-9557-3945752cc25a\scratchpad\frames\jwerry\06_Chase3_4.4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2697480" cy="151733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0352" y="1170432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30352" y="1170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7</a:t>
            </a:r>
            <a:endParaRPr lang="ko-KR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3319272" y="11704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accent1"/>
                </a:solidFill>
              </a:rPr>
              <a:t>4.05 – 4.70초</a:t>
            </a:r>
            <a:endParaRPr lang="ko-KR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3319272" y="1481328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150" dirty="0">
                <a:solidFill>
                  <a:schemeClr val="bg2"/>
                </a:solidFill>
              </a:rPr>
              <a:t>추격 3 (복도): 김 뿜으며 화난 고양이가 바짝</a:t>
            </a:r>
            <a:endParaRPr lang="ko-KR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3319272" y="2212848"/>
            <a:ext cx="25146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카메라가 쥐 쪽으로 밀고 들어감</a:t>
            </a:r>
            <a:endParaRPr lang="ko-KR" sz="1000" dirty="0"/>
          </a:p>
        </p:txBody>
      </p:sp>
      <p:sp>
        <p:nvSpPr>
          <p:cNvPr id="10" name="panel_8"/>
          <p:cNvSpPr/>
          <p:nvPr/>
        </p:nvSpPr>
        <p:spPr>
          <a:xfrm>
            <a:off x="6245352" y="1097280"/>
            <a:ext cx="5486400" cy="1517333"/>
          </a:xfrm>
          <a:prstGeom prst="roundRect">
            <a:avLst>
              <a:gd name="adj" fmla="val 4821"/>
            </a:avLst>
          </a:prstGeom>
          <a:solidFill>
            <a:schemeClr val="tx2"/>
          </a:solidFill>
          <a:ln/>
        </p:spPr>
      </p:sp>
      <p:pic>
        <p:nvPicPr>
          <p:cNvPr id="11" name="img_8" descr="C:\Users\user\AppData\Local\Temp\claude\C--Project-NKK-PROJECT\0415198c-3dcb-489e-9557-3945752cc25a\scratchpad\frames\jwerry\07_Rug_5.00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097280"/>
            <a:ext cx="2697480" cy="1517333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318504" y="1170432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318504" y="1170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8</a:t>
            </a:r>
            <a:endParaRPr lang="ko-KR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9107424" y="11704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accent1"/>
                </a:solidFill>
              </a:rPr>
              <a:t>4.70 – 5.20초</a:t>
            </a:r>
            <a:endParaRPr lang="ko-KR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9107424" y="1481328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150" dirty="0">
                <a:solidFill>
                  <a:schemeClr val="bg2"/>
                </a:solidFill>
              </a:rPr>
              <a:t>반격 3: 카펫 확 당기기 → 공중제비 (책이 우수수)</a:t>
            </a:r>
            <a:endParaRPr lang="ko-KR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9107424" y="2212848"/>
            <a:ext cx="25146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카메라가 위로 따라감</a:t>
            </a:r>
            <a:endParaRPr lang="ko-KR" sz="1000" dirty="0"/>
          </a:p>
        </p:txBody>
      </p:sp>
      <p:sp>
        <p:nvSpPr>
          <p:cNvPr id="17" name="panel_9"/>
          <p:cNvSpPr/>
          <p:nvPr/>
        </p:nvSpPr>
        <p:spPr>
          <a:xfrm>
            <a:off x="457200" y="2797493"/>
            <a:ext cx="5486400" cy="1517333"/>
          </a:xfrm>
          <a:prstGeom prst="roundRect">
            <a:avLst>
              <a:gd name="adj" fmla="val 4821"/>
            </a:avLst>
          </a:prstGeom>
          <a:solidFill>
            <a:schemeClr val="tx2"/>
          </a:solidFill>
          <a:ln/>
        </p:spPr>
      </p:sp>
      <p:pic>
        <p:nvPicPr>
          <p:cNvPr id="18" name="img_9" descr="C:\Users\user\AppData\Local\Temp\claude\C--Project-NKK-PROJECT\0415198c-3dcb-489e-9557-3945752cc25a\scratchpad\frames\jwerry\08_Dash_5.56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97493"/>
            <a:ext cx="2697480" cy="1517333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30352" y="2870645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530352" y="287064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9</a:t>
            </a:r>
            <a:endParaRPr lang="ko-KR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3319272" y="2870645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accent1"/>
                </a:solidFill>
              </a:rPr>
              <a:t>5.20 – 5.80초</a:t>
            </a:r>
            <a:endParaRPr lang="ko-KR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3319272" y="3181541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150" dirty="0">
                <a:solidFill>
                  <a:schemeClr val="bg2"/>
                </a:solidFill>
              </a:rPr>
              <a:t>마지막 질주: 쥐는 쥐구멍으로 다이빙 · 고양이는 날아 덮침</a:t>
            </a:r>
            <a:endParaRPr lang="ko-KR" sz="1150" dirty="0"/>
          </a:p>
        </p:txBody>
      </p:sp>
      <p:sp>
        <p:nvSpPr>
          <p:cNvPr id="23" name="Text 18"/>
          <p:cNvSpPr txBox="1"/>
          <p:nvPr/>
        </p:nvSpPr>
        <p:spPr>
          <a:xfrm>
            <a:off x="3319272" y="3913061"/>
            <a:ext cx="25146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바닥에 붙은 로우 트래킹 → 급줌</a:t>
            </a:r>
            <a:endParaRPr lang="ko-KR" sz="1000" dirty="0"/>
          </a:p>
        </p:txBody>
      </p:sp>
      <p:sp>
        <p:nvSpPr>
          <p:cNvPr id="24" name="panel_10"/>
          <p:cNvSpPr/>
          <p:nvPr/>
        </p:nvSpPr>
        <p:spPr>
          <a:xfrm>
            <a:off x="6245352" y="2797493"/>
            <a:ext cx="5486400" cy="1517333"/>
          </a:xfrm>
          <a:prstGeom prst="roundRect">
            <a:avLst>
              <a:gd name="adj" fmla="val 4821"/>
            </a:avLst>
          </a:prstGeom>
          <a:solidFill>
            <a:schemeClr val="tx2"/>
          </a:solidFill>
          <a:ln/>
        </p:spPr>
      </p:sp>
      <p:pic>
        <p:nvPicPr>
          <p:cNvPr id="25" name="img_10" descr="C:\Users\user\AppData\Local\Temp\claude\C--Project-NKK-PROJECT\0415198c-3dcb-489e-9557-3945752cc25a\scratchpad\frames\jwerry\09_Wall_6.1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2797493"/>
            <a:ext cx="2697480" cy="1517333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6318504" y="2870645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6318504" y="287064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10</a:t>
            </a:r>
            <a:endParaRPr lang="ko-KR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9107424" y="2870645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accent1"/>
                </a:solidFill>
              </a:rPr>
              <a:t>5.80 – 6.35초</a:t>
            </a:r>
            <a:endParaRPr lang="ko-KR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9107424" y="3181541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150" dirty="0">
                <a:solidFill>
                  <a:schemeClr val="bg2"/>
                </a:solidFill>
              </a:rPr>
              <a:t>벽에 얼굴부터 쾅 (아코디언) → 주르륵 기절 (별)</a:t>
            </a:r>
            <a:endParaRPr lang="ko-KR" sz="1150" dirty="0"/>
          </a:p>
        </p:txBody>
      </p:sp>
      <p:sp>
        <p:nvSpPr>
          <p:cNvPr id="30" name="Text 24"/>
          <p:cNvSpPr txBox="1"/>
          <p:nvPr/>
        </p:nvSpPr>
        <p:spPr>
          <a:xfrm>
            <a:off x="9107424" y="3913061"/>
            <a:ext cx="25146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히트 스톱</a:t>
            </a:r>
            <a:endParaRPr lang="ko-KR" sz="1000" dirty="0"/>
          </a:p>
        </p:txBody>
      </p:sp>
      <p:sp>
        <p:nvSpPr>
          <p:cNvPr id="31" name="panel_11"/>
          <p:cNvSpPr/>
          <p:nvPr/>
        </p:nvSpPr>
        <p:spPr>
          <a:xfrm>
            <a:off x="457200" y="4497705"/>
            <a:ext cx="5486400" cy="1517333"/>
          </a:xfrm>
          <a:prstGeom prst="roundRect">
            <a:avLst>
              <a:gd name="adj" fmla="val 4821"/>
            </a:avLst>
          </a:prstGeom>
          <a:solidFill>
            <a:schemeClr val="tx2"/>
          </a:solidFill>
          <a:ln/>
        </p:spPr>
      </p:sp>
      <p:pic>
        <p:nvPicPr>
          <p:cNvPr id="32" name="img_11" descr="C:\Users\user\AppData\Local\Temp\claude\C--Project-NKK-PROJECT\0415198c-3dcb-489e-9557-3945752cc25a\scratchpad\frames\jwerry\10_Hole_7.11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497705"/>
            <a:ext cx="2697480" cy="1517333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530352" y="4570857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4" name="Text 27"/>
          <p:cNvSpPr txBox="1"/>
          <p:nvPr/>
        </p:nvSpPr>
        <p:spPr>
          <a:xfrm>
            <a:off x="530352" y="457085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11</a:t>
            </a:r>
            <a:endParaRPr lang="ko-KR" sz="1300" dirty="0"/>
          </a:p>
        </p:txBody>
      </p:sp>
      <p:sp>
        <p:nvSpPr>
          <p:cNvPr id="35" name="Text 28"/>
          <p:cNvSpPr txBox="1"/>
          <p:nvPr/>
        </p:nvSpPr>
        <p:spPr>
          <a:xfrm>
            <a:off x="3319272" y="4570857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accent1"/>
                </a:solidFill>
              </a:rPr>
              <a:t>6.35 – 7.30초</a:t>
            </a:r>
            <a:endParaRPr lang="ko-KR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3319272" y="4881753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150" dirty="0">
                <a:solidFill>
                  <a:schemeClr val="bg2"/>
                </a:solidFill>
              </a:rPr>
              <a:t>쥐구멍에서 빼꼼 → 메롱 윙크</a:t>
            </a:r>
            <a:endParaRPr lang="ko-KR" sz="1150" dirty="0"/>
          </a:p>
        </p:txBody>
      </p:sp>
      <p:sp>
        <p:nvSpPr>
          <p:cNvPr id="37" name="Text 30"/>
          <p:cNvSpPr txBox="1"/>
          <p:nvPr/>
        </p:nvSpPr>
        <p:spPr>
          <a:xfrm>
            <a:off x="3319272" y="5613273"/>
            <a:ext cx="25146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정면 고정 · 컷신 걷힘</a:t>
            </a:r>
            <a:endParaRPr lang="ko-KR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7A1B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/>
              <a:t>29</a:t>
            </a:fld>
            <a:endParaRPr lang="ko-K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sz="2800" b="1" dirty="0">
                <a:solidFill>
                  <a:schemeClr val="bg2"/>
                </a:solidFill>
              </a:rPr>
              <a:t>슈퍼 요리사 쥐  </a:t>
            </a:r>
            <a:pPr eaLnBrk="0" algn="l" indent="0" marL="0">
              <a:buNone/>
            </a:pPr>
            <a:r>
              <a:rPr lang="ko-KR" sz="2800" b="1" dirty="0">
                <a:solidFill>
                  <a:srgbClr val="FFC83D"/>
                </a:solidFill>
              </a:rPr>
              <a:t>라따뚜이 시식</a:t>
            </a:r>
            <a:endParaRPr lang="ko-KR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384048"/>
            <a:ext cx="1399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sz="1400" dirty="0">
                <a:solidFill>
                  <a:schemeClr val="accent5"/>
                </a:solidFill>
              </a:rPr>
              <a:t>11 / 16</a:t>
            </a:r>
            <a:endParaRPr lang="ko-KR" sz="1400" dirty="0"/>
          </a:p>
        </p:txBody>
      </p:sp>
      <p:pic>
        <p:nvPicPr>
          <p:cNvPr id="4" name="hero" descr="C:\Users\user\AppData\Local\Temp\claude\C--Project-NKK-PROJECT\0415198c-3dcb-489e-9557-3945752cc25a\scratchpad\frames\starchef\04_Cut5_6.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6400800" cy="360045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178040" y="1143000"/>
            <a:ext cx="45537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0000"/>
              </a:lnSpc>
              <a:buNone/>
            </a:pPr>
            <a:r>
              <a:rPr lang="ko-KR" sz="1500" b="1" dirty="0">
                <a:solidFill>
                  <a:schemeClr val="bg2"/>
                </a:solidFill>
              </a:rPr>
              <a:t>요리사가 바친 라따뚜이를 맛본 쥐가 머리 위에 올라타 머리카락을 몽땅 뜯고 브이.</a:t>
            </a:r>
            <a:endParaRPr lang="ko-KR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178040" y="21945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테이블 기술명</a:t>
            </a:r>
            <a:endParaRPr lang="ko-KR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412480" y="2194560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3스타 풀코스  (31011)</a:t>
            </a:r>
            <a:endParaRPr lang="ko-KR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178040" y="262432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컷 구성</a:t>
            </a:r>
            <a:endParaRPr lang="ko-KR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412480" y="2624328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5컷 · 패널 6장</a:t>
            </a:r>
            <a:endParaRPr lang="ko-KR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178040" y="3054096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컷신 길이</a:t>
            </a:r>
            <a:endParaRPr lang="ko-KR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412480" y="3054096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내부 6.41초 · 1배속</a:t>
            </a:r>
            <a:endParaRPr lang="ko-KR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178040" y="3483864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게임 화면</a:t>
            </a:r>
            <a:endParaRPr lang="ko-KR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412480" y="3483864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걷힘 0.3초 → 1.6초 · 대상마다 머리카락이 떨어지고 기절 별</a:t>
            </a:r>
            <a:endParaRPr lang="ko-KR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178040" y="391363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컷신 글</a:t>
            </a:r>
            <a:endParaRPr lang="ko-KR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412480" y="3913632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없음</a:t>
            </a:r>
            <a:endParaRPr lang="ko-KR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178040" y="43434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밈 · 대사</a:t>
            </a:r>
            <a:endParaRPr lang="ko-KR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8412480" y="4343400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—</a:t>
            </a:r>
            <a:endParaRPr lang="ko-KR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49743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accent5"/>
                </a:solidFill>
              </a:rPr>
              <a:t>타임라인 (컷신 내부 시간 · 게임 화면은 같은 축척)</a:t>
            </a:r>
            <a:endParaRPr lang="ko-KR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5321808"/>
            <a:ext cx="542698" cy="457200"/>
          </a:xfrm>
          <a:prstGeom prst="rect">
            <a:avLst/>
          </a:prstGeom>
          <a:solidFill>
            <a:srgbClr val="35304A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99898" y="5321808"/>
            <a:ext cx="1560257" cy="457200"/>
          </a:xfrm>
          <a:prstGeom prst="rect">
            <a:avLst/>
          </a:prstGeom>
          <a:solidFill>
            <a:srgbClr val="FFC83D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99898" y="5321808"/>
            <a:ext cx="156025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1</a:t>
            </a:r>
            <a:endParaRPr lang="ko-KR" sz="1100" dirty="0"/>
          </a:p>
        </p:txBody>
      </p:sp>
      <p:sp>
        <p:nvSpPr>
          <p:cNvPr id="22" name="Shape 19"/>
          <p:cNvSpPr/>
          <p:nvPr/>
        </p:nvSpPr>
        <p:spPr>
          <a:xfrm>
            <a:off x="2560155" y="5321808"/>
            <a:ext cx="814047" cy="457200"/>
          </a:xfrm>
          <a:prstGeom prst="rect">
            <a:avLst/>
          </a:prstGeom>
          <a:solidFill>
            <a:srgbClr val="E0AE2E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560155" y="5321808"/>
            <a:ext cx="8140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2</a:t>
            </a:r>
            <a:endParaRPr lang="ko-KR" sz="1100" dirty="0"/>
          </a:p>
        </p:txBody>
      </p:sp>
      <p:sp>
        <p:nvSpPr>
          <p:cNvPr id="24" name="Shape 21"/>
          <p:cNvSpPr/>
          <p:nvPr/>
        </p:nvSpPr>
        <p:spPr>
          <a:xfrm>
            <a:off x="3374202" y="5321808"/>
            <a:ext cx="1221071" cy="457200"/>
          </a:xfrm>
          <a:prstGeom prst="rect">
            <a:avLst/>
          </a:prstGeom>
          <a:solidFill>
            <a:srgbClr val="FFC83D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374202" y="5321808"/>
            <a:ext cx="12210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3</a:t>
            </a:r>
            <a:endParaRPr lang="ko-KR" sz="1100" dirty="0"/>
          </a:p>
        </p:txBody>
      </p:sp>
      <p:sp>
        <p:nvSpPr>
          <p:cNvPr id="26" name="Shape 23"/>
          <p:cNvSpPr/>
          <p:nvPr/>
        </p:nvSpPr>
        <p:spPr>
          <a:xfrm>
            <a:off x="4595273" y="5321808"/>
            <a:ext cx="2713490" cy="457200"/>
          </a:xfrm>
          <a:prstGeom prst="rect">
            <a:avLst/>
          </a:prstGeom>
          <a:solidFill>
            <a:srgbClr val="E0AE2E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595273" y="5321808"/>
            <a:ext cx="27134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4</a:t>
            </a:r>
            <a:endParaRPr lang="ko-KR" sz="1100" dirty="0"/>
          </a:p>
        </p:txBody>
      </p:sp>
      <p:sp>
        <p:nvSpPr>
          <p:cNvPr id="28" name="Shape 25"/>
          <p:cNvSpPr/>
          <p:nvPr/>
        </p:nvSpPr>
        <p:spPr>
          <a:xfrm>
            <a:off x="7308763" y="5321808"/>
            <a:ext cx="1845173" cy="457200"/>
          </a:xfrm>
          <a:prstGeom prst="rect">
            <a:avLst/>
          </a:prstGeom>
          <a:solidFill>
            <a:srgbClr val="FFC83D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308763" y="5321808"/>
            <a:ext cx="184517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5</a:t>
            </a:r>
            <a:endParaRPr lang="ko-KR" sz="1100" dirty="0"/>
          </a:p>
        </p:txBody>
      </p:sp>
      <p:sp>
        <p:nvSpPr>
          <p:cNvPr id="30" name="Shape 27"/>
          <p:cNvSpPr/>
          <p:nvPr/>
        </p:nvSpPr>
        <p:spPr>
          <a:xfrm>
            <a:off x="9153936" y="5321808"/>
            <a:ext cx="407024" cy="457200"/>
          </a:xfrm>
          <a:prstGeom prst="rect">
            <a:avLst/>
          </a:prstGeom>
          <a:solidFill>
            <a:srgbClr val="A7A1B6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560960" y="5321808"/>
            <a:ext cx="2170792" cy="457200"/>
          </a:xfrm>
          <a:prstGeom prst="rect">
            <a:avLst/>
          </a:prstGeom>
          <a:solidFill>
            <a:srgbClr val="6FD3C6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560960" y="5321808"/>
            <a:ext cx="2170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게임 화면</a:t>
            </a:r>
            <a:endParaRPr lang="ko-KR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457200" y="58247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0</a:t>
            </a:r>
            <a:endParaRPr lang="ko-KR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634138" y="58247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0.4</a:t>
            </a:r>
            <a:endParaRPr lang="ko-KR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8788176" y="58247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6.41</a:t>
            </a:r>
            <a:endParaRPr lang="ko-KR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11000232" y="58247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r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+1.9</a:t>
            </a:r>
            <a:endParaRPr lang="ko-KR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457200" y="614476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accent5"/>
                </a:solidFill>
              </a:rPr>
              <a:t>※ 3.05초(올라타기)부터 0.7배속이 시간에 반영됨</a:t>
            </a:r>
            <a:endParaRPr lang="ko-KR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7A1B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/>
              <a:t>30</a:t>
            </a:fld>
            <a:endParaRPr lang="ko-K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sz="2800" b="1" dirty="0">
                <a:solidFill>
                  <a:schemeClr val="bg2"/>
                </a:solidFill>
              </a:rPr>
              <a:t>슈퍼 요리사 쥐  </a:t>
            </a:r>
            <a:pPr eaLnBrk="0" algn="l" indent="0" marL="0">
              <a:buNone/>
            </a:pPr>
            <a:r>
              <a:rPr lang="ko-KR" sz="2800" b="1" dirty="0">
                <a:solidFill>
                  <a:srgbClr val="A7A1B6"/>
                </a:solidFill>
              </a:rPr>
              <a:t>콘티</a:t>
            </a:r>
            <a:endParaRPr lang="ko-KR" sz="2800" dirty="0"/>
          </a:p>
        </p:txBody>
      </p:sp>
      <p:sp>
        <p:nvSpPr>
          <p:cNvPr id="3" name="panel_1"/>
          <p:cNvSpPr/>
          <p:nvPr/>
        </p:nvSpPr>
        <p:spPr>
          <a:xfrm>
            <a:off x="457200" y="1097280"/>
            <a:ext cx="5486400" cy="1517333"/>
          </a:xfrm>
          <a:prstGeom prst="roundRect">
            <a:avLst>
              <a:gd name="adj" fmla="val 4821"/>
            </a:avLst>
          </a:prstGeom>
          <a:solidFill>
            <a:schemeClr val="tx2"/>
          </a:solidFill>
          <a:ln/>
        </p:spPr>
      </p:sp>
      <p:pic>
        <p:nvPicPr>
          <p:cNvPr id="4" name="img_1" descr="C:\Users\user\AppData\Local\Temp\claude\C--Project-NKK-PROJECT\0415198c-3dcb-489e-9557-3945752cc25a\scratchpad\frames\starchef\00_Cut1_1.3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2697480" cy="151733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0352" y="1170432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30352" y="1170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1</a:t>
            </a:r>
            <a:endParaRPr lang="ko-KR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3319272" y="11704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accent1"/>
                </a:solidFill>
              </a:rPr>
              <a:t>0.40 – 1.55초</a:t>
            </a:r>
            <a:endParaRPr lang="ko-KR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3319272" y="1481328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150" dirty="0">
                <a:solidFill>
                  <a:schemeClr val="bg2"/>
                </a:solidFill>
              </a:rPr>
              <a:t>쥐 아래 한쪽 무릎 꿇고 고개 숙인 요리사가 요리를 바침</a:t>
            </a:r>
            <a:endParaRPr lang="ko-KR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3319272" y="2212848"/>
            <a:ext cx="25146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페데스탈: 아래(요리사) → 위(카운터 위 거만한 쥐) · 앞 냄비 시차</a:t>
            </a:r>
            <a:endParaRPr lang="ko-KR" sz="1000" dirty="0"/>
          </a:p>
        </p:txBody>
      </p:sp>
      <p:sp>
        <p:nvSpPr>
          <p:cNvPr id="10" name="panel_2"/>
          <p:cNvSpPr/>
          <p:nvPr/>
        </p:nvSpPr>
        <p:spPr>
          <a:xfrm>
            <a:off x="6245352" y="1097280"/>
            <a:ext cx="5486400" cy="1517333"/>
          </a:xfrm>
          <a:prstGeom prst="roundRect">
            <a:avLst>
              <a:gd name="adj" fmla="val 4821"/>
            </a:avLst>
          </a:prstGeom>
          <a:solidFill>
            <a:schemeClr val="tx2"/>
          </a:solidFill>
          <a:ln/>
        </p:spPr>
      </p:sp>
      <p:pic>
        <p:nvPicPr>
          <p:cNvPr id="11" name="img_2" descr="C:\Users\user\AppData\Local\Temp\claude\C--Project-NKK-PROJECT\0415198c-3dcb-489e-9557-3945752cc25a\scratchpad\frames\starchef\01_Cut2_1.9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097280"/>
            <a:ext cx="2697480" cy="1517333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318504" y="1170432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318504" y="1170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2</a:t>
            </a:r>
            <a:endParaRPr lang="ko-KR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9107424" y="11704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accent1"/>
                </a:solidFill>
              </a:rPr>
              <a:t>1.55 – 2.15초</a:t>
            </a:r>
            <a:endParaRPr lang="ko-KR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9107424" y="1481328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150" dirty="0">
                <a:solidFill>
                  <a:schemeClr val="bg2"/>
                </a:solidFill>
              </a:rPr>
              <a:t>벌벌 떨리는 손 위 라따뚜이</a:t>
            </a:r>
            <a:endParaRPr lang="ko-KR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9107424" y="2212848"/>
            <a:ext cx="25146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①과 같은 측면 시점 · 배경 고정, 손 · 접시만 떨림 · 천천히 다가감</a:t>
            </a:r>
            <a:endParaRPr lang="ko-KR" sz="1000" dirty="0"/>
          </a:p>
        </p:txBody>
      </p:sp>
      <p:sp>
        <p:nvSpPr>
          <p:cNvPr id="17" name="panel_3"/>
          <p:cNvSpPr/>
          <p:nvPr/>
        </p:nvSpPr>
        <p:spPr>
          <a:xfrm>
            <a:off x="457200" y="2797493"/>
            <a:ext cx="5486400" cy="1517333"/>
          </a:xfrm>
          <a:prstGeom prst="roundRect">
            <a:avLst>
              <a:gd name="adj" fmla="val 4821"/>
            </a:avLst>
          </a:prstGeom>
          <a:solidFill>
            <a:schemeClr val="tx2"/>
          </a:solidFill>
          <a:ln/>
        </p:spPr>
      </p:sp>
      <p:pic>
        <p:nvPicPr>
          <p:cNvPr id="18" name="img_3" descr="C:\Users\user\AppData\Local\Temp\claude\C--Project-NKK-PROJECT\0415198c-3dcb-489e-9557-3945752cc25a\scratchpad\frames\starchef\02_Cut3_2.69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97493"/>
            <a:ext cx="2697480" cy="1517333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30352" y="2870645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530352" y="287064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3</a:t>
            </a:r>
            <a:endParaRPr lang="ko-KR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3319272" y="2870645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accent1"/>
                </a:solidFill>
              </a:rPr>
              <a:t>2.15 – 3.05초</a:t>
            </a:r>
            <a:endParaRPr lang="ko-KR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3319272" y="3181541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150" dirty="0">
                <a:solidFill>
                  <a:schemeClr val="bg2"/>
                </a:solidFill>
              </a:rPr>
              <a:t>눈 감은 쥐가 손가락으로 찍어 맛봄 → 눈 번쩍</a:t>
            </a:r>
            <a:endParaRPr lang="ko-KR" sz="1150" dirty="0"/>
          </a:p>
        </p:txBody>
      </p:sp>
      <p:sp>
        <p:nvSpPr>
          <p:cNvPr id="23" name="Text 18"/>
          <p:cNvSpPr txBox="1"/>
          <p:nvPr/>
        </p:nvSpPr>
        <p:spPr>
          <a:xfrm>
            <a:off x="3319272" y="3913061"/>
            <a:ext cx="25146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얼굴로 급줌</a:t>
            </a:r>
            <a:endParaRPr lang="ko-KR" sz="1000" dirty="0"/>
          </a:p>
        </p:txBody>
      </p:sp>
      <p:sp>
        <p:nvSpPr>
          <p:cNvPr id="24" name="panel_4-1"/>
          <p:cNvSpPr/>
          <p:nvPr/>
        </p:nvSpPr>
        <p:spPr>
          <a:xfrm>
            <a:off x="6245352" y="2797493"/>
            <a:ext cx="5486400" cy="1517333"/>
          </a:xfrm>
          <a:prstGeom prst="roundRect">
            <a:avLst>
              <a:gd name="adj" fmla="val 4821"/>
            </a:avLst>
          </a:prstGeom>
          <a:solidFill>
            <a:schemeClr val="tx2"/>
          </a:solidFill>
          <a:ln/>
        </p:spPr>
      </p:sp>
      <p:pic>
        <p:nvPicPr>
          <p:cNvPr id="25" name="img_4-1" descr="C:\Users\user\AppData\Local\Temp\claude\C--Project-NKK-PROJECT\0415198c-3dcb-489e-9557-3945752cc25a\scratchpad\frames\starchef\03_Cut4_3.65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2797493"/>
            <a:ext cx="2697480" cy="1517333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6318504" y="2870645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6318504" y="287064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000" b="1" dirty="0">
                <a:solidFill>
                  <a:schemeClr val="tx1"/>
                </a:solidFill>
              </a:rPr>
              <a:t>4-1</a:t>
            </a:r>
            <a:endParaRPr lang="ko-KR" sz="1000" dirty="0"/>
          </a:p>
        </p:txBody>
      </p:sp>
      <p:sp>
        <p:nvSpPr>
          <p:cNvPr id="28" name="Text 22"/>
          <p:cNvSpPr txBox="1"/>
          <p:nvPr/>
        </p:nvSpPr>
        <p:spPr>
          <a:xfrm>
            <a:off x="9107424" y="2870645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accent1"/>
                </a:solidFill>
              </a:rPr>
              <a:t>3.05 – 5.05초</a:t>
            </a:r>
            <a:endParaRPr lang="ko-KR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9107424" y="3181541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150" dirty="0">
                <a:solidFill>
                  <a:schemeClr val="bg2"/>
                </a:solidFill>
              </a:rPr>
              <a:t>딱 컷 → 블러 쥐가 왼쪽 아래 → 오른쪽 위로 휙 → 한 박자 → 머리 위에 착지 쾅 → 놀란 얼굴</a:t>
            </a:r>
            <a:endParaRPr lang="ko-KR" sz="1150" dirty="0"/>
          </a:p>
        </p:txBody>
      </p:sp>
      <p:sp>
        <p:nvSpPr>
          <p:cNvPr id="30" name="Text 24"/>
          <p:cNvSpPr txBox="1"/>
          <p:nvPr/>
        </p:nvSpPr>
        <p:spPr>
          <a:xfrm>
            <a:off x="9107424" y="3913061"/>
            <a:ext cx="25146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여기부터 0.7배속</a:t>
            </a:r>
            <a:endParaRPr lang="ko-KR" sz="1000" dirty="0"/>
          </a:p>
        </p:txBody>
      </p:sp>
      <p:sp>
        <p:nvSpPr>
          <p:cNvPr id="31" name="panel_4-2"/>
          <p:cNvSpPr/>
          <p:nvPr/>
        </p:nvSpPr>
        <p:spPr>
          <a:xfrm>
            <a:off x="457200" y="4497705"/>
            <a:ext cx="5486400" cy="1517333"/>
          </a:xfrm>
          <a:prstGeom prst="roundRect">
            <a:avLst>
              <a:gd name="adj" fmla="val 4821"/>
            </a:avLst>
          </a:prstGeom>
          <a:solidFill>
            <a:schemeClr val="tx2"/>
          </a:solidFill>
          <a:ln/>
        </p:spPr>
      </p:sp>
      <p:pic>
        <p:nvPicPr>
          <p:cNvPr id="32" name="img_4-2" descr="C:\Users\user\AppData\Local\Temp\claude\C--Project-NKK-PROJECT\0415198c-3dcb-489e-9557-3945752cc25a\scratchpad\frames\starchef\03_Cut4_4.65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497705"/>
            <a:ext cx="2697480" cy="1517333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530352" y="4570857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4" name="Text 27"/>
          <p:cNvSpPr txBox="1"/>
          <p:nvPr/>
        </p:nvSpPr>
        <p:spPr>
          <a:xfrm>
            <a:off x="530352" y="457085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000" b="1" dirty="0">
                <a:solidFill>
                  <a:schemeClr val="tx1"/>
                </a:solidFill>
              </a:rPr>
              <a:t>4-2</a:t>
            </a:r>
            <a:endParaRPr lang="ko-KR" sz="1000" dirty="0"/>
          </a:p>
        </p:txBody>
      </p:sp>
      <p:sp>
        <p:nvSpPr>
          <p:cNvPr id="35" name="Text 28"/>
          <p:cNvSpPr txBox="1"/>
          <p:nvPr/>
        </p:nvSpPr>
        <p:spPr>
          <a:xfrm>
            <a:off x="3319272" y="4570857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accent1"/>
                </a:solidFill>
              </a:rPr>
              <a:t>3.05 – 5.05초</a:t>
            </a:r>
            <a:endParaRPr lang="ko-KR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3319272" y="4881753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150" dirty="0">
                <a:solidFill>
                  <a:schemeClr val="bg2"/>
                </a:solidFill>
              </a:rPr>
              <a:t>머리카락을 마구 뜯음 → 대머리</a:t>
            </a:r>
            <a:endParaRPr lang="ko-KR" sz="1150" dirty="0"/>
          </a:p>
        </p:txBody>
      </p:sp>
      <p:sp>
        <p:nvSpPr>
          <p:cNvPr id="37" name="Text 30"/>
          <p:cNvSpPr txBox="1"/>
          <p:nvPr/>
        </p:nvSpPr>
        <p:spPr>
          <a:xfrm>
            <a:off x="3319272" y="5613273"/>
            <a:ext cx="25146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같은 틀 연속 프레임</a:t>
            </a:r>
            <a:endParaRPr lang="ko-KR" sz="1000" dirty="0"/>
          </a:p>
        </p:txBody>
      </p:sp>
      <p:sp>
        <p:nvSpPr>
          <p:cNvPr id="38" name="panel_5"/>
          <p:cNvSpPr/>
          <p:nvPr/>
        </p:nvSpPr>
        <p:spPr>
          <a:xfrm>
            <a:off x="6245352" y="4497705"/>
            <a:ext cx="5486400" cy="1517333"/>
          </a:xfrm>
          <a:prstGeom prst="roundRect">
            <a:avLst>
              <a:gd name="adj" fmla="val 4821"/>
            </a:avLst>
          </a:prstGeom>
          <a:solidFill>
            <a:schemeClr val="tx2"/>
          </a:solidFill>
          <a:ln/>
        </p:spPr>
      </p:sp>
      <p:pic>
        <p:nvPicPr>
          <p:cNvPr id="39" name="img_5" descr="C:\Users\user\AppData\Local\Temp\claude\C--Project-NKK-PROJECT\0415198c-3dcb-489e-9557-3945752cc25a\scratchpad\frames\starchef\04_Cut5_6.14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5352" y="4497705"/>
            <a:ext cx="2697480" cy="1517333"/>
          </a:xfrm>
          <a:prstGeom prst="rect">
            <a:avLst/>
          </a:prstGeom>
        </p:spPr>
      </p:pic>
      <p:sp>
        <p:nvSpPr>
          <p:cNvPr id="40" name="Shape 32"/>
          <p:cNvSpPr/>
          <p:nvPr/>
        </p:nvSpPr>
        <p:spPr>
          <a:xfrm>
            <a:off x="6318504" y="4570857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1" name="Text 33"/>
          <p:cNvSpPr txBox="1"/>
          <p:nvPr/>
        </p:nvSpPr>
        <p:spPr>
          <a:xfrm>
            <a:off x="6318504" y="457085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5</a:t>
            </a:r>
            <a:endParaRPr lang="ko-KR" sz="1300" dirty="0"/>
          </a:p>
        </p:txBody>
      </p:sp>
      <p:sp>
        <p:nvSpPr>
          <p:cNvPr id="42" name="Text 34"/>
          <p:cNvSpPr txBox="1"/>
          <p:nvPr/>
        </p:nvSpPr>
        <p:spPr>
          <a:xfrm>
            <a:off x="9107424" y="4570857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accent1"/>
                </a:solidFill>
              </a:rPr>
              <a:t>5.05 – 6.41초</a:t>
            </a:r>
            <a:endParaRPr lang="ko-KR" sz="1200" dirty="0"/>
          </a:p>
        </p:txBody>
      </p:sp>
      <p:sp>
        <p:nvSpPr>
          <p:cNvPr id="43" name="Text 35"/>
          <p:cNvSpPr txBox="1"/>
          <p:nvPr/>
        </p:nvSpPr>
        <p:spPr>
          <a:xfrm>
            <a:off x="9107424" y="4881753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150" dirty="0">
                <a:solidFill>
                  <a:schemeClr val="bg2"/>
                </a:solidFill>
              </a:rPr>
              <a:t>기절한 사람 위에서 브이</a:t>
            </a:r>
            <a:endParaRPr lang="ko-KR" sz="1150" dirty="0"/>
          </a:p>
        </p:txBody>
      </p:sp>
      <p:sp>
        <p:nvSpPr>
          <p:cNvPr id="44" name="Text 36"/>
          <p:cNvSpPr txBox="1"/>
          <p:nvPr/>
        </p:nvSpPr>
        <p:spPr>
          <a:xfrm>
            <a:off x="9107424" y="5613273"/>
            <a:ext cx="25146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로우 앵글: 아래에서 확 들이밀며 기울기 → 멈춤</a:t>
            </a:r>
            <a:endParaRPr lang="ko-KR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7A1B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/>
              <a:t>31</a:t>
            </a:fld>
            <a:endParaRPr lang="ko-K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sz="2800" b="1" dirty="0">
                <a:solidFill>
                  <a:schemeClr val="bg2"/>
                </a:solidFill>
              </a:rPr>
              <a:t>찍찍 탐정  </a:t>
            </a:r>
            <a:pPr eaLnBrk="0" algn="l" indent="0" marL="0">
              <a:buNone/>
            </a:pPr>
            <a:r>
              <a:rPr lang="ko-KR" sz="2800" b="1" dirty="0">
                <a:solidFill>
                  <a:srgbClr val="FFC83D"/>
                </a:solidFill>
              </a:rPr>
              <a:t>범인은 바로 너야!</a:t>
            </a:r>
            <a:endParaRPr lang="ko-KR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384048"/>
            <a:ext cx="1399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sz="1400" dirty="0">
                <a:solidFill>
                  <a:schemeClr val="accent5"/>
                </a:solidFill>
              </a:rPr>
              <a:t>12 / 16</a:t>
            </a:r>
            <a:endParaRPr lang="ko-KR" sz="1400" dirty="0"/>
          </a:p>
        </p:txBody>
      </p:sp>
      <p:pic>
        <p:nvPicPr>
          <p:cNvPr id="4" name="hero" descr="C:\Users\user\AppData\Local\Temp\claude\C--Project-NKK-PROJECT\0415198c-3dcb-489e-9557-3945752cc25a\scratchpad\frames\jjdetective\05_Point_3.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6400800" cy="360045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178040" y="1143000"/>
            <a:ext cx="45537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0000"/>
              </a:lnSpc>
              <a:buNone/>
            </a:pPr>
            <a:r>
              <a:rPr lang="ko-KR" sz="1500" b="1" dirty="0">
                <a:solidFill>
                  <a:schemeClr val="bg2"/>
                </a:solidFill>
              </a:rPr>
              <a:t>털린 치즈 가게에서 단서를 모아 추리 → 범인 고양이를 지목하고 손목시계 마취총으로 잡는다.</a:t>
            </a:r>
            <a:endParaRPr lang="ko-KR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178040" y="21945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테이블 기술명</a:t>
            </a:r>
            <a:endParaRPr lang="ko-KR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412480" y="2194560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사건 종결  (31012)</a:t>
            </a:r>
            <a:endParaRPr lang="ko-KR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178040" y="262432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컷 구성</a:t>
            </a:r>
            <a:endParaRPr lang="ko-KR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412480" y="2624328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7컷 · 패널 8장</a:t>
            </a:r>
            <a:endParaRPr lang="ko-KR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178040" y="3054096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컷신 길이</a:t>
            </a:r>
            <a:endParaRPr lang="ko-KR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412480" y="3054096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내부 6.70초 · 1배속</a:t>
            </a:r>
            <a:endParaRPr lang="ko-KR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178040" y="3483864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게임 화면</a:t>
            </a:r>
            <a:endParaRPr lang="ko-KR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412480" y="3483864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걷힘 0.3초 → 2초 · 마취침이 대상마다 꽂혀 기절 별</a:t>
            </a:r>
            <a:endParaRPr lang="ko-KR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178040" y="391363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컷신 글</a:t>
            </a:r>
            <a:endParaRPr lang="ko-KR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412480" y="3913632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대사 2줄만</a:t>
            </a:r>
            <a:endParaRPr lang="ko-KR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178040" y="43434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밈 · 대사</a:t>
            </a:r>
            <a:endParaRPr lang="ko-KR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8412480" y="4343400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"범인은 바로 너야!" · "사건 해결!"</a:t>
            </a:r>
            <a:endParaRPr lang="ko-KR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49743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accent5"/>
                </a:solidFill>
              </a:rPr>
              <a:t>타임라인 (컷신 내부 시간 · 게임 화면은 같은 축척)</a:t>
            </a:r>
            <a:endParaRPr lang="ko-KR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5321808"/>
            <a:ext cx="501091" cy="457200"/>
          </a:xfrm>
          <a:prstGeom prst="rect">
            <a:avLst/>
          </a:prstGeom>
          <a:solidFill>
            <a:srgbClr val="35304A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58291" y="5321808"/>
            <a:ext cx="1628546" cy="457200"/>
          </a:xfrm>
          <a:prstGeom prst="rect">
            <a:avLst/>
          </a:prstGeom>
          <a:solidFill>
            <a:srgbClr val="FFC83D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58291" y="5321808"/>
            <a:ext cx="16285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1</a:t>
            </a:r>
            <a:endParaRPr lang="ko-KR" sz="1100" dirty="0"/>
          </a:p>
        </p:txBody>
      </p:sp>
      <p:sp>
        <p:nvSpPr>
          <p:cNvPr id="22" name="Shape 19"/>
          <p:cNvSpPr/>
          <p:nvPr/>
        </p:nvSpPr>
        <p:spPr>
          <a:xfrm>
            <a:off x="2586838" y="5321808"/>
            <a:ext cx="1352946" cy="457200"/>
          </a:xfrm>
          <a:prstGeom prst="rect">
            <a:avLst/>
          </a:prstGeom>
          <a:solidFill>
            <a:srgbClr val="E0AE2E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586838" y="5321808"/>
            <a:ext cx="13529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2</a:t>
            </a:r>
            <a:endParaRPr lang="ko-KR" sz="1100" dirty="0"/>
          </a:p>
        </p:txBody>
      </p:sp>
      <p:sp>
        <p:nvSpPr>
          <p:cNvPr id="24" name="Shape 21"/>
          <p:cNvSpPr/>
          <p:nvPr/>
        </p:nvSpPr>
        <p:spPr>
          <a:xfrm>
            <a:off x="3939784" y="5321808"/>
            <a:ext cx="776691" cy="457200"/>
          </a:xfrm>
          <a:prstGeom prst="rect">
            <a:avLst/>
          </a:prstGeom>
          <a:solidFill>
            <a:srgbClr val="FFC83D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939784" y="5321808"/>
            <a:ext cx="7766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3</a:t>
            </a:r>
            <a:endParaRPr lang="ko-KR" sz="1100" dirty="0"/>
          </a:p>
        </p:txBody>
      </p:sp>
      <p:sp>
        <p:nvSpPr>
          <p:cNvPr id="26" name="Shape 23"/>
          <p:cNvSpPr/>
          <p:nvPr/>
        </p:nvSpPr>
        <p:spPr>
          <a:xfrm>
            <a:off x="4716475" y="5321808"/>
            <a:ext cx="726582" cy="457200"/>
          </a:xfrm>
          <a:prstGeom prst="rect">
            <a:avLst/>
          </a:prstGeom>
          <a:solidFill>
            <a:srgbClr val="E0AE2E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716475" y="5321808"/>
            <a:ext cx="7265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4</a:t>
            </a:r>
            <a:endParaRPr lang="ko-KR" sz="1100" dirty="0"/>
          </a:p>
        </p:txBody>
      </p:sp>
      <p:sp>
        <p:nvSpPr>
          <p:cNvPr id="28" name="Shape 25"/>
          <p:cNvSpPr/>
          <p:nvPr/>
        </p:nvSpPr>
        <p:spPr>
          <a:xfrm>
            <a:off x="5443057" y="5321808"/>
            <a:ext cx="851855" cy="457200"/>
          </a:xfrm>
          <a:prstGeom prst="rect">
            <a:avLst/>
          </a:prstGeom>
          <a:solidFill>
            <a:srgbClr val="FFC83D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443057" y="5321808"/>
            <a:ext cx="851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5</a:t>
            </a:r>
            <a:endParaRPr lang="ko-KR" sz="1100" dirty="0"/>
          </a:p>
        </p:txBody>
      </p:sp>
      <p:sp>
        <p:nvSpPr>
          <p:cNvPr id="30" name="Shape 27"/>
          <p:cNvSpPr/>
          <p:nvPr/>
        </p:nvSpPr>
        <p:spPr>
          <a:xfrm>
            <a:off x="6294912" y="5321808"/>
            <a:ext cx="1052292" cy="457200"/>
          </a:xfrm>
          <a:prstGeom prst="rect">
            <a:avLst/>
          </a:prstGeom>
          <a:solidFill>
            <a:srgbClr val="E0AE2E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294912" y="5321808"/>
            <a:ext cx="10522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6</a:t>
            </a:r>
            <a:endParaRPr lang="ko-KR" sz="1100" dirty="0"/>
          </a:p>
        </p:txBody>
      </p:sp>
      <p:sp>
        <p:nvSpPr>
          <p:cNvPr id="32" name="Shape 29"/>
          <p:cNvSpPr/>
          <p:nvPr/>
        </p:nvSpPr>
        <p:spPr>
          <a:xfrm>
            <a:off x="7347204" y="5321808"/>
            <a:ext cx="1503274" cy="457200"/>
          </a:xfrm>
          <a:prstGeom prst="rect">
            <a:avLst/>
          </a:prstGeom>
          <a:solidFill>
            <a:srgbClr val="FFC83D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347204" y="5321808"/>
            <a:ext cx="15032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7</a:t>
            </a:r>
            <a:endParaRPr lang="ko-KR" sz="1100" dirty="0"/>
          </a:p>
        </p:txBody>
      </p:sp>
      <p:sp>
        <p:nvSpPr>
          <p:cNvPr id="34" name="Shape 31"/>
          <p:cNvSpPr/>
          <p:nvPr/>
        </p:nvSpPr>
        <p:spPr>
          <a:xfrm>
            <a:off x="8850478" y="5321808"/>
            <a:ext cx="375818" cy="457200"/>
          </a:xfrm>
          <a:prstGeom prst="rect">
            <a:avLst/>
          </a:prstGeom>
          <a:solidFill>
            <a:srgbClr val="A7A1B6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9226296" y="5321808"/>
            <a:ext cx="2505456" cy="457200"/>
          </a:xfrm>
          <a:prstGeom prst="rect">
            <a:avLst/>
          </a:prstGeom>
          <a:solidFill>
            <a:srgbClr val="6FD3C6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9226296" y="5321808"/>
            <a:ext cx="2505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게임 화면</a:t>
            </a:r>
            <a:endParaRPr lang="ko-KR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457200" y="58247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0</a:t>
            </a:r>
            <a:endParaRPr lang="ko-KR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592531" y="58247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0.4</a:t>
            </a:r>
            <a:endParaRPr lang="ko-KR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8484718" y="58247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6.70</a:t>
            </a:r>
            <a:endParaRPr lang="ko-KR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11000232" y="58247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r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+2.3</a:t>
            </a:r>
            <a:endParaRPr lang="ko-KR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7A1B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/>
              <a:t>32</a:t>
            </a:fld>
            <a:endParaRPr lang="ko-K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sz="2800" b="1" dirty="0">
                <a:solidFill>
                  <a:schemeClr val="bg2"/>
                </a:solidFill>
              </a:rPr>
              <a:t>찍찍 탐정  </a:t>
            </a:r>
            <a:pPr eaLnBrk="0" algn="l" indent="0" marL="0">
              <a:buNone/>
            </a:pPr>
            <a:r>
              <a:rPr lang="ko-KR" sz="2800" b="1" dirty="0">
                <a:solidFill>
                  <a:srgbClr val="A7A1B6"/>
                </a:solidFill>
              </a:rPr>
              <a:t>콘티</a:t>
            </a:r>
            <a:endParaRPr lang="ko-KR" sz="2800" dirty="0"/>
          </a:p>
        </p:txBody>
      </p:sp>
      <p:sp>
        <p:nvSpPr>
          <p:cNvPr id="3" name="panel_1-1"/>
          <p:cNvSpPr/>
          <p:nvPr/>
        </p:nvSpPr>
        <p:spPr>
          <a:xfrm>
            <a:off x="457200" y="1024128"/>
            <a:ext cx="5486400" cy="1183005"/>
          </a:xfrm>
          <a:prstGeom prst="roundRect">
            <a:avLst>
              <a:gd name="adj" fmla="val 6184"/>
            </a:avLst>
          </a:prstGeom>
          <a:solidFill>
            <a:schemeClr val="tx2"/>
          </a:solidFill>
          <a:ln/>
        </p:spPr>
      </p:sp>
      <p:pic>
        <p:nvPicPr>
          <p:cNvPr id="4" name="img_1-1" descr="C:\Users\user\AppData\Local\Temp\claude\C--Project-NKK-PROJECT\0415198c-3dcb-489e-9557-3945752cc25a\scratchpad\frames\jjdetective\00_Clue0_0.5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24128"/>
            <a:ext cx="2103120" cy="11830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0352" y="109728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30352" y="1097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000" b="1" dirty="0">
                <a:solidFill>
                  <a:schemeClr val="tx1"/>
                </a:solidFill>
              </a:rPr>
              <a:t>1-1</a:t>
            </a:r>
            <a:endParaRPr lang="ko-KR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24912" y="10972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1"/>
                </a:solidFill>
              </a:rPr>
              <a:t>0.40 – 1.70초</a:t>
            </a:r>
            <a:endParaRPr lang="ko-KR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2724912" y="1353312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050" dirty="0">
                <a:solidFill>
                  <a:schemeClr val="bg2"/>
                </a:solidFill>
              </a:rPr>
              <a:t>단서 조사 몽타주 4컷: 고양이 발자국 · 할퀸 창틀 · 고양이 털 · 생선 뼈</a:t>
            </a:r>
            <a:endParaRPr lang="ko-KR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2724912" y="1847088"/>
            <a:ext cx="3108960" cy="323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컷마다 다른 카메라 흐름 · 찾는 순간 돋보기 고리 · 반짝</a:t>
            </a:r>
            <a:endParaRPr lang="ko-KR" sz="1000" dirty="0"/>
          </a:p>
        </p:txBody>
      </p:sp>
      <p:sp>
        <p:nvSpPr>
          <p:cNvPr id="10" name="panel_1-2"/>
          <p:cNvSpPr/>
          <p:nvPr/>
        </p:nvSpPr>
        <p:spPr>
          <a:xfrm>
            <a:off x="6245352" y="1024128"/>
            <a:ext cx="5486400" cy="1183005"/>
          </a:xfrm>
          <a:prstGeom prst="roundRect">
            <a:avLst>
              <a:gd name="adj" fmla="val 6184"/>
            </a:avLst>
          </a:prstGeom>
          <a:solidFill>
            <a:schemeClr val="tx2"/>
          </a:solidFill>
          <a:ln/>
        </p:spPr>
      </p:sp>
      <p:pic>
        <p:nvPicPr>
          <p:cNvPr id="11" name="img_1-2" descr="C:\Users\user\AppData\Local\Temp\claude\C--Project-NKK-PROJECT\0415198c-3dcb-489e-9557-3945752cc25a\scratchpad\frames\jjdetective\03_Clue3_1.56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024128"/>
            <a:ext cx="2103120" cy="118300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318504" y="109728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318504" y="1097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000" b="1" dirty="0">
                <a:solidFill>
                  <a:schemeClr val="tx1"/>
                </a:solidFill>
              </a:rPr>
              <a:t>1-2</a:t>
            </a:r>
            <a:endParaRPr lang="ko-KR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8513064" y="10972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1"/>
                </a:solidFill>
              </a:rPr>
              <a:t>0.40 – 1.70초</a:t>
            </a:r>
            <a:endParaRPr lang="ko-KR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8513064" y="1353312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050" dirty="0">
                <a:solidFill>
                  <a:schemeClr val="bg2"/>
                </a:solidFill>
              </a:rPr>
              <a:t>찾은 단서 아이콘이 왼쪽 위 수첩 줄로 날아가 쌓임</a:t>
            </a:r>
            <a:endParaRPr lang="ko-KR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8513064" y="1847088"/>
            <a:ext cx="3108960" cy="323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수첩 줄은 컷이 바뀌어도 남음</a:t>
            </a:r>
            <a:endParaRPr lang="ko-KR" sz="1000" dirty="0"/>
          </a:p>
        </p:txBody>
      </p:sp>
      <p:sp>
        <p:nvSpPr>
          <p:cNvPr id="17" name="panel_2"/>
          <p:cNvSpPr/>
          <p:nvPr/>
        </p:nvSpPr>
        <p:spPr>
          <a:xfrm>
            <a:off x="457200" y="2316861"/>
            <a:ext cx="5486400" cy="1183005"/>
          </a:xfrm>
          <a:prstGeom prst="roundRect">
            <a:avLst>
              <a:gd name="adj" fmla="val 6184"/>
            </a:avLst>
          </a:prstGeom>
          <a:solidFill>
            <a:schemeClr val="tx2"/>
          </a:solidFill>
          <a:ln/>
        </p:spPr>
      </p:sp>
      <p:pic>
        <p:nvPicPr>
          <p:cNvPr id="18" name="img_2" descr="C:\Users\user\AppData\Local\Temp\claude\C--Project-NKK-PROJECT\0415198c-3dcb-489e-9557-3945752cc25a\scratchpad\frames\jjdetective\04_Think_2.0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16861"/>
            <a:ext cx="2103120" cy="1183005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30352" y="2390013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530352" y="2390013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2</a:t>
            </a:r>
            <a:endParaRPr lang="ko-KR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2724912" y="2390013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1"/>
                </a:solidFill>
              </a:rPr>
              <a:t>1.70 – 2.78초</a:t>
            </a:r>
            <a:endParaRPr lang="ko-KR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2724912" y="2646045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050" dirty="0">
                <a:solidFill>
                  <a:schemeClr val="bg2"/>
                </a:solidFill>
              </a:rPr>
              <a:t>모은 단서가 머리 둘레를 돌며 골똘히 생각 → 머리로 빨려 들고 전구 · 안경 번쩍</a:t>
            </a:r>
            <a:endParaRPr lang="ko-KR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2724912" y="3139821"/>
            <a:ext cx="3108960" cy="323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천천히 다가감</a:t>
            </a:r>
            <a:endParaRPr lang="ko-KR" sz="1000" dirty="0"/>
          </a:p>
        </p:txBody>
      </p:sp>
      <p:sp>
        <p:nvSpPr>
          <p:cNvPr id="24" name="panel_3"/>
          <p:cNvSpPr/>
          <p:nvPr/>
        </p:nvSpPr>
        <p:spPr>
          <a:xfrm>
            <a:off x="6245352" y="2316861"/>
            <a:ext cx="5486400" cy="1183005"/>
          </a:xfrm>
          <a:prstGeom prst="roundRect">
            <a:avLst>
              <a:gd name="adj" fmla="val 6184"/>
            </a:avLst>
          </a:prstGeom>
          <a:solidFill>
            <a:schemeClr val="tx2"/>
          </a:solidFill>
          <a:ln/>
        </p:spPr>
      </p:sp>
      <p:pic>
        <p:nvPicPr>
          <p:cNvPr id="25" name="img_3" descr="C:\Users\user\AppData\Local\Temp\claude\C--Project-NKK-PROJECT\0415198c-3dcb-489e-9557-3945752cc25a\scratchpad\frames\jjdetective\05_Point_3.15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2316861"/>
            <a:ext cx="2103120" cy="1183005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6318504" y="2390013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6318504" y="2390013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3</a:t>
            </a:r>
            <a:endParaRPr lang="ko-KR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8513064" y="2390013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1"/>
                </a:solidFill>
              </a:rPr>
              <a:t>2.78 – 3.40초</a:t>
            </a:r>
            <a:endParaRPr lang="ko-KR" sz="1100" dirty="0"/>
          </a:p>
        </p:txBody>
      </p:sp>
      <p:sp>
        <p:nvSpPr>
          <p:cNvPr id="29" name="Text 23"/>
          <p:cNvSpPr txBox="1"/>
          <p:nvPr/>
        </p:nvSpPr>
        <p:spPr>
          <a:xfrm>
            <a:off x="8513064" y="2646045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050" dirty="0">
                <a:solidFill>
                  <a:schemeClr val="bg2"/>
                </a:solidFill>
              </a:rPr>
              <a:t>지목 "범인은 바로 너야!" (대사가 쾅 찍힘)</a:t>
            </a:r>
            <a:endParaRPr lang="ko-KR" sz="1050" dirty="0"/>
          </a:p>
        </p:txBody>
      </p:sp>
      <p:sp>
        <p:nvSpPr>
          <p:cNvPr id="30" name="Text 24"/>
          <p:cNvSpPr txBox="1"/>
          <p:nvPr/>
        </p:nvSpPr>
        <p:spPr>
          <a:xfrm>
            <a:off x="8513064" y="3139821"/>
            <a:ext cx="3108960" cy="323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손가락이 화면 오른쪽 = 다음 컷 고양이</a:t>
            </a:r>
            <a:endParaRPr lang="ko-KR" sz="1000" dirty="0"/>
          </a:p>
        </p:txBody>
      </p:sp>
      <p:sp>
        <p:nvSpPr>
          <p:cNvPr id="31" name="panel_4"/>
          <p:cNvSpPr/>
          <p:nvPr/>
        </p:nvSpPr>
        <p:spPr>
          <a:xfrm>
            <a:off x="457200" y="3609594"/>
            <a:ext cx="5486400" cy="1183005"/>
          </a:xfrm>
          <a:prstGeom prst="roundRect">
            <a:avLst>
              <a:gd name="adj" fmla="val 6184"/>
            </a:avLst>
          </a:prstGeom>
          <a:solidFill>
            <a:schemeClr val="tx2"/>
          </a:solidFill>
          <a:ln/>
        </p:spPr>
      </p:sp>
      <p:pic>
        <p:nvPicPr>
          <p:cNvPr id="32" name="img_4" descr="C:\Users\user\AppData\Local\Temp\claude\C--Project-NKK-PROJECT\0415198c-3dcb-489e-9557-3945752cc25a\scratchpad\frames\jjdetective\06_Culprit_3.75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609594"/>
            <a:ext cx="2103120" cy="1183005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530352" y="3682746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4" name="Text 27"/>
          <p:cNvSpPr txBox="1"/>
          <p:nvPr/>
        </p:nvSpPr>
        <p:spPr>
          <a:xfrm>
            <a:off x="530352" y="368274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4</a:t>
            </a:r>
            <a:endParaRPr lang="ko-KR" sz="1300" dirty="0"/>
          </a:p>
        </p:txBody>
      </p:sp>
      <p:sp>
        <p:nvSpPr>
          <p:cNvPr id="35" name="Text 28"/>
          <p:cNvSpPr txBox="1"/>
          <p:nvPr/>
        </p:nvSpPr>
        <p:spPr>
          <a:xfrm>
            <a:off x="2724912" y="368274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1"/>
                </a:solidFill>
              </a:rPr>
              <a:t>3.40 – 3.98초</a:t>
            </a:r>
            <a:endParaRPr lang="ko-KR" sz="1100" dirty="0"/>
          </a:p>
        </p:txBody>
      </p:sp>
      <p:sp>
        <p:nvSpPr>
          <p:cNvPr id="36" name="Text 29"/>
          <p:cNvSpPr txBox="1"/>
          <p:nvPr/>
        </p:nvSpPr>
        <p:spPr>
          <a:xfrm>
            <a:off x="2724912" y="3938778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050" dirty="0">
                <a:solidFill>
                  <a:schemeClr val="bg2"/>
                </a:solidFill>
              </a:rPr>
              <a:t>검은 고양이 흠칫 → 휙 돌아 도망</a:t>
            </a:r>
            <a:endParaRPr lang="ko-KR" sz="1050" dirty="0"/>
          </a:p>
        </p:txBody>
      </p:sp>
      <p:sp>
        <p:nvSpPr>
          <p:cNvPr id="37" name="Text 30"/>
          <p:cNvSpPr txBox="1"/>
          <p:nvPr/>
        </p:nvSpPr>
        <p:spPr>
          <a:xfrm>
            <a:off x="2724912" y="4432554"/>
            <a:ext cx="3108960" cy="323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고정 컷</a:t>
            </a:r>
            <a:endParaRPr lang="ko-KR" sz="1000" dirty="0"/>
          </a:p>
        </p:txBody>
      </p:sp>
      <p:sp>
        <p:nvSpPr>
          <p:cNvPr id="38" name="panel_5"/>
          <p:cNvSpPr/>
          <p:nvPr/>
        </p:nvSpPr>
        <p:spPr>
          <a:xfrm>
            <a:off x="6245352" y="3609594"/>
            <a:ext cx="5486400" cy="1183005"/>
          </a:xfrm>
          <a:prstGeom prst="roundRect">
            <a:avLst>
              <a:gd name="adj" fmla="val 6184"/>
            </a:avLst>
          </a:prstGeom>
          <a:solidFill>
            <a:schemeClr val="tx2"/>
          </a:solidFill>
          <a:ln/>
        </p:spPr>
      </p:sp>
      <p:pic>
        <p:nvPicPr>
          <p:cNvPr id="39" name="img_5" descr="C:\Users\user\AppData\Local\Temp\claude\C--Project-NKK-PROJECT\0415198c-3dcb-489e-9557-3945752cc25a\scratchpad\frames\jjdetective\08_Aim_4.52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5352" y="3609594"/>
            <a:ext cx="2103120" cy="1183005"/>
          </a:xfrm>
          <a:prstGeom prst="rect">
            <a:avLst/>
          </a:prstGeom>
        </p:spPr>
      </p:pic>
      <p:sp>
        <p:nvSpPr>
          <p:cNvPr id="40" name="Shape 32"/>
          <p:cNvSpPr/>
          <p:nvPr/>
        </p:nvSpPr>
        <p:spPr>
          <a:xfrm>
            <a:off x="6318504" y="3682746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1" name="Text 33"/>
          <p:cNvSpPr txBox="1"/>
          <p:nvPr/>
        </p:nvSpPr>
        <p:spPr>
          <a:xfrm>
            <a:off x="6318504" y="368274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5</a:t>
            </a:r>
            <a:endParaRPr lang="ko-KR" sz="1300" dirty="0"/>
          </a:p>
        </p:txBody>
      </p:sp>
      <p:sp>
        <p:nvSpPr>
          <p:cNvPr id="42" name="Text 34"/>
          <p:cNvSpPr txBox="1"/>
          <p:nvPr/>
        </p:nvSpPr>
        <p:spPr>
          <a:xfrm>
            <a:off x="8513064" y="368274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1"/>
                </a:solidFill>
              </a:rPr>
              <a:t>3.98 – 4.66초</a:t>
            </a:r>
            <a:endParaRPr lang="ko-KR" sz="1100" dirty="0"/>
          </a:p>
        </p:txBody>
      </p:sp>
      <p:sp>
        <p:nvSpPr>
          <p:cNvPr id="43" name="Text 35"/>
          <p:cNvSpPr txBox="1"/>
          <p:nvPr/>
        </p:nvSpPr>
        <p:spPr>
          <a:xfrm>
            <a:off x="8513064" y="3938778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050" dirty="0">
                <a:solidFill>
                  <a:schemeClr val="bg2"/>
                </a:solidFill>
              </a:rPr>
              <a:t>달빛 골목 추격 → 손목시계 마취총 조준 · 발사</a:t>
            </a:r>
            <a:endParaRPr lang="ko-KR" sz="1050" dirty="0"/>
          </a:p>
        </p:txBody>
      </p:sp>
      <p:sp>
        <p:nvSpPr>
          <p:cNvPr id="44" name="Text 36"/>
          <p:cNvSpPr txBox="1"/>
          <p:nvPr/>
        </p:nvSpPr>
        <p:spPr>
          <a:xfrm>
            <a:off x="8513064" y="4432554"/>
            <a:ext cx="3108960" cy="323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옆으로 따라가는 카메라 → 손목 어깨너머 샷</a:t>
            </a:r>
            <a:endParaRPr lang="ko-KR" sz="1000" dirty="0"/>
          </a:p>
        </p:txBody>
      </p:sp>
      <p:sp>
        <p:nvSpPr>
          <p:cNvPr id="45" name="panel_6"/>
          <p:cNvSpPr/>
          <p:nvPr/>
        </p:nvSpPr>
        <p:spPr>
          <a:xfrm>
            <a:off x="457200" y="4902327"/>
            <a:ext cx="5486400" cy="1183005"/>
          </a:xfrm>
          <a:prstGeom prst="roundRect">
            <a:avLst>
              <a:gd name="adj" fmla="val 6184"/>
            </a:avLst>
          </a:prstGeom>
          <a:solidFill>
            <a:schemeClr val="tx2"/>
          </a:solidFill>
          <a:ln/>
        </p:spPr>
      </p:sp>
      <p:pic>
        <p:nvPicPr>
          <p:cNvPr id="46" name="img_6" descr="C:\Users\user\AppData\Local\Temp\claude\C--Project-NKK-PROJECT\0415198c-3dcb-489e-9557-3945752cc25a\scratchpad\frames\jjdetective\09_Catch_5.16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902327"/>
            <a:ext cx="2103120" cy="1183005"/>
          </a:xfrm>
          <a:prstGeom prst="rect">
            <a:avLst/>
          </a:prstGeom>
        </p:spPr>
      </p:pic>
      <p:sp>
        <p:nvSpPr>
          <p:cNvPr id="47" name="Shape 38"/>
          <p:cNvSpPr/>
          <p:nvPr/>
        </p:nvSpPr>
        <p:spPr>
          <a:xfrm>
            <a:off x="530352" y="4975479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8" name="Text 39"/>
          <p:cNvSpPr txBox="1"/>
          <p:nvPr/>
        </p:nvSpPr>
        <p:spPr>
          <a:xfrm>
            <a:off x="530352" y="4975479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6</a:t>
            </a:r>
            <a:endParaRPr lang="ko-KR" sz="1300" dirty="0"/>
          </a:p>
        </p:txBody>
      </p:sp>
      <p:sp>
        <p:nvSpPr>
          <p:cNvPr id="49" name="Text 40"/>
          <p:cNvSpPr txBox="1"/>
          <p:nvPr/>
        </p:nvSpPr>
        <p:spPr>
          <a:xfrm>
            <a:off x="2724912" y="4975479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1"/>
                </a:solidFill>
              </a:rPr>
              <a:t>4.66 – 5.50초</a:t>
            </a:r>
            <a:endParaRPr lang="ko-KR" sz="1100" dirty="0"/>
          </a:p>
        </p:txBody>
      </p:sp>
      <p:sp>
        <p:nvSpPr>
          <p:cNvPr id="50" name="Text 41"/>
          <p:cNvSpPr txBox="1"/>
          <p:nvPr/>
        </p:nvSpPr>
        <p:spPr>
          <a:xfrm>
            <a:off x="2724912" y="5231511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050" dirty="0">
                <a:solidFill>
                  <a:schemeClr val="bg2"/>
                </a:solidFill>
              </a:rPr>
              <a:t>마취침이 엉덩이에 꽂혀 펄쩍 → 비틀 → 기절 (코풍선)</a:t>
            </a:r>
            <a:endParaRPr lang="ko-KR" sz="1050" dirty="0"/>
          </a:p>
        </p:txBody>
      </p:sp>
      <p:sp>
        <p:nvSpPr>
          <p:cNvPr id="51" name="Text 42"/>
          <p:cNvSpPr txBox="1"/>
          <p:nvPr/>
        </p:nvSpPr>
        <p:spPr>
          <a:xfrm>
            <a:off x="2724912" y="5725287"/>
            <a:ext cx="3108960" cy="323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고양이 셀 프레임</a:t>
            </a:r>
            <a:endParaRPr lang="ko-KR" sz="1000" dirty="0"/>
          </a:p>
        </p:txBody>
      </p:sp>
      <p:sp>
        <p:nvSpPr>
          <p:cNvPr id="52" name="panel_7"/>
          <p:cNvSpPr/>
          <p:nvPr/>
        </p:nvSpPr>
        <p:spPr>
          <a:xfrm>
            <a:off x="6245352" y="4902327"/>
            <a:ext cx="5486400" cy="1183005"/>
          </a:xfrm>
          <a:prstGeom prst="roundRect">
            <a:avLst>
              <a:gd name="adj" fmla="val 6184"/>
            </a:avLst>
          </a:prstGeom>
          <a:solidFill>
            <a:schemeClr val="tx2"/>
          </a:solidFill>
          <a:ln/>
        </p:spPr>
      </p:sp>
      <p:pic>
        <p:nvPicPr>
          <p:cNvPr id="53" name="img_7" descr="C:\Users\user\AppData\Local\Temp\claude\C--Project-NKK-PROJECT\0415198c-3dcb-489e-9557-3945752cc25a\scratchpad\frames\jjdetective\10_Solved_6.46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5352" y="4902327"/>
            <a:ext cx="2103120" cy="1183005"/>
          </a:xfrm>
          <a:prstGeom prst="rect">
            <a:avLst/>
          </a:prstGeom>
        </p:spPr>
      </p:pic>
      <p:sp>
        <p:nvSpPr>
          <p:cNvPr id="54" name="Shape 44"/>
          <p:cNvSpPr/>
          <p:nvPr/>
        </p:nvSpPr>
        <p:spPr>
          <a:xfrm>
            <a:off x="6318504" y="4975479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5" name="Text 45"/>
          <p:cNvSpPr txBox="1"/>
          <p:nvPr/>
        </p:nvSpPr>
        <p:spPr>
          <a:xfrm>
            <a:off x="6318504" y="4975479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7</a:t>
            </a:r>
            <a:endParaRPr lang="ko-KR" sz="1300" dirty="0"/>
          </a:p>
        </p:txBody>
      </p:sp>
      <p:sp>
        <p:nvSpPr>
          <p:cNvPr id="56" name="Text 46"/>
          <p:cNvSpPr txBox="1"/>
          <p:nvPr/>
        </p:nvSpPr>
        <p:spPr>
          <a:xfrm>
            <a:off x="8513064" y="4975479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1"/>
                </a:solidFill>
              </a:rPr>
              <a:t>5.50 – 6.70초</a:t>
            </a:r>
            <a:endParaRPr lang="ko-KR" sz="1100" dirty="0"/>
          </a:p>
        </p:txBody>
      </p:sp>
      <p:sp>
        <p:nvSpPr>
          <p:cNvPr id="57" name="Text 47"/>
          <p:cNvSpPr txBox="1"/>
          <p:nvPr/>
        </p:nvSpPr>
        <p:spPr>
          <a:xfrm>
            <a:off x="8513064" y="5231511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050" dirty="0">
                <a:solidFill>
                  <a:schemeClr val="bg2"/>
                </a:solidFill>
              </a:rPr>
              <a:t>기절한 고양이를 밟고 안경 번쩍 "사건 해결!" → 엄지 척 윙크</a:t>
            </a:r>
            <a:endParaRPr lang="ko-KR" sz="1050" dirty="0"/>
          </a:p>
        </p:txBody>
      </p:sp>
      <p:sp>
        <p:nvSpPr>
          <p:cNvPr id="58" name="Text 48"/>
          <p:cNvSpPr txBox="1"/>
          <p:nvPr/>
        </p:nvSpPr>
        <p:spPr>
          <a:xfrm>
            <a:off x="8513064" y="5725287"/>
            <a:ext cx="3108960" cy="323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컷신 걷힘</a:t>
            </a:r>
            <a:endParaRPr lang="ko-KR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7A1B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/>
              <a:t>33</a:t>
            </a:fld>
            <a:endParaRPr lang="ko-K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sz="2800" b="1" dirty="0">
                <a:solidFill>
                  <a:schemeClr val="bg2"/>
                </a:solidFill>
              </a:rPr>
              <a:t>치즈 퐁듀 쥐  </a:t>
            </a:r>
            <a:pPr eaLnBrk="0" algn="l" indent="0" marL="0">
              <a:buNone/>
            </a:pPr>
            <a:r>
              <a:rPr lang="ko-KR" sz="2800" b="1" dirty="0">
                <a:solidFill>
                  <a:srgbClr val="FFC83D"/>
                </a:solidFill>
              </a:rPr>
              <a:t>트레비 분수 치즈 폭발</a:t>
            </a:r>
            <a:endParaRPr lang="ko-KR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384048"/>
            <a:ext cx="1399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sz="1400" dirty="0">
                <a:solidFill>
                  <a:schemeClr val="accent5"/>
                </a:solidFill>
              </a:rPr>
              <a:t>13 / 16</a:t>
            </a:r>
            <a:endParaRPr lang="ko-KR" sz="1400" dirty="0"/>
          </a:p>
        </p:txBody>
      </p:sp>
      <p:pic>
        <p:nvPicPr>
          <p:cNvPr id="4" name="hero" descr="C:\Users\user\AppData\Local\Temp\claude\C--Project-NKK-PROJECT\0415198c-3dcb-489e-9557-3945752cc25a\scratchpad\frames\fondue\05_Boom_4.7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6400800" cy="360045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178040" y="1143000"/>
            <a:ext cx="45537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0000"/>
              </a:lnSpc>
              <a:buNone/>
            </a:pPr>
            <a:r>
              <a:rPr lang="ko-KR" sz="1500" b="1" dirty="0">
                <a:solidFill>
                  <a:schemeClr val="bg2"/>
                </a:solidFill>
              </a:rPr>
              <a:t>선글라스를 끼고 핑거 스냅, 트레비 분수 전체로 줌 아웃 → 1초 정지 → 분수에서 치즈가 폭발한다.</a:t>
            </a:r>
            <a:endParaRPr lang="ko-KR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178040" y="21945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테이블 기술명</a:t>
            </a:r>
            <a:endParaRPr lang="ko-KR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412480" y="2194560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치즈 대홍수  (31013)</a:t>
            </a:r>
            <a:endParaRPr lang="ko-KR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178040" y="262432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컷 구성</a:t>
            </a:r>
            <a:endParaRPr lang="ko-KR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412480" y="2624328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7컷 · 패널 7장</a:t>
            </a:r>
            <a:endParaRPr lang="ko-KR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178040" y="3054096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컷신 길이</a:t>
            </a:r>
            <a:endParaRPr lang="ko-KR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412480" y="3054096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내부 5.35초 · 1배속</a:t>
            </a:r>
            <a:endParaRPr lang="ko-KR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178040" y="3483864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게임 화면</a:t>
            </a:r>
            <a:endParaRPr lang="ko-KR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412480" y="3483864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걷힘 0.3초 → 2.2초 · 치즈가 쏟아져 대상마다 철퍽</a:t>
            </a:r>
            <a:endParaRPr lang="ko-KR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178040" y="391363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컷신 글</a:t>
            </a:r>
            <a:endParaRPr lang="ko-KR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412480" y="3913632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없음</a:t>
            </a:r>
            <a:endParaRPr lang="ko-KR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178040" y="43434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밈 · 대사</a:t>
            </a:r>
            <a:endParaRPr lang="ko-KR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8412480" y="4343400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(글 없음 · 데이터만 있음)</a:t>
            </a:r>
            <a:endParaRPr lang="ko-KR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49743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accent5"/>
                </a:solidFill>
              </a:rPr>
              <a:t>타임라인 (컷신 내부 시간 · 게임 화면은 같은 축척)</a:t>
            </a:r>
            <a:endParaRPr lang="ko-KR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5321808"/>
            <a:ext cx="574499" cy="457200"/>
          </a:xfrm>
          <a:prstGeom prst="rect">
            <a:avLst/>
          </a:prstGeom>
          <a:solidFill>
            <a:srgbClr val="35304A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031699" y="5321808"/>
            <a:ext cx="1436249" cy="457200"/>
          </a:xfrm>
          <a:prstGeom prst="rect">
            <a:avLst/>
          </a:prstGeom>
          <a:solidFill>
            <a:srgbClr val="FFC83D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31699" y="5321808"/>
            <a:ext cx="14362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1</a:t>
            </a:r>
            <a:endParaRPr lang="ko-KR" sz="1100" dirty="0"/>
          </a:p>
        </p:txBody>
      </p:sp>
      <p:sp>
        <p:nvSpPr>
          <p:cNvPr id="22" name="Shape 19"/>
          <p:cNvSpPr/>
          <p:nvPr/>
        </p:nvSpPr>
        <p:spPr>
          <a:xfrm>
            <a:off x="2467948" y="5321808"/>
            <a:ext cx="789937" cy="457200"/>
          </a:xfrm>
          <a:prstGeom prst="rect">
            <a:avLst/>
          </a:prstGeom>
          <a:solidFill>
            <a:srgbClr val="E0AE2E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467948" y="5321808"/>
            <a:ext cx="78993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2</a:t>
            </a:r>
            <a:endParaRPr lang="ko-KR" sz="1100" dirty="0"/>
          </a:p>
        </p:txBody>
      </p:sp>
      <p:sp>
        <p:nvSpPr>
          <p:cNvPr id="24" name="Shape 21"/>
          <p:cNvSpPr/>
          <p:nvPr/>
        </p:nvSpPr>
        <p:spPr>
          <a:xfrm>
            <a:off x="3257885" y="5321808"/>
            <a:ext cx="1292624" cy="457200"/>
          </a:xfrm>
          <a:prstGeom prst="rect">
            <a:avLst/>
          </a:prstGeom>
          <a:solidFill>
            <a:srgbClr val="FFC83D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257885" y="5321808"/>
            <a:ext cx="1292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3</a:t>
            </a:r>
            <a:endParaRPr lang="ko-KR" sz="1100" dirty="0"/>
          </a:p>
        </p:txBody>
      </p:sp>
      <p:sp>
        <p:nvSpPr>
          <p:cNvPr id="26" name="Shape 23"/>
          <p:cNvSpPr/>
          <p:nvPr/>
        </p:nvSpPr>
        <p:spPr>
          <a:xfrm>
            <a:off x="4550509" y="5321808"/>
            <a:ext cx="646312" cy="457200"/>
          </a:xfrm>
          <a:prstGeom prst="rect">
            <a:avLst/>
          </a:prstGeom>
          <a:solidFill>
            <a:srgbClr val="E0AE2E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550509" y="5321808"/>
            <a:ext cx="64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4</a:t>
            </a:r>
            <a:endParaRPr lang="ko-KR" sz="1100" dirty="0"/>
          </a:p>
        </p:txBody>
      </p:sp>
      <p:sp>
        <p:nvSpPr>
          <p:cNvPr id="28" name="Shape 25"/>
          <p:cNvSpPr/>
          <p:nvPr/>
        </p:nvSpPr>
        <p:spPr>
          <a:xfrm>
            <a:off x="5196821" y="5321808"/>
            <a:ext cx="1436249" cy="457200"/>
          </a:xfrm>
          <a:prstGeom prst="rect">
            <a:avLst/>
          </a:prstGeom>
          <a:solidFill>
            <a:srgbClr val="FFC83D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196821" y="5321808"/>
            <a:ext cx="14362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5</a:t>
            </a:r>
            <a:endParaRPr lang="ko-KR" sz="1100" dirty="0"/>
          </a:p>
        </p:txBody>
      </p:sp>
      <p:sp>
        <p:nvSpPr>
          <p:cNvPr id="30" name="Shape 27"/>
          <p:cNvSpPr/>
          <p:nvPr/>
        </p:nvSpPr>
        <p:spPr>
          <a:xfrm>
            <a:off x="6633069" y="5321808"/>
            <a:ext cx="1005374" cy="457200"/>
          </a:xfrm>
          <a:prstGeom prst="rect">
            <a:avLst/>
          </a:prstGeom>
          <a:solidFill>
            <a:srgbClr val="E0AE2E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633069" y="5321808"/>
            <a:ext cx="10053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6</a:t>
            </a:r>
            <a:endParaRPr lang="ko-KR" sz="1100" dirty="0"/>
          </a:p>
        </p:txBody>
      </p:sp>
      <p:sp>
        <p:nvSpPr>
          <p:cNvPr id="32" name="Shape 29"/>
          <p:cNvSpPr/>
          <p:nvPr/>
        </p:nvSpPr>
        <p:spPr>
          <a:xfrm>
            <a:off x="7638443" y="5321808"/>
            <a:ext cx="502687" cy="457200"/>
          </a:xfrm>
          <a:prstGeom prst="rect">
            <a:avLst/>
          </a:prstGeom>
          <a:solidFill>
            <a:srgbClr val="FFC83D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638443" y="5321808"/>
            <a:ext cx="5026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7</a:t>
            </a:r>
            <a:endParaRPr lang="ko-KR" sz="1100" dirty="0"/>
          </a:p>
        </p:txBody>
      </p:sp>
      <p:sp>
        <p:nvSpPr>
          <p:cNvPr id="34" name="Shape 31"/>
          <p:cNvSpPr/>
          <p:nvPr/>
        </p:nvSpPr>
        <p:spPr>
          <a:xfrm>
            <a:off x="8141130" y="5321808"/>
            <a:ext cx="430875" cy="457200"/>
          </a:xfrm>
          <a:prstGeom prst="rect">
            <a:avLst/>
          </a:prstGeom>
          <a:solidFill>
            <a:srgbClr val="A7A1B6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572005" y="5321808"/>
            <a:ext cx="3159747" cy="457200"/>
          </a:xfrm>
          <a:prstGeom prst="rect">
            <a:avLst/>
          </a:prstGeom>
          <a:solidFill>
            <a:srgbClr val="6FD3C6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572005" y="5321808"/>
            <a:ext cx="31597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게임 화면</a:t>
            </a:r>
            <a:endParaRPr lang="ko-KR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457200" y="58247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0</a:t>
            </a:r>
            <a:endParaRPr lang="ko-KR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665939" y="58247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0.4</a:t>
            </a:r>
            <a:endParaRPr lang="ko-KR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7775370" y="58247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5.35</a:t>
            </a:r>
            <a:endParaRPr lang="ko-KR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11000232" y="58247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r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+2.5</a:t>
            </a:r>
            <a:endParaRPr lang="ko-KR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7A1B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/>
              <a:t>34</a:t>
            </a:fld>
            <a:endParaRPr lang="ko-K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sz="2800" b="1" dirty="0">
                <a:solidFill>
                  <a:schemeClr val="bg2"/>
                </a:solidFill>
              </a:rPr>
              <a:t>치즈 퐁듀 쥐  </a:t>
            </a:r>
            <a:pPr eaLnBrk="0" algn="l" indent="0" marL="0">
              <a:buNone/>
            </a:pPr>
            <a:r>
              <a:rPr lang="ko-KR" sz="2800" b="1" dirty="0">
                <a:solidFill>
                  <a:srgbClr val="A7A1B6"/>
                </a:solidFill>
              </a:rPr>
              <a:t>콘티</a:t>
            </a:r>
            <a:endParaRPr lang="ko-KR" sz="2800" dirty="0"/>
          </a:p>
        </p:txBody>
      </p:sp>
      <p:sp>
        <p:nvSpPr>
          <p:cNvPr id="3" name="panel_1"/>
          <p:cNvSpPr/>
          <p:nvPr/>
        </p:nvSpPr>
        <p:spPr>
          <a:xfrm>
            <a:off x="457200" y="1024128"/>
            <a:ext cx="5486400" cy="1183005"/>
          </a:xfrm>
          <a:prstGeom prst="roundRect">
            <a:avLst>
              <a:gd name="adj" fmla="val 6184"/>
            </a:avLst>
          </a:prstGeom>
          <a:solidFill>
            <a:schemeClr val="tx2"/>
          </a:solidFill>
          <a:ln/>
        </p:spPr>
      </p:sp>
      <p:pic>
        <p:nvPicPr>
          <p:cNvPr id="4" name="img_1" descr="C:\Users\user\AppData\Local\Temp\claude\C--Project-NKK-PROJECT\0415198c-3dcb-489e-9557-3945752cc25a\scratchpad\frames\fondue\00_Cut1_1.2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24128"/>
            <a:ext cx="2103120" cy="11830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0352" y="109728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30352" y="1097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1</a:t>
            </a:r>
            <a:endParaRPr lang="ko-KR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2724912" y="10972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1"/>
                </a:solidFill>
              </a:rPr>
              <a:t>0.40 – 1.40초</a:t>
            </a:r>
            <a:endParaRPr lang="ko-KR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2724912" y="1353312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050" dirty="0">
                <a:solidFill>
                  <a:schemeClr val="bg2"/>
                </a:solidFill>
              </a:rPr>
              <a:t>익스트림 클로즈업: 셔츠 → 턱 → 얼굴</a:t>
            </a:r>
            <a:endParaRPr lang="ko-KR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2724912" y="1847088"/>
            <a:ext cx="3108960" cy="323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아래에서 올려다보며 천천히 틸트 업</a:t>
            </a:r>
            <a:endParaRPr lang="ko-KR" sz="1000" dirty="0"/>
          </a:p>
        </p:txBody>
      </p:sp>
      <p:sp>
        <p:nvSpPr>
          <p:cNvPr id="10" name="panel_2"/>
          <p:cNvSpPr/>
          <p:nvPr/>
        </p:nvSpPr>
        <p:spPr>
          <a:xfrm>
            <a:off x="6245352" y="1024128"/>
            <a:ext cx="5486400" cy="1183005"/>
          </a:xfrm>
          <a:prstGeom prst="roundRect">
            <a:avLst>
              <a:gd name="adj" fmla="val 6184"/>
            </a:avLst>
          </a:prstGeom>
          <a:solidFill>
            <a:schemeClr val="tx2"/>
          </a:solidFill>
          <a:ln/>
        </p:spPr>
      </p:sp>
      <p:pic>
        <p:nvPicPr>
          <p:cNvPr id="11" name="img_2" descr="C:\Users\user\AppData\Local\Temp\claude\C--Project-NKK-PROJECT\0415198c-3dcb-489e-9557-3945752cc25a\scratchpad\frames\fondue\01_Cut2_1.7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024128"/>
            <a:ext cx="2103120" cy="118300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318504" y="109728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318504" y="1097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2</a:t>
            </a:r>
            <a:endParaRPr lang="ko-KR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8513064" y="10972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1"/>
                </a:solidFill>
              </a:rPr>
              <a:t>1.40 – 1.95초</a:t>
            </a:r>
            <a:endParaRPr lang="ko-KR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8513064" y="1353312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050" dirty="0">
                <a:solidFill>
                  <a:schemeClr val="bg2"/>
                </a:solidFill>
              </a:rPr>
              <a:t>손 클로즈업 핑거 스냅: 힘 줌 → 딱! (반짝 · 고리 · 쾅) → 손가락으로 가리킴</a:t>
            </a:r>
            <a:endParaRPr lang="ko-KR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8513064" y="1847088"/>
            <a:ext cx="3108960" cy="323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짧게</a:t>
            </a:r>
            <a:endParaRPr lang="ko-KR" sz="1000" dirty="0"/>
          </a:p>
        </p:txBody>
      </p:sp>
      <p:sp>
        <p:nvSpPr>
          <p:cNvPr id="17" name="panel_3"/>
          <p:cNvSpPr/>
          <p:nvPr/>
        </p:nvSpPr>
        <p:spPr>
          <a:xfrm>
            <a:off x="457200" y="2316861"/>
            <a:ext cx="5486400" cy="1183005"/>
          </a:xfrm>
          <a:prstGeom prst="roundRect">
            <a:avLst>
              <a:gd name="adj" fmla="val 6184"/>
            </a:avLst>
          </a:prstGeom>
          <a:solidFill>
            <a:schemeClr val="tx2"/>
          </a:solidFill>
          <a:ln/>
        </p:spPr>
      </p:sp>
      <p:pic>
        <p:nvPicPr>
          <p:cNvPr id="18" name="img_3" descr="C:\Users\user\AppData\Local\Temp\claude\C--Project-NKK-PROJECT\0415198c-3dcb-489e-9557-3945752cc25a\scratchpad\frames\fondue\02_Cut3_2.67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16861"/>
            <a:ext cx="2103120" cy="1183005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30352" y="2390013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530352" y="2390013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3</a:t>
            </a:r>
            <a:endParaRPr lang="ko-KR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2724912" y="2390013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1"/>
                </a:solidFill>
              </a:rPr>
              <a:t>1.95 – 2.85초</a:t>
            </a:r>
            <a:endParaRPr lang="ko-KR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2724912" y="2646045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050" dirty="0">
                <a:solidFill>
                  <a:schemeClr val="bg2"/>
                </a:solidFill>
              </a:rPr>
              <a:t>얼굴 클로즈업: 씩 웃음 → 윙크 → 선글라스를 올려 끼움 → 반짝</a:t>
            </a:r>
            <a:endParaRPr lang="ko-KR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2724912" y="3139821"/>
            <a:ext cx="3108960" cy="323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같은 틀 연속 프레임</a:t>
            </a:r>
            <a:endParaRPr lang="ko-KR" sz="1000" dirty="0"/>
          </a:p>
        </p:txBody>
      </p:sp>
      <p:sp>
        <p:nvSpPr>
          <p:cNvPr id="24" name="panel_4"/>
          <p:cNvSpPr/>
          <p:nvPr/>
        </p:nvSpPr>
        <p:spPr>
          <a:xfrm>
            <a:off x="6245352" y="2316861"/>
            <a:ext cx="5486400" cy="1183005"/>
          </a:xfrm>
          <a:prstGeom prst="roundRect">
            <a:avLst>
              <a:gd name="adj" fmla="val 6184"/>
            </a:avLst>
          </a:prstGeom>
          <a:solidFill>
            <a:schemeClr val="tx2"/>
          </a:solidFill>
          <a:ln/>
        </p:spPr>
      </p:sp>
      <p:pic>
        <p:nvPicPr>
          <p:cNvPr id="25" name="img_4" descr="C:\Users\user\AppData\Local\Temp\claude\C--Project-NKK-PROJECT\0415198c-3dcb-489e-9557-3945752cc25a\scratchpad\frames\fondue\03_ZoomOut_3.12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2316861"/>
            <a:ext cx="2103120" cy="1183005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6318504" y="2390013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6318504" y="2390013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4</a:t>
            </a:r>
            <a:endParaRPr lang="ko-KR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8513064" y="2390013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1"/>
                </a:solidFill>
              </a:rPr>
              <a:t>2.85 – 3.30초</a:t>
            </a:r>
            <a:endParaRPr lang="ko-KR" sz="1100" dirty="0"/>
          </a:p>
        </p:txBody>
      </p:sp>
      <p:sp>
        <p:nvSpPr>
          <p:cNvPr id="29" name="Text 23"/>
          <p:cNvSpPr txBox="1"/>
          <p:nvPr/>
        </p:nvSpPr>
        <p:spPr>
          <a:xfrm>
            <a:off x="8513064" y="2646045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050" dirty="0">
                <a:solidFill>
                  <a:schemeClr val="bg2"/>
                </a:solidFill>
              </a:rPr>
              <a:t>분수 꼭대기 쥐 얼굴 → 트레비 분수 전체</a:t>
            </a:r>
            <a:endParaRPr lang="ko-KR" sz="1050" dirty="0"/>
          </a:p>
        </p:txBody>
      </p:sp>
      <p:sp>
        <p:nvSpPr>
          <p:cNvPr id="30" name="Text 24"/>
          <p:cNvSpPr txBox="1"/>
          <p:nvPr/>
        </p:nvSpPr>
        <p:spPr>
          <a:xfrm>
            <a:off x="8513064" y="3139821"/>
            <a:ext cx="3108960" cy="323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아주 빠른 트래킹 줌 아웃 (가까운 판 → 롱샷 판) · 모이는 속도선</a:t>
            </a:r>
            <a:endParaRPr lang="ko-KR" sz="1000" dirty="0"/>
          </a:p>
        </p:txBody>
      </p:sp>
      <p:sp>
        <p:nvSpPr>
          <p:cNvPr id="31" name="panel_5"/>
          <p:cNvSpPr/>
          <p:nvPr/>
        </p:nvSpPr>
        <p:spPr>
          <a:xfrm>
            <a:off x="457200" y="3609594"/>
            <a:ext cx="5486400" cy="1183005"/>
          </a:xfrm>
          <a:prstGeom prst="roundRect">
            <a:avLst>
              <a:gd name="adj" fmla="val 6184"/>
            </a:avLst>
          </a:prstGeom>
          <a:solidFill>
            <a:schemeClr val="tx2"/>
          </a:solidFill>
          <a:ln/>
        </p:spPr>
      </p:sp>
      <p:pic>
        <p:nvPicPr>
          <p:cNvPr id="32" name="img_5" descr="C:\Users\user\AppData\Local\Temp\claude\C--Project-NKK-PROJECT\0415198c-3dcb-489e-9557-3945752cc25a\scratchpad\frames\fondue\04_Freeze_3.60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609594"/>
            <a:ext cx="2103120" cy="1183005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530352" y="3682746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4" name="Text 27"/>
          <p:cNvSpPr txBox="1"/>
          <p:nvPr/>
        </p:nvSpPr>
        <p:spPr>
          <a:xfrm>
            <a:off x="530352" y="368274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5</a:t>
            </a:r>
            <a:endParaRPr lang="ko-KR" sz="1300" dirty="0"/>
          </a:p>
        </p:txBody>
      </p:sp>
      <p:sp>
        <p:nvSpPr>
          <p:cNvPr id="35" name="Text 28"/>
          <p:cNvSpPr txBox="1"/>
          <p:nvPr/>
        </p:nvSpPr>
        <p:spPr>
          <a:xfrm>
            <a:off x="2724912" y="368274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1"/>
                </a:solidFill>
              </a:rPr>
              <a:t>3.30 – 4.30초</a:t>
            </a:r>
            <a:endParaRPr lang="ko-KR" sz="1100" dirty="0"/>
          </a:p>
        </p:txBody>
      </p:sp>
      <p:sp>
        <p:nvSpPr>
          <p:cNvPr id="36" name="Text 29"/>
          <p:cNvSpPr txBox="1"/>
          <p:nvPr/>
        </p:nvSpPr>
        <p:spPr>
          <a:xfrm>
            <a:off x="2724912" y="3938778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050" dirty="0">
                <a:solidFill>
                  <a:schemeClr val="bg2"/>
                </a:solidFill>
              </a:rPr>
              <a:t>분수 전체 샷 1초 프레임 스탑</a:t>
            </a:r>
            <a:endParaRPr lang="ko-KR" sz="1050" dirty="0"/>
          </a:p>
        </p:txBody>
      </p:sp>
      <p:sp>
        <p:nvSpPr>
          <p:cNvPr id="37" name="Text 30"/>
          <p:cNvSpPr txBox="1"/>
          <p:nvPr/>
        </p:nvSpPr>
        <p:spPr>
          <a:xfrm>
            <a:off x="2724912" y="4432554"/>
            <a:ext cx="3108960" cy="323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정지 (하얀 번쩍 없음)</a:t>
            </a:r>
            <a:endParaRPr lang="ko-KR" sz="1000" dirty="0"/>
          </a:p>
        </p:txBody>
      </p:sp>
      <p:sp>
        <p:nvSpPr>
          <p:cNvPr id="38" name="panel_6"/>
          <p:cNvSpPr/>
          <p:nvPr/>
        </p:nvSpPr>
        <p:spPr>
          <a:xfrm>
            <a:off x="6245352" y="3609594"/>
            <a:ext cx="5486400" cy="1183005"/>
          </a:xfrm>
          <a:prstGeom prst="roundRect">
            <a:avLst>
              <a:gd name="adj" fmla="val 6184"/>
            </a:avLst>
          </a:prstGeom>
          <a:solidFill>
            <a:schemeClr val="tx2"/>
          </a:solidFill>
          <a:ln/>
        </p:spPr>
      </p:sp>
      <p:pic>
        <p:nvPicPr>
          <p:cNvPr id="39" name="img_6" descr="C:\Users\user\AppData\Local\Temp\claude\C--Project-NKK-PROJECT\0415198c-3dcb-489e-9557-3945752cc25a\scratchpad\frames\fondue\05_Boom_4.72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5352" y="3609594"/>
            <a:ext cx="2103120" cy="1183005"/>
          </a:xfrm>
          <a:prstGeom prst="rect">
            <a:avLst/>
          </a:prstGeom>
        </p:spPr>
      </p:pic>
      <p:sp>
        <p:nvSpPr>
          <p:cNvPr id="40" name="Shape 32"/>
          <p:cNvSpPr/>
          <p:nvPr/>
        </p:nvSpPr>
        <p:spPr>
          <a:xfrm>
            <a:off x="6318504" y="3682746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1" name="Text 33"/>
          <p:cNvSpPr txBox="1"/>
          <p:nvPr/>
        </p:nvSpPr>
        <p:spPr>
          <a:xfrm>
            <a:off x="6318504" y="368274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6</a:t>
            </a:r>
            <a:endParaRPr lang="ko-KR" sz="1300" dirty="0"/>
          </a:p>
        </p:txBody>
      </p:sp>
      <p:sp>
        <p:nvSpPr>
          <p:cNvPr id="42" name="Text 34"/>
          <p:cNvSpPr txBox="1"/>
          <p:nvPr/>
        </p:nvSpPr>
        <p:spPr>
          <a:xfrm>
            <a:off x="8513064" y="368274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1"/>
                </a:solidFill>
              </a:rPr>
              <a:t>4.30 – 5.00초</a:t>
            </a:r>
            <a:endParaRPr lang="ko-KR" sz="1100" dirty="0"/>
          </a:p>
        </p:txBody>
      </p:sp>
      <p:sp>
        <p:nvSpPr>
          <p:cNvPr id="43" name="Text 35"/>
          <p:cNvSpPr txBox="1"/>
          <p:nvPr/>
        </p:nvSpPr>
        <p:spPr>
          <a:xfrm>
            <a:off x="8513064" y="3938778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050" dirty="0">
                <a:solidFill>
                  <a:schemeClr val="bg2"/>
                </a:solidFill>
              </a:rPr>
              <a:t>분수 수조에서 치즈 폭발 · 충격파 3번</a:t>
            </a:r>
            <a:endParaRPr lang="ko-KR" sz="1050" dirty="0"/>
          </a:p>
        </p:txBody>
      </p:sp>
      <p:sp>
        <p:nvSpPr>
          <p:cNvPr id="44" name="Text 36"/>
          <p:cNvSpPr txBox="1"/>
          <p:nvPr/>
        </p:nvSpPr>
        <p:spPr>
          <a:xfrm>
            <a:off x="8513064" y="4432554"/>
            <a:ext cx="3108960" cy="323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사자후식 방사형 줌 블러 (두 장 번갈아 떨림) · 바깥으로 뻗는 속도선</a:t>
            </a:r>
            <a:endParaRPr lang="ko-KR" sz="1000" dirty="0"/>
          </a:p>
        </p:txBody>
      </p:sp>
      <p:sp>
        <p:nvSpPr>
          <p:cNvPr id="45" name="panel_7"/>
          <p:cNvSpPr/>
          <p:nvPr/>
        </p:nvSpPr>
        <p:spPr>
          <a:xfrm>
            <a:off x="457200" y="4902327"/>
            <a:ext cx="5486400" cy="1183005"/>
          </a:xfrm>
          <a:prstGeom prst="roundRect">
            <a:avLst>
              <a:gd name="adj" fmla="val 6184"/>
            </a:avLst>
          </a:prstGeom>
          <a:solidFill>
            <a:schemeClr val="tx2"/>
          </a:solidFill>
          <a:ln/>
        </p:spPr>
      </p:sp>
      <p:pic>
        <p:nvPicPr>
          <p:cNvPr id="46" name="img_7" descr="C:\Users\user\AppData\Local\Temp\claude\C--Project-NKK-PROJECT\0415198c-3dcb-489e-9557-3945752cc25a\scratchpad\frames\fondue\06_Cover_5.21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902327"/>
            <a:ext cx="2103120" cy="1183005"/>
          </a:xfrm>
          <a:prstGeom prst="rect">
            <a:avLst/>
          </a:prstGeom>
        </p:spPr>
      </p:pic>
      <p:sp>
        <p:nvSpPr>
          <p:cNvPr id="47" name="Shape 38"/>
          <p:cNvSpPr/>
          <p:nvPr/>
        </p:nvSpPr>
        <p:spPr>
          <a:xfrm>
            <a:off x="530352" y="4975479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8" name="Text 39"/>
          <p:cNvSpPr txBox="1"/>
          <p:nvPr/>
        </p:nvSpPr>
        <p:spPr>
          <a:xfrm>
            <a:off x="530352" y="4975479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7</a:t>
            </a:r>
            <a:endParaRPr lang="ko-KR" sz="1300" dirty="0"/>
          </a:p>
        </p:txBody>
      </p:sp>
      <p:sp>
        <p:nvSpPr>
          <p:cNvPr id="49" name="Text 40"/>
          <p:cNvSpPr txBox="1"/>
          <p:nvPr/>
        </p:nvSpPr>
        <p:spPr>
          <a:xfrm>
            <a:off x="2724912" y="4975479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1"/>
                </a:solidFill>
              </a:rPr>
              <a:t>5.00 – 5.35초</a:t>
            </a:r>
            <a:endParaRPr lang="ko-KR" sz="1100" dirty="0"/>
          </a:p>
        </p:txBody>
      </p:sp>
      <p:sp>
        <p:nvSpPr>
          <p:cNvPr id="50" name="Text 41"/>
          <p:cNvSpPr txBox="1"/>
          <p:nvPr/>
        </p:nvSpPr>
        <p:spPr>
          <a:xfrm>
            <a:off x="2724912" y="5231511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050" dirty="0">
                <a:solidFill>
                  <a:schemeClr val="bg2"/>
                </a:solidFill>
              </a:rPr>
              <a:t>치즈 벽이 위 · 아래에서 화면을 덮음</a:t>
            </a:r>
            <a:endParaRPr lang="ko-KR" sz="1050" dirty="0"/>
          </a:p>
        </p:txBody>
      </p:sp>
      <p:sp>
        <p:nvSpPr>
          <p:cNvPr id="51" name="Text 42"/>
          <p:cNvSpPr txBox="1"/>
          <p:nvPr/>
        </p:nvSpPr>
        <p:spPr>
          <a:xfrm>
            <a:off x="2724912" y="5725287"/>
            <a:ext cx="3108960" cy="323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걷히면 게임 화면에 치즈가 쏟아짐</a:t>
            </a:r>
            <a:endParaRPr lang="ko-KR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7A1B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/>
              <a:t>35</a:t>
            </a:fld>
            <a:endParaRPr lang="ko-KR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sz="2800" b="1" dirty="0">
                <a:solidFill>
                  <a:schemeClr val="bg2"/>
                </a:solidFill>
              </a:rPr>
              <a:t>폭탄마 쥐  </a:t>
            </a:r>
            <a:pPr eaLnBrk="0" algn="l" indent="0" marL="0">
              <a:buNone/>
            </a:pPr>
            <a:r>
              <a:rPr lang="ko-KR" sz="2800" b="1" dirty="0">
                <a:solidFill>
                  <a:srgbClr val="FFC83D"/>
                </a:solidFill>
              </a:rPr>
              <a:t>마법진 익스플로전</a:t>
            </a:r>
            <a:endParaRPr lang="ko-KR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384048"/>
            <a:ext cx="1399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sz="1400" dirty="0">
                <a:solidFill>
                  <a:schemeClr val="accent5"/>
                </a:solidFill>
              </a:rPr>
              <a:t>14 / 16</a:t>
            </a:r>
            <a:endParaRPr lang="ko-KR" sz="1400" dirty="0"/>
          </a:p>
        </p:txBody>
      </p:sp>
      <p:pic>
        <p:nvPicPr>
          <p:cNvPr id="4" name="hero" descr="C:\Users\user\AppData\Local\Temp\claude\C--Project-NKK-PROJECT\0415198c-3dcb-489e-9557-3945752cc25a\scratchpad\frames\bomber\04_Cut5_2.8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6400800" cy="360045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178040" y="1143000"/>
            <a:ext cx="45537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0000"/>
              </a:lnSpc>
              <a:buNone/>
            </a:pPr>
            <a:r>
              <a:rPr lang="ko-KR" sz="1500" b="1" dirty="0">
                <a:solidFill>
                  <a:schemeClr val="bg2"/>
                </a:solidFill>
              </a:rPr>
              <a:t>빨간 마법진을 하늘까지 쌓아 올리고, 레이저가 마법진을 꿰뚫어 내리꽂히면 맵 전체가 폭발한다.</a:t>
            </a:r>
            <a:endParaRPr lang="ko-KR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178040" y="21945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테이블 기술명</a:t>
            </a:r>
            <a:endParaRPr lang="ko-KR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412480" y="2194560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익스플로전 · 극  (31014)</a:t>
            </a:r>
            <a:endParaRPr lang="ko-KR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178040" y="262432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컷 구성</a:t>
            </a:r>
            <a:endParaRPr lang="ko-KR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412480" y="2624328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5컷 · 패널 5장</a:t>
            </a:r>
            <a:endParaRPr lang="ko-KR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178040" y="3054096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컷신 길이</a:t>
            </a:r>
            <a:endParaRPr lang="ko-KR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412480" y="3054096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내부 3.05초 · 0.75배속 → 실제 ≈4.1초</a:t>
            </a:r>
            <a:endParaRPr lang="ko-KR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178040" y="3483864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게임 화면</a:t>
            </a:r>
            <a:endParaRPr lang="ko-KR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412480" y="3483864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걷힘 0.15초 → 2.2초 · 레이저 → 섬광 → 맵 전체를 덮는 거대 폭발 하나 (버섯구름 없음)</a:t>
            </a:r>
            <a:endParaRPr lang="ko-KR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178040" y="391363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컷신 글</a:t>
            </a:r>
            <a:endParaRPr lang="ko-KR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412480" y="3913632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제목 · 대사 · 밈</a:t>
            </a:r>
            <a:endParaRPr lang="ko-KR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178040" y="43434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밈 · 대사</a:t>
            </a:r>
            <a:endParaRPr lang="ko-KR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8412480" y="4343400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※ 시전 후 MP 0 · 이동 불가</a:t>
            </a:r>
            <a:endParaRPr lang="ko-KR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49743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accent5"/>
                </a:solidFill>
              </a:rPr>
              <a:t>타임라인 (컷신 내부 시간 · 게임 화면은 같은 축척)</a:t>
            </a:r>
            <a:endParaRPr lang="ko-KR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5321808"/>
            <a:ext cx="835152" cy="457200"/>
          </a:xfrm>
          <a:prstGeom prst="rect">
            <a:avLst/>
          </a:prstGeom>
          <a:solidFill>
            <a:srgbClr val="35304A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292352" y="5321808"/>
            <a:ext cx="939546" cy="457200"/>
          </a:xfrm>
          <a:prstGeom prst="rect">
            <a:avLst/>
          </a:prstGeom>
          <a:solidFill>
            <a:srgbClr val="FFC83D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292352" y="5321808"/>
            <a:ext cx="9395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1</a:t>
            </a:r>
            <a:endParaRPr lang="ko-KR" sz="1100" dirty="0"/>
          </a:p>
        </p:txBody>
      </p:sp>
      <p:sp>
        <p:nvSpPr>
          <p:cNvPr id="22" name="Shape 19"/>
          <p:cNvSpPr/>
          <p:nvPr/>
        </p:nvSpPr>
        <p:spPr>
          <a:xfrm>
            <a:off x="2231898" y="5321808"/>
            <a:ext cx="939546" cy="457200"/>
          </a:xfrm>
          <a:prstGeom prst="rect">
            <a:avLst/>
          </a:prstGeom>
          <a:solidFill>
            <a:srgbClr val="E0AE2E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231898" y="5321808"/>
            <a:ext cx="9395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2</a:t>
            </a:r>
            <a:endParaRPr lang="ko-KR" sz="1100" dirty="0"/>
          </a:p>
        </p:txBody>
      </p:sp>
      <p:sp>
        <p:nvSpPr>
          <p:cNvPr id="24" name="Shape 21"/>
          <p:cNvSpPr/>
          <p:nvPr/>
        </p:nvSpPr>
        <p:spPr>
          <a:xfrm>
            <a:off x="3171444" y="5321808"/>
            <a:ext cx="939546" cy="457200"/>
          </a:xfrm>
          <a:prstGeom prst="rect">
            <a:avLst/>
          </a:prstGeom>
          <a:solidFill>
            <a:srgbClr val="FFC83D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171444" y="5321808"/>
            <a:ext cx="9395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3</a:t>
            </a:r>
            <a:endParaRPr lang="ko-KR" sz="1100" dirty="0"/>
          </a:p>
        </p:txBody>
      </p:sp>
      <p:sp>
        <p:nvSpPr>
          <p:cNvPr id="26" name="Shape 23"/>
          <p:cNvSpPr/>
          <p:nvPr/>
        </p:nvSpPr>
        <p:spPr>
          <a:xfrm>
            <a:off x="4110990" y="5321808"/>
            <a:ext cx="1774698" cy="457200"/>
          </a:xfrm>
          <a:prstGeom prst="rect">
            <a:avLst/>
          </a:prstGeom>
          <a:solidFill>
            <a:srgbClr val="E0AE2E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110990" y="5321808"/>
            <a:ext cx="177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4</a:t>
            </a:r>
            <a:endParaRPr lang="ko-KR" sz="1100" dirty="0"/>
          </a:p>
        </p:txBody>
      </p:sp>
      <p:sp>
        <p:nvSpPr>
          <p:cNvPr id="28" name="Shape 25"/>
          <p:cNvSpPr/>
          <p:nvPr/>
        </p:nvSpPr>
        <p:spPr>
          <a:xfrm>
            <a:off x="5885688" y="5321808"/>
            <a:ext cx="939546" cy="457200"/>
          </a:xfrm>
          <a:prstGeom prst="rect">
            <a:avLst/>
          </a:prstGeom>
          <a:solidFill>
            <a:srgbClr val="FFC83D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885688" y="5321808"/>
            <a:ext cx="9395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5</a:t>
            </a:r>
            <a:endParaRPr lang="ko-KR" sz="1100" dirty="0"/>
          </a:p>
        </p:txBody>
      </p:sp>
      <p:sp>
        <p:nvSpPr>
          <p:cNvPr id="30" name="Shape 27"/>
          <p:cNvSpPr/>
          <p:nvPr/>
        </p:nvSpPr>
        <p:spPr>
          <a:xfrm>
            <a:off x="6825234" y="5321808"/>
            <a:ext cx="313182" cy="457200"/>
          </a:xfrm>
          <a:prstGeom prst="rect">
            <a:avLst/>
          </a:prstGeom>
          <a:solidFill>
            <a:srgbClr val="A7A1B6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138416" y="5321808"/>
            <a:ext cx="4593336" cy="457200"/>
          </a:xfrm>
          <a:prstGeom prst="rect">
            <a:avLst/>
          </a:prstGeom>
          <a:solidFill>
            <a:srgbClr val="6FD3C6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138416" y="5321808"/>
            <a:ext cx="4593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게임 화면</a:t>
            </a:r>
            <a:endParaRPr lang="ko-KR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457200" y="58247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0</a:t>
            </a:r>
            <a:endParaRPr lang="ko-KR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926592" y="58247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0.4</a:t>
            </a:r>
            <a:endParaRPr lang="ko-KR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6459474" y="58247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3.05</a:t>
            </a:r>
            <a:endParaRPr lang="ko-KR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11000232" y="58247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r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+2.4</a:t>
            </a:r>
            <a:endParaRPr lang="ko-KR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7A1B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/>
              <a:t>36</a:t>
            </a:fld>
            <a:endParaRPr lang="ko-KR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sz="2800" b="1" dirty="0">
                <a:solidFill>
                  <a:schemeClr val="bg2"/>
                </a:solidFill>
              </a:rPr>
              <a:t>폭탄마 쥐  </a:t>
            </a:r>
            <a:pPr eaLnBrk="0" algn="l" indent="0" marL="0">
              <a:buNone/>
            </a:pPr>
            <a:r>
              <a:rPr lang="ko-KR" sz="2800" b="1" dirty="0">
                <a:solidFill>
                  <a:srgbClr val="A7A1B6"/>
                </a:solidFill>
              </a:rPr>
              <a:t>콘티</a:t>
            </a:r>
            <a:endParaRPr lang="ko-KR" sz="2800" dirty="0"/>
          </a:p>
        </p:txBody>
      </p:sp>
      <p:sp>
        <p:nvSpPr>
          <p:cNvPr id="3" name="panel_1"/>
          <p:cNvSpPr/>
          <p:nvPr/>
        </p:nvSpPr>
        <p:spPr>
          <a:xfrm>
            <a:off x="457200" y="1097280"/>
            <a:ext cx="5486400" cy="1517333"/>
          </a:xfrm>
          <a:prstGeom prst="roundRect">
            <a:avLst>
              <a:gd name="adj" fmla="val 4821"/>
            </a:avLst>
          </a:prstGeom>
          <a:solidFill>
            <a:schemeClr val="tx2"/>
          </a:solidFill>
          <a:ln/>
        </p:spPr>
      </p:sp>
      <p:pic>
        <p:nvPicPr>
          <p:cNvPr id="4" name="img_1" descr="C:\Users\user\AppData\Local\Temp\claude\C--Project-NKK-PROJECT\0415198c-3dcb-489e-9557-3945752cc25a\scratchpad\frames\bomber\00_Cut1_0.6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2697480" cy="151733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0352" y="1170432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30352" y="1170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1</a:t>
            </a:r>
            <a:endParaRPr lang="ko-KR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3319272" y="11704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accent1"/>
                </a:solidFill>
              </a:rPr>
              <a:t>0.40 – 0.85초</a:t>
            </a:r>
            <a:endParaRPr lang="ko-KR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3319272" y="1481328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150" dirty="0">
                <a:solidFill>
                  <a:schemeClr val="bg2"/>
                </a:solidFill>
              </a:rPr>
              <a:t>절벽 위 정면: 팔짱 · 불티가 오름</a:t>
            </a:r>
            <a:endParaRPr lang="ko-KR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3319272" y="2212848"/>
            <a:ext cx="25146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정면 고정</a:t>
            </a:r>
            <a:endParaRPr lang="ko-KR" sz="1000" dirty="0"/>
          </a:p>
        </p:txBody>
      </p:sp>
      <p:sp>
        <p:nvSpPr>
          <p:cNvPr id="10" name="panel_2"/>
          <p:cNvSpPr/>
          <p:nvPr/>
        </p:nvSpPr>
        <p:spPr>
          <a:xfrm>
            <a:off x="6245352" y="1097280"/>
            <a:ext cx="5486400" cy="1517333"/>
          </a:xfrm>
          <a:prstGeom prst="roundRect">
            <a:avLst>
              <a:gd name="adj" fmla="val 4821"/>
            </a:avLst>
          </a:prstGeom>
          <a:solidFill>
            <a:schemeClr val="tx2"/>
          </a:solidFill>
          <a:ln/>
        </p:spPr>
      </p:sp>
      <p:pic>
        <p:nvPicPr>
          <p:cNvPr id="11" name="img_2" descr="C:\Users\user\AppData\Local\Temp\claude\C--Project-NKK-PROJECT\0415198c-3dcb-489e-9557-3945752cc25a\scratchpad\frames\bomber\01_Cut2_1.1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097280"/>
            <a:ext cx="2697480" cy="1517333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318504" y="1170432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318504" y="1170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2</a:t>
            </a:r>
            <a:endParaRPr lang="ko-KR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9107424" y="11704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accent1"/>
                </a:solidFill>
              </a:rPr>
              <a:t>0.85 – 1.30초</a:t>
            </a:r>
            <a:endParaRPr lang="ko-KR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9107424" y="1481328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150" dirty="0">
                <a:solidFill>
                  <a:schemeClr val="bg2"/>
                </a:solidFill>
              </a:rPr>
              <a:t>한 팔을 하늘로 → 두 팔을 하늘로 (발밑 작은 마법진)</a:t>
            </a:r>
            <a:endParaRPr lang="ko-KR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9107424" y="2212848"/>
            <a:ext cx="25146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셀 프레임 교체</a:t>
            </a:r>
            <a:endParaRPr lang="ko-KR" sz="1000" dirty="0"/>
          </a:p>
        </p:txBody>
      </p:sp>
      <p:sp>
        <p:nvSpPr>
          <p:cNvPr id="17" name="panel_3"/>
          <p:cNvSpPr/>
          <p:nvPr/>
        </p:nvSpPr>
        <p:spPr>
          <a:xfrm>
            <a:off x="457200" y="2797493"/>
            <a:ext cx="5486400" cy="1517333"/>
          </a:xfrm>
          <a:prstGeom prst="roundRect">
            <a:avLst>
              <a:gd name="adj" fmla="val 4821"/>
            </a:avLst>
          </a:prstGeom>
          <a:solidFill>
            <a:schemeClr val="tx2"/>
          </a:solidFill>
          <a:ln/>
        </p:spPr>
      </p:sp>
      <p:pic>
        <p:nvPicPr>
          <p:cNvPr id="18" name="img_3" descr="C:\Users\user\AppData\Local\Temp\claude\C--Project-NKK-PROJECT\0415198c-3dcb-489e-9557-3945752cc25a\scratchpad\frames\bomber\02_Cut3_1.57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97493"/>
            <a:ext cx="2697480" cy="1517333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30352" y="2870645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530352" y="287064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3</a:t>
            </a:r>
            <a:endParaRPr lang="ko-KR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3319272" y="2870645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accent1"/>
                </a:solidFill>
              </a:rPr>
              <a:t>1.30 – 1.75초</a:t>
            </a:r>
            <a:endParaRPr lang="ko-KR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3319272" y="3181541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150" dirty="0">
                <a:solidFill>
                  <a:schemeClr val="bg2"/>
                </a:solidFill>
              </a:rPr>
              <a:t>얼굴 정면 클로즈업 · 눈이 붉게 번쩍</a:t>
            </a:r>
            <a:endParaRPr lang="ko-KR" sz="1150" dirty="0"/>
          </a:p>
        </p:txBody>
      </p:sp>
      <p:sp>
        <p:nvSpPr>
          <p:cNvPr id="23" name="Text 18"/>
          <p:cNvSpPr txBox="1"/>
          <p:nvPr/>
        </p:nvSpPr>
        <p:spPr>
          <a:xfrm>
            <a:off x="3319272" y="3913061"/>
            <a:ext cx="25146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배경 판 + 쥐 판 분리</a:t>
            </a:r>
            <a:endParaRPr lang="ko-KR" sz="1000" dirty="0"/>
          </a:p>
        </p:txBody>
      </p:sp>
      <p:sp>
        <p:nvSpPr>
          <p:cNvPr id="24" name="panel_4"/>
          <p:cNvSpPr/>
          <p:nvPr/>
        </p:nvSpPr>
        <p:spPr>
          <a:xfrm>
            <a:off x="6245352" y="2797493"/>
            <a:ext cx="5486400" cy="1517333"/>
          </a:xfrm>
          <a:prstGeom prst="roundRect">
            <a:avLst>
              <a:gd name="adj" fmla="val 4821"/>
            </a:avLst>
          </a:prstGeom>
          <a:solidFill>
            <a:schemeClr val="tx2"/>
          </a:solidFill>
          <a:ln/>
        </p:spPr>
      </p:sp>
      <p:pic>
        <p:nvPicPr>
          <p:cNvPr id="25" name="img_4" descr="C:\Users\user\AppData\Local\Temp\claude\C--Project-NKK-PROJECT\0415198c-3dcb-489e-9557-3945752cc25a\scratchpad\frames\bomber\03_Cut4_2.26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2797493"/>
            <a:ext cx="2697480" cy="1517333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6318504" y="2870645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6318504" y="287064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4</a:t>
            </a:r>
            <a:endParaRPr lang="ko-KR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9107424" y="2870645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accent1"/>
                </a:solidFill>
              </a:rPr>
              <a:t>1.75 – 2.60초</a:t>
            </a:r>
            <a:endParaRPr lang="ko-KR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9107424" y="3181541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150" dirty="0">
                <a:solidFill>
                  <a:schemeClr val="bg2"/>
                </a:solidFill>
              </a:rPr>
              <a:t>빨간 마법진이 아래부터 한 겹씩 쌓여 올라감 (원근 타원 + 룬 고리 · 돌기)</a:t>
            </a:r>
            <a:endParaRPr lang="ko-KR" sz="1150" dirty="0"/>
          </a:p>
        </p:txBody>
      </p:sp>
      <p:sp>
        <p:nvSpPr>
          <p:cNvPr id="30" name="Text 24"/>
          <p:cNvSpPr txBox="1"/>
          <p:nvPr/>
        </p:nvSpPr>
        <p:spPr>
          <a:xfrm>
            <a:off x="9107424" y="3913061"/>
            <a:ext cx="25146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지평선에서 하늘로 틸트 업</a:t>
            </a:r>
            <a:endParaRPr lang="ko-KR" sz="1000" dirty="0"/>
          </a:p>
        </p:txBody>
      </p:sp>
      <p:sp>
        <p:nvSpPr>
          <p:cNvPr id="31" name="panel_5"/>
          <p:cNvSpPr/>
          <p:nvPr/>
        </p:nvSpPr>
        <p:spPr>
          <a:xfrm>
            <a:off x="457200" y="4497705"/>
            <a:ext cx="5486400" cy="1517333"/>
          </a:xfrm>
          <a:prstGeom prst="roundRect">
            <a:avLst>
              <a:gd name="adj" fmla="val 4821"/>
            </a:avLst>
          </a:prstGeom>
          <a:solidFill>
            <a:schemeClr val="tx2"/>
          </a:solidFill>
          <a:ln/>
        </p:spPr>
      </p:sp>
      <p:pic>
        <p:nvPicPr>
          <p:cNvPr id="32" name="img_5" descr="C:\Users\user\AppData\Local\Temp\claude\C--Project-NKK-PROJECT\0415198c-3dcb-489e-9557-3945752cc25a\scratchpad\frames\bomber\04_Cut5_2.87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497705"/>
            <a:ext cx="2697480" cy="1517333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530352" y="4570857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4" name="Text 27"/>
          <p:cNvSpPr txBox="1"/>
          <p:nvPr/>
        </p:nvSpPr>
        <p:spPr>
          <a:xfrm>
            <a:off x="530352" y="457085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5</a:t>
            </a:r>
            <a:endParaRPr lang="ko-KR" sz="1300" dirty="0"/>
          </a:p>
        </p:txBody>
      </p:sp>
      <p:sp>
        <p:nvSpPr>
          <p:cNvPr id="35" name="Text 28"/>
          <p:cNvSpPr txBox="1"/>
          <p:nvPr/>
        </p:nvSpPr>
        <p:spPr>
          <a:xfrm>
            <a:off x="3319272" y="4570857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accent1"/>
                </a:solidFill>
              </a:rPr>
              <a:t>2.60 – 3.05초</a:t>
            </a:r>
            <a:endParaRPr lang="ko-KR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3319272" y="4881753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150" dirty="0">
                <a:solidFill>
                  <a:schemeClr val="bg2"/>
                </a:solidFill>
              </a:rPr>
              <a:t>맨 위 마법진에서 번쩍 → 레이저가 마법진을 하나씩 꿰뚫으며 아래로</a:t>
            </a:r>
            <a:endParaRPr lang="ko-KR" sz="1150" dirty="0"/>
          </a:p>
        </p:txBody>
      </p:sp>
      <p:sp>
        <p:nvSpPr>
          <p:cNvPr id="37" name="Text 30"/>
          <p:cNvSpPr txBox="1"/>
          <p:nvPr/>
        </p:nvSpPr>
        <p:spPr>
          <a:xfrm>
            <a:off x="3319272" y="5613273"/>
            <a:ext cx="25146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빛 끝을 따라 틸트 다운 · 지평선에 꽂히는 순간 컷신 걷힘</a:t>
            </a:r>
            <a:endParaRPr lang="ko-KR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7A1B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/>
              <a:t>37</a:t>
            </a:fld>
            <a:endParaRPr lang="ko-KR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sz="2800" b="1" dirty="0">
                <a:solidFill>
                  <a:schemeClr val="bg2"/>
                </a:solidFill>
              </a:rPr>
              <a:t>아이스 퀸 쥐  </a:t>
            </a:r>
            <a:pPr eaLnBrk="0" algn="l" indent="0" marL="0">
              <a:buNone/>
            </a:pPr>
            <a:r>
              <a:rPr lang="ko-KR" sz="2800" b="1" dirty="0">
                <a:solidFill>
                  <a:srgbClr val="FFC83D"/>
                </a:solidFill>
              </a:rPr>
              <a:t>얼음성 → 우박 눈보라</a:t>
            </a:r>
            <a:endParaRPr lang="ko-KR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384048"/>
            <a:ext cx="1399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sz="1400" dirty="0">
                <a:solidFill>
                  <a:schemeClr val="accent5"/>
                </a:solidFill>
              </a:rPr>
              <a:t>15 / 16</a:t>
            </a:r>
            <a:endParaRPr lang="ko-KR" sz="1400" dirty="0"/>
          </a:p>
        </p:txBody>
      </p:sp>
      <p:pic>
        <p:nvPicPr>
          <p:cNvPr id="4" name="hero" descr="C:\Users\user\AppData\Local\Temp\claude\C--Project-NKK-PROJECT\0415198c-3dcb-489e-9557-3945752cc25a\scratchpad\frames\icequeen\03_Cut4_2.2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6400800" cy="360045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178040" y="1143000"/>
            <a:ext cx="45537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0000"/>
              </a:lnSpc>
              <a:buNone/>
            </a:pPr>
            <a:r>
              <a:rPr lang="ko-KR" sz="1500" b="1" dirty="0">
                <a:solidFill>
                  <a:schemeClr val="bg2"/>
                </a:solidFill>
              </a:rPr>
              <a:t>언 호수에 거대한 얼음성을 소환하고, 성에서 솟은 눈보라가 우박이 되어 전장에 쏟아진다.</a:t>
            </a:r>
            <a:endParaRPr lang="ko-KR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178040" y="21945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테이블 기술명</a:t>
            </a:r>
            <a:endParaRPr lang="ko-KR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412480" y="2194560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영원한 겨울  (31015)</a:t>
            </a:r>
            <a:endParaRPr lang="ko-KR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178040" y="262432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컷 구성</a:t>
            </a:r>
            <a:endParaRPr lang="ko-KR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412480" y="2624328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6컷 · 패널 6장</a:t>
            </a:r>
            <a:endParaRPr lang="ko-KR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178040" y="3054096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컷신 길이</a:t>
            </a:r>
            <a:endParaRPr lang="ko-KR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412480" y="3054096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내부 3.40초 · 0.75배속 → 실제 ≈4.5초</a:t>
            </a:r>
            <a:endParaRPr lang="ko-KR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178040" y="3483864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게임 화면</a:t>
            </a:r>
            <a:endParaRPr lang="ko-KR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412480" y="3483864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걷힘 0.4초 → 3초 · 우박 3초 · 다단 10타 · 대상마다 피해 숫자 · 화면 안 생명체 꽁꽁 1.5초</a:t>
            </a:r>
            <a:endParaRPr lang="ko-KR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178040" y="391363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컷신 글</a:t>
            </a:r>
            <a:endParaRPr lang="ko-KR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412480" y="3913632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제목 · 대사 · 밈</a:t>
            </a:r>
            <a:endParaRPr lang="ko-KR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178040" y="43434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밈 · 대사</a:t>
            </a:r>
            <a:endParaRPr lang="ko-KR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8412480" y="4343400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※ 얼어 죽어도 아이스 아메리카노</a:t>
            </a:r>
            <a:endParaRPr lang="ko-KR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49743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accent5"/>
                </a:solidFill>
              </a:rPr>
              <a:t>타임라인 (컷신 내부 시간 · 게임 화면은 같은 축척)</a:t>
            </a:r>
            <a:endParaRPr lang="ko-KR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5321808"/>
            <a:ext cx="663209" cy="457200"/>
          </a:xfrm>
          <a:prstGeom prst="rect">
            <a:avLst/>
          </a:prstGeom>
          <a:solidFill>
            <a:srgbClr val="35304A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120409" y="5321808"/>
            <a:ext cx="746110" cy="457200"/>
          </a:xfrm>
          <a:prstGeom prst="rect">
            <a:avLst/>
          </a:prstGeom>
          <a:solidFill>
            <a:srgbClr val="FFC83D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120409" y="5321808"/>
            <a:ext cx="7461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1</a:t>
            </a:r>
            <a:endParaRPr lang="ko-KR" sz="1100" dirty="0"/>
          </a:p>
        </p:txBody>
      </p:sp>
      <p:sp>
        <p:nvSpPr>
          <p:cNvPr id="22" name="Shape 19"/>
          <p:cNvSpPr/>
          <p:nvPr/>
        </p:nvSpPr>
        <p:spPr>
          <a:xfrm>
            <a:off x="1866519" y="5321808"/>
            <a:ext cx="911912" cy="457200"/>
          </a:xfrm>
          <a:prstGeom prst="rect">
            <a:avLst/>
          </a:prstGeom>
          <a:solidFill>
            <a:srgbClr val="E0AE2E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866519" y="5321808"/>
            <a:ext cx="91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2</a:t>
            </a:r>
            <a:endParaRPr lang="ko-KR" sz="1100" dirty="0"/>
          </a:p>
        </p:txBody>
      </p:sp>
      <p:sp>
        <p:nvSpPr>
          <p:cNvPr id="24" name="Shape 21"/>
          <p:cNvSpPr/>
          <p:nvPr/>
        </p:nvSpPr>
        <p:spPr>
          <a:xfrm>
            <a:off x="2778431" y="5321808"/>
            <a:ext cx="829011" cy="457200"/>
          </a:xfrm>
          <a:prstGeom prst="rect">
            <a:avLst/>
          </a:prstGeom>
          <a:solidFill>
            <a:srgbClr val="FFC83D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778431" y="5321808"/>
            <a:ext cx="8290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3</a:t>
            </a:r>
            <a:endParaRPr lang="ko-KR" sz="1100" dirty="0"/>
          </a:p>
        </p:txBody>
      </p:sp>
      <p:sp>
        <p:nvSpPr>
          <p:cNvPr id="26" name="Shape 23"/>
          <p:cNvSpPr/>
          <p:nvPr/>
        </p:nvSpPr>
        <p:spPr>
          <a:xfrm>
            <a:off x="3607442" y="5321808"/>
            <a:ext cx="994813" cy="457200"/>
          </a:xfrm>
          <a:prstGeom prst="rect">
            <a:avLst/>
          </a:prstGeom>
          <a:solidFill>
            <a:srgbClr val="E0AE2E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607442" y="5321808"/>
            <a:ext cx="9948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4</a:t>
            </a:r>
            <a:endParaRPr lang="ko-KR" sz="1100" dirty="0"/>
          </a:p>
        </p:txBody>
      </p:sp>
      <p:sp>
        <p:nvSpPr>
          <p:cNvPr id="28" name="Shape 25"/>
          <p:cNvSpPr/>
          <p:nvPr/>
        </p:nvSpPr>
        <p:spPr>
          <a:xfrm>
            <a:off x="4602256" y="5321808"/>
            <a:ext cx="829011" cy="457200"/>
          </a:xfrm>
          <a:prstGeom prst="rect">
            <a:avLst/>
          </a:prstGeom>
          <a:solidFill>
            <a:srgbClr val="FFC83D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602256" y="5321808"/>
            <a:ext cx="8290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5</a:t>
            </a:r>
            <a:endParaRPr lang="ko-KR" sz="1100" dirty="0"/>
          </a:p>
        </p:txBody>
      </p:sp>
      <p:sp>
        <p:nvSpPr>
          <p:cNvPr id="30" name="Shape 27"/>
          <p:cNvSpPr/>
          <p:nvPr/>
        </p:nvSpPr>
        <p:spPr>
          <a:xfrm>
            <a:off x="5431267" y="5321808"/>
            <a:ext cx="663209" cy="457200"/>
          </a:xfrm>
          <a:prstGeom prst="rect">
            <a:avLst/>
          </a:prstGeom>
          <a:solidFill>
            <a:srgbClr val="E0AE2E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431267" y="5321808"/>
            <a:ext cx="6632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6</a:t>
            </a:r>
            <a:endParaRPr lang="ko-KR" sz="1100" dirty="0"/>
          </a:p>
        </p:txBody>
      </p:sp>
      <p:sp>
        <p:nvSpPr>
          <p:cNvPr id="32" name="Shape 29"/>
          <p:cNvSpPr/>
          <p:nvPr/>
        </p:nvSpPr>
        <p:spPr>
          <a:xfrm>
            <a:off x="6094476" y="5321808"/>
            <a:ext cx="663209" cy="457200"/>
          </a:xfrm>
          <a:prstGeom prst="rect">
            <a:avLst/>
          </a:prstGeom>
          <a:solidFill>
            <a:srgbClr val="A7A1B6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757685" y="5321808"/>
            <a:ext cx="4974067" cy="457200"/>
          </a:xfrm>
          <a:prstGeom prst="rect">
            <a:avLst/>
          </a:prstGeom>
          <a:solidFill>
            <a:srgbClr val="6FD3C6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757685" y="5321808"/>
            <a:ext cx="49740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게임 화면</a:t>
            </a:r>
            <a:endParaRPr lang="ko-KR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457200" y="58247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0</a:t>
            </a:r>
            <a:endParaRPr lang="ko-KR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754649" y="58247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0.4</a:t>
            </a:r>
            <a:endParaRPr lang="ko-KR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5728716" y="58247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3.40</a:t>
            </a:r>
            <a:endParaRPr lang="ko-KR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11000232" y="58247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r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+3.4</a:t>
            </a:r>
            <a:endParaRPr lang="ko-KR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7A1B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/>
              <a:t>38</a:t>
            </a:fld>
            <a:endParaRPr lang="ko-KR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sz="2800" b="1" dirty="0">
                <a:solidFill>
                  <a:schemeClr val="bg2"/>
                </a:solidFill>
              </a:rPr>
              <a:t>아이스 퀸 쥐  </a:t>
            </a:r>
            <a:pPr eaLnBrk="0" algn="l" indent="0" marL="0">
              <a:buNone/>
            </a:pPr>
            <a:r>
              <a:rPr lang="ko-KR" sz="2800" b="1" dirty="0">
                <a:solidFill>
                  <a:srgbClr val="A7A1B6"/>
                </a:solidFill>
              </a:rPr>
              <a:t>콘티</a:t>
            </a:r>
            <a:endParaRPr lang="ko-KR" sz="2800" dirty="0"/>
          </a:p>
        </p:txBody>
      </p:sp>
      <p:sp>
        <p:nvSpPr>
          <p:cNvPr id="3" name="panel_1"/>
          <p:cNvSpPr/>
          <p:nvPr/>
        </p:nvSpPr>
        <p:spPr>
          <a:xfrm>
            <a:off x="457200" y="1097280"/>
            <a:ext cx="5486400" cy="1517333"/>
          </a:xfrm>
          <a:prstGeom prst="roundRect">
            <a:avLst>
              <a:gd name="adj" fmla="val 4821"/>
            </a:avLst>
          </a:prstGeom>
          <a:solidFill>
            <a:schemeClr val="tx2"/>
          </a:solidFill>
          <a:ln/>
        </p:spPr>
      </p:sp>
      <p:pic>
        <p:nvPicPr>
          <p:cNvPr id="4" name="img_1" descr="C:\Users\user\AppData\Local\Temp\claude\C--Project-NKK-PROJECT\0415198c-3dcb-489e-9557-3945752cc25a\scratchpad\frames\icequeen\00_Cut1_0.6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2697480" cy="151733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0352" y="1170432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30352" y="1170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1</a:t>
            </a:r>
            <a:endParaRPr lang="ko-KR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3319272" y="11704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accent1"/>
                </a:solidFill>
              </a:rPr>
              <a:t>0.40 – 0.85초</a:t>
            </a:r>
            <a:endParaRPr lang="ko-KR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3319272" y="1481328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150" dirty="0">
                <a:solidFill>
                  <a:schemeClr val="bg2"/>
                </a:solidFill>
              </a:rPr>
              <a:t>오로라가 흐르는 하늘 · 큰 눈송이가 모여듦</a:t>
            </a:r>
            <a:endParaRPr lang="ko-KR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3319272" y="2212848"/>
            <a:ext cx="25146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하늘에서 아래로 휙 틸트 · 줌 1.25 → 1.10</a:t>
            </a:r>
            <a:endParaRPr lang="ko-KR" sz="1000" dirty="0"/>
          </a:p>
        </p:txBody>
      </p:sp>
      <p:sp>
        <p:nvSpPr>
          <p:cNvPr id="10" name="panel_2"/>
          <p:cNvSpPr/>
          <p:nvPr/>
        </p:nvSpPr>
        <p:spPr>
          <a:xfrm>
            <a:off x="6245352" y="1097280"/>
            <a:ext cx="5486400" cy="1517333"/>
          </a:xfrm>
          <a:prstGeom prst="roundRect">
            <a:avLst>
              <a:gd name="adj" fmla="val 4821"/>
            </a:avLst>
          </a:prstGeom>
          <a:solidFill>
            <a:schemeClr val="tx2"/>
          </a:solidFill>
          <a:ln/>
        </p:spPr>
      </p:sp>
      <p:pic>
        <p:nvPicPr>
          <p:cNvPr id="11" name="img_2" descr="C:\Users\user\AppData\Local\Temp\claude\C--Project-NKK-PROJECT\0415198c-3dcb-489e-9557-3945752cc25a\scratchpad\frames\icequeen\01_Cut2_1.18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097280"/>
            <a:ext cx="2697480" cy="1517333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318504" y="1170432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318504" y="1170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2</a:t>
            </a:r>
            <a:endParaRPr lang="ko-KR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9107424" y="11704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accent1"/>
                </a:solidFill>
              </a:rPr>
              <a:t>0.85 – 1.40초</a:t>
            </a:r>
            <a:endParaRPr lang="ko-KR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9107424" y="1481328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150" dirty="0">
                <a:solidFill>
                  <a:schemeClr val="bg2"/>
                </a:solidFill>
              </a:rPr>
              <a:t>언 호수: 웅크렸다 → 두 앞발을 하늘로 (얼음성 소환)</a:t>
            </a:r>
            <a:endParaRPr lang="ko-KR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9107424" y="2212848"/>
            <a:ext cx="25146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여왕 확대 · 짧은 흔들림</a:t>
            </a:r>
            <a:endParaRPr lang="ko-KR" sz="1000" dirty="0"/>
          </a:p>
        </p:txBody>
      </p:sp>
      <p:sp>
        <p:nvSpPr>
          <p:cNvPr id="17" name="panel_3"/>
          <p:cNvSpPr/>
          <p:nvPr/>
        </p:nvSpPr>
        <p:spPr>
          <a:xfrm>
            <a:off x="457200" y="2797493"/>
            <a:ext cx="5486400" cy="1517333"/>
          </a:xfrm>
          <a:prstGeom prst="roundRect">
            <a:avLst>
              <a:gd name="adj" fmla="val 4821"/>
            </a:avLst>
          </a:prstGeom>
          <a:solidFill>
            <a:schemeClr val="tx2"/>
          </a:solidFill>
          <a:ln/>
        </p:spPr>
      </p:sp>
      <p:pic>
        <p:nvPicPr>
          <p:cNvPr id="18" name="img_3" descr="C:\Users\user\AppData\Local\Temp\claude\C--Project-NKK-PROJECT\0415198c-3dcb-489e-9557-3945752cc25a\scratchpad\frames\icequeen\02_Cut3_1.70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97493"/>
            <a:ext cx="2697480" cy="1517333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30352" y="2870645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530352" y="287064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3</a:t>
            </a:r>
            <a:endParaRPr lang="ko-KR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3319272" y="2870645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accent1"/>
                </a:solidFill>
              </a:rPr>
              <a:t>1.40 – 1.90초</a:t>
            </a:r>
            <a:endParaRPr lang="ko-KR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3319272" y="3181541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150" dirty="0">
                <a:solidFill>
                  <a:schemeClr val="bg2"/>
                </a:solidFill>
              </a:rPr>
              <a:t>얼굴 클로즈업</a:t>
            </a:r>
            <a:endParaRPr lang="ko-KR" sz="1150" dirty="0"/>
          </a:p>
        </p:txBody>
      </p:sp>
      <p:sp>
        <p:nvSpPr>
          <p:cNvPr id="23" name="Text 18"/>
          <p:cNvSpPr txBox="1"/>
          <p:nvPr/>
        </p:nvSpPr>
        <p:spPr>
          <a:xfrm>
            <a:off x="3319272" y="3913061"/>
            <a:ext cx="25146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전환 순간 흰 플래시</a:t>
            </a:r>
            <a:endParaRPr lang="ko-KR" sz="1000" dirty="0"/>
          </a:p>
        </p:txBody>
      </p:sp>
      <p:sp>
        <p:nvSpPr>
          <p:cNvPr id="24" name="panel_4"/>
          <p:cNvSpPr/>
          <p:nvPr/>
        </p:nvSpPr>
        <p:spPr>
          <a:xfrm>
            <a:off x="6245352" y="2797493"/>
            <a:ext cx="5486400" cy="1517333"/>
          </a:xfrm>
          <a:prstGeom prst="roundRect">
            <a:avLst>
              <a:gd name="adj" fmla="val 4821"/>
            </a:avLst>
          </a:prstGeom>
          <a:solidFill>
            <a:schemeClr val="tx2"/>
          </a:solidFill>
          <a:ln/>
        </p:spPr>
      </p:sp>
      <p:pic>
        <p:nvPicPr>
          <p:cNvPr id="25" name="img_4" descr="C:\Users\user\AppData\Local\Temp\claude\C--Project-NKK-PROJECT\0415198c-3dcb-489e-9557-3945752cc25a\scratchpad\frames\icequeen\03_Cut4_2.26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2797493"/>
            <a:ext cx="2697480" cy="1517333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6318504" y="2870645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6318504" y="287064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4</a:t>
            </a:r>
            <a:endParaRPr lang="ko-KR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9107424" y="2870645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accent1"/>
                </a:solidFill>
              </a:rPr>
              <a:t>1.90 – 2.50초</a:t>
            </a:r>
            <a:endParaRPr lang="ko-KR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9107424" y="3181541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150" dirty="0">
                <a:solidFill>
                  <a:schemeClr val="bg2"/>
                </a:solidFill>
              </a:rPr>
              <a:t>하늘에서 얼음성이 호수로 쿵 (2.22초 착지) → 세상이 얼어붙음</a:t>
            </a:r>
            <a:endParaRPr lang="ko-KR" sz="1150" dirty="0"/>
          </a:p>
        </p:txBody>
      </p:sp>
      <p:sp>
        <p:nvSpPr>
          <p:cNvPr id="30" name="Text 24"/>
          <p:cNvSpPr txBox="1"/>
          <p:nvPr/>
        </p:nvSpPr>
        <p:spPr>
          <a:xfrm>
            <a:off x="9107424" y="3913061"/>
            <a:ext cx="25146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미세 줌 · 착지 순간 강한 흔들림 · 원형 파동 · 파편</a:t>
            </a:r>
            <a:endParaRPr lang="ko-KR" sz="1000" dirty="0"/>
          </a:p>
        </p:txBody>
      </p:sp>
      <p:sp>
        <p:nvSpPr>
          <p:cNvPr id="31" name="panel_5"/>
          <p:cNvSpPr/>
          <p:nvPr/>
        </p:nvSpPr>
        <p:spPr>
          <a:xfrm>
            <a:off x="457200" y="4497705"/>
            <a:ext cx="5486400" cy="1517333"/>
          </a:xfrm>
          <a:prstGeom prst="roundRect">
            <a:avLst>
              <a:gd name="adj" fmla="val 4821"/>
            </a:avLst>
          </a:prstGeom>
          <a:solidFill>
            <a:schemeClr val="tx2"/>
          </a:solidFill>
          <a:ln/>
        </p:spPr>
      </p:sp>
      <p:pic>
        <p:nvPicPr>
          <p:cNvPr id="32" name="img_5" descr="C:\Users\user\AppData\Local\Temp\claude\C--Project-NKK-PROJECT\0415198c-3dcb-489e-9557-3945752cc25a\scratchpad\frames\icequeen\04_Cut5_2.80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497705"/>
            <a:ext cx="2697480" cy="1517333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530352" y="4570857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4" name="Text 27"/>
          <p:cNvSpPr txBox="1"/>
          <p:nvPr/>
        </p:nvSpPr>
        <p:spPr>
          <a:xfrm>
            <a:off x="530352" y="457085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5</a:t>
            </a:r>
            <a:endParaRPr lang="ko-KR" sz="1300" dirty="0"/>
          </a:p>
        </p:txBody>
      </p:sp>
      <p:sp>
        <p:nvSpPr>
          <p:cNvPr id="35" name="Text 28"/>
          <p:cNvSpPr txBox="1"/>
          <p:nvPr/>
        </p:nvSpPr>
        <p:spPr>
          <a:xfrm>
            <a:off x="3319272" y="4570857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accent1"/>
                </a:solidFill>
              </a:rPr>
              <a:t>2.50 – 3.00초</a:t>
            </a:r>
            <a:endParaRPr lang="ko-KR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3319272" y="4881753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150" dirty="0">
                <a:solidFill>
                  <a:schemeClr val="bg2"/>
                </a:solidFill>
              </a:rPr>
              <a:t>성에서 눈보라가 하늘로 솟구침</a:t>
            </a:r>
            <a:endParaRPr lang="ko-KR" sz="1150" dirty="0"/>
          </a:p>
        </p:txBody>
      </p:sp>
      <p:sp>
        <p:nvSpPr>
          <p:cNvPr id="37" name="Text 30"/>
          <p:cNvSpPr txBox="1"/>
          <p:nvPr/>
        </p:nvSpPr>
        <p:spPr>
          <a:xfrm>
            <a:off x="3319272" y="5613273"/>
            <a:ext cx="25146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위로 틸트 · 밈 소품과 글 등장</a:t>
            </a:r>
            <a:endParaRPr lang="ko-KR" sz="1000" dirty="0"/>
          </a:p>
        </p:txBody>
      </p:sp>
      <p:sp>
        <p:nvSpPr>
          <p:cNvPr id="38" name="panel_6"/>
          <p:cNvSpPr/>
          <p:nvPr/>
        </p:nvSpPr>
        <p:spPr>
          <a:xfrm>
            <a:off x="6245352" y="4497705"/>
            <a:ext cx="5486400" cy="1517333"/>
          </a:xfrm>
          <a:prstGeom prst="roundRect">
            <a:avLst>
              <a:gd name="adj" fmla="val 4821"/>
            </a:avLst>
          </a:prstGeom>
          <a:solidFill>
            <a:schemeClr val="tx2"/>
          </a:solidFill>
          <a:ln/>
        </p:spPr>
      </p:sp>
      <p:pic>
        <p:nvPicPr>
          <p:cNvPr id="39" name="img_6" descr="C:\Users\user\AppData\Local\Temp\claude\C--Project-NKK-PROJECT\0415198c-3dcb-489e-9557-3945752cc25a\scratchpad\frames\icequeen\05_Cut6_3.24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5352" y="4497705"/>
            <a:ext cx="2697480" cy="1517333"/>
          </a:xfrm>
          <a:prstGeom prst="rect">
            <a:avLst/>
          </a:prstGeom>
        </p:spPr>
      </p:pic>
      <p:sp>
        <p:nvSpPr>
          <p:cNvPr id="40" name="Shape 32"/>
          <p:cNvSpPr/>
          <p:nvPr/>
        </p:nvSpPr>
        <p:spPr>
          <a:xfrm>
            <a:off x="6318504" y="4570857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1" name="Text 33"/>
          <p:cNvSpPr txBox="1"/>
          <p:nvPr/>
        </p:nvSpPr>
        <p:spPr>
          <a:xfrm>
            <a:off x="6318504" y="457085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6</a:t>
            </a:r>
            <a:endParaRPr lang="ko-KR" sz="1300" dirty="0"/>
          </a:p>
        </p:txBody>
      </p:sp>
      <p:sp>
        <p:nvSpPr>
          <p:cNvPr id="42" name="Text 34"/>
          <p:cNvSpPr txBox="1"/>
          <p:nvPr/>
        </p:nvSpPr>
        <p:spPr>
          <a:xfrm>
            <a:off x="9107424" y="4570857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accent1"/>
                </a:solidFill>
              </a:rPr>
              <a:t>3.00 – 3.40초</a:t>
            </a:r>
            <a:endParaRPr lang="ko-KR" sz="1200" dirty="0"/>
          </a:p>
        </p:txBody>
      </p:sp>
      <p:sp>
        <p:nvSpPr>
          <p:cNvPr id="43" name="Text 35"/>
          <p:cNvSpPr txBox="1"/>
          <p:nvPr/>
        </p:nvSpPr>
        <p:spPr>
          <a:xfrm>
            <a:off x="9107424" y="4881753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150" dirty="0">
                <a:solidFill>
                  <a:schemeClr val="bg2"/>
                </a:solidFill>
              </a:rPr>
              <a:t>하늘 가득 우박 섞인 눈보라 → 화이트아웃</a:t>
            </a:r>
            <a:endParaRPr lang="ko-KR" sz="1150" dirty="0"/>
          </a:p>
        </p:txBody>
      </p:sp>
      <p:sp>
        <p:nvSpPr>
          <p:cNvPr id="44" name="Text 36"/>
          <p:cNvSpPr txBox="1"/>
          <p:nvPr/>
        </p:nvSpPr>
        <p:spPr>
          <a:xfrm>
            <a:off x="9107424" y="5613273"/>
            <a:ext cx="25146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줌 인 · 3.15초부터 하얗게</a:t>
            </a:r>
            <a:endParaRPr lang="ko-KR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7A1B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/>
              <a:t>39</a:t>
            </a:fld>
            <a:endParaRPr lang="ko-KR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sz="2800" b="1" dirty="0">
                <a:solidFill>
                  <a:schemeClr val="bg2"/>
                </a:solidFill>
              </a:rPr>
              <a:t>메이드 쥐  </a:t>
            </a:r>
            <a:pPr eaLnBrk="0" algn="l" indent="0" marL="0">
              <a:buNone/>
            </a:pPr>
            <a:r>
              <a:rPr lang="ko-KR" sz="2800" b="1" dirty="0">
                <a:solidFill>
                  <a:srgbClr val="FFC83D"/>
                </a:solidFill>
              </a:rPr>
              <a:t>시간 정지 + 칼</a:t>
            </a:r>
            <a:endParaRPr lang="ko-KR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384048"/>
            <a:ext cx="1399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sz="1400" dirty="0">
                <a:solidFill>
                  <a:schemeClr val="accent5"/>
                </a:solidFill>
              </a:rPr>
              <a:t>16 / 16</a:t>
            </a:r>
            <a:endParaRPr lang="ko-KR" sz="1400" dirty="0"/>
          </a:p>
        </p:txBody>
      </p:sp>
      <p:pic>
        <p:nvPicPr>
          <p:cNvPr id="4" name="hero" descr="C:\Users\user\AppData\Local\Temp\claude\C--Project-NKK-PROJECT\0415198c-3dcb-489e-9557-3945752cc25a\scratchpad\frames\maid\04_Cut5_2.8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6400800" cy="360045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178040" y="1143000"/>
            <a:ext cx="45537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0000"/>
              </a:lnSpc>
              <a:buNone/>
            </a:pPr>
            <a:r>
              <a:rPr lang="ko-KR" sz="1500" b="1" dirty="0">
                <a:solidFill>
                  <a:schemeClr val="bg2"/>
                </a:solidFill>
              </a:rPr>
              <a:t>회중시계를 딸깍, 손가락을 딱 — 멈춘 회색 세계에 칼을 깔고 시간이 흐르는 순간 칼 비가 쏟아진다.</a:t>
            </a:r>
            <a:endParaRPr lang="ko-KR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178040" y="21945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테이블 기술명</a:t>
            </a:r>
            <a:endParaRPr lang="ko-KR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412480" y="2194560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메이드의 세계  (31016)</a:t>
            </a:r>
            <a:endParaRPr lang="ko-KR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178040" y="262432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컷 구성</a:t>
            </a:r>
            <a:endParaRPr lang="ko-KR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412480" y="2624328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6컷 · 패널 6장</a:t>
            </a:r>
            <a:endParaRPr lang="ko-KR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178040" y="3054096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컷신 길이</a:t>
            </a:r>
            <a:endParaRPr lang="ko-KR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412480" y="3054096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내부 3.45초 · 0.75배속 → 실제 ≈4.6초</a:t>
            </a:r>
            <a:endParaRPr lang="ko-KR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178040" y="3483864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게임 화면</a:t>
            </a:r>
            <a:endParaRPr lang="ko-KR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412480" y="3483864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걷힘 0.3초 → 2.4초 · 칼 비 · 다단 10타 · 대상마다 칼 꽂힘</a:t>
            </a:r>
            <a:endParaRPr lang="ko-KR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178040" y="391363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컷신 글</a:t>
            </a:r>
            <a:endParaRPr lang="ko-KR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412480" y="3913632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제목 · 대사 · 밈</a:t>
            </a:r>
            <a:endParaRPr lang="ko-KR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178040" y="43434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5"/>
                </a:solidFill>
              </a:rPr>
              <a:t>밈 · 대사</a:t>
            </a:r>
            <a:endParaRPr lang="ko-KR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8412480" y="4343400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bg2"/>
                </a:solidFill>
              </a:rPr>
              <a:t>※ 시간 외 근무 수당은 청구하지 않습니다</a:t>
            </a:r>
            <a:endParaRPr lang="ko-KR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49743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accent5"/>
                </a:solidFill>
              </a:rPr>
              <a:t>타임라인 (컷신 내부 시간 · 게임 화면은 같은 축척)</a:t>
            </a:r>
            <a:endParaRPr lang="ko-KR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5321808"/>
            <a:ext cx="733304" cy="457200"/>
          </a:xfrm>
          <a:prstGeom prst="rect">
            <a:avLst/>
          </a:prstGeom>
          <a:solidFill>
            <a:srgbClr val="35304A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190504" y="5321808"/>
            <a:ext cx="824967" cy="457200"/>
          </a:xfrm>
          <a:prstGeom prst="rect">
            <a:avLst/>
          </a:prstGeom>
          <a:solidFill>
            <a:srgbClr val="FFC83D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190504" y="5321808"/>
            <a:ext cx="8249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1</a:t>
            </a:r>
            <a:endParaRPr lang="ko-KR" sz="1100" dirty="0"/>
          </a:p>
        </p:txBody>
      </p:sp>
      <p:sp>
        <p:nvSpPr>
          <p:cNvPr id="22" name="Shape 19"/>
          <p:cNvSpPr/>
          <p:nvPr/>
        </p:nvSpPr>
        <p:spPr>
          <a:xfrm>
            <a:off x="2015471" y="5321808"/>
            <a:ext cx="824967" cy="457200"/>
          </a:xfrm>
          <a:prstGeom prst="rect">
            <a:avLst/>
          </a:prstGeom>
          <a:solidFill>
            <a:srgbClr val="E0AE2E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015471" y="5321808"/>
            <a:ext cx="8249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2</a:t>
            </a:r>
            <a:endParaRPr lang="ko-KR" sz="1100" dirty="0"/>
          </a:p>
        </p:txBody>
      </p:sp>
      <p:sp>
        <p:nvSpPr>
          <p:cNvPr id="24" name="Shape 21"/>
          <p:cNvSpPr/>
          <p:nvPr/>
        </p:nvSpPr>
        <p:spPr>
          <a:xfrm>
            <a:off x="2840439" y="5321808"/>
            <a:ext cx="824967" cy="457200"/>
          </a:xfrm>
          <a:prstGeom prst="rect">
            <a:avLst/>
          </a:prstGeom>
          <a:solidFill>
            <a:srgbClr val="FFC83D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840439" y="5321808"/>
            <a:ext cx="8249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3</a:t>
            </a:r>
            <a:endParaRPr lang="ko-KR" sz="1100" dirty="0"/>
          </a:p>
        </p:txBody>
      </p:sp>
      <p:sp>
        <p:nvSpPr>
          <p:cNvPr id="26" name="Shape 23"/>
          <p:cNvSpPr/>
          <p:nvPr/>
        </p:nvSpPr>
        <p:spPr>
          <a:xfrm>
            <a:off x="3665406" y="5321808"/>
            <a:ext cx="1466608" cy="457200"/>
          </a:xfrm>
          <a:prstGeom prst="rect">
            <a:avLst/>
          </a:prstGeom>
          <a:solidFill>
            <a:srgbClr val="E0AE2E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665406" y="5321808"/>
            <a:ext cx="1466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4</a:t>
            </a:r>
            <a:endParaRPr lang="ko-KR" sz="1100" dirty="0"/>
          </a:p>
        </p:txBody>
      </p:sp>
      <p:sp>
        <p:nvSpPr>
          <p:cNvPr id="28" name="Shape 25"/>
          <p:cNvSpPr/>
          <p:nvPr/>
        </p:nvSpPr>
        <p:spPr>
          <a:xfrm>
            <a:off x="5132014" y="5321808"/>
            <a:ext cx="916630" cy="457200"/>
          </a:xfrm>
          <a:prstGeom prst="rect">
            <a:avLst/>
          </a:prstGeom>
          <a:solidFill>
            <a:srgbClr val="FFC83D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132014" y="5321808"/>
            <a:ext cx="9166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5</a:t>
            </a:r>
            <a:endParaRPr lang="ko-KR" sz="1100" dirty="0"/>
          </a:p>
        </p:txBody>
      </p:sp>
      <p:sp>
        <p:nvSpPr>
          <p:cNvPr id="30" name="Shape 27"/>
          <p:cNvSpPr/>
          <p:nvPr/>
        </p:nvSpPr>
        <p:spPr>
          <a:xfrm>
            <a:off x="6048644" y="5321808"/>
            <a:ext cx="733304" cy="457200"/>
          </a:xfrm>
          <a:prstGeom prst="rect">
            <a:avLst/>
          </a:prstGeom>
          <a:solidFill>
            <a:srgbClr val="E0AE2E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048644" y="5321808"/>
            <a:ext cx="733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6</a:t>
            </a:r>
            <a:endParaRPr lang="ko-KR" sz="1100" dirty="0"/>
          </a:p>
        </p:txBody>
      </p:sp>
      <p:sp>
        <p:nvSpPr>
          <p:cNvPr id="32" name="Shape 29"/>
          <p:cNvSpPr/>
          <p:nvPr/>
        </p:nvSpPr>
        <p:spPr>
          <a:xfrm>
            <a:off x="6781949" y="5321808"/>
            <a:ext cx="549978" cy="457200"/>
          </a:xfrm>
          <a:prstGeom prst="rect">
            <a:avLst/>
          </a:prstGeom>
          <a:solidFill>
            <a:srgbClr val="A7A1B6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331927" y="5321808"/>
            <a:ext cx="4399825" cy="457200"/>
          </a:xfrm>
          <a:prstGeom prst="rect">
            <a:avLst/>
          </a:prstGeom>
          <a:solidFill>
            <a:srgbClr val="6FD3C6"/>
          </a:solidFill>
          <a:ln w="12700">
            <a:solidFill>
              <a:srgbClr val="17141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331927" y="5321808"/>
            <a:ext cx="43998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</a:rPr>
              <a:t>게임 화면</a:t>
            </a:r>
            <a:endParaRPr lang="ko-KR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457200" y="58247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0</a:t>
            </a:r>
            <a:endParaRPr lang="ko-KR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824744" y="58247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0.4</a:t>
            </a:r>
            <a:endParaRPr lang="ko-KR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6416189" y="58247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3.45</a:t>
            </a:r>
            <a:endParaRPr lang="ko-KR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11000232" y="58247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r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+2.7</a:t>
            </a:r>
            <a:endParaRPr lang="ko-KR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7A1B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/>
              <a:t>40</a:t>
            </a:fld>
            <a:endParaRPr lang="ko-KR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sz="2800" b="1" dirty="0">
                <a:solidFill>
                  <a:schemeClr val="bg2"/>
                </a:solidFill>
              </a:rPr>
              <a:t>메이드 쥐  </a:t>
            </a:r>
            <a:pPr eaLnBrk="0" algn="l" indent="0" marL="0">
              <a:buNone/>
            </a:pPr>
            <a:r>
              <a:rPr lang="ko-KR" sz="2800" b="1" dirty="0">
                <a:solidFill>
                  <a:srgbClr val="A7A1B6"/>
                </a:solidFill>
              </a:rPr>
              <a:t>콘티</a:t>
            </a:r>
            <a:endParaRPr lang="ko-KR" sz="2800" dirty="0"/>
          </a:p>
        </p:txBody>
      </p:sp>
      <p:sp>
        <p:nvSpPr>
          <p:cNvPr id="3" name="panel_1"/>
          <p:cNvSpPr/>
          <p:nvPr/>
        </p:nvSpPr>
        <p:spPr>
          <a:xfrm>
            <a:off x="457200" y="1097280"/>
            <a:ext cx="5486400" cy="1517333"/>
          </a:xfrm>
          <a:prstGeom prst="roundRect">
            <a:avLst>
              <a:gd name="adj" fmla="val 4821"/>
            </a:avLst>
          </a:prstGeom>
          <a:solidFill>
            <a:schemeClr val="tx2"/>
          </a:solidFill>
          <a:ln/>
        </p:spPr>
      </p:sp>
      <p:pic>
        <p:nvPicPr>
          <p:cNvPr id="4" name="img_1" descr="C:\Users\user\AppData\Local\Temp\claude\C--Project-NKK-PROJECT\0415198c-3dcb-489e-9557-3945752cc25a\scratchpad\frames\maid\00_Cut1_0.6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2697480" cy="151733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0352" y="1170432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30352" y="1170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1</a:t>
            </a:r>
            <a:endParaRPr lang="ko-KR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3319272" y="11704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accent1"/>
                </a:solidFill>
              </a:rPr>
              <a:t>0.40 – 0.85초</a:t>
            </a:r>
            <a:endParaRPr lang="ko-KR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3319272" y="1481328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150" dirty="0">
                <a:solidFill>
                  <a:schemeClr val="bg2"/>
                </a:solidFill>
              </a:rPr>
              <a:t>보름달 → 시계탑 (톱니가 돎)</a:t>
            </a:r>
            <a:endParaRPr lang="ko-KR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3319272" y="2212848"/>
            <a:ext cx="25146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틸트 다운</a:t>
            </a:r>
            <a:endParaRPr lang="ko-KR" sz="1000" dirty="0"/>
          </a:p>
        </p:txBody>
      </p:sp>
      <p:sp>
        <p:nvSpPr>
          <p:cNvPr id="10" name="panel_2"/>
          <p:cNvSpPr/>
          <p:nvPr/>
        </p:nvSpPr>
        <p:spPr>
          <a:xfrm>
            <a:off x="6245352" y="1097280"/>
            <a:ext cx="5486400" cy="1517333"/>
          </a:xfrm>
          <a:prstGeom prst="roundRect">
            <a:avLst>
              <a:gd name="adj" fmla="val 4821"/>
            </a:avLst>
          </a:prstGeom>
          <a:solidFill>
            <a:schemeClr val="tx2"/>
          </a:solidFill>
          <a:ln/>
        </p:spPr>
      </p:sp>
      <p:pic>
        <p:nvPicPr>
          <p:cNvPr id="11" name="img_2" descr="C:\Users\user\AppData\Local\Temp\claude\C--Project-NKK-PROJECT\0415198c-3dcb-489e-9557-3945752cc25a\scratchpad\frames\maid\01_Cut2_1.1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097280"/>
            <a:ext cx="2697480" cy="1517333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318504" y="1170432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318504" y="1170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2</a:t>
            </a:r>
            <a:endParaRPr lang="ko-KR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9107424" y="11704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accent1"/>
                </a:solidFill>
              </a:rPr>
              <a:t>0.85 – 1.30초</a:t>
            </a:r>
            <a:endParaRPr lang="ko-KR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9107424" y="1481328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150" dirty="0">
                <a:solidFill>
                  <a:schemeClr val="bg2"/>
                </a:solidFill>
              </a:rPr>
              <a:t>발코니 정면: 회중시계를 가슴에 → 높이 들어 용두를 딸깍</a:t>
            </a:r>
            <a:endParaRPr lang="ko-KR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9107424" y="2212848"/>
            <a:ext cx="25146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셀 프레임 교체</a:t>
            </a:r>
            <a:endParaRPr lang="ko-KR" sz="1000" dirty="0"/>
          </a:p>
        </p:txBody>
      </p:sp>
      <p:sp>
        <p:nvSpPr>
          <p:cNvPr id="17" name="panel_3"/>
          <p:cNvSpPr/>
          <p:nvPr/>
        </p:nvSpPr>
        <p:spPr>
          <a:xfrm>
            <a:off x="457200" y="2797493"/>
            <a:ext cx="5486400" cy="1517333"/>
          </a:xfrm>
          <a:prstGeom prst="roundRect">
            <a:avLst>
              <a:gd name="adj" fmla="val 4821"/>
            </a:avLst>
          </a:prstGeom>
          <a:solidFill>
            <a:schemeClr val="tx2"/>
          </a:solidFill>
          <a:ln/>
        </p:spPr>
      </p:sp>
      <p:pic>
        <p:nvPicPr>
          <p:cNvPr id="18" name="img_3" descr="C:\Users\user\AppData\Local\Temp\claude\C--Project-NKK-PROJECT\0415198c-3dcb-489e-9557-3945752cc25a\scratchpad\frames\maid\02_Cut3_1.57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97493"/>
            <a:ext cx="2697480" cy="1517333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30352" y="2870645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530352" y="287064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3</a:t>
            </a:r>
            <a:endParaRPr lang="ko-KR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3319272" y="2870645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accent1"/>
                </a:solidFill>
              </a:rPr>
              <a:t>1.30 – 1.75초</a:t>
            </a:r>
            <a:endParaRPr lang="ko-KR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3319272" y="3181541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150" dirty="0">
                <a:solidFill>
                  <a:schemeClr val="bg2"/>
                </a:solidFill>
              </a:rPr>
              <a:t>얼굴 클로즈업 · 눈이 붉게 · 칼 세 자루</a:t>
            </a:r>
            <a:endParaRPr lang="ko-KR" sz="1150" dirty="0"/>
          </a:p>
        </p:txBody>
      </p:sp>
      <p:sp>
        <p:nvSpPr>
          <p:cNvPr id="23" name="Text 18"/>
          <p:cNvSpPr txBox="1"/>
          <p:nvPr/>
        </p:nvSpPr>
        <p:spPr>
          <a:xfrm>
            <a:off x="3319272" y="3913061"/>
            <a:ext cx="25146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배경 판 + 쥐 판 분리</a:t>
            </a:r>
            <a:endParaRPr lang="ko-KR" sz="1000" dirty="0"/>
          </a:p>
        </p:txBody>
      </p:sp>
      <p:sp>
        <p:nvSpPr>
          <p:cNvPr id="24" name="panel_4"/>
          <p:cNvSpPr/>
          <p:nvPr/>
        </p:nvSpPr>
        <p:spPr>
          <a:xfrm>
            <a:off x="6245352" y="2797493"/>
            <a:ext cx="5486400" cy="1517333"/>
          </a:xfrm>
          <a:prstGeom prst="roundRect">
            <a:avLst>
              <a:gd name="adj" fmla="val 4821"/>
            </a:avLst>
          </a:prstGeom>
          <a:solidFill>
            <a:schemeClr val="tx2"/>
          </a:solidFill>
          <a:ln/>
        </p:spPr>
      </p:sp>
      <p:pic>
        <p:nvPicPr>
          <p:cNvPr id="25" name="img_4" descr="C:\Users\user\AppData\Local\Temp\claude\C--Project-NKK-PROJECT\0415198c-3dcb-489e-9557-3945752cc25a\scratchpad\frames\maid\03_Cut4_2.2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2797493"/>
            <a:ext cx="2697480" cy="1517333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6318504" y="2870645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6318504" y="287064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4</a:t>
            </a:r>
            <a:endParaRPr lang="ko-KR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9107424" y="2870645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accent1"/>
                </a:solidFill>
              </a:rPr>
              <a:t>1.75 – 2.55초</a:t>
            </a:r>
            <a:endParaRPr lang="ko-KR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9107424" y="3181541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150" dirty="0">
                <a:solidFill>
                  <a:schemeClr val="bg2"/>
                </a:solidFill>
              </a:rPr>
              <a:t>손가락 딱 → 세상이 회색으로 멈춤 · 칼 고리가 겹겹이 펼쳐짐</a:t>
            </a:r>
            <a:endParaRPr lang="ko-KR" sz="1150" dirty="0"/>
          </a:p>
        </p:txBody>
      </p:sp>
      <p:sp>
        <p:nvSpPr>
          <p:cNvPr id="30" name="Text 24"/>
          <p:cNvSpPr txBox="1"/>
          <p:nvPr/>
        </p:nvSpPr>
        <p:spPr>
          <a:xfrm>
            <a:off x="9107424" y="3913061"/>
            <a:ext cx="25146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회색 판으로 교체 · 하늘로 틸트 업</a:t>
            </a:r>
            <a:endParaRPr lang="ko-KR" sz="1000" dirty="0"/>
          </a:p>
        </p:txBody>
      </p:sp>
      <p:sp>
        <p:nvSpPr>
          <p:cNvPr id="31" name="panel_5"/>
          <p:cNvSpPr/>
          <p:nvPr/>
        </p:nvSpPr>
        <p:spPr>
          <a:xfrm>
            <a:off x="457200" y="4497705"/>
            <a:ext cx="5486400" cy="1517333"/>
          </a:xfrm>
          <a:prstGeom prst="roundRect">
            <a:avLst>
              <a:gd name="adj" fmla="val 4821"/>
            </a:avLst>
          </a:prstGeom>
          <a:solidFill>
            <a:schemeClr val="tx2"/>
          </a:solidFill>
          <a:ln/>
        </p:spPr>
      </p:sp>
      <p:pic>
        <p:nvPicPr>
          <p:cNvPr id="32" name="img_5" descr="C:\Users\user\AppData\Local\Temp\claude\C--Project-NKK-PROJECT\0415198c-3dcb-489e-9557-3945752cc25a\scratchpad\frames\maid\04_Cut5_2.85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497705"/>
            <a:ext cx="2697480" cy="1517333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530352" y="4570857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4" name="Text 27"/>
          <p:cNvSpPr txBox="1"/>
          <p:nvPr/>
        </p:nvSpPr>
        <p:spPr>
          <a:xfrm>
            <a:off x="530352" y="457085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5</a:t>
            </a:r>
            <a:endParaRPr lang="ko-KR" sz="1300" dirty="0"/>
          </a:p>
        </p:txBody>
      </p:sp>
      <p:sp>
        <p:nvSpPr>
          <p:cNvPr id="35" name="Text 28"/>
          <p:cNvSpPr txBox="1"/>
          <p:nvPr/>
        </p:nvSpPr>
        <p:spPr>
          <a:xfrm>
            <a:off x="3319272" y="4570857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accent1"/>
                </a:solidFill>
              </a:rPr>
              <a:t>2.55 – 3.05초</a:t>
            </a:r>
            <a:endParaRPr lang="ko-KR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3319272" y="4881753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150" dirty="0">
                <a:solidFill>
                  <a:schemeClr val="bg2"/>
                </a:solidFill>
              </a:rPr>
              <a:t>두 팔을 크게 펼쳐 칼을 흩뿌림 → 화면 가득 멈춘 칼</a:t>
            </a:r>
            <a:endParaRPr lang="ko-KR" sz="1150" dirty="0"/>
          </a:p>
        </p:txBody>
      </p:sp>
      <p:sp>
        <p:nvSpPr>
          <p:cNvPr id="37" name="Text 30"/>
          <p:cNvSpPr txBox="1"/>
          <p:nvPr/>
        </p:nvSpPr>
        <p:spPr>
          <a:xfrm>
            <a:off x="3319272" y="5613273"/>
            <a:ext cx="25146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회색 세계 유지</a:t>
            </a:r>
            <a:endParaRPr lang="ko-KR" sz="1000" dirty="0"/>
          </a:p>
        </p:txBody>
      </p:sp>
      <p:sp>
        <p:nvSpPr>
          <p:cNvPr id="38" name="panel_6"/>
          <p:cNvSpPr/>
          <p:nvPr/>
        </p:nvSpPr>
        <p:spPr>
          <a:xfrm>
            <a:off x="6245352" y="4497705"/>
            <a:ext cx="5486400" cy="1517333"/>
          </a:xfrm>
          <a:prstGeom prst="roundRect">
            <a:avLst>
              <a:gd name="adj" fmla="val 4821"/>
            </a:avLst>
          </a:prstGeom>
          <a:solidFill>
            <a:schemeClr val="tx2"/>
          </a:solidFill>
          <a:ln/>
        </p:spPr>
      </p:sp>
      <p:pic>
        <p:nvPicPr>
          <p:cNvPr id="39" name="img_6" descr="C:\Users\user\AppData\Local\Temp\claude\C--Project-NKK-PROJECT\0415198c-3dcb-489e-9557-3945752cc25a\scratchpad\frames\maid\05_Cut6_3.29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5352" y="4497705"/>
            <a:ext cx="2697480" cy="1517333"/>
          </a:xfrm>
          <a:prstGeom prst="rect">
            <a:avLst/>
          </a:prstGeom>
        </p:spPr>
      </p:pic>
      <p:sp>
        <p:nvSpPr>
          <p:cNvPr id="40" name="Shape 32"/>
          <p:cNvSpPr/>
          <p:nvPr/>
        </p:nvSpPr>
        <p:spPr>
          <a:xfrm>
            <a:off x="6318504" y="4570857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1" name="Text 33"/>
          <p:cNvSpPr txBox="1"/>
          <p:nvPr/>
        </p:nvSpPr>
        <p:spPr>
          <a:xfrm>
            <a:off x="6318504" y="457085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6</a:t>
            </a:r>
            <a:endParaRPr lang="ko-KR" sz="1300" dirty="0"/>
          </a:p>
        </p:txBody>
      </p:sp>
      <p:sp>
        <p:nvSpPr>
          <p:cNvPr id="42" name="Text 34"/>
          <p:cNvSpPr txBox="1"/>
          <p:nvPr/>
        </p:nvSpPr>
        <p:spPr>
          <a:xfrm>
            <a:off x="9107424" y="4570857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accent1"/>
                </a:solidFill>
              </a:rPr>
              <a:t>3.05 – 3.45초</a:t>
            </a:r>
            <a:endParaRPr lang="ko-KR" sz="1200" dirty="0"/>
          </a:p>
        </p:txBody>
      </p:sp>
      <p:sp>
        <p:nvSpPr>
          <p:cNvPr id="43" name="Text 35"/>
          <p:cNvSpPr txBox="1"/>
          <p:nvPr/>
        </p:nvSpPr>
        <p:spPr>
          <a:xfrm>
            <a:off x="9107424" y="4881753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05000"/>
              </a:lnSpc>
              <a:buNone/>
            </a:pPr>
            <a:r>
              <a:rPr lang="ko-KR" sz="1150" dirty="0">
                <a:solidFill>
                  <a:schemeClr val="bg2"/>
                </a:solidFill>
              </a:rPr>
              <a:t>'그리고 시간은 움직인다' — 색이 돌아오며 칼이 카메라로 쏟아져 하얗게</a:t>
            </a:r>
            <a:endParaRPr lang="ko-KR" sz="1150" dirty="0"/>
          </a:p>
        </p:txBody>
      </p:sp>
      <p:sp>
        <p:nvSpPr>
          <p:cNvPr id="44" name="Text 36"/>
          <p:cNvSpPr txBox="1"/>
          <p:nvPr/>
        </p:nvSpPr>
        <p:spPr>
          <a:xfrm>
            <a:off x="9107424" y="5613273"/>
            <a:ext cx="25146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accent5"/>
                </a:solidFill>
              </a:rPr>
              <a:t>컷신 걷힘</a:t>
            </a:r>
            <a:endParaRPr lang="ko-KR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7A1B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/>
              <a:t>41</a:t>
            </a:fld>
            <a:endParaRPr lang="ko-KR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sz="2800" b="1" dirty="0">
                <a:solidFill>
                  <a:schemeClr val="bg2"/>
                </a:solidFill>
              </a:rPr>
              <a:t>검토가 필요한 지점</a:t>
            </a:r>
            <a:endParaRPr lang="ko-KR" sz="2800" dirty="0"/>
          </a:p>
        </p:txBody>
      </p:sp>
      <p:sp>
        <p:nvSpPr>
          <p:cNvPr id="3" name="review0"/>
          <p:cNvSpPr/>
          <p:nvPr/>
        </p:nvSpPr>
        <p:spPr>
          <a:xfrm>
            <a:off x="457200" y="1188720"/>
            <a:ext cx="5458968" cy="2331720"/>
          </a:xfrm>
          <a:prstGeom prst="roundRect">
            <a:avLst>
              <a:gd name="adj" fmla="val 3137"/>
            </a:avLst>
          </a:prstGeom>
          <a:solidFill>
            <a:schemeClr val="tx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46304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1</a:t>
            </a:r>
            <a:endParaRPr lang="ko-KR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463040"/>
            <a:ext cx="4361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sz="1600" b="1" dirty="0">
                <a:solidFill>
                  <a:schemeClr val="bg2"/>
                </a:solidFill>
              </a:rPr>
              <a:t>테이블 이름 · 대사가 v2 연출과 다름</a:t>
            </a:r>
            <a:endParaRPr lang="ko-KR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057400"/>
            <a:ext cx="491032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2000"/>
              </a:lnSpc>
              <a:buNone/>
            </a:pPr>
            <a:r>
              <a:rPr lang="ko-KR" sz="1300" dirty="0">
                <a:solidFill>
                  <a:schemeClr val="bg2"/>
                </a:solidFill>
              </a:rPr>
              <a:t>햄찌(도시 대정전) · 관광쥐(불꽃 퍼레이드) · 황제(대관식) · 파라오(태양신의 심판) · 술탄(소원 세 개) · 줴리(앵콜) · 요리사(3스타 풀코스) — 컷신 글은 숨겨도 쳇바퀴 훈련 카드 · 버튼에 이름이 보임</a:t>
            </a:r>
            <a:endParaRPr lang="ko-KR" sz="1300" dirty="0"/>
          </a:p>
        </p:txBody>
      </p:sp>
      <p:sp>
        <p:nvSpPr>
          <p:cNvPr id="8" name="review1"/>
          <p:cNvSpPr/>
          <p:nvPr/>
        </p:nvSpPr>
        <p:spPr>
          <a:xfrm>
            <a:off x="6190488" y="1188720"/>
            <a:ext cx="5458968" cy="2331720"/>
          </a:xfrm>
          <a:prstGeom prst="roundRect">
            <a:avLst>
              <a:gd name="adj" fmla="val 3137"/>
            </a:avLst>
          </a:prstGeom>
          <a:solidFill>
            <a:schemeClr val="tx2"/>
          </a:solidFill>
          <a:ln/>
        </p:spPr>
      </p:sp>
      <p:sp>
        <p:nvSpPr>
          <p:cNvPr id="9" name="Shape 7"/>
          <p:cNvSpPr/>
          <p:nvPr/>
        </p:nvSpPr>
        <p:spPr>
          <a:xfrm>
            <a:off x="6464808" y="146304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64808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2</a:t>
            </a:r>
            <a:endParaRPr lang="ko-KR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013448" y="1463040"/>
            <a:ext cx="4361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sz="1600" b="1" dirty="0">
                <a:solidFill>
                  <a:schemeClr val="bg2"/>
                </a:solidFill>
              </a:rPr>
              <a:t>길이 편차</a:t>
            </a:r>
            <a:endParaRPr lang="ko-KR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64808" y="2057400"/>
            <a:ext cx="491032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2000"/>
              </a:lnSpc>
              <a:buNone/>
            </a:pPr>
            <a:r>
              <a:rPr lang="ko-KR" sz="1300" dirty="0">
                <a:solidFill>
                  <a:schemeClr val="bg2"/>
                </a:solidFill>
              </a:rPr>
              <a:t>실제 기준 약 6.4초 ~ 11.2초. 판마다 종류별 1회라 한 판에 여러 번 볼 수 있음 → 컷신만 7초 넘는 4종(쥐랜드 관광쥐 · 외계인 생쥐 · 다람쥐 · 줴리)은 컷 압축이나 두 번째부터 짧게 보기를 검토</a:t>
            </a:r>
            <a:endParaRPr lang="ko-KR" sz="1300" dirty="0"/>
          </a:p>
        </p:txBody>
      </p:sp>
      <p:sp>
        <p:nvSpPr>
          <p:cNvPr id="13" name="review2"/>
          <p:cNvSpPr/>
          <p:nvPr/>
        </p:nvSpPr>
        <p:spPr>
          <a:xfrm>
            <a:off x="457200" y="3749040"/>
            <a:ext cx="5458968" cy="2331720"/>
          </a:xfrm>
          <a:prstGeom prst="roundRect">
            <a:avLst>
              <a:gd name="adj" fmla="val 3137"/>
            </a:avLst>
          </a:prstGeom>
          <a:solidFill>
            <a:schemeClr val="tx2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402336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3</a:t>
            </a:r>
            <a:endParaRPr lang="ko-KR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4023360"/>
            <a:ext cx="4361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sz="1600" b="1" dirty="0">
                <a:solidFill>
                  <a:schemeClr val="bg2"/>
                </a:solidFill>
              </a:rPr>
              <a:t>글 표시 기준이 섞여 있음</a:t>
            </a:r>
            <a:endParaRPr lang="ko-KR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4617720"/>
            <a:ext cx="491032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2000"/>
              </a:lnSpc>
              <a:buNone/>
            </a:pPr>
            <a:r>
              <a:rPr lang="ko-KR" sz="1300" dirty="0">
                <a:solidFill>
                  <a:schemeClr val="bg2"/>
                </a:solidFill>
              </a:rPr>
              <a:t>글 없음 9종 / 제목 · 대사 · 밈 표시 7종. 통일할지, 개그 · 패러디형은 글 없이 · 영웅형은 글 있게 같은 규칙을 둘지 결정 필요</a:t>
            </a:r>
            <a:endParaRPr lang="ko-KR" sz="1300" dirty="0"/>
          </a:p>
        </p:txBody>
      </p:sp>
      <p:sp>
        <p:nvSpPr>
          <p:cNvPr id="18" name="review3"/>
          <p:cNvSpPr/>
          <p:nvPr/>
        </p:nvSpPr>
        <p:spPr>
          <a:xfrm>
            <a:off x="6190488" y="3749040"/>
            <a:ext cx="5458968" cy="2331720"/>
          </a:xfrm>
          <a:prstGeom prst="roundRect">
            <a:avLst>
              <a:gd name="adj" fmla="val 3137"/>
            </a:avLst>
          </a:prstGeom>
          <a:solidFill>
            <a:schemeClr val="tx2"/>
          </a:solidFill>
          <a:ln/>
        </p:spPr>
      </p:sp>
      <p:sp>
        <p:nvSpPr>
          <p:cNvPr id="19" name="Shape 17"/>
          <p:cNvSpPr/>
          <p:nvPr/>
        </p:nvSpPr>
        <p:spPr>
          <a:xfrm>
            <a:off x="6464808" y="402336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64808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300" b="1" dirty="0">
                <a:solidFill>
                  <a:schemeClr val="tx1"/>
                </a:solidFill>
              </a:rPr>
              <a:t>4</a:t>
            </a:r>
            <a:endParaRPr lang="ko-KR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013448" y="4023360"/>
            <a:ext cx="4361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sz="1600" b="1" dirty="0">
                <a:solidFill>
                  <a:schemeClr val="bg2"/>
                </a:solidFill>
              </a:rPr>
              <a:t>패러디 강도</a:t>
            </a:r>
            <a:endParaRPr lang="ko-KR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64808" y="4617720"/>
            <a:ext cx="491032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2000"/>
              </a:lnSpc>
              <a:buNone/>
            </a:pPr>
            <a:r>
              <a:rPr lang="ko-KR" sz="1300" dirty="0">
                <a:solidFill>
                  <a:schemeClr val="bg2"/>
                </a:solidFill>
              </a:rPr>
              <a:t>줴리(추격전 캐릭터 디자인) · 햄찌(백만볼트 · 악당 퇴장) · 람쥐(너굴맨) · 외계인(인디펜던스 데이) 등은 원작이 바로 떠오름 → 출시 빌드 · 홍보 영상에 쓸 범위 확인</a:t>
            </a:r>
            <a:endParaRPr lang="ko-KR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7A1B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/>
              <a:t>42</a:t>
            </a:fld>
            <a:endParaRPr lang="ko-K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KK Super Ult">
  <a:themeElements>
    <a:clrScheme name="NKK Super Ult">
      <a:dk1>
        <a:srgbClr val="17141F"/>
      </a:dk1>
      <a:lt1>
        <a:srgbClr val="FFFFFF"/>
      </a:lt1>
      <a:dk2>
        <a:srgbClr val="252134"/>
      </a:dk2>
      <a:lt2>
        <a:srgbClr val="F3EFE6"/>
      </a:lt2>
      <a:accent1>
        <a:srgbClr val="FFC83D"/>
      </a:accent1>
      <a:accent2>
        <a:srgbClr val="FF6B5C"/>
      </a:accent2>
      <a:accent3>
        <a:srgbClr val="6FD3C6"/>
      </a:accent3>
      <a:accent4>
        <a:srgbClr val="9C8CFF"/>
      </a:accent4>
      <a:accent5>
        <a:srgbClr val="A7A1B6"/>
      </a:accent5>
      <a:accent6>
        <a:srgbClr val="35304A"/>
      </a:accent6>
      <a:hlink>
        <a:srgbClr val="6FD3C6"/>
      </a:hlink>
      <a:folHlink>
        <a:srgbClr val="9C8CFF"/>
      </a:folHlink>
    </a:clrScheme>
    <a:fontScheme name="NKK Super Ult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신화 쥐 초필살기 연출 스토리보드</dc:title>
  <dc:subject>PptxGenJS Presentation</dc:subject>
  <dc:creator>NKK</dc:creator>
  <cp:lastModifiedBy>NKK</cp:lastModifiedBy>
  <cp:revision>1</cp:revision>
  <dcterms:created xsi:type="dcterms:W3CDTF">2026-10-23T00:52:26Z</dcterms:created>
  <dcterms:modified xsi:type="dcterms:W3CDTF">2026-10-23T00:52:26Z</dcterms:modified>
</cp:coreProperties>
</file>