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88" r:id="rId3"/>
    <p:sldId id="259" r:id="rId4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8C8C8C"/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-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4" Type="http://schemas.openxmlformats.org/officeDocument/2006/relationships/slide" Target="slides/slide3.xml"/><Relationship Id="rId35" Type="http://schemas.openxmlformats.org/officeDocument/2006/relationships/viewProps" Target="viewProps.xml"/><Relationship Id="rId3" Type="http://schemas.openxmlformats.org/officeDocument/2006/relationships/slide" Target="slides/slide2.xml"/>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  <Relationship Id="rId53" Type="http://schemas.openxmlformats.org/officeDocument/2006/relationships/slide" Target="slides/slide47.xml"/>
  <Relationship Id="rId54" Type="http://schemas.openxmlformats.org/officeDocument/2006/relationships/slide" Target="slides/slide48.xml"/>
  <Relationship Id="rId55" Type="http://schemas.openxmlformats.org/officeDocument/2006/relationships/slide" Target="slides/slide49.xml"/>
  <Relationship Id="rId56" Type="http://schemas.openxmlformats.org/officeDocument/2006/relationships/slide" Target="slides/slide50.xml"/>
  <Relationship Id="rId57" Type="http://schemas.openxmlformats.org/officeDocument/2006/relationships/slide" Target="slides/slide51.xml"/>
  <Relationship Id="rId58" Type="http://schemas.openxmlformats.org/officeDocument/2006/relationships/slide" Target="slides/slide52.xml"/>
  <Relationship Id="rId59" Type="http://schemas.openxmlformats.org/officeDocument/2006/relationships/slide" Target="slides/slide53.xml"/>
  <Relationship Id="rId60" Type="http://schemas.openxmlformats.org/officeDocument/2006/relationships/slide" Target="slides/slide54.xml"/>
  <Relationship Id="rId61" Type="http://schemas.openxmlformats.org/officeDocument/2006/relationships/slide" Target="slides/slide5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오브젝트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1" name="TOC 2001"/>
          <p:cNvSpPr/>
          <p:nvPr/>
        </p:nvSpPr>
        <p:spPr>
          <a:xfrm>
            <a:off x="77724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02" name="TOC 2002"/>
          <p:cNvSpPr txBox="1"/>
          <p:nvPr/>
        </p:nvSpPr>
        <p:spPr>
          <a:xfrm>
            <a:off x="97840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2003" name="TOC 2003"/>
          <p:cNvSpPr txBox="1"/>
          <p:nvPr/>
        </p:nvSpPr>
        <p:spPr>
          <a:xfrm>
            <a:off x="114300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2004" name="TOC 2004"/>
          <p:cNvSpPr txBox="1"/>
          <p:nvPr/>
        </p:nvSpPr>
        <p:spPr>
          <a:xfrm>
            <a:off x="379475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005" name="TOC 2005"/>
          <p:cNvSpPr txBox="1"/>
          <p:nvPr/>
        </p:nvSpPr>
        <p:spPr>
          <a:xfrm>
            <a:off x="114300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2006" name="TOC 2006"/>
          <p:cNvSpPr txBox="1"/>
          <p:nvPr/>
        </p:nvSpPr>
        <p:spPr>
          <a:xfrm>
            <a:off x="379475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07" name="TOC 2007"/>
          <p:cNvSpPr txBox="1"/>
          <p:nvPr/>
        </p:nvSpPr>
        <p:spPr>
          <a:xfrm>
            <a:off x="114300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문서 범위</a:t>
            </a:r>
          </a:p>
        </p:txBody>
      </p:sp>
      <p:sp>
        <p:nvSpPr>
          <p:cNvPr id="2008" name="TOC 2008"/>
          <p:cNvSpPr txBox="1"/>
          <p:nvPr/>
        </p:nvSpPr>
        <p:spPr>
          <a:xfrm>
            <a:off x="379475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009" name="TOC 2009"/>
          <p:cNvSpPr txBox="1"/>
          <p:nvPr/>
        </p:nvSpPr>
        <p:spPr>
          <a:xfrm>
            <a:off x="114300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오브젝트 분류</a:t>
            </a:r>
          </a:p>
        </p:txBody>
      </p:sp>
      <p:sp>
        <p:nvSpPr>
          <p:cNvPr id="2010" name="TOC 2010"/>
          <p:cNvSpPr txBox="1"/>
          <p:nvPr/>
        </p:nvSpPr>
        <p:spPr>
          <a:xfrm>
            <a:off x="3794759" y="26517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11" name="TOC 2011"/>
          <p:cNvSpPr txBox="1"/>
          <p:nvPr/>
        </p:nvSpPr>
        <p:spPr>
          <a:xfrm>
            <a:off x="114300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용어 정리</a:t>
            </a:r>
          </a:p>
        </p:txBody>
      </p:sp>
      <p:sp>
        <p:nvSpPr>
          <p:cNvPr id="2012" name="TOC 2012"/>
          <p:cNvSpPr txBox="1"/>
          <p:nvPr/>
        </p:nvSpPr>
        <p:spPr>
          <a:xfrm>
            <a:off x="3794759" y="28803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013" name="TOC 2013"/>
          <p:cNvSpPr/>
          <p:nvPr/>
        </p:nvSpPr>
        <p:spPr>
          <a:xfrm>
            <a:off x="777240" y="33192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14" name="TOC 2014"/>
          <p:cNvSpPr txBox="1"/>
          <p:nvPr/>
        </p:nvSpPr>
        <p:spPr>
          <a:xfrm>
            <a:off x="978408" y="32095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수치 규칙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7P</a:t>
            </a:r>
          </a:p>
        </p:txBody>
      </p:sp>
      <p:sp>
        <p:nvSpPr>
          <p:cNvPr id="2015" name="TOC 2015"/>
          <p:cNvSpPr txBox="1"/>
          <p:nvPr/>
        </p:nvSpPr>
        <p:spPr>
          <a:xfrm>
            <a:off x="114300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체력 · 치즈 공식</a:t>
            </a:r>
          </a:p>
        </p:txBody>
      </p:sp>
      <p:sp>
        <p:nvSpPr>
          <p:cNvPr id="2016" name="TOC 2016"/>
          <p:cNvSpPr txBox="1"/>
          <p:nvPr/>
        </p:nvSpPr>
        <p:spPr>
          <a:xfrm>
            <a:off x="3794759" y="36576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017" name="TOC 2017"/>
          <p:cNvSpPr txBox="1"/>
          <p:nvPr/>
        </p:nvSpPr>
        <p:spPr>
          <a:xfrm>
            <a:off x="114300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배율 · 방 거리 배율</a:t>
            </a:r>
          </a:p>
        </p:txBody>
      </p:sp>
      <p:sp>
        <p:nvSpPr>
          <p:cNvPr id="2018" name="TOC 2018"/>
          <p:cNvSpPr txBox="1"/>
          <p:nvPr/>
        </p:nvSpPr>
        <p:spPr>
          <a:xfrm>
            <a:off x="3794759" y="3886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019" name="TOC 2019"/>
          <p:cNvSpPr/>
          <p:nvPr/>
        </p:nvSpPr>
        <p:spPr>
          <a:xfrm>
            <a:off x="452628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20" name="TOC 2020"/>
          <p:cNvSpPr txBox="1"/>
          <p:nvPr/>
        </p:nvSpPr>
        <p:spPr>
          <a:xfrm>
            <a:off x="472744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생성 · 보상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9P</a:t>
            </a:r>
          </a:p>
        </p:txBody>
      </p:sp>
      <p:sp>
        <p:nvSpPr>
          <p:cNvPr id="2021" name="TOC 2021"/>
          <p:cNvSpPr txBox="1"/>
          <p:nvPr/>
        </p:nvSpPr>
        <p:spPr>
          <a:xfrm>
            <a:off x="489204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물건 보충 · 로켓배송</a:t>
            </a:r>
          </a:p>
        </p:txBody>
      </p:sp>
      <p:sp>
        <p:nvSpPr>
          <p:cNvPr id="2022" name="TOC 2022"/>
          <p:cNvSpPr txBox="1"/>
          <p:nvPr/>
        </p:nvSpPr>
        <p:spPr>
          <a:xfrm>
            <a:off x="754379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023" name="TOC 2023"/>
          <p:cNvSpPr txBox="1"/>
          <p:nvPr/>
        </p:nvSpPr>
        <p:spPr>
          <a:xfrm>
            <a:off x="489204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가구 배치</a:t>
            </a:r>
          </a:p>
        </p:txBody>
      </p:sp>
      <p:sp>
        <p:nvSpPr>
          <p:cNvPr id="2024" name="TOC 2024"/>
          <p:cNvSpPr txBox="1"/>
          <p:nvPr/>
        </p:nvSpPr>
        <p:spPr>
          <a:xfrm>
            <a:off x="754379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025" name="TOC 2025"/>
          <p:cNvSpPr txBox="1"/>
          <p:nvPr/>
        </p:nvSpPr>
        <p:spPr>
          <a:xfrm>
            <a:off x="489204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치즈 보상</a:t>
            </a:r>
          </a:p>
        </p:txBody>
      </p:sp>
      <p:sp>
        <p:nvSpPr>
          <p:cNvPr id="2026" name="TOC 2026"/>
          <p:cNvSpPr txBox="1"/>
          <p:nvPr/>
        </p:nvSpPr>
        <p:spPr>
          <a:xfrm>
            <a:off x="754379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027" name="TOC 2027"/>
          <p:cNvSpPr txBox="1"/>
          <p:nvPr/>
        </p:nvSpPr>
        <p:spPr>
          <a:xfrm>
            <a:off x="489204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연구자료 · 쏟아짐 · 황금 물건</a:t>
            </a:r>
          </a:p>
        </p:txBody>
      </p:sp>
      <p:sp>
        <p:nvSpPr>
          <p:cNvPr id="2028" name="TOC 2028"/>
          <p:cNvSpPr txBox="1"/>
          <p:nvPr/>
        </p:nvSpPr>
        <p:spPr>
          <a:xfrm>
            <a:off x="7543799" y="26517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2029" name="TOC 2029"/>
          <p:cNvSpPr txBox="1"/>
          <p:nvPr/>
        </p:nvSpPr>
        <p:spPr>
          <a:xfrm>
            <a:off x="489204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공용 스킬 연동</a:t>
            </a:r>
          </a:p>
        </p:txBody>
      </p:sp>
      <p:sp>
        <p:nvSpPr>
          <p:cNvPr id="2030" name="TOC 2030"/>
          <p:cNvSpPr txBox="1"/>
          <p:nvPr/>
        </p:nvSpPr>
        <p:spPr>
          <a:xfrm>
            <a:off x="7543799" y="28803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2031" name="TOC 2031"/>
          <p:cNvSpPr/>
          <p:nvPr/>
        </p:nvSpPr>
        <p:spPr>
          <a:xfrm>
            <a:off x="4526280" y="33192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32" name="TOC 2032"/>
          <p:cNvSpPr txBox="1"/>
          <p:nvPr/>
        </p:nvSpPr>
        <p:spPr>
          <a:xfrm>
            <a:off x="4727448" y="32095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명세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14P</a:t>
            </a:r>
          </a:p>
        </p:txBody>
      </p:sp>
      <p:sp>
        <p:nvSpPr>
          <p:cNvPr id="2033" name="TOC 2033"/>
          <p:cNvSpPr txBox="1"/>
          <p:nvPr/>
        </p:nvSpPr>
        <p:spPr>
          <a:xfrm>
            <a:off x="489204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일반 물건 (1)</a:t>
            </a:r>
          </a:p>
        </p:txBody>
      </p:sp>
      <p:sp>
        <p:nvSpPr>
          <p:cNvPr id="2034" name="TOC 2034"/>
          <p:cNvSpPr txBox="1"/>
          <p:nvPr/>
        </p:nvSpPr>
        <p:spPr>
          <a:xfrm>
            <a:off x="7543799" y="36576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2035" name="TOC 2035"/>
          <p:cNvSpPr txBox="1"/>
          <p:nvPr/>
        </p:nvSpPr>
        <p:spPr>
          <a:xfrm>
            <a:off x="489204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일반 물건 (2)</a:t>
            </a:r>
          </a:p>
        </p:txBody>
      </p:sp>
      <p:sp>
        <p:nvSpPr>
          <p:cNvPr id="2036" name="TOC 2036"/>
          <p:cNvSpPr txBox="1"/>
          <p:nvPr/>
        </p:nvSpPr>
        <p:spPr>
          <a:xfrm>
            <a:off x="7543799" y="3886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2037" name="TOC 2037"/>
          <p:cNvSpPr txBox="1"/>
          <p:nvPr/>
        </p:nvSpPr>
        <p:spPr>
          <a:xfrm>
            <a:off x="4892040" y="4114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보물</a:t>
            </a:r>
          </a:p>
        </p:txBody>
      </p:sp>
      <p:sp>
        <p:nvSpPr>
          <p:cNvPr id="2038" name="TOC 2038"/>
          <p:cNvSpPr txBox="1"/>
          <p:nvPr/>
        </p:nvSpPr>
        <p:spPr>
          <a:xfrm>
            <a:off x="7543799" y="41148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2039" name="TOC 2039"/>
          <p:cNvSpPr txBox="1"/>
          <p:nvPr/>
        </p:nvSpPr>
        <p:spPr>
          <a:xfrm>
            <a:off x="4892040" y="4343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가구</a:t>
            </a:r>
          </a:p>
        </p:txBody>
      </p:sp>
      <p:sp>
        <p:nvSpPr>
          <p:cNvPr id="2040" name="TOC 2040"/>
          <p:cNvSpPr txBox="1"/>
          <p:nvPr/>
        </p:nvSpPr>
        <p:spPr>
          <a:xfrm>
            <a:off x="7543799" y="4343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2041" name="TOC 2041"/>
          <p:cNvSpPr txBox="1"/>
          <p:nvPr/>
        </p:nvSpPr>
        <p:spPr>
          <a:xfrm>
            <a:off x="4892040" y="4572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쏟아짐 물건</a:t>
            </a:r>
          </a:p>
        </p:txBody>
      </p:sp>
      <p:sp>
        <p:nvSpPr>
          <p:cNvPr id="2042" name="TOC 2042"/>
          <p:cNvSpPr txBox="1"/>
          <p:nvPr/>
        </p:nvSpPr>
        <p:spPr>
          <a:xfrm>
            <a:off x="7543799" y="45720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2043" name="TOC 2043"/>
          <p:cNvSpPr txBox="1"/>
          <p:nvPr/>
        </p:nvSpPr>
        <p:spPr>
          <a:xfrm>
            <a:off x="4892040" y="4800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사람</a:t>
            </a:r>
          </a:p>
        </p:txBody>
      </p:sp>
      <p:sp>
        <p:nvSpPr>
          <p:cNvPr id="2044" name="TOC 2044"/>
          <p:cNvSpPr txBox="1"/>
          <p:nvPr/>
        </p:nvSpPr>
        <p:spPr>
          <a:xfrm>
            <a:off x="7543799" y="48006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2045" name="TOC 2045"/>
          <p:cNvSpPr txBox="1"/>
          <p:nvPr/>
        </p:nvSpPr>
        <p:spPr>
          <a:xfrm>
            <a:off x="4892040" y="5029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벽 · 계단 · 쥐덫</a:t>
            </a:r>
          </a:p>
        </p:txBody>
      </p:sp>
      <p:sp>
        <p:nvSpPr>
          <p:cNvPr id="2046" name="TOC 2046"/>
          <p:cNvSpPr txBox="1"/>
          <p:nvPr/>
        </p:nvSpPr>
        <p:spPr>
          <a:xfrm>
            <a:off x="7543799" y="5029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2047" name="TOC 2047"/>
          <p:cNvSpPr txBox="1"/>
          <p:nvPr/>
        </p:nvSpPr>
        <p:spPr>
          <a:xfrm>
            <a:off x="4892040" y="5257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층별 출현 구성</a:t>
            </a:r>
          </a:p>
        </p:txBody>
      </p:sp>
      <p:sp>
        <p:nvSpPr>
          <p:cNvPr id="2048" name="TOC 2048"/>
          <p:cNvSpPr txBox="1"/>
          <p:nvPr/>
        </p:nvSpPr>
        <p:spPr>
          <a:xfrm>
            <a:off x="7543799" y="52578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2049" name="TOC 2049"/>
          <p:cNvSpPr txBox="1"/>
          <p:nvPr/>
        </p:nvSpPr>
        <p:spPr>
          <a:xfrm>
            <a:off x="4892040" y="5486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9. 층별 실제 값</a:t>
            </a:r>
          </a:p>
        </p:txBody>
      </p:sp>
      <p:sp>
        <p:nvSpPr>
          <p:cNvPr id="2050" name="TOC 2050"/>
          <p:cNvSpPr txBox="1"/>
          <p:nvPr/>
        </p:nvSpPr>
        <p:spPr>
          <a:xfrm>
            <a:off x="7543799" y="5486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2051" name="TOC 2051"/>
          <p:cNvSpPr/>
          <p:nvPr/>
        </p:nvSpPr>
        <p:spPr>
          <a:xfrm>
            <a:off x="827532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52" name="TOC 2052"/>
          <p:cNvSpPr txBox="1"/>
          <p:nvPr/>
        </p:nvSpPr>
        <p:spPr>
          <a:xfrm>
            <a:off x="847648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가이드라인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23P</a:t>
            </a:r>
          </a:p>
        </p:txBody>
      </p:sp>
      <p:sp>
        <p:nvSpPr>
          <p:cNvPr id="2053" name="TOC 2053"/>
          <p:cNvSpPr txBox="1"/>
          <p:nvPr/>
        </p:nvSpPr>
        <p:spPr>
          <a:xfrm>
            <a:off x="864108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신규 오브젝트 추가 절차</a:t>
            </a:r>
          </a:p>
        </p:txBody>
      </p:sp>
      <p:sp>
        <p:nvSpPr>
          <p:cNvPr id="2054" name="TOC 2054"/>
          <p:cNvSpPr txBox="1"/>
          <p:nvPr/>
        </p:nvSpPr>
        <p:spPr>
          <a:xfrm>
            <a:off x="1129283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2055" name="TOC 2055"/>
          <p:cNvSpPr txBox="1"/>
          <p:nvPr/>
        </p:nvSpPr>
        <p:spPr>
          <a:xfrm>
            <a:off x="864108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분류별 기준 범위</a:t>
            </a:r>
          </a:p>
        </p:txBody>
      </p:sp>
      <p:sp>
        <p:nvSpPr>
          <p:cNvPr id="2056" name="TOC 2056"/>
          <p:cNvSpPr txBox="1"/>
          <p:nvPr/>
        </p:nvSpPr>
        <p:spPr>
          <a:xfrm>
            <a:off x="1129283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2057" name="TOC 2057"/>
          <p:cNvSpPr txBox="1"/>
          <p:nvPr/>
        </p:nvSpPr>
        <p:spPr>
          <a:xfrm>
            <a:off x="864108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물건 테이블 작성 규칙</a:t>
            </a:r>
          </a:p>
        </p:txBody>
      </p:sp>
      <p:sp>
        <p:nvSpPr>
          <p:cNvPr id="2058" name="TOC 2058"/>
          <p:cNvSpPr txBox="1"/>
          <p:nvPr/>
        </p:nvSpPr>
        <p:spPr>
          <a:xfrm>
            <a:off x="1129283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2059" name="TOC 2059"/>
          <p:cNvSpPr txBox="1"/>
          <p:nvPr/>
        </p:nvSpPr>
        <p:spPr>
          <a:xfrm>
            <a:off x="864108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검증 체크리스트</a:t>
            </a:r>
          </a:p>
        </p:txBody>
      </p:sp>
      <p:sp>
        <p:nvSpPr>
          <p:cNvPr id="2060" name="TOC 2060"/>
          <p:cNvSpPr txBox="1"/>
          <p:nvPr/>
        </p:nvSpPr>
        <p:spPr>
          <a:xfrm>
            <a:off x="11292839" y="26517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2061" name="TOC 2061"/>
          <p:cNvSpPr/>
          <p:nvPr/>
        </p:nvSpPr>
        <p:spPr>
          <a:xfrm>
            <a:off x="8275320" y="30906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62" name="TOC 2062"/>
          <p:cNvSpPr txBox="1"/>
          <p:nvPr/>
        </p:nvSpPr>
        <p:spPr>
          <a:xfrm>
            <a:off x="8476488" y="29809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27P</a:t>
            </a:r>
          </a:p>
        </p:txBody>
      </p:sp>
      <p:sp>
        <p:nvSpPr>
          <p:cNvPr id="2063" name="TOC 2063"/>
          <p:cNvSpPr txBox="1"/>
          <p:nvPr/>
        </p:nvSpPr>
        <p:spPr>
          <a:xfrm>
            <a:off x="8641080" y="3429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기획 · 구현 차이와 남은 결정</a:t>
            </a:r>
          </a:p>
        </p:txBody>
      </p:sp>
      <p:sp>
        <p:nvSpPr>
          <p:cNvPr id="2064" name="TOC 2064"/>
          <p:cNvSpPr txBox="1"/>
          <p:nvPr/>
        </p:nvSpPr>
        <p:spPr>
          <a:xfrm>
            <a:off x="11292839" y="34290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40666"/>
              </p:ext>
            </p:extLst>
          </p:nvPr>
        </p:nvGraphicFramePr>
        <p:xfrm>
          <a:off x="1353312" y="1645920"/>
          <a:ext cx="9482328" cy="5477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구현 기준 오브젝트 명세(물건 · 보물 · 가구 · 쏟아짐 · 사람 · 벽 · 계단 · 쥐덫), 생성 · 보상 규칙, 신규 오브젝트 추가 가이드라인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문서 범위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현재 게임에 구현된 오브젝트의 명세 · 규칙과 신규 오브젝트 추가 기준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731"/>
                <a:gridCol w="3588105"/>
                <a:gridCol w="4186124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구분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다루는 내용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데이터 위치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· 보물 · 쏟아짐 · 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60종 명세, 등장 층, 생성 · 파괴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테이블 Item · Furniture_Layout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4종 명세, 등장 · 행동 ·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 테이블 Human · Human_Line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층별 체력 · 치즈 배율, 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스테이지 테이블 Stage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해금 · 보정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신규 물건 출현 · 황금 물건 · 물건 수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공용 스킬 테이블 Common_Skill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생성 · 보상 로직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보충 주기 · 상한 · 콤보 · 연구자료 확률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ItemManager · Research · GameManager · Heist (Game 씬 인스펙터)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벽 · 계단 · 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· 등장 · 효과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StageManager · Trap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140000"/>
            <a:ext cx="996696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수치 기준 = 2026-10-12 유니티 프로젝트 (엑셀 → JSON 변환본 · Game 씬 인스펙터 값)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기획(10-08 오브젝트 기획서)과 구현이 다른 부분은 구현 기준으로 기록, 차이는 마지막 장 「남은 결정」에 정리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고양이 · 보스는 쥐를 방해하는 위험 요소로 제외 (층 별 허들 기획서 · 보스 테이블에서 다룸)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오브젝트 분류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생성 방식과 플레이어가 부수는 이유로 나눈 6가지 분류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45"/>
                <a:gridCol w="734407"/>
                <a:gridCol w="2727799"/>
                <a:gridCol w="3567122"/>
                <a:gridCol w="1258987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종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생성 방식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역할 · 부수는 이유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일반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1.2초마다 자동 보충 · 로켓배송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기본 수입원 · 날아가며 연쇄 충돌을 만드는 재료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0.75~1.33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자동 보충 (공용 스킬 해금 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로비 투자 보상 · 드물게 보이는 고가치 표적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1.00~2.00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방이 열릴 때 테마별 배치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방마다 한 번뿐인 보너스 상자 · 연구자료 12%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0.62~0.79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 · 대형 물건 · 보물 박살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박살 직후의 덤 · 콤보 연결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1.25~5.00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시작 · 방 열림 · 주기 보충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도망치는 표적 · 박치기로 볼링 연출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1.14~1.33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벽 · 계단 · 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지형 생성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진행 수단(벽 · 계단) · 방해 요소(쥐덫)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01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치즈 효율 = 치즈 배율 ÷ 체력 배율 (1층 플라스크 = 1.00 기준) · 사람은 코드 배수(체력 ×3 · 치즈 ×2) 반영값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070"/>
                <a:gridCol w="757489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 (hp_mul)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기준 체력 12에 곱하는 오브젝트별 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 (value_mul)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기준 치즈 3에 곱하는 오브젝트별 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 ÷ 체력 배율 (1층 플라스크 = 1.00)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출현 가중치 (spawn_weight)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자동 보충 · 택배에서 뽑힐 상대 비율 (0 = 자동 보충 없음)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스테이지 테이블 item_hp · cheese — 층마다 모든 오브젝트에 곱하는 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 거리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시작 방에서 계단 쪽으로 이동한 방 칸 수 (가로 + 세로)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공중 횟수 (AIR)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날아가는 동안 저글링 · 공중 충돌로 쌓인 횟수 (최대 8)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박살 시 drop_01~04 물건이 사방으로 튀어나오는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생성 시 확률로 치즈 ×5가 되는 물건 (체력 그대로)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콤보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1.6초 안에 이어진 파괴 수 — 치즈 배율 최대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수치 규칙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체력 · 치즈 공식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모든 오브젝트 수치 = 기준 단위 × 오브젝트 배율 × 층 배율 × 방 거리 배율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3856" y="1950000"/>
            <a:ext cx="2150000" cy="330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기준 단위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133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체력 12 · 치즈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83856" y="2280000"/>
            <a:ext cx="455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×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738856" y="1950000"/>
            <a:ext cx="215000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오브젝트 배율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738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물건 테이블 칸 하나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8856" y="2280000"/>
            <a:ext cx="455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×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343856" y="1950000"/>
            <a:ext cx="215000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층 배율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43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스테이지 테이블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3856" y="2280000"/>
            <a:ext cx="455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ko-KR" altLang="en-US" sz="20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948856" y="1950000"/>
            <a:ext cx="215000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방 거리 배율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948856" y="2280000"/>
            <a:ext cx="215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체력 3.6^(거리×0.1)</a:t>
            </a:r>
          </a:p>
          <a:p>
            <a:pPr algn="ctr">
              <a:spcAft>
                <a:spcPts val="200"/>
              </a:spcAft>
              <a:buNone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치즈 1.8^(거리×0.1)</a:t>
            </a:r>
          </a:p>
        </p:txBody>
      </p:sp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1133856" y="3050000"/>
          <a:ext cx="996696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383"/>
                <a:gridCol w="5282488"/>
                <a:gridCol w="2990089"/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공식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비고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· 가구 체력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 × 체력 배율 × 층 체력 배율 × 3.6^(방 거리 × 0.1)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 플라스크 12 = 공격력 10 쥐 두 번 충돌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· 가구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 × 치즈 배율 × 층 치즈 배율 × 1.8^(방 거리 × 0.1) × 물건 치즈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가구는 가구 치즈 노드(+30%) 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 체력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 × 체력 배율 × 층 체력 배율 × 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 거리 배율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 × 치즈 배율 × 층 치즈 배율 × 2 × 생명체 치즈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 거리 배율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× 5 · 체력 × 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 제외, 쏟아짐 물건 포함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4"/>
          <p:cNvSpPr txBox="1"/>
          <p:nvPr/>
        </p:nvSpPr>
        <p:spPr>
          <a:xfrm>
            <a:off x="1133856" y="5530000"/>
            <a:ext cx="996696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개별 조정 = 물건 테이블 칸 하나, 전체 조정 = 층 배율 · 방 거리 배율 (공통)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인스펙터 값 — ItemManager: 물건 체력 성장 3.6 · 치즈 성장 1.8 · 사람 체력 ×3 · 사람 치즈 ×2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수치 규칙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배율 · 방 거리 배율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층마다 치즈가 체력보다 빠르게 올라 높은 층일수록 커지는 치즈 효율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00000"/>
          <a:ext cx="5300000" cy="44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999"/>
                <a:gridCol w="848000"/>
                <a:gridCol w="1272000"/>
                <a:gridCol w="1272000"/>
                <a:gridCol w="1166001"/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5.06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7.59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6.91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11.39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1.65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9.53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17.09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13.15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25.63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18.15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38.44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25.05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57.67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34.57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86.5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47.7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65.83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90.85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4.88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6733856" y="1900000"/>
            <a:ext cx="436696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3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방 거리 배율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733856" y="2250000"/>
          <a:ext cx="436696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610"/>
                <a:gridCol w="1364675"/>
                <a:gridCol w="1364675"/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거리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×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×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6733856" y="4400000"/>
            <a:ext cx="436696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주황 행 = 보스 층 (오브젝트 배율은 일반 층과 같음)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계단 방 = 시작 방에서 최대 4칸 · 방은 최대 3줄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21~50층도 스테이지 테이블에 정의 (30층 체력 ×11,400 · 치즈 ×128,000)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층 배율 · 방 수는 Tools/gen_stage_table.py 로 생성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물건 보충 · 로켓배송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열린 방마다 상한까지 채우는 자동 보충과 60초마다 화면에 떨어지는 택배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3856" y="1950000"/>
            <a:ext cx="483348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자동 보충 (일반 물건 · 보물)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133856" y="2280000"/>
          <a:ext cx="4833480" cy="3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38"/>
                <a:gridCol w="3437142"/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보충 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1.2초마다 1개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(보충 속도 노드 최대 +120% → 약 0.55초)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보충 위치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열린 방 중 랜덤 한 곳 · 빈자리 12회 탐색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열린 방 수 × 방당 24개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(노드 +5개 · ×2.5)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시작 방을 상한까지 즉시 채움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방이 열릴 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그 방에 상한의 절반(올림) 즉시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뽑기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층 ≤ 지금 층 ≤ 마지막 층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· 해금 노드 · 출현 가중치 비례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4"/>
          <p:cNvSpPr/>
          <p:nvPr/>
        </p:nvSpPr>
        <p:spPr>
          <a:xfrm>
            <a:off x="6267336" y="1950000"/>
            <a:ext cx="4833480" cy="330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로켓배송 (택배 웨이브)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267336" y="2280000"/>
          <a:ext cx="4833480" cy="3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38"/>
                <a:gridCol w="3437142"/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첫 웨이브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시작 20초 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60초 (쿨타임 노드 -5초 → 55초, 최소 24초)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상자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최대 15개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'방 상한 × 1.8 − 화면 안 물건 수' 이하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낙하 위치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화면 안의 열린 방 바닥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내용물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상자 하나 = 자동 보충과 같은 뽑기 물건 1개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배너 '로켓배송!' · 쥐 반응 (OnParcelWave)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가구 배치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방이 열릴 때 방 테마 배치표대로 한 번만 놓이는 가구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307"/>
                <a:gridCol w="6819498"/>
                <a:gridCol w="1049155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테마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배치 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개수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실험실 (Lab)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선반 ×2, 냉장고, 탁자, 의자(가구)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사무실 (Office)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책장, 서류함, 화분, 책상 ×2, 의자(가구)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휴게실 (Breakroom)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자판기, 냉장고, 소파, 화분, 탁자, 의자(가구) ×2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숙직실 (Nap)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사물함 ×2, 간이침대 ×2, 서류함, 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창고 (Storage)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선반 ×4, 사물함, 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4720000"/>
            <a:ext cx="996696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시작 방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항상 실험실 테마  ·  </a:t>
            </a: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그 외 방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5개 테마 중 랜덤 (판 시드 + 층 + 방 위치로 결정)  ·  </a:t>
            </a: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계단 방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가구 없음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누락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가구마다 15% 확률로 빠짐 → 방당 평균 약 5.4개  ·  </a:t>
            </a: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재생성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없음 (방이 열릴 때 한 번)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ko-KR" altLang="en-US" sz="115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위치</a:t>
            </a:r>
            <a:r>
              <a:rPr lang="ko-KR" altLang="en-US" sz="11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배치표 pos_u · pos_v (방 안쪽 0~1 비율) + 좌우 ±2% 흔들림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치즈 보상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박살 기본 보상에 공중 횟수 · 치명타 · 콤보를 곱하는 치즈 계산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403"/>
                <a:gridCol w="6716864"/>
                <a:gridCol w="866693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상황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얻는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콤보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박살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× (1 + 0.5 × 공중 횟수) × 치명타 2 × 쥐 특성 배율 × 묘기 치즈 노드 × 콤보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 퇴치 (펑)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× (1 + 0.5 × 공중 횟수) × 콤보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날아간 물건 · 사람이 물건 적중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맞은 물건 치즈 × 0.3 (즉시)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저글링 (쥐 헤딩)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물건: 치즈 × 0.15 × 공중 횟수  /  사람: 치즈 × 0.3 × 공중 횟수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공중 충돌 (물건끼리)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두 물건 치즈 합 × 0.5 × 공중 충돌 노드 (+50%)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3"/>
          <p:cNvSpPr/>
          <p:nvPr/>
        </p:nvSpPr>
        <p:spPr>
          <a:xfrm>
            <a:off x="1133856" y="4600000"/>
            <a:ext cx="4833480" cy="1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4"/>
          <p:cNvSpPr/>
          <p:nvPr/>
        </p:nvSpPr>
        <p:spPr>
          <a:xfrm>
            <a:off x="1283856" y="475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3856" y="475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콤보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856" y="5220000"/>
            <a:ext cx="4503480" cy="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배율 = 1 + 0.005 × 콤보 → 200콤보에서 최대 ×2.0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유지 1.6초 (콤보 유지 노드 +30%)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공중 횟수 상한 8회 (AIR x8 → 박살 치즈 ×5)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67336" y="4600000"/>
            <a:ext cx="4833480" cy="1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8"/>
          <p:cNvSpPr/>
          <p:nvPr/>
        </p:nvSpPr>
        <p:spPr>
          <a:xfrm>
            <a:off x="6417336" y="475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7336" y="475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박살 연쇄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7336" y="5220000"/>
            <a:ext cx="4503480" cy="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주변 물건에 최대 체력의 25% 피해 (도미노)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연쇄 폭발 노드: 범위 +30 · 피해 +20%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날아간 물건이 벽을 치면 벽 피해 (쥐 힘의 30%)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연구자료 · 쏟아짐 · 황금 물건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치즈 외 보상 — 연구자료 드랍, 내용물 쏟아짐, 황금 물건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070"/>
                <a:gridCol w="2990088"/>
                <a:gridCol w="4584802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조건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연구자료 – 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박살 시 12%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연구자료 – 물건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박살 시 1.2%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연구자료 – 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연구자료 – 층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계단 도착 (탈취 연출)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반올림(6 × 1.45^(층-1)) · 보스 층 ×3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 12 · 대형 물건 2 · 보물 6종 박살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drop_01~04 물건 생성 (현재 층 · 거리 배율 적용)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생성 시 (가구 제외)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확률 = 황금 노드 합 (최대 21%) · 치즈 ×5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000000"/>
            <a:ext cx="996696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쏟아짐 물건은 등장 층 · 해금 조건과 무관 (예: 냉장고 → 해금 전에도 표본 병)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쏟아짐 물건도 황금 확률 · 연구자료 1.2% 판정 대상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게임 오버 · 층 탈취 연출 중에는 연구자료 드랍 없음 · 연구자료는 판이 끝나도 저장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생성 · 보상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공용 스킬 연동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오브젝트 수 · 가치 · 해금에 영향을 주는 공용 스킬 노드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870000"/>
          <a:ext cx="9966960" cy="41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766"/>
                <a:gridCol w="797356"/>
                <a:gridCol w="1993392"/>
                <a:gridCol w="3787446"/>
              </a:tblGrid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노드 (effect_type)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최대 합계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적용 대상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신규 물건 출현 (New_Item)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14종 해금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보물 8 · 표본 병 · 현미경 · 원심분리기 · 가스통 · 약품 드럼 · 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물건 확률 (Gold_Item)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21% · 치즈 ×5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 제외 모든 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방마다 물건 +N (Item_Count_Flat)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방당 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나오는 물건 +% (Item_Count_Pct)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+150%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방당 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보충 속도 (Spawn_Rate_Pct)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+120%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자동 보충 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로켓배송 쿨타임 (Rocket_CD)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-5초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택배 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획득량 (Cheese_Pct 전체)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+175%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· 사람 모두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파괴 치즈 (Cheese_Pct 물건)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+465%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 · 가구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생명체 처치 치즈 (Cheese_Pct 생명체)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+465%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 피해 · 치즈 (Furniture_Pct)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+30% · +30%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연쇄 폭발 (Chain_Blast)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범위 +30 · 피해 +20%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박살 연쇄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공중 충돌 치즈 (Air_Cheese_Pct)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+50%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공중 충돌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전기 이빨 (Bite_Zap)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5% · 2개 감전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깨문 물건 주변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쥐덫 등장 · 2개 확률 (Trap_*_Down)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-30% · -40%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벽 체력 · 벽 피해 (Wall_*)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1~8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-15% · +190%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일반 물건 (1)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391"/>
                <a:gridCol w="1352980"/>
                <a:gridCol w="721589"/>
                <a:gridCol w="766689"/>
                <a:gridCol w="766689"/>
                <a:gridCol w="631391"/>
                <a:gridCol w="676490"/>
                <a:gridCol w="676490"/>
                <a:gridCol w="721589"/>
                <a:gridCol w="766689"/>
                <a:gridCol w="721589"/>
                <a:gridCol w="1533384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마지막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해금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재질 · 특성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비커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페트리 접시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주사기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클립보드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종이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머그컵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표본 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삼각 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약병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보안경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종이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시험관 꽂이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구급상자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990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주황 행 = 공용 스킬 '신규 물건 출현' 해금 필요 · 마지막 층 = 그 층까지 등장 · 재질 = 타격 · 박살 소리 (유리 / 금속 / 종이 = 나무)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일반 물건 (2)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391"/>
                <a:gridCol w="1352980"/>
                <a:gridCol w="721589"/>
                <a:gridCol w="766689"/>
                <a:gridCol w="766689"/>
                <a:gridCol w="631391"/>
                <a:gridCol w="676490"/>
                <a:gridCol w="676490"/>
                <a:gridCol w="721589"/>
                <a:gridCol w="766689"/>
                <a:gridCol w="721589"/>
                <a:gridCol w="1533384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마지막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해금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재질 · 특성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현미경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소화기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의자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의료 폐기물통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케이지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원심분리기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정수기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유리 · 얼룩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가스통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약품 드럼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 · 대형 · 얼룩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모니터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 카트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금속 · 대형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990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주황 행 = 공용 스킬 '신규 물건 출현' 해금 필요 · 마지막 층 = 그 층까지 등장 · 재질 = 타격 · 박살 소리 (유리 / 금속 / 종이 = 나무)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보물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46"/>
                <a:gridCol w="661523"/>
                <a:gridCol w="705625"/>
                <a:gridCol w="705625"/>
                <a:gridCol w="573320"/>
                <a:gridCol w="617422"/>
                <a:gridCol w="617422"/>
                <a:gridCol w="661523"/>
                <a:gridCol w="2116876"/>
                <a:gridCol w="2028678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해금 노드 (비용)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1훈장 (치즈 1,500)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지폐 다발 ×2, 동전 자루, 치즈 조각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치즈 트로피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2훈장 (치즈 13,000 · 연구 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실험용 로봇 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3훈장 (치즈 120,000 · 연구 18)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톱니바퀴 ×2, 회로 기판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냉동 수면 캡슐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4훈장 (치즈 920,000 · 연구 45)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얼음 덩어리 ×3, 표본 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거대 치즈 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5훈장 (치즈 7,500,000 · 연구 76)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조각 ×4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6훈장 (치즈 72,000,000 · 연구 185)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금괴 ×3, 동전 자루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7훈장 (치즈 1,200,000,000 · 연구 589)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회로 기판 ×2, 하드디스크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다이아몬드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8훈장 (치즈 7,900,000,000 · 연구 4,906)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580200"/>
            <a:ext cx="996696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모든 보물 = Loot 브랜치 '신규 물건 출현' 노드와 1:1 · 노드를 찍고 등장 층에 도달해야 출현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효율 1.00~2.00 · 가중치 0.25~0.5 — 높은 가치의 대가는 드묾과 단단함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가구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789"/>
                <a:gridCol w="745193"/>
                <a:gridCol w="745193"/>
                <a:gridCol w="745193"/>
                <a:gridCol w="605469"/>
                <a:gridCol w="558894"/>
                <a:gridCol w="605469"/>
                <a:gridCol w="1769834"/>
                <a:gridCol w="3073926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무게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배치 테마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선반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실험실 · 창고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플라스크, 비커, 약병, 삼각 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책장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사무실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두꺼운 책 ×3, 서류 뭉치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간이침대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숙직실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베개, 실험복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실험실 · 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머그컵, 클립보드, 캔 음료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의자(가구)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실험실 · 사무실 · 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베개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책상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사무실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서류 뭉치, 연필꽂이, 머그컵, 두꺼운 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사물함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숙직실 · 창고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실험복, 보안경, 캔 음료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사무실 · 숙직실 · 창고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서류 뭉치 ×3, 두꺼운 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베개 ×2, 동전 자루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냉장고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실험실 · 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표본 병, 페트리 접시, 시험관 꽂이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자판기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휴게실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캔 음료 ×3, 머그컵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61012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사무실 · 휴게실 · 숙직실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새싹 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990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전 층 공통 (등장 층 · 출현 가중치 0) · 무게 = 밀림 감소, 날아가는 속도 × 1/√무게 · 재질 칸과 관계없이 나무 소리 · 가구 피해 · 치즈 노드 적용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쏟아짐 물건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4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04"/>
                <a:gridCol w="797356"/>
                <a:gridCol w="797356"/>
                <a:gridCol w="797356"/>
                <a:gridCol w="697687"/>
                <a:gridCol w="697687"/>
                <a:gridCol w="4883814"/>
              </a:tblGrid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물건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나오는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지폐 다발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동전 자루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소파, 치즈 금고, 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4.44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조각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금고, 거대 치즈 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하드디스크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서버 랙, 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회로 기판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서버 랙, 실험용 로봇 팔, 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약품 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약품 드럼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얼음 덩어리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냉동 수면 캡슐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톱니바퀴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실험용 로봇 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두꺼운 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책장, 책상, 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서류 뭉치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책장, 책상, 서류함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연필꽂이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책상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베개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간이침대, 의자(가구), 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간이침대, 사물함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새싹 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화분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캔 음료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60048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탁자, 사물함, 자판기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61342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자동 보충 없음 (가중치 0) · 쏟아짐 칸에는 일반 물건도 사용 (선반 → 플라스크 등) · 체력이 낮아 대부분 첫 충돌에 박살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사람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걷다가 쥐를 보면 도망치는 움직이는 표적 — 날아가며 물건 · 사람을 들이받음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482"/>
                <a:gridCol w="972386"/>
                <a:gridCol w="1093934"/>
                <a:gridCol w="1093934"/>
                <a:gridCol w="1458579"/>
                <a:gridCol w="1458579"/>
                <a:gridCol w="850838"/>
                <a:gridCol w="850838"/>
                <a:gridCol w="97239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실제 체력 (×3)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실제 치즈 (×2)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속도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연구원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90001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×1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청소부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90002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×0.9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경비원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90003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×1.1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요리사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90004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×0.95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3"/>
          <p:cNvSpPr/>
          <p:nvPr/>
        </p:nvSpPr>
        <p:spPr>
          <a:xfrm>
            <a:off x="1133856" y="3650000"/>
            <a:ext cx="483348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4"/>
          <p:cNvSpPr/>
          <p:nvPr/>
        </p:nvSpPr>
        <p:spPr>
          <a:xfrm>
            <a:off x="1283856" y="38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3856" y="380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등장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856" y="4270000"/>
            <a:ext cx="450348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층 시작: 1층 1명 · 그 위 2명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방이 열릴 때 1~2명 (계단 방 제외)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18~30초마다 1명 보충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돌아다니는 사람 &lt; 최소 인원(2 + 층÷6)이면 2.5~4.5초마다 빠른 보충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동시 상한 min(12, 4 + 층 × 0.4) · 종류는 균등 랜덤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67336" y="3650000"/>
            <a:ext cx="483348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8"/>
          <p:cNvSpPr/>
          <p:nvPr/>
        </p:nvSpPr>
        <p:spPr>
          <a:xfrm>
            <a:off x="6417336" y="38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7336" y="3800000"/>
            <a:ext cx="413348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행동 · 보상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7336" y="4270000"/>
            <a:ext cx="450348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쥐 240 이내 → 기겁 · 420 거리 안에서 도망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체력 0 → 날아감 → 벽에 철퍼덕 1회 → 2~3번 통통 (착지 충격파) → 펑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날아가며 맞힌 물건 치즈 30% · 다른 사람은 즉시 날아감 (스트라이크)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펑: 치즈 × (1 + 0.5 × 공중 횟수) · 콤보 +2 · 연구자료 없음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벽 · 계단 · 쥐덫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층 지형에 붙어 진행을 막거나 돕는 오브젝트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65"/>
                <a:gridCol w="2990088"/>
                <a:gridCol w="4584801"/>
                <a:gridCol w="1295706"/>
              </a:tblGrid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오브젝트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열린 방과 안 열린 방 사이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(연구소 바깥벽은 못 부숨)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= 적정 전투력 × 벽 배율 (계단까지 경로 합 wall_path, 절반은 계단 방 벽 · 일반 벽 최소 0.8)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무리 전투력 &lt; 적정이면 피해 × (전투력 ÷ 적정)^지수 (계단 벽 1.5 · 일반 0.5)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방 열림 → 가구 · 물건 · 사람 · 쥐덫 생성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계단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시작 방에서 4칸 이내 중 가장 먼 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계단 방이 열리면 보임 · 쥐가 닿으면 다음 층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보스 층(5층마다)은 보스 처치 전 사용 불가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돌파 연구자료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쥐덫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2층부터, 계단 방이 아닌 방이 열릴 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100% 확률로 1개, 35% 확률로 2개 (노드: 등장 -30% · 2개 -40%)</a:t>
                      </a:r>
                    </a:p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발동 반경 28 · 밟은 쥐 3초 기절 · 8초 뒤 재장전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층별 출현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층이 오를수록 새 물건 등장 · 싼 물건 퇴장 — 구성 자체가 숨은 층 배율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870000"/>
          <a:ext cx="9966960" cy="41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180"/>
                <a:gridCol w="3162593"/>
                <a:gridCol w="2300067"/>
                <a:gridCol w="1245870"/>
                <a:gridCol w="1245870"/>
                <a:gridCol w="1533380"/>
              </a:tblGrid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새로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해금 시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사라짐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종류 (기본 / 해금)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평균 치즈 배율 (기본 / 해금)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플라스크 · 비커 · 페트리 접시 · 주사기 · 클립보드 · 머그컵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표본 병 · 치즈 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 / 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0.98 / 1.64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삼각 플라스크 · 약병 · 보안경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 / 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1.06 / 1.51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시험관 꽂이 · 구급상자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현미경 · 황금 치즈 트로피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 / 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1.17 / 1.91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소화기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 / 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1.23 / 1.90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케이지 · 의자 · 의료 폐기물통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원심분리기 · 실험용 로봇 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 / 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1.43 / 2.23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정수기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가스통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 / 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1.51 / 2.31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냉동 수면 캡슐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 / 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1.51 / 2.50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약품 드럼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 / 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1.51 / 2.60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모니터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거대 치즈 바퀴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 / 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1.59 / 2.88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클립보드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 / 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1.64 / 2.97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실험 카트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17 / 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1.73 / 3.09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금괴 상자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페트리 접시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 / 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1.78 / 3.47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보안경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 / 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1.82 / 3.57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데이터 코어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 / 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1.82 / 3.88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다이아몬드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 / 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1.82 / 4.25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6122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평균 치즈 배율 = 출현 가중치로 가중 평균 · 표에 없는 층은 바로 아래 층과 같은 구성 · 20층 전부 해금 시 보물 가중치 비중 14%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오브젝트 명세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층별 실제 값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시작 방 기준 대표 오브젝트의 실제 체력 / 치즈 (노드 · 황금 · 콤보 제외)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3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720"/>
                <a:gridCol w="1384300"/>
                <a:gridCol w="1568873"/>
                <a:gridCol w="1753446"/>
                <a:gridCol w="1753446"/>
                <a:gridCol w="1753446"/>
                <a:gridCol w="1199729"/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플라스크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서버 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자판기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연구원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경비원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돌파 연구자료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 / 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336 / 66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108 / 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16.6 / 4.5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464 / 99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149 / 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22.8 / 6.8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638 / 148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205 / 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342 / 122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31.6 / 10.1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884 / 223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284 / 122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473 / 183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43.6 / 15.2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1,220 / 334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392 / 182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653 / 273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218 / 115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6,098 / 2,537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1,960 / 1,384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3,267 / 2,076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1,090 / 876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13,082 / 7,884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30,526 / 19,272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9,812 / 10,512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16,353 / 15,768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3,270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5,460 / 6,660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65,520 / 59,940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152,880 / 146,520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49,140 / 79,920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81,900 / 119,880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20,955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27,360 / 50,400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328,320 / 453,600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766,080 / 1,108,800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246,240 / 604,800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410,400 / 907,200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134,310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136,800 / 384,000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1,641,600 / 3,456,000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3,830,400 / 8,448,000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1,231,200 / 4,608,000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2,052,000 / 6,912,000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860,883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5790000"/>
            <a:ext cx="996696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 xml:space="preserve">체력 / 치즈 · 주황 행 = 보스 층 (층 돌파 연구자료 ×3) · 방 거리 1칸마다 물건 체력 ×1.14 · 치즈 ×1.06 추가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신규 오브젝트 추가 절차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분류 결정부터 문서 갱신까지 6단계 — 기존 오브젝트와 같은 규칙으로 추가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3856" y="195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3"/>
          <p:cNvSpPr/>
          <p:nvPr/>
        </p:nvSpPr>
        <p:spPr>
          <a:xfrm>
            <a:off x="1283856" y="21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3856" y="210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분류 결정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3856" y="257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일반 물건 · 보물 · 가구 · 쏟아짐 · 사람 중 하나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분류 → 테이블 시트 · ID 대역 · 생성 방식 결정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29509" y="195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7"/>
          <p:cNvSpPr/>
          <p:nvPr/>
        </p:nvSpPr>
        <p:spPr>
          <a:xfrm>
            <a:off x="4679509" y="21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29509" y="210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기준 수치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29509" y="257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분류별 범위표(다음 장)에서 체력 · 치즈 배율 선택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효율 = 치즈 ÷ 체력이 범위 안인지 확인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925162" y="195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21" name="Rectangle 21"/>
          <p:cNvSpPr/>
          <p:nvPr/>
        </p:nvSpPr>
        <p:spPr>
          <a:xfrm>
            <a:off x="8075162" y="210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25162" y="210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등장 조건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25162" y="257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등장 층 · 마지막 층 · 출현 가중치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보물 = 해금 노드 · 가구 = 배치표 · 쏟아짐 = 부모 drop 칸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133856" y="417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5"/>
          <p:cNvSpPr/>
          <p:nvPr/>
        </p:nvSpPr>
        <p:spPr>
          <a:xfrm>
            <a:off x="1283856" y="432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33856" y="432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테이블 입력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3856" y="479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Data_Table 엑셀에 행 추가 (칸 규칙: 25p)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python Tools/xlsx2json.py 로 JSON 반영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529509" y="417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9"/>
          <p:cNvSpPr/>
          <p:nvPr/>
        </p:nvSpPr>
        <p:spPr>
          <a:xfrm>
            <a:off x="4679509" y="432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9509" y="432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그림 · 연결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29509" y="479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Codex로 그림 생성 → Assets/Art/Rats/&lt;asset&gt;.png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ItemManager 컴포넌트 메뉴 Fill Item Sprites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925162" y="4170000"/>
            <a:ext cx="3175653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/>
            <a:endParaRPr lang="ko-KR" altLang="en-US"/>
          </a:p>
        </p:txBody>
      </p:sp>
      <p:sp>
        <p:nvSpPr>
          <p:cNvPr id="33" name="Rectangle 33"/>
          <p:cNvSpPr/>
          <p:nvPr/>
        </p:nvSpPr>
        <p:spPr>
          <a:xfrm>
            <a:off x="8075162" y="4320000"/>
            <a:ext cx="380000" cy="3800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25162" y="4320000"/>
            <a:ext cx="2475653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검증 · 문서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25162" y="4790000"/>
            <a:ext cx="2845653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체크리스트(26p) 확인 · 게임에서 박살 확인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5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이 기획서 명세표 · 층별 구성 · 로그 갱신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분류별 기준 범위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현재 오브젝트에서 뽑은 분류별 수치 범위 — 신규 오브젝트는 이 범위 안에서 결정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2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047"/>
                <a:gridCol w="1453515"/>
                <a:gridCol w="1453515"/>
                <a:gridCol w="1142047"/>
                <a:gridCol w="1142047"/>
                <a:gridCol w="934402"/>
                <a:gridCol w="2699387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출현 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추가로 필요한 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일반 소형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0.8~1.3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0.8~1.3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0.89~1.33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12~15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일반 중형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1.4~2.6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1.4~2.4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0.82~1.20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14~18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단단한 재질이면 is_sturdy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일반 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3~12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2.6~9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0.75~1.00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0.35~1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16~30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9 이상 = is_big ·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5~24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8~36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1.00~2.00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0.25~0.5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18~30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unlock_skill 필수 · 쏟아짐 권장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6~28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4~22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0.62~0.79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20~46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heavy 2.5~7 · 배치표 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0.4~0.9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0.8~4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1.25~5.00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11~15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부모 오브젝트의 drop 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3~5 (실제 ×3)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6~9 (실제 ×2)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1.14~1.33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균등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26 (공통)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Human_Line 대사 · 파츠 그림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133856" y="4790000"/>
            <a:ext cx="996696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크기와 가치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체력과 치즈는 같은 방향 — 크고 단단한 것이 많이 줌, 효율은 크기가 클수록 살짝 낮춤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효율 예외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범위를 넘는 효율에는 대가 필요 — 드묾(가중치) · 단단함(체력) · 움직임(사람) · 해금 비용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쏟아짐 비율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쏟아짐 치즈 합 ÷ 본체 치즈 — 가구 16~37% · 보물 13~131% (현재 범위)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등장 층</a:t>
            </a:r>
            <a:r>
              <a:rPr lang="ko-KR" altLang="en-US" sz="11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 1~6층은 매 층 새 물건 1종 이상 · 싼 소형 물건은 10~14층에서 퇴장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물건 테이블 작성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4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722"/>
                <a:gridCol w="1495044"/>
                <a:gridCol w="6578194"/>
              </a:tblGrid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작성 규칙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item_id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고유 번호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일반 · 보물 · 쏟아짐 600xx · 가구 610xx · 사람 900xx (대역 안 다음 빈 번호)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item_name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화면 이름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한글 · 다른 물건과 겹치지 않게 (가구는 '의자(가구)'처럼 구분)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code_id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내부 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영문 소문자 · 가구는 furn_ 접두 · 화면에 안 보임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item_category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Item(일반 · 보물) / Furniture / Spill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radius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충돌 반지름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그림 폭 = radius × 1.45 × 2.6 · 분류별 범위(24p)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hp_mul · value_mul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· 치즈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분류별 범위 · 효율(치즈 ÷ 체력)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spawn_weight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출현 가중치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일반 1 · 대형 0.35~0.6 · 보물 0.25~0.5 · 가구 · 쏟아짐 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heavy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무게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가구만 (밀림 감소 · 날아가는 속도 × 1/√무게)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is_big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대형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1 = 큰 히트스톱 · 낮게 날아감 · 큰 먼지 (체력 배율 9 이상)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is_sturdy · is_paper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재질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소리 결정: is_paper 1 = 나무 · is_sturdy 1 = 금속 · 둘 다 0 = 유리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spill_color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얼룩 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액체 · 가루가 든 물건만 #rrggbb · 없으면 빈칸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drop_01~04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나올 물건 id · 0 = 없음 · 같은 id 반복 가능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asset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그림 경로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Items/item_&lt;code&gt; · Furniture/furn_&lt;code&gt; (Assets/Art/Rats/ 기준)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from_floor · to_floor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· 마지막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 = 제한 없음 (가구 0) · to_floor = 마지막으로 나오는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unlock_skill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해금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0 = 기본 · 보물은 Loot 브랜치 '신규 물건 출현' 노드 id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가이드라인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검증 체크리스트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33856" y="1600200"/>
          <a:ext cx="996696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052"/>
                <a:gridCol w="4186123"/>
                <a:gridCol w="3986785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기준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확인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효율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분류별 범위 안 (벗어나면 대가 명시)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배율 ÷ 체력 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충돌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적정 전투력에서 소형 2회 · 대형은 연쇄로 비슷한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배율 × 1.2 = 공격력 10 쥐 기준 충돌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등장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보물 등장 층 ≤ 해금 훈장을 따는 층대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별 허들 기획서 훈장 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가중치 비중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한 층 보물 가중치 합 ≤ 약 20% (현재 20층 14%)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층별 출현 구성 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 비율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가구 · 보물 현재 범위 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drop 물건 치즈 합 ÷ 본체 치즈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연출 연결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그림 · 재질 소리 · 얼룩 색 · 그림자 크기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게임에서 타격 · 박살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데이터 반영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xlsx2json 자료형 오류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변환 로그의 '틀린 칸' 위치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문서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명세표 · 층별 구성 · 로그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이 기획서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33856" y="5580200"/>
            <a:ext cx="996696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15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어긋났을 때 조정 순서 — ① 그 오브젝트 배율 칸 → ② 층 배율 (스테이지 테이블) → ③ 기준 단위 12 · 3 (최후 수단)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기획 · 구현 차이와 남은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/>
          <p:nvPr/>
        </p:nvSpPr>
        <p:spPr>
          <a:xfrm>
            <a:off x="1133856" y="1330977"/>
            <a:ext cx="996696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 xml:space="preserve">10-08 오브젝트 기획과 현재 구현이 다른 항목 — 어느 쪽에 맞출지 결정 필요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133856" y="1950000"/>
          <a:ext cx="9966960" cy="3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713"/>
                <a:gridCol w="2691079"/>
                <a:gridCol w="3289096"/>
                <a:gridCol w="2392072"/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기획 (10-08)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현재 구현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결정 필요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사람 수치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체력 3~5 · 치즈 6~9 · 효율 약 2배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코드에서 체력 ×3 · 치즈 ×2 추가 → 효율 1.14~1.33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기획 효율로 되돌릴지 여부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물건 확률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최대 7% (4 · 5훈장)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최대 21% (4~8훈장 노드 5개)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상한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 물건 판정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규칙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황금 확률 · 연구자료 1.2% 대상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제외 여부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운석 노드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5훈장 노드 존재, 게임 효과 미연결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구현 또는 노드 교체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치즈 금고 쏟아짐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쏟아짐 치즈 합 = 본체의 131%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비율 조정 여부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층 돌파 연구자료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6 × 1.45^(층-1)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씬 값 동일 · HANDOFF.md 는 8 × 1.25 (옛 값)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HANDOFF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사라지는 층 표기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'사라지는 층 10층' (클립보드)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to_floor 10 = 10층까지 등장 · 11층부터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 xml:space="preserve">표기 통일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6091</Words>
  <Application>Microsoft Office PowerPoint</Application>
  <PresentationFormat>와이드스크린</PresentationFormat>
  <Paragraphs>1425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26</cp:revision>
  <dcterms:created xsi:type="dcterms:W3CDTF">2026-09-29T07:46:10Z</dcterms:created>
  <dcterms:modified xsi:type="dcterms:W3CDTF">2026-10-12T02:35:08Z</dcterms:modified>
</cp:coreProperties>
</file>