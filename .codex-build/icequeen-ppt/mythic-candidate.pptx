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8e90ad623e47c2" /><Relationship Type="http://schemas.openxmlformats.org/officeDocument/2006/relationships/extended-properties" Target="/docProps/app.xml" Id="Raa999df8cc3641f6" /><Relationship Type="http://schemas.openxmlformats.org/officeDocument/2006/relationships/officeDocument" Target="/ppt/presentation.xml" Id="R6af374affaa746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42188222794812"/>
  </p:sldMasterIdLst>
  <p:notesMasterIdLst>
    <p:notesMasterId xmlns:r="http://schemas.openxmlformats.org/officeDocument/2006/relationships" r:id="Rd8bb647d3d2448f2"/>
  </p:notesMasterIdLst>
  <p:sldIdLst>
    <p:sldId xmlns:r="http://schemas.openxmlformats.org/officeDocument/2006/relationships" id="256" r:id="R4c47b2cddbeb4339"/>
    <p:sldId xmlns:r="http://schemas.openxmlformats.org/officeDocument/2006/relationships" id="257" r:id="R7c03c72cb22b4475"/>
    <p:sldId xmlns:r="http://schemas.openxmlformats.org/officeDocument/2006/relationships" id="258" r:id="Rd25309b6a560460c"/>
    <p:sldId xmlns:r="http://schemas.openxmlformats.org/officeDocument/2006/relationships" id="259" r:id="Rf19b896e9a724f59"/>
    <p:sldId xmlns:r="http://schemas.openxmlformats.org/officeDocument/2006/relationships" id="260" r:id="Rc2fe781ff1ee4751"/>
    <p:sldId xmlns:r="http://schemas.openxmlformats.org/officeDocument/2006/relationships" id="261" r:id="Ra95158be2b4240d3"/>
    <p:sldId xmlns:r="http://schemas.openxmlformats.org/officeDocument/2006/relationships" id="262" r:id="Re5b04b1958ed4308"/>
    <p:sldId xmlns:r="http://schemas.openxmlformats.org/officeDocument/2006/relationships" id="263" r:id="Rc58b83a872154d83"/>
    <p:sldId xmlns:r="http://schemas.openxmlformats.org/officeDocument/2006/relationships" id="264" r:id="Rb75d68aa758f4f05"/>
    <p:sldId xmlns:r="http://schemas.openxmlformats.org/officeDocument/2006/relationships" id="265" r:id="Rdd25c33458db479b"/>
    <p:sldId xmlns:r="http://schemas.openxmlformats.org/officeDocument/2006/relationships" id="266" r:id="R43662f3c397c4694"/>
    <p:sldId xmlns:r="http://schemas.openxmlformats.org/officeDocument/2006/relationships" id="267" r:id="R58ad072c0e324d03"/>
    <p:sldId xmlns:r="http://schemas.openxmlformats.org/officeDocument/2006/relationships" id="268" r:id="R2e56a017c5854c70"/>
    <p:sldId xmlns:r="http://schemas.openxmlformats.org/officeDocument/2006/relationships" id="269" r:id="Rf11fea567c5749cd"/>
    <p:sldId xmlns:r="http://schemas.openxmlformats.org/officeDocument/2006/relationships" id="270" r:id="Rd1b0c59a3cd04b24"/>
    <p:sldId xmlns:r="http://schemas.openxmlformats.org/officeDocument/2006/relationships" id="271" r:id="R424df5afb7074d12"/>
    <p:sldId xmlns:r="http://schemas.openxmlformats.org/officeDocument/2006/relationships" id="272" r:id="R7ae68df2460e4e91"/>
    <p:sldId xmlns:r="http://schemas.openxmlformats.org/officeDocument/2006/relationships" id="273" r:id="Rf19b165f455249ad"/>
    <p:sldId xmlns:r="http://schemas.openxmlformats.org/officeDocument/2006/relationships" id="274" r:id="R67e91797fd7a431c"/>
    <p:sldId xmlns:r="http://schemas.openxmlformats.org/officeDocument/2006/relationships" id="275" r:id="R4eecea1c8bdb4a98"/>
    <p:sldId xmlns:r="http://schemas.openxmlformats.org/officeDocument/2006/relationships" id="276" r:id="R94ffcbc7d43c4a35"/>
    <p:sldId xmlns:r="http://schemas.openxmlformats.org/officeDocument/2006/relationships" id="277" r:id="Rb93771fda6ef4b23"/>
    <p:sldId xmlns:r="http://schemas.openxmlformats.org/officeDocument/2006/relationships" id="278" r:id="R26e565f8b7d941d8"/>
    <p:sldId xmlns:r="http://schemas.openxmlformats.org/officeDocument/2006/relationships" id="279" r:id="R5e8fefcbc3934b45"/>
    <p:sldId xmlns:r="http://schemas.openxmlformats.org/officeDocument/2006/relationships" id="280" r:id="Rb424f6b1da39406d"/>
    <p:sldId xmlns:r="http://schemas.openxmlformats.org/officeDocument/2006/relationships" id="281" r:id="R1b1a2a932fa94811"/>
    <p:sldId xmlns:r="http://schemas.openxmlformats.org/officeDocument/2006/relationships" id="282" r:id="R7ca52a8f408c4505"/>
    <p:sldId xmlns:r="http://schemas.openxmlformats.org/officeDocument/2006/relationships" id="283" r:id="R56bc2df0f84242e9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eb31a535704a7e" /><Relationship Type="http://schemas.openxmlformats.org/officeDocument/2006/relationships/slideMaster" Target="/ppt/slideMasters/slideMaster1.xml" Id="Rd542188222794812" /><Relationship Type="http://schemas.openxmlformats.org/officeDocument/2006/relationships/notesMaster" Target="/ppt/notesMasters/notesMaster1.xml" Id="Rd8bb647d3d2448f2" /><Relationship Type="http://schemas.openxmlformats.org/officeDocument/2006/relationships/presProps" Target="/ppt/presProps.xml" Id="R1461bd6b72954d16" /><Relationship Type="http://schemas.openxmlformats.org/officeDocument/2006/relationships/viewProps" Target="/ppt/viewProps.xml" Id="Rce264be4ce0d40f2" /><Relationship Type="http://schemas.openxmlformats.org/officeDocument/2006/relationships/tableStyles" Target="/ppt/tableStyles.xml" Id="R1c9c743262c54ba9" /><Relationship Type="http://schemas.openxmlformats.org/officeDocument/2006/relationships/slide" Target="/ppt/slides/slide1.xml" Id="R4c47b2cddbeb4339" /><Relationship Type="http://schemas.openxmlformats.org/officeDocument/2006/relationships/slide" Target="/ppt/slides/slide2.xml" Id="R7c03c72cb22b4475" /><Relationship Type="http://schemas.openxmlformats.org/officeDocument/2006/relationships/slide" Target="/ppt/slides/slide3.xml" Id="Rd25309b6a560460c" /><Relationship Type="http://schemas.openxmlformats.org/officeDocument/2006/relationships/slide" Target="/ppt/slides/slide4.xml" Id="Rf19b896e9a724f59" /><Relationship Type="http://schemas.openxmlformats.org/officeDocument/2006/relationships/slide" Target="/ppt/slides/slide5.xml" Id="Rc2fe781ff1ee4751" /><Relationship Type="http://schemas.openxmlformats.org/officeDocument/2006/relationships/slide" Target="/ppt/slides/slide6.xml" Id="Ra95158be2b4240d3" /><Relationship Type="http://schemas.openxmlformats.org/officeDocument/2006/relationships/slide" Target="/ppt/slides/slide7.xml" Id="Re5b04b1958ed4308" /><Relationship Type="http://schemas.openxmlformats.org/officeDocument/2006/relationships/slide" Target="/ppt/slides/slide8.xml" Id="Rc58b83a872154d83" /><Relationship Type="http://schemas.openxmlformats.org/officeDocument/2006/relationships/slide" Target="/ppt/slides/slide9.xml" Id="Rb75d68aa758f4f05" /><Relationship Type="http://schemas.openxmlformats.org/officeDocument/2006/relationships/slide" Target="/ppt/slides/slide10.xml" Id="Rdd25c33458db479b" /><Relationship Type="http://schemas.openxmlformats.org/officeDocument/2006/relationships/slide" Target="/ppt/slides/slide11.xml" Id="R43662f3c397c4694" /><Relationship Type="http://schemas.openxmlformats.org/officeDocument/2006/relationships/slide" Target="/ppt/slides/slide12.xml" Id="R58ad072c0e324d03" /><Relationship Type="http://schemas.openxmlformats.org/officeDocument/2006/relationships/slide" Target="/ppt/slides/slide13.xml" Id="R2e56a017c5854c70" /><Relationship Type="http://schemas.openxmlformats.org/officeDocument/2006/relationships/slide" Target="/ppt/slides/slide14.xml" Id="Rf11fea567c5749cd" /><Relationship Type="http://schemas.openxmlformats.org/officeDocument/2006/relationships/slide" Target="/ppt/slides/slide15.xml" Id="Rd1b0c59a3cd04b24" /><Relationship Type="http://schemas.openxmlformats.org/officeDocument/2006/relationships/slide" Target="/ppt/slides/slide16.xml" Id="R424df5afb7074d12" /><Relationship Type="http://schemas.openxmlformats.org/officeDocument/2006/relationships/slide" Target="/ppt/slides/slide17.xml" Id="R7ae68df2460e4e91" /><Relationship Type="http://schemas.openxmlformats.org/officeDocument/2006/relationships/slide" Target="/ppt/slides/slide18.xml" Id="Rf19b165f455249ad" /><Relationship Type="http://schemas.openxmlformats.org/officeDocument/2006/relationships/slide" Target="/ppt/slides/slide19.xml" Id="R67e91797fd7a431c" /><Relationship Type="http://schemas.openxmlformats.org/officeDocument/2006/relationships/slide" Target="/ppt/slides/slide20.xml" Id="R4eecea1c8bdb4a98" /><Relationship Type="http://schemas.openxmlformats.org/officeDocument/2006/relationships/slide" Target="/ppt/slides/slide21.xml" Id="R94ffcbc7d43c4a35" /><Relationship Type="http://schemas.openxmlformats.org/officeDocument/2006/relationships/slide" Target="/ppt/slides/slide22.xml" Id="Rb93771fda6ef4b23" /><Relationship Type="http://schemas.openxmlformats.org/officeDocument/2006/relationships/slide" Target="/ppt/slides/slide23.xml" Id="R26e565f8b7d941d8" /><Relationship Type="http://schemas.openxmlformats.org/officeDocument/2006/relationships/slide" Target="/ppt/slides/slide24.xml" Id="R5e8fefcbc3934b45" /><Relationship Type="http://schemas.openxmlformats.org/officeDocument/2006/relationships/slide" Target="/ppt/slides/slide25.xml" Id="Rb424f6b1da39406d" /><Relationship Type="http://schemas.openxmlformats.org/officeDocument/2006/relationships/slide" Target="/ppt/slides/slide26.xml" Id="R1b1a2a932fa94811" /><Relationship Type="http://schemas.openxmlformats.org/officeDocument/2006/relationships/slide" Target="/ppt/slides/slide27.xml" Id="R7ca52a8f408c4505" /><Relationship Type="http://schemas.openxmlformats.org/officeDocument/2006/relationships/slide" Target="/ppt/slides/slide28.xml" Id="R56bc2df0f84242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2e12409ca24a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189bf0b68d4152" /><Relationship Type="http://schemas.openxmlformats.org/officeDocument/2006/relationships/notesMaster" Target="/ppt/notesMasters/notesMaster1.xml" Id="Rb1f327c5f3054d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c9db9aa0924355" /><Relationship Type="http://schemas.openxmlformats.org/officeDocument/2006/relationships/notesMaster" Target="/ppt/notesMasters/notesMaster1.xml" Id="Re39982413eef46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b17d30e57b4416" /><Relationship Type="http://schemas.openxmlformats.org/officeDocument/2006/relationships/notesMaster" Target="/ppt/notesMasters/notesMaster1.xml" Id="R88d73c0578644a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8f6887905f4baa" /><Relationship Type="http://schemas.openxmlformats.org/officeDocument/2006/relationships/notesMaster" Target="/ppt/notesMasters/notesMaster1.xml" Id="Rf99462b7033e42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d92f5cba3d4657" /><Relationship Type="http://schemas.openxmlformats.org/officeDocument/2006/relationships/notesMaster" Target="/ppt/notesMasters/notesMaster1.xml" Id="Rb57a8fc2fa054c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e119e59efa4ba0" /><Relationship Type="http://schemas.openxmlformats.org/officeDocument/2006/relationships/notesMaster" Target="/ppt/notesMasters/notesMaster1.xml" Id="R6b6bad93714d4c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d9daf7722c4f76" /><Relationship Type="http://schemas.openxmlformats.org/officeDocument/2006/relationships/notesMaster" Target="/ppt/notesMasters/notesMaster1.xml" Id="R9c3e2995e0eb4c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3ea7fffabb46c5" /><Relationship Type="http://schemas.openxmlformats.org/officeDocument/2006/relationships/notesMaster" Target="/ppt/notesMasters/notesMaster1.xml" Id="R4dda5c7d40ce4a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718c217ae644a7" /><Relationship Type="http://schemas.openxmlformats.org/officeDocument/2006/relationships/notesMaster" Target="/ppt/notesMasters/notesMaster1.xml" Id="R34dd0ba0d0c942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f6cc48e86d49f1" /><Relationship Type="http://schemas.openxmlformats.org/officeDocument/2006/relationships/notesMaster" Target="/ppt/notesMasters/notesMaster1.xml" Id="R32a64d3e45c34c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3f9e9022124aa1" /><Relationship Type="http://schemas.openxmlformats.org/officeDocument/2006/relationships/notesMaster" Target="/ppt/notesMasters/notesMaster1.xml" Id="R0bd684ab3c9540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33613ff6334cff" /><Relationship Type="http://schemas.openxmlformats.org/officeDocument/2006/relationships/notesMaster" Target="/ppt/notesMasters/notesMaster1.xml" Id="R485d66ee500e4d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8d1ebbfa4740bf" /><Relationship Type="http://schemas.openxmlformats.org/officeDocument/2006/relationships/notesMaster" Target="/ppt/notesMasters/notesMaster1.xml" Id="R330ac471913d48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8608966ea24bd0" /><Relationship Type="http://schemas.openxmlformats.org/officeDocument/2006/relationships/notesMaster" Target="/ppt/notesMasters/notesMaster1.xml" Id="Rc6af0d92b8f242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68e28dbcd0417f" /><Relationship Type="http://schemas.openxmlformats.org/officeDocument/2006/relationships/notesMaster" Target="/ppt/notesMasters/notesMaster1.xml" Id="R85c7c6363d5d42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2b85aea2bb4d09" /><Relationship Type="http://schemas.openxmlformats.org/officeDocument/2006/relationships/notesMaster" Target="/ppt/notesMasters/notesMaster1.xml" Id="R77acc6e51cc842f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f4e01169ba4d52" /><Relationship Type="http://schemas.openxmlformats.org/officeDocument/2006/relationships/notesMaster" Target="/ppt/notesMasters/notesMaster1.xml" Id="R35e58652b8284fe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7f649e7f2a64e1d" /><Relationship Type="http://schemas.openxmlformats.org/officeDocument/2006/relationships/notesMaster" Target="/ppt/notesMasters/notesMaster1.xml" Id="Rffeebc1bdd354e9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6b20cdb52a44314" /><Relationship Type="http://schemas.openxmlformats.org/officeDocument/2006/relationships/notesMaster" Target="/ppt/notesMasters/notesMaster1.xml" Id="Rbb5caba68e1b483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33353c300f74092" /><Relationship Type="http://schemas.openxmlformats.org/officeDocument/2006/relationships/notesMaster" Target="/ppt/notesMasters/notesMaster1.xml" Id="R32aa5257a8af461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b6f2f9582364649" /><Relationship Type="http://schemas.openxmlformats.org/officeDocument/2006/relationships/notesMaster" Target="/ppt/notesMasters/notesMaster1.xml" Id="Re90e418cd87044e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f6a747641bc4ab3" /><Relationship Type="http://schemas.openxmlformats.org/officeDocument/2006/relationships/notesMaster" Target="/ppt/notesMasters/notesMaster1.xml" Id="Rf0f67f8485564b9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40d0e95221d442d" /><Relationship Type="http://schemas.openxmlformats.org/officeDocument/2006/relationships/notesMaster" Target="/ppt/notesMasters/notesMaster1.xml" Id="R2aa00ababab6420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0f3620975a84a14" /><Relationship Type="http://schemas.openxmlformats.org/officeDocument/2006/relationships/notesMaster" Target="/ppt/notesMasters/notesMaster1.xml" Id="R4d07e6f6a13d437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a4d4890ac1b40ed" /><Relationship Type="http://schemas.openxmlformats.org/officeDocument/2006/relationships/notesMaster" Target="/ppt/notesMasters/notesMaster1.xml" Id="Rf043ffbe0ad1489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047acf4eaa74dd4" /><Relationship Type="http://schemas.openxmlformats.org/officeDocument/2006/relationships/notesMaster" Target="/ppt/notesMasters/notesMaster1.xml" Id="Rb72b79cb882f4a6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a6f7c82ada8481e" /><Relationship Type="http://schemas.openxmlformats.org/officeDocument/2006/relationships/notesMaster" Target="/ppt/notesMasters/notesMaster1.xml" Id="Rf09fc63eb62d4cc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42cc450ead44adb" /><Relationship Type="http://schemas.openxmlformats.org/officeDocument/2006/relationships/notesMaster" Target="/ppt/notesMasters/notesMaster1.xml" Id="Rdd6a184a1a4a4f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캐릭터 zapham / 31001</a:t>
            </a:r>
          </a:p>
          <a:p xmlns:a="http://schemas.openxmlformats.org/drawingml/2006/main">
            <a:r>
              <a:t>원본 아트: C:/Project/NKK_PROJECT/UnityResources/Rats/SuperUlt/zapham/zap_pose_absorb.png</a:t>
            </a:r>
          </a:p>
          <a:p xmlns:a="http://schemas.openxmlformats.org/drawingml/2006/main">
            <a:r>
              <a:t>밈 적용안: 이번 달 전기세는 연구소가 냅니다</a:t>
            </a:r>
          </a:p>
          <a:p xmlns:a="http://schemas.openxmlformats.org/drawingml/2006/main">
            <a:r>
              <a:t>차별화·주의: 도시 불빛의 켜짐과 꺼짐을 같은 구도로 교체</a:t>
            </a:r>
          </a:p>
          <a:p xmlns:a="http://schemas.openxmlformats.org/drawingml/2006/main">
            <a:r>
              <a:t>현재 테이블 본 대사: 찌릿… 도시 전체를 충전 중!</a:t>
            </a:r>
          </a:p>
          <a:p xmlns:a="http://schemas.openxmlformats.org/drawingml/2006/main">
            <a:r>
              <a:t>현재 테이블 마무리 문구: 번개가 하늘을 가른다!!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캐릭터 parkrat / 31002</a:t>
            </a:r>
          </a:p>
          <a:p xmlns:a="http://schemas.openxmlformats.org/drawingml/2006/main">
            <a:r>
              <a:t>원본 아트: C:/Project/NKK_PROJECT/UnityResources/Rats/SuperUlt/parkrat/pose_act.png</a:t>
            </a:r>
          </a:p>
          <a:p xmlns:a="http://schemas.openxmlformats.org/drawingml/2006/main">
            <a:r>
              <a:t>밈 적용안: 줄 서기 3시간, 퍼레이드 3초</a:t>
            </a:r>
          </a:p>
          <a:p xmlns:a="http://schemas.openxmlformats.org/drawingml/2006/main">
            <a:r>
              <a:t>차별화·주의: 폭죽은 위로 발사한 뒤 위에서 터지는 흐름 유지</a:t>
            </a:r>
          </a:p>
          <a:p xmlns:a="http://schemas.openxmlformats.org/drawingml/2006/main">
            <a:r>
              <a:t>현재 테이블 본 대사: 퍼레이드 수레 출발~!</a:t>
            </a:r>
          </a:p>
          <a:p xmlns:a="http://schemas.openxmlformats.org/drawingml/2006/main">
            <a:r>
              <a:t>현재 테이블 마무리 문구: 피날레 폭죽 발사!!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캐릭터 emperor / 31003</a:t>
            </a:r>
          </a:p>
          <a:p xmlns:a="http://schemas.openxmlformats.org/drawingml/2006/main">
            <a:r>
              <a:t>원본 아트: C:/Project/NKK_PROJECT/UnityResources/Rats/SuperUlt/emperor/pose_act.png</a:t>
            </a:r>
          </a:p>
          <a:p xmlns:a="http://schemas.openxmlformats.org/drawingml/2006/main">
            <a:r>
              <a:t>밈 적용안: 대관식 비용은 연구소 법인카드로</a:t>
            </a:r>
          </a:p>
          <a:p xmlns:a="http://schemas.openxmlformats.org/drawingml/2006/main">
            <a:r>
              <a:t>차별화·주의: 금화는 장식이며 추가 보상이나 재화 획득으로 오인시키지 않음</a:t>
            </a:r>
          </a:p>
          <a:p xmlns:a="http://schemas.openxmlformats.org/drawingml/2006/main">
            <a:r>
              <a:t>현재 테이블 본 대사: 짐의 대관식이니라!</a:t>
            </a:r>
          </a:p>
          <a:p xmlns:a="http://schemas.openxmlformats.org/drawingml/2006/main">
            <a:r>
              <a:t>현재 테이블 마무리 문구: 온 하늘에 축포를 올려라!!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캐릭터 pharaoh / 31004</a:t>
            </a:r>
          </a:p>
          <a:p xmlns:a="http://schemas.openxmlformats.org/drawingml/2006/main">
            <a:r>
              <a:t>원본 아트: C:/Project/NKK_PROJECT/UnityResources/Rats/SuperUlt/pharaoh/pose_act.png</a:t>
            </a:r>
          </a:p>
          <a:p xmlns:a="http://schemas.openxmlformats.org/drawingml/2006/main">
            <a:r>
              <a:t>밈 적용안: 자외선 지수: 매우 위험</a:t>
            </a:r>
          </a:p>
          <a:p xmlns:a="http://schemas.openxmlformats.org/drawingml/2006/main">
            <a:r>
              <a:t>차별화·주의: 황금빛 광선과 모래를 사용하고 화상 판정은 추가하지 않음</a:t>
            </a:r>
          </a:p>
          <a:p xmlns:a="http://schemas.openxmlformats.org/drawingml/2006/main">
            <a:r>
              <a:t>현재 테이블 본 대사: 태양 원반이 떠오른다…</a:t>
            </a:r>
          </a:p>
          <a:p xmlns:a="http://schemas.openxmlformats.org/drawingml/2006/main">
            <a:r>
              <a:t>현재 테이블 마무리 문구: 모든 것이 하얗게 타오른다!!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캐릭터 knight / 31005</a:t>
            </a:r>
          </a:p>
          <a:p xmlns:a="http://schemas.openxmlformats.org/drawingml/2006/main">
            <a:r>
              <a:t>원본 아트: C:/Project/NKK_PROJECT/UnityResources/Rats/SuperUlt/knight/anim_raise_2.png</a:t>
            </a:r>
          </a:p>
          <a:p xmlns:a="http://schemas.openxmlformats.org/drawingml/2006/main">
            <a:r>
              <a:t>밈 적용안: 원탁이라 상석 다툼 없음</a:t>
            </a:r>
          </a:p>
          <a:p xmlns:a="http://schemas.openxmlformats.org/drawingml/2006/main">
            <a:r>
              <a:t>차별화·주의: 전장 베기와 빛 물결은 현재 구조를 재사용하고 6컷을 대조</a:t>
            </a:r>
          </a:p>
          <a:p xmlns:a="http://schemas.openxmlformats.org/drawingml/2006/main">
            <a:r>
              <a:t>현재 테이블 본 대사: 원탁의 기사들이여, 돌격!</a:t>
            </a:r>
          </a:p>
          <a:p xmlns:a="http://schemas.openxmlformats.org/drawingml/2006/main">
            <a:r>
              <a:t>현재 테이블 마무리 문구: 성검 일격!!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캐릭터 sultan / 31006</a:t>
            </a:r>
          </a:p>
          <a:p xmlns:a="http://schemas.openxmlformats.org/drawingml/2006/main">
            <a:r>
              <a:t>원본 아트: C:/Project/NKK_PROJECT/UnityResources/Rats/SuperUlt/sultan/pose_act.png</a:t>
            </a:r>
          </a:p>
          <a:p xmlns:a="http://schemas.openxmlformats.org/drawingml/2006/main">
            <a:r>
              <a:t>밈 적용안: 소원 추가 요청은 반려</a:t>
            </a:r>
          </a:p>
          <a:p xmlns:a="http://schemas.openxmlformats.org/drawingml/2006/main">
            <a:r>
              <a:t>차별화·주의: 세 소원은 컷신 서사이며 실제 피해 이벤트는 공통 10타와 일격</a:t>
            </a:r>
          </a:p>
          <a:p xmlns:a="http://schemas.openxmlformats.org/drawingml/2006/main">
            <a:r>
              <a:t>현재 테이블 본 대사: 첫째 소원, 둘째 소원…</a:t>
            </a:r>
          </a:p>
          <a:p xmlns:a="http://schemas.openxmlformats.org/drawingml/2006/main">
            <a:r>
              <a:t>현재 테이블 마무리 문구: 마지막 소원! 전부 날려 줘!!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캐릭터 alien / 31007</a:t>
            </a:r>
          </a:p>
          <a:p xmlns:a="http://schemas.openxmlformats.org/drawingml/2006/main">
            <a:r>
              <a:t>원본 아트: C:/Project/NKK_PROJECT/UnityResources/Rats/SuperUlt/alien/pose_act.png</a:t>
            </a:r>
          </a:p>
          <a:p xmlns:a="http://schemas.openxmlformats.org/drawingml/2006/main">
            <a:r>
              <a:t>밈 적용안: 소는 무사히 돌려보냈습니다</a:t>
            </a:r>
          </a:p>
          <a:p xmlns:a="http://schemas.openxmlformats.org/drawingml/2006/main">
            <a:r>
              <a:t>차별화·주의: 흡입과 소 부양은 컷신 표현이며 전장 강제 이동은 추가하지 않음</a:t>
            </a:r>
          </a:p>
          <a:p xmlns:a="http://schemas.openxmlformats.org/drawingml/2006/main">
            <a:r>
              <a:t>현재 테이블 본 대사: 하늘이… 그림자로 덮인다</a:t>
            </a:r>
          </a:p>
          <a:p xmlns:a="http://schemas.openxmlformats.org/drawingml/2006/main">
            <a:r>
              <a:t>현재 테이블 마무리 문구: 모선 주포 발사!!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캐릭터 streamrat / 31008</a:t>
            </a:r>
          </a:p>
          <a:p xmlns:a="http://schemas.openxmlformats.org/drawingml/2006/main">
            <a:r>
              <a:t>원본 아트: C:/Project/NKK_PROJECT/UnityResources/Rats/SuperUlt/streamrat/pose_act.png</a:t>
            </a:r>
          </a:p>
          <a:p xmlns:a="http://schemas.openxmlformats.org/drawingml/2006/main">
            <a:r>
              <a:t>밈 적용안: 구독·좋아요·알림 설정까지!</a:t>
            </a:r>
          </a:p>
          <a:p xmlns:a="http://schemas.openxmlformats.org/drawingml/2006/main">
            <a:r>
              <a:t>차별화·주의: 구독자 숫자는 연출용이며 실제 계정 수치처럼 표시하지 않음</a:t>
            </a:r>
          </a:p>
          <a:p xmlns:a="http://schemas.openxmlformats.org/drawingml/2006/main">
            <a:r>
              <a:t>현재 테이블 본 대사: 채팅창 폭주! 후원 폭주!</a:t>
            </a:r>
          </a:p>
          <a:p xmlns:a="http://schemas.openxmlformats.org/drawingml/2006/main">
            <a:r>
              <a:t>현재 테이블 마무리 문구: 구독자 100만 달성!!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캐릭터 ramjui / 31009</a:t>
            </a:r>
          </a:p>
          <a:p xmlns:a="http://schemas.openxmlformats.org/drawingml/2006/main">
            <a:r>
              <a:t>원본 아트: C:/Project/NKK_PROJECT/UnityResources/Rats/SuperUlt/ramjui/pose_act.png</a:t>
            </a:r>
          </a:p>
          <a:p xmlns:a="http://schemas.openxmlformats.org/drawingml/2006/main">
            <a:r>
              <a:t>밈 적용안: 다람쥐 헌 쳇바퀴에 타고파~</a:t>
            </a:r>
          </a:p>
          <a:p xmlns:a="http://schemas.openxmlformats.org/drawingml/2006/main">
            <a:r>
              <a:t>차별화·주의: 찌릿 햄찌와 달리 숲·도토리의 낙하 무게감을 강조</a:t>
            </a:r>
          </a:p>
          <a:p xmlns:a="http://schemas.openxmlformats.org/drawingml/2006/main">
            <a:r>
              <a:t>현재 테이블 본 대사: 도토리 천둥이 쏟아진다!</a:t>
            </a:r>
          </a:p>
          <a:p xmlns:a="http://schemas.openxmlformats.org/drawingml/2006/main">
            <a:r>
              <a:t>현재 테이블 마무리 문구: 람쥐썬더!!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캐릭터 jwerry / 31010</a:t>
            </a:r>
          </a:p>
          <a:p xmlns:a="http://schemas.openxmlformats.org/drawingml/2006/main">
            <a:r>
              <a:t>원본 아트: C:/Project/NKK_PROJECT/UnityResources/Rats/SuperUlt/jwerry/pose_act.png</a:t>
            </a:r>
          </a:p>
          <a:p xmlns:a="http://schemas.openxmlformats.org/drawingml/2006/main">
            <a:r>
              <a:t>밈 적용안: 앵콜 요청은 마음속으로만</a:t>
            </a:r>
          </a:p>
          <a:p xmlns:a="http://schemas.openxmlformats.org/drawingml/2006/main">
            <a:r>
              <a:t>차별화·주의: 장미·조명으로 타격을 표현하고 새로운 버프는 추가하지 않음</a:t>
            </a:r>
          </a:p>
          <a:p xmlns:a="http://schemas.openxmlformats.org/drawingml/2006/main">
            <a:r>
              <a:t>현재 테이블 본 대사: 커튼이 오른다… 앵콜!</a:t>
            </a:r>
          </a:p>
          <a:p xmlns:a="http://schemas.openxmlformats.org/drawingml/2006/main">
            <a:r>
              <a:t>현재 테이블 마무리 문구: 줴리 감사합니다!!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캐릭터 starchef / 31011</a:t>
            </a:r>
          </a:p>
          <a:p xmlns:a="http://schemas.openxmlformats.org/drawingml/2006/main">
            <a:r>
              <a:t>원본 아트: C:/Project/NKK_PROJECT/UnityResources/Rats/SuperUlt/starchef/pose_act.png</a:t>
            </a:r>
          </a:p>
          <a:p xmlns:a="http://schemas.openxmlformats.org/drawingml/2006/main">
            <a:r>
              <a:t>밈 적용안: 익힘 정도: 완벽하게 이븐함</a:t>
            </a:r>
          </a:p>
          <a:p xmlns:a="http://schemas.openxmlformats.org/drawingml/2006/main">
            <a:r>
              <a:t>차별화·주의: 음식은 연출 소재이며 체력 회복이나 아이템 획득을 의미하지 않음</a:t>
            </a:r>
          </a:p>
          <a:p xmlns:a="http://schemas.openxmlformats.org/drawingml/2006/main">
            <a:r>
              <a:t>현재 테이블 본 대사: 전채, 수프… 다음은?</a:t>
            </a:r>
          </a:p>
          <a:p xmlns:a="http://schemas.openxmlformats.org/drawingml/2006/main">
            <a:r>
              <a:t>현재 테이블 마무리 문구: 메인 디시 나왔습니다!!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캐릭터 jjdetective / 31012</a:t>
            </a:r>
          </a:p>
          <a:p xmlns:a="http://schemas.openxmlformats.org/drawingml/2006/main">
            <a:r>
              <a:t>원본 아트: C:/Project/NKK_PROJECT/UnityResources/Rats/SuperUlt/jjdetective/pose_act.png</a:t>
            </a:r>
          </a:p>
          <a:p xmlns:a="http://schemas.openxmlformats.org/drawingml/2006/main">
            <a:r>
              <a:t>밈 적용안: 범인은 이 안에 있다!</a:t>
            </a:r>
          </a:p>
          <a:p xmlns:a="http://schemas.openxmlformats.org/drawingml/2006/main">
            <a:r>
              <a:t>차별화·주의: 공의 시각적 궤적과 범위 피해 판정을 분리하여 누락 방지</a:t>
            </a:r>
          </a:p>
          <a:p xmlns:a="http://schemas.openxmlformats.org/drawingml/2006/main">
            <a:r>
              <a:t>현재 테이블 본 대사: 범인은… 바로 너다!</a:t>
            </a:r>
          </a:p>
          <a:p xmlns:a="http://schemas.openxmlformats.org/drawingml/2006/main">
            <a:r>
              <a:t>현재 테이블 마무리 문구: 사건 종결!!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캐릭터 fondue / 31013</a:t>
            </a:r>
          </a:p>
          <a:p xmlns:a="http://schemas.openxmlformats.org/drawingml/2006/main">
            <a:r>
              <a:t>원본 아트: C:/Project/NKK_PROJECT/UnityResources/Rats/SuperUlt/fondue/pose_act.png</a:t>
            </a:r>
          </a:p>
          <a:p xmlns:a="http://schemas.openxmlformats.org/drawingml/2006/main">
            <a:r>
              <a:t>밈 적용안: 쭈욱~ 늘어나는 건 국룰</a:t>
            </a:r>
          </a:p>
          <a:p xmlns:a="http://schemas.openxmlformats.org/drawingml/2006/main">
            <a:r>
              <a:t>차별화·주의: 화면 아래에서 올라오는 방향을 유지하고 바닥 전체를 상시 가리지 않음</a:t>
            </a:r>
          </a:p>
          <a:p xmlns:a="http://schemas.openxmlformats.org/drawingml/2006/main">
            <a:r>
              <a:t>현재 테이블 본 대사: 치즈가 차오른다…!</a:t>
            </a:r>
          </a:p>
          <a:p xmlns:a="http://schemas.openxmlformats.org/drawingml/2006/main">
            <a:r>
              <a:t>현재 테이블 마무리 문구: 치즈 대홍수!!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캐릭터 bomber / 31014</a:t>
            </a:r>
          </a:p>
          <a:p xmlns:a="http://schemas.openxmlformats.org/drawingml/2006/main">
            <a:r>
              <a:t>원본 아트: C:/Project/NKK_PROJECT/UnityResources/Rats/SuperUlt/bomber/pose_act.png</a:t>
            </a:r>
          </a:p>
          <a:p xmlns:a="http://schemas.openxmlformats.org/drawingml/2006/main">
            <a:r>
              <a:t>밈 적용안: 시전 후 MP 0 · 이동 불가</a:t>
            </a:r>
          </a:p>
          <a:p xmlns:a="http://schemas.openxmlformats.org/drawingml/2006/main">
            <a:r>
              <a:t>차별화·주의: 탈진은 컷신·소품 표현이며 실제 MP 소모나 이동 제한은 추가하지 않음</a:t>
            </a:r>
          </a:p>
          <a:p xmlns:a="http://schemas.openxmlformats.org/drawingml/2006/main">
            <a:r>
              <a:t>현재 테이블 본 대사: 마법진 전개… 겹겹이!</a:t>
            </a:r>
          </a:p>
          <a:p xmlns:a="http://schemas.openxmlformats.org/drawingml/2006/main">
            <a:r>
              <a:t>현재 테이블 마무리 문구: 익스플로전!!!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캐릭터 icequeen / 31015</a:t>
            </a:r>
          </a:p>
          <a:p xmlns:a="http://schemas.openxmlformats.org/drawingml/2006/main">
            <a:r>
              <a:t>원본 아트: C:/Project/NKK_PROJECT/UnityResources/Rats/SuperUlt/icequeen/anim_dash_2.png</a:t>
            </a:r>
          </a:p>
          <a:p xmlns:a="http://schemas.openxmlformats.org/drawingml/2006/main">
            <a:r>
              <a:t>밈 적용안: 얼어 죽어도 아이스 아메리카노</a:t>
            </a:r>
          </a:p>
          <a:p xmlns:a="http://schemas.openxmlformats.org/drawingml/2006/main">
            <a:r>
              <a:t>차별화·주의: 현행 연출을 규격의 기준으로 사용. 빙결은 얼음쥐 고유 처리</a:t>
            </a:r>
          </a:p>
          <a:p xmlns:a="http://schemas.openxmlformats.org/drawingml/2006/main">
            <a:r>
              <a:t>현재 테이블 본 대사: 세상이 얼어붙는다…</a:t>
            </a:r>
          </a:p>
          <a:p xmlns:a="http://schemas.openxmlformats.org/drawingml/2006/main">
            <a:r>
              <a:t>현재 테이블 마무리 문구: 전부 꽁꽁!!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규격 제안 v1.0. 모든 시각은 내부 타임라인 기준.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C:/Project/NKK_PROJECT/Unity_Making/NKK_Project/Assets/Scripts/Ults/SuperUltStyle.cs</a:t>
            </a:r>
          </a:p>
          <a:p xmlns:a="http://schemas.openxmlformats.org/drawingml/2006/main">
            <a:r>
              <a:t>C:/Project/NKK_PROJECT/Unity_Making/NKK_Project/Assets/Data/RatTable.json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48e8e383b41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4c043aee04e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a47d5683aa4f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15713005bc45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9b9b4ed8247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6a582b58994b5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5b9eb2614d4c4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6ee900c2324fc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6ce144d78470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4165f6293492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15ed5878b4671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6760f8b54e4c7c" /><Relationship Type="http://schemas.openxmlformats.org/officeDocument/2006/relationships/slideLayout" Target="/ppt/slideLayouts/slideLayout1.xml" Id="R9c1d2181e99f4e62" /><Relationship Type="http://schemas.openxmlformats.org/officeDocument/2006/relationships/slideLayout" Target="/ppt/slideLayouts/slideLayout2.xml" Id="Rdcf8d6bb543745b1" /><Relationship Type="http://schemas.openxmlformats.org/officeDocument/2006/relationships/slideLayout" Target="/ppt/slideLayouts/slideLayout3.xml" Id="Ra167e7b3255748e9" /><Relationship Type="http://schemas.openxmlformats.org/officeDocument/2006/relationships/slideLayout" Target="/ppt/slideLayouts/slideLayout4.xml" Id="R0a433c2af47048a3" /><Relationship Type="http://schemas.openxmlformats.org/officeDocument/2006/relationships/slideLayout" Target="/ppt/slideLayouts/slideLayout5.xml" Id="R085f901555bb4777" /><Relationship Type="http://schemas.openxmlformats.org/officeDocument/2006/relationships/slideLayout" Target="/ppt/slideLayouts/slideLayout6.xml" Id="Rce436d3070c34f3c" /><Relationship Type="http://schemas.openxmlformats.org/officeDocument/2006/relationships/slideLayout" Target="/ppt/slideLayouts/slideLayout7.xml" Id="R552bdf72f5144b2a" /><Relationship Type="http://schemas.openxmlformats.org/officeDocument/2006/relationships/slideLayout" Target="/ppt/slideLayouts/slideLayout8.xml" Id="R559742f5d09b45c5" /><Relationship Type="http://schemas.openxmlformats.org/officeDocument/2006/relationships/slideLayout" Target="/ppt/slideLayouts/slideLayout9.xml" Id="Rab3060e2cdc64fad" /><Relationship Type="http://schemas.openxmlformats.org/officeDocument/2006/relationships/slideLayout" Target="/ppt/slideLayouts/slideLayout10.xml" Id="Re00d49eb21604be2" /><Relationship Type="http://schemas.openxmlformats.org/officeDocument/2006/relationships/slideLayout" Target="/ppt/slideLayouts/slideLayout11.xml" Id="R23c5813ba357417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1d2181e99f4e62"/>
    <p:sldLayoutId xmlns:r="http://schemas.openxmlformats.org/officeDocument/2006/relationships" id="2147483650" r:id="Rdcf8d6bb543745b1"/>
    <p:sldLayoutId xmlns:r="http://schemas.openxmlformats.org/officeDocument/2006/relationships" id="2147483651" r:id="Ra167e7b3255748e9"/>
    <p:sldLayoutId xmlns:r="http://schemas.openxmlformats.org/officeDocument/2006/relationships" id="2147483652" r:id="R0a433c2af47048a3"/>
    <p:sldLayoutId xmlns:r="http://schemas.openxmlformats.org/officeDocument/2006/relationships" id="2147483653" r:id="R085f901555bb4777"/>
    <p:sldLayoutId xmlns:r="http://schemas.openxmlformats.org/officeDocument/2006/relationships" id="2147483654" r:id="Rce436d3070c34f3c"/>
    <p:sldLayoutId xmlns:r="http://schemas.openxmlformats.org/officeDocument/2006/relationships" id="2147483655" r:id="R552bdf72f5144b2a"/>
    <p:sldLayoutId xmlns:r="http://schemas.openxmlformats.org/officeDocument/2006/relationships" id="2147483656" r:id="R559742f5d09b45c5"/>
    <p:sldLayoutId xmlns:r="http://schemas.openxmlformats.org/officeDocument/2006/relationships" id="2147483657" r:id="Rab3060e2cdc64fad"/>
    <p:sldLayoutId xmlns:r="http://schemas.openxmlformats.org/officeDocument/2006/relationships" id="2147483658" r:id="Re00d49eb21604be2"/>
    <p:sldLayoutId xmlns:r="http://schemas.openxmlformats.org/officeDocument/2006/relationships" id="2147483659" r:id="R23c5813ba357417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56c9d5e1014348" /><Relationship Type="http://schemas.openxmlformats.org/officeDocument/2006/relationships/image" Target="/ppt/media/image.png" Id="R5db0034745c04089" /><Relationship Type="http://schemas.openxmlformats.org/officeDocument/2006/relationships/notesSlide" Target="/ppt/notesSlides/notesSlide1.xml" Id="Rb59fb5e473494b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a16c39b1f42cc" /><Relationship Type="http://schemas.openxmlformats.org/officeDocument/2006/relationships/notesSlide" Target="/ppt/notesSlides/notesSlide2.xml" Id="Reaae6e514e2b43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74857138b436a" /><Relationship Type="http://schemas.openxmlformats.org/officeDocument/2006/relationships/notesSlide" Target="/ppt/notesSlides/notesSlide3.xml" Id="Ra61609bfcd6a4f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1eaa80a4446d1" /><Relationship Type="http://schemas.openxmlformats.org/officeDocument/2006/relationships/notesSlide" Target="/ppt/notesSlides/notesSlide4.xml" Id="Rdc4b4dcfb93241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ced853cd24ff3" /><Relationship Type="http://schemas.openxmlformats.org/officeDocument/2006/relationships/notesSlide" Target="/ppt/notesSlides/notesSlide5.xml" Id="R78fe095f58a743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54685f4a74301" /><Relationship Type="http://schemas.openxmlformats.org/officeDocument/2006/relationships/notesSlide" Target="/ppt/notesSlides/notesSlide6.xml" Id="R9983def69abc4d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4fc6ee9ea42f7" /><Relationship Type="http://schemas.openxmlformats.org/officeDocument/2006/relationships/notesSlide" Target="/ppt/notesSlides/notesSlide7.xml" Id="Rf2377d06f9bc44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dea9a02414b38" /><Relationship Type="http://schemas.openxmlformats.org/officeDocument/2006/relationships/notesSlide" Target="/ppt/notesSlides/notesSlide8.xml" Id="R70eb0dfaa5e340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0bdce7d2d4d90" /><Relationship Type="http://schemas.openxmlformats.org/officeDocument/2006/relationships/notesSlide" Target="/ppt/notesSlides/notesSlide9.xml" Id="Rdadcc31b64b54d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51a82ef784026" /><Relationship Type="http://schemas.openxmlformats.org/officeDocument/2006/relationships/notesSlide" Target="/ppt/notesSlides/notesSlide10.xml" Id="Rc4762249252644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e0ec32b934115" /><Relationship Type="http://schemas.openxmlformats.org/officeDocument/2006/relationships/image" Target="/ppt/media/image2.png" Id="Rbbb4ef6dceb04d6c" /><Relationship Type="http://schemas.openxmlformats.org/officeDocument/2006/relationships/notesSlide" Target="/ppt/notesSlides/notesSlide11.xml" Id="R3cf4195bfe064f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736e9a0d64f0d" /><Relationship Type="http://schemas.openxmlformats.org/officeDocument/2006/relationships/image" Target="/ppt/media/image3.png" Id="Rdc28e344dbbb48eb" /><Relationship Type="http://schemas.openxmlformats.org/officeDocument/2006/relationships/notesSlide" Target="/ppt/notesSlides/notesSlide12.xml" Id="R5f20984445214e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ad8de4c0b49b0" /><Relationship Type="http://schemas.openxmlformats.org/officeDocument/2006/relationships/image" Target="/ppt/media/image4.png" Id="R309dc538c979477f" /><Relationship Type="http://schemas.openxmlformats.org/officeDocument/2006/relationships/notesSlide" Target="/ppt/notesSlides/notesSlide13.xml" Id="R0a93ca82125d48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5acd1338c4744" /><Relationship Type="http://schemas.openxmlformats.org/officeDocument/2006/relationships/image" Target="/ppt/media/image5.png" Id="Rbc4ddfdeb55c4062" /><Relationship Type="http://schemas.openxmlformats.org/officeDocument/2006/relationships/notesSlide" Target="/ppt/notesSlides/notesSlide14.xml" Id="Rd8eae922a340414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e581ebe2f4b0a" /><Relationship Type="http://schemas.openxmlformats.org/officeDocument/2006/relationships/image" Target="/ppt/media/image6.png" Id="Rbbac3719d0914cdc" /><Relationship Type="http://schemas.openxmlformats.org/officeDocument/2006/relationships/notesSlide" Target="/ppt/notesSlides/notesSlide15.xml" Id="Rc5667102bb4e4b7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3ef8398a54fce" /><Relationship Type="http://schemas.openxmlformats.org/officeDocument/2006/relationships/image" Target="/ppt/media/image7.png" Id="Rbce6bda5878e4a79" /><Relationship Type="http://schemas.openxmlformats.org/officeDocument/2006/relationships/notesSlide" Target="/ppt/notesSlides/notesSlide16.xml" Id="R142970cc4f9648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8ee268d54412a" /><Relationship Type="http://schemas.openxmlformats.org/officeDocument/2006/relationships/image" Target="/ppt/media/image8.png" Id="Rde00d22635904653" /><Relationship Type="http://schemas.openxmlformats.org/officeDocument/2006/relationships/notesSlide" Target="/ppt/notesSlides/notesSlide17.xml" Id="Ra8d210e6f1cb4e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440b41e914780" /><Relationship Type="http://schemas.openxmlformats.org/officeDocument/2006/relationships/image" Target="/ppt/media/image9.png" Id="Ra3c27edbaa3f4261" /><Relationship Type="http://schemas.openxmlformats.org/officeDocument/2006/relationships/notesSlide" Target="/ppt/notesSlides/notesSlide18.xml" Id="Rc0ac1eb3002d432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2d594b4dc4ca2" /><Relationship Type="http://schemas.openxmlformats.org/officeDocument/2006/relationships/image" Target="/ppt/media/image10.png" Id="Rd8d6a576bfeb4162" /><Relationship Type="http://schemas.openxmlformats.org/officeDocument/2006/relationships/notesSlide" Target="/ppt/notesSlides/notesSlide19.xml" Id="R754105ab24b94ae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59b0cc6f14612" /><Relationship Type="http://schemas.openxmlformats.org/officeDocument/2006/relationships/image" Target="/ppt/media/image11.png" Id="R2f5b0c42831d4c3c" /><Relationship Type="http://schemas.openxmlformats.org/officeDocument/2006/relationships/notesSlide" Target="/ppt/notesSlides/notesSlide20.xml" Id="R70f59b279a4a440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b871a3de24949" /><Relationship Type="http://schemas.openxmlformats.org/officeDocument/2006/relationships/image" Target="/ppt/media/image12.png" Id="Red04a5e980b44a98" /><Relationship Type="http://schemas.openxmlformats.org/officeDocument/2006/relationships/notesSlide" Target="/ppt/notesSlides/notesSlide21.xml" Id="Ra2f7f2a025c8450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13ac72302488e" /><Relationship Type="http://schemas.openxmlformats.org/officeDocument/2006/relationships/image" Target="/ppt/media/image13.png" Id="R52e88e1029c84c62" /><Relationship Type="http://schemas.openxmlformats.org/officeDocument/2006/relationships/notesSlide" Target="/ppt/notesSlides/notesSlide22.xml" Id="Rf9568d374b904e8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d31e0b51e4dc5" /><Relationship Type="http://schemas.openxmlformats.org/officeDocument/2006/relationships/image" Target="/ppt/media/image14.png" Id="Rf3bf5be01a7449af" /><Relationship Type="http://schemas.openxmlformats.org/officeDocument/2006/relationships/notesSlide" Target="/ppt/notesSlides/notesSlide23.xml" Id="R5af9dbbcf3aa4b5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b100a5ac14cf9" /><Relationship Type="http://schemas.openxmlformats.org/officeDocument/2006/relationships/image" Target="/ppt/media/image15.png" Id="Rb3d6d8680ae54866" /><Relationship Type="http://schemas.openxmlformats.org/officeDocument/2006/relationships/notesSlide" Target="/ppt/notesSlides/notesSlide24.xml" Id="Rebc1da2312a94bb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e06fee4824eb0" /><Relationship Type="http://schemas.openxmlformats.org/officeDocument/2006/relationships/image" Target="/ppt/media/image16.png" Id="Rd7f6ec0c931042b2" /><Relationship Type="http://schemas.openxmlformats.org/officeDocument/2006/relationships/notesSlide" Target="/ppt/notesSlides/notesSlide25.xml" Id="Rb8b3c6fba6fd43a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dde50272041c9" /><Relationship Type="http://schemas.openxmlformats.org/officeDocument/2006/relationships/notesSlide" Target="/ppt/notesSlides/notesSlide26.xml" Id="R8de9c66bd8c5482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3e7617bbb47c7" /><Relationship Type="http://schemas.openxmlformats.org/officeDocument/2006/relationships/notesSlide" Target="/ppt/notesSlides/notesSlide27.xml" Id="R011bc907f70d433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500be703c4010" /><Relationship Type="http://schemas.openxmlformats.org/officeDocument/2006/relationships/notesSlide" Target="/ppt/notesSlides/notesSlide28.xml" Id="R8495e9434faf4a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제목 1">
            <a:extLst xmlns:a="http://schemas.openxmlformats.org/drawingml/2006/main"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573" y="2180000"/>
            <a:ext cx="5856611" cy="85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r">
              <a:buNone/>
            </a:pPr>
            <a:r>
              <a:rPr sz="2800">
                <a:latin typeface="Noto Sans KR Black"/>
                <a:ea typeface="Noto Sans KR Black"/>
                <a:cs typeface="Noto Sans KR Black"/>
              </a:rPr>
              <a:t>신화쥐 초필살기</a:t>
            </a:r>
            <a:br>
              <a:rPr sz="2800">
                <a:latin typeface="Noto Sans KR Black"/>
                <a:ea typeface="Noto Sans KR Black"/>
                <a:cs typeface="Noto Sans KR Black"/>
              </a:rPr>
            </a:br>
            <a:r>
              <a:rPr sz="2800">
                <a:latin typeface="Noto Sans KR Black"/>
                <a:ea typeface="Noto Sans KR Black"/>
                <a:cs typeface="Noto Sans KR Black"/>
              </a:rPr>
              <a:t>연출 제작 규격서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871" y="3043673"/>
            <a:ext cx="4950241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제목 1">
            <a:extLst xmlns:a="http://schemas.openxmlformats.org/drawingml/2006/main"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131" y="1030384"/>
            <a:ext cx="5534025" cy="109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/>
                <a:ea typeface="Noto Sans KR"/>
                <a:cs typeface="Noto Sans KR"/>
              </a:defRPr>
            </a:lvl1pPr>
          </a:lstStyle>
          <a:p xmlns:a="http://schemas.openxmlformats.org/drawingml/2006/main">
            <a:pPr algn="r">
              <a:buNone/>
            </a:pPr>
            <a:r>
              <a:rPr sz="3600">
                <a:latin typeface="Noto Sans KR Black"/>
                <a:ea typeface="Noto Sans KR Black"/>
                <a:cs typeface="Noto Sans KR Black"/>
              </a:rPr>
              <a:t>찍찍이</a:t>
            </a:r>
            <a:r>
              <a:rPr sz="3600">
                <a:latin typeface="Noto Sans KR Black"/>
                <a:ea typeface="Noto Sans KR Black"/>
                <a:cs typeface="Noto Sans KR Black"/>
              </a:rPr>
              <a:t> 게임</a:t>
            </a:r>
          </a:p>
        </p:txBody>
      </p:sp>
      <p:sp>
        <p:nvSpPr>
          <p:cNvPr id="24" name="직선 연결선 23">
            <a:extLst xmlns:a="http://schemas.openxmlformats.org/drawingml/2006/main">
              <a:ext uri="{FF2B5EF4-FFF2-40B4-BE49-F238E27FC236}">
                <a16:creationId xmlns:a16="http://schemas.microsoft.com/office/drawing/2014/main" id="{B6425AB0-B16F-47FA-89EF-7CDF2313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069943" y="5602514"/>
            <a:ext cx="3311169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701" y="5681050"/>
            <a:ext cx="134302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문서</a:t>
            </a:r>
            <a:r>
              <a:rPr sz="1100">
                <a:latin typeface="Noto Sans KR"/>
                <a:ea typeface="Noto Sans KR"/>
                <a:cs typeface="Noto Sans KR"/>
              </a:rPr>
              <a:t> </a:t>
            </a:r>
            <a:r>
              <a:rPr sz="1400">
                <a:latin typeface="Noto Sans KR"/>
                <a:ea typeface="Noto Sans KR"/>
                <a:cs typeface="Noto Sans KR"/>
              </a:rPr>
              <a:t>최초</a:t>
            </a:r>
            <a:r>
              <a:rPr sz="1100">
                <a:latin typeface="Noto Sans KR"/>
                <a:ea typeface="Noto Sans KR"/>
                <a:cs typeface="Noto Sans KR"/>
              </a:rPr>
              <a:t> </a:t>
            </a:r>
            <a:r>
              <a:rPr sz="1400">
                <a:latin typeface="Noto Sans KR"/>
                <a:ea typeface="Noto Sans KR"/>
                <a:cs typeface="Noto Sans KR"/>
              </a:rPr>
              <a:t>작성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701" y="5908388"/>
            <a:ext cx="134302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20261019</a:t>
            </a:r>
            <a:endParaRPr sz="14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158" y="5681050"/>
            <a:ext cx="134302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문서</a:t>
            </a:r>
            <a:r>
              <a:rPr sz="1100">
                <a:latin typeface="Noto Sans KR"/>
                <a:ea typeface="Noto Sans KR"/>
                <a:cs typeface="Noto Sans KR"/>
              </a:rPr>
              <a:t> </a:t>
            </a:r>
            <a:r>
              <a:rPr sz="1400">
                <a:latin typeface="Noto Sans KR"/>
                <a:ea typeface="Noto Sans KR"/>
                <a:cs typeface="Noto Sans KR"/>
              </a:rPr>
              <a:t>최종 수정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158" y="5908388"/>
            <a:ext cx="134302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20261019</a:t>
            </a:r>
            <a:endParaRPr sz="14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701" y="6125755"/>
            <a:ext cx="134302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규격 제안 v1.0</a:t>
            </a:r>
            <a:endParaRPr sz="14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158" y="6125755"/>
            <a:ext cx="134302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규격 제안 v1.0</a:t>
            </a:r>
            <a:endParaRPr sz="14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87" y="3269557"/>
            <a:ext cx="1888769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200">
                <a:latin typeface="Noto Sans KR"/>
                <a:ea typeface="Noto Sans KR"/>
                <a:cs typeface="Noto Sans KR"/>
              </a:rPr>
              <a:t>NKK </a:t>
            </a:r>
            <a:r>
              <a:rPr sz="2200">
                <a:latin typeface="Noto Sans KR"/>
                <a:ea typeface="Noto Sans KR"/>
                <a:cs typeface="Noto Sans KR"/>
              </a:rPr>
              <a:t>스튜디오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458" y="3607535"/>
            <a:ext cx="1559698" cy="13542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600">
                <a:latin typeface="Noto Sans KR"/>
                <a:ea typeface="Noto Sans KR"/>
                <a:cs typeface="Noto Sans KR"/>
              </a:rPr>
              <a:t>  팀장 </a:t>
            </a:r>
            <a:r>
              <a:rPr sz="1600">
                <a:latin typeface="Noto Sans KR"/>
                <a:ea typeface="Noto Sans KR"/>
                <a:cs typeface="Noto Sans KR"/>
              </a:rPr>
              <a:t>박송호</a:t>
            </a:r>
            <a:endParaRPr sz="1600"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r">
              <a:buNone/>
            </a:pPr>
            <a:r>
              <a:rPr sz="1600">
                <a:latin typeface="Noto Sans KR"/>
                <a:ea typeface="Noto Sans KR"/>
                <a:cs typeface="Noto Sans KR"/>
              </a:rPr>
              <a:t>부팀장</a:t>
            </a:r>
            <a:r>
              <a:rPr sz="1600">
                <a:latin typeface="Noto Sans KR"/>
                <a:ea typeface="Noto Sans KR"/>
                <a:cs typeface="Noto Sans KR"/>
              </a:rPr>
              <a:t> </a:t>
            </a:r>
            <a:r>
              <a:rPr sz="1600">
                <a:latin typeface="Noto Sans KR"/>
                <a:ea typeface="Noto Sans KR"/>
                <a:cs typeface="Noto Sans KR"/>
              </a:rPr>
              <a:t>정승운</a:t>
            </a:r>
            <a:endParaRPr sz="1600"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r">
              <a:buNone/>
            </a:pPr>
            <a:r>
              <a:rPr sz="1600">
                <a:latin typeface="Noto Sans KR"/>
                <a:ea typeface="Noto Sans KR"/>
                <a:cs typeface="Noto Sans KR"/>
              </a:rPr>
              <a:t>팀원 </a:t>
            </a:r>
            <a:r>
              <a:rPr sz="1600">
                <a:latin typeface="Noto Sans KR"/>
                <a:ea typeface="Noto Sans KR"/>
                <a:cs typeface="Noto Sans KR"/>
              </a:rPr>
              <a:t>김규장</a:t>
            </a:r>
            <a:endParaRPr sz="1600"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r">
              <a:buNone/>
            </a:pPr>
            <a:r>
              <a:rPr sz="1600">
                <a:latin typeface="Noto Sans KR"/>
                <a:ea typeface="Noto Sans KR"/>
                <a:cs typeface="Noto Sans KR"/>
              </a:rPr>
              <a:t>박도원</a:t>
            </a:r>
            <a:endParaRPr sz="1600"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r">
              <a:buNone/>
            </a:pPr>
            <a:r>
              <a:rPr sz="1600">
                <a:latin typeface="Noto Sans KR"/>
                <a:ea typeface="Noto Sans KR"/>
                <a:cs typeface="Noto Sans KR"/>
              </a:rPr>
              <a:t>이예성</a:t>
            </a:r>
            <a:endParaRPr sz="16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4" name="직선 연결선 43">
            <a:extLst xmlns:a="http://schemas.openxmlformats.org/drawingml/2006/main">
              <a:ext uri="{FF2B5EF4-FFF2-40B4-BE49-F238E27FC236}">
                <a16:creationId xmlns:a16="http://schemas.microsoft.com/office/drawing/2014/main" id="{C09FB575-566A-40BE-BE51-095B10A4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24500" y="1075469"/>
            <a:ext cx="585661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2970" y="728373"/>
            <a:ext cx="60287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기맞기획</a:t>
            </a:r>
            <a:r>
              <a:rPr sz="1400">
                <a:latin typeface="Noto Sans KR"/>
                <a:ea typeface="Noto Sans KR"/>
                <a:cs typeface="Noto Sans KR"/>
              </a:rPr>
              <a:t> </a:t>
            </a:r>
            <a:r>
              <a:rPr sz="1400">
                <a:latin typeface="Noto Sans KR"/>
                <a:ea typeface="Noto Sans KR"/>
                <a:cs typeface="Noto Sans KR"/>
              </a:rPr>
              <a:t>11</a:t>
            </a:r>
            <a:r>
              <a:rPr sz="1400">
                <a:latin typeface="Noto Sans KR"/>
                <a:ea typeface="Noto Sans KR"/>
                <a:cs typeface="Noto Sans KR"/>
              </a:rPr>
              <a:t>기 기업 협약 프로젝트 </a:t>
            </a:r>
            <a:r>
              <a:rPr sz="1400">
                <a:latin typeface="Noto Sans KR"/>
                <a:ea typeface="Noto Sans KR"/>
                <a:cs typeface="Noto Sans KR"/>
              </a:rPr>
              <a:t>2</a:t>
            </a:r>
            <a:r>
              <a:rPr sz="1400">
                <a:latin typeface="Noto Sans KR"/>
                <a:ea typeface="Noto Sans KR"/>
                <a:cs typeface="Noto Sans KR"/>
              </a:rPr>
              <a:t>팀 </a:t>
            </a:r>
            <a:r>
              <a:rPr sz="1400">
                <a:latin typeface="Noto Sans KR"/>
                <a:ea typeface="Noto Sans KR"/>
                <a:cs typeface="Noto Sans KR"/>
              </a:rPr>
              <a:t>‘NKK </a:t>
            </a:r>
            <a:r>
              <a:rPr sz="1400">
                <a:latin typeface="Noto Sans KR"/>
                <a:ea typeface="Noto Sans KR"/>
                <a:cs typeface="Noto Sans KR"/>
              </a:rPr>
              <a:t>스튜디오</a:t>
            </a:r>
            <a:r>
              <a:rPr sz="1400">
                <a:latin typeface="Noto Sans KR"/>
                <a:ea typeface="Noto Sans KR"/>
                <a:cs typeface="Noto Sans KR"/>
              </a:rPr>
              <a:t>’ </a:t>
            </a:r>
            <a:r>
              <a:rPr sz="1400">
                <a:latin typeface="Noto Sans KR"/>
                <a:ea typeface="Noto Sans KR"/>
                <a:cs typeface="Noto Sans KR"/>
              </a:rPr>
              <a:t>제작</a:t>
            </a:r>
          </a:p>
        </p:txBody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792055-2D5A-4BD8-B45B-5E2FD77F81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0034745c04089"/>
          <a:stretch xmlns:a="http://schemas.openxmlformats.org/drawingml/2006/main"/>
        </p:blipFill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069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목차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B94FD-58EE-4D9A-8F5F-EA663D50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145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공통 제작 규격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F4B49-E3E2-4B23-8E44-23588DDB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66950"/>
            <a:ext cx="4191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1. 목적과 적용 범위                 3P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2. 시간 · 카메라 · 아트            4~6P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3. 전장 · 문구 · 효과               7~8P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B033F-4BCB-48A4-8BB3-7A6C3967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910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작성과 검수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75CE3-8A00-4E29-A55E-6B57E472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14875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1. 스토리보드 양식                   9P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2. 제작 완료 기준                    10P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B2FC4-C015-416A-B90D-AC9FF714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신화 15종 적용안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E9385-5D6D-4CBA-8914-9568A367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669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캐릭터별 6컷과 전장 공격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찌릿 햄찌부터 아이스 퀸까지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11~25P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C6574-57FB-4FEA-8F44-BCF4129C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구현과 확장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9CB1C-9D4B-4BBD-9CCF-3AABF9C2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14875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1. 공통 틀과 데이터                 26P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2. 적용 순서                           27P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3. 근거와 현재 상태                  28P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 – 규격의 목적과 범위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08A3B-39D5-4648-9DC2-5333A57C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525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800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800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800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800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800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800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800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800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800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800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pPr>
            <a:r>
              <a:rPr sz="1800">
                <a:solidFill>
                  <a:srgbClr val="EF7028"/>
                </a:solidFill>
                <a:latin typeface="Noto Sans KR"/>
                <a:ea typeface="Noto Sans KR"/>
                <a:cs typeface="Noto Sans KR"/>
              </a:rPr>
              <a:t>얼음쥐의 제작 방식을 신화 15종의 공통 연출 규격으로 확장한다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D53F2-DDD8-4EC9-A768-B58C0F70706B}"/>
              </a:ext>
            </a:extLst>
          </p:cNvPr>
          <p:cNvGraphicFramePr/>
          <p:nvPr/>
        </p:nvGraphicFramePr>
        <p:xfrm>
          <a:off xmlns:a="http://schemas.openxmlformats.org/drawingml/2006/main" x="1143000" y="2143125"/>
          <a:ext xmlns:a="http://schemas.openxmlformats.org/drawingml/2006/main" cx="9906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8001000"/>
              </a:tblGrid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구분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규격 제안 v1.0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공통으로 고정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6컷 풀스크린 컷신, 내부 시간, 전장 다단 10타와 마지막 일격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캐릭터마다 변경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배경, 대표 동작, 거대 소재, 카메라 방향, 전장 효과, 밈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그림 제작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플랫 그림체. 배경·캐릭터·소품·효과를 분리하고 셀 프레임 사용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전장 연결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컷신에서 보여 준 힘이 같은 소재와 방향으로 실제 전장에 이어짐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범위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초필살기의 시청각 연출 제작 규격과 신화 15종의 적용안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게임 규칙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해금·스택·사용 횟수·피해 수치 유지. 고유 상태이상은 별도 관리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F408A-2552-43BA-A610-18CE197B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아이스 퀸은 기준 예시, 기사 쥐는 구조 재사용 대상. 나머지 적용안은 제작 제안이다.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공통 규격 – 내부 타임라인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38DEE-CD67-4C4D-B9A3-1A43951A9234}"/>
              </a:ext>
            </a:extLst>
          </p:cNvPr>
          <p:cNvGraphicFramePr/>
          <p:nvPr/>
        </p:nvGraphicFramePr>
        <p:xfrm>
          <a:off xmlns:a="http://schemas.openxmlformats.org/drawingml/2006/main" x="1143000" y="1571625"/>
          <a:ext xmlns:a="http://schemas.openxmlformats.org/drawingml/2006/main" cx="9906000" cy="4448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905000"/>
                <a:gridCol w="6191250"/>
              </a:tblGrid>
              <a:tr h="404380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내부 시간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단계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공통 역할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0.00~0.40초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진입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테마 색과 사운드로 초필살기 시작을 알림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0.40~0.85초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 1 / 전조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배경의 규모와 캐릭터 세계관 제시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0.85~1.40초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 2 / 준비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캐릭터의 대표 동작으로 힘을 불러냄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1.40~1.90초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 3 / 얼굴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표정과 상징 소품으로 캐릭터를 확실히 인지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1.90~2.50초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 4 / 거대 소재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성·모선·무대 등 공격의 근원을 크게 제시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2.50~3.00초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 5 / 힘의 전개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공격이 만들어지는 과정과 이동 방향 제시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3.00~3.40초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 6 / 연결 준비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전장을 덮을 힘이 화면을 채움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3.40~3.80초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걷힘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컷신을 걷고 동일 소재의 전장 효과로 연결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3.80~6.80초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전장 공격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10타를 0.30초 간격으로 처리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6.80~7.10초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마지막 일격·종료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전장 위 큰 일격과 마무리 문구 후 종료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9CAA0-FFCC-4130-B90D-4F836DE1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모든 표기는 발동을 0.00초로 둔 내부 시간. 전체 길이는 내부 타임라인 7.10초.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공통 규격 – 컷과 카메라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D5D64-4F70-40F6-AE56-08E06CFA2226}"/>
              </a:ext>
            </a:extLst>
          </p:cNvPr>
          <p:cNvGraphicFramePr/>
          <p:nvPr/>
        </p:nvGraphicFramePr>
        <p:xfrm>
          <a:off xmlns:a="http://schemas.openxmlformats.org/drawingml/2006/main" x="1143000" y="1619250"/>
          <a:ext xmlns:a="http://schemas.openxmlformats.org/drawingml/2006/main" cx="99060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81500"/>
                <a:gridCol w="3810000"/>
              </a:tblGrid>
              <a:tr h="5298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항목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공통 규칙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캐릭터별 선택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 구성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6컷의 역할과 전환 시각 유지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각 컷의 상황·동작·시점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큰 배경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파노라마를 이동·확대해 공간 규모 표현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세로 틸트, 가로 팬, 추적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캐릭터 동작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정지 그림 이동과 동작 프레임 교체를 조합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소환, 돌격, 조리, 공연, 지목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얼굴 컷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1.40~1.90초에 표정과 상징 소품 인지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얼굴 위치, 접근 방향, 배경 색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거대 소재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1.90~2.50초에 공격 근원 제시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성, 구름, 모선, 무대, 냄비 등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충격·전환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힘이 닿는 순간에 흔들림과 플래시 배치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짧은 줌, 기울기, 충격 강도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마지막 일격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전장 위에서 마무리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베기, 파도, 주포, 낙뢰 등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7F409-62EB-4A4C-A6EC-FCB7A3CE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769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얼음쥐의 성 낙하를 모든 쥐에 반복하지 않는다. 통일 대상은 컷의 기능과 제작 방식이다.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아트 규격 – 레이어와 동작 프레임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60880-7B72-41FB-A993-2AD4C627A3A3}"/>
              </a:ext>
            </a:extLst>
          </p:cNvPr>
          <p:cNvGraphicFramePr/>
          <p:nvPr/>
        </p:nvGraphicFramePr>
        <p:xfrm>
          <a:off xmlns:a="http://schemas.openxmlformats.org/drawingml/2006/main" x="1143000" y="1619250"/>
          <a:ext xmlns:a="http://schemas.openxmlformats.org/drawingml/2006/main" cx="990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4476750"/>
                <a:gridCol w="3905250"/>
              </a:tblGrid>
              <a:tr h="523875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분류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제작 규격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기본 납품 제안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배경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플랫 그림체, 카메라 이동 범위와 여백 확보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파노라마 1장, 필요 시 상태 변경판 1장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캐릭터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리그 파츠의 비율·의상·색 유지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대표 동작 2종 이상, 동작당 3프레임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얼굴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배경과 캐릭터를 분리해 같은 구도로 합성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얼굴 레이어 1장, 얼굴 배경 1장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거대 소재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캐릭터를 가리지 않게 독립 레이어로 제작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기술의 근원 소품 1종 이상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전장 효과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코드 점 대신 같은 그림체의 효과 사용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이동 효과, 충돌 3프레임, 일격 효과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밈·문구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그림에 글자를 굽지 않고 텍스트와 소품 분리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밈 소품 1종, 한·영 문자열 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프레임 정렬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픽셀 배율과 공통 발끝 피벗 유지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프레임별 크기와 기준점 확인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3FB41-3C47-4D64-80A9-9CE965AE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483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기존 채색 아트는 비율 참고용. 최종본은 플랫 규격으로 통일하며, 규격을 만족하는 에셋은 재사용한다.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전장 규격 – 다단과 마지막 일격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6DE57-252B-4137-AB7C-4B0B2BF68132}"/>
              </a:ext>
            </a:extLst>
          </p:cNvPr>
          <p:cNvGraphicFramePr/>
          <p:nvPr/>
        </p:nvGraphicFramePr>
        <p:xfrm>
          <a:off xmlns:a="http://schemas.openxmlformats.org/drawingml/2006/main" x="1143000" y="1619250"/>
          <a:ext xmlns:a="http://schemas.openxmlformats.org/drawingml/2006/main" cx="990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8191500"/>
              </a:tblGrid>
              <a:tr h="476250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항목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공통 전장 공격 규격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공격 시작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3.80초부터 실제 전장에서 피해와 효과를 함께 처리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다단 시각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3.95, 4.25, 4.55, 4.85, 5.15, 5.45, 5.75, 6.05, 6.35, 6.65초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마지막 일격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6.80초. 큰 효과와 마무리 문구, 7.10초 종료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피해 기준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설정 유지: 다단 ×4씩 10회, 마지막 ×20, 보스 상한 35%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범위와 이동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발동 시 기록한 화면 범위 내 유효 대상, 벽 제외. 월드 정지 없음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방향과 소재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낙하·베기·광선·파도 중 선택. 컷신에서 제시한 소재와 연결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피해 표시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대상별 월드 팝업. 시각 효과 개수와 실제 공격 판정은 분리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상태이상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빙결은 얼음쥐 고유 처리. 타 캐릭터에 빙결·기절 등을 일괄 추가하지 않음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78302-FAC7-4BD0-B95C-52F70C6E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150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새 밸런스 제안은 범위 밖이다. 시각 효과가 소환·금화·회복처럼 보여도 별도 게임 효과를 만들지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표현 규격 – 효과 · 문구 · 소리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66A15-120C-4413-B924-D742DADA3132}"/>
              </a:ext>
            </a:extLst>
          </p:cNvPr>
          <p:cNvGraphicFramePr/>
          <p:nvPr/>
        </p:nvGraphicFramePr>
        <p:xfrm>
          <a:off xmlns:a="http://schemas.openxmlformats.org/drawingml/2006/main" x="1143000" y="1619250"/>
          <a:ext xmlns:a="http://schemas.openxmlformats.org/drawingml/2006/main" cx="99060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4953000"/>
                <a:gridCol w="3524250"/>
              </a:tblGrid>
              <a:tr h="517922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요소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공통 규칙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검토 기준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제목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진입에 기술명. 0.95초에 제목 띠 종료를 기본값으로 사용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얼굴과 대표 동작을 가리지 않음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본 대사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1.90초에 본 대사 표시. 테이블 문자열 재사용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장면과 의미가 맞는지 확인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밈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 5~6에 1개 배치. 소품과 문구를 분리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얼굴·거대 소재와 위치가 겹치지 않음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마무리 문구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6.80초 일격과 함께 표시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별도의 피니시 포즈 컷을 추가하지 않음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전장 효과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테마별 이동·충돌·일격 그림을 사용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투명 여백과 과도한 불투명 덮개를 줄임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효과음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진입, 컷인, 다단, 마지막 일격의 역할 분리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10타 효과음 중첩과 마지막 강약을 청취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지속 효과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공격 종료 시 잔여 그림과 소리 정리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다음 초필살기 색·바람·그림이 섞이지 않음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39C06-5D72-4938-AA5F-BBFEA95F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674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강한 플래시와 흔들림은 핵심 충격에 집중한다. 상세 강도는 캐릭터별 플레이 검수에서 조정한다.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문서 규격 – 스토리보드 작성 항목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25189-567A-4CD8-A81A-CA485C2F1376}"/>
              </a:ext>
            </a:extLst>
          </p:cNvPr>
          <p:cNvGraphicFramePr/>
          <p:nvPr/>
        </p:nvGraphicFramePr>
        <p:xfrm>
          <a:off xmlns:a="http://schemas.openxmlformats.org/drawingml/2006/main" x="1143000" y="1619250"/>
          <a:ext xmlns:a="http://schemas.openxmlformats.org/drawingml/2006/main" cx="99060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8096250"/>
              </a:tblGrid>
              <a:tr h="47095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필수 항목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작성 방법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7095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식별 정보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캐릭터명, code_id, super_id, 기술명, 문서 버전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95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시작·끝 내부 시각. 구간별 시간과 사건 발생 시각 구분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95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장면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캐릭터 행동, 공격 근원, 다음 컷으로 이어지는 변화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95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화면과 카메라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캐릭터 위치, 전경·배경, 팬·틸트·줌, 충격 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95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레이어·동작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 에셋명과 프레임 교체 시점, 소품 이동 방향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95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문구·소리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제목·대사·밈·마무리 문자열 키와 사운드 이벤트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95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전장 공격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10타 소재·방향, 대상 충돌, 피해 숫자, 6.80초 일격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95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검수와 상태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구현 / 신규 제안 / 확인 필요를 구분하고 근거 파일 기재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45827-9998-4730-A971-89A45E75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769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신화별 적용안은 다음 장부터 1종당 1장으로 요약한다. 제작 시 이 항목으로 상세 콘티를 확장한다.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검수 규격 – 제작 완료 기준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A8F0A-766B-4657-8D22-046145A8AA33}"/>
              </a:ext>
            </a:extLst>
          </p:cNvPr>
          <p:cNvGraphicFramePr/>
          <p:nvPr/>
        </p:nvGraphicFramePr>
        <p:xfrm>
          <a:off xmlns:a="http://schemas.openxmlformats.org/drawingml/2006/main" x="1143000" y="1619250"/>
          <a:ext xmlns:a="http://schemas.openxmlformats.org/drawingml/2006/main" cx="99060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286750"/>
              </a:tblGrid>
              <a:tr h="470958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검수 단계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완료 기준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70958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콘티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6컷 각각의 역할이 있고 공격 근원과 전장 연결이 설명됨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958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아트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캐릭터와 같은 비율·의상·색. 레이어 분리와 투명 가장자리 정상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958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전환 시각 일치. 3.80초 전 초필살기 피해 없음, 다단 10회, 6.80초 일격 1회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958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연결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컷신의 공격 소재·방향이 전장에서도 유지됨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958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가독성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대상과 피해 숫자, 본 대사, 마지막 문구가 주요 효과에 묻히지 않음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958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게임 상태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벽·보스 상한·고유 상태이상 확인. 월드 흐름과 종료 후 복구 확인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958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성능·음향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 밀집 구간에서 프레임과 음향 중첩 측정, 이펙트 개수 상한 조정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958"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기록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판 전체 영상, 주요 컷 캡처, 10타·일격 로그, 미해결 항목 보관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266BA-D9A7-4B8A-B9E2-99CC793B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864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실기기 측정 결과와 검수 기록을 캐릭터별로 남긴다. 미해결 항목이 있으면 완료로 표시하지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신화별 적용안 – 찌릿 햄찌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E1E26-5071-402F-855E-B67BDBEC4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4ef6dceb04d6c"/>
          <a:stretch xmlns:a="http://schemas.openxmlformats.org/drawingml/2006/main"/>
        </p:blipFill>
        <p:spPr>
          <a:xfrm xmlns:a="http://schemas.openxmlformats.org/drawingml/2006/main">
            <a:off x="1548307" y="2171700"/>
            <a:ext cx="2046886" cy="2809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1FC57-5E56-4A06-83E8-6C8FF9D9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rPr>
              <a:t>도시 대정전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43F52-21A9-41D9-AB1B-43512D2B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기존 캐릭터 아트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B4945-A543-4A94-8352-B582D9C0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카메라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수직 상승과 급강하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BB7D2-684A-4809-91D8-2232F6AF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내부 시간 / 신규 적용 제안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9C4BD-95BA-414C-80EF-13FE075D2633}"/>
              </a:ext>
            </a:extLst>
          </p:cNvPr>
          <p:cNvGraphicFramePr/>
          <p:nvPr/>
        </p:nvGraphicFramePr>
        <p:xfrm>
          <a:off xmlns:a="http://schemas.openxmlformats.org/drawingml/2006/main" x="4381500" y="2286000"/>
          <a:ext xmlns:a="http://schemas.openxmlformats.org/drawingml/2006/main" cx="6667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5381625"/>
              </a:tblGrid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내부 시간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컷별 내용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0.40~0.85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네온 도시와 전력선에 불빛이 모인다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0.85~1.40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플러그를 들어 도시의 전기를 흡수한다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1.40~1.90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얼굴과 배터리 충전 수치를 강조한다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1.90~2.50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도시의 불이 차례로 꺼지고 번개 구름이 생긴다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2.50~3.00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충전한 전기가 구름과 플러그 사이를 연결한다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3.00~3.40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큰 번개가 화면을 갈라 전장으로 이어진다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3.80~6.80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 위치에 전기 그림 10회와 갈라지는 방전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6.80~7.10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굵은 번개와 충격 고리로 동시 방전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17573-6545-4DBD-8461-2C791296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전기를 모아 도시를 끄고 전장에 방전한다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C7F55-3FE7-4CA0-A432-49953510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밈: 이번 달 전기세는 연구소가 냅니다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CC888-5EB0-46BF-937A-111AB8FD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4198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도시 불빛의 켜짐과 꺼짐을 같은 구도로 교체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신화별 적용안 – 쥐랜드 관광쥐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93330-A20A-4E9E-9DD0-7090E82357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8e344dbbb48eb"/>
          <a:stretch xmlns:a="http://schemas.openxmlformats.org/drawingml/2006/main"/>
        </p:blipFill>
        <p:spPr>
          <a:xfrm xmlns:a="http://schemas.openxmlformats.org/drawingml/2006/main">
            <a:off x="1830563" y="2171700"/>
            <a:ext cx="1482375" cy="2809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BC206-6604-4E01-92BD-8DEDCD9B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rPr>
              <a:t>쥐랜드 불꽃 퍼레이드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5F497-60B6-4E6D-BD86-3E0C957D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기존 캐릭터 아트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A77CD-6D9C-4842-AADB-4CFEF448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카메라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수레를 따르는 수평 이동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B45D4-74D2-4A94-A383-53DBDAAA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내부 시간 / 신규 적용 제안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9E4C9-8525-4733-BB00-23E90116C43A}"/>
              </a:ext>
            </a:extLst>
          </p:cNvPr>
          <p:cNvGraphicFramePr/>
          <p:nvPr/>
        </p:nvGraphicFramePr>
        <p:xfrm>
          <a:off xmlns:a="http://schemas.openxmlformats.org/drawingml/2006/main" x="4381500" y="2286000"/>
          <a:ext xmlns:a="http://schemas.openxmlformats.org/drawingml/2006/main" cx="6667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5381625"/>
              </a:tblGrid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내부 시간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컷별 내용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0.40~0.85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쥐랜드 입구에서 퍼레이드 거리로 이동한다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0.85~1.40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관광쥐가 수레에 올라 출발 신호를 보낸다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1.40~1.90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신난 얼굴과 티켓을 가까이 잡는다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1.90~2.50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거대한 퍼레이드 수레와 발사대가 등장한다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2.50~3.00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수레에서 폭죽이 솟고 카메라가 궤적을 따른다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3.00~3.40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불꽃이 화면을 채운 뒤 전장 상공으로 이어진다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3.80~6.80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폭죽이 대상 위에서 10회 터지며 색종이 낙하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6.80~7.10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큰 불꽃 부채가 전장 전체에 펼쳐진다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40241-589C-4481-8BE5-7F2F88DF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퍼레이드의 폭죽이 전장 전체의 불꽃놀이로 이어진다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14B4B-2726-41B9-917A-BBA78CE8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밈: 줄 서기 3시간, 퍼레이드 3초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E07AC-BAA1-4965-ABDA-C8B62CF8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4198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폭죽은 위로 발사한 뒤 위에서 터지는 흐름 유지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신화별 적용안 – 쥐 황제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570BB-3BEC-4623-98DE-6E4D263499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dc538c979477f"/>
          <a:stretch xmlns:a="http://schemas.openxmlformats.org/drawingml/2006/main"/>
        </p:blipFill>
        <p:spPr>
          <a:xfrm xmlns:a="http://schemas.openxmlformats.org/drawingml/2006/main">
            <a:off x="1712108" y="2171700"/>
            <a:ext cx="1719284" cy="2809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807A6-7555-40D5-AFAA-E73E09D0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rPr>
              <a:t>천하통일 대관식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51707-2497-4967-83E9-14B2344D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기존 캐릭터 아트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1404D-F4FE-42D6-88BA-1A86E7FC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카메라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계단 상승 추적과 궁궐 와이드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0CBE1-7793-4F7F-AC8E-982CC0AB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내부 시간 / 신규 적용 제안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73EAC-D347-418C-978D-6B7FD5EB5A6A}"/>
              </a:ext>
            </a:extLst>
          </p:cNvPr>
          <p:cNvGraphicFramePr/>
          <p:nvPr/>
        </p:nvGraphicFramePr>
        <p:xfrm>
          <a:off xmlns:a="http://schemas.openxmlformats.org/drawingml/2006/main" x="4381500" y="2286000"/>
          <a:ext xmlns:a="http://schemas.openxmlformats.org/drawingml/2006/main" cx="6667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5381625"/>
              </a:tblGrid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내부 시간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컷별 내용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0.40~0.85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궁궐 계단에서 금빛 하늘로 시야를 넓힌다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0.85~1.40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황제가 옥좌에 올라 지휘봉을 든다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1.40~1.90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왕관과 자신감 있는 얼굴을 강조한다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1.90~2.50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궁궐 양옆에 대관식 대포가 정렬한다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2.50~3.00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지휘봉 신호에 포문이 차례로 열린다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3.00~3.40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축포 연기와 금빛 충격이 전장으로 이어진다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3.80~6.80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대포알 착탄 10회와 금빛 충돌 그림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6.80~7.10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황제의 마지막 신호에 대형 축포 동시 발사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AA27A-AA77-4C43-9824-2B1A120C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대관식의 축포가 전장의 포격으로 이어진다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613FF-A196-419C-B754-B6C92774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밈: 대관식 비용은 연구소 법인카드로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403E7-016F-4340-9C86-1C7AA7AA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4198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금화는 장식이며 추가 보상이나 재화 획득으로 오인시키지 않음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신화별 적용안 – 파라오 생쥐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20E27-A8FF-479E-99E1-FE6A30927C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ddfdeb55c4062"/>
          <a:stretch xmlns:a="http://schemas.openxmlformats.org/drawingml/2006/main"/>
        </p:blipFill>
        <p:spPr>
          <a:xfrm xmlns:a="http://schemas.openxmlformats.org/drawingml/2006/main">
            <a:off x="1490024" y="2171700"/>
            <a:ext cx="2163451" cy="2809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CD670-43E0-4105-95BE-06CC8DF8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rPr>
              <a:t>태양신의 심판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6845C-758C-4EF4-BDC2-1143231B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기존 캐릭터 아트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BBEDF-4760-4ADF-8C1C-A230665A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카메라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신전에서 태양으로 수직 틸트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CF596-AA7E-449E-8DE4-6590857F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내부 시간 / 신규 적용 제안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A2110-D302-4B64-982C-9A0E35E31120}"/>
              </a:ext>
            </a:extLst>
          </p:cNvPr>
          <p:cNvGraphicFramePr/>
          <p:nvPr/>
        </p:nvGraphicFramePr>
        <p:xfrm>
          <a:off xmlns:a="http://schemas.openxmlformats.org/drawingml/2006/main" x="4381500" y="2286000"/>
          <a:ext xmlns:a="http://schemas.openxmlformats.org/drawingml/2006/main" cx="6667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5381625"/>
              </a:tblGrid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내부 시간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컷별 내용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0.40~0.85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사막 신전 위로 태양의 징조를 보인다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0.85~1.40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파라오가 지팡이를 들어 원반을 깨운다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1.40~1.90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눈과 지팡이 보석을 가까이 잡는다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1.90~2.50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피라미드 위에 거대한 태양 원반이 뜬다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2.50~3.00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원반의 빛이 여러 갈래로 모인다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3.00~3.40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빛이 아래로 쏟아지며 전장으로 연결한다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3.80~6.80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빛기둥이 대상 위치를 10회 비추며 모래 파편 발생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6.80~7.10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큰 태양 고리가 퍼지며 마지막 빛기둥을 내린다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8008E-F8AE-43F0-A9D3-1654F2F1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떠오른 태양 원반이 전장에 빛기둥을 내린다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EE157-9169-414A-9F2C-10170EC3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밈: 자외선 지수: 매우 위험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41AD4-CC66-4601-BB5C-696F66BD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4198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황금빛 광선과 모래를 사용하고 화상 판정은 추가하지 않음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신화별 적용안 – 기사 쥐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19119-4005-4814-BC69-6926E0D282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c3719d0914cdc"/>
          <a:stretch xmlns:a="http://schemas.openxmlformats.org/drawingml/2006/main"/>
        </p:blipFill>
        <p:spPr>
          <a:xfrm xmlns:a="http://schemas.openxmlformats.org/drawingml/2006/main">
            <a:off x="1459867" y="2171700"/>
            <a:ext cx="2223766" cy="2809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B5E98-40FD-4D3C-954D-B13355E9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rPr>
              <a:t>원탁의 기사단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AA8B6-54DE-43B3-A363-3938AC5D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기존 캐릭터 아트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FD83D-7ABC-4A2C-98AE-12068C64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카메라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원탁에서 돌격 방향으로 추적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7744C-E8BA-402E-96C2-2A0E1BA7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내부 시간 / 구조 재사용 적용안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4D588-8B16-44F7-AD6A-8FD12C78A331}"/>
              </a:ext>
            </a:extLst>
          </p:cNvPr>
          <p:cNvGraphicFramePr/>
          <p:nvPr/>
        </p:nvGraphicFramePr>
        <p:xfrm>
          <a:off xmlns:a="http://schemas.openxmlformats.org/drawingml/2006/main" x="4381500" y="2286000"/>
          <a:ext xmlns:a="http://schemas.openxmlformats.org/drawingml/2006/main" cx="6667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5381625"/>
              </a:tblGrid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내부 시간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컷별 내용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0.40~0.85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안개 초원과 원탁 언덕을 드러낸다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0.85~1.40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기사가 검을 뽑고 기사단을 부른다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1.40~1.90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투구 아래 얼굴과 검을 가까이 잡는다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1.90~2.50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원탁 주위로 거대한 유령 기사단이 나타난다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2.50~3.00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기사단이 돌격하고 검의 궤적이 모인다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3.00~3.40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검을 내리치며 베기광을 전장으로 연결한다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3.80~6.80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거대한 검의 베기 자국 10회와 대상별 충돌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6.80~7.10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성검의 빛 물결이 전장을 가로지른다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869A9-493A-40E6-B19B-AD5D1B64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유령 기사단을 불러 전장을 베고 성검으로 마무리한다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76EBC-A519-47A0-B453-125CACE4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밈: 원탁이라 상석 다툼 없음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CAAF5-46E7-4E9C-A6DE-5070FF22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4198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전장 베기와 빛 물결은 현재 구조를 재사용하고 6컷을 대조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신화별 적용안 – 술탄 햄스터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F1D7C-C127-4218-A3E5-B903729988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6bda5878e4a79"/>
          <a:stretch xmlns:a="http://schemas.openxmlformats.org/drawingml/2006/main"/>
        </p:blipFill>
        <p:spPr>
          <a:xfrm xmlns:a="http://schemas.openxmlformats.org/drawingml/2006/main">
            <a:off x="1485194" y="2171700"/>
            <a:ext cx="2173112" cy="2809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3CC81-5C05-4EF1-BBBE-FCDFFEF2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rPr>
              <a:t>소원 세 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FB191-0694-4A88-BB9C-A8903C83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기존 캐릭터 아트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7D1F0-7F2D-472A-B84A-B301AF9A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카메라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양탄자를 따르는 수평 이동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1425E-1FD2-4A24-A47B-BC4123FE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내부 시간 / 신규 적용 제안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FDF26-04BC-4BE4-AB38-E4ABCDD3AF18}"/>
              </a:ext>
            </a:extLst>
          </p:cNvPr>
          <p:cNvGraphicFramePr/>
          <p:nvPr/>
        </p:nvGraphicFramePr>
        <p:xfrm>
          <a:off xmlns:a="http://schemas.openxmlformats.org/drawingml/2006/main" x="4381500" y="2286000"/>
          <a:ext xmlns:a="http://schemas.openxmlformats.org/drawingml/2006/main" cx="6667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5381625"/>
              </a:tblGrid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내부 시간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컷별 내용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0.40~0.85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사막 시장에서 궁궐과 램프를 보여 준다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0.85~1.40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술탄이 램프를 문지르고 소원을 선언한다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1.40~1.90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얼굴과 손가락으로 소원 횟수를 강조한다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1.90~2.50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램프에서 거대한 마법의 존재가 솟는다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2.50~3.00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마법의 손짓에 금화와 소품이 모인다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3.00~3.40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마법 연기가 화면을 감싸 전장으로 이어진다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3.80~6.80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마법 금화와 손바닥 충격 그림을 10회 배치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6.80~7.10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마지막 소원에 큰 마법 손바닥이 내려친다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AD9AD-787B-4B15-AF48-BF1C77EB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램프의 소원이 전장의 금화와 마법 충격으로 이어진다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B3C66-1BCD-4627-840C-629BAA38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밈: 소원 추가 요청은 반려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53D40-9548-4A77-84EB-7594E504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4198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세 소원은 컷신 서사이며 실제 피해 이벤트는 공통 10타와 일격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신화별 적용안 – 외계인 생쥐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7C327-4A01-4687-A79A-D7FA7D8FA9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0d22635904653"/>
          <a:stretch xmlns:a="http://schemas.openxmlformats.org/drawingml/2006/main"/>
        </p:blipFill>
        <p:spPr>
          <a:xfrm xmlns:a="http://schemas.openxmlformats.org/drawingml/2006/main">
            <a:off x="1158272" y="2171700"/>
            <a:ext cx="2826956" cy="2809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96434-BCFB-400D-BE33-F1582F05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rPr>
              <a:t>모선 강림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2164F-C8B1-4C8B-8EAF-667DCD80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기존 캐릭터 아트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1441F-D4E2-4B0B-B92E-E1722EC1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카메라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밀밭에서 우주로 올려다보기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73FD2-A207-473E-917E-45254B1C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내부 시간 / 신규 적용 제안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F98D6-59AC-405B-A834-D5633EE112EB}"/>
              </a:ext>
            </a:extLst>
          </p:cNvPr>
          <p:cNvGraphicFramePr/>
          <p:nvPr/>
        </p:nvGraphicFramePr>
        <p:xfrm>
          <a:off xmlns:a="http://schemas.openxmlformats.org/drawingml/2006/main" x="4381500" y="2286000"/>
          <a:ext xmlns:a="http://schemas.openxmlformats.org/drawingml/2006/main" cx="6667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5381625"/>
              </a:tblGrid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내부 시간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컷별 내용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0.40~0.85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미스터리 서클과 하늘의 그림자를 보여 준다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0.85~1.40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외계인 생쥐가 통신기를 들어 모선을 부른다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1.40~1.90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눈과 통신기의 신호를 강조한다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1.90~2.50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거대한 모선이 구름을 가르며 내려온다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2.50~3.00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모선 하부의 광원이 모여 포문이 열린다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3.00~3.40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광선이 화면을 관통하며 전장으로 이어진다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3.80~6.80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빔이 대상 위치를 10회 훑으며 링 충돌 발생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6.80~7.10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모선 주포 한 줄기가 전장 중앙을 관통한다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7E2A0-D454-4F37-8671-E7A03416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모선의 그림자가 전장을 덮고 주포를 발사한다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8DCBD-DC45-44B4-8388-2EFE3FDE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밈: 소는 무사히 돌려보냈습니다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119DF-7425-4DB1-8A60-745DC5B8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4198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흡입과 소 부양은 컷신 표현이며 전장 강제 이동은 추가하지 않음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신화별 적용안 – 흐에~ 스트리머 쥐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02928-D34E-4928-9F70-AEB32C0864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27edbaa3f4261"/>
          <a:stretch xmlns:a="http://schemas.openxmlformats.org/drawingml/2006/main"/>
        </p:blipFill>
        <p:spPr>
          <a:xfrm xmlns:a="http://schemas.openxmlformats.org/drawingml/2006/main">
            <a:off x="1610538" y="2171700"/>
            <a:ext cx="1922425" cy="2809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6570E-247F-4134-B76D-57E46CC2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rPr>
              <a:t>구독자 100만 기념 방송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73B87-C3A3-4A04-883F-F5A282F4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기존 캐릭터 아트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5CE1D-AEA8-4F82-8CF0-A1C7C3F3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카메라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책상 접근 후 화면 안으로 진입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725C4-4795-40EA-BF56-6382FCFB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내부 시간 / 신규 적용 제안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62B4E-69DC-4A61-9A1E-78762C5F6E65}"/>
              </a:ext>
            </a:extLst>
          </p:cNvPr>
          <p:cNvGraphicFramePr/>
          <p:nvPr/>
        </p:nvGraphicFramePr>
        <p:xfrm>
          <a:off xmlns:a="http://schemas.openxmlformats.org/drawingml/2006/main" x="4381500" y="2286000"/>
          <a:ext xmlns:a="http://schemas.openxmlformats.org/drawingml/2006/main" cx="6667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5381625"/>
              </a:tblGrid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내부 시간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컷별 내용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0.40~0.85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방송 방과 모니터의 구독자 수를 보여 준다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0.85~1.40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스트리머가 카메라를 켜고 방송을 시작한다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1.40~1.90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놀란 얼굴과 구독자 999,950을 강조한다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1.90~2.50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거대한 방송 창과 후원 알림이 펼쳐진다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2.50~3.00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채팅과 하트가 몰리고 수치가 1,000,000에 도달한다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3.00~3.40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방송 창의 빛이 전장으로 넘어간다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3.80~6.80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후원 상자와 네온 하트가 10회 충돌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6.80~7.10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100만 달성 상패와 무지개 충격파를 펼친다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B0440-87FE-49E3-8726-982FD2BD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100만 기념 방송의 후원 폭주가 전장을 덮는다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44D33-CB76-4B0E-B84D-771E1DE2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밈: 구독·좋아요·알림 설정까지!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32CFD-12D9-4094-99A0-3F6B0783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4198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구독자 숫자는 연출용이며 실제 계정 수치처럼 표시하지 않음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신화별 적용안 – 다람쥐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92E9B-780F-4C14-87B8-667E59C8DD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6a576bfeb4162"/>
          <a:stretch xmlns:a="http://schemas.openxmlformats.org/drawingml/2006/main"/>
        </p:blipFill>
        <p:spPr>
          <a:xfrm xmlns:a="http://schemas.openxmlformats.org/drawingml/2006/main">
            <a:off x="1623091" y="2171700"/>
            <a:ext cx="1897317" cy="2809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6A52D-C21E-4AD5-9A20-4D4CC5CB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rPr>
              <a:t>람쥐썬더 최종장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F43D7-0E77-4940-86F9-F766E159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기존 캐릭터 아트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2D87F-2139-4D0B-ABA2-FF45DCCF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카메라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다람쥐를 따라 나무 꼭대기로 상승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211BA-8755-4A0E-BD4F-B0B40A82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내부 시간 / 신규 적용 제안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1E7BE-27E0-442D-ACA8-F7CFA05C8131}"/>
              </a:ext>
            </a:extLst>
          </p:cNvPr>
          <p:cNvGraphicFramePr/>
          <p:nvPr/>
        </p:nvGraphicFramePr>
        <p:xfrm>
          <a:off xmlns:a="http://schemas.openxmlformats.org/drawingml/2006/main" x="4381500" y="2286000"/>
          <a:ext xmlns:a="http://schemas.openxmlformats.org/drawingml/2006/main" cx="6667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5381625"/>
              </a:tblGrid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내부 시간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컷별 내용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0.40~0.85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숲 바닥과 거대 참나무, 폭풍 하늘을 보여 준다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0.85~1.40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다람쥐가 나무를 타고 도토리를 들어 올린다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1.40~1.90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결의에 찬 얼굴과 도토리를 강조한다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1.90~2.50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나무 꼭대기에 도토리 천둥 구름이 생긴다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2.50~3.00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나뭇잎과 전기가 도토리 주위에 모인다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3.00~3.40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도토리 벼락이 아래로 떨어져 전장으로 이어진다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3.80~6.80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도토리 벼락 10회와 잎사귀 충돌 그림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6.80~7.10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거대한 도토리 벼락이 중앙에 내려꽂힌다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8444A-6FB0-4E7A-A3C4-EAB5B392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거대 참나무의 도토리 천둥이 전장에 쏟아진다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FCB58-88FE-47F7-A62A-1ACB6C9F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밈: 다람쥐 헌 쳇바퀴에 타고파~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DF128-EAC6-4120-BB8E-A26E5CCA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4198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찌릿 햄찌와 달리 숲·도토리의 낙하 무게감을 강조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신화별 적용안 – 줴리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94A0F-04F1-4B96-9E03-95670AE0F8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b0c42831d4c3c"/>
          <a:stretch xmlns:a="http://schemas.openxmlformats.org/drawingml/2006/main"/>
        </p:blipFill>
        <p:spPr>
          <a:xfrm xmlns:a="http://schemas.openxmlformats.org/drawingml/2006/main">
            <a:off x="1461377" y="2171700"/>
            <a:ext cx="2220747" cy="2809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4EE82-E1FA-434A-BA51-0F44CDAF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rPr>
              <a:t>줴리 감사합니다 (앵콜)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F4EDF-BA82-4E71-954E-880297B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기존 캐릭터 아트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89999-B086-4E43-821F-10951346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카메라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무대 뒤에서 객석 방향으로 이동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506FA-0925-45AB-AD12-BBBA0C29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내부 시간 / 신규 적용 제안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6E928-FE30-4C98-ADC6-3870F415AA52}"/>
              </a:ext>
            </a:extLst>
          </p:cNvPr>
          <p:cNvGraphicFramePr/>
          <p:nvPr/>
        </p:nvGraphicFramePr>
        <p:xfrm>
          <a:off xmlns:a="http://schemas.openxmlformats.org/drawingml/2006/main" x="4381500" y="2286000"/>
          <a:ext xmlns:a="http://schemas.openxmlformats.org/drawingml/2006/main" cx="6667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5381625"/>
              </a:tblGrid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내부 시간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컷별 내용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0.40~0.85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커튼 뒤 실루엣과 무대 조명을 보여 준다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0.85~1.40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줴리가 무대로 걸어 나와 인사한다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1.40~1.90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앵콜에 반응하는 얼굴을 가까이 잡는다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1.90~2.50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커튼이 열리고 거대한 공연 무대가 드러난다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2.50~3.00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스포트라이트가 모이고 장미가 솟는다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3.00~3.40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커튼과 빛이 걷히며 전장으로 이어진다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3.80~6.80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스포트라이트와 장미 충격을 대상 위치에 10회 배치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6.80~7.10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커튼콜의 큰 빛과 장미 꽃다발 충격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B1413-91DB-4424-9618-E2275016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앵콜 무대의 빛과 장미가 전장 공연으로 이어진다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6A1E9-9172-42F1-9A83-0C80E4F7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밈: 앵콜 요청은 마음속으로만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8E3BE-A4FE-44BD-AC7C-A9BF2FE2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4198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장미·조명으로 타격을 표현하고 새로운 버프는 추가하지 않음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신화별 적용안 – 슈퍼 요리사 쥐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57322-3B07-46E0-A367-4C33F840BD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4a5e980b44a98"/>
          <a:stretch xmlns:a="http://schemas.openxmlformats.org/drawingml/2006/main"/>
        </p:blipFill>
        <p:spPr>
          <a:xfrm xmlns:a="http://schemas.openxmlformats.org/drawingml/2006/main">
            <a:off x="1503378" y="2171700"/>
            <a:ext cx="2136745" cy="2809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472A2-B98E-43DF-99AB-59840929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rPr>
              <a:t>3스타 풀코스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5C98B-0217-4C89-A335-8BC4A5AC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기존 캐릭터 아트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88A67-7DE0-49D0-85B2-E0E16094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카메라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창고·주방·홀을 잇는 수평 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FD8D7-D59E-4921-858C-F294D4EF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내부 시간 / 신규 적용 제안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65259-76F9-4A5B-A25F-80F5192037C7}"/>
              </a:ext>
            </a:extLst>
          </p:cNvPr>
          <p:cNvGraphicFramePr/>
          <p:nvPr/>
        </p:nvGraphicFramePr>
        <p:xfrm>
          <a:off xmlns:a="http://schemas.openxmlformats.org/drawingml/2006/main" x="4381500" y="2286000"/>
          <a:ext xmlns:a="http://schemas.openxmlformats.org/drawingml/2006/main" cx="6667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5381625"/>
              </a:tblGrid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내부 시간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컷별 내용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0.40~0.85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재료 창고에서 주방을 거쳐 홀로 이동한다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0.85~1.40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요리사가 팬을 들고 재료를 던진다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1.40~1.90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집중하는 얼굴과 조리 손동작을 강조한다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1.90~2.50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거대한 조리대와 클로슈가 등장한다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2.50~3.00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팬의 불 쇼와 접시 회전이 절정을 만든다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3.00~3.40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클로슈의 김이 전장을 드러낸다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3.80~6.80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팬 내려치기와 접시 충돌을 10회 구성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6.80~7.10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메인 디시가 등장하며 큰 접시 충격파 발생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E31-90D9-49FA-9AEE-0B489958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풀코스 요리가 전장의 조리 퍼포먼스로 이어진다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BD714-088B-4292-99EB-210351FE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밈: 익힘 정도: 완벽하게 이븐함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D3F1B-EA4D-4B1A-A5B8-318C3107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4198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음식은 연출 소재이며 체력 회복이나 아이템 획득을 의미하지 않음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신화별 적용안 – 찍찍 탐정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14901-3FC0-4057-8E1F-E42913DE77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88e1029c84c62"/>
          <a:stretch xmlns:a="http://schemas.openxmlformats.org/drawingml/2006/main"/>
        </p:blipFill>
        <p:spPr>
          <a:xfrm xmlns:a="http://schemas.openxmlformats.org/drawingml/2006/main">
            <a:off x="1143000" y="2449208"/>
            <a:ext cx="2857500" cy="225485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51FBF-C9BE-4431-8492-A01CA875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rPr>
              <a:t>사건 종결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914F3-D64A-4841-8F42-7158B0A6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기존 캐릭터 아트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202F6-8C1D-43AA-910A-E85B0B54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카메라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단서를 따라 수평 추적 후 지목 급줌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8E058-4F2F-48AE-885B-447BDAC1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내부 시간 / 신규 적용 제안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5D16E-BA8D-4CEF-80B1-B303CE090F96}"/>
              </a:ext>
            </a:extLst>
          </p:cNvPr>
          <p:cNvGraphicFramePr/>
          <p:nvPr/>
        </p:nvGraphicFramePr>
        <p:xfrm>
          <a:off xmlns:a="http://schemas.openxmlformats.org/drawingml/2006/main" x="4381500" y="2286000"/>
          <a:ext xmlns:a="http://schemas.openxmlformats.org/drawingml/2006/main" cx="6667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5381625"/>
              </a:tblGrid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내부 시간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컷별 내용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0.40~0.85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 오는 거리와 골목의 단서를 보여 준다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0.85~1.40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탐정이 돋보기로 발자국을 추적한다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1.40~1.90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눈과 돋보기에 비친 결정적 단서를 강조한다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1.90~2.50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거대한 사건 보드에 단서가 연결된다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2.50~3.00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범인을 지목하며 축구공을 강하게 찬다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3.00~3.40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공의 회전 궤적이 화면을 지나 전장으로 연결한다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3.80~6.80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축구공이 대상 사이를 튀며 10회 충돌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6.80~7.10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확대된 공의 결정타와 사건 종결 도장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CE16B-3591-4704-81D1-C5B80510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돋보기로 모은 단서를 축구공의 결정타로 연결한다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5C523-2159-4E2A-9E5C-C84B6D1C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밈: 범인은 이 안에 있다!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CCD78-8664-48E5-A16F-2E331165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4198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공의 시각적 궤적과 범위 피해 판정을 분리하여 누락 방지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신화별 적용안 – 치즈 퐁듀 쥐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4914A-D481-48E9-9D63-1B38904DCB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f5be01a7449af"/>
          <a:stretch xmlns:a="http://schemas.openxmlformats.org/drawingml/2006/main"/>
        </p:blipFill>
        <p:spPr>
          <a:xfrm xmlns:a="http://schemas.openxmlformats.org/drawingml/2006/main">
            <a:off x="1500225" y="2171700"/>
            <a:ext cx="2143051" cy="2809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539B2-5606-483B-BE32-602FF8DB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rPr>
              <a:t>치즈 대홍수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15AF8-D280-4B57-ABC4-5F6FEB79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기존 캐릭터 아트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FA71A-D601-4E7B-B482-371DB1F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카메라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냄비에서 바닥으로 하강 후 파도 추적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CE193-61DC-4613-AEDC-7C3213A9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내부 시간 / 신규 적용 제안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08C2C-8C42-4858-B744-40EBDEDF2D7A}"/>
              </a:ext>
            </a:extLst>
          </p:cNvPr>
          <p:cNvGraphicFramePr/>
          <p:nvPr/>
        </p:nvGraphicFramePr>
        <p:xfrm>
          <a:off xmlns:a="http://schemas.openxmlformats.org/drawingml/2006/main" x="4381500" y="2286000"/>
          <a:ext xmlns:a="http://schemas.openxmlformats.org/drawingml/2006/main" cx="6667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5381625"/>
              </a:tblGrid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내부 시간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컷별 내용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0.40~0.85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거대한 퐁듀 냄비와 치즈 거품을 보여 준다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0.85~1.40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퐁듀 쥐가 국자를 들어 치즈를 휘젓는다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1.40~1.90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기대하는 얼굴과 늘어나는 치즈를 강조한다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1.90~2.50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냄비에서 치즈가 넘치며 주변을 덮는다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2.50~3.00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쥐가 치즈 파도 위를 타고 내려온다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3.00~3.40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파도가 화면 아래를 덮으며 전장으로 연결한다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3.80~6.80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아래에서 밀려오는 치즈 파도 10회와 튀는 치즈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6.80~7.10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거대한 치즈 파도가 전장을 한 번에 쓸고 간다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D6A8C-C16B-4803-AE2D-F9AA967E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넘쳐난 퐁듀 냄비의 치즈가 전장의 파도가 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7E535-6E80-430A-8F04-849E5D95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밈: 쭈욱~ 늘어나는 건 국룰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CEFD7-571E-408D-A63C-82F27938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4198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화면 아래에서 올라오는 방향을 유지하고 바닥 전체를 상시 가리지 않음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신화별 적용안 – 폭탄마 쥐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364C8-84D4-45EA-94BA-E49E7A4FA7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6d8680ae54866"/>
          <a:stretch xmlns:a="http://schemas.openxmlformats.org/drawingml/2006/main"/>
        </p:blipFill>
        <p:spPr>
          <a:xfrm xmlns:a="http://schemas.openxmlformats.org/drawingml/2006/main">
            <a:off x="1474422" y="2171700"/>
            <a:ext cx="2194656" cy="2809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BC017-5D38-48BD-A201-83804B7F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rPr>
              <a:t>익스플로전 · 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B31CD-DE36-4FF0-9F64-157D3CC0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기존 캐릭터 아트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16F55-4D0E-4861-B2E1-67C52D00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카메라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절벽에서 마법진 하늘로 상승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30C27-A570-4C63-BCDD-B73E105C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내부 시간 / 신규 적용 제안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3BC53-A2F9-463F-A9BB-896976B79C8B}"/>
              </a:ext>
            </a:extLst>
          </p:cNvPr>
          <p:cNvGraphicFramePr/>
          <p:nvPr/>
        </p:nvGraphicFramePr>
        <p:xfrm>
          <a:off xmlns:a="http://schemas.openxmlformats.org/drawingml/2006/main" x="4381500" y="2286000"/>
          <a:ext xmlns:a="http://schemas.openxmlformats.org/drawingml/2006/main" cx="6667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5381625"/>
              </a:tblGrid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내부 시간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컷별 내용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0.40~0.85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계곡과 절벽 위의 붉은 마법진을 보여 준다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0.85~1.40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폭탄마가 지팡이를 들어 주문을 시작한다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1.40~1.90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집중하는 얼굴과 빛나는 눈을 강조한다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1.90~2.50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하늘에 거대한 마법진이 여러 겹 열린다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2.50~3.00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마법진이 순서대로 점등되며 폭탄을 만든다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3.00~3.40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폭발광과 연기가 전장으로 이어진다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3.80~6.80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마법 폭탄 10회 착탄과 연기 충돌 그림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6.80~7.10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큰 폭발 한 번과 바닥에 엎어진 밈 소품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6A111-3C89-48CB-9C3A-69EE9A86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겹쳐진 마법진의 폭격이 거대한 폭발로 마무리된다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B2A34-0CF4-47A0-B6AF-5DBB2951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밈: 시전 후 MP 0 · 이동 불가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03601-1EAF-4C87-84E5-4CFAFCFF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4198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탈진은 컷신·소품 표현이며 실제 MP 소모나 이동 제한은 추가하지 않음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신화별 적용안 – 아이스 퀸 쥐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FBE04-FAE6-421F-AC42-7AA0E94361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6ec0c931042b2"/>
          <a:stretch xmlns:a="http://schemas.openxmlformats.org/drawingml/2006/main"/>
        </p:blipFill>
        <p:spPr>
          <a:xfrm xmlns:a="http://schemas.openxmlformats.org/drawingml/2006/main">
            <a:off x="1282143" y="2171700"/>
            <a:ext cx="2579214" cy="2809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8BF2D-544C-498F-981B-EE983957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1875">
                <a:solidFill>
                  <a:srgbClr val="EF7028"/>
                </a:solidFill>
                <a:latin typeface="Noto Sans KR Black"/>
                <a:ea typeface="Noto Sans KR Black"/>
                <a:cs typeface="Noto Sans KR Black"/>
              </a:rPr>
              <a:t>영원한 겨울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803D4-5CD9-47D5-B48C-D7649FB2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기존 캐릭터 아트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33302-9B35-4B9B-AF69-4890C888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카메라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호수에서 성과 하늘로 수직 틸트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DB3AC-D02C-4FAF-9C7E-329EC2AB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내부 시간 / 기준 예시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3DE6B-8847-4F76-B820-38701A988935}"/>
              </a:ext>
            </a:extLst>
          </p:cNvPr>
          <p:cNvGraphicFramePr/>
          <p:nvPr/>
        </p:nvGraphicFramePr>
        <p:xfrm>
          <a:off xmlns:a="http://schemas.openxmlformats.org/drawingml/2006/main" x="4381500" y="2286000"/>
          <a:ext xmlns:a="http://schemas.openxmlformats.org/drawingml/2006/main" cx="6667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5381625"/>
              </a:tblGrid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내부 시간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컷별 내용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0.40~0.85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오로라 하늘에서 언 호수로 내려간다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0.85~1.40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웅크렸다 앞발을 들어 얼음성을 소환한다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1.40~1.90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여왕의 얼굴과 얼음 장식을 강조한다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1.90~2.50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얼음성이 호수에 내려앉는다. 착지 2.22초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2.50~3.00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성에서 눈보라가 하늘로 솟구친다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3.00~3.40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우박이 쏟아지고 화면이 하얗게 덮인다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3.80~6.80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우박 10타, 대상별 충돌과 바닥 알갱이 튐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6.80~7.10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큰 우박 충돌과 ‘전부 꽁꽁!!’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4EF1F-6F9B-445F-9471-1E9CBC25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얼음성에서 솟은 눈보라가 전장 우박으로 이어진다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658D5-5A78-4CAA-AF80-B08733F4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밈: 얼어 죽어도 아이스 아메리카노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9F581-D6B2-411C-B319-7B28C14A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4198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현행 연출을 규격의 기준으로 사용. 빙결은 얼음쥐 고유 처리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구현 연결 – 공통 틀과 캐릭터 데이터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60005-36FF-4EE9-ACCE-1390C574D520}"/>
              </a:ext>
            </a:extLst>
          </p:cNvPr>
          <p:cNvGraphicFramePr/>
          <p:nvPr/>
        </p:nvGraphicFramePr>
        <p:xfrm>
          <a:off xmlns:a="http://schemas.openxmlformats.org/drawingml/2006/main" x="1143000" y="1619250"/>
          <a:ext xmlns:a="http://schemas.openxmlformats.org/drawingml/2006/main" cx="990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524250"/>
                <a:gridCol w="4857750"/>
              </a:tblGrid>
              <a:tr h="535781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영역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현재 근거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규격 적용 방향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타임라인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SuperUltManager의 worldPhase 경로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전종을 컷신 종료 후 전장 10타 경로로 통일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스타일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noFinishCut, actEnd, cutFade, worldTime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true / 3.40 / 0.40 / 3.00으로 정리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그림 효과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imageFx, hailFall, hailSplash, slashSprites 등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강수·베기·광선·파도를 표현하는 역할별 묶음으로 확장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씬 생성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superult_story.py, gen_superult_scene.py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6컷 이벤트와 전장 효과를 캐릭터 데이터로 분리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상태이상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얼음쥐 freezeAll 1.5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공통 기본값은 0, 고유 설정만 명시적으로 적용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문구·밈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Super_Ult와 StringTable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기술명·본 대사·일격 재사용. 밈은 키 등록 후 적용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성능·정리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이미지 풀과 종료 정리 코드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동시 효과 상한과 종료 복구 검증 후 공통화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DD098-946A-4C0F-BC65-CACD88CD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341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현존 필드와 제안 구조를 구분했다. 이 문서에서는 씬·코드·밸런스를 수정하지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적용 순서 – 유형별 확장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C16D0-ADA7-47DF-9DBC-639B315023EA}"/>
              </a:ext>
            </a:extLst>
          </p:cNvPr>
          <p:cNvGraphicFramePr/>
          <p:nvPr/>
        </p:nvGraphicFramePr>
        <p:xfrm>
          <a:off xmlns:a="http://schemas.openxmlformats.org/drawingml/2006/main" x="1143000" y="1714500"/>
          <a:ext xmlns:a="http://schemas.openxmlformats.org/drawingml/2006/main" cx="99060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619500"/>
                <a:gridCol w="4572000"/>
              </a:tblGrid>
              <a:tr h="5635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단계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대상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이 단계에서 확인할 것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 / 기준 고정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아이스 퀸, 기사 쥐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강수와 베기 두 유형으로 시간·레이어·전장 연결 검증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 / 이동 방향 확장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찌릿 햄찌, 파라오, 외계인, 퐁듀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낙뢰, 광선, 빔, 아래에서 올라오는 파도 구현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 / 소품·다중 효과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관광쥐, 황제, 술탄, 다람쥐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폭죽, 포격, 마법 소품, 낙하 무게감 차별화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 / 동작·밈 중심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스트리머, 줴리, 요리사, 탐정, 폭탄마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문구·동작·숫자 연출과 10타 구조 연결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 / 전체 대조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신화 15종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고유 소재, 컷 차별성, 피해·보스·정리·성능 통합 검수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5349E-1464-4125-95C6-C2B2FC5E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006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7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7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7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7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7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7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7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7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7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7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종별 제작 순서: 콘티 작성, 기존 아트 재사용 판정, 부족한 그림 제작, 씬 연결, 플레이 검수.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각 유형의 대표 1종이 검수를 통과한 뒤 같은 유형으로 확장한다.</a:t>
            </a:r>
          </a:p>
          <a:p xmlns:a="http://schemas.openxmlformats.org/drawingml/2006/main">
            <a:pPr>
              <a:defRPr sz="157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완료 판정은 모든 15종의 검수 기록이 남았을 때 한다.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근거 자료 – 현재 상태와 제안 구분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11F0A-B24C-49B6-9909-97CEFA712729}"/>
              </a:ext>
            </a:extLst>
          </p:cNvPr>
          <p:cNvGraphicFramePr/>
          <p:nvPr/>
        </p:nvGraphicFramePr>
        <p:xfrm>
          <a:off xmlns:a="http://schemas.openxmlformats.org/drawingml/2006/main" x="1143000" y="1619250"/>
          <a:ext xmlns:a="http://schemas.openxmlformats.org/drawingml/2006/main" cx="9906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8096250"/>
              </a:tblGrid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분류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현재 상태 / 문서에서의 사용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데이터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RatTable.json의 Super_Ult 15종. 기술명과 고유 정체성의 근거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기준 구현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아이스 퀸의 얼음성·우박 구조와 내부 타임라인을 기준으로 채택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일부 구조 적용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기사 쥐에도 worldPhase와 그림 베기 경로가 존재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방식 잔존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다른 신화는 띠·기존 피니시·별도 다단 시각 등이 섞여 있어 이관 필요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 문서의 제안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전종의 6컷 역할, 공통 시간, 납품 규격, 캐릭터별 변형안과 확장 순서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구현 변경 범위</a:t>
                      </a:r>
                    </a:p>
                  </a:txBody>
                  <a:tcPr marL="85725" marR="85725" marT="66675" marB="66675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작성만 수행. 제안한 전종 통일이나 신규 효과는 아직 적용하지 않음</a:t>
                      </a:r>
                    </a:p>
                  </a:txBody>
                  <a:tcPr marL="85725" marR="85725" marT="66675" marB="66675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CC8A1-8B96-4902-B36E-964B7BEF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 근거: Tools/superult_story.py, Tools/gen_superult_scene.py</a:t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Assets/Scripts/Ults/SuperUltManager.cs, SuperUltStyle.cs, Assets/Data/RatTable.json</a:t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기존 얼음쥐 내부시간 스토리보드와 저장된 플레이 확인 기록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레이아웃: 프로젝트 기존 초필살기·튜토리얼 기획서 양식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2026-10-19T08:08:50.3610000Z</dcterms:created>
  <dcterms:modified xsi:type="dcterms:W3CDTF">2026-10-19T08:08:50.3610000Z</dcterms:modified>
</coreProperties>
</file>